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3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1D688-213D-4331-8E53-ABF8937B6915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B4A4C-39BF-4AF0-9249-06256F1A15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220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7"/>
          <p:cNvSpPr txBox="1">
            <a:spLocks noGrp="1" noChangeArrowheads="1"/>
          </p:cNvSpPr>
          <p:nvPr/>
        </p:nvSpPr>
        <p:spPr bwMode="auto">
          <a:xfrm>
            <a:off x="3860958" y="9446578"/>
            <a:ext cx="2952590" cy="495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73" tIns="45786" rIns="91573" bIns="45786" anchor="b"/>
          <a:lstStyle/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3AE12AC3-B255-489A-A2CB-21809BE7F53F}" type="slidenum">
              <a:rPr lang="ko-KR" altLang="en-US" sz="1200" b="0">
                <a:latin typeface="Times New Roman" pitchFamily="18" charset="0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2</a:t>
            </a:fld>
            <a:endParaRPr lang="en-US" altLang="ko-KR" sz="1200" b="0" dirty="0">
              <a:latin typeface="Times New Roman" pitchFamily="18" charset="0"/>
            </a:endParaRPr>
          </a:p>
        </p:txBody>
      </p:sp>
      <p:sp>
        <p:nvSpPr>
          <p:cNvPr id="395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7444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7"/>
          <p:cNvSpPr txBox="1">
            <a:spLocks noGrp="1" noChangeArrowheads="1"/>
          </p:cNvSpPr>
          <p:nvPr/>
        </p:nvSpPr>
        <p:spPr bwMode="auto">
          <a:xfrm>
            <a:off x="3860958" y="9446578"/>
            <a:ext cx="2952590" cy="495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573" tIns="45786" rIns="91573" bIns="45786" anchor="b"/>
          <a:lstStyle/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C22D5E13-794D-43A0-A4F1-E8C5F35BAA1B}" type="slidenum">
              <a:rPr lang="ko-KR" altLang="en-US" sz="1200" b="0">
                <a:latin typeface="Times New Roman" pitchFamily="18" charset="0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3</a:t>
            </a:fld>
            <a:endParaRPr lang="en-US" altLang="ko-KR" sz="1200" b="0" dirty="0">
              <a:latin typeface="Times New Roman" pitchFamily="18" charset="0"/>
            </a:endParaRPr>
          </a:p>
        </p:txBody>
      </p:sp>
      <p:sp>
        <p:nvSpPr>
          <p:cNvPr id="396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2042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0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l"/>
              <a:defRPr kumimoji="1" sz="1000" b="1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1pPr>
            <a:lvl2pPr marL="804912" indent="-309582">
              <a:lnSpc>
                <a:spcPct val="15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defRPr kumimoji="1" sz="10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2pPr>
            <a:lvl3pPr marL="1238326" indent="-247665">
              <a:lnSpc>
                <a:spcPct val="150000"/>
              </a:lnSpc>
              <a:spcBef>
                <a:spcPct val="30000"/>
              </a:spcBef>
              <a:buFont typeface="맑은 고딕" panose="020B0503020000020004" pitchFamily="50" charset="-127"/>
              <a:buChar char="-"/>
              <a:defRPr kumimoji="1" sz="10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3pPr>
            <a:lvl4pPr marL="1733657" indent="-247665">
              <a:lnSpc>
                <a:spcPct val="150000"/>
              </a:lnSpc>
              <a:spcBef>
                <a:spcPct val="30000"/>
              </a:spcBef>
              <a:buChar char="•"/>
              <a:defRPr kumimoji="1" sz="130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defRPr>
            </a:lvl4pPr>
            <a:lvl5pPr marL="2228987" indent="-247665" latinLnBrk="1">
              <a:spcBef>
                <a:spcPct val="30000"/>
              </a:spcBef>
              <a:defRPr kumimoji="1" sz="1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5pPr>
            <a:lvl6pPr marL="2724318" indent="-247665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6pPr>
            <a:lvl7pPr marL="3219648" indent="-247665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7pPr>
            <a:lvl8pPr marL="3714979" indent="-247665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8pPr>
            <a:lvl9pPr marL="4210309" indent="-247665" eaLnBrk="0" fontAlgn="base" hangingPunct="0">
              <a:spcBef>
                <a:spcPct val="3000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함초롬바탕" panose="02030504000101010101" pitchFamily="18" charset="-127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8B0D39D-6D09-485A-AEE0-EF8F440CDEA1}" type="slidenum">
              <a:rPr lang="en-US" altLang="ko-KR" b="0" smtClean="0">
                <a:latin typeface="나눔고딕" pitchFamily="50" charset="-127"/>
                <a:ea typeface="나눔고딕" pitchFamily="50" charset="-127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ko-KR" b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603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398573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7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6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397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89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70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515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854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79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7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08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07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5E377-427F-4960-85F3-171EAC09BAFE}" type="datetimeFigureOut">
              <a:rPr lang="ko-KR" altLang="en-US" smtClean="0"/>
              <a:t>2023-08-16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3290B-1629-459D-984C-9BCF024A8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036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87087" y="6247989"/>
            <a:ext cx="2057400" cy="365125"/>
          </a:xfrm>
        </p:spPr>
        <p:txBody>
          <a:bodyPr/>
          <a:lstStyle/>
          <a:p>
            <a:fld id="{55A22EA7-80FE-42C8-BCF2-09639A4FECEC}" type="slidenum">
              <a:rPr lang="ko-KR" altLang="en-US" smtClean="0"/>
              <a:t>1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434206"/>
              </p:ext>
            </p:extLst>
          </p:nvPr>
        </p:nvGraphicFramePr>
        <p:xfrm>
          <a:off x="260787" y="1324030"/>
          <a:ext cx="8748711" cy="4320455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3940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869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6764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14118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Ethernet/802.3</a:t>
                      </a:r>
                      <a:r>
                        <a:rPr lang="en-US" altLang="ko-KR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LAN</a:t>
                      </a:r>
                      <a:endParaRPr lang="ko-KR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TokenRing</a:t>
                      </a:r>
                      <a:r>
                        <a:rPr lang="en-US" altLang="ko-KR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/802.5</a:t>
                      </a:r>
                      <a:r>
                        <a:rPr lang="en-US" altLang="ko-KR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LAN</a:t>
                      </a:r>
                      <a:endParaRPr lang="ko-KR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220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기관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1613" marR="0" indent="-117475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1980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년  </a:t>
                      </a:r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DEC, Intel, Xerox  </a:t>
                      </a:r>
                      <a:r>
                        <a:rPr lang="ko-KR" altLang="en-US" sz="160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표준발표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201613" marR="0" indent="-117475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6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IEEE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에 의해 표준으로 정의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01613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1972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년 </a:t>
                      </a: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IBM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사에서 처음 고안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marL="285750" marR="0" indent="-201613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IEEE</a:t>
                      </a: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에 의해 표준으로 정의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9899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토폴로지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버스형</a:t>
                      </a:r>
                      <a:r>
                        <a:rPr lang="en-US" altLang="ko-KR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,  </a:t>
                      </a:r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스타형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링형</a:t>
                      </a:r>
                      <a:endParaRPr lang="ko-KR" altLang="en-US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9266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기본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전송매체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BASE</a:t>
                      </a:r>
                      <a:r>
                        <a:rPr lang="en-US" altLang="ko-KR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</a:p>
                    <a:p>
                      <a:pPr latinLnBrk="1"/>
                      <a:r>
                        <a:rPr lang="en-US" altLang="ko-KR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BASE 5</a:t>
                      </a:r>
                    </a:p>
                    <a:p>
                      <a:pPr latinLnBrk="1"/>
                      <a:r>
                        <a:rPr lang="en-US" altLang="ko-KR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Base T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BASE</a:t>
                      </a:r>
                      <a:r>
                        <a:rPr lang="en-US" altLang="ko-KR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</a:p>
                    <a:p>
                      <a:pPr latinLnBrk="1"/>
                      <a:r>
                        <a:rPr lang="en-US" altLang="ko-KR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BASE 5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9266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매체접근</a:t>
                      </a:r>
                      <a:endParaRPr lang="en-US" altLang="ko-KR" sz="1600" dirty="0">
                        <a:latin typeface="함초롬바탕" panose="02030504000101010101" pitchFamily="18" charset="-127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함초롬바탕" panose="02030504000101010101" pitchFamily="18" charset="-127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방식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CSMA/CD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Token Passing </a:t>
                      </a:r>
                      <a:endParaRPr lang="ko-KR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3718" y="350717"/>
            <a:ext cx="36599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Ethernet/802.3 </a:t>
            </a:r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 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7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13566" y="391289"/>
            <a:ext cx="8185150" cy="792162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sz="280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800" dirty="0">
                <a:effectLst/>
                <a:latin typeface="Times New Roman" pitchFamily="18" charset="0"/>
                <a:ea typeface="굴림" charset="-127"/>
                <a:cs typeface="Times New Roman" pitchFamily="18" charset="0"/>
              </a:rPr>
              <a:t>Bus Topology	</a:t>
            </a:r>
          </a:p>
        </p:txBody>
      </p:sp>
      <p:pic>
        <p:nvPicPr>
          <p:cNvPr id="25605" name="Picture 4" descr="그림3-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79810" y="146008"/>
            <a:ext cx="4864190" cy="283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BNC 부품들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566" y="1494666"/>
            <a:ext cx="3735302" cy="1369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54124" y="2863769"/>
            <a:ext cx="6783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1400" b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Barrel 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151464" y="2817152"/>
            <a:ext cx="33528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1400" b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T 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025575" y="2842059"/>
            <a:ext cx="102329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ko-KR" sz="1400" b="0"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Terminator </a:t>
            </a:r>
          </a:p>
        </p:txBody>
      </p:sp>
      <p:pic>
        <p:nvPicPr>
          <p:cNvPr id="11" name="Picture 5" descr="BNC T커넥터 연결"/>
          <p:cNvPicPr>
            <a:picLocks noChangeAspect="1" noChangeArrowheads="1"/>
          </p:cNvPicPr>
          <p:nvPr/>
        </p:nvPicPr>
        <p:blipFill>
          <a:blip r:embed="rId5" cstate="print"/>
          <a:srcRect l="5429" t="43410" b="5426"/>
          <a:stretch>
            <a:fillRect/>
          </a:stretch>
        </p:blipFill>
        <p:spPr bwMode="auto">
          <a:xfrm>
            <a:off x="4787985" y="3436143"/>
            <a:ext cx="3841368" cy="322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922" y="3436144"/>
            <a:ext cx="3911935" cy="322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6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60438" y="606425"/>
            <a:ext cx="8183562" cy="695325"/>
          </a:xfrm>
        </p:spPr>
        <p:txBody>
          <a:bodyPr>
            <a:normAutofit/>
          </a:bodyPr>
          <a:lstStyle/>
          <a:p>
            <a:r>
              <a:rPr lang="en-US" altLang="ko-KR" sz="26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</a:t>
            </a:r>
            <a:r>
              <a:rPr lang="en-US" altLang="ko-KR" sz="2800" b="0" dirty="0">
                <a:effectLst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800" b="0" dirty="0">
                <a:effectLst/>
                <a:latin typeface="Times New Roman" pitchFamily="18" charset="0"/>
                <a:ea typeface="굴림" charset="-127"/>
                <a:cs typeface="Times New Roman" pitchFamily="18" charset="0"/>
              </a:rPr>
              <a:t>Star Topology	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7979" y="2224292"/>
            <a:ext cx="3800475" cy="276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2" name="Picture 4" descr="그림3-0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8436" y="2224292"/>
            <a:ext cx="3805238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0350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1"/>
          <p:cNvSpPr>
            <a:spLocks noChangeArrowheads="1"/>
          </p:cNvSpPr>
          <p:nvPr/>
        </p:nvSpPr>
        <p:spPr bwMode="auto">
          <a:xfrm>
            <a:off x="535957" y="1719857"/>
            <a:ext cx="8034746" cy="643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30000"/>
              </a:spcBef>
              <a:buFont typeface="나눔고딕" pitchFamily="50" charset="-127"/>
              <a:buChar char="◉"/>
              <a:tabLst>
                <a:tab pos="1163638" algn="l"/>
              </a:tabLst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tabLst>
                <a:tab pos="1163638" algn="l"/>
              </a:tabLst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Font typeface="맑은 고딕" panose="020B0503020000020004" pitchFamily="50" charset="-127"/>
              <a:buChar char="－"/>
              <a:tabLst>
                <a:tab pos="1163638" algn="l"/>
              </a:tabLst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har char="•"/>
              <a:tabLst>
                <a:tab pos="1163638" algn="l"/>
              </a:tabLst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90000"/>
              </a:lnSpc>
              <a:spcBef>
                <a:spcPct val="100000"/>
              </a:spcBef>
              <a:spcAft>
                <a:spcPct val="30000"/>
              </a:spcAft>
              <a:buSzPct val="70000"/>
              <a:buFont typeface="Wingdings" panose="05000000000000000000" pitchFamily="2" charset="2"/>
              <a:buNone/>
            </a:pPr>
            <a:r>
              <a:rPr lang="en-US" altLang="ko-KR" sz="3570">
                <a:latin typeface="Times New Roman" panose="02020603050405020304" pitchFamily="18" charset="0"/>
                <a:cs typeface="Times New Roman" panose="02020603050405020304" pitchFamily="18" charset="0"/>
              </a:rPr>
              <a:t>100 BASE FX</a:t>
            </a:r>
          </a:p>
        </p:txBody>
      </p:sp>
      <p:sp>
        <p:nvSpPr>
          <p:cNvPr id="24579" name="Rectangle 45"/>
          <p:cNvSpPr>
            <a:spLocks noChangeArrowheads="1"/>
          </p:cNvSpPr>
          <p:nvPr/>
        </p:nvSpPr>
        <p:spPr bwMode="auto">
          <a:xfrm>
            <a:off x="2889698" y="2735891"/>
            <a:ext cx="1221509" cy="643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30000"/>
              </a:spcBef>
              <a:buFont typeface="나눔고딕" pitchFamily="50" charset="-127"/>
              <a:buChar char="◉"/>
              <a:tabLst>
                <a:tab pos="1163638" algn="l"/>
              </a:tabLst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tabLst>
                <a:tab pos="1163638" algn="l"/>
              </a:tabLst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Font typeface="맑은 고딕" panose="020B0503020000020004" pitchFamily="50" charset="-127"/>
              <a:buChar char="－"/>
              <a:tabLst>
                <a:tab pos="1163638" algn="l"/>
              </a:tabLst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har char="•"/>
              <a:tabLst>
                <a:tab pos="1163638" algn="l"/>
              </a:tabLst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90000"/>
              </a:lnSpc>
              <a:spcBef>
                <a:spcPct val="100000"/>
              </a:spcBef>
              <a:spcAft>
                <a:spcPct val="30000"/>
              </a:spcAft>
              <a:buSzPct val="70000"/>
              <a:buFont typeface="Wingdings" panose="05000000000000000000" pitchFamily="2" charset="2"/>
              <a:buNone/>
            </a:pPr>
            <a:r>
              <a:rPr lang="ko-KR" altLang="en-US" sz="1785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속도</a:t>
            </a:r>
          </a:p>
        </p:txBody>
      </p:sp>
      <p:sp>
        <p:nvSpPr>
          <p:cNvPr id="24580" name="Rectangle 46"/>
          <p:cNvSpPr>
            <a:spLocks noChangeArrowheads="1"/>
          </p:cNvSpPr>
          <p:nvPr/>
        </p:nvSpPr>
        <p:spPr bwMode="auto">
          <a:xfrm>
            <a:off x="4003509" y="2740141"/>
            <a:ext cx="1221509" cy="643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30000"/>
              </a:spcBef>
              <a:buFont typeface="나눔고딕" pitchFamily="50" charset="-127"/>
              <a:buChar char="◉"/>
              <a:tabLst>
                <a:tab pos="1163638" algn="l"/>
              </a:tabLst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tabLst>
                <a:tab pos="1163638" algn="l"/>
              </a:tabLst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Font typeface="맑은 고딕" panose="020B0503020000020004" pitchFamily="50" charset="-127"/>
              <a:buChar char="－"/>
              <a:tabLst>
                <a:tab pos="1163638" algn="l"/>
              </a:tabLst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har char="•"/>
              <a:tabLst>
                <a:tab pos="1163638" algn="l"/>
              </a:tabLst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90000"/>
              </a:lnSpc>
              <a:spcBef>
                <a:spcPct val="100000"/>
              </a:spcBef>
              <a:spcAft>
                <a:spcPct val="30000"/>
              </a:spcAft>
              <a:buSzPct val="70000"/>
              <a:buFont typeface="Wingdings" panose="05000000000000000000" pitchFamily="2" charset="2"/>
              <a:buNone/>
            </a:pPr>
            <a:r>
              <a:rPr lang="ko-KR" altLang="en-US" sz="1785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채널</a:t>
            </a:r>
          </a:p>
        </p:txBody>
      </p:sp>
      <p:sp>
        <p:nvSpPr>
          <p:cNvPr id="24581" name="Rectangle 47"/>
          <p:cNvSpPr>
            <a:spLocks noChangeArrowheads="1"/>
          </p:cNvSpPr>
          <p:nvPr/>
        </p:nvSpPr>
        <p:spPr bwMode="auto">
          <a:xfrm>
            <a:off x="5003956" y="2744392"/>
            <a:ext cx="1830845" cy="643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30000"/>
              </a:spcBef>
              <a:buFont typeface="나눔고딕" pitchFamily="50" charset="-127"/>
              <a:buChar char="◉"/>
              <a:tabLst>
                <a:tab pos="1163638" algn="l"/>
              </a:tabLst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tabLst>
                <a:tab pos="1163638" algn="l"/>
              </a:tabLst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Font typeface="맑은 고딕" panose="020B0503020000020004" pitchFamily="50" charset="-127"/>
              <a:buChar char="－"/>
              <a:tabLst>
                <a:tab pos="1163638" algn="l"/>
              </a:tabLst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har char="•"/>
              <a:tabLst>
                <a:tab pos="1163638" algn="l"/>
              </a:tabLst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63638" algn="l"/>
              </a:tabLst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90000"/>
              </a:lnSpc>
              <a:spcBef>
                <a:spcPct val="100000"/>
              </a:spcBef>
              <a:spcAft>
                <a:spcPct val="30000"/>
              </a:spcAft>
              <a:buSzPct val="70000"/>
              <a:buFont typeface="Wingdings" panose="05000000000000000000" pitchFamily="2" charset="2"/>
              <a:buNone/>
            </a:pPr>
            <a:r>
              <a:rPr lang="ko-KR" altLang="en-US" sz="1785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케이블 타입</a:t>
            </a:r>
          </a:p>
        </p:txBody>
      </p:sp>
      <p:sp>
        <p:nvSpPr>
          <p:cNvPr id="24582" name="AutoShape 48"/>
          <p:cNvSpPr>
            <a:spLocks/>
          </p:cNvSpPr>
          <p:nvPr/>
        </p:nvSpPr>
        <p:spPr bwMode="auto">
          <a:xfrm rot="5400000">
            <a:off x="3352370" y="2063495"/>
            <a:ext cx="296165" cy="756711"/>
          </a:xfrm>
          <a:prstGeom prst="rightBrace">
            <a:avLst>
              <a:gd name="adj1" fmla="val 7394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anchor="ctr"/>
          <a:lstStyle>
            <a:lvl1pPr>
              <a:lnSpc>
                <a:spcPct val="120000"/>
              </a:lnSpc>
              <a:spcBef>
                <a:spcPct val="30000"/>
              </a:spcBef>
              <a:buFont typeface="나눔고딕" pitchFamily="50" charset="-127"/>
              <a:buChar char="◉"/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Font typeface="맑은 고딕" panose="020B0503020000020004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har char="•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ko-KR" altLang="ko-KR" sz="1071"/>
          </a:p>
        </p:txBody>
      </p:sp>
      <p:sp>
        <p:nvSpPr>
          <p:cNvPr id="24583" name="AutoShape 49"/>
          <p:cNvSpPr>
            <a:spLocks/>
          </p:cNvSpPr>
          <p:nvPr/>
        </p:nvSpPr>
        <p:spPr bwMode="auto">
          <a:xfrm rot="5400000">
            <a:off x="4466180" y="2076248"/>
            <a:ext cx="296167" cy="807726"/>
          </a:xfrm>
          <a:prstGeom prst="rightBrace">
            <a:avLst>
              <a:gd name="adj1" fmla="val 6818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anchor="ctr"/>
          <a:lstStyle>
            <a:lvl1pPr>
              <a:lnSpc>
                <a:spcPct val="120000"/>
              </a:lnSpc>
              <a:spcBef>
                <a:spcPct val="30000"/>
              </a:spcBef>
              <a:buFont typeface="나눔고딕" pitchFamily="50" charset="-127"/>
              <a:buChar char="◉"/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Font typeface="맑은 고딕" panose="020B0503020000020004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har char="•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ko-KR" altLang="ko-KR" sz="1071"/>
          </a:p>
        </p:txBody>
      </p:sp>
      <p:sp>
        <p:nvSpPr>
          <p:cNvPr id="24584" name="AutoShape 50"/>
          <p:cNvSpPr>
            <a:spLocks/>
          </p:cNvSpPr>
          <p:nvPr/>
        </p:nvSpPr>
        <p:spPr bwMode="auto">
          <a:xfrm rot="5400000">
            <a:off x="5526145" y="2176860"/>
            <a:ext cx="296165" cy="563991"/>
          </a:xfrm>
          <a:prstGeom prst="rightBrace">
            <a:avLst>
              <a:gd name="adj1" fmla="val 5511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anchor="ctr"/>
          <a:lstStyle>
            <a:lvl1pPr>
              <a:lnSpc>
                <a:spcPct val="120000"/>
              </a:lnSpc>
              <a:spcBef>
                <a:spcPct val="30000"/>
              </a:spcBef>
              <a:buFont typeface="나눔고딕" pitchFamily="50" charset="-127"/>
              <a:buChar char="◉"/>
              <a:defRPr kumimoji="1" b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1pPr>
            <a:lvl2pPr marL="742950" indent="-285750">
              <a:lnSpc>
                <a:spcPct val="120000"/>
              </a:lnSpc>
              <a:spcBef>
                <a:spcPct val="30000"/>
              </a:spcBef>
              <a:buFont typeface="Wingdings" panose="05000000000000000000" pitchFamily="2" charset="2"/>
              <a:buChar char="§"/>
              <a:defRPr kumimoji="1" sz="16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2pPr>
            <a:lvl3pPr marL="1143000" indent="-228600">
              <a:lnSpc>
                <a:spcPct val="120000"/>
              </a:lnSpc>
              <a:spcBef>
                <a:spcPct val="30000"/>
              </a:spcBef>
              <a:buFont typeface="맑은 고딕" panose="020B0503020000020004" pitchFamily="50" charset="-127"/>
              <a:buChar char="－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20000"/>
              </a:lnSpc>
              <a:spcBef>
                <a:spcPct val="30000"/>
              </a:spcBef>
              <a:buChar char="•"/>
              <a:defRPr kumimoji="1" sz="1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ko-KR" altLang="ko-KR" sz="1071"/>
          </a:p>
        </p:txBody>
      </p:sp>
      <p:graphicFrame>
        <p:nvGraphicFramePr>
          <p:cNvPr id="15" name="Group 148"/>
          <p:cNvGraphicFramePr>
            <a:graphicFrameLocks noGrp="1"/>
          </p:cNvGraphicFramePr>
          <p:nvPr/>
        </p:nvGraphicFramePr>
        <p:xfrm>
          <a:off x="596890" y="3718946"/>
          <a:ext cx="8034746" cy="234131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9881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339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339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3398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3398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14636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endParaRPr kumimoji="1" lang="ko-KR" altLang="ko-K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10Base5</a:t>
                      </a:r>
                      <a:endParaRPr kumimoji="1" lang="en-US" altLang="ko-K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10BaseT</a:t>
                      </a:r>
                      <a:endParaRPr kumimoji="1" lang="en-US" altLang="ko-K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100BaseTX</a:t>
                      </a:r>
                      <a:endParaRPr kumimoji="1" lang="en-US" altLang="ko-K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100BaseFX</a:t>
                      </a:r>
                      <a:endParaRPr kumimoji="1" lang="en-US" altLang="ko-K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773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Mex. Segment Length</a:t>
                      </a:r>
                      <a:endParaRPr kumimoji="1" lang="en-US" altLang="ko-K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 meters</a:t>
                      </a:r>
                      <a:endParaRPr kumimoji="1" lang="en-US" altLang="ko-K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meters</a:t>
                      </a:r>
                      <a:endParaRPr kumimoji="1" lang="en-US" altLang="ko-K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meters</a:t>
                      </a:r>
                      <a:endParaRPr kumimoji="1" lang="en-US" altLang="ko-K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 meters</a:t>
                      </a:r>
                      <a:endParaRPr kumimoji="1" lang="en-US" altLang="ko-K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4930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Topology</a:t>
                      </a:r>
                      <a:endParaRPr kumimoji="1" lang="en-US" altLang="ko-K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</a:t>
                      </a:r>
                      <a:endParaRPr kumimoji="1" lang="en-US" altLang="ko-K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</a:t>
                      </a:r>
                      <a:endParaRPr kumimoji="1" lang="en-US" altLang="ko-K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</a:t>
                      </a:r>
                      <a:endParaRPr kumimoji="1" lang="en-US" altLang="ko-KR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/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나눔고딕" pitchFamily="50" charset="-127"/>
                        <a:defRPr kumimoji="1" sz="1600" b="1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260350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Wingdings" pitchFamily="2" charset="2"/>
                        <a:defRPr kumimoji="1" sz="14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500063">
                        <a:lnSpc>
                          <a:spcPct val="120000"/>
                        </a:lnSpc>
                        <a:spcBef>
                          <a:spcPct val="30000"/>
                        </a:spcBef>
                        <a:buFont typeface="맑은 고딕" pitchFamily="50" charset="-127"/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77470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나눔고딕" pitchFamily="50" charset="-127"/>
                        <a:buNone/>
                        <a:tabLst/>
                      </a:pPr>
                      <a:r>
                        <a:rPr kumimoji="1" lang="en-US" altLang="ko-KR" sz="17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Point-to-Point</a:t>
                      </a:r>
                      <a:endParaRPr kumimoji="1" lang="en-US" altLang="ko-KR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나눔고딕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81630" marR="81630" marT="40809" marB="40809" anchor="ctr" horzOverflow="overflow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466619" y="322659"/>
            <a:ext cx="1824538" cy="7212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❸</a:t>
            </a:r>
            <a:r>
              <a:rPr lang="en-US" altLang="ko-KR" sz="3095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Cable 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82030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73138"/>
            <a:ext cx="8296275" cy="5165725"/>
          </a:xfrm>
        </p:spPr>
        <p:txBody>
          <a:bodyPr>
            <a:normAutofit lnSpcReduction="10000"/>
          </a:bodyPr>
          <a:lstStyle/>
          <a:p>
            <a:pPr marL="452438" indent="44450">
              <a:lnSpc>
                <a:spcPct val="170000"/>
              </a:lnSpc>
              <a:buSzTx/>
            </a:pPr>
            <a:r>
              <a:rPr lang="en-US" altLang="ko-KR" sz="2000" dirty="0"/>
              <a:t> 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Carrier Sense Multiple Access with Collision Detection</a:t>
            </a:r>
          </a:p>
          <a:p>
            <a:pPr lvl="1">
              <a:lnSpc>
                <a:spcPct val="170000"/>
              </a:lnSpc>
            </a:pP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CSMA/CD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동작 과정</a:t>
            </a:r>
          </a:p>
          <a:p>
            <a:pPr lvl="1">
              <a:lnSpc>
                <a:spcPct val="170000"/>
              </a:lnSpc>
              <a:buFont typeface="Wingdings" pitchFamily="2" charset="2"/>
              <a:buNone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①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전송을 원하는 호스트는 네트워크 </a:t>
            </a: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캐리어를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감지해 전송이 가능한지검사          </a:t>
            </a:r>
          </a:p>
          <a:p>
            <a:pPr lvl="1">
              <a:lnSpc>
                <a:spcPct val="170000"/>
              </a:lnSpc>
              <a:buFont typeface="Wingdings" pitchFamily="2" charset="2"/>
              <a:buNone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②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호스트는 전송이 가능할 경우 전송을 시작하고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콜리전이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감지 될 경우   </a:t>
            </a:r>
          </a:p>
          <a:p>
            <a:pPr lvl="1">
              <a:lnSpc>
                <a:spcPct val="170000"/>
              </a:lnSpc>
              <a:buFont typeface="Wingdings" pitchFamily="2" charset="2"/>
              <a:buNone/>
            </a:pP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잼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6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zam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신호를 </a:t>
            </a: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브로드캐스트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70000"/>
              </a:lnSpc>
              <a:buFont typeface="Wingdings" pitchFamily="2" charset="2"/>
              <a:buNone/>
            </a:pP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③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전송을 시작하고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목적지 호스트는 데이터의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CRC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값을 검사해 데이터가 </a:t>
            </a:r>
          </a:p>
          <a:p>
            <a:pPr lvl="1">
              <a:lnSpc>
                <a:spcPct val="170000"/>
              </a:lnSpc>
              <a:buFont typeface="Wingdings" pitchFamily="2" charset="2"/>
              <a:buNone/>
            </a:pP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이상 없이 도달했는지 검사</a:t>
            </a:r>
          </a:p>
          <a:p>
            <a:pPr lvl="1">
              <a:lnSpc>
                <a:spcPct val="170000"/>
              </a:lnSpc>
              <a:buFont typeface="Wingdings" pitchFamily="2" charset="2"/>
              <a:buNone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④ CRC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값이 이상이 없을 경우에는 상위 계층으로 데이터를 보내고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이상이</a:t>
            </a:r>
          </a:p>
          <a:p>
            <a:pPr lvl="1">
              <a:lnSpc>
                <a:spcPct val="170000"/>
              </a:lnSpc>
              <a:buFont typeface="Wingdings" pitchFamily="2" charset="2"/>
              <a:buNone/>
            </a:pP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있을 경우에는 폐기처분</a:t>
            </a:r>
          </a:p>
          <a:p>
            <a:pPr lvl="1">
              <a:lnSpc>
                <a:spcPct val="170000"/>
              </a:lnSpc>
              <a:buFont typeface="Wingdings" pitchFamily="2" charset="2"/>
              <a:buNone/>
            </a:pP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⑤ </a:t>
            </a: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콜리전에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의해서 전송을 못했을 경우는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Back-off 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알고리즘에 따라 </a:t>
            </a:r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랜덤한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70000"/>
              </a:lnSpc>
              <a:buFont typeface="Wingdings" pitchFamily="2" charset="2"/>
              <a:buNone/>
            </a:pP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시간이 지난 후에 다시 전송을 시도</a:t>
            </a:r>
          </a:p>
          <a:p>
            <a:pPr lvl="2" indent="0">
              <a:lnSpc>
                <a:spcPct val="170000"/>
              </a:lnSpc>
              <a:buFontTx/>
              <a:buNone/>
            </a:pPr>
            <a:endParaRPr lang="ko-KR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72922" y="527039"/>
            <a:ext cx="8131175" cy="445989"/>
          </a:xfrm>
          <a:prstGeom prst="rect">
            <a:avLst/>
          </a:prstGeom>
        </p:spPr>
        <p:txBody>
          <a:bodyPr vert="horz" lIns="182880" tIns="91440">
            <a:normAutofit lnSpcReduction="10000"/>
          </a:bodyPr>
          <a:lstStyle/>
          <a:p>
            <a:pPr marL="265176" marR="0" lvl="0" indent="-265176" algn="l" defTabSz="914400" rtl="0" eaLnBrk="1" fontAlgn="auto" latinLnBrk="1" hangingPunct="1">
              <a:lnSpc>
                <a:spcPct val="8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</a:t>
            </a:r>
            <a:r>
              <a:rPr kumimoji="0" lang="en-US" altLang="ko-KR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kumimoji="0" lang="en-US" altLang="ko-KR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CSMA/CD </a:t>
            </a:r>
          </a:p>
        </p:txBody>
      </p:sp>
    </p:spTree>
    <p:extLst>
      <p:ext uri="{BB962C8B-B14F-4D97-AF65-F5344CB8AC3E}">
        <p14:creationId xmlns:p14="http://schemas.microsoft.com/office/powerpoint/2010/main" val="3912573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1287" y="942793"/>
            <a:ext cx="6362550" cy="5521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72662" y="363171"/>
            <a:ext cx="8131175" cy="4370388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marL="265176" lvl="0" indent="-265176">
              <a:lnSpc>
                <a:spcPct val="80000"/>
              </a:lnSpc>
              <a:spcBef>
                <a:spcPts val="250"/>
              </a:spcBef>
              <a:buClr>
                <a:schemeClr val="accent1"/>
              </a:buClr>
              <a:buSzPct val="80000"/>
              <a:defRPr/>
            </a:pPr>
            <a:r>
              <a:rPr lang="en-US" altLang="ko-KR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CSMA/CD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3135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3991" y="435834"/>
            <a:ext cx="8131175" cy="437038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b="1" dirty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CSMA/CD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72838" y="1884218"/>
            <a:ext cx="7273636" cy="4156364"/>
            <a:chOff x="1092" y="828"/>
            <a:chExt cx="4251" cy="2640"/>
          </a:xfrm>
        </p:grpSpPr>
        <p:sp>
          <p:nvSpPr>
            <p:cNvPr id="33798" name="Line 5"/>
            <p:cNvSpPr>
              <a:spLocks noChangeShapeType="1"/>
            </p:cNvSpPr>
            <p:nvPr/>
          </p:nvSpPr>
          <p:spPr bwMode="auto">
            <a:xfrm flipV="1">
              <a:off x="1804" y="1296"/>
              <a:ext cx="0" cy="531"/>
            </a:xfrm>
            <a:prstGeom prst="line">
              <a:avLst/>
            </a:prstGeom>
            <a:noFill/>
            <a:ln w="50800">
              <a:solidFill>
                <a:srgbClr val="FFD255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799" name="Line 6"/>
            <p:cNvSpPr>
              <a:spLocks noChangeShapeType="1"/>
            </p:cNvSpPr>
            <p:nvPr/>
          </p:nvSpPr>
          <p:spPr bwMode="auto">
            <a:xfrm flipV="1">
              <a:off x="3559" y="1341"/>
              <a:ext cx="0" cy="486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800" name="Line 7"/>
            <p:cNvSpPr>
              <a:spLocks noChangeShapeType="1"/>
            </p:cNvSpPr>
            <p:nvPr/>
          </p:nvSpPr>
          <p:spPr bwMode="auto">
            <a:xfrm flipV="1">
              <a:off x="4436" y="1341"/>
              <a:ext cx="0" cy="486"/>
            </a:xfrm>
            <a:prstGeom prst="line">
              <a:avLst/>
            </a:prstGeom>
            <a:noFill/>
            <a:ln w="50800">
              <a:solidFill>
                <a:srgbClr val="FFD255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801" name="Line 8"/>
            <p:cNvSpPr>
              <a:spLocks noChangeShapeType="1"/>
            </p:cNvSpPr>
            <p:nvPr/>
          </p:nvSpPr>
          <p:spPr bwMode="auto">
            <a:xfrm flipV="1">
              <a:off x="2681" y="1296"/>
              <a:ext cx="0" cy="531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pic>
          <p:nvPicPr>
            <p:cNvPr id="33802" name="Picture 9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28" y="828"/>
              <a:ext cx="676" cy="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803" name="Picture 10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06" y="828"/>
              <a:ext cx="675" cy="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804" name="Picture 11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83" y="828"/>
              <a:ext cx="676" cy="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805" name="Picture 12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61" y="828"/>
              <a:ext cx="675" cy="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806" name="Line 13"/>
            <p:cNvSpPr>
              <a:spLocks noChangeShapeType="1"/>
            </p:cNvSpPr>
            <p:nvPr/>
          </p:nvSpPr>
          <p:spPr bwMode="auto">
            <a:xfrm>
              <a:off x="1190" y="1827"/>
              <a:ext cx="3861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79214" name="Rectangle 14"/>
            <p:cNvSpPr>
              <a:spLocks noChangeArrowheads="1"/>
            </p:cNvSpPr>
            <p:nvPr/>
          </p:nvSpPr>
          <p:spPr bwMode="auto">
            <a:xfrm>
              <a:off x="1599" y="902"/>
              <a:ext cx="469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22450" tIns="31805" rIns="22450" bIns="31805"/>
            <a:lstStyle/>
            <a:p>
              <a:pPr algn="ctr" defTabSz="1077913">
                <a:lnSpc>
                  <a:spcPts val="3063"/>
                </a:lnSpc>
                <a:spcBef>
                  <a:spcPct val="0"/>
                </a:spcBef>
                <a:buClrTx/>
                <a:buSzTx/>
                <a:buFontTx/>
                <a:buNone/>
                <a:tabLst>
                  <a:tab pos="538163" algn="l"/>
                  <a:tab pos="1077913" algn="l"/>
                  <a:tab pos="1616075" algn="l"/>
                </a:tabLst>
                <a:defRPr/>
              </a:pPr>
              <a:r>
                <a:rPr kumimoji="1" lang="en-US" altLang="ko-KR" sz="2600">
                  <a:solidFill>
                    <a:srgbClr val="00B17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굴림" pitchFamily="50" charset="-127"/>
                </a:rPr>
                <a:t>A</a:t>
              </a:r>
            </a:p>
          </p:txBody>
        </p:sp>
        <p:sp>
          <p:nvSpPr>
            <p:cNvPr id="179215" name="Rectangle 15"/>
            <p:cNvSpPr>
              <a:spLocks noChangeArrowheads="1"/>
            </p:cNvSpPr>
            <p:nvPr/>
          </p:nvSpPr>
          <p:spPr bwMode="auto">
            <a:xfrm>
              <a:off x="2476" y="902"/>
              <a:ext cx="469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22450" tIns="31805" rIns="22450" bIns="31805"/>
            <a:lstStyle/>
            <a:p>
              <a:pPr algn="ctr" defTabSz="1077913">
                <a:lnSpc>
                  <a:spcPts val="3063"/>
                </a:lnSpc>
                <a:spcBef>
                  <a:spcPct val="0"/>
                </a:spcBef>
                <a:buClrTx/>
                <a:buSzTx/>
                <a:buFontTx/>
                <a:buNone/>
                <a:tabLst>
                  <a:tab pos="538163" algn="l"/>
                  <a:tab pos="1077913" algn="l"/>
                  <a:tab pos="1616075" algn="l"/>
                </a:tabLst>
                <a:defRPr/>
              </a:pPr>
              <a:r>
                <a:rPr kumimoji="1" lang="en-US" altLang="ko-KR" sz="2600">
                  <a:solidFill>
                    <a:srgbClr val="7D00E4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굴림" pitchFamily="50" charset="-127"/>
                </a:rPr>
                <a:t>B</a:t>
              </a:r>
            </a:p>
          </p:txBody>
        </p:sp>
        <p:sp>
          <p:nvSpPr>
            <p:cNvPr id="179216" name="Rectangle 16"/>
            <p:cNvSpPr>
              <a:spLocks noChangeArrowheads="1"/>
            </p:cNvSpPr>
            <p:nvPr/>
          </p:nvSpPr>
          <p:spPr bwMode="auto">
            <a:xfrm>
              <a:off x="3354" y="902"/>
              <a:ext cx="468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22450" tIns="31805" rIns="22450" bIns="31805"/>
            <a:lstStyle/>
            <a:p>
              <a:pPr algn="ctr" defTabSz="1077913">
                <a:lnSpc>
                  <a:spcPts val="3063"/>
                </a:lnSpc>
                <a:spcBef>
                  <a:spcPct val="0"/>
                </a:spcBef>
                <a:buClrTx/>
                <a:buSzTx/>
                <a:buFontTx/>
                <a:buNone/>
                <a:tabLst>
                  <a:tab pos="538163" algn="l"/>
                  <a:tab pos="1077913" algn="l"/>
                  <a:tab pos="1616075" algn="l"/>
                </a:tabLst>
                <a:defRPr/>
              </a:pPr>
              <a:r>
                <a:rPr kumimoji="1" lang="en-US" altLang="ko-KR" sz="2600">
                  <a:solidFill>
                    <a:srgbClr val="7D00E4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굴림" pitchFamily="50" charset="-127"/>
                </a:rPr>
                <a:t>C</a:t>
              </a:r>
            </a:p>
          </p:txBody>
        </p:sp>
        <p:sp>
          <p:nvSpPr>
            <p:cNvPr id="179217" name="Rectangle 17"/>
            <p:cNvSpPr>
              <a:spLocks noChangeArrowheads="1"/>
            </p:cNvSpPr>
            <p:nvPr/>
          </p:nvSpPr>
          <p:spPr bwMode="auto">
            <a:xfrm>
              <a:off x="4232" y="902"/>
              <a:ext cx="468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22450" tIns="31805" rIns="22450" bIns="31805"/>
            <a:lstStyle/>
            <a:p>
              <a:pPr algn="ctr" defTabSz="1077913">
                <a:lnSpc>
                  <a:spcPts val="3063"/>
                </a:lnSpc>
                <a:spcBef>
                  <a:spcPct val="0"/>
                </a:spcBef>
                <a:buClrTx/>
                <a:buSzTx/>
                <a:buFontTx/>
                <a:buNone/>
                <a:tabLst>
                  <a:tab pos="538163" algn="l"/>
                  <a:tab pos="1077913" algn="l"/>
                  <a:tab pos="1616075" algn="l"/>
                </a:tabLst>
                <a:defRPr/>
              </a:pPr>
              <a:r>
                <a:rPr kumimoji="1" lang="en-US" altLang="ko-KR" sz="2600">
                  <a:solidFill>
                    <a:srgbClr val="00B17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굴림" pitchFamily="50" charset="-127"/>
                </a:rPr>
                <a:t>D</a:t>
              </a:r>
            </a:p>
          </p:txBody>
        </p:sp>
        <p:sp>
          <p:nvSpPr>
            <p:cNvPr id="33811" name="Line 18"/>
            <p:cNvSpPr>
              <a:spLocks noChangeShapeType="1"/>
            </p:cNvSpPr>
            <p:nvPr/>
          </p:nvSpPr>
          <p:spPr bwMode="auto">
            <a:xfrm>
              <a:off x="1804" y="1350"/>
              <a:ext cx="0" cy="477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812" name="Line 19"/>
            <p:cNvSpPr>
              <a:spLocks noChangeShapeType="1"/>
            </p:cNvSpPr>
            <p:nvPr/>
          </p:nvSpPr>
          <p:spPr bwMode="auto">
            <a:xfrm>
              <a:off x="1804" y="1827"/>
              <a:ext cx="1726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813" name="Line 20"/>
            <p:cNvSpPr>
              <a:spLocks noChangeShapeType="1"/>
            </p:cNvSpPr>
            <p:nvPr/>
          </p:nvSpPr>
          <p:spPr bwMode="auto">
            <a:xfrm>
              <a:off x="4436" y="1341"/>
              <a:ext cx="0" cy="495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3210" y="1422"/>
              <a:ext cx="268" cy="758"/>
              <a:chOff x="2634" y="1264"/>
              <a:chExt cx="220" cy="674"/>
            </a:xfrm>
          </p:grpSpPr>
          <p:sp>
            <p:nvSpPr>
              <p:cNvPr id="33855" name="Arc 22"/>
              <p:cNvSpPr>
                <a:spLocks/>
              </p:cNvSpPr>
              <p:nvPr/>
            </p:nvSpPr>
            <p:spPr bwMode="auto">
              <a:xfrm>
                <a:off x="2778" y="1464"/>
                <a:ext cx="76" cy="148"/>
              </a:xfrm>
              <a:custGeom>
                <a:avLst/>
                <a:gdLst>
                  <a:gd name="T0" fmla="*/ 0 w 21600"/>
                  <a:gd name="T1" fmla="*/ 1 h 21598"/>
                  <a:gd name="T2" fmla="*/ 0 w 21600"/>
                  <a:gd name="T3" fmla="*/ 0 h 21598"/>
                  <a:gd name="T4" fmla="*/ 0 w 21600"/>
                  <a:gd name="T5" fmla="*/ 1 h 2159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98"/>
                  <a:gd name="T11" fmla="*/ 21600 w 21600"/>
                  <a:gd name="T12" fmla="*/ 21598 h 215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98" fill="none" extrusionOk="0">
                    <a:moveTo>
                      <a:pt x="0" y="21598"/>
                    </a:moveTo>
                    <a:cubicBezTo>
                      <a:pt x="0" y="9779"/>
                      <a:pt x="9498" y="155"/>
                      <a:pt x="21315" y="-1"/>
                    </a:cubicBezTo>
                  </a:path>
                  <a:path w="21600" h="21598" stroke="0" extrusionOk="0">
                    <a:moveTo>
                      <a:pt x="0" y="21598"/>
                    </a:moveTo>
                    <a:cubicBezTo>
                      <a:pt x="0" y="9779"/>
                      <a:pt x="9498" y="155"/>
                      <a:pt x="21315" y="-1"/>
                    </a:cubicBezTo>
                    <a:lnTo>
                      <a:pt x="21600" y="21598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56" name="Arc 23"/>
              <p:cNvSpPr>
                <a:spLocks/>
              </p:cNvSpPr>
              <p:nvPr/>
            </p:nvSpPr>
            <p:spPr bwMode="auto">
              <a:xfrm>
                <a:off x="2706" y="1336"/>
                <a:ext cx="148" cy="280"/>
              </a:xfrm>
              <a:custGeom>
                <a:avLst/>
                <a:gdLst>
                  <a:gd name="T0" fmla="*/ 0 w 21600"/>
                  <a:gd name="T1" fmla="*/ 4 h 21600"/>
                  <a:gd name="T2" fmla="*/ 1 w 21600"/>
                  <a:gd name="T3" fmla="*/ 0 h 21600"/>
                  <a:gd name="T4" fmla="*/ 1 w 21600"/>
                  <a:gd name="T5" fmla="*/ 4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727"/>
                      <a:pt x="9581" y="80"/>
                      <a:pt x="21454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727"/>
                      <a:pt x="9581" y="80"/>
                      <a:pt x="21454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57" name="Arc 24"/>
              <p:cNvSpPr>
                <a:spLocks/>
              </p:cNvSpPr>
              <p:nvPr/>
            </p:nvSpPr>
            <p:spPr bwMode="auto">
              <a:xfrm>
                <a:off x="2634" y="1264"/>
                <a:ext cx="148" cy="344"/>
              </a:xfrm>
              <a:custGeom>
                <a:avLst/>
                <a:gdLst>
                  <a:gd name="T0" fmla="*/ 0 w 21600"/>
                  <a:gd name="T1" fmla="*/ 5 h 21600"/>
                  <a:gd name="T2" fmla="*/ 1 w 21600"/>
                  <a:gd name="T3" fmla="*/ 0 h 21600"/>
                  <a:gd name="T4" fmla="*/ 1 w 21600"/>
                  <a:gd name="T5" fmla="*/ 5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727"/>
                      <a:pt x="9581" y="80"/>
                      <a:pt x="21454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727"/>
                      <a:pt x="9581" y="80"/>
                      <a:pt x="21454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58" name="Arc 25"/>
              <p:cNvSpPr>
                <a:spLocks/>
              </p:cNvSpPr>
              <p:nvPr/>
            </p:nvSpPr>
            <p:spPr bwMode="auto">
              <a:xfrm>
                <a:off x="2778" y="1571"/>
                <a:ext cx="76" cy="183"/>
              </a:xfrm>
              <a:custGeom>
                <a:avLst/>
                <a:gdLst>
                  <a:gd name="T0" fmla="*/ 0 w 21600"/>
                  <a:gd name="T1" fmla="*/ 1 h 26667"/>
                  <a:gd name="T2" fmla="*/ 0 w 21600"/>
                  <a:gd name="T3" fmla="*/ 0 h 26667"/>
                  <a:gd name="T4" fmla="*/ 0 w 21600"/>
                  <a:gd name="T5" fmla="*/ 0 h 26667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667"/>
                  <a:gd name="T11" fmla="*/ 21600 w 21600"/>
                  <a:gd name="T12" fmla="*/ 26667 h 266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667" fill="none" extrusionOk="0">
                    <a:moveTo>
                      <a:pt x="15621" y="26667"/>
                    </a:moveTo>
                    <a:cubicBezTo>
                      <a:pt x="6370" y="24002"/>
                      <a:pt x="0" y="15537"/>
                      <a:pt x="0" y="5911"/>
                    </a:cubicBezTo>
                    <a:cubicBezTo>
                      <a:pt x="-1" y="3911"/>
                      <a:pt x="277" y="1922"/>
                      <a:pt x="824" y="-1"/>
                    </a:cubicBezTo>
                  </a:path>
                  <a:path w="21600" h="26667" stroke="0" extrusionOk="0">
                    <a:moveTo>
                      <a:pt x="15621" y="26667"/>
                    </a:moveTo>
                    <a:cubicBezTo>
                      <a:pt x="6370" y="24002"/>
                      <a:pt x="0" y="15537"/>
                      <a:pt x="0" y="5911"/>
                    </a:cubicBezTo>
                    <a:cubicBezTo>
                      <a:pt x="-1" y="3911"/>
                      <a:pt x="277" y="1922"/>
                      <a:pt x="824" y="-1"/>
                    </a:cubicBezTo>
                    <a:lnTo>
                      <a:pt x="21600" y="5911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59" name="Arc 26"/>
              <p:cNvSpPr>
                <a:spLocks/>
              </p:cNvSpPr>
              <p:nvPr/>
            </p:nvSpPr>
            <p:spPr bwMode="auto">
              <a:xfrm>
                <a:off x="2706" y="1538"/>
                <a:ext cx="148" cy="347"/>
              </a:xfrm>
              <a:custGeom>
                <a:avLst/>
                <a:gdLst>
                  <a:gd name="T0" fmla="*/ 1 w 21600"/>
                  <a:gd name="T1" fmla="*/ 5 h 26738"/>
                  <a:gd name="T2" fmla="*/ 0 w 21600"/>
                  <a:gd name="T3" fmla="*/ 0 h 26738"/>
                  <a:gd name="T4" fmla="*/ 1 w 21600"/>
                  <a:gd name="T5" fmla="*/ 1 h 2673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738"/>
                  <a:gd name="T11" fmla="*/ 21600 w 21600"/>
                  <a:gd name="T12" fmla="*/ 26738 h 267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738" fill="none" extrusionOk="0">
                    <a:moveTo>
                      <a:pt x="15614" y="26738"/>
                    </a:moveTo>
                    <a:cubicBezTo>
                      <a:pt x="6367" y="24071"/>
                      <a:pt x="0" y="15608"/>
                      <a:pt x="0" y="5984"/>
                    </a:cubicBezTo>
                    <a:cubicBezTo>
                      <a:pt x="-1" y="3959"/>
                      <a:pt x="284" y="1945"/>
                      <a:pt x="845" y="0"/>
                    </a:cubicBezTo>
                  </a:path>
                  <a:path w="21600" h="26738" stroke="0" extrusionOk="0">
                    <a:moveTo>
                      <a:pt x="15614" y="26738"/>
                    </a:moveTo>
                    <a:cubicBezTo>
                      <a:pt x="6367" y="24071"/>
                      <a:pt x="0" y="15608"/>
                      <a:pt x="0" y="5984"/>
                    </a:cubicBezTo>
                    <a:cubicBezTo>
                      <a:pt x="-1" y="3959"/>
                      <a:pt x="284" y="1945"/>
                      <a:pt x="845" y="0"/>
                    </a:cubicBezTo>
                    <a:lnTo>
                      <a:pt x="21600" y="5984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60" name="Arc 27"/>
              <p:cNvSpPr>
                <a:spLocks/>
              </p:cNvSpPr>
              <p:nvPr/>
            </p:nvSpPr>
            <p:spPr bwMode="auto">
              <a:xfrm>
                <a:off x="2634" y="1513"/>
                <a:ext cx="148" cy="425"/>
              </a:xfrm>
              <a:custGeom>
                <a:avLst/>
                <a:gdLst>
                  <a:gd name="T0" fmla="*/ 1 w 21600"/>
                  <a:gd name="T1" fmla="*/ 7 h 26688"/>
                  <a:gd name="T2" fmla="*/ 0 w 21600"/>
                  <a:gd name="T3" fmla="*/ 0 h 26688"/>
                  <a:gd name="T4" fmla="*/ 1 w 21600"/>
                  <a:gd name="T5" fmla="*/ 2 h 2668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688"/>
                  <a:gd name="T11" fmla="*/ 21600 w 21600"/>
                  <a:gd name="T12" fmla="*/ 26688 h 266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688" fill="none" extrusionOk="0">
                    <a:moveTo>
                      <a:pt x="15607" y="26687"/>
                    </a:moveTo>
                    <a:cubicBezTo>
                      <a:pt x="6363" y="24018"/>
                      <a:pt x="0" y="15557"/>
                      <a:pt x="0" y="5936"/>
                    </a:cubicBezTo>
                    <a:cubicBezTo>
                      <a:pt x="-1" y="3928"/>
                      <a:pt x="279" y="1930"/>
                      <a:pt x="831" y="-1"/>
                    </a:cubicBezTo>
                  </a:path>
                  <a:path w="21600" h="26688" stroke="0" extrusionOk="0">
                    <a:moveTo>
                      <a:pt x="15607" y="26687"/>
                    </a:moveTo>
                    <a:cubicBezTo>
                      <a:pt x="6363" y="24018"/>
                      <a:pt x="0" y="15557"/>
                      <a:pt x="0" y="5936"/>
                    </a:cubicBezTo>
                    <a:cubicBezTo>
                      <a:pt x="-1" y="3928"/>
                      <a:pt x="279" y="1930"/>
                      <a:pt x="831" y="-1"/>
                    </a:cubicBezTo>
                    <a:lnTo>
                      <a:pt x="21600" y="5936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</p:grpSp>
        <p:sp>
          <p:nvSpPr>
            <p:cNvPr id="33815" name="Rectangle 28"/>
            <p:cNvSpPr>
              <a:spLocks noChangeArrowheads="1"/>
            </p:cNvSpPr>
            <p:nvPr/>
          </p:nvSpPr>
          <p:spPr bwMode="auto">
            <a:xfrm>
              <a:off x="3110" y="2151"/>
              <a:ext cx="888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22450" tIns="31805" rIns="22450" bIns="31805"/>
            <a:lstStyle/>
            <a:p>
              <a:pPr algn="ctr" defTabSz="1077913">
                <a:lnSpc>
                  <a:spcPts val="2475"/>
                </a:lnSpc>
                <a:spcBef>
                  <a:spcPct val="0"/>
                </a:spcBef>
                <a:buClrTx/>
                <a:buSzTx/>
                <a:buFontTx/>
                <a:buNone/>
                <a:tabLst>
                  <a:tab pos="538163" algn="l"/>
                  <a:tab pos="1077913" algn="l"/>
                  <a:tab pos="1616075" algn="l"/>
                </a:tabLst>
              </a:pPr>
              <a:r>
                <a:rPr kumimoji="1" lang="en-US" altLang="ko-KR" sz="2100">
                  <a:solidFill>
                    <a:srgbClr val="000000"/>
                  </a:solidFill>
                  <a:latin typeface="Arial" charset="0"/>
                </a:rPr>
                <a:t>Collision</a:t>
              </a:r>
            </a:p>
          </p:txBody>
        </p:sp>
        <p:grpSp>
          <p:nvGrpSpPr>
            <p:cNvPr id="4" name="Group 29"/>
            <p:cNvGrpSpPr>
              <a:grpSpLocks/>
            </p:cNvGrpSpPr>
            <p:nvPr/>
          </p:nvGrpSpPr>
          <p:grpSpPr bwMode="auto">
            <a:xfrm>
              <a:off x="1092" y="2340"/>
              <a:ext cx="458" cy="423"/>
              <a:chOff x="896" y="2080"/>
              <a:chExt cx="376" cy="376"/>
            </a:xfrm>
          </p:grpSpPr>
          <p:sp>
            <p:nvSpPr>
              <p:cNvPr id="33851" name="Oval 30"/>
              <p:cNvSpPr>
                <a:spLocks noChangeArrowheads="1"/>
              </p:cNvSpPr>
              <p:nvPr/>
            </p:nvSpPr>
            <p:spPr bwMode="auto">
              <a:xfrm>
                <a:off x="896" y="2080"/>
                <a:ext cx="376" cy="376"/>
              </a:xfrm>
              <a:prstGeom prst="ellipse">
                <a:avLst/>
              </a:prstGeom>
              <a:solidFill>
                <a:srgbClr val="71717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grpSp>
            <p:nvGrpSpPr>
              <p:cNvPr id="5" name="Group 31"/>
              <p:cNvGrpSpPr>
                <a:grpSpLocks/>
              </p:cNvGrpSpPr>
              <p:nvPr/>
            </p:nvGrpSpPr>
            <p:grpSpPr bwMode="auto">
              <a:xfrm>
                <a:off x="934" y="2115"/>
                <a:ext cx="296" cy="304"/>
                <a:chOff x="934" y="2115"/>
                <a:chExt cx="296" cy="304"/>
              </a:xfrm>
            </p:grpSpPr>
            <p:sp>
              <p:nvSpPr>
                <p:cNvPr id="33853" name="Oval 32"/>
                <p:cNvSpPr>
                  <a:spLocks noChangeArrowheads="1"/>
                </p:cNvSpPr>
                <p:nvPr/>
              </p:nvSpPr>
              <p:spPr bwMode="auto">
                <a:xfrm>
                  <a:off x="934" y="2115"/>
                  <a:ext cx="296" cy="304"/>
                </a:xfrm>
                <a:prstGeom prst="ellipse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kumimoji="1" lang="ko-KR" altLang="en-US" sz="1800" b="0">
                    <a:latin typeface="굴림" charset="-127"/>
                  </a:endParaRPr>
                </a:p>
              </p:txBody>
            </p:sp>
            <p:sp>
              <p:nvSpPr>
                <p:cNvPr id="33854" name="Line 33"/>
                <p:cNvSpPr>
                  <a:spLocks noChangeShapeType="1"/>
                </p:cNvSpPr>
                <p:nvPr/>
              </p:nvSpPr>
              <p:spPr bwMode="auto">
                <a:xfrm flipH="1" flipV="1">
                  <a:off x="958" y="2187"/>
                  <a:ext cx="120" cy="8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stealth" w="med" len="lg"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6" name="Group 34"/>
            <p:cNvGrpSpPr>
              <a:grpSpLocks/>
            </p:cNvGrpSpPr>
            <p:nvPr/>
          </p:nvGrpSpPr>
          <p:grpSpPr bwMode="auto">
            <a:xfrm>
              <a:off x="4885" y="2313"/>
              <a:ext cx="458" cy="414"/>
              <a:chOff x="4008" y="2056"/>
              <a:chExt cx="376" cy="368"/>
            </a:xfrm>
          </p:grpSpPr>
          <p:sp>
            <p:nvSpPr>
              <p:cNvPr id="33847" name="Oval 35"/>
              <p:cNvSpPr>
                <a:spLocks noChangeArrowheads="1"/>
              </p:cNvSpPr>
              <p:nvPr/>
            </p:nvSpPr>
            <p:spPr bwMode="auto">
              <a:xfrm>
                <a:off x="4008" y="2056"/>
                <a:ext cx="376" cy="368"/>
              </a:xfrm>
              <a:prstGeom prst="ellipse">
                <a:avLst/>
              </a:prstGeom>
              <a:solidFill>
                <a:srgbClr val="717171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grpSp>
            <p:nvGrpSpPr>
              <p:cNvPr id="7" name="Group 36"/>
              <p:cNvGrpSpPr>
                <a:grpSpLocks/>
              </p:cNvGrpSpPr>
              <p:nvPr/>
            </p:nvGrpSpPr>
            <p:grpSpPr bwMode="auto">
              <a:xfrm>
                <a:off x="4051" y="2090"/>
                <a:ext cx="296" cy="304"/>
                <a:chOff x="4051" y="2090"/>
                <a:chExt cx="296" cy="304"/>
              </a:xfrm>
            </p:grpSpPr>
            <p:sp>
              <p:nvSpPr>
                <p:cNvPr id="33849" name="Oval 37"/>
                <p:cNvSpPr>
                  <a:spLocks noChangeArrowheads="1"/>
                </p:cNvSpPr>
                <p:nvPr/>
              </p:nvSpPr>
              <p:spPr bwMode="auto">
                <a:xfrm>
                  <a:off x="4051" y="2090"/>
                  <a:ext cx="296" cy="304"/>
                </a:xfrm>
                <a:prstGeom prst="ellipse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kumimoji="1" lang="ko-KR" altLang="en-US" sz="1800" b="0">
                    <a:latin typeface="굴림" charset="-127"/>
                  </a:endParaRPr>
                </a:p>
              </p:txBody>
            </p:sp>
            <p:sp>
              <p:nvSpPr>
                <p:cNvPr id="33850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4075" y="2234"/>
                  <a:ext cx="120" cy="8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stealth" w="med" len="lg"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33818" name="Line 39"/>
            <p:cNvSpPr>
              <a:spLocks noChangeShapeType="1"/>
            </p:cNvSpPr>
            <p:nvPr/>
          </p:nvSpPr>
          <p:spPr bwMode="auto">
            <a:xfrm flipH="1">
              <a:off x="3534" y="1827"/>
              <a:ext cx="907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8" name="Group 40"/>
            <p:cNvGrpSpPr>
              <a:grpSpLocks/>
            </p:cNvGrpSpPr>
            <p:nvPr/>
          </p:nvGrpSpPr>
          <p:grpSpPr bwMode="auto">
            <a:xfrm>
              <a:off x="3609" y="1422"/>
              <a:ext cx="263" cy="758"/>
              <a:chOff x="2961" y="1264"/>
              <a:chExt cx="216" cy="674"/>
            </a:xfrm>
          </p:grpSpPr>
          <p:sp>
            <p:nvSpPr>
              <p:cNvPr id="33841" name="Arc 41"/>
              <p:cNvSpPr>
                <a:spLocks/>
              </p:cNvSpPr>
              <p:nvPr/>
            </p:nvSpPr>
            <p:spPr bwMode="auto">
              <a:xfrm>
                <a:off x="2965" y="1456"/>
                <a:ext cx="76" cy="183"/>
              </a:xfrm>
              <a:custGeom>
                <a:avLst/>
                <a:gdLst>
                  <a:gd name="T0" fmla="*/ 0 w 21600"/>
                  <a:gd name="T1" fmla="*/ 0 h 26692"/>
                  <a:gd name="T2" fmla="*/ 0 w 21600"/>
                  <a:gd name="T3" fmla="*/ 1 h 26692"/>
                  <a:gd name="T4" fmla="*/ 0 w 21600"/>
                  <a:gd name="T5" fmla="*/ 1 h 266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692"/>
                  <a:gd name="T11" fmla="*/ 21600 w 21600"/>
                  <a:gd name="T12" fmla="*/ 26692 h 266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692" fill="none" extrusionOk="0">
                    <a:moveTo>
                      <a:pt x="5675" y="0"/>
                    </a:moveTo>
                    <a:cubicBezTo>
                      <a:pt x="15076" y="2560"/>
                      <a:pt x="21600" y="11097"/>
                      <a:pt x="21600" y="20841"/>
                    </a:cubicBezTo>
                    <a:cubicBezTo>
                      <a:pt x="21600" y="22819"/>
                      <a:pt x="21328" y="24787"/>
                      <a:pt x="20792" y="26691"/>
                    </a:cubicBezTo>
                  </a:path>
                  <a:path w="21600" h="26692" stroke="0" extrusionOk="0">
                    <a:moveTo>
                      <a:pt x="5675" y="0"/>
                    </a:moveTo>
                    <a:cubicBezTo>
                      <a:pt x="15076" y="2560"/>
                      <a:pt x="21600" y="11097"/>
                      <a:pt x="21600" y="20841"/>
                    </a:cubicBezTo>
                    <a:cubicBezTo>
                      <a:pt x="21600" y="22819"/>
                      <a:pt x="21328" y="24787"/>
                      <a:pt x="20792" y="26691"/>
                    </a:cubicBezTo>
                    <a:lnTo>
                      <a:pt x="0" y="20841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42" name="Arc 42"/>
              <p:cNvSpPr>
                <a:spLocks/>
              </p:cNvSpPr>
              <p:nvPr/>
            </p:nvSpPr>
            <p:spPr bwMode="auto">
              <a:xfrm>
                <a:off x="2961" y="1333"/>
                <a:ext cx="144" cy="347"/>
              </a:xfrm>
              <a:custGeom>
                <a:avLst/>
                <a:gdLst>
                  <a:gd name="T0" fmla="*/ 0 w 21600"/>
                  <a:gd name="T1" fmla="*/ 0 h 26753"/>
                  <a:gd name="T2" fmla="*/ 1 w 21600"/>
                  <a:gd name="T3" fmla="*/ 5 h 26753"/>
                  <a:gd name="T4" fmla="*/ 0 w 21600"/>
                  <a:gd name="T5" fmla="*/ 4 h 2675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753"/>
                  <a:gd name="T11" fmla="*/ 21600 w 21600"/>
                  <a:gd name="T12" fmla="*/ 26753 h 267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753" fill="none" extrusionOk="0">
                    <a:moveTo>
                      <a:pt x="5841" y="-1"/>
                    </a:moveTo>
                    <a:cubicBezTo>
                      <a:pt x="15160" y="2617"/>
                      <a:pt x="21600" y="11115"/>
                      <a:pt x="21600" y="20795"/>
                    </a:cubicBezTo>
                    <a:cubicBezTo>
                      <a:pt x="21600" y="22810"/>
                      <a:pt x="21317" y="24815"/>
                      <a:pt x="20762" y="26753"/>
                    </a:cubicBezTo>
                  </a:path>
                  <a:path w="21600" h="26753" stroke="0" extrusionOk="0">
                    <a:moveTo>
                      <a:pt x="5841" y="-1"/>
                    </a:moveTo>
                    <a:cubicBezTo>
                      <a:pt x="15160" y="2617"/>
                      <a:pt x="21600" y="11115"/>
                      <a:pt x="21600" y="20795"/>
                    </a:cubicBezTo>
                    <a:cubicBezTo>
                      <a:pt x="21600" y="22810"/>
                      <a:pt x="21317" y="24815"/>
                      <a:pt x="20762" y="26753"/>
                    </a:cubicBezTo>
                    <a:lnTo>
                      <a:pt x="0" y="20795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43" name="Arc 43"/>
              <p:cNvSpPr>
                <a:spLocks/>
              </p:cNvSpPr>
              <p:nvPr/>
            </p:nvSpPr>
            <p:spPr bwMode="auto">
              <a:xfrm>
                <a:off x="3033" y="1264"/>
                <a:ext cx="144" cy="425"/>
              </a:xfrm>
              <a:custGeom>
                <a:avLst/>
                <a:gdLst>
                  <a:gd name="T0" fmla="*/ 0 w 21600"/>
                  <a:gd name="T1" fmla="*/ 0 h 26715"/>
                  <a:gd name="T2" fmla="*/ 1 w 21600"/>
                  <a:gd name="T3" fmla="*/ 7 h 26715"/>
                  <a:gd name="T4" fmla="*/ 0 w 21600"/>
                  <a:gd name="T5" fmla="*/ 5 h 2671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715"/>
                  <a:gd name="T11" fmla="*/ 21600 w 21600"/>
                  <a:gd name="T12" fmla="*/ 26715 h 267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715" fill="none" extrusionOk="0">
                    <a:moveTo>
                      <a:pt x="5852" y="-1"/>
                    </a:moveTo>
                    <a:cubicBezTo>
                      <a:pt x="15165" y="2621"/>
                      <a:pt x="21600" y="11116"/>
                      <a:pt x="21600" y="20792"/>
                    </a:cubicBezTo>
                    <a:cubicBezTo>
                      <a:pt x="21600" y="22795"/>
                      <a:pt x="21321" y="24788"/>
                      <a:pt x="20772" y="26715"/>
                    </a:cubicBezTo>
                  </a:path>
                  <a:path w="21600" h="26715" stroke="0" extrusionOk="0">
                    <a:moveTo>
                      <a:pt x="5852" y="-1"/>
                    </a:moveTo>
                    <a:cubicBezTo>
                      <a:pt x="15165" y="2621"/>
                      <a:pt x="21600" y="11116"/>
                      <a:pt x="21600" y="20792"/>
                    </a:cubicBezTo>
                    <a:cubicBezTo>
                      <a:pt x="21600" y="22795"/>
                      <a:pt x="21321" y="24788"/>
                      <a:pt x="20772" y="26715"/>
                    </a:cubicBezTo>
                    <a:lnTo>
                      <a:pt x="0" y="20792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44" name="Arc 44"/>
              <p:cNvSpPr>
                <a:spLocks/>
              </p:cNvSpPr>
              <p:nvPr/>
            </p:nvSpPr>
            <p:spPr bwMode="auto">
              <a:xfrm>
                <a:off x="2965" y="1598"/>
                <a:ext cx="76" cy="1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1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45" name="Arc 45"/>
              <p:cNvSpPr>
                <a:spLocks/>
              </p:cNvSpPr>
              <p:nvPr/>
            </p:nvSpPr>
            <p:spPr bwMode="auto">
              <a:xfrm>
                <a:off x="2961" y="1602"/>
                <a:ext cx="144" cy="280"/>
              </a:xfrm>
              <a:custGeom>
                <a:avLst/>
                <a:gdLst>
                  <a:gd name="T0" fmla="*/ 1 w 21600"/>
                  <a:gd name="T1" fmla="*/ 0 h 21600"/>
                  <a:gd name="T2" fmla="*/ 0 w 21600"/>
                  <a:gd name="T3" fmla="*/ 4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  <p:sp>
            <p:nvSpPr>
              <p:cNvPr id="33846" name="Arc 46"/>
              <p:cNvSpPr>
                <a:spLocks/>
              </p:cNvSpPr>
              <p:nvPr/>
            </p:nvSpPr>
            <p:spPr bwMode="auto">
              <a:xfrm>
                <a:off x="3033" y="1594"/>
                <a:ext cx="144" cy="344"/>
              </a:xfrm>
              <a:custGeom>
                <a:avLst/>
                <a:gdLst>
                  <a:gd name="T0" fmla="*/ 1 w 21600"/>
                  <a:gd name="T1" fmla="*/ 0 h 21600"/>
                  <a:gd name="T2" fmla="*/ 0 w 21600"/>
                  <a:gd name="T3" fmla="*/ 5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eaLnBrk="1" latin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1" lang="ko-KR" altLang="en-US" sz="1800" b="0">
                  <a:latin typeface="굴림" charset="-127"/>
                </a:endParaRPr>
              </a:p>
            </p:txBody>
          </p:sp>
        </p:grpSp>
        <p:sp>
          <p:nvSpPr>
            <p:cNvPr id="33820" name="Line 47"/>
            <p:cNvSpPr>
              <a:spLocks noChangeShapeType="1"/>
            </p:cNvSpPr>
            <p:nvPr/>
          </p:nvSpPr>
          <p:spPr bwMode="auto">
            <a:xfrm flipV="1">
              <a:off x="1804" y="2862"/>
              <a:ext cx="0" cy="531"/>
            </a:xfrm>
            <a:prstGeom prst="line">
              <a:avLst/>
            </a:prstGeom>
            <a:noFill/>
            <a:ln w="50800">
              <a:solidFill>
                <a:srgbClr val="FFD255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821" name="Line 48"/>
            <p:cNvSpPr>
              <a:spLocks noChangeShapeType="1"/>
            </p:cNvSpPr>
            <p:nvPr/>
          </p:nvSpPr>
          <p:spPr bwMode="auto">
            <a:xfrm flipV="1">
              <a:off x="3559" y="2907"/>
              <a:ext cx="0" cy="486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822" name="Line 49"/>
            <p:cNvSpPr>
              <a:spLocks noChangeShapeType="1"/>
            </p:cNvSpPr>
            <p:nvPr/>
          </p:nvSpPr>
          <p:spPr bwMode="auto">
            <a:xfrm flipV="1">
              <a:off x="4436" y="2907"/>
              <a:ext cx="0" cy="486"/>
            </a:xfrm>
            <a:prstGeom prst="line">
              <a:avLst/>
            </a:prstGeom>
            <a:noFill/>
            <a:ln w="50800">
              <a:solidFill>
                <a:srgbClr val="FFD255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823" name="Line 50"/>
            <p:cNvSpPr>
              <a:spLocks noChangeShapeType="1"/>
            </p:cNvSpPr>
            <p:nvPr/>
          </p:nvSpPr>
          <p:spPr bwMode="auto">
            <a:xfrm flipV="1">
              <a:off x="2681" y="2862"/>
              <a:ext cx="0" cy="531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pic>
          <p:nvPicPr>
            <p:cNvPr id="33824" name="Picture 51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28" y="2394"/>
              <a:ext cx="676" cy="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825" name="Picture 52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06" y="2394"/>
              <a:ext cx="675" cy="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826" name="Picture 53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83" y="2394"/>
              <a:ext cx="676" cy="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827" name="Picture 54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61" y="2394"/>
              <a:ext cx="675" cy="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828" name="Line 55"/>
            <p:cNvSpPr>
              <a:spLocks noChangeShapeType="1"/>
            </p:cNvSpPr>
            <p:nvPr/>
          </p:nvSpPr>
          <p:spPr bwMode="auto">
            <a:xfrm>
              <a:off x="1190" y="3393"/>
              <a:ext cx="3861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79256" name="Rectangle 56"/>
            <p:cNvSpPr>
              <a:spLocks noChangeArrowheads="1"/>
            </p:cNvSpPr>
            <p:nvPr/>
          </p:nvSpPr>
          <p:spPr bwMode="auto">
            <a:xfrm>
              <a:off x="1599" y="2468"/>
              <a:ext cx="469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22450" tIns="31805" rIns="22450" bIns="31805"/>
            <a:lstStyle/>
            <a:p>
              <a:pPr algn="ctr" defTabSz="1077913">
                <a:lnSpc>
                  <a:spcPts val="3063"/>
                </a:lnSpc>
                <a:spcBef>
                  <a:spcPct val="0"/>
                </a:spcBef>
                <a:buClrTx/>
                <a:buSzTx/>
                <a:buFontTx/>
                <a:buNone/>
                <a:tabLst>
                  <a:tab pos="538163" algn="l"/>
                  <a:tab pos="1077913" algn="l"/>
                  <a:tab pos="1616075" algn="l"/>
                </a:tabLst>
                <a:defRPr/>
              </a:pPr>
              <a:r>
                <a:rPr kumimoji="1" lang="en-US" altLang="ko-KR" sz="26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굴림" pitchFamily="50" charset="-127"/>
                </a:rPr>
                <a:t>A</a:t>
              </a:r>
            </a:p>
          </p:txBody>
        </p:sp>
        <p:sp>
          <p:nvSpPr>
            <p:cNvPr id="179257" name="Rectangle 57"/>
            <p:cNvSpPr>
              <a:spLocks noChangeArrowheads="1"/>
            </p:cNvSpPr>
            <p:nvPr/>
          </p:nvSpPr>
          <p:spPr bwMode="auto">
            <a:xfrm>
              <a:off x="2476" y="2468"/>
              <a:ext cx="469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22450" tIns="31805" rIns="22450" bIns="31805"/>
            <a:lstStyle/>
            <a:p>
              <a:pPr algn="ctr" defTabSz="1077913">
                <a:lnSpc>
                  <a:spcPts val="3063"/>
                </a:lnSpc>
                <a:spcBef>
                  <a:spcPct val="0"/>
                </a:spcBef>
                <a:buClrTx/>
                <a:buSzTx/>
                <a:buFontTx/>
                <a:buNone/>
                <a:tabLst>
                  <a:tab pos="538163" algn="l"/>
                  <a:tab pos="1077913" algn="l"/>
                  <a:tab pos="1616075" algn="l"/>
                </a:tabLst>
                <a:defRPr/>
              </a:pPr>
              <a:r>
                <a:rPr kumimoji="1" lang="en-US" altLang="ko-KR" sz="26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굴림" pitchFamily="50" charset="-127"/>
                </a:rPr>
                <a:t>B</a:t>
              </a:r>
            </a:p>
          </p:txBody>
        </p:sp>
        <p:sp>
          <p:nvSpPr>
            <p:cNvPr id="179258" name="Rectangle 58"/>
            <p:cNvSpPr>
              <a:spLocks noChangeArrowheads="1"/>
            </p:cNvSpPr>
            <p:nvPr/>
          </p:nvSpPr>
          <p:spPr bwMode="auto">
            <a:xfrm>
              <a:off x="3354" y="2468"/>
              <a:ext cx="468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22450" tIns="31805" rIns="22450" bIns="31805"/>
            <a:lstStyle/>
            <a:p>
              <a:pPr algn="ctr" defTabSz="1077913">
                <a:lnSpc>
                  <a:spcPts val="3063"/>
                </a:lnSpc>
                <a:spcBef>
                  <a:spcPct val="0"/>
                </a:spcBef>
                <a:buClrTx/>
                <a:buSzTx/>
                <a:buFontTx/>
                <a:buNone/>
                <a:tabLst>
                  <a:tab pos="538163" algn="l"/>
                  <a:tab pos="1077913" algn="l"/>
                  <a:tab pos="1616075" algn="l"/>
                </a:tabLst>
                <a:defRPr/>
              </a:pPr>
              <a:r>
                <a:rPr kumimoji="1" lang="en-US" altLang="ko-KR" sz="26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굴림" pitchFamily="50" charset="-127"/>
                </a:rPr>
                <a:t>C</a:t>
              </a:r>
            </a:p>
          </p:txBody>
        </p:sp>
        <p:sp>
          <p:nvSpPr>
            <p:cNvPr id="179259" name="Rectangle 59"/>
            <p:cNvSpPr>
              <a:spLocks noChangeArrowheads="1"/>
            </p:cNvSpPr>
            <p:nvPr/>
          </p:nvSpPr>
          <p:spPr bwMode="auto">
            <a:xfrm>
              <a:off x="4232" y="2468"/>
              <a:ext cx="468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22450" tIns="31805" rIns="22450" bIns="31805"/>
            <a:lstStyle/>
            <a:p>
              <a:pPr algn="ctr" defTabSz="1077913">
                <a:lnSpc>
                  <a:spcPts val="3063"/>
                </a:lnSpc>
                <a:spcBef>
                  <a:spcPct val="0"/>
                </a:spcBef>
                <a:buClrTx/>
                <a:buSzTx/>
                <a:buFontTx/>
                <a:buNone/>
                <a:tabLst>
                  <a:tab pos="538163" algn="l"/>
                  <a:tab pos="1077913" algn="l"/>
                  <a:tab pos="1616075" algn="l"/>
                </a:tabLst>
                <a:defRPr/>
              </a:pPr>
              <a:r>
                <a:rPr kumimoji="1" lang="en-US" altLang="ko-KR" sz="26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굴림" pitchFamily="50" charset="-127"/>
                </a:rPr>
                <a:t>D</a:t>
              </a:r>
            </a:p>
          </p:txBody>
        </p:sp>
        <p:sp>
          <p:nvSpPr>
            <p:cNvPr id="33833" name="Line 60"/>
            <p:cNvSpPr>
              <a:spLocks noChangeShapeType="1"/>
            </p:cNvSpPr>
            <p:nvPr/>
          </p:nvSpPr>
          <p:spPr bwMode="auto">
            <a:xfrm>
              <a:off x="1804" y="2916"/>
              <a:ext cx="0" cy="477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834" name="Line 61"/>
            <p:cNvSpPr>
              <a:spLocks noChangeShapeType="1"/>
            </p:cNvSpPr>
            <p:nvPr/>
          </p:nvSpPr>
          <p:spPr bwMode="auto">
            <a:xfrm>
              <a:off x="4436" y="2907"/>
              <a:ext cx="0" cy="495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 type="none" w="sm" len="sm"/>
              <a:tailEnd type="stealth" w="med" len="lg"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79262" name="Rectangle 62"/>
            <p:cNvSpPr>
              <a:spLocks noChangeArrowheads="1"/>
            </p:cNvSpPr>
            <p:nvPr/>
          </p:nvSpPr>
          <p:spPr bwMode="auto">
            <a:xfrm>
              <a:off x="2013" y="3315"/>
              <a:ext cx="401" cy="15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108510" tIns="54256" rIns="108510" bIns="54256" anchor="ctr"/>
            <a:lstStyle/>
            <a:p>
              <a:pPr algn="ctr" defTabSz="1077913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ko-KR" sz="1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굴림" pitchFamily="50" charset="-127"/>
                </a:rPr>
                <a:t>JAM</a:t>
              </a:r>
            </a:p>
          </p:txBody>
        </p:sp>
        <p:sp>
          <p:nvSpPr>
            <p:cNvPr id="179263" name="Rectangle 63"/>
            <p:cNvSpPr>
              <a:spLocks noChangeArrowheads="1"/>
            </p:cNvSpPr>
            <p:nvPr/>
          </p:nvSpPr>
          <p:spPr bwMode="auto">
            <a:xfrm>
              <a:off x="2598" y="3315"/>
              <a:ext cx="401" cy="15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108510" tIns="54256" rIns="108510" bIns="54256" anchor="ctr"/>
            <a:lstStyle/>
            <a:p>
              <a:pPr algn="ctr" defTabSz="1077913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ko-KR" sz="1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굴림" pitchFamily="50" charset="-127"/>
                </a:rPr>
                <a:t>JAM</a:t>
              </a:r>
            </a:p>
          </p:txBody>
        </p:sp>
        <p:sp>
          <p:nvSpPr>
            <p:cNvPr id="179264" name="Rectangle 64"/>
            <p:cNvSpPr>
              <a:spLocks noChangeArrowheads="1"/>
            </p:cNvSpPr>
            <p:nvPr/>
          </p:nvSpPr>
          <p:spPr bwMode="auto">
            <a:xfrm>
              <a:off x="3243" y="3315"/>
              <a:ext cx="399" cy="15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108510" tIns="54256" rIns="108510" bIns="54256" anchor="ctr"/>
            <a:lstStyle/>
            <a:p>
              <a:pPr algn="ctr" defTabSz="1077913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ko-KR" sz="1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굴림" pitchFamily="50" charset="-127"/>
                </a:rPr>
                <a:t>JAM</a:t>
              </a:r>
            </a:p>
          </p:txBody>
        </p:sp>
        <p:sp>
          <p:nvSpPr>
            <p:cNvPr id="179265" name="Rectangle 65"/>
            <p:cNvSpPr>
              <a:spLocks noChangeArrowheads="1"/>
            </p:cNvSpPr>
            <p:nvPr/>
          </p:nvSpPr>
          <p:spPr bwMode="auto">
            <a:xfrm>
              <a:off x="3827" y="3315"/>
              <a:ext cx="399" cy="15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108510" tIns="54256" rIns="108510" bIns="54256" anchor="ctr"/>
            <a:lstStyle/>
            <a:p>
              <a:pPr algn="ctr" defTabSz="1077913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굴림" pitchFamily="50" charset="-127"/>
                </a:rPr>
                <a:t>JAM</a:t>
              </a:r>
            </a:p>
          </p:txBody>
        </p:sp>
        <p:sp>
          <p:nvSpPr>
            <p:cNvPr id="179266" name="Rectangle 66"/>
            <p:cNvSpPr>
              <a:spLocks noChangeArrowheads="1"/>
            </p:cNvSpPr>
            <p:nvPr/>
          </p:nvSpPr>
          <p:spPr bwMode="auto">
            <a:xfrm>
              <a:off x="4529" y="3315"/>
              <a:ext cx="399" cy="15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108510" tIns="54256" rIns="108510" bIns="54256" anchor="ctr"/>
            <a:lstStyle/>
            <a:p>
              <a:pPr algn="ctr" defTabSz="1077913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ko-KR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굴림" pitchFamily="50" charset="-127"/>
                </a:rPr>
                <a:t>JAM</a:t>
              </a:r>
            </a:p>
          </p:txBody>
        </p:sp>
        <p:sp>
          <p:nvSpPr>
            <p:cNvPr id="179267" name="Rectangle 67"/>
            <p:cNvSpPr>
              <a:spLocks noChangeArrowheads="1"/>
            </p:cNvSpPr>
            <p:nvPr/>
          </p:nvSpPr>
          <p:spPr bwMode="auto">
            <a:xfrm>
              <a:off x="1311" y="3315"/>
              <a:ext cx="401" cy="153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108510" tIns="54256" rIns="108510" bIns="54256" anchor="ctr"/>
            <a:lstStyle/>
            <a:p>
              <a:pPr algn="ctr" defTabSz="1077913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ko-KR" sz="16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굴림" pitchFamily="50" charset="-127"/>
                </a:rPr>
                <a:t>JAM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08911" y="3889130"/>
            <a:ext cx="18094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Back-off Algorithm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58000" y="3910257"/>
            <a:ext cx="18094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Back-off Algorithm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42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번호 개체 틀 3"/>
          <p:cNvSpPr txBox="1">
            <a:spLocks noGrp="1"/>
          </p:cNvSpPr>
          <p:nvPr/>
        </p:nvSpPr>
        <p:spPr bwMode="auto">
          <a:xfrm>
            <a:off x="6858000" y="6019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latin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455DA45-1DF4-4994-BEDF-20F59574B31C}" type="slidenum">
              <a:rPr lang="ko-KR" altLang="en-US" sz="1000">
                <a:solidFill>
                  <a:schemeClr val="bg1">
                    <a:lumMod val="50000"/>
                  </a:schemeClr>
                </a:solidFill>
                <a:latin typeface="굴림" charset="-127"/>
              </a:rPr>
              <a:pPr algn="r" eaLnBrk="1" latin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굴림" charset="-127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9784" y="502587"/>
            <a:ext cx="8131175" cy="437038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altLang="ko-KR" dirty="0" smtClean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  </a:t>
            </a:r>
            <a:r>
              <a:rPr lang="en-US" altLang="ko-KR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❺ </a:t>
            </a:r>
            <a:r>
              <a:rPr lang="en-US" altLang="ko-KR" dirty="0" smtClean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Token </a:t>
            </a:r>
            <a:r>
              <a:rPr lang="en-US" altLang="ko-KR" dirty="0" smtClean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Passing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 smtClean="0">
              <a:latin typeface="Times New Roman" pitchFamily="18" charset="0"/>
              <a:ea typeface="맑은 고딕" pitchFamily="50" charset="-127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Clr>
                <a:srgbClr val="99CCFF"/>
              </a:buClr>
              <a:buSzPct val="90000"/>
            </a:pPr>
            <a:r>
              <a:rPr lang="en-US" altLang="ko-KR" sz="2400" dirty="0" smtClean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 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채널을 전용하는 자격증인 토큰을 미리 정해진 순서에 따라 주고받으면서 전송하는 방법</a:t>
            </a:r>
            <a:endParaRPr lang="en-US" altLang="ko-KR" sz="1800" dirty="0" smtClean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lvl="1">
              <a:lnSpc>
                <a:spcPct val="150000"/>
              </a:lnSpc>
              <a:buClr>
                <a:srgbClr val="99CCFF"/>
              </a:buClr>
              <a:buSzPct val="90000"/>
            </a:pPr>
            <a:r>
              <a:rPr lang="en-US" altLang="ko-KR" sz="1800" dirty="0" smtClean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 Free Token 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</a:t>
            </a:r>
            <a:r>
              <a:rPr lang="ko-KR" altLang="en-US" sz="18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800" dirty="0" smtClean="0"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Busy Token </a:t>
            </a:r>
            <a:r>
              <a:rPr lang="ko-KR" altLang="en-US" sz="1800" dirty="0" smtClean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사용</a:t>
            </a:r>
          </a:p>
          <a:p>
            <a:pPr>
              <a:lnSpc>
                <a:spcPct val="80000"/>
              </a:lnSpc>
              <a:buNone/>
            </a:pPr>
            <a:endParaRPr lang="en-US" altLang="ko-KR" sz="2400" dirty="0" smtClean="0">
              <a:latin typeface="Times New Roman" pitchFamily="18" charset="0"/>
              <a:ea typeface="맑은 고딕" pitchFamily="50" charset="-127"/>
              <a:cs typeface="Times New Roman" pitchFamily="18" charset="0"/>
            </a:endParaRPr>
          </a:p>
        </p:txBody>
      </p:sp>
      <p:pic>
        <p:nvPicPr>
          <p:cNvPr id="70" name="Picture 4" descr="그림3-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799" y="2687781"/>
            <a:ext cx="3489056" cy="3695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7102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250</Words>
  <Application>Microsoft Office PowerPoint</Application>
  <PresentationFormat>화면 슬라이드 쇼(4:3)</PresentationFormat>
  <Paragraphs>92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굴림</vt:lpstr>
      <vt:lpstr>나눔고딕</vt:lpstr>
      <vt:lpstr>맑은 고딕</vt:lpstr>
      <vt:lpstr>함초롬바탕</vt:lpstr>
      <vt:lpstr>Arial</vt:lpstr>
      <vt:lpstr>Calibri</vt:lpstr>
      <vt:lpstr>Calibri Light</vt:lpstr>
      <vt:lpstr>Times New Roman</vt:lpstr>
      <vt:lpstr>Wingdings</vt:lpstr>
      <vt:lpstr>Wingdings 2</vt:lpstr>
      <vt:lpstr>Office 테마</vt:lpstr>
      <vt:lpstr>PowerPoint 프레젠테이션</vt:lpstr>
      <vt:lpstr>❶ Bus Topology </vt:lpstr>
      <vt:lpstr>❷ Star Topology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2</cp:revision>
  <dcterms:created xsi:type="dcterms:W3CDTF">2023-08-16T10:25:16Z</dcterms:created>
  <dcterms:modified xsi:type="dcterms:W3CDTF">2023-08-16T10:28:39Z</dcterms:modified>
</cp:coreProperties>
</file>