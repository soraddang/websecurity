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67" r:id="rId1"/>
  </p:sldMasterIdLst>
  <p:notesMasterIdLst>
    <p:notesMasterId r:id="rId70"/>
  </p:notesMasterIdLst>
  <p:sldIdLst>
    <p:sldId id="1850" r:id="rId2"/>
    <p:sldId id="1990" r:id="rId3"/>
    <p:sldId id="1268" r:id="rId4"/>
    <p:sldId id="1269" r:id="rId5"/>
    <p:sldId id="1999" r:id="rId6"/>
    <p:sldId id="1997" r:id="rId7"/>
    <p:sldId id="2000" r:id="rId8"/>
    <p:sldId id="1992" r:id="rId9"/>
    <p:sldId id="2002" r:id="rId10"/>
    <p:sldId id="1996" r:id="rId11"/>
    <p:sldId id="2001" r:id="rId12"/>
    <p:sldId id="2003" r:id="rId13"/>
    <p:sldId id="1214" r:id="rId14"/>
    <p:sldId id="1179" r:id="rId15"/>
    <p:sldId id="1184" r:id="rId16"/>
    <p:sldId id="1180" r:id="rId17"/>
    <p:sldId id="1181" r:id="rId18"/>
    <p:sldId id="1182" r:id="rId19"/>
    <p:sldId id="1183" r:id="rId20"/>
    <p:sldId id="1215" r:id="rId21"/>
    <p:sldId id="1185" r:id="rId22"/>
    <p:sldId id="1186" r:id="rId23"/>
    <p:sldId id="1191" r:id="rId24"/>
    <p:sldId id="1193" r:id="rId25"/>
    <p:sldId id="1187" r:id="rId26"/>
    <p:sldId id="1192" r:id="rId27"/>
    <p:sldId id="1194" r:id="rId28"/>
    <p:sldId id="2004" r:id="rId29"/>
    <p:sldId id="1531" r:id="rId30"/>
    <p:sldId id="2009" r:id="rId31"/>
    <p:sldId id="2008" r:id="rId32"/>
    <p:sldId id="2005" r:id="rId33"/>
    <p:sldId id="2006" r:id="rId34"/>
    <p:sldId id="2007" r:id="rId35"/>
    <p:sldId id="2010" r:id="rId36"/>
    <p:sldId id="1238" r:id="rId37"/>
    <p:sldId id="1239" r:id="rId38"/>
    <p:sldId id="1240" r:id="rId39"/>
    <p:sldId id="1845" r:id="rId40"/>
    <p:sldId id="1846" r:id="rId41"/>
    <p:sldId id="1847" r:id="rId42"/>
    <p:sldId id="1216" r:id="rId43"/>
    <p:sldId id="1848" r:id="rId44"/>
    <p:sldId id="1849" r:id="rId45"/>
    <p:sldId id="1226" r:id="rId46"/>
    <p:sldId id="1217" r:id="rId47"/>
    <p:sldId id="1197" r:id="rId48"/>
    <p:sldId id="1198" r:id="rId49"/>
    <p:sldId id="1220" r:id="rId50"/>
    <p:sldId id="1218" r:id="rId51"/>
    <p:sldId id="1221" r:id="rId52"/>
    <p:sldId id="1222" r:id="rId53"/>
    <p:sldId id="1224" r:id="rId54"/>
    <p:sldId id="1223" r:id="rId55"/>
    <p:sldId id="1225" r:id="rId56"/>
    <p:sldId id="1211" r:id="rId57"/>
    <p:sldId id="1212" r:id="rId58"/>
    <p:sldId id="1213" r:id="rId59"/>
    <p:sldId id="1227" r:id="rId60"/>
    <p:sldId id="1229" r:id="rId61"/>
    <p:sldId id="1230" r:id="rId62"/>
    <p:sldId id="1231" r:id="rId63"/>
    <p:sldId id="1232" r:id="rId64"/>
    <p:sldId id="1233" r:id="rId65"/>
    <p:sldId id="1234" r:id="rId66"/>
    <p:sldId id="1235" r:id="rId67"/>
    <p:sldId id="1237" r:id="rId68"/>
    <p:sldId id="1236" r:id="rId69"/>
  </p:sldIdLst>
  <p:sldSz cx="12192000" cy="6858000"/>
  <p:notesSz cx="7102475" cy="10234613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6483" autoAdjust="0"/>
    <p:restoredTop sz="95026" autoAdjust="0"/>
  </p:normalViewPr>
  <p:slideViewPr>
    <p:cSldViewPr snapToGrid="0">
      <p:cViewPr>
        <p:scale>
          <a:sx n="79" d="100"/>
          <a:sy n="79" d="100"/>
        </p:scale>
        <p:origin x="1166" y="67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20122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7" Type="http://schemas.openxmlformats.org/officeDocument/2006/relationships/slide" Target="slides/slide6.xml"/><Relationship Id="rId71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61" Type="http://schemas.openxmlformats.org/officeDocument/2006/relationships/slide" Target="slides/slide60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2" y="0"/>
            <a:ext cx="3077739" cy="513508"/>
          </a:xfrm>
          <a:prstGeom prst="rect">
            <a:avLst/>
          </a:prstGeom>
        </p:spPr>
        <p:txBody>
          <a:bodyPr vert="horz" lIns="94778" tIns="47388" rIns="94778" bIns="47388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4023094" y="0"/>
            <a:ext cx="3077739" cy="513508"/>
          </a:xfrm>
          <a:prstGeom prst="rect">
            <a:avLst/>
          </a:prstGeom>
        </p:spPr>
        <p:txBody>
          <a:bodyPr vert="horz" lIns="94778" tIns="47388" rIns="94778" bIns="47388" rtlCol="0"/>
          <a:lstStyle>
            <a:lvl1pPr algn="r">
              <a:defRPr sz="1200"/>
            </a:lvl1pPr>
          </a:lstStyle>
          <a:p>
            <a:fld id="{6E2CB153-45EF-48E8-99E9-7B97BED85BE4}" type="datetimeFigureOut">
              <a:rPr lang="ko-KR" altLang="en-US" smtClean="0"/>
              <a:t>2023-08-23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481013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778" tIns="47388" rIns="94778" bIns="47388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710248" y="4925407"/>
            <a:ext cx="5681980" cy="4029879"/>
          </a:xfrm>
          <a:prstGeom prst="rect">
            <a:avLst/>
          </a:prstGeom>
        </p:spPr>
        <p:txBody>
          <a:bodyPr vert="horz" lIns="94778" tIns="47388" rIns="94778" bIns="47388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2" y="9721108"/>
            <a:ext cx="3077739" cy="513507"/>
          </a:xfrm>
          <a:prstGeom prst="rect">
            <a:avLst/>
          </a:prstGeom>
        </p:spPr>
        <p:txBody>
          <a:bodyPr vert="horz" lIns="94778" tIns="47388" rIns="94778" bIns="47388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4023094" y="9721108"/>
            <a:ext cx="3077739" cy="513507"/>
          </a:xfrm>
          <a:prstGeom prst="rect">
            <a:avLst/>
          </a:prstGeom>
        </p:spPr>
        <p:txBody>
          <a:bodyPr vert="horz" lIns="94778" tIns="47388" rIns="94778" bIns="47388" rtlCol="0" anchor="b"/>
          <a:lstStyle>
            <a:lvl1pPr algn="r">
              <a:defRPr sz="1200"/>
            </a:lvl1pPr>
          </a:lstStyle>
          <a:p>
            <a:fld id="{5BE81944-C09D-40AD-A756-3B56302354E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584318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295275" y="736600"/>
            <a:ext cx="7580313" cy="4264025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81514" y="5420182"/>
            <a:ext cx="5452110" cy="3916115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수신지의 </a:t>
            </a:r>
            <a:r>
              <a:rPr lang="en-US" altLang="ko-KR" sz="10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MAC</a:t>
            </a:r>
            <a:r>
              <a:rPr lang="ko-KR" altLang="en-US" sz="100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주소를 조회하는 과정은 </a:t>
            </a:r>
            <a:endParaRPr lang="en-US" altLang="ko-KR" sz="1000" dirty="0">
              <a:latin typeface="함초롬바탕" panose="02030504000101010101" pitchFamily="18" charset="-127"/>
              <a:ea typeface="함초롬바탕" panose="02030504000101010101" pitchFamily="18" charset="-127"/>
              <a:cs typeface="함초롬바탕" panose="02030504000101010101" pitchFamily="18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0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- ARP</a:t>
            </a:r>
            <a:r>
              <a:rPr lang="ko-KR" altLang="en-US" sz="100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의 캐시를 조회 후 캐시에 수신지 </a:t>
            </a:r>
            <a:r>
              <a:rPr lang="en-US" altLang="ko-KR" sz="10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IP</a:t>
            </a:r>
            <a:r>
              <a:rPr lang="ko-KR" altLang="en-US" sz="100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의 </a:t>
            </a:r>
            <a:r>
              <a:rPr lang="en-US" altLang="ko-KR" sz="10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MAC </a:t>
            </a:r>
            <a:r>
              <a:rPr lang="ko-KR" altLang="en-US" sz="100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주소를 검색하지 못할 경우 </a:t>
            </a:r>
            <a:endParaRPr lang="en-US" altLang="ko-KR" sz="1000" dirty="0">
              <a:latin typeface="함초롬바탕" panose="02030504000101010101" pitchFamily="18" charset="-127"/>
              <a:ea typeface="함초롬바탕" panose="02030504000101010101" pitchFamily="18" charset="-127"/>
              <a:cs typeface="함초롬바탕" panose="02030504000101010101" pitchFamily="18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0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 ARP </a:t>
            </a:r>
            <a:r>
              <a:rPr lang="ko-KR" altLang="en-US" sz="100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패킷을 이용하여 수신지 </a:t>
            </a:r>
            <a:r>
              <a:rPr lang="en-US" altLang="ko-KR" sz="10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MAC </a:t>
            </a:r>
            <a:r>
              <a:rPr lang="ko-KR" altLang="en-US" sz="100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주소 부분에 해당 주소를 채워 넣는다</a:t>
            </a:r>
            <a:r>
              <a:rPr lang="en-US" altLang="ko-KR" sz="10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.  </a:t>
            </a:r>
            <a:endParaRPr lang="ko-KR" altLang="en-US" sz="1000">
              <a:latin typeface="함초롬바탕" panose="02030504000101010101" pitchFamily="18" charset="-127"/>
              <a:ea typeface="함초롬바탕" panose="02030504000101010101" pitchFamily="18" charset="-127"/>
              <a:cs typeface="함초롬바탕" panose="02030504000101010101" pitchFamily="18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94B8371-AA50-4CA5-BBD3-755C5D0A7E11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130896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295275" y="736600"/>
            <a:ext cx="7580313" cy="4264025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81514" y="5420182"/>
            <a:ext cx="5452110" cy="3916115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수신지의 </a:t>
            </a:r>
            <a:r>
              <a:rPr lang="en-US" altLang="ko-KR" sz="10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MAC</a:t>
            </a:r>
            <a:r>
              <a:rPr lang="ko-KR" altLang="en-US" sz="100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주소를 조회하는 과정은 </a:t>
            </a:r>
            <a:endParaRPr lang="en-US" altLang="ko-KR" sz="1000" dirty="0">
              <a:latin typeface="함초롬바탕" panose="02030504000101010101" pitchFamily="18" charset="-127"/>
              <a:ea typeface="함초롬바탕" panose="02030504000101010101" pitchFamily="18" charset="-127"/>
              <a:cs typeface="함초롬바탕" panose="02030504000101010101" pitchFamily="18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0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- ARP</a:t>
            </a:r>
            <a:r>
              <a:rPr lang="ko-KR" altLang="en-US" sz="100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의 캐시를 조회 후 캐시에 수신지 </a:t>
            </a:r>
            <a:r>
              <a:rPr lang="en-US" altLang="ko-KR" sz="10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IP</a:t>
            </a:r>
            <a:r>
              <a:rPr lang="ko-KR" altLang="en-US" sz="100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의 </a:t>
            </a:r>
            <a:r>
              <a:rPr lang="en-US" altLang="ko-KR" sz="10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MAC </a:t>
            </a:r>
            <a:r>
              <a:rPr lang="ko-KR" altLang="en-US" sz="100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주소를 검색하지 못할 경우 </a:t>
            </a:r>
            <a:endParaRPr lang="en-US" altLang="ko-KR" sz="1000" dirty="0">
              <a:latin typeface="함초롬바탕" panose="02030504000101010101" pitchFamily="18" charset="-127"/>
              <a:ea typeface="함초롬바탕" panose="02030504000101010101" pitchFamily="18" charset="-127"/>
              <a:cs typeface="함초롬바탕" panose="02030504000101010101" pitchFamily="18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0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 ARP </a:t>
            </a:r>
            <a:r>
              <a:rPr lang="ko-KR" altLang="en-US" sz="100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패킷을 이용하여 수신지 </a:t>
            </a:r>
            <a:r>
              <a:rPr lang="en-US" altLang="ko-KR" sz="10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MAC </a:t>
            </a:r>
            <a:r>
              <a:rPr lang="ko-KR" altLang="en-US" sz="100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주소 부분에 해당 주소를 채워 넣는다</a:t>
            </a:r>
            <a:r>
              <a:rPr lang="en-US" altLang="ko-KR" sz="10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.  </a:t>
            </a:r>
            <a:endParaRPr lang="ko-KR" altLang="en-US" sz="1000">
              <a:latin typeface="함초롬바탕" panose="02030504000101010101" pitchFamily="18" charset="-127"/>
              <a:ea typeface="함초롬바탕" panose="02030504000101010101" pitchFamily="18" charset="-127"/>
              <a:cs typeface="함초롬바탕" panose="02030504000101010101" pitchFamily="18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94B8371-AA50-4CA5-BBD3-755C5D0A7E11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2293050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295275" y="736600"/>
            <a:ext cx="7580313" cy="4264025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81514" y="5420182"/>
            <a:ext cx="5452110" cy="3916115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수신지의 </a:t>
            </a:r>
            <a:r>
              <a:rPr lang="en-US" altLang="ko-KR" sz="10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MAC</a:t>
            </a:r>
            <a:r>
              <a:rPr lang="ko-KR" altLang="en-US" sz="100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주소를 조회하는 과정은 </a:t>
            </a:r>
            <a:endParaRPr lang="en-US" altLang="ko-KR" sz="1000" dirty="0">
              <a:latin typeface="함초롬바탕" panose="02030504000101010101" pitchFamily="18" charset="-127"/>
              <a:ea typeface="함초롬바탕" panose="02030504000101010101" pitchFamily="18" charset="-127"/>
              <a:cs typeface="함초롬바탕" panose="02030504000101010101" pitchFamily="18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0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- ARP</a:t>
            </a:r>
            <a:r>
              <a:rPr lang="ko-KR" altLang="en-US" sz="100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의 캐시를 조회 후 캐시에 수신지 </a:t>
            </a:r>
            <a:r>
              <a:rPr lang="en-US" altLang="ko-KR" sz="10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IP</a:t>
            </a:r>
            <a:r>
              <a:rPr lang="ko-KR" altLang="en-US" sz="100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의 </a:t>
            </a:r>
            <a:r>
              <a:rPr lang="en-US" altLang="ko-KR" sz="10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MAC </a:t>
            </a:r>
            <a:r>
              <a:rPr lang="ko-KR" altLang="en-US" sz="100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주소를 검색하지 못할 경우 </a:t>
            </a:r>
            <a:endParaRPr lang="en-US" altLang="ko-KR" sz="1000" dirty="0">
              <a:latin typeface="함초롬바탕" panose="02030504000101010101" pitchFamily="18" charset="-127"/>
              <a:ea typeface="함초롬바탕" panose="02030504000101010101" pitchFamily="18" charset="-127"/>
              <a:cs typeface="함초롬바탕" panose="02030504000101010101" pitchFamily="18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0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 ARP </a:t>
            </a:r>
            <a:r>
              <a:rPr lang="ko-KR" altLang="en-US" sz="100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패킷을 이용하여 수신지 </a:t>
            </a:r>
            <a:r>
              <a:rPr lang="en-US" altLang="ko-KR" sz="10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MAC </a:t>
            </a:r>
            <a:r>
              <a:rPr lang="ko-KR" altLang="en-US" sz="100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주소 부분에 해당 주소를 채워 넣는다</a:t>
            </a:r>
            <a:r>
              <a:rPr lang="en-US" altLang="ko-KR" sz="10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.  </a:t>
            </a:r>
            <a:endParaRPr lang="ko-KR" altLang="en-US" sz="1000">
              <a:latin typeface="함초롬바탕" panose="02030504000101010101" pitchFamily="18" charset="-127"/>
              <a:ea typeface="함초롬바탕" panose="02030504000101010101" pitchFamily="18" charset="-127"/>
              <a:cs typeface="함초롬바탕" panose="02030504000101010101" pitchFamily="18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94B8371-AA50-4CA5-BBD3-755C5D0A7E11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5913680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295275" y="736600"/>
            <a:ext cx="7580313" cy="4264025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81514" y="5420182"/>
            <a:ext cx="5452110" cy="3916115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수신지의 </a:t>
            </a:r>
            <a:r>
              <a:rPr lang="en-US" altLang="ko-KR" sz="10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MAC</a:t>
            </a:r>
            <a:r>
              <a:rPr lang="ko-KR" altLang="en-US" sz="100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주소를 조회하는 과정은 </a:t>
            </a:r>
            <a:endParaRPr lang="en-US" altLang="ko-KR" sz="1000" dirty="0">
              <a:latin typeface="함초롬바탕" panose="02030504000101010101" pitchFamily="18" charset="-127"/>
              <a:ea typeface="함초롬바탕" panose="02030504000101010101" pitchFamily="18" charset="-127"/>
              <a:cs typeface="함초롬바탕" panose="02030504000101010101" pitchFamily="18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0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- ARP</a:t>
            </a:r>
            <a:r>
              <a:rPr lang="ko-KR" altLang="en-US" sz="100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의 캐시를 조회 후 캐시에 수신지 </a:t>
            </a:r>
            <a:r>
              <a:rPr lang="en-US" altLang="ko-KR" sz="10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IP</a:t>
            </a:r>
            <a:r>
              <a:rPr lang="ko-KR" altLang="en-US" sz="100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의 </a:t>
            </a:r>
            <a:r>
              <a:rPr lang="en-US" altLang="ko-KR" sz="10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MAC </a:t>
            </a:r>
            <a:r>
              <a:rPr lang="ko-KR" altLang="en-US" sz="100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주소를 검색하지 못할 경우 </a:t>
            </a:r>
            <a:endParaRPr lang="en-US" altLang="ko-KR" sz="1000" dirty="0">
              <a:latin typeface="함초롬바탕" panose="02030504000101010101" pitchFamily="18" charset="-127"/>
              <a:ea typeface="함초롬바탕" panose="02030504000101010101" pitchFamily="18" charset="-127"/>
              <a:cs typeface="함초롬바탕" panose="02030504000101010101" pitchFamily="18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0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 ARP </a:t>
            </a:r>
            <a:r>
              <a:rPr lang="ko-KR" altLang="en-US" sz="100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패킷을 이용하여 수신지 </a:t>
            </a:r>
            <a:r>
              <a:rPr lang="en-US" altLang="ko-KR" sz="10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MAC </a:t>
            </a:r>
            <a:r>
              <a:rPr lang="ko-KR" altLang="en-US" sz="100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주소 부분에 해당 주소를 채워 넣는다</a:t>
            </a:r>
            <a:r>
              <a:rPr lang="en-US" altLang="ko-KR" sz="10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.  </a:t>
            </a:r>
            <a:endParaRPr lang="ko-KR" altLang="en-US" sz="1000">
              <a:latin typeface="함초롬바탕" panose="02030504000101010101" pitchFamily="18" charset="-127"/>
              <a:ea typeface="함초롬바탕" panose="02030504000101010101" pitchFamily="18" charset="-127"/>
              <a:cs typeface="함초롬바탕" panose="02030504000101010101" pitchFamily="18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94B8371-AA50-4CA5-BBD3-755C5D0A7E11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9341270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295275" y="736600"/>
            <a:ext cx="7580313" cy="4264025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81514" y="5420182"/>
            <a:ext cx="5452110" cy="3916115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수신지의 </a:t>
            </a:r>
            <a:r>
              <a:rPr lang="en-US" altLang="ko-KR" sz="10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MAC</a:t>
            </a:r>
            <a:r>
              <a:rPr lang="ko-KR" altLang="en-US" sz="100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주소를 조회하는 과정은 </a:t>
            </a:r>
            <a:endParaRPr lang="en-US" altLang="ko-KR" sz="1000" dirty="0">
              <a:latin typeface="함초롬바탕" panose="02030504000101010101" pitchFamily="18" charset="-127"/>
              <a:ea typeface="함초롬바탕" panose="02030504000101010101" pitchFamily="18" charset="-127"/>
              <a:cs typeface="함초롬바탕" panose="02030504000101010101" pitchFamily="18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0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- ARP</a:t>
            </a:r>
            <a:r>
              <a:rPr lang="ko-KR" altLang="en-US" sz="100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의 캐시를 조회 후 캐시에 수신지 </a:t>
            </a:r>
            <a:r>
              <a:rPr lang="en-US" altLang="ko-KR" sz="10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IP</a:t>
            </a:r>
            <a:r>
              <a:rPr lang="ko-KR" altLang="en-US" sz="100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의 </a:t>
            </a:r>
            <a:r>
              <a:rPr lang="en-US" altLang="ko-KR" sz="10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MAC </a:t>
            </a:r>
            <a:r>
              <a:rPr lang="ko-KR" altLang="en-US" sz="100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주소를 검색하지 못할 경우 </a:t>
            </a:r>
            <a:endParaRPr lang="en-US" altLang="ko-KR" sz="1000" dirty="0">
              <a:latin typeface="함초롬바탕" panose="02030504000101010101" pitchFamily="18" charset="-127"/>
              <a:ea typeface="함초롬바탕" panose="02030504000101010101" pitchFamily="18" charset="-127"/>
              <a:cs typeface="함초롬바탕" panose="02030504000101010101" pitchFamily="18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0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 ARP </a:t>
            </a:r>
            <a:r>
              <a:rPr lang="ko-KR" altLang="en-US" sz="100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패킷을 이용하여 수신지 </a:t>
            </a:r>
            <a:r>
              <a:rPr lang="en-US" altLang="ko-KR" sz="10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MAC </a:t>
            </a:r>
            <a:r>
              <a:rPr lang="ko-KR" altLang="en-US" sz="100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주소 부분에 해당 주소를 채워 넣는다</a:t>
            </a:r>
            <a:r>
              <a:rPr lang="en-US" altLang="ko-KR" sz="10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.  </a:t>
            </a:r>
            <a:endParaRPr lang="ko-KR" altLang="en-US" sz="1000">
              <a:latin typeface="함초롬바탕" panose="02030504000101010101" pitchFamily="18" charset="-127"/>
              <a:ea typeface="함초롬바탕" panose="02030504000101010101" pitchFamily="18" charset="-127"/>
              <a:cs typeface="함초롬바탕" panose="02030504000101010101" pitchFamily="18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94B8371-AA50-4CA5-BBD3-755C5D0A7E11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8671695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295275" y="736600"/>
            <a:ext cx="7580313" cy="4264025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81514" y="5420182"/>
            <a:ext cx="5452110" cy="3916115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수신지의 </a:t>
            </a:r>
            <a:r>
              <a:rPr lang="en-US" altLang="ko-KR" sz="10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MAC</a:t>
            </a:r>
            <a:r>
              <a:rPr lang="ko-KR" altLang="en-US" sz="100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주소를 조회하는 과정은 </a:t>
            </a:r>
            <a:endParaRPr lang="en-US" altLang="ko-KR" sz="1000" dirty="0">
              <a:latin typeface="함초롬바탕" panose="02030504000101010101" pitchFamily="18" charset="-127"/>
              <a:ea typeface="함초롬바탕" panose="02030504000101010101" pitchFamily="18" charset="-127"/>
              <a:cs typeface="함초롬바탕" panose="02030504000101010101" pitchFamily="18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0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- ARP</a:t>
            </a:r>
            <a:r>
              <a:rPr lang="ko-KR" altLang="en-US" sz="100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의 캐시를 조회 후 캐시에 수신지 </a:t>
            </a:r>
            <a:r>
              <a:rPr lang="en-US" altLang="ko-KR" sz="10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IP</a:t>
            </a:r>
            <a:r>
              <a:rPr lang="ko-KR" altLang="en-US" sz="100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의 </a:t>
            </a:r>
            <a:r>
              <a:rPr lang="en-US" altLang="ko-KR" sz="10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MAC </a:t>
            </a:r>
            <a:r>
              <a:rPr lang="ko-KR" altLang="en-US" sz="100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주소를 검색하지 못할 경우 </a:t>
            </a:r>
            <a:endParaRPr lang="en-US" altLang="ko-KR" sz="1000" dirty="0">
              <a:latin typeface="함초롬바탕" panose="02030504000101010101" pitchFamily="18" charset="-127"/>
              <a:ea typeface="함초롬바탕" panose="02030504000101010101" pitchFamily="18" charset="-127"/>
              <a:cs typeface="함초롬바탕" panose="02030504000101010101" pitchFamily="18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0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 ARP </a:t>
            </a:r>
            <a:r>
              <a:rPr lang="ko-KR" altLang="en-US" sz="100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패킷을 이용하여 수신지 </a:t>
            </a:r>
            <a:r>
              <a:rPr lang="en-US" altLang="ko-KR" sz="10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MAC </a:t>
            </a:r>
            <a:r>
              <a:rPr lang="ko-KR" altLang="en-US" sz="100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주소 부분에 해당 주소를 채워 넣는다</a:t>
            </a:r>
            <a:r>
              <a:rPr lang="en-US" altLang="ko-KR" sz="10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.  </a:t>
            </a:r>
            <a:endParaRPr lang="ko-KR" altLang="en-US" sz="1000">
              <a:latin typeface="함초롬바탕" panose="02030504000101010101" pitchFamily="18" charset="-127"/>
              <a:ea typeface="함초롬바탕" panose="02030504000101010101" pitchFamily="18" charset="-127"/>
              <a:cs typeface="함초롬바탕" panose="02030504000101010101" pitchFamily="18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94B8371-AA50-4CA5-BBD3-755C5D0A7E11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3500723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295275" y="736600"/>
            <a:ext cx="7580313" cy="4264025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81514" y="5420182"/>
            <a:ext cx="5452110" cy="3916115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수신지의 </a:t>
            </a:r>
            <a:r>
              <a:rPr lang="en-US" altLang="ko-KR" sz="10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MAC</a:t>
            </a:r>
            <a:r>
              <a:rPr lang="ko-KR" altLang="en-US" sz="100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주소를 조회하는 과정은 </a:t>
            </a:r>
            <a:endParaRPr lang="en-US" altLang="ko-KR" sz="1000" dirty="0">
              <a:latin typeface="함초롬바탕" panose="02030504000101010101" pitchFamily="18" charset="-127"/>
              <a:ea typeface="함초롬바탕" panose="02030504000101010101" pitchFamily="18" charset="-127"/>
              <a:cs typeface="함초롬바탕" panose="02030504000101010101" pitchFamily="18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0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- ARP</a:t>
            </a:r>
            <a:r>
              <a:rPr lang="ko-KR" altLang="en-US" sz="100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의 캐시를 조회 후 캐시에 수신지 </a:t>
            </a:r>
            <a:r>
              <a:rPr lang="en-US" altLang="ko-KR" sz="10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IP</a:t>
            </a:r>
            <a:r>
              <a:rPr lang="ko-KR" altLang="en-US" sz="100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의 </a:t>
            </a:r>
            <a:r>
              <a:rPr lang="en-US" altLang="ko-KR" sz="10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MAC </a:t>
            </a:r>
            <a:r>
              <a:rPr lang="ko-KR" altLang="en-US" sz="100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주소를 검색하지 못할 경우 </a:t>
            </a:r>
            <a:endParaRPr lang="en-US" altLang="ko-KR" sz="1000" dirty="0">
              <a:latin typeface="함초롬바탕" panose="02030504000101010101" pitchFamily="18" charset="-127"/>
              <a:ea typeface="함초롬바탕" panose="02030504000101010101" pitchFamily="18" charset="-127"/>
              <a:cs typeface="함초롬바탕" panose="02030504000101010101" pitchFamily="18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0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 ARP </a:t>
            </a:r>
            <a:r>
              <a:rPr lang="ko-KR" altLang="en-US" sz="100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패킷을 이용하여 수신지 </a:t>
            </a:r>
            <a:r>
              <a:rPr lang="en-US" altLang="ko-KR" sz="10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MAC </a:t>
            </a:r>
            <a:r>
              <a:rPr lang="ko-KR" altLang="en-US" sz="100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주소 부분에 해당 주소를 채워 넣는다</a:t>
            </a:r>
            <a:r>
              <a:rPr lang="en-US" altLang="ko-KR" sz="10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.  </a:t>
            </a:r>
            <a:endParaRPr lang="ko-KR" altLang="en-US" sz="1000">
              <a:latin typeface="함초롬바탕" panose="02030504000101010101" pitchFamily="18" charset="-127"/>
              <a:ea typeface="함초롬바탕" panose="02030504000101010101" pitchFamily="18" charset="-127"/>
              <a:cs typeface="함초롬바탕" panose="02030504000101010101" pitchFamily="18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94B8371-AA50-4CA5-BBD3-755C5D0A7E11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4529401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295275" y="736600"/>
            <a:ext cx="7580313" cy="4264025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81514" y="5420182"/>
            <a:ext cx="5452110" cy="3916115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수신지의 </a:t>
            </a:r>
            <a:r>
              <a:rPr lang="en-US" altLang="ko-KR" sz="10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MAC</a:t>
            </a:r>
            <a:r>
              <a:rPr lang="ko-KR" altLang="en-US" sz="100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주소를 조회하는 과정은 </a:t>
            </a:r>
            <a:endParaRPr lang="en-US" altLang="ko-KR" sz="1000" dirty="0">
              <a:latin typeface="함초롬바탕" panose="02030504000101010101" pitchFamily="18" charset="-127"/>
              <a:ea typeface="함초롬바탕" panose="02030504000101010101" pitchFamily="18" charset="-127"/>
              <a:cs typeface="함초롬바탕" panose="02030504000101010101" pitchFamily="18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0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- ARP</a:t>
            </a:r>
            <a:r>
              <a:rPr lang="ko-KR" altLang="en-US" sz="100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의 캐시를 조회 후 캐시에 수신지 </a:t>
            </a:r>
            <a:r>
              <a:rPr lang="en-US" altLang="ko-KR" sz="10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IP</a:t>
            </a:r>
            <a:r>
              <a:rPr lang="ko-KR" altLang="en-US" sz="100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의 </a:t>
            </a:r>
            <a:r>
              <a:rPr lang="en-US" altLang="ko-KR" sz="10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MAC </a:t>
            </a:r>
            <a:r>
              <a:rPr lang="ko-KR" altLang="en-US" sz="100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주소를 검색하지 못할 경우 </a:t>
            </a:r>
            <a:endParaRPr lang="en-US" altLang="ko-KR" sz="1000" dirty="0">
              <a:latin typeface="함초롬바탕" panose="02030504000101010101" pitchFamily="18" charset="-127"/>
              <a:ea typeface="함초롬바탕" panose="02030504000101010101" pitchFamily="18" charset="-127"/>
              <a:cs typeface="함초롬바탕" panose="02030504000101010101" pitchFamily="18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0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 ARP </a:t>
            </a:r>
            <a:r>
              <a:rPr lang="ko-KR" altLang="en-US" sz="100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패킷을 이용하여 수신지 </a:t>
            </a:r>
            <a:r>
              <a:rPr lang="en-US" altLang="ko-KR" sz="10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MAC </a:t>
            </a:r>
            <a:r>
              <a:rPr lang="ko-KR" altLang="en-US" sz="100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주소 부분에 해당 주소를 채워 넣는다</a:t>
            </a:r>
            <a:r>
              <a:rPr lang="en-US" altLang="ko-KR" sz="10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.  </a:t>
            </a:r>
            <a:endParaRPr lang="ko-KR" altLang="en-US" sz="1000">
              <a:latin typeface="함초롬바탕" panose="02030504000101010101" pitchFamily="18" charset="-127"/>
              <a:ea typeface="함초롬바탕" panose="02030504000101010101" pitchFamily="18" charset="-127"/>
              <a:cs typeface="함초롬바탕" panose="02030504000101010101" pitchFamily="18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94B8371-AA50-4CA5-BBD3-755C5D0A7E11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1972675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481013" y="1279525"/>
            <a:ext cx="6140450" cy="34544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ko-KR" altLang="en-US" dirty="0"/>
              <a:t>다시 한번 </a:t>
            </a:r>
            <a:r>
              <a:rPr lang="en-US" altLang="ko-KR" dirty="0"/>
              <a:t>PDU</a:t>
            </a:r>
            <a:r>
              <a:rPr lang="ko-KR" altLang="en-US"/>
              <a:t>를 살펴 보자면</a:t>
            </a:r>
            <a:r>
              <a:rPr lang="en-US" altLang="ko-KR" dirty="0"/>
              <a:t>, </a:t>
            </a:r>
          </a:p>
          <a:p>
            <a:pPr marL="0" indent="0">
              <a:buNone/>
            </a:pPr>
            <a:r>
              <a:rPr lang="ko-KR" altLang="en-US" dirty="0"/>
              <a:t>상위계층에 데이터가 하위계층으로 적재되는 것을 </a:t>
            </a:r>
            <a:r>
              <a:rPr lang="en-US" altLang="ko-KR" dirty="0"/>
              <a:t>payload</a:t>
            </a:r>
            <a:r>
              <a:rPr lang="ko-KR" altLang="en-US"/>
              <a:t>라 하며</a:t>
            </a:r>
            <a:r>
              <a:rPr lang="en-US" altLang="ko-KR" dirty="0"/>
              <a:t>, </a:t>
            </a:r>
          </a:p>
          <a:p>
            <a:pPr marL="0" indent="0">
              <a:buNone/>
            </a:pPr>
            <a:r>
              <a:rPr lang="en-US" altLang="ko-KR" dirty="0"/>
              <a:t>Payload</a:t>
            </a:r>
            <a:r>
              <a:rPr lang="ko-KR" altLang="en-US"/>
              <a:t>가 되면서 통신에 필요한 제어 정보가 추가되는데</a:t>
            </a:r>
            <a:r>
              <a:rPr lang="en-US" altLang="ko-KR" dirty="0"/>
              <a:t>, </a:t>
            </a:r>
            <a:r>
              <a:rPr lang="ko-KR" altLang="en-US"/>
              <a:t>우리는 이것을 캡슐화 라 학습했습니다</a:t>
            </a:r>
            <a:r>
              <a:rPr lang="en-US" altLang="ko-KR" dirty="0"/>
              <a:t>. </a:t>
            </a:r>
          </a:p>
          <a:p>
            <a:pPr marL="0" indent="0">
              <a:buNone/>
            </a:pPr>
            <a:r>
              <a:rPr lang="ko-KR" altLang="en-US" dirty="0" err="1"/>
              <a:t>페이로드되면서</a:t>
            </a:r>
            <a:r>
              <a:rPr lang="en-US" altLang="ko-KR" dirty="0"/>
              <a:t>, </a:t>
            </a:r>
            <a:r>
              <a:rPr lang="ko-KR" altLang="en-US"/>
              <a:t>데이터 </a:t>
            </a:r>
            <a:r>
              <a:rPr lang="ko-KR" altLang="en-US" dirty="0"/>
              <a:t>앞에 부착되는 제어정보를 </a:t>
            </a:r>
            <a:r>
              <a:rPr lang="ko-KR" altLang="en-US" dirty="0" err="1"/>
              <a:t>헤더라하며</a:t>
            </a:r>
            <a:r>
              <a:rPr lang="en-US" altLang="ko-KR" dirty="0"/>
              <a:t>, </a:t>
            </a:r>
            <a:r>
              <a:rPr lang="ko-KR" altLang="en-US"/>
              <a:t>데이터 </a:t>
            </a:r>
            <a:r>
              <a:rPr lang="ko-KR" altLang="en-US" dirty="0"/>
              <a:t>뒤에 부착되는 제어 정보를 트레일러라 합니다</a:t>
            </a:r>
            <a:r>
              <a:rPr lang="en-US" altLang="ko-KR" dirty="0"/>
              <a:t>. </a:t>
            </a:r>
          </a:p>
          <a:p>
            <a:pPr marL="0" indent="0">
              <a:buNone/>
            </a:pPr>
            <a:r>
              <a:rPr lang="en-US" altLang="ko-KR" dirty="0"/>
              <a:t>7/6/5</a:t>
            </a:r>
            <a:r>
              <a:rPr lang="ko-KR" altLang="en-US"/>
              <a:t>계층 </a:t>
            </a:r>
            <a:r>
              <a:rPr lang="en-US" altLang="ko-KR" dirty="0"/>
              <a:t>PDU</a:t>
            </a:r>
            <a:r>
              <a:rPr lang="ko-KR" altLang="en-US"/>
              <a:t>인 메시지가 </a:t>
            </a:r>
            <a:r>
              <a:rPr lang="en-US" altLang="ko-KR" dirty="0"/>
              <a:t>4</a:t>
            </a:r>
            <a:r>
              <a:rPr lang="ko-KR" altLang="en-US"/>
              <a:t>계층으로 페이로드되면서 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4</a:t>
            </a:r>
            <a:r>
              <a:rPr lang="ko-KR" altLang="en-US"/>
              <a:t>계층 제어정보가</a:t>
            </a:r>
            <a:r>
              <a:rPr lang="ko-KR" altLang="en-US" baseline="0"/>
              <a:t> 추가되는데</a:t>
            </a:r>
            <a:r>
              <a:rPr lang="en-US" altLang="ko-KR" baseline="0" dirty="0"/>
              <a:t>, </a:t>
            </a:r>
            <a:r>
              <a:rPr lang="ko-KR" altLang="en-US" baseline="0"/>
              <a:t>이떄 </a:t>
            </a:r>
            <a:r>
              <a:rPr lang="en-US" altLang="ko-KR" baseline="0" dirty="0"/>
              <a:t>4</a:t>
            </a:r>
            <a:r>
              <a:rPr lang="ko-KR" altLang="en-US" baseline="0"/>
              <a:t>계층 </a:t>
            </a:r>
            <a:r>
              <a:rPr lang="en-US" altLang="ko-KR" baseline="0" dirty="0"/>
              <a:t>PDU</a:t>
            </a:r>
            <a:r>
              <a:rPr lang="ko-KR" altLang="en-US" baseline="0"/>
              <a:t>를 세그먼트라 하며</a:t>
            </a:r>
            <a:r>
              <a:rPr lang="en-US" altLang="ko-KR" baseline="0" dirty="0"/>
              <a:t>, </a:t>
            </a:r>
            <a:r>
              <a:rPr lang="ko-KR" altLang="en-US" baseline="0"/>
              <a:t>세그먼트에는 </a:t>
            </a:r>
            <a:r>
              <a:rPr lang="ko-KR" altLang="en-US" baseline="0" dirty="0"/>
              <a:t>다양한 제어정보가 부착이 되지만 주요 제어정보로 송수신 포트가 있습니다</a:t>
            </a:r>
            <a:r>
              <a:rPr lang="en-US" altLang="ko-KR" baseline="0" dirty="0"/>
              <a:t>. </a:t>
            </a:r>
          </a:p>
          <a:p>
            <a:pPr marL="0" indent="0">
              <a:buNone/>
            </a:pPr>
            <a:endParaRPr lang="en-US" altLang="ko-KR" baseline="0" dirty="0"/>
          </a:p>
          <a:p>
            <a:pPr marL="0" indent="0">
              <a:buNone/>
            </a:pPr>
            <a:r>
              <a:rPr lang="ko-KR" altLang="en-US" baseline="0" dirty="0"/>
              <a:t>다음은</a:t>
            </a:r>
            <a:r>
              <a:rPr lang="en-US" altLang="ko-KR" baseline="0" dirty="0"/>
              <a:t>, </a:t>
            </a:r>
          </a:p>
          <a:p>
            <a:pPr marL="0" indent="0">
              <a:buNone/>
            </a:pPr>
            <a:r>
              <a:rPr lang="en-US" altLang="ko-KR" dirty="0"/>
              <a:t>4</a:t>
            </a:r>
            <a:r>
              <a:rPr lang="ko-KR" altLang="en-US"/>
              <a:t>계층 </a:t>
            </a:r>
            <a:r>
              <a:rPr lang="en-US" altLang="ko-KR" dirty="0"/>
              <a:t>PDU</a:t>
            </a:r>
            <a:r>
              <a:rPr lang="ko-KR" altLang="en-US"/>
              <a:t>인 세그먼트가 </a:t>
            </a:r>
            <a:r>
              <a:rPr lang="en-US" altLang="ko-KR" dirty="0"/>
              <a:t>3</a:t>
            </a:r>
            <a:r>
              <a:rPr lang="ko-KR" altLang="en-US"/>
              <a:t>계층으로 페이로드되면서 </a:t>
            </a:r>
            <a:r>
              <a:rPr lang="en-US" altLang="ko-KR" dirty="0"/>
              <a:t>3</a:t>
            </a:r>
            <a:r>
              <a:rPr lang="ko-KR" altLang="en-US"/>
              <a:t>계층 제어정보가</a:t>
            </a:r>
            <a:r>
              <a:rPr lang="ko-KR" altLang="en-US" baseline="0"/>
              <a:t> 추가되는데</a:t>
            </a:r>
            <a:endParaRPr lang="en-US" altLang="ko-KR" baseline="0" dirty="0"/>
          </a:p>
          <a:p>
            <a:pPr marL="0" indent="0">
              <a:buNone/>
            </a:pPr>
            <a:r>
              <a:rPr lang="ko-KR" altLang="en-US" baseline="0" dirty="0"/>
              <a:t>이와 같이 </a:t>
            </a:r>
            <a:r>
              <a:rPr lang="en-US" altLang="ko-KR" baseline="0" dirty="0"/>
              <a:t>3</a:t>
            </a:r>
            <a:r>
              <a:rPr lang="ko-KR" altLang="en-US" baseline="0"/>
              <a:t>계층 제어정보가 부착된 </a:t>
            </a:r>
            <a:r>
              <a:rPr lang="en-US" altLang="ko-KR" baseline="0" dirty="0"/>
              <a:t>PDU</a:t>
            </a:r>
            <a:r>
              <a:rPr lang="ko-KR" altLang="en-US" baseline="0"/>
              <a:t>를 패킷이라 하며</a:t>
            </a:r>
            <a:r>
              <a:rPr lang="en-US" altLang="ko-KR" baseline="0" dirty="0"/>
              <a:t>, </a:t>
            </a:r>
          </a:p>
          <a:p>
            <a:pPr marL="0" indent="0">
              <a:buNone/>
            </a:pPr>
            <a:r>
              <a:rPr lang="ko-KR" altLang="en-US" baseline="0" dirty="0" err="1"/>
              <a:t>패킷</a:t>
            </a:r>
            <a:r>
              <a:rPr lang="ko-KR" altLang="en-US" baseline="0" dirty="0"/>
              <a:t> 역시 다양한 제어정보가 부착이 되지만 주요 제어정보로 송수신 </a:t>
            </a:r>
            <a:r>
              <a:rPr lang="en-US" altLang="ko-KR" baseline="0" dirty="0"/>
              <a:t>IP</a:t>
            </a:r>
            <a:r>
              <a:rPr lang="ko-KR" altLang="en-US" baseline="0"/>
              <a:t>입니다</a:t>
            </a:r>
            <a:r>
              <a:rPr lang="en-US" altLang="ko-KR" baseline="0" dirty="0"/>
              <a:t>. </a:t>
            </a:r>
          </a:p>
          <a:p>
            <a:pPr marL="0" indent="0">
              <a:buNone/>
            </a:pPr>
            <a:endParaRPr lang="en-US" altLang="ko-KR" baseline="0" dirty="0"/>
          </a:p>
          <a:p>
            <a:pPr marL="0" indent="0">
              <a:buNone/>
            </a:pPr>
            <a:r>
              <a:rPr lang="en-US" altLang="ko-KR" baseline="0" dirty="0"/>
              <a:t>2</a:t>
            </a:r>
            <a:r>
              <a:rPr lang="ko-KR" altLang="en-US" baseline="0"/>
              <a:t>계층의 </a:t>
            </a:r>
            <a:r>
              <a:rPr lang="en-US" altLang="ko-KR" baseline="0" dirty="0"/>
              <a:t>PDU</a:t>
            </a:r>
            <a:r>
              <a:rPr lang="ko-KR" altLang="en-US" baseline="0"/>
              <a:t>는 프레임으로 </a:t>
            </a:r>
            <a:endParaRPr lang="en-US" altLang="ko-KR" baseline="0" dirty="0"/>
          </a:p>
          <a:p>
            <a:pPr marL="0" indent="0">
              <a:buNone/>
            </a:pPr>
            <a:r>
              <a:rPr lang="ko-KR" altLang="en-US" baseline="0" dirty="0"/>
              <a:t>프레임은 데이터 앞에 제어정보가 부착되기도 하지만 데이터 뒷부분에 트레일러라는 제어정보가 부착된다는 특징이 있으며</a:t>
            </a:r>
            <a:r>
              <a:rPr lang="en-US" altLang="ko-KR" baseline="0" dirty="0"/>
              <a:t>, </a:t>
            </a:r>
          </a:p>
          <a:p>
            <a:pPr marL="0" indent="0">
              <a:buNone/>
            </a:pPr>
            <a:r>
              <a:rPr lang="ko-KR" altLang="en-US" baseline="0" dirty="0"/>
              <a:t>프레임의 주요 정보는 송수신지 </a:t>
            </a:r>
            <a:r>
              <a:rPr lang="en-US" altLang="ko-KR" baseline="0" dirty="0"/>
              <a:t>MAC </a:t>
            </a:r>
            <a:r>
              <a:rPr lang="ko-KR" altLang="en-US" baseline="0"/>
              <a:t>주소 입니다</a:t>
            </a:r>
            <a:r>
              <a:rPr lang="en-US" altLang="ko-KR" baseline="0" dirty="0"/>
              <a:t>. </a:t>
            </a:r>
            <a:r>
              <a:rPr lang="ko-KR" altLang="en-US" baseline="0"/>
              <a:t> </a:t>
            </a:r>
            <a:endParaRPr lang="en-US" altLang="ko-KR" baseline="0" dirty="0"/>
          </a:p>
          <a:p>
            <a:pPr marL="0" indent="0">
              <a:buNone/>
            </a:pPr>
            <a:r>
              <a:rPr lang="en-US" altLang="ko-KR" baseline="0" dirty="0"/>
              <a:t> </a:t>
            </a:r>
          </a:p>
          <a:p>
            <a:pPr marL="0" indent="0">
              <a:buNone/>
            </a:pPr>
            <a:r>
              <a:rPr lang="ko-KR" altLang="en-US" baseline="0" dirty="0"/>
              <a:t>우리는 </a:t>
            </a:r>
            <a:r>
              <a:rPr lang="ko-KR" altLang="en-US" baseline="0" dirty="0" err="1"/>
              <a:t>트래픽</a:t>
            </a:r>
            <a:r>
              <a:rPr lang="ko-KR" altLang="en-US" baseline="0" dirty="0"/>
              <a:t> 흐름을 공부하면서 </a:t>
            </a:r>
            <a:endParaRPr lang="en-US" altLang="ko-KR" baseline="0" dirty="0"/>
          </a:p>
          <a:p>
            <a:pPr marL="0" indent="0">
              <a:buNone/>
            </a:pPr>
            <a:r>
              <a:rPr lang="en-US" altLang="ko-KR" baseline="0" dirty="0"/>
              <a:t>MAC </a:t>
            </a:r>
            <a:r>
              <a:rPr lang="ko-KR" altLang="en-US" baseline="0"/>
              <a:t>주소를 </a:t>
            </a:r>
            <a:r>
              <a:rPr lang="en-US" altLang="ko-KR" baseline="0" dirty="0"/>
              <a:t>2</a:t>
            </a:r>
            <a:r>
              <a:rPr lang="ko-KR" altLang="en-US" baseline="0"/>
              <a:t>계층주소</a:t>
            </a:r>
            <a:r>
              <a:rPr lang="en-US" altLang="ko-KR" baseline="0" dirty="0"/>
              <a:t>, IP</a:t>
            </a:r>
            <a:r>
              <a:rPr lang="ko-KR" altLang="en-US" baseline="0"/>
              <a:t>주소를 </a:t>
            </a:r>
            <a:r>
              <a:rPr lang="en-US" altLang="ko-KR" baseline="0" dirty="0"/>
              <a:t>3</a:t>
            </a:r>
            <a:r>
              <a:rPr lang="ko-KR" altLang="en-US" baseline="0"/>
              <a:t>계층 주소</a:t>
            </a:r>
            <a:r>
              <a:rPr lang="en-US" altLang="ko-KR" baseline="0" dirty="0"/>
              <a:t>, Port</a:t>
            </a:r>
            <a:r>
              <a:rPr lang="ko-KR" altLang="en-US" baseline="0"/>
              <a:t>번호는 </a:t>
            </a:r>
            <a:r>
              <a:rPr lang="en-US" altLang="ko-KR" baseline="0" dirty="0"/>
              <a:t>4</a:t>
            </a:r>
            <a:r>
              <a:rPr lang="ko-KR" altLang="en-US" baseline="0"/>
              <a:t>계층이라 정리했었는데요</a:t>
            </a:r>
            <a:r>
              <a:rPr lang="en-US" altLang="ko-KR" baseline="0" dirty="0"/>
              <a:t>, </a:t>
            </a:r>
          </a:p>
          <a:p>
            <a:pPr marL="0" indent="0">
              <a:buNone/>
            </a:pPr>
            <a:r>
              <a:rPr lang="ko-KR" altLang="en-US" baseline="0" dirty="0"/>
              <a:t>각각의 주소를 계층주소로 정의했던 것은 </a:t>
            </a:r>
            <a:r>
              <a:rPr lang="en-US" altLang="ko-KR" baseline="0" dirty="0"/>
              <a:t>PDU</a:t>
            </a:r>
            <a:r>
              <a:rPr lang="ko-KR" altLang="en-US" baseline="0"/>
              <a:t>를 기반한 것입니다</a:t>
            </a:r>
            <a:r>
              <a:rPr lang="en-US" altLang="ko-KR" baseline="0" dirty="0"/>
              <a:t>. </a:t>
            </a:r>
          </a:p>
          <a:p>
            <a:pPr marL="0" indent="0">
              <a:buNone/>
            </a:pPr>
            <a:endParaRPr lang="en-US" altLang="ko-KR" baseline="0" dirty="0"/>
          </a:p>
          <a:p>
            <a:pPr marL="0" indent="0">
              <a:buNone/>
            </a:pPr>
            <a:endParaRPr lang="en-US" altLang="ko-KR" baseline="0" dirty="0"/>
          </a:p>
          <a:p>
            <a:pPr marL="0" indent="0">
              <a:buNone/>
            </a:pP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9261490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Sender</a:t>
            </a:r>
            <a:r>
              <a:rPr lang="ko-KR" alt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100</a:t>
            </a:r>
            <a:r>
              <a:rPr lang="ko-KR" alt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바이트를 전송하면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100</a:t>
            </a:r>
            <a:r>
              <a:rPr lang="ko-KR" alt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바이트를 하나의 메시지로 인식하고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Receiver</a:t>
            </a:r>
            <a:r>
              <a:rPr lang="ko-KR" alt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 한 번의 읽기 동작으로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100</a:t>
            </a:r>
            <a:r>
              <a:rPr lang="ko-KR" alt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바이트를 수신할 수 있도록 해줌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</a:p>
          <a:p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UDP </a:t>
            </a:r>
            <a:r>
              <a:rPr lang="ko-KR" alt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헤더의 메시지 길이 필드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ko-KR" alt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사용자가 전송 요청한 메시지 길이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: 2</a:t>
            </a:r>
            <a:r>
              <a:rPr lang="ko-KR" alt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바이트</a:t>
            </a:r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이로 인해 한 번에 전송할 수 있는 메시지 크기가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</a:t>
            </a:r>
            <a:r>
              <a:rPr lang="ko-KR" alt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바이트로 표현할 수 있는 크기로 제한이 생김</a:t>
            </a:r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indent="0">
              <a:buFontTx/>
              <a:buNone/>
            </a:pP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UDP</a:t>
            </a:r>
            <a:r>
              <a:rPr lang="ko-KR" alt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는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TCP</a:t>
            </a:r>
            <a:r>
              <a:rPr lang="ko-KR" alt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처럼 신뢰성있는 채널이 아니라 손실되거나 변형될 가능성은 있음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</a:p>
          <a:p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</a:t>
            </a:r>
            <a:r>
              <a:rPr lang="ko-KR" alt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실무에서는 응용계층에서 메시지 유효성 검사를 수행하거나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(CRC, </a:t>
            </a:r>
            <a:r>
              <a:rPr lang="en-US" altLang="ko-K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CheckSum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등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</a:t>
            </a:r>
            <a:r>
              <a:rPr lang="ko-KR" alt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메시지 순서 번호를 직접 메겨서 순서를 확인하는 경우가 있음</a:t>
            </a:r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BE81944-C09D-40AD-A756-3B56302354E3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8605570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Stop and</a:t>
            </a:r>
            <a:r>
              <a:rPr lang="en-US" altLang="ko-KR" baseline="0" dirty="0"/>
              <a:t> Wait </a:t>
            </a:r>
          </a:p>
          <a:p>
            <a:r>
              <a:rPr lang="en-US" altLang="ko-KR" baseline="0" dirty="0"/>
              <a:t>Sliding window</a:t>
            </a:r>
          </a:p>
          <a:p>
            <a:r>
              <a:rPr lang="en-US" altLang="ko-KR" baseline="0" dirty="0"/>
              <a:t> - ACK </a:t>
            </a:r>
            <a:r>
              <a:rPr lang="ko-KR" altLang="en-US" baseline="0"/>
              <a:t>응답을 받지 않고도 일 정 수 의 패킷을 보낼 수 있음 </a:t>
            </a:r>
            <a:endParaRPr lang="en-US" altLang="ko-KR" baseline="0" dirty="0"/>
          </a:p>
          <a:p>
            <a:r>
              <a:rPr lang="en-US" altLang="ko-KR" baseline="0" dirty="0"/>
              <a:t> - Windows size : ACK </a:t>
            </a:r>
            <a:r>
              <a:rPr lang="ko-KR" altLang="en-US" baseline="0"/>
              <a:t>없이 보낼 수 있는 패킷 수 </a:t>
            </a: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BE81944-C09D-40AD-A756-3B56302354E3}" type="slidenum">
              <a:rPr lang="ko-KR" altLang="en-US" smtClean="0"/>
              <a:t>42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8162787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AE87C0B-98AC-48F0-AC15-515DB05D1DC9}" type="slidenum">
              <a:rPr lang="ko-KR" altLang="en-US" smtClean="0"/>
              <a:t>45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190968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AE87C0B-98AC-48F0-AC15-515DB05D1DC9}" type="slidenum">
              <a:rPr lang="ko-KR" altLang="en-US" smtClean="0"/>
              <a:t>50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2242837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-</a:t>
            </a:r>
            <a:endParaRPr lang="ko-KR" altLang="en-US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BE81944-C09D-40AD-A756-3B56302354E3}" type="slidenum">
              <a:rPr lang="ko-KR" altLang="en-US" smtClean="0"/>
              <a:t>53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3586779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altLang="ko-KR" b="1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 </a:t>
            </a:r>
            <a:r>
              <a:rPr lang="en-US" altLang="ko-KR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-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BE81944-C09D-40AD-A756-3B56302354E3}" type="slidenum">
              <a:rPr lang="ko-KR" altLang="en-US" smtClean="0"/>
              <a:t>54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7585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-</a:t>
            </a:r>
            <a:endParaRPr lang="ko-KR" altLang="en-US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BE81944-C09D-40AD-A756-3B56302354E3}" type="slidenum">
              <a:rPr lang="ko-KR" altLang="en-US" smtClean="0"/>
              <a:t>55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5087097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Stop and</a:t>
            </a:r>
            <a:r>
              <a:rPr lang="en-US" altLang="ko-KR" baseline="0" dirty="0"/>
              <a:t> Wait </a:t>
            </a:r>
          </a:p>
          <a:p>
            <a:r>
              <a:rPr lang="en-US" altLang="ko-KR" baseline="0" dirty="0"/>
              <a:t>Sliding window</a:t>
            </a:r>
          </a:p>
          <a:p>
            <a:r>
              <a:rPr lang="en-US" altLang="ko-KR" baseline="0" dirty="0"/>
              <a:t> - ACK </a:t>
            </a:r>
            <a:r>
              <a:rPr lang="ko-KR" altLang="en-US" baseline="0"/>
              <a:t>응답을 받지 않고도 일 정 수 의 패킷을 보낼 수 있음 </a:t>
            </a:r>
            <a:endParaRPr lang="en-US" altLang="ko-KR" baseline="0" dirty="0"/>
          </a:p>
          <a:p>
            <a:r>
              <a:rPr lang="en-US" altLang="ko-KR" baseline="0" dirty="0"/>
              <a:t> - Windows size : ACK </a:t>
            </a:r>
            <a:r>
              <a:rPr lang="ko-KR" altLang="en-US" baseline="0"/>
              <a:t>없이 보낼 수 있는 패킷 수 </a:t>
            </a: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BE81944-C09D-40AD-A756-3B56302354E3}" type="slidenum">
              <a:rPr lang="ko-KR" altLang="en-US" smtClean="0"/>
              <a:t>59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6531583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E81944-C09D-40AD-A756-3B56302354E3}" type="slidenum">
              <a:rPr lang="ko-KR" altLang="en-US" smtClean="0"/>
              <a:t>65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267804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F0A357-EC05-453C-BB93-D2CD92805FB3}" type="datetime1">
              <a:rPr lang="ko-KR" altLang="en-US" smtClean="0"/>
              <a:t>2023-08-23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00E85C-9068-46D2-A14A-A9DCCDE0C98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058476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84A6AC-2825-4550-B24C-BE85D5A5CCD7}" type="datetime1">
              <a:rPr lang="ko-KR" altLang="en-US" smtClean="0"/>
              <a:t>2023-08-23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00E85C-9068-46D2-A14A-A9DCCDE0C98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89524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5707D1-F386-4842-A375-88F78000DE4E}" type="datetime1">
              <a:rPr lang="ko-KR" altLang="en-US" smtClean="0"/>
              <a:t>2023-08-23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00E85C-9068-46D2-A14A-A9DCCDE0C98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531890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3AF0D8-0AFE-4389-9C4F-B247F77E85F4}" type="datetime1">
              <a:rPr lang="ko-KR" altLang="en-US" smtClean="0"/>
              <a:t>2023-08-23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00E85C-9068-46D2-A14A-A9DCCDE0C98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793462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4A3212-090F-4B69-906A-B3CA2BC375ED}" type="datetime1">
              <a:rPr lang="ko-KR" altLang="en-US" smtClean="0"/>
              <a:t>2023-08-23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00E85C-9068-46D2-A14A-A9DCCDE0C98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927171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6DF9AD-719E-4E93-A824-218E0CF9AC3C}" type="datetime1">
              <a:rPr lang="ko-KR" altLang="en-US" smtClean="0"/>
              <a:t>2023-08-23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00E85C-9068-46D2-A14A-A9DCCDE0C986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641443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46DB05-76DA-4D3A-B078-A583FFDA815D}" type="datetime1">
              <a:rPr lang="ko-KR" altLang="en-US" smtClean="0"/>
              <a:t>2023-08-23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00E85C-9068-46D2-A14A-A9DCCDE0C98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907400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4137E-2B0C-4B41-8C2A-0B2B77A08D38}" type="datetime1">
              <a:rPr lang="ko-KR" altLang="en-US" smtClean="0"/>
              <a:t>2023-08-23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00E85C-9068-46D2-A14A-A9DCCDE0C98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75062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07AB2C-6FD1-4AD7-B691-D0A8C430C56C}" type="datetime1">
              <a:rPr lang="ko-KR" altLang="en-US" smtClean="0"/>
              <a:t>2023-08-23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00E85C-9068-46D2-A14A-A9DCCDE0C98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272233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48929C-B6B2-4F43-A100-EC86E6AEFEE7}" type="datetime1">
              <a:rPr lang="ko-KR" altLang="en-US" smtClean="0"/>
              <a:t>2023-08-23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00E85C-9068-46D2-A14A-A9DCCDE0C98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267207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7F1C48-D382-4608-8EFC-759E9CA4DA3F}" type="datetime1">
              <a:rPr lang="ko-KR" altLang="en-US" smtClean="0"/>
              <a:t>2023-08-23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00E85C-9068-46D2-A14A-A9DCCDE0C98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293589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B358F3C-ACF1-481F-A305-7EE0320343A1}" type="datetime1">
              <a:rPr lang="ko-KR" altLang="en-US" smtClean="0"/>
              <a:t>2023-08-23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00E85C-9068-46D2-A14A-A9DCCDE0C986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381423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8" r:id="rId1"/>
    <p:sldLayoutId id="2147483769" r:id="rId2"/>
    <p:sldLayoutId id="2147483770" r:id="rId3"/>
    <p:sldLayoutId id="2147483771" r:id="rId4"/>
    <p:sldLayoutId id="2147483772" r:id="rId5"/>
    <p:sldLayoutId id="2147483773" r:id="rId6"/>
    <p:sldLayoutId id="2147483774" r:id="rId7"/>
    <p:sldLayoutId id="2147483775" r:id="rId8"/>
    <p:sldLayoutId id="2147483776" r:id="rId9"/>
    <p:sldLayoutId id="2147483777" r:id="rId10"/>
    <p:sldLayoutId id="2147483778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jpe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4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62100" y="1970088"/>
            <a:ext cx="9144000" cy="744537"/>
          </a:xfrm>
        </p:spPr>
        <p:txBody>
          <a:bodyPr>
            <a:normAutofit/>
          </a:bodyPr>
          <a:lstStyle/>
          <a:p>
            <a:r>
              <a:rPr lang="en-US" altLang="ko-KR" sz="4000" b="1" dirty="0">
                <a:latin typeface="Times New Roman" panose="02020603050405020304" pitchFamily="18" charset="0"/>
                <a:ea typeface="함초롬바탕" panose="02030604000101010101" pitchFamily="18" charset="-127"/>
                <a:cs typeface="Times New Roman" panose="02020603050405020304" pitchFamily="18" charset="0"/>
              </a:rPr>
              <a:t>ARP</a:t>
            </a:r>
            <a:r>
              <a:rPr lang="ko-KR" altLang="en-US" sz="4000" b="1" dirty="0">
                <a:latin typeface="Times New Roman" panose="02020603050405020304" pitchFamily="18" charset="0"/>
                <a:ea typeface="함초롬바탕" panose="02030604000101010101" pitchFamily="18" charset="-127"/>
                <a:cs typeface="Times New Roman" panose="02020603050405020304" pitchFamily="18" charset="0"/>
              </a:rPr>
              <a:t> </a:t>
            </a:r>
            <a:endParaRPr lang="ko-KR" altLang="en-US" sz="4000" b="1" dirty="0">
              <a:latin typeface="함초롬바탕" panose="02030604000101010101" pitchFamily="18" charset="-127"/>
              <a:ea typeface="함초롬바탕" panose="02030604000101010101" pitchFamily="18" charset="-127"/>
              <a:cs typeface="함초롬바탕" panose="02030604000101010101" pitchFamily="18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00E85C-9068-46D2-A14A-A9DCCDE0C986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90288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451" name="Rectangle 2"/>
          <p:cNvSpPr>
            <a:spLocks noGrp="1" noChangeArrowheads="1"/>
          </p:cNvSpPr>
          <p:nvPr>
            <p:ph type="title" idx="4294967295"/>
          </p:nvPr>
        </p:nvSpPr>
        <p:spPr>
          <a:xfrm>
            <a:off x="1116055" y="604309"/>
            <a:ext cx="8183562" cy="1052512"/>
          </a:xfrm>
        </p:spPr>
        <p:txBody>
          <a:bodyPr>
            <a:normAutofit/>
          </a:bodyPr>
          <a:lstStyle/>
          <a:p>
            <a:pPr algn="l"/>
            <a:r>
              <a:rPr lang="en-US" altLang="ko-KR" sz="3200" dirty="0">
                <a:latin typeface="Times New Roman" pitchFamily="18" charset="0"/>
                <a:ea typeface="굴림" pitchFamily="50" charset="-127"/>
                <a:cs typeface="Times New Roman" pitchFamily="18" charset="0"/>
              </a:rPr>
              <a:t>ARP Cache table update</a:t>
            </a:r>
            <a:endParaRPr lang="ko-KR" altLang="en-US" sz="3200" dirty="0">
              <a:latin typeface="Times New Roman" pitchFamily="18" charset="0"/>
              <a:ea typeface="굴림" pitchFamily="50" charset="-127"/>
              <a:cs typeface="Times New Roman" pitchFamily="18" charset="0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B60484-59DB-4C36-A070-22722EC8A208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3" name="TextBox 2"/>
          <p:cNvSpPr txBox="1"/>
          <p:nvPr/>
        </p:nvSpPr>
        <p:spPr>
          <a:xfrm>
            <a:off x="961890" y="1749985"/>
            <a:ext cx="10633480" cy="34598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ARP request</a:t>
            </a:r>
            <a:r>
              <a:rPr lang="ko-KR" altLang="en-US" sz="16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 패킷을 수신한 시스템들은 송신 시스템의 </a:t>
            </a:r>
            <a:r>
              <a:rPr lang="en-US" altLang="ko-KR" sz="16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IP</a:t>
            </a:r>
            <a:r>
              <a:rPr lang="ko-KR" altLang="en-US" sz="16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와 </a:t>
            </a:r>
            <a:r>
              <a:rPr lang="en-US" altLang="ko-KR" sz="16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MAC</a:t>
            </a:r>
            <a:r>
              <a:rPr lang="ko-KR" altLang="en-US" sz="16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주소를 자신의 </a:t>
            </a:r>
            <a:r>
              <a:rPr lang="en-US" altLang="ko-KR" sz="16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ARP </a:t>
            </a:r>
            <a:r>
              <a:rPr lang="ko-KR" altLang="en-US" sz="16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캐시 엔트리에 저장 </a:t>
            </a:r>
            <a:r>
              <a:rPr lang="en-US" altLang="ko-KR" sz="16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 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이 경우 기존 캐시 정보의 다른 엔트리를 지울 수 있음</a:t>
            </a:r>
            <a:r>
              <a:rPr lang="en-US" altLang="ko-KR" sz="16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 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기존 캐시 정보의 다른 엔트리를 지울 수 있으므로 </a:t>
            </a:r>
            <a:r>
              <a:rPr lang="en-US" altLang="ko-KR" sz="16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ARP </a:t>
            </a:r>
            <a:r>
              <a:rPr lang="ko-KR" altLang="en-US" sz="16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캐시에 송신 시스템의 </a:t>
            </a:r>
            <a:r>
              <a:rPr lang="en-US" altLang="ko-KR" sz="16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IP </a:t>
            </a:r>
            <a:r>
              <a:rPr lang="ko-KR" altLang="en-US" sz="16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주소가 이미 존재하는 시스템만이 </a:t>
            </a:r>
            <a:r>
              <a:rPr lang="en-US" altLang="ko-KR" sz="16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ARP </a:t>
            </a:r>
            <a:r>
              <a:rPr lang="ko-KR" altLang="en-US" sz="16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캐시 </a:t>
            </a:r>
            <a:r>
              <a:rPr lang="ko-KR" altLang="en-US" sz="1600" dirty="0" err="1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엔트리를</a:t>
            </a:r>
            <a:r>
              <a:rPr lang="ko-KR" altLang="en-US" sz="16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 갱신하고</a:t>
            </a:r>
            <a:r>
              <a:rPr lang="en-US" altLang="ko-KR" sz="16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, ARP </a:t>
            </a:r>
            <a:r>
              <a:rPr lang="ko-KR" altLang="en-US" sz="16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캐시에 송신 시스템의 </a:t>
            </a:r>
            <a:r>
              <a:rPr lang="en-US" altLang="ko-KR" sz="16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IP </a:t>
            </a:r>
            <a:r>
              <a:rPr lang="ko-KR" altLang="en-US" sz="16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주소가 없는 시스템은 </a:t>
            </a:r>
            <a:r>
              <a:rPr lang="en-US" altLang="ko-KR" sz="16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ARP </a:t>
            </a:r>
            <a:r>
              <a:rPr lang="ko-KR" altLang="en-US" sz="16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요청 패킷을 무시</a:t>
            </a:r>
            <a:endParaRPr lang="en-US" altLang="ko-KR" sz="1600" dirty="0">
              <a:latin typeface="함초롬바탕" panose="02030604000101010101" pitchFamily="18" charset="-127"/>
              <a:ea typeface="함초롬바탕" panose="02030604000101010101" pitchFamily="18" charset="-127"/>
              <a:cs typeface="함초롬바탕" panose="020306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시스템들은 </a:t>
            </a:r>
            <a:r>
              <a:rPr lang="en-US" altLang="ko-KR" sz="16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ARP </a:t>
            </a:r>
            <a:r>
              <a:rPr lang="ko-KR" altLang="en-US" sz="16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요청 </a:t>
            </a:r>
            <a:r>
              <a:rPr lang="ko-KR" altLang="en-US" sz="1600" dirty="0" err="1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브로드캐스트에</a:t>
            </a:r>
            <a:r>
              <a:rPr lang="ko-KR" altLang="en-US" sz="16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 있는 </a:t>
            </a:r>
            <a:r>
              <a:rPr lang="en-US" altLang="ko-KR" sz="16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IP</a:t>
            </a:r>
            <a:r>
              <a:rPr lang="ko-KR" altLang="en-US" sz="16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주소와 </a:t>
            </a:r>
            <a:r>
              <a:rPr lang="en-US" altLang="ko-KR" sz="16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MAC </a:t>
            </a:r>
            <a:r>
              <a:rPr lang="ko-KR" altLang="en-US" sz="16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주소에 대해 자신의 엔트리에 속해 있지 않은 정보는 무시하고 기존에 있는 정보에 대해서만 엔트리를 갱신해 </a:t>
            </a:r>
            <a:r>
              <a:rPr lang="en-US" altLang="ko-KR" sz="16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ARP </a:t>
            </a:r>
            <a:r>
              <a:rPr lang="ko-KR" altLang="en-US" sz="16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캐시 엔트리의 무차별적인 갱신을 방지</a:t>
            </a:r>
            <a:endParaRPr lang="en-US" altLang="ko-KR" sz="1600" dirty="0">
              <a:latin typeface="함초롬바탕" panose="02030604000101010101" pitchFamily="18" charset="-127"/>
              <a:ea typeface="함초롬바탕" panose="02030604000101010101" pitchFamily="18" charset="-127"/>
              <a:cs typeface="함초롬바탕" panose="020306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endParaRPr lang="en-US" altLang="ko-KR" sz="1600" dirty="0">
              <a:latin typeface="함초롬바탕" panose="02030604000101010101" pitchFamily="18" charset="-127"/>
              <a:ea typeface="함초롬바탕" panose="02030604000101010101" pitchFamily="18" charset="-127"/>
              <a:cs typeface="함초롬바탕" panose="02030604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571897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직선 연결선 7"/>
          <p:cNvCxnSpPr/>
          <p:nvPr/>
        </p:nvCxnSpPr>
        <p:spPr>
          <a:xfrm>
            <a:off x="6446614" y="1026023"/>
            <a:ext cx="0" cy="1943638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자유형 23"/>
          <p:cNvSpPr/>
          <p:nvPr/>
        </p:nvSpPr>
        <p:spPr>
          <a:xfrm>
            <a:off x="3280268" y="2723440"/>
            <a:ext cx="5818095" cy="1244274"/>
          </a:xfrm>
          <a:custGeom>
            <a:avLst/>
            <a:gdLst>
              <a:gd name="connsiteX0" fmla="*/ 0 w 5818095"/>
              <a:gd name="connsiteY0" fmla="*/ 0 h 2608729"/>
              <a:gd name="connsiteX1" fmla="*/ 3299012 w 5818095"/>
              <a:gd name="connsiteY1" fmla="*/ 0 h 2608729"/>
              <a:gd name="connsiteX2" fmla="*/ 3307977 w 5818095"/>
              <a:gd name="connsiteY2" fmla="*/ 2608729 h 2608729"/>
              <a:gd name="connsiteX3" fmla="*/ 5818095 w 5818095"/>
              <a:gd name="connsiteY3" fmla="*/ 2608729 h 26087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818095" h="2608729">
                <a:moveTo>
                  <a:pt x="0" y="0"/>
                </a:moveTo>
                <a:lnTo>
                  <a:pt x="3299012" y="0"/>
                </a:lnTo>
                <a:cubicBezTo>
                  <a:pt x="3302000" y="869576"/>
                  <a:pt x="3304989" y="1739153"/>
                  <a:pt x="3307977" y="2608729"/>
                </a:cubicBezTo>
                <a:lnTo>
                  <a:pt x="5818095" y="2608729"/>
                </a:lnTo>
              </a:path>
            </a:pathLst>
          </a:cu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7351" y="2135629"/>
            <a:ext cx="1031228" cy="1252345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98362" y="3577526"/>
            <a:ext cx="1304496" cy="104942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81566" y="2384887"/>
            <a:ext cx="54027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Server</a:t>
            </a:r>
            <a:endParaRPr lang="ko-KR" altLang="en-US" sz="16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9156447" y="3651406"/>
            <a:ext cx="8262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Client</a:t>
            </a:r>
            <a:endParaRPr lang="ko-KR" altLang="en-US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직사각형 15"/>
          <p:cNvSpPr/>
          <p:nvPr/>
        </p:nvSpPr>
        <p:spPr>
          <a:xfrm>
            <a:off x="8900608" y="2814473"/>
            <a:ext cx="1523630" cy="71495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TextBox 16"/>
          <p:cNvSpPr txBox="1"/>
          <p:nvPr/>
        </p:nvSpPr>
        <p:spPr>
          <a:xfrm>
            <a:off x="8718863" y="2465104"/>
            <a:ext cx="1887120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500" dirty="0">
                <a:solidFill>
                  <a:srgbClr val="FF0000"/>
                </a:solidFill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❶ </a:t>
            </a:r>
            <a:r>
              <a:rPr lang="en-US" altLang="ko-KR" sz="15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ARP Cache Table  </a:t>
            </a:r>
            <a:endParaRPr lang="ko-KR" altLang="en-US" sz="1500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31" name="표 3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84241999"/>
              </p:ext>
            </p:extLst>
          </p:nvPr>
        </p:nvGraphicFramePr>
        <p:xfrm>
          <a:off x="3723436" y="6256146"/>
          <a:ext cx="7087593" cy="2743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121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9057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5681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2006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895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9515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63392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b="1" dirty="0">
                          <a:solidFill>
                            <a:srgbClr val="FF0000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????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1111. 1111.1111</a:t>
                      </a:r>
                      <a:endParaRPr lang="ko-KR" altLang="en-US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192.168.1.10</a:t>
                      </a:r>
                      <a:endParaRPr lang="ko-KR" altLang="en-US" sz="12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>
                          <a:solidFill>
                            <a:srgbClr val="FF0000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192.168.1.20</a:t>
                      </a:r>
                      <a:endParaRPr lang="ko-KR" altLang="en-US" sz="1200" b="1" dirty="0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50030</a:t>
                      </a:r>
                      <a:endParaRPr lang="ko-KR" altLang="en-US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80</a:t>
                      </a:r>
                      <a:endParaRPr lang="ko-KR" altLang="en-US" sz="12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Get /www.test.com</a:t>
                      </a:r>
                      <a:endParaRPr lang="ko-KR" altLang="en-US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3875991" y="5997362"/>
            <a:ext cx="665598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 수</a:t>
            </a:r>
            <a:r>
              <a:rPr lang="en-US" altLang="ko-KR" sz="12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MAC</a:t>
            </a:r>
            <a:r>
              <a:rPr lang="en-US" altLang="ko-KR" sz="12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               </a:t>
            </a:r>
            <a:r>
              <a:rPr lang="ko-KR" altLang="en-US" sz="12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송</a:t>
            </a:r>
            <a:r>
              <a:rPr lang="en-US" altLang="ko-KR" sz="12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MAC</a:t>
            </a:r>
            <a:r>
              <a:rPr lang="en-US" altLang="ko-KR" sz="12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                 </a:t>
            </a:r>
            <a:r>
              <a:rPr lang="ko-KR" altLang="en-US" sz="12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송</a:t>
            </a:r>
            <a:r>
              <a:rPr lang="en-US" altLang="ko-KR" sz="12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IP</a:t>
            </a:r>
            <a:r>
              <a:rPr lang="en-US" altLang="ko-KR" sz="12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                 </a:t>
            </a:r>
            <a:r>
              <a:rPr lang="ko-KR" altLang="en-US" sz="12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수</a:t>
            </a:r>
            <a:r>
              <a:rPr lang="en-US" altLang="ko-KR" sz="12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IP</a:t>
            </a:r>
            <a:r>
              <a:rPr lang="en-US" altLang="ko-KR" sz="12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        </a:t>
            </a:r>
            <a:r>
              <a:rPr lang="ko-KR" altLang="en-US" sz="12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송</a:t>
            </a:r>
            <a:r>
              <a:rPr lang="en-US" altLang="ko-KR" sz="12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Port</a:t>
            </a:r>
            <a:r>
              <a:rPr lang="en-US" altLang="ko-KR" sz="12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   </a:t>
            </a:r>
            <a:r>
              <a:rPr lang="ko-KR" altLang="en-US" sz="12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수</a:t>
            </a:r>
            <a:r>
              <a:rPr lang="en-US" altLang="ko-KR" sz="12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Port</a:t>
            </a:r>
            <a:r>
              <a:rPr lang="en-US" altLang="ko-KR" sz="12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         </a:t>
            </a:r>
            <a:r>
              <a:rPr lang="ko-KR" altLang="en-US" sz="1200" dirty="0" err="1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전송데이타</a:t>
            </a:r>
            <a:r>
              <a:rPr lang="ko-KR" altLang="en-US" sz="12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 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28309" y="4052693"/>
            <a:ext cx="152150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IP       192.168.1.10</a:t>
            </a:r>
          </a:p>
          <a:p>
            <a:r>
              <a:rPr lang="en-US" altLang="ko-KR" sz="12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SM     255.255.255.0</a:t>
            </a:r>
          </a:p>
          <a:p>
            <a:r>
              <a:rPr lang="en-US" altLang="ko-KR" sz="12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MAC 1111.1111.1111</a:t>
            </a:r>
            <a:endParaRPr lang="ko-KR" altLang="en-US" sz="1200" dirty="0">
              <a:latin typeface="Times New Roman" panose="02020603050405020304" pitchFamily="18" charset="0"/>
              <a:ea typeface="함초롬바탕" panose="02030504000101010101" pitchFamily="18" charset="-127"/>
              <a:cs typeface="Times New Roman" panose="02020603050405020304" pitchFamily="18" charset="0"/>
            </a:endParaRPr>
          </a:p>
          <a:p>
            <a:endParaRPr lang="ko-KR" altLang="en-US" sz="1200" dirty="0">
              <a:latin typeface="Times New Roman" panose="02020603050405020304" pitchFamily="18" charset="0"/>
              <a:ea typeface="함초롬바탕" panose="02030504000101010101" pitchFamily="18" charset="-127"/>
              <a:cs typeface="Times New Roman" panose="02020603050405020304" pitchFamily="18" charset="0"/>
            </a:endParaRPr>
          </a:p>
        </p:txBody>
      </p:sp>
      <p:sp>
        <p:nvSpPr>
          <p:cNvPr id="36" name="직사각형 35"/>
          <p:cNvSpPr/>
          <p:nvPr/>
        </p:nvSpPr>
        <p:spPr>
          <a:xfrm>
            <a:off x="3939438" y="4907851"/>
            <a:ext cx="1920095" cy="4367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7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ARP Request</a:t>
            </a:r>
            <a:endParaRPr lang="ko-KR" altLang="en-US" sz="1700" dirty="0">
              <a:latin typeface="함초롬바탕" panose="02030504000101010101" pitchFamily="18" charset="-127"/>
              <a:ea typeface="함초롬바탕" panose="02030504000101010101" pitchFamily="18" charset="-127"/>
              <a:cs typeface="함초롬바탕" panose="02030504000101010101" pitchFamily="18" charset="-127"/>
            </a:endParaRPr>
          </a:p>
        </p:txBody>
      </p:sp>
      <p:graphicFrame>
        <p:nvGraphicFramePr>
          <p:cNvPr id="37" name="표 3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7367889"/>
              </p:ext>
            </p:extLst>
          </p:nvPr>
        </p:nvGraphicFramePr>
        <p:xfrm>
          <a:off x="5244820" y="5283425"/>
          <a:ext cx="5566209" cy="457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1291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339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806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387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00612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함초롬바탕" panose="02030504000101010101" pitchFamily="18" charset="-127"/>
                          <a:cs typeface="Times New Roman" panose="02020603050405020304" pitchFamily="18" charset="0"/>
                        </a:rPr>
                        <a:t>FFFF.FFFF.FFFF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200" dirty="0">
                          <a:latin typeface="Times New Roman" panose="02020603050405020304" pitchFamily="18" charset="0"/>
                          <a:ea typeface="함초롬바탕" panose="02030504000101010101" pitchFamily="18" charset="-127"/>
                          <a:cs typeface="Times New Roman" panose="02020603050405020304" pitchFamily="18" charset="0"/>
                        </a:rPr>
                        <a:t>1111.1111.1111</a:t>
                      </a:r>
                      <a:endParaRPr lang="ko-KR" altLang="en-US" sz="1200" dirty="0">
                        <a:latin typeface="Times New Roman" panose="02020603050405020304" pitchFamily="18" charset="0"/>
                        <a:ea typeface="함초롬바탕" panose="02030504000101010101" pitchFamily="18" charset="-127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0x0806</a:t>
                      </a:r>
                      <a:endParaRPr lang="ko-KR" altLang="en-US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1111.1111.1111 /192.168.1.10</a:t>
                      </a: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>
                          <a:solidFill>
                            <a:srgbClr val="FF0000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0000.0000.0000/192.168.1.20</a:t>
                      </a:r>
                      <a:endParaRPr lang="ko-KR" altLang="en-US" sz="1200" b="1" dirty="0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8" name="오른쪽 화살표 37"/>
          <p:cNvSpPr/>
          <p:nvPr/>
        </p:nvSpPr>
        <p:spPr>
          <a:xfrm rot="10800000">
            <a:off x="4843902" y="5394564"/>
            <a:ext cx="365843" cy="243149"/>
          </a:xfrm>
          <a:prstGeom prst="rightArrow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4" name="그룹 33"/>
          <p:cNvGrpSpPr/>
          <p:nvPr/>
        </p:nvGrpSpPr>
        <p:grpSpPr>
          <a:xfrm>
            <a:off x="5840498" y="2495836"/>
            <a:ext cx="1207816" cy="476937"/>
            <a:chOff x="2610322" y="5109168"/>
            <a:chExt cx="1495425" cy="742950"/>
          </a:xfrm>
        </p:grpSpPr>
        <p:sp>
          <p:nvSpPr>
            <p:cNvPr id="40" name="AutoShape 26"/>
            <p:cNvSpPr>
              <a:spLocks noChangeArrowheads="1"/>
            </p:cNvSpPr>
            <p:nvPr/>
          </p:nvSpPr>
          <p:spPr bwMode="auto">
            <a:xfrm>
              <a:off x="2610322" y="5109168"/>
              <a:ext cx="1495425" cy="742950"/>
            </a:xfrm>
            <a:prstGeom prst="cube">
              <a:avLst>
                <a:gd name="adj" fmla="val 55426"/>
              </a:avLst>
            </a:prstGeom>
            <a:gradFill rotWithShape="1">
              <a:gsLst>
                <a:gs pos="0">
                  <a:srgbClr val="EAEAEA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rgbClr val="777777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endParaRPr lang="ko-KR" altLang="en-US" sz="1600" kern="0">
                <a:solidFill>
                  <a:sysClr val="windowText" lastClr="000000"/>
                </a:solidFill>
                <a:latin typeface="Times New Roman" pitchFamily="18" charset="0"/>
                <a:cs typeface="Times New Roman" pitchFamily="18" charset="0"/>
              </a:endParaRPr>
            </a:p>
          </p:txBody>
        </p:sp>
        <p:sp>
          <p:nvSpPr>
            <p:cNvPr id="41" name="WordArt 28"/>
            <p:cNvSpPr>
              <a:spLocks noChangeArrowheads="1" noChangeShapeType="1" noTextEdit="1"/>
            </p:cNvSpPr>
            <p:nvPr/>
          </p:nvSpPr>
          <p:spPr bwMode="auto">
            <a:xfrm>
              <a:off x="2630926" y="5575432"/>
              <a:ext cx="1003300" cy="261937"/>
            </a:xfrm>
            <a:prstGeom prst="rect">
              <a:avLst/>
            </a:prstGeom>
          </p:spPr>
          <p:txBody>
            <a:bodyPr wrap="none" fromWordArt="1">
              <a:prstTxWarp prst="textPlain">
                <a:avLst>
                  <a:gd name="adj" fmla="val 50000"/>
                </a:avLst>
              </a:prstTxWarp>
            </a:bodyPr>
            <a:lstStyle/>
            <a:p>
              <a:pPr algn="ctr">
                <a:buNone/>
              </a:pPr>
              <a:r>
                <a:rPr lang="en-US" altLang="ko-KR" sz="1600" kern="10" dirty="0">
                  <a:ln w="9525">
                    <a:solidFill>
                      <a:srgbClr val="808080"/>
                    </a:solidFill>
                    <a:round/>
                    <a:headEnd/>
                    <a:tailEnd/>
                  </a:ln>
                  <a:solidFill>
                    <a:srgbClr val="808080"/>
                  </a:solidFill>
                  <a:latin typeface="Times New Roman" pitchFamily="18" charset="0"/>
                  <a:cs typeface="Times New Roman" pitchFamily="18" charset="0"/>
                </a:rPr>
                <a:t>SWITCH</a:t>
              </a:r>
              <a:endParaRPr lang="ko-KR" altLang="en-US" sz="1600" kern="10" dirty="0">
                <a:ln w="9525">
                  <a:solidFill>
                    <a:srgbClr val="808080"/>
                  </a:solidFill>
                  <a:round/>
                  <a:headEnd/>
                  <a:tailEnd/>
                </a:ln>
                <a:solidFill>
                  <a:srgbClr val="808080"/>
                </a:solidFill>
                <a:latin typeface="Times New Roman" pitchFamily="18" charset="0"/>
                <a:cs typeface="Times New Roman" pitchFamily="18" charset="0"/>
              </a:endParaRPr>
            </a:p>
          </p:txBody>
        </p:sp>
        <p:sp>
          <p:nvSpPr>
            <p:cNvPr id="42" name="Freeform 29"/>
            <p:cNvSpPr>
              <a:spLocks/>
            </p:cNvSpPr>
            <p:nvPr/>
          </p:nvSpPr>
          <p:spPr bwMode="auto">
            <a:xfrm>
              <a:off x="2705237" y="5139406"/>
              <a:ext cx="1228725" cy="357188"/>
            </a:xfrm>
            <a:custGeom>
              <a:avLst/>
              <a:gdLst/>
              <a:ahLst/>
              <a:cxnLst>
                <a:cxn ang="0">
                  <a:pos x="599" y="140"/>
                </a:cxn>
                <a:cxn ang="0">
                  <a:pos x="877" y="270"/>
                </a:cxn>
                <a:cxn ang="0">
                  <a:pos x="964" y="177"/>
                </a:cxn>
                <a:cxn ang="0">
                  <a:pos x="1393" y="183"/>
                </a:cxn>
                <a:cxn ang="0">
                  <a:pos x="1527" y="459"/>
                </a:cxn>
                <a:cxn ang="0">
                  <a:pos x="856" y="727"/>
                </a:cxn>
                <a:cxn ang="0">
                  <a:pos x="436" y="721"/>
                </a:cxn>
                <a:cxn ang="0">
                  <a:pos x="537" y="615"/>
                </a:cxn>
                <a:cxn ang="0">
                  <a:pos x="0" y="755"/>
                </a:cxn>
                <a:cxn ang="0">
                  <a:pos x="247" y="906"/>
                </a:cxn>
                <a:cxn ang="0">
                  <a:pos x="337" y="804"/>
                </a:cxn>
                <a:cxn ang="0">
                  <a:pos x="973" y="800"/>
                </a:cxn>
                <a:cxn ang="0">
                  <a:pos x="1570" y="552"/>
                </a:cxn>
                <a:cxn ang="0">
                  <a:pos x="1663" y="810"/>
                </a:cxn>
                <a:cxn ang="0">
                  <a:pos x="2281" y="807"/>
                </a:cxn>
                <a:cxn ang="0">
                  <a:pos x="2188" y="900"/>
                </a:cxn>
                <a:cxn ang="0">
                  <a:pos x="2707" y="772"/>
                </a:cxn>
                <a:cxn ang="0">
                  <a:pos x="2467" y="624"/>
                </a:cxn>
                <a:cxn ang="0">
                  <a:pos x="2359" y="726"/>
                </a:cxn>
                <a:cxn ang="0">
                  <a:pos x="1915" y="720"/>
                </a:cxn>
                <a:cxn ang="0">
                  <a:pos x="1812" y="447"/>
                </a:cxn>
                <a:cxn ang="0">
                  <a:pos x="2438" y="190"/>
                </a:cxn>
                <a:cxn ang="0">
                  <a:pos x="2899" y="192"/>
                </a:cxn>
                <a:cxn ang="0">
                  <a:pos x="2815" y="276"/>
                </a:cxn>
                <a:cxn ang="0">
                  <a:pos x="3328" y="151"/>
                </a:cxn>
                <a:cxn ang="0">
                  <a:pos x="3085" y="0"/>
                </a:cxn>
                <a:cxn ang="0">
                  <a:pos x="2974" y="114"/>
                </a:cxn>
                <a:cxn ang="0">
                  <a:pos x="2338" y="106"/>
                </a:cxn>
                <a:cxn ang="0">
                  <a:pos x="1762" y="352"/>
                </a:cxn>
                <a:cxn ang="0">
                  <a:pos x="1667" y="112"/>
                </a:cxn>
                <a:cxn ang="0">
                  <a:pos x="1046" y="106"/>
                </a:cxn>
                <a:cxn ang="0">
                  <a:pos x="1147" y="11"/>
                </a:cxn>
                <a:cxn ang="0">
                  <a:pos x="599" y="140"/>
                </a:cxn>
              </a:cxnLst>
              <a:rect l="0" t="0" r="r" b="b"/>
              <a:pathLst>
                <a:path w="3328" h="906">
                  <a:moveTo>
                    <a:pt x="599" y="140"/>
                  </a:moveTo>
                  <a:lnTo>
                    <a:pt x="877" y="270"/>
                  </a:lnTo>
                  <a:lnTo>
                    <a:pt x="964" y="177"/>
                  </a:lnTo>
                  <a:lnTo>
                    <a:pt x="1393" y="183"/>
                  </a:lnTo>
                  <a:lnTo>
                    <a:pt x="1527" y="459"/>
                  </a:lnTo>
                  <a:lnTo>
                    <a:pt x="856" y="727"/>
                  </a:lnTo>
                  <a:lnTo>
                    <a:pt x="436" y="721"/>
                  </a:lnTo>
                  <a:lnTo>
                    <a:pt x="537" y="615"/>
                  </a:lnTo>
                  <a:lnTo>
                    <a:pt x="0" y="755"/>
                  </a:lnTo>
                  <a:lnTo>
                    <a:pt x="247" y="906"/>
                  </a:lnTo>
                  <a:lnTo>
                    <a:pt x="337" y="804"/>
                  </a:lnTo>
                  <a:lnTo>
                    <a:pt x="973" y="800"/>
                  </a:lnTo>
                  <a:lnTo>
                    <a:pt x="1570" y="552"/>
                  </a:lnTo>
                  <a:lnTo>
                    <a:pt x="1663" y="810"/>
                  </a:lnTo>
                  <a:lnTo>
                    <a:pt x="2281" y="807"/>
                  </a:lnTo>
                  <a:lnTo>
                    <a:pt x="2188" y="900"/>
                  </a:lnTo>
                  <a:lnTo>
                    <a:pt x="2707" y="772"/>
                  </a:lnTo>
                  <a:lnTo>
                    <a:pt x="2467" y="624"/>
                  </a:lnTo>
                  <a:lnTo>
                    <a:pt x="2359" y="726"/>
                  </a:lnTo>
                  <a:lnTo>
                    <a:pt x="1915" y="720"/>
                  </a:lnTo>
                  <a:lnTo>
                    <a:pt x="1812" y="447"/>
                  </a:lnTo>
                  <a:lnTo>
                    <a:pt x="2438" y="190"/>
                  </a:lnTo>
                  <a:lnTo>
                    <a:pt x="2899" y="192"/>
                  </a:lnTo>
                  <a:lnTo>
                    <a:pt x="2815" y="276"/>
                  </a:lnTo>
                  <a:lnTo>
                    <a:pt x="3328" y="151"/>
                  </a:lnTo>
                  <a:lnTo>
                    <a:pt x="3085" y="0"/>
                  </a:lnTo>
                  <a:lnTo>
                    <a:pt x="2974" y="114"/>
                  </a:lnTo>
                  <a:lnTo>
                    <a:pt x="2338" y="106"/>
                  </a:lnTo>
                  <a:lnTo>
                    <a:pt x="1762" y="352"/>
                  </a:lnTo>
                  <a:lnTo>
                    <a:pt x="1667" y="112"/>
                  </a:lnTo>
                  <a:lnTo>
                    <a:pt x="1046" y="106"/>
                  </a:lnTo>
                  <a:lnTo>
                    <a:pt x="1147" y="11"/>
                  </a:lnTo>
                  <a:lnTo>
                    <a:pt x="599" y="140"/>
                  </a:lnTo>
                  <a:close/>
                </a:path>
              </a:pathLst>
            </a:custGeom>
            <a:solidFill>
              <a:srgbClr val="FFFFFF"/>
            </a:solidFill>
            <a:ln w="9525">
              <a:solidFill>
                <a:srgbClr val="4D4D4D"/>
              </a:solidFill>
              <a:round/>
              <a:headEnd type="none" w="med" len="med"/>
              <a:tailEnd type="none" w="med" len="med"/>
            </a:ln>
            <a:effectLst>
              <a:outerShdw dist="17961" dir="2700000" algn="ctr" rotWithShape="0">
                <a:srgbClr val="4D4D4D">
                  <a:alpha val="50000"/>
                </a:srgbClr>
              </a:outerShdw>
            </a:effectLst>
          </p:spPr>
          <p:txBody>
            <a:bodyPr/>
            <a:lstStyle/>
            <a:p>
              <a:pPr>
                <a:defRPr/>
              </a:pPr>
              <a:endParaRPr lang="ko-KR" altLang="en-US" sz="1600" kern="0">
                <a:solidFill>
                  <a:sysClr val="windowText" lastClr="000000"/>
                </a:solidFill>
                <a:latin typeface="Times New Roman" pitchFamily="18" charset="0"/>
                <a:cs typeface="Times New Roman" pitchFamily="18" charset="0"/>
              </a:endParaRPr>
            </a:p>
          </p:txBody>
        </p:sp>
      </p:grpSp>
      <p:sp>
        <p:nvSpPr>
          <p:cNvPr id="43" name="TextBox 42"/>
          <p:cNvSpPr txBox="1"/>
          <p:nvPr/>
        </p:nvSpPr>
        <p:spPr>
          <a:xfrm>
            <a:off x="2085911" y="3455908"/>
            <a:ext cx="178548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IP          192.168.1.20</a:t>
            </a:r>
          </a:p>
          <a:p>
            <a:r>
              <a:rPr lang="en-US" altLang="ko-KR" sz="12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SM        255.255.255.0</a:t>
            </a:r>
          </a:p>
          <a:p>
            <a:r>
              <a:rPr lang="en-US" altLang="ko-KR" sz="12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MAC     2222.2222.2222</a:t>
            </a:r>
          </a:p>
          <a:p>
            <a:r>
              <a:rPr lang="en-US" altLang="ko-KR" sz="12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BMAC  FFFF.FFFF.FFFF</a:t>
            </a:r>
          </a:p>
        </p:txBody>
      </p:sp>
      <p:pic>
        <p:nvPicPr>
          <p:cNvPr id="44" name="그림 43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42638" y="556643"/>
            <a:ext cx="1094561" cy="880541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7137199" y="488627"/>
            <a:ext cx="1785489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IP          192.168.1.30</a:t>
            </a:r>
          </a:p>
          <a:p>
            <a:r>
              <a:rPr lang="en-US" altLang="ko-KR" sz="12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SM        255.255.255.0</a:t>
            </a:r>
          </a:p>
          <a:p>
            <a:r>
              <a:rPr lang="en-US" altLang="ko-KR" sz="12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MAC     3333.3333.3333</a:t>
            </a:r>
          </a:p>
          <a:p>
            <a:r>
              <a:rPr lang="en-US" altLang="ko-KR" sz="12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BMAC  FFFF.FFFF.FFFF</a:t>
            </a:r>
          </a:p>
          <a:p>
            <a:endParaRPr lang="en-US" altLang="ko-KR" dirty="0"/>
          </a:p>
        </p:txBody>
      </p:sp>
      <p:sp>
        <p:nvSpPr>
          <p:cNvPr id="46" name="직사각형 45"/>
          <p:cNvSpPr/>
          <p:nvPr/>
        </p:nvSpPr>
        <p:spPr>
          <a:xfrm>
            <a:off x="2118027" y="1371263"/>
            <a:ext cx="1523630" cy="71495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TextBox 46"/>
          <p:cNvSpPr txBox="1"/>
          <p:nvPr/>
        </p:nvSpPr>
        <p:spPr>
          <a:xfrm>
            <a:off x="503015" y="1728739"/>
            <a:ext cx="1643463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ARP Cache Table  </a:t>
            </a:r>
            <a:endParaRPr lang="ko-KR" altLang="en-US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5454284" y="4994504"/>
            <a:ext cx="512537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      수</a:t>
            </a:r>
            <a:r>
              <a:rPr lang="en-US" altLang="ko-KR" sz="12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MAC</a:t>
            </a:r>
            <a:r>
              <a:rPr lang="en-US" altLang="ko-KR" sz="12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                    </a:t>
            </a:r>
            <a:r>
              <a:rPr lang="ko-KR" altLang="en-US" sz="12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송</a:t>
            </a:r>
            <a:r>
              <a:rPr lang="en-US" altLang="ko-KR" sz="12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MAC</a:t>
            </a:r>
            <a:r>
              <a:rPr lang="en-US" altLang="ko-KR" sz="12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                 </a:t>
            </a:r>
            <a:r>
              <a:rPr lang="en-US" altLang="ko-KR" sz="12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 Protocol                ARP Header</a:t>
            </a:r>
            <a:endParaRPr lang="ko-KR" altLang="en-US" sz="1200" dirty="0">
              <a:latin typeface="Times New Roman" panose="02020603050405020304" pitchFamily="18" charset="0"/>
              <a:ea typeface="함초롬바탕" panose="02030504000101010101" pitchFamily="18" charset="-127"/>
              <a:cs typeface="Times New Roman" panose="02020603050405020304" pitchFamily="18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0757254" y="5269916"/>
            <a:ext cx="670376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300" b="1" dirty="0">
                <a:solidFill>
                  <a:srgbClr val="C00000"/>
                </a:solidFill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송신지</a:t>
            </a:r>
            <a:endParaRPr lang="en-US" altLang="ko-KR" sz="1300" b="1" dirty="0">
              <a:solidFill>
                <a:srgbClr val="C00000"/>
              </a:solidFill>
              <a:latin typeface="함초롬바탕" panose="02030504000101010101" pitchFamily="18" charset="-127"/>
              <a:ea typeface="함초롬바탕" panose="02030504000101010101" pitchFamily="18" charset="-127"/>
              <a:cs typeface="함초롬바탕" panose="02030504000101010101" pitchFamily="18" charset="-127"/>
            </a:endParaRPr>
          </a:p>
          <a:p>
            <a:r>
              <a:rPr lang="ko-KR" altLang="en-US" sz="1300" b="1" dirty="0">
                <a:solidFill>
                  <a:srgbClr val="C00000"/>
                </a:solidFill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수신지</a:t>
            </a:r>
          </a:p>
        </p:txBody>
      </p:sp>
      <p:sp>
        <p:nvSpPr>
          <p:cNvPr id="27" name="직사각형 26"/>
          <p:cNvSpPr/>
          <p:nvPr/>
        </p:nvSpPr>
        <p:spPr>
          <a:xfrm>
            <a:off x="6368967" y="1332954"/>
            <a:ext cx="1920095" cy="4367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700" dirty="0">
                <a:solidFill>
                  <a:srgbClr val="FF0000"/>
                </a:solidFill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  </a:t>
            </a:r>
            <a:r>
              <a:rPr lang="en-US" altLang="ko-KR" sz="1700" dirty="0">
                <a:solidFill>
                  <a:srgbClr val="FF0000"/>
                </a:solidFill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❷ </a:t>
            </a:r>
            <a:r>
              <a:rPr lang="en-US" altLang="ko-KR" sz="1700" dirty="0">
                <a:solidFill>
                  <a:srgbClr val="FF0000"/>
                </a:solidFill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ARP Request</a:t>
            </a:r>
            <a:endParaRPr lang="ko-KR" altLang="en-US" sz="1700" dirty="0">
              <a:solidFill>
                <a:srgbClr val="FF0000"/>
              </a:solidFill>
              <a:latin typeface="함초롬바탕" panose="02030504000101010101" pitchFamily="18" charset="-127"/>
              <a:ea typeface="함초롬바탕" panose="02030504000101010101" pitchFamily="18" charset="-127"/>
              <a:cs typeface="함초롬바탕" panose="02030504000101010101" pitchFamily="18" charset="-127"/>
            </a:endParaRPr>
          </a:p>
        </p:txBody>
      </p:sp>
      <p:sp>
        <p:nvSpPr>
          <p:cNvPr id="28" name="직사각형 27"/>
          <p:cNvSpPr/>
          <p:nvPr/>
        </p:nvSpPr>
        <p:spPr>
          <a:xfrm>
            <a:off x="3124041" y="2660518"/>
            <a:ext cx="1920095" cy="4367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700" dirty="0">
                <a:solidFill>
                  <a:srgbClr val="FF0000"/>
                </a:solidFill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  </a:t>
            </a:r>
            <a:r>
              <a:rPr lang="en-US" altLang="ko-KR" sz="1700" dirty="0">
                <a:solidFill>
                  <a:srgbClr val="FF0000"/>
                </a:solidFill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❷ </a:t>
            </a:r>
            <a:r>
              <a:rPr lang="en-US" altLang="ko-KR" sz="1700" dirty="0">
                <a:solidFill>
                  <a:srgbClr val="FF0000"/>
                </a:solidFill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ARP Request</a:t>
            </a:r>
            <a:endParaRPr lang="ko-KR" altLang="en-US" sz="1700" dirty="0">
              <a:solidFill>
                <a:srgbClr val="FF0000"/>
              </a:solidFill>
              <a:latin typeface="함초롬바탕" panose="02030504000101010101" pitchFamily="18" charset="-127"/>
              <a:ea typeface="함초롬바탕" panose="02030504000101010101" pitchFamily="18" charset="-127"/>
              <a:cs typeface="함초롬바탕" panose="02030504000101010101" pitchFamily="18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>
          <a:xfrm>
            <a:off x="9106266" y="6393306"/>
            <a:ext cx="2743200" cy="365125"/>
          </a:xfrm>
        </p:spPr>
        <p:txBody>
          <a:bodyPr/>
          <a:lstStyle/>
          <a:p>
            <a:fld id="{7B2209E9-2AE8-42A0-AB53-D13299BB30AF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0F1AE12-CE92-5EAF-D456-D7117FAACBB9}"/>
              </a:ext>
            </a:extLst>
          </p:cNvPr>
          <p:cNvSpPr txBox="1"/>
          <p:nvPr/>
        </p:nvSpPr>
        <p:spPr>
          <a:xfrm>
            <a:off x="691197" y="459118"/>
            <a:ext cx="36349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1) ARP request/reply</a:t>
            </a:r>
            <a:endParaRPr lang="ko-KR" alt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71161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자유형 23"/>
          <p:cNvSpPr/>
          <p:nvPr/>
        </p:nvSpPr>
        <p:spPr>
          <a:xfrm>
            <a:off x="3480693" y="3507364"/>
            <a:ext cx="5818095" cy="1244274"/>
          </a:xfrm>
          <a:custGeom>
            <a:avLst/>
            <a:gdLst>
              <a:gd name="connsiteX0" fmla="*/ 0 w 5818095"/>
              <a:gd name="connsiteY0" fmla="*/ 0 h 2608729"/>
              <a:gd name="connsiteX1" fmla="*/ 3299012 w 5818095"/>
              <a:gd name="connsiteY1" fmla="*/ 0 h 2608729"/>
              <a:gd name="connsiteX2" fmla="*/ 3307977 w 5818095"/>
              <a:gd name="connsiteY2" fmla="*/ 2608729 h 2608729"/>
              <a:gd name="connsiteX3" fmla="*/ 5818095 w 5818095"/>
              <a:gd name="connsiteY3" fmla="*/ 2608729 h 26087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818095" h="2608729">
                <a:moveTo>
                  <a:pt x="0" y="0"/>
                </a:moveTo>
                <a:lnTo>
                  <a:pt x="3299012" y="0"/>
                </a:lnTo>
                <a:cubicBezTo>
                  <a:pt x="3302000" y="869576"/>
                  <a:pt x="3304989" y="1739153"/>
                  <a:pt x="3307977" y="2608729"/>
                </a:cubicBezTo>
                <a:lnTo>
                  <a:pt x="5818095" y="2608729"/>
                </a:lnTo>
              </a:path>
            </a:pathLst>
          </a:cu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07776" y="2919553"/>
            <a:ext cx="1031228" cy="1252345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98787" y="4361450"/>
            <a:ext cx="1304496" cy="104942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481991" y="3168811"/>
            <a:ext cx="54027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Server</a:t>
            </a:r>
            <a:endParaRPr lang="ko-KR" altLang="en-US" sz="16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9356872" y="4435330"/>
            <a:ext cx="8262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Client</a:t>
            </a:r>
            <a:endParaRPr lang="ko-KR" altLang="en-US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직사각형 15"/>
          <p:cNvSpPr/>
          <p:nvPr/>
        </p:nvSpPr>
        <p:spPr>
          <a:xfrm>
            <a:off x="7691909" y="3556748"/>
            <a:ext cx="2932755" cy="71495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500" b="1" dirty="0">
                <a:solidFill>
                  <a:srgbClr val="FF0000"/>
                </a:solidFill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❸</a:t>
            </a:r>
            <a:r>
              <a:rPr lang="en-US" altLang="ko-KR" sz="1500" b="1" dirty="0">
                <a:solidFill>
                  <a:srgbClr val="FF0000"/>
                </a:solidFill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 </a:t>
            </a:r>
            <a:r>
              <a:rPr lang="en-US" altLang="ko-KR" sz="15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192.168.1.20   2222.2222.2222</a:t>
            </a:r>
            <a:endParaRPr lang="ko-KR" altLang="en-US" sz="15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9075478" y="3236865"/>
            <a:ext cx="155036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ARP Cache Table  </a:t>
            </a:r>
            <a:endParaRPr lang="ko-KR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31" name="표 3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78087277"/>
              </p:ext>
            </p:extLst>
          </p:nvPr>
        </p:nvGraphicFramePr>
        <p:xfrm>
          <a:off x="3439004" y="5979000"/>
          <a:ext cx="7206862" cy="2743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7506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804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7460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3722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8869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0180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66141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b="1" dirty="0">
                          <a:solidFill>
                            <a:srgbClr val="FF0000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222.2222.2222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1111. 1111.1111</a:t>
                      </a:r>
                      <a:endParaRPr lang="ko-KR" altLang="en-US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192.168.1.10</a:t>
                      </a:r>
                      <a:endParaRPr lang="ko-KR" altLang="en-US" sz="12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>
                          <a:solidFill>
                            <a:srgbClr val="FF0000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192.168.1.20</a:t>
                      </a:r>
                      <a:endParaRPr lang="ko-KR" altLang="en-US" sz="1200" b="1" dirty="0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50030</a:t>
                      </a:r>
                      <a:endParaRPr lang="ko-KR" altLang="en-US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80</a:t>
                      </a:r>
                      <a:endParaRPr lang="ko-KR" altLang="en-US" sz="12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Get /www.test.com</a:t>
                      </a:r>
                      <a:endParaRPr lang="ko-KR" altLang="en-US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3360740" y="5721386"/>
            <a:ext cx="69349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      수</a:t>
            </a:r>
            <a:r>
              <a:rPr lang="en-US" altLang="ko-KR" sz="12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MAC</a:t>
            </a:r>
            <a:r>
              <a:rPr lang="en-US" altLang="ko-KR" sz="12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               </a:t>
            </a:r>
            <a:r>
              <a:rPr lang="ko-KR" altLang="en-US" sz="12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송</a:t>
            </a:r>
            <a:r>
              <a:rPr lang="en-US" altLang="ko-KR" sz="12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MAC</a:t>
            </a:r>
            <a:r>
              <a:rPr lang="en-US" altLang="ko-KR" sz="12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                 </a:t>
            </a:r>
            <a:r>
              <a:rPr lang="ko-KR" altLang="en-US" sz="12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송</a:t>
            </a:r>
            <a:r>
              <a:rPr lang="en-US" altLang="ko-KR" sz="12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IP</a:t>
            </a:r>
            <a:r>
              <a:rPr lang="en-US" altLang="ko-KR" sz="12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                   </a:t>
            </a:r>
            <a:r>
              <a:rPr lang="ko-KR" altLang="en-US" sz="12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수</a:t>
            </a:r>
            <a:r>
              <a:rPr lang="en-US" altLang="ko-KR" sz="12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IP</a:t>
            </a:r>
            <a:r>
              <a:rPr lang="en-US" altLang="ko-KR" sz="12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        </a:t>
            </a:r>
            <a:r>
              <a:rPr lang="ko-KR" altLang="en-US" sz="12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송</a:t>
            </a:r>
            <a:r>
              <a:rPr lang="en-US" altLang="ko-KR" sz="12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Port</a:t>
            </a:r>
            <a:r>
              <a:rPr lang="en-US" altLang="ko-KR" sz="12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   </a:t>
            </a:r>
            <a:r>
              <a:rPr lang="ko-KR" altLang="en-US" sz="12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수</a:t>
            </a:r>
            <a:r>
              <a:rPr lang="en-US" altLang="ko-KR" sz="12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Port</a:t>
            </a:r>
            <a:r>
              <a:rPr lang="en-US" altLang="ko-KR" sz="12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         </a:t>
            </a:r>
            <a:r>
              <a:rPr lang="ko-KR" altLang="en-US" sz="1200" dirty="0" err="1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전송데이타</a:t>
            </a:r>
            <a:r>
              <a:rPr lang="ko-KR" altLang="en-US" sz="12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 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5753" y="4764546"/>
            <a:ext cx="148303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IP     192.168.1.10</a:t>
            </a:r>
          </a:p>
          <a:p>
            <a:r>
              <a:rPr lang="en-US" altLang="ko-KR" sz="12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SM    255.255.255.0</a:t>
            </a:r>
          </a:p>
          <a:p>
            <a:r>
              <a:rPr lang="en-US" altLang="ko-KR" sz="12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MAC1111.1111.1111</a:t>
            </a:r>
            <a:endParaRPr lang="ko-KR" altLang="en-US" sz="1200" dirty="0">
              <a:latin typeface="Times New Roman" panose="02020603050405020304" pitchFamily="18" charset="0"/>
              <a:ea typeface="함초롬바탕" panose="02030504000101010101" pitchFamily="18" charset="-127"/>
              <a:cs typeface="Times New Roman" panose="02020603050405020304" pitchFamily="18" charset="0"/>
            </a:endParaRPr>
          </a:p>
        </p:txBody>
      </p:sp>
      <p:graphicFrame>
        <p:nvGraphicFramePr>
          <p:cNvPr id="37" name="표 3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9060389"/>
              </p:ext>
            </p:extLst>
          </p:nvPr>
        </p:nvGraphicFramePr>
        <p:xfrm>
          <a:off x="2074914" y="1501804"/>
          <a:ext cx="5762948" cy="457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7045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26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0157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82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006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>
                          <a:latin typeface="Times New Roman" panose="02020603050405020304" pitchFamily="18" charset="0"/>
                          <a:ea typeface="함초롬바탕" panose="02030504000101010101" pitchFamily="18" charset="-127"/>
                          <a:cs typeface="Times New Roman" panose="02020603050405020304" pitchFamily="18" charset="0"/>
                        </a:rPr>
                        <a:t>2222.2222.2222 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/192.168.1.20</a:t>
                      </a: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1111.1111.1111 /192.168.1.10</a:t>
                      </a:r>
                      <a:endParaRPr lang="en-US" altLang="ko-KR" sz="12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함초롬바탕" panose="02030504000101010101" pitchFamily="18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0x0806</a:t>
                      </a:r>
                      <a:endParaRPr lang="ko-KR" altLang="en-US" sz="13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>
                          <a:latin typeface="Times New Roman" panose="02020603050405020304" pitchFamily="18" charset="0"/>
                          <a:ea typeface="함초롬바탕" panose="02030504000101010101" pitchFamily="18" charset="-127"/>
                          <a:cs typeface="Times New Roman" panose="02020603050405020304" pitchFamily="18" charset="0"/>
                        </a:rPr>
                        <a:t>2222.2222.2222</a:t>
                      </a:r>
                      <a:endParaRPr lang="ko-KR" altLang="en-US" sz="1200" dirty="0">
                        <a:latin typeface="Times New Roman" panose="02020603050405020304" pitchFamily="18" charset="0"/>
                        <a:ea typeface="함초롬바탕" panose="02030504000101010101" pitchFamily="18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1111.1111.1111</a:t>
                      </a:r>
                      <a:endParaRPr lang="ko-KR" altLang="en-US" sz="1200" b="1" dirty="0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pSp>
        <p:nvGrpSpPr>
          <p:cNvPr id="34" name="그룹 33"/>
          <p:cNvGrpSpPr/>
          <p:nvPr/>
        </p:nvGrpSpPr>
        <p:grpSpPr>
          <a:xfrm>
            <a:off x="6040923" y="3279760"/>
            <a:ext cx="1207816" cy="476937"/>
            <a:chOff x="2610322" y="5109168"/>
            <a:chExt cx="1495425" cy="742950"/>
          </a:xfrm>
        </p:grpSpPr>
        <p:sp>
          <p:nvSpPr>
            <p:cNvPr id="40" name="AutoShape 26"/>
            <p:cNvSpPr>
              <a:spLocks noChangeArrowheads="1"/>
            </p:cNvSpPr>
            <p:nvPr/>
          </p:nvSpPr>
          <p:spPr bwMode="auto">
            <a:xfrm>
              <a:off x="2610322" y="5109168"/>
              <a:ext cx="1495425" cy="742950"/>
            </a:xfrm>
            <a:prstGeom prst="cube">
              <a:avLst>
                <a:gd name="adj" fmla="val 55426"/>
              </a:avLst>
            </a:prstGeom>
            <a:gradFill rotWithShape="1">
              <a:gsLst>
                <a:gs pos="0">
                  <a:srgbClr val="EAEAEA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rgbClr val="777777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endParaRPr lang="ko-KR" altLang="en-US" sz="1600" kern="0">
                <a:solidFill>
                  <a:sysClr val="windowText" lastClr="000000"/>
                </a:solidFill>
                <a:latin typeface="Times New Roman" pitchFamily="18" charset="0"/>
                <a:cs typeface="Times New Roman" pitchFamily="18" charset="0"/>
              </a:endParaRPr>
            </a:p>
          </p:txBody>
        </p:sp>
        <p:sp>
          <p:nvSpPr>
            <p:cNvPr id="41" name="WordArt 28"/>
            <p:cNvSpPr>
              <a:spLocks noChangeArrowheads="1" noChangeShapeType="1" noTextEdit="1"/>
            </p:cNvSpPr>
            <p:nvPr/>
          </p:nvSpPr>
          <p:spPr bwMode="auto">
            <a:xfrm>
              <a:off x="2630926" y="5575432"/>
              <a:ext cx="1003300" cy="261937"/>
            </a:xfrm>
            <a:prstGeom prst="rect">
              <a:avLst/>
            </a:prstGeom>
          </p:spPr>
          <p:txBody>
            <a:bodyPr wrap="none" fromWordArt="1">
              <a:prstTxWarp prst="textPlain">
                <a:avLst>
                  <a:gd name="adj" fmla="val 50000"/>
                </a:avLst>
              </a:prstTxWarp>
            </a:bodyPr>
            <a:lstStyle/>
            <a:p>
              <a:pPr algn="ctr">
                <a:buNone/>
              </a:pPr>
              <a:r>
                <a:rPr lang="en-US" altLang="ko-KR" sz="1600" kern="10" dirty="0">
                  <a:ln w="9525">
                    <a:solidFill>
                      <a:srgbClr val="808080"/>
                    </a:solidFill>
                    <a:round/>
                    <a:headEnd/>
                    <a:tailEnd/>
                  </a:ln>
                  <a:solidFill>
                    <a:srgbClr val="808080"/>
                  </a:solidFill>
                  <a:latin typeface="Times New Roman" pitchFamily="18" charset="0"/>
                  <a:cs typeface="Times New Roman" pitchFamily="18" charset="0"/>
                </a:rPr>
                <a:t>SWITCH</a:t>
              </a:r>
              <a:endParaRPr lang="ko-KR" altLang="en-US" sz="1600" kern="10" dirty="0">
                <a:ln w="9525">
                  <a:solidFill>
                    <a:srgbClr val="808080"/>
                  </a:solidFill>
                  <a:round/>
                  <a:headEnd/>
                  <a:tailEnd/>
                </a:ln>
                <a:solidFill>
                  <a:srgbClr val="808080"/>
                </a:solidFill>
                <a:latin typeface="Times New Roman" pitchFamily="18" charset="0"/>
                <a:cs typeface="Times New Roman" pitchFamily="18" charset="0"/>
              </a:endParaRPr>
            </a:p>
          </p:txBody>
        </p:sp>
        <p:sp>
          <p:nvSpPr>
            <p:cNvPr id="42" name="Freeform 29"/>
            <p:cNvSpPr>
              <a:spLocks/>
            </p:cNvSpPr>
            <p:nvPr/>
          </p:nvSpPr>
          <p:spPr bwMode="auto">
            <a:xfrm>
              <a:off x="2705237" y="5139406"/>
              <a:ext cx="1228725" cy="357188"/>
            </a:xfrm>
            <a:custGeom>
              <a:avLst/>
              <a:gdLst/>
              <a:ahLst/>
              <a:cxnLst>
                <a:cxn ang="0">
                  <a:pos x="599" y="140"/>
                </a:cxn>
                <a:cxn ang="0">
                  <a:pos x="877" y="270"/>
                </a:cxn>
                <a:cxn ang="0">
                  <a:pos x="964" y="177"/>
                </a:cxn>
                <a:cxn ang="0">
                  <a:pos x="1393" y="183"/>
                </a:cxn>
                <a:cxn ang="0">
                  <a:pos x="1527" y="459"/>
                </a:cxn>
                <a:cxn ang="0">
                  <a:pos x="856" y="727"/>
                </a:cxn>
                <a:cxn ang="0">
                  <a:pos x="436" y="721"/>
                </a:cxn>
                <a:cxn ang="0">
                  <a:pos x="537" y="615"/>
                </a:cxn>
                <a:cxn ang="0">
                  <a:pos x="0" y="755"/>
                </a:cxn>
                <a:cxn ang="0">
                  <a:pos x="247" y="906"/>
                </a:cxn>
                <a:cxn ang="0">
                  <a:pos x="337" y="804"/>
                </a:cxn>
                <a:cxn ang="0">
                  <a:pos x="973" y="800"/>
                </a:cxn>
                <a:cxn ang="0">
                  <a:pos x="1570" y="552"/>
                </a:cxn>
                <a:cxn ang="0">
                  <a:pos x="1663" y="810"/>
                </a:cxn>
                <a:cxn ang="0">
                  <a:pos x="2281" y="807"/>
                </a:cxn>
                <a:cxn ang="0">
                  <a:pos x="2188" y="900"/>
                </a:cxn>
                <a:cxn ang="0">
                  <a:pos x="2707" y="772"/>
                </a:cxn>
                <a:cxn ang="0">
                  <a:pos x="2467" y="624"/>
                </a:cxn>
                <a:cxn ang="0">
                  <a:pos x="2359" y="726"/>
                </a:cxn>
                <a:cxn ang="0">
                  <a:pos x="1915" y="720"/>
                </a:cxn>
                <a:cxn ang="0">
                  <a:pos x="1812" y="447"/>
                </a:cxn>
                <a:cxn ang="0">
                  <a:pos x="2438" y="190"/>
                </a:cxn>
                <a:cxn ang="0">
                  <a:pos x="2899" y="192"/>
                </a:cxn>
                <a:cxn ang="0">
                  <a:pos x="2815" y="276"/>
                </a:cxn>
                <a:cxn ang="0">
                  <a:pos x="3328" y="151"/>
                </a:cxn>
                <a:cxn ang="0">
                  <a:pos x="3085" y="0"/>
                </a:cxn>
                <a:cxn ang="0">
                  <a:pos x="2974" y="114"/>
                </a:cxn>
                <a:cxn ang="0">
                  <a:pos x="2338" y="106"/>
                </a:cxn>
                <a:cxn ang="0">
                  <a:pos x="1762" y="352"/>
                </a:cxn>
                <a:cxn ang="0">
                  <a:pos x="1667" y="112"/>
                </a:cxn>
                <a:cxn ang="0">
                  <a:pos x="1046" y="106"/>
                </a:cxn>
                <a:cxn ang="0">
                  <a:pos x="1147" y="11"/>
                </a:cxn>
                <a:cxn ang="0">
                  <a:pos x="599" y="140"/>
                </a:cxn>
              </a:cxnLst>
              <a:rect l="0" t="0" r="r" b="b"/>
              <a:pathLst>
                <a:path w="3328" h="906">
                  <a:moveTo>
                    <a:pt x="599" y="140"/>
                  </a:moveTo>
                  <a:lnTo>
                    <a:pt x="877" y="270"/>
                  </a:lnTo>
                  <a:lnTo>
                    <a:pt x="964" y="177"/>
                  </a:lnTo>
                  <a:lnTo>
                    <a:pt x="1393" y="183"/>
                  </a:lnTo>
                  <a:lnTo>
                    <a:pt x="1527" y="459"/>
                  </a:lnTo>
                  <a:lnTo>
                    <a:pt x="856" y="727"/>
                  </a:lnTo>
                  <a:lnTo>
                    <a:pt x="436" y="721"/>
                  </a:lnTo>
                  <a:lnTo>
                    <a:pt x="537" y="615"/>
                  </a:lnTo>
                  <a:lnTo>
                    <a:pt x="0" y="755"/>
                  </a:lnTo>
                  <a:lnTo>
                    <a:pt x="247" y="906"/>
                  </a:lnTo>
                  <a:lnTo>
                    <a:pt x="337" y="804"/>
                  </a:lnTo>
                  <a:lnTo>
                    <a:pt x="973" y="800"/>
                  </a:lnTo>
                  <a:lnTo>
                    <a:pt x="1570" y="552"/>
                  </a:lnTo>
                  <a:lnTo>
                    <a:pt x="1663" y="810"/>
                  </a:lnTo>
                  <a:lnTo>
                    <a:pt x="2281" y="807"/>
                  </a:lnTo>
                  <a:lnTo>
                    <a:pt x="2188" y="900"/>
                  </a:lnTo>
                  <a:lnTo>
                    <a:pt x="2707" y="772"/>
                  </a:lnTo>
                  <a:lnTo>
                    <a:pt x="2467" y="624"/>
                  </a:lnTo>
                  <a:lnTo>
                    <a:pt x="2359" y="726"/>
                  </a:lnTo>
                  <a:lnTo>
                    <a:pt x="1915" y="720"/>
                  </a:lnTo>
                  <a:lnTo>
                    <a:pt x="1812" y="447"/>
                  </a:lnTo>
                  <a:lnTo>
                    <a:pt x="2438" y="190"/>
                  </a:lnTo>
                  <a:lnTo>
                    <a:pt x="2899" y="192"/>
                  </a:lnTo>
                  <a:lnTo>
                    <a:pt x="2815" y="276"/>
                  </a:lnTo>
                  <a:lnTo>
                    <a:pt x="3328" y="151"/>
                  </a:lnTo>
                  <a:lnTo>
                    <a:pt x="3085" y="0"/>
                  </a:lnTo>
                  <a:lnTo>
                    <a:pt x="2974" y="114"/>
                  </a:lnTo>
                  <a:lnTo>
                    <a:pt x="2338" y="106"/>
                  </a:lnTo>
                  <a:lnTo>
                    <a:pt x="1762" y="352"/>
                  </a:lnTo>
                  <a:lnTo>
                    <a:pt x="1667" y="112"/>
                  </a:lnTo>
                  <a:lnTo>
                    <a:pt x="1046" y="106"/>
                  </a:lnTo>
                  <a:lnTo>
                    <a:pt x="1147" y="11"/>
                  </a:lnTo>
                  <a:lnTo>
                    <a:pt x="599" y="140"/>
                  </a:lnTo>
                  <a:close/>
                </a:path>
              </a:pathLst>
            </a:custGeom>
            <a:solidFill>
              <a:srgbClr val="FFFFFF"/>
            </a:solidFill>
            <a:ln w="9525">
              <a:solidFill>
                <a:srgbClr val="4D4D4D"/>
              </a:solidFill>
              <a:round/>
              <a:headEnd type="none" w="med" len="med"/>
              <a:tailEnd type="none" w="med" len="med"/>
            </a:ln>
            <a:effectLst>
              <a:outerShdw dist="17961" dir="2700000" algn="ctr" rotWithShape="0">
                <a:srgbClr val="4D4D4D">
                  <a:alpha val="50000"/>
                </a:srgbClr>
              </a:outerShdw>
            </a:effectLst>
          </p:spPr>
          <p:txBody>
            <a:bodyPr/>
            <a:lstStyle/>
            <a:p>
              <a:pPr>
                <a:defRPr/>
              </a:pPr>
              <a:endParaRPr lang="ko-KR" altLang="en-US" sz="1600" kern="0">
                <a:solidFill>
                  <a:sysClr val="windowText" lastClr="000000"/>
                </a:solidFill>
                <a:latin typeface="Times New Roman" pitchFamily="18" charset="0"/>
                <a:cs typeface="Times New Roman" pitchFamily="18" charset="0"/>
              </a:endParaRPr>
            </a:p>
          </p:txBody>
        </p:sp>
      </p:grpSp>
      <p:sp>
        <p:nvSpPr>
          <p:cNvPr id="43" name="TextBox 42"/>
          <p:cNvSpPr txBox="1"/>
          <p:nvPr/>
        </p:nvSpPr>
        <p:spPr>
          <a:xfrm>
            <a:off x="2286336" y="4239832"/>
            <a:ext cx="178548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IP          192.168.1.20</a:t>
            </a:r>
          </a:p>
          <a:p>
            <a:r>
              <a:rPr lang="en-US" altLang="ko-KR" sz="12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SM        255.255.255.0</a:t>
            </a:r>
          </a:p>
          <a:p>
            <a:r>
              <a:rPr lang="en-US" altLang="ko-KR" sz="12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MAC     2222.2222.2222</a:t>
            </a:r>
          </a:p>
          <a:p>
            <a:r>
              <a:rPr lang="en-US" altLang="ko-KR" sz="12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BMAC  FFFF.FFFF.FFFF</a:t>
            </a:r>
          </a:p>
        </p:txBody>
      </p:sp>
      <p:sp>
        <p:nvSpPr>
          <p:cNvPr id="46" name="직사각형 45"/>
          <p:cNvSpPr/>
          <p:nvPr/>
        </p:nvSpPr>
        <p:spPr>
          <a:xfrm>
            <a:off x="2074914" y="2155186"/>
            <a:ext cx="2837937" cy="73760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>
                <a:solidFill>
                  <a:srgbClr val="FF0000"/>
                </a:solidFill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❶ </a:t>
            </a:r>
            <a:r>
              <a:rPr lang="en-US" altLang="ko-KR" sz="15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192.168.1.10   1111.1111.1111</a:t>
            </a:r>
            <a:endParaRPr lang="ko-KR" altLang="en-US" sz="15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507366" y="2523988"/>
            <a:ext cx="1643463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ARP Cache Table  </a:t>
            </a:r>
            <a:endParaRPr lang="ko-KR" altLang="en-US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2195094" y="1203043"/>
            <a:ext cx="56128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ARP Header                     </a:t>
            </a:r>
            <a:r>
              <a:rPr lang="en-US" altLang="ko-KR" sz="14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Protocol             </a:t>
            </a:r>
            <a:r>
              <a:rPr lang="ko-KR" altLang="en-US" sz="14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송</a:t>
            </a:r>
            <a:r>
              <a:rPr lang="en-US" altLang="ko-KR" sz="14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MAC</a:t>
            </a:r>
            <a:r>
              <a:rPr lang="ko-KR" altLang="en-US" sz="14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                  수</a:t>
            </a:r>
            <a:r>
              <a:rPr lang="en-US" altLang="ko-KR" sz="14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MAC</a:t>
            </a:r>
            <a:r>
              <a:rPr lang="ko-KR" altLang="en-US" sz="14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 </a:t>
            </a:r>
          </a:p>
        </p:txBody>
      </p:sp>
      <p:sp>
        <p:nvSpPr>
          <p:cNvPr id="27" name="오른쪽 화살표 26"/>
          <p:cNvSpPr/>
          <p:nvPr/>
        </p:nvSpPr>
        <p:spPr>
          <a:xfrm>
            <a:off x="7851827" y="1613098"/>
            <a:ext cx="365843" cy="243149"/>
          </a:xfrm>
          <a:prstGeom prst="righ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TextBox 21"/>
          <p:cNvSpPr txBox="1"/>
          <p:nvPr/>
        </p:nvSpPr>
        <p:spPr>
          <a:xfrm>
            <a:off x="1407975" y="1488450"/>
            <a:ext cx="670376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300" b="1" dirty="0">
                <a:solidFill>
                  <a:srgbClr val="C00000"/>
                </a:solidFill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송신지</a:t>
            </a:r>
            <a:endParaRPr lang="en-US" altLang="ko-KR" sz="1300" b="1" dirty="0">
              <a:solidFill>
                <a:srgbClr val="C00000"/>
              </a:solidFill>
              <a:latin typeface="함초롬바탕" panose="02030504000101010101" pitchFamily="18" charset="-127"/>
              <a:ea typeface="함초롬바탕" panose="02030504000101010101" pitchFamily="18" charset="-127"/>
              <a:cs typeface="함초롬바탕" panose="02030504000101010101" pitchFamily="18" charset="-127"/>
            </a:endParaRPr>
          </a:p>
          <a:p>
            <a:r>
              <a:rPr lang="ko-KR" altLang="en-US" sz="1300" b="1" dirty="0">
                <a:solidFill>
                  <a:srgbClr val="C00000"/>
                </a:solidFill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수신지</a:t>
            </a:r>
          </a:p>
        </p:txBody>
      </p:sp>
      <p:sp>
        <p:nvSpPr>
          <p:cNvPr id="23" name="직사각형 22"/>
          <p:cNvSpPr/>
          <p:nvPr/>
        </p:nvSpPr>
        <p:spPr>
          <a:xfrm>
            <a:off x="8231635" y="1501804"/>
            <a:ext cx="1920095" cy="39626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500" dirty="0">
                <a:solidFill>
                  <a:srgbClr val="FF0000"/>
                </a:solidFill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ARP Reply</a:t>
            </a:r>
            <a:endParaRPr lang="ko-KR" altLang="en-US" sz="1500" dirty="0">
              <a:solidFill>
                <a:srgbClr val="FF0000"/>
              </a:solidFill>
              <a:latin typeface="함초롬바탕" panose="02030504000101010101" pitchFamily="18" charset="-127"/>
              <a:ea typeface="함초롬바탕" panose="02030504000101010101" pitchFamily="18" charset="-127"/>
              <a:cs typeface="함초롬바탕" panose="02030504000101010101" pitchFamily="18" charset="-127"/>
            </a:endParaRPr>
          </a:p>
        </p:txBody>
      </p:sp>
      <p:sp>
        <p:nvSpPr>
          <p:cNvPr id="28" name="직사각형 27"/>
          <p:cNvSpPr/>
          <p:nvPr/>
        </p:nvSpPr>
        <p:spPr>
          <a:xfrm>
            <a:off x="7855764" y="4308977"/>
            <a:ext cx="1920095" cy="39626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500" dirty="0">
                <a:solidFill>
                  <a:srgbClr val="FF0000"/>
                </a:solidFill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❷ </a:t>
            </a:r>
            <a:r>
              <a:rPr lang="en-US" altLang="ko-KR" sz="1500" dirty="0">
                <a:solidFill>
                  <a:srgbClr val="FF0000"/>
                </a:solidFill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ARP Reply</a:t>
            </a:r>
            <a:endParaRPr lang="ko-KR" altLang="en-US" sz="1500" dirty="0">
              <a:solidFill>
                <a:srgbClr val="FF0000"/>
              </a:solidFill>
              <a:latin typeface="함초롬바탕" panose="02030504000101010101" pitchFamily="18" charset="-127"/>
              <a:ea typeface="함초롬바탕" panose="02030504000101010101" pitchFamily="18" charset="-127"/>
              <a:cs typeface="함초롬바탕" panose="02030504000101010101" pitchFamily="18" charset="-127"/>
            </a:endParaRPr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2209E9-2AE8-42A0-AB53-D13299BB30AF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DA11004-DE0B-9D4F-67EB-B4BA7345BCEF}"/>
              </a:ext>
            </a:extLst>
          </p:cNvPr>
          <p:cNvSpPr txBox="1"/>
          <p:nvPr/>
        </p:nvSpPr>
        <p:spPr>
          <a:xfrm>
            <a:off x="746954" y="264255"/>
            <a:ext cx="36349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1) ARP request/reply</a:t>
            </a:r>
            <a:endParaRPr lang="ko-KR" alt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648168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직선 연결선 7"/>
          <p:cNvCxnSpPr/>
          <p:nvPr/>
        </p:nvCxnSpPr>
        <p:spPr>
          <a:xfrm>
            <a:off x="6660622" y="1026023"/>
            <a:ext cx="0" cy="1943638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자유형 23"/>
          <p:cNvSpPr/>
          <p:nvPr/>
        </p:nvSpPr>
        <p:spPr>
          <a:xfrm>
            <a:off x="3494276" y="2723440"/>
            <a:ext cx="5818095" cy="1244274"/>
          </a:xfrm>
          <a:custGeom>
            <a:avLst/>
            <a:gdLst>
              <a:gd name="connsiteX0" fmla="*/ 0 w 5818095"/>
              <a:gd name="connsiteY0" fmla="*/ 0 h 2608729"/>
              <a:gd name="connsiteX1" fmla="*/ 3299012 w 5818095"/>
              <a:gd name="connsiteY1" fmla="*/ 0 h 2608729"/>
              <a:gd name="connsiteX2" fmla="*/ 3307977 w 5818095"/>
              <a:gd name="connsiteY2" fmla="*/ 2608729 h 2608729"/>
              <a:gd name="connsiteX3" fmla="*/ 5818095 w 5818095"/>
              <a:gd name="connsiteY3" fmla="*/ 2608729 h 26087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818095" h="2608729">
                <a:moveTo>
                  <a:pt x="0" y="0"/>
                </a:moveTo>
                <a:lnTo>
                  <a:pt x="3299012" y="0"/>
                </a:lnTo>
                <a:cubicBezTo>
                  <a:pt x="3302000" y="869576"/>
                  <a:pt x="3304989" y="1739153"/>
                  <a:pt x="3307977" y="2608729"/>
                </a:cubicBezTo>
                <a:lnTo>
                  <a:pt x="5818095" y="2608729"/>
                </a:lnTo>
              </a:path>
            </a:pathLst>
          </a:cu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21359" y="2135629"/>
            <a:ext cx="1031228" cy="1252345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12370" y="3577526"/>
            <a:ext cx="1304496" cy="104942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495574" y="2384887"/>
            <a:ext cx="54027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Server</a:t>
            </a:r>
            <a:endParaRPr lang="ko-KR" altLang="en-US" sz="16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9370455" y="3651406"/>
            <a:ext cx="8262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Client</a:t>
            </a:r>
            <a:endParaRPr lang="ko-KR" altLang="en-US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31" name="표 3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00357570"/>
              </p:ext>
            </p:extLst>
          </p:nvPr>
        </p:nvGraphicFramePr>
        <p:xfrm>
          <a:off x="3937444" y="6256146"/>
          <a:ext cx="7087593" cy="2743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121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9057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5681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2006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895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9515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63392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b="1" dirty="0">
                          <a:solidFill>
                            <a:srgbClr val="FF0000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????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1111. 1111.1111</a:t>
                      </a:r>
                      <a:endParaRPr lang="ko-KR" altLang="en-US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192.168.1.10</a:t>
                      </a:r>
                      <a:endParaRPr lang="ko-KR" altLang="en-US" sz="12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>
                          <a:solidFill>
                            <a:srgbClr val="FF0000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192.168.1.20</a:t>
                      </a:r>
                      <a:endParaRPr lang="ko-KR" altLang="en-US" sz="1200" b="1" dirty="0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50030</a:t>
                      </a:r>
                      <a:endParaRPr lang="ko-KR" altLang="en-US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80</a:t>
                      </a:r>
                      <a:endParaRPr lang="ko-KR" altLang="en-US" sz="12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Get /www.test.com</a:t>
                      </a:r>
                      <a:endParaRPr lang="ko-KR" altLang="en-US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4089999" y="5997362"/>
            <a:ext cx="665598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 수</a:t>
            </a:r>
            <a:r>
              <a:rPr lang="en-US" altLang="ko-KR" sz="12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MAC</a:t>
            </a:r>
            <a:r>
              <a:rPr lang="en-US" altLang="ko-KR" sz="12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               </a:t>
            </a:r>
            <a:r>
              <a:rPr lang="ko-KR" altLang="en-US" sz="12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송</a:t>
            </a:r>
            <a:r>
              <a:rPr lang="en-US" altLang="ko-KR" sz="12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MAC</a:t>
            </a:r>
            <a:r>
              <a:rPr lang="en-US" altLang="ko-KR" sz="12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                 </a:t>
            </a:r>
            <a:r>
              <a:rPr lang="ko-KR" altLang="en-US" sz="12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송</a:t>
            </a:r>
            <a:r>
              <a:rPr lang="en-US" altLang="ko-KR" sz="12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IP</a:t>
            </a:r>
            <a:r>
              <a:rPr lang="en-US" altLang="ko-KR" sz="12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                 </a:t>
            </a:r>
            <a:r>
              <a:rPr lang="ko-KR" altLang="en-US" sz="12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수</a:t>
            </a:r>
            <a:r>
              <a:rPr lang="en-US" altLang="ko-KR" sz="12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IP</a:t>
            </a:r>
            <a:r>
              <a:rPr lang="en-US" altLang="ko-KR" sz="12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        </a:t>
            </a:r>
            <a:r>
              <a:rPr lang="ko-KR" altLang="en-US" sz="12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송</a:t>
            </a:r>
            <a:r>
              <a:rPr lang="en-US" altLang="ko-KR" sz="12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Port</a:t>
            </a:r>
            <a:r>
              <a:rPr lang="en-US" altLang="ko-KR" sz="12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   </a:t>
            </a:r>
            <a:r>
              <a:rPr lang="ko-KR" altLang="en-US" sz="12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수</a:t>
            </a:r>
            <a:r>
              <a:rPr lang="en-US" altLang="ko-KR" sz="12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Port</a:t>
            </a:r>
            <a:r>
              <a:rPr lang="en-US" altLang="ko-KR" sz="12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         </a:t>
            </a:r>
            <a:r>
              <a:rPr lang="ko-KR" altLang="en-US" sz="1200" dirty="0" err="1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전송데이타</a:t>
            </a:r>
            <a:r>
              <a:rPr lang="ko-KR" altLang="en-US" sz="12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 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42317" y="4052693"/>
            <a:ext cx="152150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IP       192.168.1.10</a:t>
            </a:r>
          </a:p>
          <a:p>
            <a:r>
              <a:rPr lang="en-US" altLang="ko-KR" sz="12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SM     255.255.255.0</a:t>
            </a:r>
          </a:p>
          <a:p>
            <a:r>
              <a:rPr lang="en-US" altLang="ko-KR" sz="12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MAC 1111.1111.1111</a:t>
            </a:r>
            <a:endParaRPr lang="ko-KR" altLang="en-US" sz="1200" dirty="0">
              <a:latin typeface="Times New Roman" panose="02020603050405020304" pitchFamily="18" charset="0"/>
              <a:ea typeface="함초롬바탕" panose="02030504000101010101" pitchFamily="18" charset="-127"/>
              <a:cs typeface="Times New Roman" panose="02020603050405020304" pitchFamily="18" charset="0"/>
            </a:endParaRPr>
          </a:p>
          <a:p>
            <a:endParaRPr lang="ko-KR" altLang="en-US" sz="1200" dirty="0">
              <a:latin typeface="Times New Roman" panose="02020603050405020304" pitchFamily="18" charset="0"/>
              <a:ea typeface="함초롬바탕" panose="02030504000101010101" pitchFamily="18" charset="-127"/>
              <a:cs typeface="Times New Roman" panose="02020603050405020304" pitchFamily="18" charset="0"/>
            </a:endParaRPr>
          </a:p>
        </p:txBody>
      </p:sp>
      <p:sp>
        <p:nvSpPr>
          <p:cNvPr id="36" name="직사각형 35"/>
          <p:cNvSpPr/>
          <p:nvPr/>
        </p:nvSpPr>
        <p:spPr>
          <a:xfrm>
            <a:off x="4153446" y="4907851"/>
            <a:ext cx="1920095" cy="4367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7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ARP Request</a:t>
            </a:r>
            <a:endParaRPr lang="ko-KR" altLang="en-US" sz="1700" dirty="0">
              <a:latin typeface="함초롬바탕" panose="02030504000101010101" pitchFamily="18" charset="-127"/>
              <a:ea typeface="함초롬바탕" panose="02030504000101010101" pitchFamily="18" charset="-127"/>
              <a:cs typeface="함초롬바탕" panose="02030504000101010101" pitchFamily="18" charset="-127"/>
            </a:endParaRPr>
          </a:p>
        </p:txBody>
      </p:sp>
      <p:graphicFrame>
        <p:nvGraphicFramePr>
          <p:cNvPr id="37" name="표 3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71909216"/>
              </p:ext>
            </p:extLst>
          </p:nvPr>
        </p:nvGraphicFramePr>
        <p:xfrm>
          <a:off x="5458828" y="5283425"/>
          <a:ext cx="5566209" cy="457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1291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057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0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8259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31213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>
                          <a:latin typeface="Times New Roman" panose="02020603050405020304" pitchFamily="18" charset="0"/>
                          <a:ea typeface="함초롬바탕" panose="02030504000101010101" pitchFamily="18" charset="-127"/>
                          <a:cs typeface="Times New Roman" panose="02020603050405020304" pitchFamily="18" charset="0"/>
                        </a:rPr>
                        <a:t>2222.2222.2222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200" dirty="0">
                          <a:latin typeface="Times New Roman" panose="02020603050405020304" pitchFamily="18" charset="0"/>
                          <a:ea typeface="함초롬바탕" panose="02030504000101010101" pitchFamily="18" charset="-127"/>
                          <a:cs typeface="Times New Roman" panose="02020603050405020304" pitchFamily="18" charset="0"/>
                        </a:rPr>
                        <a:t>1111.1111.1111</a:t>
                      </a:r>
                      <a:endParaRPr lang="ko-KR" altLang="en-US" sz="1200" dirty="0">
                        <a:latin typeface="Times New Roman" panose="02020603050405020304" pitchFamily="18" charset="0"/>
                        <a:ea typeface="함초롬바탕" panose="02030504000101010101" pitchFamily="18" charset="-127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0x0806</a:t>
                      </a:r>
                      <a:endParaRPr lang="ko-KR" altLang="en-US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1111.1111.1111 /192.168.1.10</a:t>
                      </a: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>
                          <a:latin typeface="Times New Roman" panose="02020603050405020304" pitchFamily="18" charset="0"/>
                          <a:ea typeface="함초롬바탕" panose="02030504000101010101" pitchFamily="18" charset="-127"/>
                          <a:cs typeface="Times New Roman" panose="02020603050405020304" pitchFamily="18" charset="0"/>
                        </a:rPr>
                        <a:t>2222.2222.2222</a:t>
                      </a:r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함초롬바탕" panose="02030504000101010101" pitchFamily="18" charset="-127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altLang="ko-KR" sz="1200" b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/</a:t>
                      </a:r>
                      <a:r>
                        <a:rPr lang="en-US" altLang="ko-KR" sz="1200" b="1" dirty="0">
                          <a:solidFill>
                            <a:srgbClr val="FF0000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192.168.1.20</a:t>
                      </a:r>
                      <a:endParaRPr lang="ko-KR" altLang="en-US" sz="1200" b="1" dirty="0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8" name="오른쪽 화살표 37"/>
          <p:cNvSpPr/>
          <p:nvPr/>
        </p:nvSpPr>
        <p:spPr>
          <a:xfrm rot="10800000">
            <a:off x="5057910" y="5394564"/>
            <a:ext cx="365843" cy="243149"/>
          </a:xfrm>
          <a:prstGeom prst="rightArrow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4" name="그룹 33"/>
          <p:cNvGrpSpPr/>
          <p:nvPr/>
        </p:nvGrpSpPr>
        <p:grpSpPr>
          <a:xfrm>
            <a:off x="6054506" y="2495836"/>
            <a:ext cx="1207816" cy="476937"/>
            <a:chOff x="2610322" y="5109168"/>
            <a:chExt cx="1495425" cy="742950"/>
          </a:xfrm>
        </p:grpSpPr>
        <p:sp>
          <p:nvSpPr>
            <p:cNvPr id="40" name="AutoShape 26"/>
            <p:cNvSpPr>
              <a:spLocks noChangeArrowheads="1"/>
            </p:cNvSpPr>
            <p:nvPr/>
          </p:nvSpPr>
          <p:spPr bwMode="auto">
            <a:xfrm>
              <a:off x="2610322" y="5109168"/>
              <a:ext cx="1495425" cy="742950"/>
            </a:xfrm>
            <a:prstGeom prst="cube">
              <a:avLst>
                <a:gd name="adj" fmla="val 55426"/>
              </a:avLst>
            </a:prstGeom>
            <a:gradFill rotWithShape="1">
              <a:gsLst>
                <a:gs pos="0">
                  <a:srgbClr val="EAEAEA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rgbClr val="777777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endParaRPr lang="ko-KR" altLang="en-US" sz="1600" kern="0">
                <a:solidFill>
                  <a:sysClr val="windowText" lastClr="000000"/>
                </a:solidFill>
                <a:latin typeface="Times New Roman" pitchFamily="18" charset="0"/>
                <a:cs typeface="Times New Roman" pitchFamily="18" charset="0"/>
              </a:endParaRPr>
            </a:p>
          </p:txBody>
        </p:sp>
        <p:sp>
          <p:nvSpPr>
            <p:cNvPr id="41" name="WordArt 28"/>
            <p:cNvSpPr>
              <a:spLocks noChangeArrowheads="1" noChangeShapeType="1" noTextEdit="1"/>
            </p:cNvSpPr>
            <p:nvPr/>
          </p:nvSpPr>
          <p:spPr bwMode="auto">
            <a:xfrm>
              <a:off x="2630926" y="5575432"/>
              <a:ext cx="1003300" cy="261937"/>
            </a:xfrm>
            <a:prstGeom prst="rect">
              <a:avLst/>
            </a:prstGeom>
          </p:spPr>
          <p:txBody>
            <a:bodyPr wrap="none" fromWordArt="1">
              <a:prstTxWarp prst="textPlain">
                <a:avLst>
                  <a:gd name="adj" fmla="val 50000"/>
                </a:avLst>
              </a:prstTxWarp>
            </a:bodyPr>
            <a:lstStyle/>
            <a:p>
              <a:pPr algn="ctr">
                <a:buNone/>
              </a:pPr>
              <a:r>
                <a:rPr lang="en-US" altLang="ko-KR" sz="1600" kern="10" dirty="0">
                  <a:ln w="9525">
                    <a:solidFill>
                      <a:srgbClr val="808080"/>
                    </a:solidFill>
                    <a:round/>
                    <a:headEnd/>
                    <a:tailEnd/>
                  </a:ln>
                  <a:solidFill>
                    <a:srgbClr val="808080"/>
                  </a:solidFill>
                  <a:latin typeface="Times New Roman" pitchFamily="18" charset="0"/>
                  <a:cs typeface="Times New Roman" pitchFamily="18" charset="0"/>
                </a:rPr>
                <a:t>SWITCH</a:t>
              </a:r>
              <a:endParaRPr lang="ko-KR" altLang="en-US" sz="1600" kern="10" dirty="0">
                <a:ln w="9525">
                  <a:solidFill>
                    <a:srgbClr val="808080"/>
                  </a:solidFill>
                  <a:round/>
                  <a:headEnd/>
                  <a:tailEnd/>
                </a:ln>
                <a:solidFill>
                  <a:srgbClr val="808080"/>
                </a:solidFill>
                <a:latin typeface="Times New Roman" pitchFamily="18" charset="0"/>
                <a:cs typeface="Times New Roman" pitchFamily="18" charset="0"/>
              </a:endParaRPr>
            </a:p>
          </p:txBody>
        </p:sp>
        <p:sp>
          <p:nvSpPr>
            <p:cNvPr id="42" name="Freeform 29"/>
            <p:cNvSpPr>
              <a:spLocks/>
            </p:cNvSpPr>
            <p:nvPr/>
          </p:nvSpPr>
          <p:spPr bwMode="auto">
            <a:xfrm>
              <a:off x="2705237" y="5139406"/>
              <a:ext cx="1228725" cy="357188"/>
            </a:xfrm>
            <a:custGeom>
              <a:avLst/>
              <a:gdLst/>
              <a:ahLst/>
              <a:cxnLst>
                <a:cxn ang="0">
                  <a:pos x="599" y="140"/>
                </a:cxn>
                <a:cxn ang="0">
                  <a:pos x="877" y="270"/>
                </a:cxn>
                <a:cxn ang="0">
                  <a:pos x="964" y="177"/>
                </a:cxn>
                <a:cxn ang="0">
                  <a:pos x="1393" y="183"/>
                </a:cxn>
                <a:cxn ang="0">
                  <a:pos x="1527" y="459"/>
                </a:cxn>
                <a:cxn ang="0">
                  <a:pos x="856" y="727"/>
                </a:cxn>
                <a:cxn ang="0">
                  <a:pos x="436" y="721"/>
                </a:cxn>
                <a:cxn ang="0">
                  <a:pos x="537" y="615"/>
                </a:cxn>
                <a:cxn ang="0">
                  <a:pos x="0" y="755"/>
                </a:cxn>
                <a:cxn ang="0">
                  <a:pos x="247" y="906"/>
                </a:cxn>
                <a:cxn ang="0">
                  <a:pos x="337" y="804"/>
                </a:cxn>
                <a:cxn ang="0">
                  <a:pos x="973" y="800"/>
                </a:cxn>
                <a:cxn ang="0">
                  <a:pos x="1570" y="552"/>
                </a:cxn>
                <a:cxn ang="0">
                  <a:pos x="1663" y="810"/>
                </a:cxn>
                <a:cxn ang="0">
                  <a:pos x="2281" y="807"/>
                </a:cxn>
                <a:cxn ang="0">
                  <a:pos x="2188" y="900"/>
                </a:cxn>
                <a:cxn ang="0">
                  <a:pos x="2707" y="772"/>
                </a:cxn>
                <a:cxn ang="0">
                  <a:pos x="2467" y="624"/>
                </a:cxn>
                <a:cxn ang="0">
                  <a:pos x="2359" y="726"/>
                </a:cxn>
                <a:cxn ang="0">
                  <a:pos x="1915" y="720"/>
                </a:cxn>
                <a:cxn ang="0">
                  <a:pos x="1812" y="447"/>
                </a:cxn>
                <a:cxn ang="0">
                  <a:pos x="2438" y="190"/>
                </a:cxn>
                <a:cxn ang="0">
                  <a:pos x="2899" y="192"/>
                </a:cxn>
                <a:cxn ang="0">
                  <a:pos x="2815" y="276"/>
                </a:cxn>
                <a:cxn ang="0">
                  <a:pos x="3328" y="151"/>
                </a:cxn>
                <a:cxn ang="0">
                  <a:pos x="3085" y="0"/>
                </a:cxn>
                <a:cxn ang="0">
                  <a:pos x="2974" y="114"/>
                </a:cxn>
                <a:cxn ang="0">
                  <a:pos x="2338" y="106"/>
                </a:cxn>
                <a:cxn ang="0">
                  <a:pos x="1762" y="352"/>
                </a:cxn>
                <a:cxn ang="0">
                  <a:pos x="1667" y="112"/>
                </a:cxn>
                <a:cxn ang="0">
                  <a:pos x="1046" y="106"/>
                </a:cxn>
                <a:cxn ang="0">
                  <a:pos x="1147" y="11"/>
                </a:cxn>
                <a:cxn ang="0">
                  <a:pos x="599" y="140"/>
                </a:cxn>
              </a:cxnLst>
              <a:rect l="0" t="0" r="r" b="b"/>
              <a:pathLst>
                <a:path w="3328" h="906">
                  <a:moveTo>
                    <a:pt x="599" y="140"/>
                  </a:moveTo>
                  <a:lnTo>
                    <a:pt x="877" y="270"/>
                  </a:lnTo>
                  <a:lnTo>
                    <a:pt x="964" y="177"/>
                  </a:lnTo>
                  <a:lnTo>
                    <a:pt x="1393" y="183"/>
                  </a:lnTo>
                  <a:lnTo>
                    <a:pt x="1527" y="459"/>
                  </a:lnTo>
                  <a:lnTo>
                    <a:pt x="856" y="727"/>
                  </a:lnTo>
                  <a:lnTo>
                    <a:pt x="436" y="721"/>
                  </a:lnTo>
                  <a:lnTo>
                    <a:pt x="537" y="615"/>
                  </a:lnTo>
                  <a:lnTo>
                    <a:pt x="0" y="755"/>
                  </a:lnTo>
                  <a:lnTo>
                    <a:pt x="247" y="906"/>
                  </a:lnTo>
                  <a:lnTo>
                    <a:pt x="337" y="804"/>
                  </a:lnTo>
                  <a:lnTo>
                    <a:pt x="973" y="800"/>
                  </a:lnTo>
                  <a:lnTo>
                    <a:pt x="1570" y="552"/>
                  </a:lnTo>
                  <a:lnTo>
                    <a:pt x="1663" y="810"/>
                  </a:lnTo>
                  <a:lnTo>
                    <a:pt x="2281" y="807"/>
                  </a:lnTo>
                  <a:lnTo>
                    <a:pt x="2188" y="900"/>
                  </a:lnTo>
                  <a:lnTo>
                    <a:pt x="2707" y="772"/>
                  </a:lnTo>
                  <a:lnTo>
                    <a:pt x="2467" y="624"/>
                  </a:lnTo>
                  <a:lnTo>
                    <a:pt x="2359" y="726"/>
                  </a:lnTo>
                  <a:lnTo>
                    <a:pt x="1915" y="720"/>
                  </a:lnTo>
                  <a:lnTo>
                    <a:pt x="1812" y="447"/>
                  </a:lnTo>
                  <a:lnTo>
                    <a:pt x="2438" y="190"/>
                  </a:lnTo>
                  <a:lnTo>
                    <a:pt x="2899" y="192"/>
                  </a:lnTo>
                  <a:lnTo>
                    <a:pt x="2815" y="276"/>
                  </a:lnTo>
                  <a:lnTo>
                    <a:pt x="3328" y="151"/>
                  </a:lnTo>
                  <a:lnTo>
                    <a:pt x="3085" y="0"/>
                  </a:lnTo>
                  <a:lnTo>
                    <a:pt x="2974" y="114"/>
                  </a:lnTo>
                  <a:lnTo>
                    <a:pt x="2338" y="106"/>
                  </a:lnTo>
                  <a:lnTo>
                    <a:pt x="1762" y="352"/>
                  </a:lnTo>
                  <a:lnTo>
                    <a:pt x="1667" y="112"/>
                  </a:lnTo>
                  <a:lnTo>
                    <a:pt x="1046" y="106"/>
                  </a:lnTo>
                  <a:lnTo>
                    <a:pt x="1147" y="11"/>
                  </a:lnTo>
                  <a:lnTo>
                    <a:pt x="599" y="140"/>
                  </a:lnTo>
                  <a:close/>
                </a:path>
              </a:pathLst>
            </a:custGeom>
            <a:solidFill>
              <a:srgbClr val="FFFFFF"/>
            </a:solidFill>
            <a:ln w="9525">
              <a:solidFill>
                <a:srgbClr val="4D4D4D"/>
              </a:solidFill>
              <a:round/>
              <a:headEnd type="none" w="med" len="med"/>
              <a:tailEnd type="none" w="med" len="med"/>
            </a:ln>
            <a:effectLst>
              <a:outerShdw dist="17961" dir="2700000" algn="ctr" rotWithShape="0">
                <a:srgbClr val="4D4D4D">
                  <a:alpha val="50000"/>
                </a:srgbClr>
              </a:outerShdw>
            </a:effectLst>
          </p:spPr>
          <p:txBody>
            <a:bodyPr/>
            <a:lstStyle/>
            <a:p>
              <a:pPr>
                <a:defRPr/>
              </a:pPr>
              <a:endParaRPr lang="ko-KR" altLang="en-US" sz="1600" kern="0">
                <a:solidFill>
                  <a:sysClr val="windowText" lastClr="000000"/>
                </a:solidFill>
                <a:latin typeface="Times New Roman" pitchFamily="18" charset="0"/>
                <a:cs typeface="Times New Roman" pitchFamily="18" charset="0"/>
              </a:endParaRPr>
            </a:p>
          </p:txBody>
        </p:sp>
      </p:grpSp>
      <p:sp>
        <p:nvSpPr>
          <p:cNvPr id="43" name="TextBox 42"/>
          <p:cNvSpPr txBox="1"/>
          <p:nvPr/>
        </p:nvSpPr>
        <p:spPr>
          <a:xfrm>
            <a:off x="2299919" y="3455908"/>
            <a:ext cx="178548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IP          192.168.1.20</a:t>
            </a:r>
          </a:p>
          <a:p>
            <a:r>
              <a:rPr lang="en-US" altLang="ko-KR" sz="12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SM        255.255.255.0</a:t>
            </a:r>
          </a:p>
          <a:p>
            <a:r>
              <a:rPr lang="en-US" altLang="ko-KR" sz="12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MAC     2222.2222.2222</a:t>
            </a:r>
          </a:p>
          <a:p>
            <a:r>
              <a:rPr lang="en-US" altLang="ko-KR" sz="12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BMAC  FFFF.FFFF.FFFF</a:t>
            </a:r>
          </a:p>
        </p:txBody>
      </p:sp>
      <p:pic>
        <p:nvPicPr>
          <p:cNvPr id="44" name="그림 43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56646" y="556643"/>
            <a:ext cx="1094561" cy="880541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7351207" y="488627"/>
            <a:ext cx="1785489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IP          192.168.1.30</a:t>
            </a:r>
          </a:p>
          <a:p>
            <a:r>
              <a:rPr lang="en-US" altLang="ko-KR" sz="12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SM        255.255.255.0</a:t>
            </a:r>
          </a:p>
          <a:p>
            <a:r>
              <a:rPr lang="en-US" altLang="ko-KR" sz="12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MAC     3333.3333.3333</a:t>
            </a:r>
          </a:p>
          <a:p>
            <a:r>
              <a:rPr lang="en-US" altLang="ko-KR" sz="12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BMAC  FFFF.FFFF.FFFF</a:t>
            </a:r>
          </a:p>
          <a:p>
            <a:endParaRPr lang="en-US" altLang="ko-KR" dirty="0"/>
          </a:p>
        </p:txBody>
      </p:sp>
      <p:sp>
        <p:nvSpPr>
          <p:cNvPr id="48" name="TextBox 47"/>
          <p:cNvSpPr txBox="1"/>
          <p:nvPr/>
        </p:nvSpPr>
        <p:spPr>
          <a:xfrm>
            <a:off x="5668292" y="4994504"/>
            <a:ext cx="512537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      수</a:t>
            </a:r>
            <a:r>
              <a:rPr lang="en-US" altLang="ko-KR" sz="12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MAC</a:t>
            </a:r>
            <a:r>
              <a:rPr lang="en-US" altLang="ko-KR" sz="12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                    </a:t>
            </a:r>
            <a:r>
              <a:rPr lang="ko-KR" altLang="en-US" sz="12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송</a:t>
            </a:r>
            <a:r>
              <a:rPr lang="en-US" altLang="ko-KR" sz="12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MAC</a:t>
            </a:r>
            <a:r>
              <a:rPr lang="en-US" altLang="ko-KR" sz="12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                 </a:t>
            </a:r>
            <a:r>
              <a:rPr lang="en-US" altLang="ko-KR" sz="12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 Protocol                ARP Header</a:t>
            </a:r>
            <a:endParaRPr lang="ko-KR" altLang="en-US" sz="1200" dirty="0">
              <a:latin typeface="Times New Roman" panose="02020603050405020304" pitchFamily="18" charset="0"/>
              <a:ea typeface="함초롬바탕" panose="02030504000101010101" pitchFamily="18" charset="-127"/>
              <a:cs typeface="Times New Roman" panose="02020603050405020304" pitchFamily="18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0971262" y="5269916"/>
            <a:ext cx="670376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300" b="1" dirty="0">
                <a:solidFill>
                  <a:srgbClr val="C00000"/>
                </a:solidFill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송신지</a:t>
            </a:r>
            <a:endParaRPr lang="en-US" altLang="ko-KR" sz="1300" b="1" dirty="0">
              <a:solidFill>
                <a:srgbClr val="C00000"/>
              </a:solidFill>
              <a:latin typeface="함초롬바탕" panose="02030504000101010101" pitchFamily="18" charset="-127"/>
              <a:ea typeface="함초롬바탕" panose="02030504000101010101" pitchFamily="18" charset="-127"/>
              <a:cs typeface="함초롬바탕" panose="02030504000101010101" pitchFamily="18" charset="-127"/>
            </a:endParaRPr>
          </a:p>
          <a:p>
            <a:r>
              <a:rPr lang="ko-KR" altLang="en-US" sz="1300" b="1" dirty="0">
                <a:solidFill>
                  <a:srgbClr val="C00000"/>
                </a:solidFill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수신지</a:t>
            </a:r>
          </a:p>
        </p:txBody>
      </p:sp>
      <p:sp>
        <p:nvSpPr>
          <p:cNvPr id="27" name="직사각형 26"/>
          <p:cNvSpPr/>
          <p:nvPr/>
        </p:nvSpPr>
        <p:spPr>
          <a:xfrm>
            <a:off x="6582975" y="1332954"/>
            <a:ext cx="1920095" cy="4367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700" dirty="0">
                <a:solidFill>
                  <a:srgbClr val="FF0000"/>
                </a:solidFill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 </a:t>
            </a:r>
            <a:r>
              <a:rPr lang="en-US" altLang="ko-KR" sz="1700" dirty="0">
                <a:solidFill>
                  <a:srgbClr val="FF0000"/>
                </a:solidFill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❶ </a:t>
            </a:r>
            <a:r>
              <a:rPr lang="en-US" altLang="ko-KR" sz="1700" dirty="0">
                <a:solidFill>
                  <a:srgbClr val="FF0000"/>
                </a:solidFill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ARP Request</a:t>
            </a:r>
            <a:endParaRPr lang="ko-KR" altLang="en-US" sz="1700" dirty="0">
              <a:solidFill>
                <a:srgbClr val="FF0000"/>
              </a:solidFill>
              <a:latin typeface="함초롬바탕" panose="02030504000101010101" pitchFamily="18" charset="-127"/>
              <a:ea typeface="함초롬바탕" panose="02030504000101010101" pitchFamily="18" charset="-127"/>
              <a:cs typeface="함초롬바탕" panose="02030504000101010101" pitchFamily="18" charset="-127"/>
            </a:endParaRPr>
          </a:p>
        </p:txBody>
      </p:sp>
      <p:sp>
        <p:nvSpPr>
          <p:cNvPr id="28" name="직사각형 27"/>
          <p:cNvSpPr/>
          <p:nvPr/>
        </p:nvSpPr>
        <p:spPr>
          <a:xfrm>
            <a:off x="3338049" y="2660518"/>
            <a:ext cx="1920095" cy="4367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700" dirty="0">
                <a:solidFill>
                  <a:srgbClr val="FF0000"/>
                </a:solidFill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  </a:t>
            </a:r>
            <a:r>
              <a:rPr lang="en-US" altLang="ko-KR" sz="1700" dirty="0">
                <a:solidFill>
                  <a:srgbClr val="FF0000"/>
                </a:solidFill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❶ </a:t>
            </a:r>
            <a:r>
              <a:rPr lang="en-US" altLang="ko-KR" sz="1700" dirty="0">
                <a:solidFill>
                  <a:srgbClr val="FF0000"/>
                </a:solidFill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ARP Request</a:t>
            </a:r>
            <a:endParaRPr lang="ko-KR" altLang="en-US" sz="1700" dirty="0">
              <a:solidFill>
                <a:srgbClr val="FF0000"/>
              </a:solidFill>
              <a:latin typeface="함초롬바탕" panose="02030504000101010101" pitchFamily="18" charset="-127"/>
              <a:ea typeface="함초롬바탕" panose="02030504000101010101" pitchFamily="18" charset="-127"/>
              <a:cs typeface="함초롬바탕" panose="02030504000101010101" pitchFamily="18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>
          <a:xfrm>
            <a:off x="9106266" y="6393306"/>
            <a:ext cx="2743200" cy="365125"/>
          </a:xfrm>
        </p:spPr>
        <p:txBody>
          <a:bodyPr/>
          <a:lstStyle/>
          <a:p>
            <a:fld id="{7B2209E9-2AE8-42A0-AB53-D13299BB30AF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E41DAC7D-4DD4-6770-69C2-71D3DD6AA36D}"/>
              </a:ext>
            </a:extLst>
          </p:cNvPr>
          <p:cNvSpPr/>
          <p:nvPr/>
        </p:nvSpPr>
        <p:spPr>
          <a:xfrm>
            <a:off x="1576262" y="1214418"/>
            <a:ext cx="2837937" cy="73760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>
                <a:solidFill>
                  <a:srgbClr val="FF0000"/>
                </a:solidFill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 </a:t>
            </a:r>
            <a:r>
              <a:rPr lang="en-US" altLang="ko-KR" sz="15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192.168.1.10   1111.1111.1111</a:t>
            </a:r>
            <a:endParaRPr lang="ko-KR" altLang="en-US" sz="15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1C28ACE-A82F-24BC-3BAC-817AA216E362}"/>
              </a:ext>
            </a:extLst>
          </p:cNvPr>
          <p:cNvSpPr txBox="1"/>
          <p:nvPr/>
        </p:nvSpPr>
        <p:spPr>
          <a:xfrm>
            <a:off x="1613778" y="924707"/>
            <a:ext cx="1643463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ARP Cache Table  </a:t>
            </a:r>
            <a:endParaRPr lang="ko-KR" altLang="en-US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AC15EBB8-5FD1-8B89-546C-C2C28F554EC1}"/>
              </a:ext>
            </a:extLst>
          </p:cNvPr>
          <p:cNvSpPr/>
          <p:nvPr/>
        </p:nvSpPr>
        <p:spPr>
          <a:xfrm>
            <a:off x="8393905" y="2745852"/>
            <a:ext cx="2932755" cy="71495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500" b="1" dirty="0">
                <a:solidFill>
                  <a:srgbClr val="FF0000"/>
                </a:solidFill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 </a:t>
            </a:r>
            <a:r>
              <a:rPr lang="en-US" altLang="ko-KR" sz="15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192.168.1.20   2222.2222.2222</a:t>
            </a:r>
            <a:endParaRPr lang="ko-KR" altLang="en-US" sz="15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664D4ED-E391-2459-1A31-5387F7EA0E67}"/>
              </a:ext>
            </a:extLst>
          </p:cNvPr>
          <p:cNvSpPr txBox="1"/>
          <p:nvPr/>
        </p:nvSpPr>
        <p:spPr>
          <a:xfrm>
            <a:off x="9777474" y="2425969"/>
            <a:ext cx="155036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ARP Cache Table  </a:t>
            </a:r>
            <a:endParaRPr lang="ko-KR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91474D1-2E0E-D930-96E8-F8E3A56A1A47}"/>
              </a:ext>
            </a:extLst>
          </p:cNvPr>
          <p:cNvSpPr txBox="1"/>
          <p:nvPr/>
        </p:nvSpPr>
        <p:spPr>
          <a:xfrm>
            <a:off x="746954" y="264255"/>
            <a:ext cx="430816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2) ARP request (Unicast)</a:t>
            </a:r>
            <a:endParaRPr lang="ko-KR" alt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988382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자유형 23"/>
          <p:cNvSpPr/>
          <p:nvPr/>
        </p:nvSpPr>
        <p:spPr>
          <a:xfrm>
            <a:off x="2924305" y="3205807"/>
            <a:ext cx="5818095" cy="1244274"/>
          </a:xfrm>
          <a:custGeom>
            <a:avLst/>
            <a:gdLst>
              <a:gd name="connsiteX0" fmla="*/ 0 w 5818095"/>
              <a:gd name="connsiteY0" fmla="*/ 0 h 2608729"/>
              <a:gd name="connsiteX1" fmla="*/ 3299012 w 5818095"/>
              <a:gd name="connsiteY1" fmla="*/ 0 h 2608729"/>
              <a:gd name="connsiteX2" fmla="*/ 3307977 w 5818095"/>
              <a:gd name="connsiteY2" fmla="*/ 2608729 h 2608729"/>
              <a:gd name="connsiteX3" fmla="*/ 5818095 w 5818095"/>
              <a:gd name="connsiteY3" fmla="*/ 2608729 h 26087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818095" h="2608729">
                <a:moveTo>
                  <a:pt x="0" y="0"/>
                </a:moveTo>
                <a:lnTo>
                  <a:pt x="3299012" y="0"/>
                </a:lnTo>
                <a:cubicBezTo>
                  <a:pt x="3302000" y="869576"/>
                  <a:pt x="3304989" y="1739153"/>
                  <a:pt x="3307977" y="2608729"/>
                </a:cubicBezTo>
                <a:lnTo>
                  <a:pt x="5818095" y="2608729"/>
                </a:lnTo>
              </a:path>
            </a:pathLst>
          </a:cu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51388" y="2617996"/>
            <a:ext cx="1031228" cy="1252345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42399" y="4059893"/>
            <a:ext cx="1304496" cy="104942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925603" y="2867254"/>
            <a:ext cx="54027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Server</a:t>
            </a:r>
            <a:endParaRPr lang="ko-KR" altLang="en-US" sz="16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8800484" y="4133773"/>
            <a:ext cx="8262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Client</a:t>
            </a:r>
            <a:endParaRPr lang="ko-KR" altLang="en-US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직사각형 15"/>
          <p:cNvSpPr/>
          <p:nvPr/>
        </p:nvSpPr>
        <p:spPr>
          <a:xfrm>
            <a:off x="8160403" y="3245249"/>
            <a:ext cx="2932755" cy="71495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5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sz="1500" b="1" strike="sngStrike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192.168.1.20   2222.2222.2222</a:t>
            </a:r>
            <a:endParaRPr lang="ko-KR" altLang="en-US" sz="1500" b="1" strike="sngStrike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9543972" y="2925366"/>
            <a:ext cx="155036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ARP Cache Table  </a:t>
            </a:r>
            <a:endParaRPr lang="ko-KR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31" name="표 3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537289"/>
              </p:ext>
            </p:extLst>
          </p:nvPr>
        </p:nvGraphicFramePr>
        <p:xfrm>
          <a:off x="2882616" y="5677443"/>
          <a:ext cx="7206862" cy="2743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7506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804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7460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3722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8869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0180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66141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b="1" dirty="0">
                          <a:solidFill>
                            <a:srgbClr val="FF0000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222.2222.2222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1111. 1111.1111</a:t>
                      </a:r>
                      <a:endParaRPr lang="ko-KR" altLang="en-US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192.168.1.10</a:t>
                      </a:r>
                      <a:endParaRPr lang="ko-KR" altLang="en-US" sz="12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>
                          <a:solidFill>
                            <a:srgbClr val="FF0000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192.168.1.20</a:t>
                      </a:r>
                      <a:endParaRPr lang="ko-KR" altLang="en-US" sz="1200" b="1" dirty="0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50030</a:t>
                      </a:r>
                      <a:endParaRPr lang="ko-KR" altLang="en-US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80</a:t>
                      </a:r>
                      <a:endParaRPr lang="ko-KR" altLang="en-US" sz="12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Get /www.test.com</a:t>
                      </a:r>
                      <a:endParaRPr lang="ko-KR" altLang="en-US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804352" y="5419829"/>
            <a:ext cx="69349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      수</a:t>
            </a:r>
            <a:r>
              <a:rPr lang="en-US" altLang="ko-KR" sz="12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MAC</a:t>
            </a:r>
            <a:r>
              <a:rPr lang="en-US" altLang="ko-KR" sz="12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               </a:t>
            </a:r>
            <a:r>
              <a:rPr lang="ko-KR" altLang="en-US" sz="12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송</a:t>
            </a:r>
            <a:r>
              <a:rPr lang="en-US" altLang="ko-KR" sz="12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MAC</a:t>
            </a:r>
            <a:r>
              <a:rPr lang="en-US" altLang="ko-KR" sz="12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                 </a:t>
            </a:r>
            <a:r>
              <a:rPr lang="ko-KR" altLang="en-US" sz="12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송</a:t>
            </a:r>
            <a:r>
              <a:rPr lang="en-US" altLang="ko-KR" sz="12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IP</a:t>
            </a:r>
            <a:r>
              <a:rPr lang="en-US" altLang="ko-KR" sz="12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                   </a:t>
            </a:r>
            <a:r>
              <a:rPr lang="ko-KR" altLang="en-US" sz="12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수</a:t>
            </a:r>
            <a:r>
              <a:rPr lang="en-US" altLang="ko-KR" sz="12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IP</a:t>
            </a:r>
            <a:r>
              <a:rPr lang="en-US" altLang="ko-KR" sz="12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        </a:t>
            </a:r>
            <a:r>
              <a:rPr lang="ko-KR" altLang="en-US" sz="12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송</a:t>
            </a:r>
            <a:r>
              <a:rPr lang="en-US" altLang="ko-KR" sz="12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Port</a:t>
            </a:r>
            <a:r>
              <a:rPr lang="en-US" altLang="ko-KR" sz="12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   </a:t>
            </a:r>
            <a:r>
              <a:rPr lang="ko-KR" altLang="en-US" sz="12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수</a:t>
            </a:r>
            <a:r>
              <a:rPr lang="en-US" altLang="ko-KR" sz="12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Port</a:t>
            </a:r>
            <a:r>
              <a:rPr lang="en-US" altLang="ko-KR" sz="12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         </a:t>
            </a:r>
            <a:r>
              <a:rPr lang="ko-KR" altLang="en-US" sz="1200" dirty="0" err="1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전송데이타</a:t>
            </a:r>
            <a:r>
              <a:rPr lang="ko-KR" altLang="en-US" sz="12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 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59365" y="4462989"/>
            <a:ext cx="148303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IP     192.168.1.10</a:t>
            </a:r>
          </a:p>
          <a:p>
            <a:r>
              <a:rPr lang="en-US" altLang="ko-KR" sz="12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SM    255.255.255.0</a:t>
            </a:r>
          </a:p>
          <a:p>
            <a:r>
              <a:rPr lang="en-US" altLang="ko-KR" sz="12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MAC1111.1111.1111</a:t>
            </a:r>
            <a:endParaRPr lang="ko-KR" altLang="en-US" sz="1200" dirty="0">
              <a:latin typeface="Times New Roman" panose="02020603050405020304" pitchFamily="18" charset="0"/>
              <a:ea typeface="함초롬바탕" panose="02030504000101010101" pitchFamily="18" charset="-127"/>
              <a:cs typeface="Times New Roman" panose="02020603050405020304" pitchFamily="18" charset="0"/>
            </a:endParaRPr>
          </a:p>
        </p:txBody>
      </p:sp>
      <p:grpSp>
        <p:nvGrpSpPr>
          <p:cNvPr id="34" name="그룹 33"/>
          <p:cNvGrpSpPr/>
          <p:nvPr/>
        </p:nvGrpSpPr>
        <p:grpSpPr>
          <a:xfrm>
            <a:off x="5484535" y="2978203"/>
            <a:ext cx="1207816" cy="476937"/>
            <a:chOff x="2610322" y="5109168"/>
            <a:chExt cx="1495425" cy="742950"/>
          </a:xfrm>
        </p:grpSpPr>
        <p:sp>
          <p:nvSpPr>
            <p:cNvPr id="40" name="AutoShape 26"/>
            <p:cNvSpPr>
              <a:spLocks noChangeArrowheads="1"/>
            </p:cNvSpPr>
            <p:nvPr/>
          </p:nvSpPr>
          <p:spPr bwMode="auto">
            <a:xfrm>
              <a:off x="2610322" y="5109168"/>
              <a:ext cx="1495425" cy="742950"/>
            </a:xfrm>
            <a:prstGeom prst="cube">
              <a:avLst>
                <a:gd name="adj" fmla="val 55426"/>
              </a:avLst>
            </a:prstGeom>
            <a:gradFill rotWithShape="1">
              <a:gsLst>
                <a:gs pos="0">
                  <a:srgbClr val="EAEAEA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rgbClr val="777777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endParaRPr lang="ko-KR" altLang="en-US" sz="1600" kern="0">
                <a:solidFill>
                  <a:sysClr val="windowText" lastClr="000000"/>
                </a:solidFill>
                <a:latin typeface="Times New Roman" pitchFamily="18" charset="0"/>
                <a:cs typeface="Times New Roman" pitchFamily="18" charset="0"/>
              </a:endParaRPr>
            </a:p>
          </p:txBody>
        </p:sp>
        <p:sp>
          <p:nvSpPr>
            <p:cNvPr id="41" name="WordArt 28"/>
            <p:cNvSpPr>
              <a:spLocks noChangeArrowheads="1" noChangeShapeType="1" noTextEdit="1"/>
            </p:cNvSpPr>
            <p:nvPr/>
          </p:nvSpPr>
          <p:spPr bwMode="auto">
            <a:xfrm>
              <a:off x="2630926" y="5575432"/>
              <a:ext cx="1003300" cy="261937"/>
            </a:xfrm>
            <a:prstGeom prst="rect">
              <a:avLst/>
            </a:prstGeom>
          </p:spPr>
          <p:txBody>
            <a:bodyPr wrap="none" fromWordArt="1">
              <a:prstTxWarp prst="textPlain">
                <a:avLst>
                  <a:gd name="adj" fmla="val 50000"/>
                </a:avLst>
              </a:prstTxWarp>
            </a:bodyPr>
            <a:lstStyle/>
            <a:p>
              <a:pPr algn="ctr">
                <a:buNone/>
              </a:pPr>
              <a:r>
                <a:rPr lang="en-US" altLang="ko-KR" sz="1600" kern="10" dirty="0">
                  <a:ln w="9525">
                    <a:solidFill>
                      <a:srgbClr val="808080"/>
                    </a:solidFill>
                    <a:round/>
                    <a:headEnd/>
                    <a:tailEnd/>
                  </a:ln>
                  <a:solidFill>
                    <a:srgbClr val="808080"/>
                  </a:solidFill>
                  <a:latin typeface="Times New Roman" pitchFamily="18" charset="0"/>
                  <a:cs typeface="Times New Roman" pitchFamily="18" charset="0"/>
                </a:rPr>
                <a:t>SWITCH</a:t>
              </a:r>
              <a:endParaRPr lang="ko-KR" altLang="en-US" sz="1600" kern="10" dirty="0">
                <a:ln w="9525">
                  <a:solidFill>
                    <a:srgbClr val="808080"/>
                  </a:solidFill>
                  <a:round/>
                  <a:headEnd/>
                  <a:tailEnd/>
                </a:ln>
                <a:solidFill>
                  <a:srgbClr val="808080"/>
                </a:solidFill>
                <a:latin typeface="Times New Roman" pitchFamily="18" charset="0"/>
                <a:cs typeface="Times New Roman" pitchFamily="18" charset="0"/>
              </a:endParaRPr>
            </a:p>
          </p:txBody>
        </p:sp>
        <p:sp>
          <p:nvSpPr>
            <p:cNvPr id="42" name="Freeform 29"/>
            <p:cNvSpPr>
              <a:spLocks/>
            </p:cNvSpPr>
            <p:nvPr/>
          </p:nvSpPr>
          <p:spPr bwMode="auto">
            <a:xfrm>
              <a:off x="2705237" y="5139406"/>
              <a:ext cx="1228725" cy="357188"/>
            </a:xfrm>
            <a:custGeom>
              <a:avLst/>
              <a:gdLst/>
              <a:ahLst/>
              <a:cxnLst>
                <a:cxn ang="0">
                  <a:pos x="599" y="140"/>
                </a:cxn>
                <a:cxn ang="0">
                  <a:pos x="877" y="270"/>
                </a:cxn>
                <a:cxn ang="0">
                  <a:pos x="964" y="177"/>
                </a:cxn>
                <a:cxn ang="0">
                  <a:pos x="1393" y="183"/>
                </a:cxn>
                <a:cxn ang="0">
                  <a:pos x="1527" y="459"/>
                </a:cxn>
                <a:cxn ang="0">
                  <a:pos x="856" y="727"/>
                </a:cxn>
                <a:cxn ang="0">
                  <a:pos x="436" y="721"/>
                </a:cxn>
                <a:cxn ang="0">
                  <a:pos x="537" y="615"/>
                </a:cxn>
                <a:cxn ang="0">
                  <a:pos x="0" y="755"/>
                </a:cxn>
                <a:cxn ang="0">
                  <a:pos x="247" y="906"/>
                </a:cxn>
                <a:cxn ang="0">
                  <a:pos x="337" y="804"/>
                </a:cxn>
                <a:cxn ang="0">
                  <a:pos x="973" y="800"/>
                </a:cxn>
                <a:cxn ang="0">
                  <a:pos x="1570" y="552"/>
                </a:cxn>
                <a:cxn ang="0">
                  <a:pos x="1663" y="810"/>
                </a:cxn>
                <a:cxn ang="0">
                  <a:pos x="2281" y="807"/>
                </a:cxn>
                <a:cxn ang="0">
                  <a:pos x="2188" y="900"/>
                </a:cxn>
                <a:cxn ang="0">
                  <a:pos x="2707" y="772"/>
                </a:cxn>
                <a:cxn ang="0">
                  <a:pos x="2467" y="624"/>
                </a:cxn>
                <a:cxn ang="0">
                  <a:pos x="2359" y="726"/>
                </a:cxn>
                <a:cxn ang="0">
                  <a:pos x="1915" y="720"/>
                </a:cxn>
                <a:cxn ang="0">
                  <a:pos x="1812" y="447"/>
                </a:cxn>
                <a:cxn ang="0">
                  <a:pos x="2438" y="190"/>
                </a:cxn>
                <a:cxn ang="0">
                  <a:pos x="2899" y="192"/>
                </a:cxn>
                <a:cxn ang="0">
                  <a:pos x="2815" y="276"/>
                </a:cxn>
                <a:cxn ang="0">
                  <a:pos x="3328" y="151"/>
                </a:cxn>
                <a:cxn ang="0">
                  <a:pos x="3085" y="0"/>
                </a:cxn>
                <a:cxn ang="0">
                  <a:pos x="2974" y="114"/>
                </a:cxn>
                <a:cxn ang="0">
                  <a:pos x="2338" y="106"/>
                </a:cxn>
                <a:cxn ang="0">
                  <a:pos x="1762" y="352"/>
                </a:cxn>
                <a:cxn ang="0">
                  <a:pos x="1667" y="112"/>
                </a:cxn>
                <a:cxn ang="0">
                  <a:pos x="1046" y="106"/>
                </a:cxn>
                <a:cxn ang="0">
                  <a:pos x="1147" y="11"/>
                </a:cxn>
                <a:cxn ang="0">
                  <a:pos x="599" y="140"/>
                </a:cxn>
              </a:cxnLst>
              <a:rect l="0" t="0" r="r" b="b"/>
              <a:pathLst>
                <a:path w="3328" h="906">
                  <a:moveTo>
                    <a:pt x="599" y="140"/>
                  </a:moveTo>
                  <a:lnTo>
                    <a:pt x="877" y="270"/>
                  </a:lnTo>
                  <a:lnTo>
                    <a:pt x="964" y="177"/>
                  </a:lnTo>
                  <a:lnTo>
                    <a:pt x="1393" y="183"/>
                  </a:lnTo>
                  <a:lnTo>
                    <a:pt x="1527" y="459"/>
                  </a:lnTo>
                  <a:lnTo>
                    <a:pt x="856" y="727"/>
                  </a:lnTo>
                  <a:lnTo>
                    <a:pt x="436" y="721"/>
                  </a:lnTo>
                  <a:lnTo>
                    <a:pt x="537" y="615"/>
                  </a:lnTo>
                  <a:lnTo>
                    <a:pt x="0" y="755"/>
                  </a:lnTo>
                  <a:lnTo>
                    <a:pt x="247" y="906"/>
                  </a:lnTo>
                  <a:lnTo>
                    <a:pt x="337" y="804"/>
                  </a:lnTo>
                  <a:lnTo>
                    <a:pt x="973" y="800"/>
                  </a:lnTo>
                  <a:lnTo>
                    <a:pt x="1570" y="552"/>
                  </a:lnTo>
                  <a:lnTo>
                    <a:pt x="1663" y="810"/>
                  </a:lnTo>
                  <a:lnTo>
                    <a:pt x="2281" y="807"/>
                  </a:lnTo>
                  <a:lnTo>
                    <a:pt x="2188" y="900"/>
                  </a:lnTo>
                  <a:lnTo>
                    <a:pt x="2707" y="772"/>
                  </a:lnTo>
                  <a:lnTo>
                    <a:pt x="2467" y="624"/>
                  </a:lnTo>
                  <a:lnTo>
                    <a:pt x="2359" y="726"/>
                  </a:lnTo>
                  <a:lnTo>
                    <a:pt x="1915" y="720"/>
                  </a:lnTo>
                  <a:lnTo>
                    <a:pt x="1812" y="447"/>
                  </a:lnTo>
                  <a:lnTo>
                    <a:pt x="2438" y="190"/>
                  </a:lnTo>
                  <a:lnTo>
                    <a:pt x="2899" y="192"/>
                  </a:lnTo>
                  <a:lnTo>
                    <a:pt x="2815" y="276"/>
                  </a:lnTo>
                  <a:lnTo>
                    <a:pt x="3328" y="151"/>
                  </a:lnTo>
                  <a:lnTo>
                    <a:pt x="3085" y="0"/>
                  </a:lnTo>
                  <a:lnTo>
                    <a:pt x="2974" y="114"/>
                  </a:lnTo>
                  <a:lnTo>
                    <a:pt x="2338" y="106"/>
                  </a:lnTo>
                  <a:lnTo>
                    <a:pt x="1762" y="352"/>
                  </a:lnTo>
                  <a:lnTo>
                    <a:pt x="1667" y="112"/>
                  </a:lnTo>
                  <a:lnTo>
                    <a:pt x="1046" y="106"/>
                  </a:lnTo>
                  <a:lnTo>
                    <a:pt x="1147" y="11"/>
                  </a:lnTo>
                  <a:lnTo>
                    <a:pt x="599" y="140"/>
                  </a:lnTo>
                  <a:close/>
                </a:path>
              </a:pathLst>
            </a:custGeom>
            <a:solidFill>
              <a:srgbClr val="FFFFFF"/>
            </a:solidFill>
            <a:ln w="9525">
              <a:solidFill>
                <a:srgbClr val="4D4D4D"/>
              </a:solidFill>
              <a:round/>
              <a:headEnd type="none" w="med" len="med"/>
              <a:tailEnd type="none" w="med" len="med"/>
            </a:ln>
            <a:effectLst>
              <a:outerShdw dist="17961" dir="2700000" algn="ctr" rotWithShape="0">
                <a:srgbClr val="4D4D4D">
                  <a:alpha val="50000"/>
                </a:srgbClr>
              </a:outerShdw>
            </a:effectLst>
          </p:spPr>
          <p:txBody>
            <a:bodyPr/>
            <a:lstStyle/>
            <a:p>
              <a:pPr>
                <a:defRPr/>
              </a:pPr>
              <a:endParaRPr lang="ko-KR" altLang="en-US" sz="1600" kern="0">
                <a:solidFill>
                  <a:sysClr val="windowText" lastClr="000000"/>
                </a:solidFill>
                <a:latin typeface="Times New Roman" pitchFamily="18" charset="0"/>
                <a:cs typeface="Times New Roman" pitchFamily="18" charset="0"/>
              </a:endParaRPr>
            </a:p>
          </p:txBody>
        </p:sp>
      </p:grpSp>
      <p:sp>
        <p:nvSpPr>
          <p:cNvPr id="43" name="TextBox 42"/>
          <p:cNvSpPr txBox="1"/>
          <p:nvPr/>
        </p:nvSpPr>
        <p:spPr>
          <a:xfrm>
            <a:off x="1729948" y="3938275"/>
            <a:ext cx="178548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IP          192.168.1.20</a:t>
            </a:r>
          </a:p>
          <a:p>
            <a:r>
              <a:rPr lang="en-US" altLang="ko-KR" sz="12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SM        255.255.255.0</a:t>
            </a:r>
          </a:p>
          <a:p>
            <a:r>
              <a:rPr lang="en-US" altLang="ko-KR" sz="12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MAC     2222.2222.2222</a:t>
            </a:r>
          </a:p>
          <a:p>
            <a:r>
              <a:rPr lang="en-US" altLang="ko-KR" sz="12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BMAC  FFFF.FFFF.FFFF</a:t>
            </a:r>
          </a:p>
        </p:txBody>
      </p:sp>
      <p:sp>
        <p:nvSpPr>
          <p:cNvPr id="46" name="직사각형 45"/>
          <p:cNvSpPr/>
          <p:nvPr/>
        </p:nvSpPr>
        <p:spPr>
          <a:xfrm>
            <a:off x="1518526" y="1853629"/>
            <a:ext cx="2837937" cy="73760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>
                <a:solidFill>
                  <a:srgbClr val="FF0000"/>
                </a:solidFill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 </a:t>
            </a:r>
            <a:r>
              <a:rPr lang="en-US" altLang="ko-KR" sz="15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192.168.1.10   1111.1111.1111</a:t>
            </a:r>
            <a:endParaRPr lang="ko-KR" altLang="en-US" sz="15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1556042" y="1563918"/>
            <a:ext cx="1643463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ARP Cache Table  </a:t>
            </a:r>
            <a:endParaRPr lang="ko-KR" altLang="en-US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2209E9-2AE8-42A0-AB53-D13299BB30AF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14A754B-266A-C003-BA0B-D146066A3365}"/>
              </a:ext>
            </a:extLst>
          </p:cNvPr>
          <p:cNvSpPr txBox="1"/>
          <p:nvPr/>
        </p:nvSpPr>
        <p:spPr>
          <a:xfrm>
            <a:off x="1518526" y="646340"/>
            <a:ext cx="9066652" cy="338554"/>
          </a:xfrm>
          <a:prstGeom prst="rect">
            <a:avLst/>
          </a:prstGeom>
          <a:solidFill>
            <a:schemeClr val="accent4"/>
          </a:solidFill>
        </p:spPr>
        <p:txBody>
          <a:bodyPr wrap="square" rtlCol="0">
            <a:spAutoFit/>
          </a:bodyPr>
          <a:lstStyle/>
          <a:p>
            <a:r>
              <a:rPr lang="en-US" altLang="ko-KR" sz="1600" b="1" dirty="0">
                <a:latin typeface="Times New Roman" panose="02020603050405020304" pitchFamily="18" charset="0"/>
                <a:ea typeface="함초롬바탕" panose="02030604000101010101" pitchFamily="18" charset="-127"/>
                <a:cs typeface="Times New Roman" panose="02020603050405020304" pitchFamily="18" charset="0"/>
              </a:rPr>
              <a:t>ARP reply</a:t>
            </a:r>
            <a:r>
              <a:rPr lang="ko-KR" altLang="en-US" sz="1600" b="1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가 전송되지 않으면 </a:t>
            </a:r>
            <a:r>
              <a:rPr lang="en-US" altLang="ko-KR" sz="1600" b="1" dirty="0">
                <a:latin typeface="Times New Roman" panose="02020603050405020304" pitchFamily="18" charset="0"/>
                <a:ea typeface="함초롬바탕" panose="02030604000101010101" pitchFamily="18" charset="-127"/>
                <a:cs typeface="Times New Roman" panose="02020603050405020304" pitchFamily="18" charset="0"/>
              </a:rPr>
              <a:t>ARP </a:t>
            </a:r>
            <a:r>
              <a:rPr lang="ko-KR" altLang="en-US" sz="1600" b="1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캐시테이블에 해당 </a:t>
            </a:r>
            <a:r>
              <a:rPr lang="en-US" altLang="ko-KR" sz="1600" b="1" dirty="0">
                <a:latin typeface="Times New Roman" panose="02020603050405020304" pitchFamily="18" charset="0"/>
                <a:ea typeface="함초롬바탕" panose="02030604000101010101" pitchFamily="18" charset="-127"/>
                <a:cs typeface="Times New Roman" panose="02020603050405020304" pitchFamily="18" charset="0"/>
              </a:rPr>
              <a:t>IP</a:t>
            </a:r>
            <a:r>
              <a:rPr lang="ko-KR" altLang="en-US" sz="1600" b="1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와 </a:t>
            </a:r>
            <a:r>
              <a:rPr lang="en-US" altLang="ko-KR" sz="1600" b="1" dirty="0">
                <a:latin typeface="Times New Roman" panose="02020603050405020304" pitchFamily="18" charset="0"/>
                <a:ea typeface="함초롬바탕" panose="02030604000101010101" pitchFamily="18" charset="-127"/>
                <a:cs typeface="Times New Roman" panose="02020603050405020304" pitchFamily="18" charset="0"/>
              </a:rPr>
              <a:t>MAC</a:t>
            </a:r>
            <a:r>
              <a:rPr lang="en-US" altLang="ko-KR" sz="1600" b="1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 </a:t>
            </a:r>
            <a:r>
              <a:rPr lang="ko-KR" altLang="en-US" sz="1600" b="1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주소 삭제 </a:t>
            </a:r>
          </a:p>
        </p:txBody>
      </p:sp>
    </p:spTree>
    <p:extLst>
      <p:ext uri="{BB962C8B-B14F-4D97-AF65-F5344CB8AC3E}">
        <p14:creationId xmlns:p14="http://schemas.microsoft.com/office/powerpoint/2010/main" val="37002173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8C78AB45-DC4A-782B-9BFB-C2FD1EA04F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00E85C-9068-46D2-A14A-A9DCCDE0C986}" type="slidenum">
              <a:rPr lang="ko-KR" altLang="en-US" smtClean="0"/>
              <a:t>7</a:t>
            </a:fld>
            <a:endParaRPr lang="ko-KR" altLang="en-US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AF7EA008-0A5F-5DBA-2788-295C77C085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4859" y="623808"/>
            <a:ext cx="6828817" cy="5915104"/>
          </a:xfrm>
          <a:prstGeom prst="rect">
            <a:avLst/>
          </a:prstGeom>
        </p:spPr>
      </p:pic>
      <p:sp>
        <p:nvSpPr>
          <p:cNvPr id="5" name="직사각형 4">
            <a:extLst>
              <a:ext uri="{FF2B5EF4-FFF2-40B4-BE49-F238E27FC236}">
                <a16:creationId xmlns:a16="http://schemas.microsoft.com/office/drawing/2014/main" id="{7E786868-6FC8-8D47-F9DB-2E8784C4C316}"/>
              </a:ext>
            </a:extLst>
          </p:cNvPr>
          <p:cNvSpPr/>
          <p:nvPr/>
        </p:nvSpPr>
        <p:spPr>
          <a:xfrm>
            <a:off x="2733472" y="3579779"/>
            <a:ext cx="3608962" cy="408561"/>
          </a:xfrm>
          <a:prstGeom prst="rect">
            <a:avLst/>
          </a:prstGeom>
          <a:noFill/>
          <a:ln w="158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C0BC801E-661C-AFB1-ED26-A2E2017767B7}"/>
              </a:ext>
            </a:extLst>
          </p:cNvPr>
          <p:cNvSpPr/>
          <p:nvPr/>
        </p:nvSpPr>
        <p:spPr>
          <a:xfrm>
            <a:off x="2798324" y="5350213"/>
            <a:ext cx="3608962" cy="252919"/>
          </a:xfrm>
          <a:prstGeom prst="rect">
            <a:avLst/>
          </a:prstGeom>
          <a:noFill/>
          <a:ln w="158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421156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직선 연결선 7"/>
          <p:cNvCxnSpPr/>
          <p:nvPr/>
        </p:nvCxnSpPr>
        <p:spPr>
          <a:xfrm>
            <a:off x="6565356" y="1185795"/>
            <a:ext cx="0" cy="1943638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자유형 23"/>
          <p:cNvSpPr/>
          <p:nvPr/>
        </p:nvSpPr>
        <p:spPr>
          <a:xfrm>
            <a:off x="3399010" y="2883212"/>
            <a:ext cx="5818095" cy="1244274"/>
          </a:xfrm>
          <a:custGeom>
            <a:avLst/>
            <a:gdLst>
              <a:gd name="connsiteX0" fmla="*/ 0 w 5818095"/>
              <a:gd name="connsiteY0" fmla="*/ 0 h 2608729"/>
              <a:gd name="connsiteX1" fmla="*/ 3299012 w 5818095"/>
              <a:gd name="connsiteY1" fmla="*/ 0 h 2608729"/>
              <a:gd name="connsiteX2" fmla="*/ 3307977 w 5818095"/>
              <a:gd name="connsiteY2" fmla="*/ 2608729 h 2608729"/>
              <a:gd name="connsiteX3" fmla="*/ 5818095 w 5818095"/>
              <a:gd name="connsiteY3" fmla="*/ 2608729 h 26087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818095" h="2608729">
                <a:moveTo>
                  <a:pt x="0" y="0"/>
                </a:moveTo>
                <a:lnTo>
                  <a:pt x="3299012" y="0"/>
                </a:lnTo>
                <a:cubicBezTo>
                  <a:pt x="3302000" y="869576"/>
                  <a:pt x="3304989" y="1739153"/>
                  <a:pt x="3307977" y="2608729"/>
                </a:cubicBezTo>
                <a:lnTo>
                  <a:pt x="5818095" y="2608729"/>
                </a:lnTo>
              </a:path>
            </a:pathLst>
          </a:cu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26093" y="2295401"/>
            <a:ext cx="1031228" cy="1252345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17104" y="3737298"/>
            <a:ext cx="1304496" cy="104942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400308" y="2544659"/>
            <a:ext cx="54027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Server</a:t>
            </a:r>
            <a:endParaRPr lang="ko-KR" altLang="en-US" sz="16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9275189" y="3811178"/>
            <a:ext cx="8262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Client</a:t>
            </a:r>
            <a:endParaRPr lang="ko-KR" altLang="en-US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31" name="표 3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940642"/>
              </p:ext>
            </p:extLst>
          </p:nvPr>
        </p:nvGraphicFramePr>
        <p:xfrm>
          <a:off x="3990142" y="6393306"/>
          <a:ext cx="7305605" cy="2743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238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5270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8932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5143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967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0731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68418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r>
                        <a:rPr lang="en-US" altLang="ko-KR" sz="1200" dirty="0">
                          <a:latin typeface="Times New Roman" panose="02020603050405020304" pitchFamily="18" charset="0"/>
                          <a:ea typeface="함초롬바탕" panose="02030504000101010101" pitchFamily="18" charset="-127"/>
                          <a:cs typeface="Times New Roman" panose="02020603050405020304" pitchFamily="18" charset="0"/>
                        </a:rPr>
                        <a:t>2222.2222.2222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>
                          <a:latin typeface="Times New Roman" panose="02020603050405020304" pitchFamily="18" charset="0"/>
                          <a:ea typeface="함초롬바탕" panose="02030504000101010101" pitchFamily="18" charset="-127"/>
                          <a:cs typeface="Times New Roman" panose="02020603050405020304" pitchFamily="18" charset="0"/>
                        </a:rPr>
                        <a:t>3333.3333.3333</a:t>
                      </a:r>
                      <a:endParaRPr lang="ko-KR" altLang="en-US" sz="1200" dirty="0">
                        <a:latin typeface="Times New Roman" panose="02020603050405020304" pitchFamily="18" charset="0"/>
                        <a:ea typeface="함초롬바탕" panose="02030504000101010101" pitchFamily="18" charset="-127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192.168.1.10</a:t>
                      </a:r>
                      <a:endParaRPr lang="ko-KR" altLang="en-US" sz="12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192.168.1.20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50030</a:t>
                      </a:r>
                      <a:endParaRPr lang="ko-KR" altLang="en-US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80</a:t>
                      </a:r>
                      <a:endParaRPr lang="ko-KR" altLang="en-US" sz="12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Get /www.test.com</a:t>
                      </a:r>
                      <a:endParaRPr lang="ko-KR" altLang="en-US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4360709" y="6134522"/>
            <a:ext cx="665598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 수</a:t>
            </a:r>
            <a:r>
              <a:rPr lang="en-US" altLang="ko-KR" sz="12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MAC</a:t>
            </a:r>
            <a:r>
              <a:rPr lang="en-US" altLang="ko-KR" sz="12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               </a:t>
            </a:r>
            <a:r>
              <a:rPr lang="ko-KR" altLang="en-US" sz="12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송</a:t>
            </a:r>
            <a:r>
              <a:rPr lang="en-US" altLang="ko-KR" sz="12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MAC</a:t>
            </a:r>
            <a:r>
              <a:rPr lang="en-US" altLang="ko-KR" sz="12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                 </a:t>
            </a:r>
            <a:r>
              <a:rPr lang="ko-KR" altLang="en-US" sz="12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송</a:t>
            </a:r>
            <a:r>
              <a:rPr lang="en-US" altLang="ko-KR" sz="12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IP</a:t>
            </a:r>
            <a:r>
              <a:rPr lang="en-US" altLang="ko-KR" sz="12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                 </a:t>
            </a:r>
            <a:r>
              <a:rPr lang="ko-KR" altLang="en-US" sz="12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수</a:t>
            </a:r>
            <a:r>
              <a:rPr lang="en-US" altLang="ko-KR" sz="12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IP</a:t>
            </a:r>
            <a:r>
              <a:rPr lang="en-US" altLang="ko-KR" sz="12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        </a:t>
            </a:r>
            <a:r>
              <a:rPr lang="ko-KR" altLang="en-US" sz="12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송</a:t>
            </a:r>
            <a:r>
              <a:rPr lang="en-US" altLang="ko-KR" sz="12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Port</a:t>
            </a:r>
            <a:r>
              <a:rPr lang="en-US" altLang="ko-KR" sz="12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   </a:t>
            </a:r>
            <a:r>
              <a:rPr lang="ko-KR" altLang="en-US" sz="12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수</a:t>
            </a:r>
            <a:r>
              <a:rPr lang="en-US" altLang="ko-KR" sz="12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Port</a:t>
            </a:r>
            <a:r>
              <a:rPr lang="en-US" altLang="ko-KR" sz="12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         </a:t>
            </a:r>
            <a:r>
              <a:rPr lang="ko-KR" altLang="en-US" sz="1200" dirty="0" err="1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전송데이타</a:t>
            </a:r>
            <a:r>
              <a:rPr lang="ko-KR" altLang="en-US" sz="12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 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47051" y="4212465"/>
            <a:ext cx="157286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IP       192.168.1.10</a:t>
            </a:r>
          </a:p>
          <a:p>
            <a:r>
              <a:rPr lang="en-US" altLang="ko-KR" sz="12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SM     255.255.255.0</a:t>
            </a:r>
          </a:p>
          <a:p>
            <a:r>
              <a:rPr lang="en-US" altLang="ko-KR" sz="12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MAC </a:t>
            </a:r>
            <a:r>
              <a:rPr lang="en-US" altLang="ko-KR" sz="1200" b="1" dirty="0">
                <a:solidFill>
                  <a:srgbClr val="FF0000"/>
                </a:solidFill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3333.3333.3333</a:t>
            </a:r>
            <a:endParaRPr lang="ko-KR" altLang="en-US" sz="1200" b="1" dirty="0">
              <a:solidFill>
                <a:srgbClr val="FF0000"/>
              </a:solidFill>
              <a:latin typeface="Times New Roman" panose="02020603050405020304" pitchFamily="18" charset="0"/>
              <a:ea typeface="함초롬바탕" panose="02030504000101010101" pitchFamily="18" charset="-127"/>
              <a:cs typeface="Times New Roman" panose="02020603050405020304" pitchFamily="18" charset="0"/>
            </a:endParaRPr>
          </a:p>
          <a:p>
            <a:endParaRPr lang="ko-KR" altLang="en-US" sz="1200" dirty="0">
              <a:latin typeface="Times New Roman" panose="02020603050405020304" pitchFamily="18" charset="0"/>
              <a:ea typeface="함초롬바탕" panose="02030504000101010101" pitchFamily="18" charset="-127"/>
              <a:cs typeface="Times New Roman" panose="02020603050405020304" pitchFamily="18" charset="0"/>
            </a:endParaRPr>
          </a:p>
        </p:txBody>
      </p:sp>
      <p:sp>
        <p:nvSpPr>
          <p:cNvPr id="36" name="직사각형 35"/>
          <p:cNvSpPr/>
          <p:nvPr/>
        </p:nvSpPr>
        <p:spPr>
          <a:xfrm>
            <a:off x="4058180" y="5067623"/>
            <a:ext cx="1920095" cy="4367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7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ARP Request</a:t>
            </a:r>
            <a:endParaRPr lang="ko-KR" altLang="en-US" sz="1700" dirty="0">
              <a:latin typeface="함초롬바탕" panose="02030504000101010101" pitchFamily="18" charset="-127"/>
              <a:ea typeface="함초롬바탕" panose="02030504000101010101" pitchFamily="18" charset="-127"/>
              <a:cs typeface="함초롬바탕" panose="02030504000101010101" pitchFamily="18" charset="-127"/>
            </a:endParaRPr>
          </a:p>
        </p:txBody>
      </p:sp>
      <p:graphicFrame>
        <p:nvGraphicFramePr>
          <p:cNvPr id="37" name="표 3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35037213"/>
              </p:ext>
            </p:extLst>
          </p:nvPr>
        </p:nvGraphicFramePr>
        <p:xfrm>
          <a:off x="5363562" y="5443197"/>
          <a:ext cx="5815528" cy="457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8068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936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111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3007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00612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함초롬바탕" panose="02030504000101010101" pitchFamily="18" charset="-127"/>
                          <a:cs typeface="Times New Roman" panose="02020603050405020304" pitchFamily="18" charset="0"/>
                        </a:rPr>
                        <a:t>FFFF.FFFF.FFFF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>
                          <a:latin typeface="Times New Roman" panose="02020603050405020304" pitchFamily="18" charset="0"/>
                          <a:ea typeface="함초롬바탕" panose="02030504000101010101" pitchFamily="18" charset="-127"/>
                          <a:cs typeface="Times New Roman" panose="02020603050405020304" pitchFamily="18" charset="0"/>
                        </a:rPr>
                        <a:t>3333.3333.3333</a:t>
                      </a:r>
                      <a:endParaRPr lang="ko-KR" altLang="en-US" sz="1200" dirty="0">
                        <a:latin typeface="Times New Roman" panose="02020603050405020304" pitchFamily="18" charset="0"/>
                        <a:ea typeface="함초롬바탕" panose="02030504000101010101" pitchFamily="18" charset="-127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0x0806</a:t>
                      </a:r>
                      <a:endParaRPr lang="ko-KR" altLang="en-US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3333.3333.3333 /</a:t>
                      </a:r>
                      <a:r>
                        <a:rPr lang="en-US" altLang="ko-KR" sz="1200" b="1" dirty="0">
                          <a:solidFill>
                            <a:srgbClr val="FF0000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192.168.1.10</a:t>
                      </a: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0000.0000.0000</a:t>
                      </a:r>
                      <a:r>
                        <a:rPr lang="en-US" altLang="ko-KR" sz="1200" b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/</a:t>
                      </a:r>
                      <a:r>
                        <a:rPr lang="en-US" altLang="ko-KR" sz="1200" b="1" dirty="0">
                          <a:solidFill>
                            <a:srgbClr val="FF0000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192.168.1.10</a:t>
                      </a:r>
                      <a:endParaRPr lang="ko-KR" altLang="en-US" sz="1200" b="1" dirty="0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8" name="오른쪽 화살표 37"/>
          <p:cNvSpPr/>
          <p:nvPr/>
        </p:nvSpPr>
        <p:spPr>
          <a:xfrm rot="10800000">
            <a:off x="4962644" y="5554336"/>
            <a:ext cx="365843" cy="243149"/>
          </a:xfrm>
          <a:prstGeom prst="rightArrow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4" name="그룹 33"/>
          <p:cNvGrpSpPr/>
          <p:nvPr/>
        </p:nvGrpSpPr>
        <p:grpSpPr>
          <a:xfrm>
            <a:off x="5959240" y="2655608"/>
            <a:ext cx="1207816" cy="476937"/>
            <a:chOff x="2610322" y="5109168"/>
            <a:chExt cx="1495425" cy="742950"/>
          </a:xfrm>
        </p:grpSpPr>
        <p:sp>
          <p:nvSpPr>
            <p:cNvPr id="40" name="AutoShape 26"/>
            <p:cNvSpPr>
              <a:spLocks noChangeArrowheads="1"/>
            </p:cNvSpPr>
            <p:nvPr/>
          </p:nvSpPr>
          <p:spPr bwMode="auto">
            <a:xfrm>
              <a:off x="2610322" y="5109168"/>
              <a:ext cx="1495425" cy="742950"/>
            </a:xfrm>
            <a:prstGeom prst="cube">
              <a:avLst>
                <a:gd name="adj" fmla="val 55426"/>
              </a:avLst>
            </a:prstGeom>
            <a:gradFill rotWithShape="1">
              <a:gsLst>
                <a:gs pos="0">
                  <a:srgbClr val="EAEAEA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rgbClr val="777777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endParaRPr lang="ko-KR" altLang="en-US" sz="1600" kern="0">
                <a:solidFill>
                  <a:sysClr val="windowText" lastClr="000000"/>
                </a:solidFill>
                <a:latin typeface="Times New Roman" pitchFamily="18" charset="0"/>
                <a:cs typeface="Times New Roman" pitchFamily="18" charset="0"/>
              </a:endParaRPr>
            </a:p>
          </p:txBody>
        </p:sp>
        <p:sp>
          <p:nvSpPr>
            <p:cNvPr id="41" name="WordArt 28"/>
            <p:cNvSpPr>
              <a:spLocks noChangeArrowheads="1" noChangeShapeType="1" noTextEdit="1"/>
            </p:cNvSpPr>
            <p:nvPr/>
          </p:nvSpPr>
          <p:spPr bwMode="auto">
            <a:xfrm>
              <a:off x="2630926" y="5575432"/>
              <a:ext cx="1003300" cy="261937"/>
            </a:xfrm>
            <a:prstGeom prst="rect">
              <a:avLst/>
            </a:prstGeom>
          </p:spPr>
          <p:txBody>
            <a:bodyPr wrap="none" fromWordArt="1">
              <a:prstTxWarp prst="textPlain">
                <a:avLst>
                  <a:gd name="adj" fmla="val 50000"/>
                </a:avLst>
              </a:prstTxWarp>
            </a:bodyPr>
            <a:lstStyle/>
            <a:p>
              <a:pPr algn="ctr">
                <a:buNone/>
              </a:pPr>
              <a:r>
                <a:rPr lang="en-US" altLang="ko-KR" sz="1600" kern="10" dirty="0">
                  <a:ln w="9525">
                    <a:solidFill>
                      <a:srgbClr val="808080"/>
                    </a:solidFill>
                    <a:round/>
                    <a:headEnd/>
                    <a:tailEnd/>
                  </a:ln>
                  <a:solidFill>
                    <a:srgbClr val="808080"/>
                  </a:solidFill>
                  <a:latin typeface="Times New Roman" pitchFamily="18" charset="0"/>
                  <a:cs typeface="Times New Roman" pitchFamily="18" charset="0"/>
                </a:rPr>
                <a:t>SWITCH</a:t>
              </a:r>
              <a:endParaRPr lang="ko-KR" altLang="en-US" sz="1600" kern="10" dirty="0">
                <a:ln w="9525">
                  <a:solidFill>
                    <a:srgbClr val="808080"/>
                  </a:solidFill>
                  <a:round/>
                  <a:headEnd/>
                  <a:tailEnd/>
                </a:ln>
                <a:solidFill>
                  <a:srgbClr val="808080"/>
                </a:solidFill>
                <a:latin typeface="Times New Roman" pitchFamily="18" charset="0"/>
                <a:cs typeface="Times New Roman" pitchFamily="18" charset="0"/>
              </a:endParaRPr>
            </a:p>
          </p:txBody>
        </p:sp>
        <p:sp>
          <p:nvSpPr>
            <p:cNvPr id="42" name="Freeform 29"/>
            <p:cNvSpPr>
              <a:spLocks/>
            </p:cNvSpPr>
            <p:nvPr/>
          </p:nvSpPr>
          <p:spPr bwMode="auto">
            <a:xfrm>
              <a:off x="2705237" y="5139406"/>
              <a:ext cx="1228725" cy="357188"/>
            </a:xfrm>
            <a:custGeom>
              <a:avLst/>
              <a:gdLst/>
              <a:ahLst/>
              <a:cxnLst>
                <a:cxn ang="0">
                  <a:pos x="599" y="140"/>
                </a:cxn>
                <a:cxn ang="0">
                  <a:pos x="877" y="270"/>
                </a:cxn>
                <a:cxn ang="0">
                  <a:pos x="964" y="177"/>
                </a:cxn>
                <a:cxn ang="0">
                  <a:pos x="1393" y="183"/>
                </a:cxn>
                <a:cxn ang="0">
                  <a:pos x="1527" y="459"/>
                </a:cxn>
                <a:cxn ang="0">
                  <a:pos x="856" y="727"/>
                </a:cxn>
                <a:cxn ang="0">
                  <a:pos x="436" y="721"/>
                </a:cxn>
                <a:cxn ang="0">
                  <a:pos x="537" y="615"/>
                </a:cxn>
                <a:cxn ang="0">
                  <a:pos x="0" y="755"/>
                </a:cxn>
                <a:cxn ang="0">
                  <a:pos x="247" y="906"/>
                </a:cxn>
                <a:cxn ang="0">
                  <a:pos x="337" y="804"/>
                </a:cxn>
                <a:cxn ang="0">
                  <a:pos x="973" y="800"/>
                </a:cxn>
                <a:cxn ang="0">
                  <a:pos x="1570" y="552"/>
                </a:cxn>
                <a:cxn ang="0">
                  <a:pos x="1663" y="810"/>
                </a:cxn>
                <a:cxn ang="0">
                  <a:pos x="2281" y="807"/>
                </a:cxn>
                <a:cxn ang="0">
                  <a:pos x="2188" y="900"/>
                </a:cxn>
                <a:cxn ang="0">
                  <a:pos x="2707" y="772"/>
                </a:cxn>
                <a:cxn ang="0">
                  <a:pos x="2467" y="624"/>
                </a:cxn>
                <a:cxn ang="0">
                  <a:pos x="2359" y="726"/>
                </a:cxn>
                <a:cxn ang="0">
                  <a:pos x="1915" y="720"/>
                </a:cxn>
                <a:cxn ang="0">
                  <a:pos x="1812" y="447"/>
                </a:cxn>
                <a:cxn ang="0">
                  <a:pos x="2438" y="190"/>
                </a:cxn>
                <a:cxn ang="0">
                  <a:pos x="2899" y="192"/>
                </a:cxn>
                <a:cxn ang="0">
                  <a:pos x="2815" y="276"/>
                </a:cxn>
                <a:cxn ang="0">
                  <a:pos x="3328" y="151"/>
                </a:cxn>
                <a:cxn ang="0">
                  <a:pos x="3085" y="0"/>
                </a:cxn>
                <a:cxn ang="0">
                  <a:pos x="2974" y="114"/>
                </a:cxn>
                <a:cxn ang="0">
                  <a:pos x="2338" y="106"/>
                </a:cxn>
                <a:cxn ang="0">
                  <a:pos x="1762" y="352"/>
                </a:cxn>
                <a:cxn ang="0">
                  <a:pos x="1667" y="112"/>
                </a:cxn>
                <a:cxn ang="0">
                  <a:pos x="1046" y="106"/>
                </a:cxn>
                <a:cxn ang="0">
                  <a:pos x="1147" y="11"/>
                </a:cxn>
                <a:cxn ang="0">
                  <a:pos x="599" y="140"/>
                </a:cxn>
              </a:cxnLst>
              <a:rect l="0" t="0" r="r" b="b"/>
              <a:pathLst>
                <a:path w="3328" h="906">
                  <a:moveTo>
                    <a:pt x="599" y="140"/>
                  </a:moveTo>
                  <a:lnTo>
                    <a:pt x="877" y="270"/>
                  </a:lnTo>
                  <a:lnTo>
                    <a:pt x="964" y="177"/>
                  </a:lnTo>
                  <a:lnTo>
                    <a:pt x="1393" y="183"/>
                  </a:lnTo>
                  <a:lnTo>
                    <a:pt x="1527" y="459"/>
                  </a:lnTo>
                  <a:lnTo>
                    <a:pt x="856" y="727"/>
                  </a:lnTo>
                  <a:lnTo>
                    <a:pt x="436" y="721"/>
                  </a:lnTo>
                  <a:lnTo>
                    <a:pt x="537" y="615"/>
                  </a:lnTo>
                  <a:lnTo>
                    <a:pt x="0" y="755"/>
                  </a:lnTo>
                  <a:lnTo>
                    <a:pt x="247" y="906"/>
                  </a:lnTo>
                  <a:lnTo>
                    <a:pt x="337" y="804"/>
                  </a:lnTo>
                  <a:lnTo>
                    <a:pt x="973" y="800"/>
                  </a:lnTo>
                  <a:lnTo>
                    <a:pt x="1570" y="552"/>
                  </a:lnTo>
                  <a:lnTo>
                    <a:pt x="1663" y="810"/>
                  </a:lnTo>
                  <a:lnTo>
                    <a:pt x="2281" y="807"/>
                  </a:lnTo>
                  <a:lnTo>
                    <a:pt x="2188" y="900"/>
                  </a:lnTo>
                  <a:lnTo>
                    <a:pt x="2707" y="772"/>
                  </a:lnTo>
                  <a:lnTo>
                    <a:pt x="2467" y="624"/>
                  </a:lnTo>
                  <a:lnTo>
                    <a:pt x="2359" y="726"/>
                  </a:lnTo>
                  <a:lnTo>
                    <a:pt x="1915" y="720"/>
                  </a:lnTo>
                  <a:lnTo>
                    <a:pt x="1812" y="447"/>
                  </a:lnTo>
                  <a:lnTo>
                    <a:pt x="2438" y="190"/>
                  </a:lnTo>
                  <a:lnTo>
                    <a:pt x="2899" y="192"/>
                  </a:lnTo>
                  <a:lnTo>
                    <a:pt x="2815" y="276"/>
                  </a:lnTo>
                  <a:lnTo>
                    <a:pt x="3328" y="151"/>
                  </a:lnTo>
                  <a:lnTo>
                    <a:pt x="3085" y="0"/>
                  </a:lnTo>
                  <a:lnTo>
                    <a:pt x="2974" y="114"/>
                  </a:lnTo>
                  <a:lnTo>
                    <a:pt x="2338" y="106"/>
                  </a:lnTo>
                  <a:lnTo>
                    <a:pt x="1762" y="352"/>
                  </a:lnTo>
                  <a:lnTo>
                    <a:pt x="1667" y="112"/>
                  </a:lnTo>
                  <a:lnTo>
                    <a:pt x="1046" y="106"/>
                  </a:lnTo>
                  <a:lnTo>
                    <a:pt x="1147" y="11"/>
                  </a:lnTo>
                  <a:lnTo>
                    <a:pt x="599" y="140"/>
                  </a:lnTo>
                  <a:close/>
                </a:path>
              </a:pathLst>
            </a:custGeom>
            <a:solidFill>
              <a:srgbClr val="FFFFFF"/>
            </a:solidFill>
            <a:ln w="9525">
              <a:solidFill>
                <a:srgbClr val="4D4D4D"/>
              </a:solidFill>
              <a:round/>
              <a:headEnd type="none" w="med" len="med"/>
              <a:tailEnd type="none" w="med" len="med"/>
            </a:ln>
            <a:effectLst>
              <a:outerShdw dist="17961" dir="2700000" algn="ctr" rotWithShape="0">
                <a:srgbClr val="4D4D4D">
                  <a:alpha val="50000"/>
                </a:srgbClr>
              </a:outerShdw>
            </a:effectLst>
          </p:spPr>
          <p:txBody>
            <a:bodyPr/>
            <a:lstStyle/>
            <a:p>
              <a:pPr>
                <a:defRPr/>
              </a:pPr>
              <a:endParaRPr lang="ko-KR" altLang="en-US" sz="1600" kern="0">
                <a:solidFill>
                  <a:sysClr val="windowText" lastClr="000000"/>
                </a:solidFill>
                <a:latin typeface="Times New Roman" pitchFamily="18" charset="0"/>
                <a:cs typeface="Times New Roman" pitchFamily="18" charset="0"/>
              </a:endParaRPr>
            </a:p>
          </p:txBody>
        </p:sp>
      </p:grpSp>
      <p:sp>
        <p:nvSpPr>
          <p:cNvPr id="43" name="TextBox 42"/>
          <p:cNvSpPr txBox="1"/>
          <p:nvPr/>
        </p:nvSpPr>
        <p:spPr>
          <a:xfrm>
            <a:off x="2204653" y="3615680"/>
            <a:ext cx="178548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IP          192.168.1.20</a:t>
            </a:r>
          </a:p>
          <a:p>
            <a:r>
              <a:rPr lang="en-US" altLang="ko-KR" sz="12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SM        255.255.255.0</a:t>
            </a:r>
          </a:p>
          <a:p>
            <a:r>
              <a:rPr lang="en-US" altLang="ko-KR" sz="12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MAC     2222.2222.2222</a:t>
            </a:r>
          </a:p>
          <a:p>
            <a:r>
              <a:rPr lang="en-US" altLang="ko-KR" sz="12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BMAC  FFFF.FFFF.FFFF</a:t>
            </a:r>
          </a:p>
        </p:txBody>
      </p:sp>
      <p:pic>
        <p:nvPicPr>
          <p:cNvPr id="44" name="그림 43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61380" y="716415"/>
            <a:ext cx="1094561" cy="880541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7255941" y="648399"/>
            <a:ext cx="1785489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IP          192.168.1.30</a:t>
            </a:r>
          </a:p>
          <a:p>
            <a:r>
              <a:rPr lang="en-US" altLang="ko-KR" sz="12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SM        255.255.255.0</a:t>
            </a:r>
          </a:p>
          <a:p>
            <a:r>
              <a:rPr lang="en-US" altLang="ko-KR" sz="12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MAC     3333.3333.3333</a:t>
            </a:r>
          </a:p>
          <a:p>
            <a:r>
              <a:rPr lang="en-US" altLang="ko-KR" sz="12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BMAC  FFFF.FFFF.FFFF</a:t>
            </a:r>
          </a:p>
          <a:p>
            <a:endParaRPr lang="en-US" altLang="ko-KR" dirty="0"/>
          </a:p>
        </p:txBody>
      </p:sp>
      <p:sp>
        <p:nvSpPr>
          <p:cNvPr id="48" name="TextBox 47"/>
          <p:cNvSpPr txBox="1"/>
          <p:nvPr/>
        </p:nvSpPr>
        <p:spPr>
          <a:xfrm>
            <a:off x="5573026" y="5154276"/>
            <a:ext cx="512537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      수</a:t>
            </a:r>
            <a:r>
              <a:rPr lang="en-US" altLang="ko-KR" sz="12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MAC</a:t>
            </a:r>
            <a:r>
              <a:rPr lang="en-US" altLang="ko-KR" sz="12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                    </a:t>
            </a:r>
            <a:r>
              <a:rPr lang="ko-KR" altLang="en-US" sz="12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송</a:t>
            </a:r>
            <a:r>
              <a:rPr lang="en-US" altLang="ko-KR" sz="12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MAC</a:t>
            </a:r>
            <a:r>
              <a:rPr lang="en-US" altLang="ko-KR" sz="12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                 </a:t>
            </a:r>
            <a:r>
              <a:rPr lang="en-US" altLang="ko-KR" sz="12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 Protocol                ARP Header</a:t>
            </a:r>
            <a:endParaRPr lang="ko-KR" altLang="en-US" sz="1200" dirty="0">
              <a:latin typeface="Times New Roman" panose="02020603050405020304" pitchFamily="18" charset="0"/>
              <a:ea typeface="함초롬바탕" panose="02030504000101010101" pitchFamily="18" charset="-127"/>
              <a:cs typeface="Times New Roman" panose="02020603050405020304" pitchFamily="18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1179090" y="5420025"/>
            <a:ext cx="670376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300" b="1" dirty="0">
                <a:solidFill>
                  <a:srgbClr val="C00000"/>
                </a:solidFill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송신지</a:t>
            </a:r>
            <a:endParaRPr lang="en-US" altLang="ko-KR" sz="1300" b="1" dirty="0">
              <a:solidFill>
                <a:srgbClr val="C00000"/>
              </a:solidFill>
              <a:latin typeface="함초롬바탕" panose="02030504000101010101" pitchFamily="18" charset="-127"/>
              <a:ea typeface="함초롬바탕" panose="02030504000101010101" pitchFamily="18" charset="-127"/>
              <a:cs typeface="함초롬바탕" panose="02030504000101010101" pitchFamily="18" charset="-127"/>
            </a:endParaRPr>
          </a:p>
          <a:p>
            <a:r>
              <a:rPr lang="ko-KR" altLang="en-US" sz="1300" b="1" dirty="0">
                <a:solidFill>
                  <a:srgbClr val="C00000"/>
                </a:solidFill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수신지</a:t>
            </a:r>
          </a:p>
        </p:txBody>
      </p:sp>
      <p:sp>
        <p:nvSpPr>
          <p:cNvPr id="27" name="직사각형 26"/>
          <p:cNvSpPr/>
          <p:nvPr/>
        </p:nvSpPr>
        <p:spPr>
          <a:xfrm>
            <a:off x="6487709" y="1492726"/>
            <a:ext cx="1920095" cy="4367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700" dirty="0">
                <a:solidFill>
                  <a:srgbClr val="FF0000"/>
                </a:solidFill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 </a:t>
            </a:r>
            <a:r>
              <a:rPr lang="en-US" altLang="ko-KR" sz="1700" dirty="0">
                <a:solidFill>
                  <a:srgbClr val="FF0000"/>
                </a:solidFill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❶ </a:t>
            </a:r>
            <a:r>
              <a:rPr lang="en-US" altLang="ko-KR" sz="1700" dirty="0">
                <a:solidFill>
                  <a:srgbClr val="FF0000"/>
                </a:solidFill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ARP Request</a:t>
            </a:r>
            <a:endParaRPr lang="ko-KR" altLang="en-US" sz="1700" dirty="0">
              <a:solidFill>
                <a:srgbClr val="FF0000"/>
              </a:solidFill>
              <a:latin typeface="함초롬바탕" panose="02030504000101010101" pitchFamily="18" charset="-127"/>
              <a:ea typeface="함초롬바탕" panose="02030504000101010101" pitchFamily="18" charset="-127"/>
              <a:cs typeface="함초롬바탕" panose="02030504000101010101" pitchFamily="18" charset="-127"/>
            </a:endParaRPr>
          </a:p>
        </p:txBody>
      </p:sp>
      <p:sp>
        <p:nvSpPr>
          <p:cNvPr id="28" name="직사각형 27"/>
          <p:cNvSpPr/>
          <p:nvPr/>
        </p:nvSpPr>
        <p:spPr>
          <a:xfrm>
            <a:off x="3242783" y="2820290"/>
            <a:ext cx="1920095" cy="4367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700" dirty="0">
                <a:solidFill>
                  <a:srgbClr val="FF0000"/>
                </a:solidFill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  </a:t>
            </a:r>
            <a:r>
              <a:rPr lang="en-US" altLang="ko-KR" sz="1700" dirty="0">
                <a:solidFill>
                  <a:srgbClr val="FF0000"/>
                </a:solidFill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❶ </a:t>
            </a:r>
            <a:r>
              <a:rPr lang="en-US" altLang="ko-KR" sz="1700" dirty="0">
                <a:solidFill>
                  <a:srgbClr val="FF0000"/>
                </a:solidFill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ARP Request</a:t>
            </a:r>
            <a:endParaRPr lang="ko-KR" altLang="en-US" sz="1700" dirty="0">
              <a:solidFill>
                <a:srgbClr val="FF0000"/>
              </a:solidFill>
              <a:latin typeface="함초롬바탕" panose="02030504000101010101" pitchFamily="18" charset="-127"/>
              <a:ea typeface="함초롬바탕" panose="02030504000101010101" pitchFamily="18" charset="-127"/>
              <a:cs typeface="함초롬바탕" panose="02030504000101010101" pitchFamily="18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>
          <a:xfrm>
            <a:off x="9106266" y="6393306"/>
            <a:ext cx="2743200" cy="365125"/>
          </a:xfrm>
        </p:spPr>
        <p:txBody>
          <a:bodyPr/>
          <a:lstStyle/>
          <a:p>
            <a:fld id="{7B2209E9-2AE8-42A0-AB53-D13299BB30AF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770BFF8C-92AA-BD44-B53E-63996FF3EFC6}"/>
              </a:ext>
            </a:extLst>
          </p:cNvPr>
          <p:cNvSpPr/>
          <p:nvPr/>
        </p:nvSpPr>
        <p:spPr>
          <a:xfrm>
            <a:off x="1480996" y="1511351"/>
            <a:ext cx="2837937" cy="73760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5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192.168.1.10   1111.1111.1111</a:t>
            </a:r>
            <a:endParaRPr lang="ko-KR" altLang="en-US" sz="15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8D0CDE6-4FB0-627E-7108-C2ACAD6E3B48}"/>
              </a:ext>
            </a:extLst>
          </p:cNvPr>
          <p:cNvSpPr txBox="1"/>
          <p:nvPr/>
        </p:nvSpPr>
        <p:spPr>
          <a:xfrm>
            <a:off x="1453934" y="1234148"/>
            <a:ext cx="1643463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ARP Cache Table  </a:t>
            </a:r>
            <a:endParaRPr lang="ko-KR" altLang="en-US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329FFF52-21C5-6877-58CA-8EC3BDD27F72}"/>
              </a:ext>
            </a:extLst>
          </p:cNvPr>
          <p:cNvSpPr/>
          <p:nvPr/>
        </p:nvSpPr>
        <p:spPr>
          <a:xfrm>
            <a:off x="8362992" y="2938392"/>
            <a:ext cx="2932755" cy="71495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500" dirty="0">
                <a:solidFill>
                  <a:schemeClr val="tx1"/>
                </a:solidFill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  </a:t>
            </a:r>
            <a:r>
              <a:rPr lang="en-US" altLang="ko-KR" sz="15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192.168.1.20   2222.2222.2222</a:t>
            </a:r>
            <a:endParaRPr lang="ko-KR" altLang="en-US" sz="15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BD0D471-EB19-6E24-C8EE-085E6A8F5A08}"/>
              </a:ext>
            </a:extLst>
          </p:cNvPr>
          <p:cNvSpPr txBox="1"/>
          <p:nvPr/>
        </p:nvSpPr>
        <p:spPr>
          <a:xfrm>
            <a:off x="9913167" y="2655608"/>
            <a:ext cx="155036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ARP Cache Table  </a:t>
            </a:r>
            <a:endParaRPr lang="ko-KR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74E06AA-5A03-D55B-457C-A7C0146133E2}"/>
              </a:ext>
            </a:extLst>
          </p:cNvPr>
          <p:cNvSpPr txBox="1"/>
          <p:nvPr/>
        </p:nvSpPr>
        <p:spPr>
          <a:xfrm>
            <a:off x="868777" y="304769"/>
            <a:ext cx="389664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3) </a:t>
            </a:r>
            <a:r>
              <a:rPr lang="en-US" altLang="ko-KR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gARP</a:t>
            </a:r>
            <a:r>
              <a:rPr lang="en-US" altLang="ko-KR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(gratuitous</a:t>
            </a:r>
            <a:r>
              <a:rPr lang="ko-KR" alt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ARP)</a:t>
            </a:r>
            <a:endParaRPr lang="ko-KR" alt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505946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직선 연결선 7"/>
          <p:cNvCxnSpPr/>
          <p:nvPr/>
        </p:nvCxnSpPr>
        <p:spPr>
          <a:xfrm>
            <a:off x="6565356" y="1185795"/>
            <a:ext cx="0" cy="1943638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자유형 23"/>
          <p:cNvSpPr/>
          <p:nvPr/>
        </p:nvSpPr>
        <p:spPr>
          <a:xfrm>
            <a:off x="3399010" y="2883212"/>
            <a:ext cx="5818095" cy="1244274"/>
          </a:xfrm>
          <a:custGeom>
            <a:avLst/>
            <a:gdLst>
              <a:gd name="connsiteX0" fmla="*/ 0 w 5818095"/>
              <a:gd name="connsiteY0" fmla="*/ 0 h 2608729"/>
              <a:gd name="connsiteX1" fmla="*/ 3299012 w 5818095"/>
              <a:gd name="connsiteY1" fmla="*/ 0 h 2608729"/>
              <a:gd name="connsiteX2" fmla="*/ 3307977 w 5818095"/>
              <a:gd name="connsiteY2" fmla="*/ 2608729 h 2608729"/>
              <a:gd name="connsiteX3" fmla="*/ 5818095 w 5818095"/>
              <a:gd name="connsiteY3" fmla="*/ 2608729 h 26087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818095" h="2608729">
                <a:moveTo>
                  <a:pt x="0" y="0"/>
                </a:moveTo>
                <a:lnTo>
                  <a:pt x="3299012" y="0"/>
                </a:lnTo>
                <a:cubicBezTo>
                  <a:pt x="3302000" y="869576"/>
                  <a:pt x="3304989" y="1739153"/>
                  <a:pt x="3307977" y="2608729"/>
                </a:cubicBezTo>
                <a:lnTo>
                  <a:pt x="5818095" y="2608729"/>
                </a:lnTo>
              </a:path>
            </a:pathLst>
          </a:cu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26093" y="2295401"/>
            <a:ext cx="1031228" cy="1252345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17104" y="3737298"/>
            <a:ext cx="1304496" cy="104942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400308" y="2544659"/>
            <a:ext cx="54027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Server</a:t>
            </a:r>
            <a:endParaRPr lang="ko-KR" altLang="en-US" sz="16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9275189" y="3811178"/>
            <a:ext cx="8262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Client</a:t>
            </a:r>
            <a:endParaRPr lang="ko-KR" altLang="en-US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31" name="표 3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27817331"/>
              </p:ext>
            </p:extLst>
          </p:nvPr>
        </p:nvGraphicFramePr>
        <p:xfrm>
          <a:off x="3881336" y="6393306"/>
          <a:ext cx="7414410" cy="2743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3541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780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055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6709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564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1337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70926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r>
                        <a:rPr lang="en-US" altLang="ko-KR" sz="1200" dirty="0">
                          <a:latin typeface="Times New Roman" panose="02020603050405020304" pitchFamily="18" charset="0"/>
                          <a:ea typeface="함초롬바탕" panose="02030504000101010101" pitchFamily="18" charset="-127"/>
                          <a:cs typeface="Times New Roman" panose="02020603050405020304" pitchFamily="18" charset="0"/>
                        </a:rPr>
                        <a:t>2222.2222.2222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>
                          <a:latin typeface="Times New Roman" panose="02020603050405020304" pitchFamily="18" charset="0"/>
                          <a:ea typeface="함초롬바탕" panose="02030504000101010101" pitchFamily="18" charset="-127"/>
                          <a:cs typeface="Times New Roman" panose="02020603050405020304" pitchFamily="18" charset="0"/>
                        </a:rPr>
                        <a:t>3333.3333.3333</a:t>
                      </a:r>
                      <a:endParaRPr lang="ko-KR" altLang="en-US" sz="1200" dirty="0">
                        <a:latin typeface="Times New Roman" panose="02020603050405020304" pitchFamily="18" charset="0"/>
                        <a:ea typeface="함초롬바탕" panose="02030504000101010101" pitchFamily="18" charset="-127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192.168.1.10</a:t>
                      </a:r>
                      <a:endParaRPr lang="ko-KR" altLang="en-US" sz="12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>
                          <a:solidFill>
                            <a:srgbClr val="FF0000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192.168.1.20</a:t>
                      </a:r>
                      <a:endParaRPr lang="ko-KR" altLang="en-US" sz="1200" b="1" dirty="0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50030</a:t>
                      </a:r>
                      <a:endParaRPr lang="ko-KR" altLang="en-US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80</a:t>
                      </a:r>
                      <a:endParaRPr lang="ko-KR" altLang="en-US" sz="12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Get /www.test.com</a:t>
                      </a:r>
                      <a:endParaRPr lang="ko-KR" altLang="en-US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4360709" y="6134522"/>
            <a:ext cx="665598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 수</a:t>
            </a:r>
            <a:r>
              <a:rPr lang="en-US" altLang="ko-KR" sz="12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MAC</a:t>
            </a:r>
            <a:r>
              <a:rPr lang="en-US" altLang="ko-KR" sz="12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               </a:t>
            </a:r>
            <a:r>
              <a:rPr lang="ko-KR" altLang="en-US" sz="12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송</a:t>
            </a:r>
            <a:r>
              <a:rPr lang="en-US" altLang="ko-KR" sz="12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MAC</a:t>
            </a:r>
            <a:r>
              <a:rPr lang="en-US" altLang="ko-KR" sz="12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                 </a:t>
            </a:r>
            <a:r>
              <a:rPr lang="ko-KR" altLang="en-US" sz="12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송</a:t>
            </a:r>
            <a:r>
              <a:rPr lang="en-US" altLang="ko-KR" sz="12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IP</a:t>
            </a:r>
            <a:r>
              <a:rPr lang="en-US" altLang="ko-KR" sz="12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                 </a:t>
            </a:r>
            <a:r>
              <a:rPr lang="ko-KR" altLang="en-US" sz="12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수</a:t>
            </a:r>
            <a:r>
              <a:rPr lang="en-US" altLang="ko-KR" sz="12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IP</a:t>
            </a:r>
            <a:r>
              <a:rPr lang="en-US" altLang="ko-KR" sz="12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        </a:t>
            </a:r>
            <a:r>
              <a:rPr lang="ko-KR" altLang="en-US" sz="12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송</a:t>
            </a:r>
            <a:r>
              <a:rPr lang="en-US" altLang="ko-KR" sz="12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Port</a:t>
            </a:r>
            <a:r>
              <a:rPr lang="en-US" altLang="ko-KR" sz="12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   </a:t>
            </a:r>
            <a:r>
              <a:rPr lang="ko-KR" altLang="en-US" sz="12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수</a:t>
            </a:r>
            <a:r>
              <a:rPr lang="en-US" altLang="ko-KR" sz="12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Port</a:t>
            </a:r>
            <a:r>
              <a:rPr lang="en-US" altLang="ko-KR" sz="12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         </a:t>
            </a:r>
            <a:r>
              <a:rPr lang="ko-KR" altLang="en-US" sz="1200" dirty="0" err="1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전송데이타</a:t>
            </a:r>
            <a:r>
              <a:rPr lang="ko-KR" altLang="en-US" sz="12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 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47051" y="4212465"/>
            <a:ext cx="157286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IP       192.168.1.10</a:t>
            </a:r>
          </a:p>
          <a:p>
            <a:r>
              <a:rPr lang="en-US" altLang="ko-KR" sz="12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SM     255.255.255.0</a:t>
            </a:r>
          </a:p>
          <a:p>
            <a:r>
              <a:rPr lang="en-US" altLang="ko-KR" sz="12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MAC </a:t>
            </a:r>
            <a:r>
              <a:rPr lang="en-US" altLang="ko-KR" sz="1200" b="1" dirty="0">
                <a:solidFill>
                  <a:srgbClr val="FF0000"/>
                </a:solidFill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3333.3333.3333</a:t>
            </a:r>
            <a:endParaRPr lang="ko-KR" altLang="en-US" sz="1200" b="1" dirty="0">
              <a:solidFill>
                <a:srgbClr val="FF0000"/>
              </a:solidFill>
              <a:latin typeface="Times New Roman" panose="02020603050405020304" pitchFamily="18" charset="0"/>
              <a:ea typeface="함초롬바탕" panose="02030504000101010101" pitchFamily="18" charset="-127"/>
              <a:cs typeface="Times New Roman" panose="02020603050405020304" pitchFamily="18" charset="0"/>
            </a:endParaRPr>
          </a:p>
          <a:p>
            <a:endParaRPr lang="ko-KR" altLang="en-US" sz="1200" dirty="0">
              <a:latin typeface="Times New Roman" panose="02020603050405020304" pitchFamily="18" charset="0"/>
              <a:ea typeface="함초롬바탕" panose="02030504000101010101" pitchFamily="18" charset="-127"/>
              <a:cs typeface="Times New Roman" panose="02020603050405020304" pitchFamily="18" charset="0"/>
            </a:endParaRPr>
          </a:p>
        </p:txBody>
      </p:sp>
      <p:sp>
        <p:nvSpPr>
          <p:cNvPr id="36" name="직사각형 35"/>
          <p:cNvSpPr/>
          <p:nvPr/>
        </p:nvSpPr>
        <p:spPr>
          <a:xfrm>
            <a:off x="4058180" y="5067623"/>
            <a:ext cx="1920095" cy="4367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7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ARP Request</a:t>
            </a:r>
            <a:endParaRPr lang="ko-KR" altLang="en-US" sz="1700" dirty="0">
              <a:latin typeface="함초롬바탕" panose="02030504000101010101" pitchFamily="18" charset="-127"/>
              <a:ea typeface="함초롬바탕" panose="02030504000101010101" pitchFamily="18" charset="-127"/>
              <a:cs typeface="함초롬바탕" panose="02030504000101010101" pitchFamily="18" charset="-127"/>
            </a:endParaRPr>
          </a:p>
        </p:txBody>
      </p:sp>
      <p:graphicFrame>
        <p:nvGraphicFramePr>
          <p:cNvPr id="37" name="표 3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73086331"/>
              </p:ext>
            </p:extLst>
          </p:nvPr>
        </p:nvGraphicFramePr>
        <p:xfrm>
          <a:off x="5363562" y="5443197"/>
          <a:ext cx="5815528" cy="457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8068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936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111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3007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00612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함초롬바탕" panose="02030504000101010101" pitchFamily="18" charset="-127"/>
                          <a:cs typeface="Times New Roman" panose="02020603050405020304" pitchFamily="18" charset="0"/>
                        </a:rPr>
                        <a:t>FFFF.FFFF.FFFF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>
                          <a:latin typeface="Times New Roman" panose="02020603050405020304" pitchFamily="18" charset="0"/>
                          <a:ea typeface="함초롬바탕" panose="02030504000101010101" pitchFamily="18" charset="-127"/>
                          <a:cs typeface="Times New Roman" panose="02020603050405020304" pitchFamily="18" charset="0"/>
                        </a:rPr>
                        <a:t>3333.3333.3333</a:t>
                      </a:r>
                      <a:endParaRPr lang="ko-KR" altLang="en-US" sz="1200" dirty="0">
                        <a:latin typeface="Times New Roman" panose="02020603050405020304" pitchFamily="18" charset="0"/>
                        <a:ea typeface="함초롬바탕" panose="02030504000101010101" pitchFamily="18" charset="-127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0x0806</a:t>
                      </a:r>
                      <a:endParaRPr lang="ko-KR" altLang="en-US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3333.3333.3333 /</a:t>
                      </a:r>
                      <a:r>
                        <a:rPr lang="en-US" altLang="ko-KR" sz="1200" b="1" dirty="0">
                          <a:solidFill>
                            <a:srgbClr val="FF0000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192.168.1.10</a:t>
                      </a: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0000.0000.0000</a:t>
                      </a:r>
                      <a:r>
                        <a:rPr lang="en-US" altLang="ko-KR" sz="1200" b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/</a:t>
                      </a:r>
                      <a:r>
                        <a:rPr lang="en-US" altLang="ko-KR" sz="1200" b="1" dirty="0">
                          <a:solidFill>
                            <a:srgbClr val="FF0000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192.168.1.10</a:t>
                      </a:r>
                      <a:endParaRPr lang="ko-KR" altLang="en-US" sz="1200" b="1" dirty="0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8" name="오른쪽 화살표 37"/>
          <p:cNvSpPr/>
          <p:nvPr/>
        </p:nvSpPr>
        <p:spPr>
          <a:xfrm rot="10800000">
            <a:off x="4962644" y="5554336"/>
            <a:ext cx="365843" cy="243149"/>
          </a:xfrm>
          <a:prstGeom prst="rightArrow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4" name="그룹 33"/>
          <p:cNvGrpSpPr/>
          <p:nvPr/>
        </p:nvGrpSpPr>
        <p:grpSpPr>
          <a:xfrm>
            <a:off x="5959240" y="2655608"/>
            <a:ext cx="1207816" cy="476937"/>
            <a:chOff x="2610322" y="5109168"/>
            <a:chExt cx="1495425" cy="742950"/>
          </a:xfrm>
        </p:grpSpPr>
        <p:sp>
          <p:nvSpPr>
            <p:cNvPr id="40" name="AutoShape 26"/>
            <p:cNvSpPr>
              <a:spLocks noChangeArrowheads="1"/>
            </p:cNvSpPr>
            <p:nvPr/>
          </p:nvSpPr>
          <p:spPr bwMode="auto">
            <a:xfrm>
              <a:off x="2610322" y="5109168"/>
              <a:ext cx="1495425" cy="742950"/>
            </a:xfrm>
            <a:prstGeom prst="cube">
              <a:avLst>
                <a:gd name="adj" fmla="val 55426"/>
              </a:avLst>
            </a:prstGeom>
            <a:gradFill rotWithShape="1">
              <a:gsLst>
                <a:gs pos="0">
                  <a:srgbClr val="EAEAEA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rgbClr val="777777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endParaRPr lang="ko-KR" altLang="en-US" sz="1600" kern="0">
                <a:solidFill>
                  <a:sysClr val="windowText" lastClr="000000"/>
                </a:solidFill>
                <a:latin typeface="Times New Roman" pitchFamily="18" charset="0"/>
                <a:cs typeface="Times New Roman" pitchFamily="18" charset="0"/>
              </a:endParaRPr>
            </a:p>
          </p:txBody>
        </p:sp>
        <p:sp>
          <p:nvSpPr>
            <p:cNvPr id="41" name="WordArt 28"/>
            <p:cNvSpPr>
              <a:spLocks noChangeArrowheads="1" noChangeShapeType="1" noTextEdit="1"/>
            </p:cNvSpPr>
            <p:nvPr/>
          </p:nvSpPr>
          <p:spPr bwMode="auto">
            <a:xfrm>
              <a:off x="2630926" y="5575432"/>
              <a:ext cx="1003300" cy="261937"/>
            </a:xfrm>
            <a:prstGeom prst="rect">
              <a:avLst/>
            </a:prstGeom>
          </p:spPr>
          <p:txBody>
            <a:bodyPr wrap="none" fromWordArt="1">
              <a:prstTxWarp prst="textPlain">
                <a:avLst>
                  <a:gd name="adj" fmla="val 50000"/>
                </a:avLst>
              </a:prstTxWarp>
            </a:bodyPr>
            <a:lstStyle/>
            <a:p>
              <a:pPr algn="ctr">
                <a:buNone/>
              </a:pPr>
              <a:r>
                <a:rPr lang="en-US" altLang="ko-KR" sz="1600" kern="10" dirty="0">
                  <a:ln w="9525">
                    <a:solidFill>
                      <a:srgbClr val="808080"/>
                    </a:solidFill>
                    <a:round/>
                    <a:headEnd/>
                    <a:tailEnd/>
                  </a:ln>
                  <a:solidFill>
                    <a:srgbClr val="808080"/>
                  </a:solidFill>
                  <a:latin typeface="Times New Roman" pitchFamily="18" charset="0"/>
                  <a:cs typeface="Times New Roman" pitchFamily="18" charset="0"/>
                </a:rPr>
                <a:t>SWITCH</a:t>
              </a:r>
              <a:endParaRPr lang="ko-KR" altLang="en-US" sz="1600" kern="10" dirty="0">
                <a:ln w="9525">
                  <a:solidFill>
                    <a:srgbClr val="808080"/>
                  </a:solidFill>
                  <a:round/>
                  <a:headEnd/>
                  <a:tailEnd/>
                </a:ln>
                <a:solidFill>
                  <a:srgbClr val="808080"/>
                </a:solidFill>
                <a:latin typeface="Times New Roman" pitchFamily="18" charset="0"/>
                <a:cs typeface="Times New Roman" pitchFamily="18" charset="0"/>
              </a:endParaRPr>
            </a:p>
          </p:txBody>
        </p:sp>
        <p:sp>
          <p:nvSpPr>
            <p:cNvPr id="42" name="Freeform 29"/>
            <p:cNvSpPr>
              <a:spLocks/>
            </p:cNvSpPr>
            <p:nvPr/>
          </p:nvSpPr>
          <p:spPr bwMode="auto">
            <a:xfrm>
              <a:off x="2705237" y="5139406"/>
              <a:ext cx="1228725" cy="357188"/>
            </a:xfrm>
            <a:custGeom>
              <a:avLst/>
              <a:gdLst/>
              <a:ahLst/>
              <a:cxnLst>
                <a:cxn ang="0">
                  <a:pos x="599" y="140"/>
                </a:cxn>
                <a:cxn ang="0">
                  <a:pos x="877" y="270"/>
                </a:cxn>
                <a:cxn ang="0">
                  <a:pos x="964" y="177"/>
                </a:cxn>
                <a:cxn ang="0">
                  <a:pos x="1393" y="183"/>
                </a:cxn>
                <a:cxn ang="0">
                  <a:pos x="1527" y="459"/>
                </a:cxn>
                <a:cxn ang="0">
                  <a:pos x="856" y="727"/>
                </a:cxn>
                <a:cxn ang="0">
                  <a:pos x="436" y="721"/>
                </a:cxn>
                <a:cxn ang="0">
                  <a:pos x="537" y="615"/>
                </a:cxn>
                <a:cxn ang="0">
                  <a:pos x="0" y="755"/>
                </a:cxn>
                <a:cxn ang="0">
                  <a:pos x="247" y="906"/>
                </a:cxn>
                <a:cxn ang="0">
                  <a:pos x="337" y="804"/>
                </a:cxn>
                <a:cxn ang="0">
                  <a:pos x="973" y="800"/>
                </a:cxn>
                <a:cxn ang="0">
                  <a:pos x="1570" y="552"/>
                </a:cxn>
                <a:cxn ang="0">
                  <a:pos x="1663" y="810"/>
                </a:cxn>
                <a:cxn ang="0">
                  <a:pos x="2281" y="807"/>
                </a:cxn>
                <a:cxn ang="0">
                  <a:pos x="2188" y="900"/>
                </a:cxn>
                <a:cxn ang="0">
                  <a:pos x="2707" y="772"/>
                </a:cxn>
                <a:cxn ang="0">
                  <a:pos x="2467" y="624"/>
                </a:cxn>
                <a:cxn ang="0">
                  <a:pos x="2359" y="726"/>
                </a:cxn>
                <a:cxn ang="0">
                  <a:pos x="1915" y="720"/>
                </a:cxn>
                <a:cxn ang="0">
                  <a:pos x="1812" y="447"/>
                </a:cxn>
                <a:cxn ang="0">
                  <a:pos x="2438" y="190"/>
                </a:cxn>
                <a:cxn ang="0">
                  <a:pos x="2899" y="192"/>
                </a:cxn>
                <a:cxn ang="0">
                  <a:pos x="2815" y="276"/>
                </a:cxn>
                <a:cxn ang="0">
                  <a:pos x="3328" y="151"/>
                </a:cxn>
                <a:cxn ang="0">
                  <a:pos x="3085" y="0"/>
                </a:cxn>
                <a:cxn ang="0">
                  <a:pos x="2974" y="114"/>
                </a:cxn>
                <a:cxn ang="0">
                  <a:pos x="2338" y="106"/>
                </a:cxn>
                <a:cxn ang="0">
                  <a:pos x="1762" y="352"/>
                </a:cxn>
                <a:cxn ang="0">
                  <a:pos x="1667" y="112"/>
                </a:cxn>
                <a:cxn ang="0">
                  <a:pos x="1046" y="106"/>
                </a:cxn>
                <a:cxn ang="0">
                  <a:pos x="1147" y="11"/>
                </a:cxn>
                <a:cxn ang="0">
                  <a:pos x="599" y="140"/>
                </a:cxn>
              </a:cxnLst>
              <a:rect l="0" t="0" r="r" b="b"/>
              <a:pathLst>
                <a:path w="3328" h="906">
                  <a:moveTo>
                    <a:pt x="599" y="140"/>
                  </a:moveTo>
                  <a:lnTo>
                    <a:pt x="877" y="270"/>
                  </a:lnTo>
                  <a:lnTo>
                    <a:pt x="964" y="177"/>
                  </a:lnTo>
                  <a:lnTo>
                    <a:pt x="1393" y="183"/>
                  </a:lnTo>
                  <a:lnTo>
                    <a:pt x="1527" y="459"/>
                  </a:lnTo>
                  <a:lnTo>
                    <a:pt x="856" y="727"/>
                  </a:lnTo>
                  <a:lnTo>
                    <a:pt x="436" y="721"/>
                  </a:lnTo>
                  <a:lnTo>
                    <a:pt x="537" y="615"/>
                  </a:lnTo>
                  <a:lnTo>
                    <a:pt x="0" y="755"/>
                  </a:lnTo>
                  <a:lnTo>
                    <a:pt x="247" y="906"/>
                  </a:lnTo>
                  <a:lnTo>
                    <a:pt x="337" y="804"/>
                  </a:lnTo>
                  <a:lnTo>
                    <a:pt x="973" y="800"/>
                  </a:lnTo>
                  <a:lnTo>
                    <a:pt x="1570" y="552"/>
                  </a:lnTo>
                  <a:lnTo>
                    <a:pt x="1663" y="810"/>
                  </a:lnTo>
                  <a:lnTo>
                    <a:pt x="2281" y="807"/>
                  </a:lnTo>
                  <a:lnTo>
                    <a:pt x="2188" y="900"/>
                  </a:lnTo>
                  <a:lnTo>
                    <a:pt x="2707" y="772"/>
                  </a:lnTo>
                  <a:lnTo>
                    <a:pt x="2467" y="624"/>
                  </a:lnTo>
                  <a:lnTo>
                    <a:pt x="2359" y="726"/>
                  </a:lnTo>
                  <a:lnTo>
                    <a:pt x="1915" y="720"/>
                  </a:lnTo>
                  <a:lnTo>
                    <a:pt x="1812" y="447"/>
                  </a:lnTo>
                  <a:lnTo>
                    <a:pt x="2438" y="190"/>
                  </a:lnTo>
                  <a:lnTo>
                    <a:pt x="2899" y="192"/>
                  </a:lnTo>
                  <a:lnTo>
                    <a:pt x="2815" y="276"/>
                  </a:lnTo>
                  <a:lnTo>
                    <a:pt x="3328" y="151"/>
                  </a:lnTo>
                  <a:lnTo>
                    <a:pt x="3085" y="0"/>
                  </a:lnTo>
                  <a:lnTo>
                    <a:pt x="2974" y="114"/>
                  </a:lnTo>
                  <a:lnTo>
                    <a:pt x="2338" y="106"/>
                  </a:lnTo>
                  <a:lnTo>
                    <a:pt x="1762" y="352"/>
                  </a:lnTo>
                  <a:lnTo>
                    <a:pt x="1667" y="112"/>
                  </a:lnTo>
                  <a:lnTo>
                    <a:pt x="1046" y="106"/>
                  </a:lnTo>
                  <a:lnTo>
                    <a:pt x="1147" y="11"/>
                  </a:lnTo>
                  <a:lnTo>
                    <a:pt x="599" y="140"/>
                  </a:lnTo>
                  <a:close/>
                </a:path>
              </a:pathLst>
            </a:custGeom>
            <a:solidFill>
              <a:srgbClr val="FFFFFF"/>
            </a:solidFill>
            <a:ln w="9525">
              <a:solidFill>
                <a:srgbClr val="4D4D4D"/>
              </a:solidFill>
              <a:round/>
              <a:headEnd type="none" w="med" len="med"/>
              <a:tailEnd type="none" w="med" len="med"/>
            </a:ln>
            <a:effectLst>
              <a:outerShdw dist="17961" dir="2700000" algn="ctr" rotWithShape="0">
                <a:srgbClr val="4D4D4D">
                  <a:alpha val="50000"/>
                </a:srgbClr>
              </a:outerShdw>
            </a:effectLst>
          </p:spPr>
          <p:txBody>
            <a:bodyPr/>
            <a:lstStyle/>
            <a:p>
              <a:pPr>
                <a:defRPr/>
              </a:pPr>
              <a:endParaRPr lang="ko-KR" altLang="en-US" sz="1600" kern="0">
                <a:solidFill>
                  <a:sysClr val="windowText" lastClr="000000"/>
                </a:solidFill>
                <a:latin typeface="Times New Roman" pitchFamily="18" charset="0"/>
                <a:cs typeface="Times New Roman" pitchFamily="18" charset="0"/>
              </a:endParaRPr>
            </a:p>
          </p:txBody>
        </p:sp>
      </p:grpSp>
      <p:sp>
        <p:nvSpPr>
          <p:cNvPr id="43" name="TextBox 42"/>
          <p:cNvSpPr txBox="1"/>
          <p:nvPr/>
        </p:nvSpPr>
        <p:spPr>
          <a:xfrm>
            <a:off x="2204653" y="3615680"/>
            <a:ext cx="178548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IP          192.168.1.20</a:t>
            </a:r>
          </a:p>
          <a:p>
            <a:r>
              <a:rPr lang="en-US" altLang="ko-KR" sz="12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SM        255.255.255.0</a:t>
            </a:r>
          </a:p>
          <a:p>
            <a:r>
              <a:rPr lang="en-US" altLang="ko-KR" sz="12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MAC     2222.2222.2222</a:t>
            </a:r>
          </a:p>
          <a:p>
            <a:r>
              <a:rPr lang="en-US" altLang="ko-KR" sz="12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BMAC  FFFF.FFFF.FFFF</a:t>
            </a:r>
          </a:p>
        </p:txBody>
      </p:sp>
      <p:pic>
        <p:nvPicPr>
          <p:cNvPr id="44" name="그림 43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61380" y="716415"/>
            <a:ext cx="1094561" cy="880541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7255941" y="648399"/>
            <a:ext cx="1785489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IP          192.168.1.30</a:t>
            </a:r>
          </a:p>
          <a:p>
            <a:r>
              <a:rPr lang="en-US" altLang="ko-KR" sz="12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SM        255.255.255.0</a:t>
            </a:r>
          </a:p>
          <a:p>
            <a:r>
              <a:rPr lang="en-US" altLang="ko-KR" sz="12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MAC     3333.3333.3333</a:t>
            </a:r>
          </a:p>
          <a:p>
            <a:r>
              <a:rPr lang="en-US" altLang="ko-KR" sz="12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BMAC  FFFF.FFFF.FFFF</a:t>
            </a:r>
          </a:p>
          <a:p>
            <a:endParaRPr lang="en-US" altLang="ko-KR" dirty="0"/>
          </a:p>
        </p:txBody>
      </p:sp>
      <p:sp>
        <p:nvSpPr>
          <p:cNvPr id="48" name="TextBox 47"/>
          <p:cNvSpPr txBox="1"/>
          <p:nvPr/>
        </p:nvSpPr>
        <p:spPr>
          <a:xfrm>
            <a:off x="5573026" y="5154276"/>
            <a:ext cx="512537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      수</a:t>
            </a:r>
            <a:r>
              <a:rPr lang="en-US" altLang="ko-KR" sz="12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MAC</a:t>
            </a:r>
            <a:r>
              <a:rPr lang="en-US" altLang="ko-KR" sz="12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                    </a:t>
            </a:r>
            <a:r>
              <a:rPr lang="ko-KR" altLang="en-US" sz="12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송</a:t>
            </a:r>
            <a:r>
              <a:rPr lang="en-US" altLang="ko-KR" sz="12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MAC</a:t>
            </a:r>
            <a:r>
              <a:rPr lang="en-US" altLang="ko-KR" sz="12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                 </a:t>
            </a:r>
            <a:r>
              <a:rPr lang="en-US" altLang="ko-KR" sz="12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 Protocol                ARP Header</a:t>
            </a:r>
            <a:endParaRPr lang="ko-KR" altLang="en-US" sz="1200" dirty="0">
              <a:latin typeface="Times New Roman" panose="02020603050405020304" pitchFamily="18" charset="0"/>
              <a:ea typeface="함초롬바탕" panose="02030504000101010101" pitchFamily="18" charset="-127"/>
              <a:cs typeface="Times New Roman" panose="02020603050405020304" pitchFamily="18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1179090" y="5420025"/>
            <a:ext cx="670376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300" b="1" dirty="0">
                <a:solidFill>
                  <a:srgbClr val="C00000"/>
                </a:solidFill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송신지</a:t>
            </a:r>
            <a:endParaRPr lang="en-US" altLang="ko-KR" sz="1300" b="1" dirty="0">
              <a:solidFill>
                <a:srgbClr val="C00000"/>
              </a:solidFill>
              <a:latin typeface="함초롬바탕" panose="02030504000101010101" pitchFamily="18" charset="-127"/>
              <a:ea typeface="함초롬바탕" panose="02030504000101010101" pitchFamily="18" charset="-127"/>
              <a:cs typeface="함초롬바탕" panose="02030504000101010101" pitchFamily="18" charset="-127"/>
            </a:endParaRPr>
          </a:p>
          <a:p>
            <a:r>
              <a:rPr lang="ko-KR" altLang="en-US" sz="1300" b="1" dirty="0">
                <a:solidFill>
                  <a:srgbClr val="C00000"/>
                </a:solidFill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수신지</a:t>
            </a:r>
          </a:p>
        </p:txBody>
      </p:sp>
      <p:sp>
        <p:nvSpPr>
          <p:cNvPr id="27" name="직사각형 26"/>
          <p:cNvSpPr/>
          <p:nvPr/>
        </p:nvSpPr>
        <p:spPr>
          <a:xfrm>
            <a:off x="6487709" y="1492726"/>
            <a:ext cx="1920095" cy="4367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700" dirty="0">
                <a:solidFill>
                  <a:srgbClr val="FF0000"/>
                </a:solidFill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 </a:t>
            </a:r>
            <a:r>
              <a:rPr lang="en-US" altLang="ko-KR" sz="1700" dirty="0">
                <a:solidFill>
                  <a:srgbClr val="FF0000"/>
                </a:solidFill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❶ </a:t>
            </a:r>
            <a:r>
              <a:rPr lang="en-US" altLang="ko-KR" sz="1700" dirty="0">
                <a:solidFill>
                  <a:srgbClr val="FF0000"/>
                </a:solidFill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ARP Request</a:t>
            </a:r>
            <a:endParaRPr lang="ko-KR" altLang="en-US" sz="1700" dirty="0">
              <a:solidFill>
                <a:srgbClr val="FF0000"/>
              </a:solidFill>
              <a:latin typeface="함초롬바탕" panose="02030504000101010101" pitchFamily="18" charset="-127"/>
              <a:ea typeface="함초롬바탕" panose="02030504000101010101" pitchFamily="18" charset="-127"/>
              <a:cs typeface="함초롬바탕" panose="02030504000101010101" pitchFamily="18" charset="-127"/>
            </a:endParaRPr>
          </a:p>
        </p:txBody>
      </p:sp>
      <p:sp>
        <p:nvSpPr>
          <p:cNvPr id="28" name="직사각형 27"/>
          <p:cNvSpPr/>
          <p:nvPr/>
        </p:nvSpPr>
        <p:spPr>
          <a:xfrm>
            <a:off x="3242783" y="2820290"/>
            <a:ext cx="1920095" cy="4367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700" dirty="0">
                <a:solidFill>
                  <a:srgbClr val="FF0000"/>
                </a:solidFill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  </a:t>
            </a:r>
            <a:r>
              <a:rPr lang="en-US" altLang="ko-KR" sz="1700" dirty="0">
                <a:solidFill>
                  <a:srgbClr val="FF0000"/>
                </a:solidFill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❶ </a:t>
            </a:r>
            <a:r>
              <a:rPr lang="en-US" altLang="ko-KR" sz="1700" dirty="0">
                <a:solidFill>
                  <a:srgbClr val="FF0000"/>
                </a:solidFill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ARP Request</a:t>
            </a:r>
            <a:endParaRPr lang="ko-KR" altLang="en-US" sz="1700" dirty="0">
              <a:solidFill>
                <a:srgbClr val="FF0000"/>
              </a:solidFill>
              <a:latin typeface="함초롬바탕" panose="02030504000101010101" pitchFamily="18" charset="-127"/>
              <a:ea typeface="함초롬바탕" panose="02030504000101010101" pitchFamily="18" charset="-127"/>
              <a:cs typeface="함초롬바탕" panose="02030504000101010101" pitchFamily="18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>
          <a:xfrm>
            <a:off x="9106266" y="6393306"/>
            <a:ext cx="2743200" cy="365125"/>
          </a:xfrm>
        </p:spPr>
        <p:txBody>
          <a:bodyPr/>
          <a:lstStyle/>
          <a:p>
            <a:fld id="{7B2209E9-2AE8-42A0-AB53-D13299BB30AF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770BFF8C-92AA-BD44-B53E-63996FF3EFC6}"/>
              </a:ext>
            </a:extLst>
          </p:cNvPr>
          <p:cNvSpPr/>
          <p:nvPr/>
        </p:nvSpPr>
        <p:spPr>
          <a:xfrm>
            <a:off x="1480996" y="1511351"/>
            <a:ext cx="2837937" cy="73760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5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lang="en-US" altLang="ko-KR" sz="15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192.168.1.10   </a:t>
            </a:r>
            <a:r>
              <a:rPr lang="en-US" altLang="ko-KR" sz="1600" b="1" dirty="0">
                <a:solidFill>
                  <a:srgbClr val="FF0000"/>
                </a:solidFill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3333.3333.3333</a:t>
            </a:r>
            <a:endParaRPr lang="ko-KR" altLang="en-US" sz="15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8D0CDE6-4FB0-627E-7108-C2ACAD6E3B48}"/>
              </a:ext>
            </a:extLst>
          </p:cNvPr>
          <p:cNvSpPr txBox="1"/>
          <p:nvPr/>
        </p:nvSpPr>
        <p:spPr>
          <a:xfrm>
            <a:off x="1453934" y="1234148"/>
            <a:ext cx="1643463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ARP Cache Table  </a:t>
            </a:r>
            <a:endParaRPr lang="ko-KR" altLang="en-US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329FFF52-21C5-6877-58CA-8EC3BDD27F72}"/>
              </a:ext>
            </a:extLst>
          </p:cNvPr>
          <p:cNvSpPr/>
          <p:nvPr/>
        </p:nvSpPr>
        <p:spPr>
          <a:xfrm>
            <a:off x="8362992" y="2938392"/>
            <a:ext cx="2932755" cy="71495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500" dirty="0">
                <a:solidFill>
                  <a:schemeClr val="tx1"/>
                </a:solidFill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  </a:t>
            </a:r>
            <a:r>
              <a:rPr lang="en-US" altLang="ko-KR" sz="15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192.168.1.20   2222.2222.2222</a:t>
            </a:r>
            <a:endParaRPr lang="ko-KR" altLang="en-US" sz="15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BD0D471-EB19-6E24-C8EE-085E6A8F5A08}"/>
              </a:ext>
            </a:extLst>
          </p:cNvPr>
          <p:cNvSpPr txBox="1"/>
          <p:nvPr/>
        </p:nvSpPr>
        <p:spPr>
          <a:xfrm>
            <a:off x="9913167" y="2655608"/>
            <a:ext cx="155036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ARP Cache Table  </a:t>
            </a:r>
            <a:endParaRPr lang="ko-KR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7498821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B7BC827C-F567-B9F4-D231-928530BF5B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00E85C-9068-46D2-A14A-A9DCCDE0C986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3" name="TextBox 3">
            <a:extLst>
              <a:ext uri="{FF2B5EF4-FFF2-40B4-BE49-F238E27FC236}">
                <a16:creationId xmlns:a16="http://schemas.microsoft.com/office/drawing/2014/main" id="{5F3BA8EB-95EC-B08C-572A-B7ADBA93DEF6}"/>
              </a:ext>
            </a:extLst>
          </p:cNvPr>
          <p:cNvSpPr txBox="1"/>
          <p:nvPr/>
        </p:nvSpPr>
        <p:spPr>
          <a:xfrm>
            <a:off x="1308856" y="709481"/>
            <a:ext cx="253146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arp_gratuitous.pcapng</a:t>
            </a:r>
            <a:r>
              <a:rPr lang="en-US" altLang="ko-K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ko-KR" altLang="en-US" sz="20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A4AD5C6E-194C-674D-D1B4-7D8B9363EA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1325" y="1355836"/>
            <a:ext cx="9618551" cy="4539126"/>
          </a:xfrm>
          <a:prstGeom prst="rect">
            <a:avLst/>
          </a:prstGeom>
        </p:spPr>
      </p:pic>
      <p:sp>
        <p:nvSpPr>
          <p:cNvPr id="5" name="직사각형 4">
            <a:extLst>
              <a:ext uri="{FF2B5EF4-FFF2-40B4-BE49-F238E27FC236}">
                <a16:creationId xmlns:a16="http://schemas.microsoft.com/office/drawing/2014/main" id="{EAC415C9-427C-7620-BF7F-7DFBFF3D59E7}"/>
              </a:ext>
            </a:extLst>
          </p:cNvPr>
          <p:cNvSpPr/>
          <p:nvPr/>
        </p:nvSpPr>
        <p:spPr>
          <a:xfrm>
            <a:off x="1682885" y="4951378"/>
            <a:ext cx="3268494" cy="24319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938A99AE-BC54-801B-6C09-0788061AA321}"/>
              </a:ext>
            </a:extLst>
          </p:cNvPr>
          <p:cNvSpPr/>
          <p:nvPr/>
        </p:nvSpPr>
        <p:spPr>
          <a:xfrm>
            <a:off x="1682885" y="5440815"/>
            <a:ext cx="3268494" cy="24319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267533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직선 연결선 7"/>
          <p:cNvCxnSpPr/>
          <p:nvPr/>
        </p:nvCxnSpPr>
        <p:spPr>
          <a:xfrm>
            <a:off x="6351347" y="1506808"/>
            <a:ext cx="0" cy="1943638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자유형 23"/>
          <p:cNvSpPr/>
          <p:nvPr/>
        </p:nvSpPr>
        <p:spPr>
          <a:xfrm>
            <a:off x="3185001" y="3204225"/>
            <a:ext cx="5818095" cy="1244274"/>
          </a:xfrm>
          <a:custGeom>
            <a:avLst/>
            <a:gdLst>
              <a:gd name="connsiteX0" fmla="*/ 0 w 5818095"/>
              <a:gd name="connsiteY0" fmla="*/ 0 h 2608729"/>
              <a:gd name="connsiteX1" fmla="*/ 3299012 w 5818095"/>
              <a:gd name="connsiteY1" fmla="*/ 0 h 2608729"/>
              <a:gd name="connsiteX2" fmla="*/ 3307977 w 5818095"/>
              <a:gd name="connsiteY2" fmla="*/ 2608729 h 2608729"/>
              <a:gd name="connsiteX3" fmla="*/ 5818095 w 5818095"/>
              <a:gd name="connsiteY3" fmla="*/ 2608729 h 26087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818095" h="2608729">
                <a:moveTo>
                  <a:pt x="0" y="0"/>
                </a:moveTo>
                <a:lnTo>
                  <a:pt x="3299012" y="0"/>
                </a:lnTo>
                <a:cubicBezTo>
                  <a:pt x="3302000" y="869576"/>
                  <a:pt x="3304989" y="1739153"/>
                  <a:pt x="3307977" y="2608729"/>
                </a:cubicBezTo>
                <a:lnTo>
                  <a:pt x="5818095" y="2608729"/>
                </a:lnTo>
              </a:path>
            </a:pathLst>
          </a:cu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12084" y="2616414"/>
            <a:ext cx="1031228" cy="1252345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3095" y="4058311"/>
            <a:ext cx="1304496" cy="104942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186299" y="2865672"/>
            <a:ext cx="54027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Server</a:t>
            </a:r>
            <a:endParaRPr lang="ko-KR" altLang="en-US" sz="16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9061180" y="4132191"/>
            <a:ext cx="8262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Client</a:t>
            </a:r>
            <a:endParaRPr lang="ko-KR" altLang="en-US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7433042" y="4533478"/>
            <a:ext cx="157286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IP       </a:t>
            </a:r>
            <a:r>
              <a:rPr lang="en-US" altLang="ko-KR" sz="1200" b="1" dirty="0">
                <a:solidFill>
                  <a:srgbClr val="FF0000"/>
                </a:solidFill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192.168.1.20</a:t>
            </a:r>
          </a:p>
          <a:p>
            <a:r>
              <a:rPr lang="en-US" altLang="ko-KR" sz="12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SM     255.255.255.0</a:t>
            </a:r>
          </a:p>
          <a:p>
            <a:pPr algn="ctr"/>
            <a:r>
              <a:rPr lang="en-US" altLang="ko-KR" sz="12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MAC 1111.1111.1111</a:t>
            </a:r>
            <a:endParaRPr lang="ko-KR" altLang="en-US" sz="1200" dirty="0">
              <a:latin typeface="Times New Roman" panose="02020603050405020304" pitchFamily="18" charset="0"/>
              <a:ea typeface="함초롬바탕" panose="02030504000101010101" pitchFamily="18" charset="-127"/>
              <a:cs typeface="Times New Roman" panose="02020603050405020304" pitchFamily="18" charset="0"/>
            </a:endParaRPr>
          </a:p>
          <a:p>
            <a:endParaRPr lang="ko-KR" altLang="en-US" sz="1200" dirty="0">
              <a:latin typeface="Times New Roman" panose="02020603050405020304" pitchFamily="18" charset="0"/>
              <a:ea typeface="함초롬바탕" panose="02030504000101010101" pitchFamily="18" charset="-127"/>
              <a:cs typeface="Times New Roman" panose="02020603050405020304" pitchFamily="18" charset="0"/>
            </a:endParaRPr>
          </a:p>
        </p:txBody>
      </p:sp>
      <p:sp>
        <p:nvSpPr>
          <p:cNvPr id="36" name="직사각형 35"/>
          <p:cNvSpPr/>
          <p:nvPr/>
        </p:nvSpPr>
        <p:spPr>
          <a:xfrm>
            <a:off x="3844171" y="5388636"/>
            <a:ext cx="1920095" cy="4367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7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ARP Request</a:t>
            </a:r>
            <a:endParaRPr lang="ko-KR" altLang="en-US" sz="1700" dirty="0">
              <a:latin typeface="함초롬바탕" panose="02030504000101010101" pitchFamily="18" charset="-127"/>
              <a:ea typeface="함초롬바탕" panose="02030504000101010101" pitchFamily="18" charset="-127"/>
              <a:cs typeface="함초롬바탕" panose="02030504000101010101" pitchFamily="18" charset="-127"/>
            </a:endParaRPr>
          </a:p>
        </p:txBody>
      </p:sp>
      <p:graphicFrame>
        <p:nvGraphicFramePr>
          <p:cNvPr id="37" name="표 3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06152011"/>
              </p:ext>
            </p:extLst>
          </p:nvPr>
        </p:nvGraphicFramePr>
        <p:xfrm>
          <a:off x="5149553" y="5764210"/>
          <a:ext cx="5815528" cy="457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8068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3671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6805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3007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00612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함초롬바탕" panose="02030504000101010101" pitchFamily="18" charset="-127"/>
                          <a:cs typeface="Times New Roman" panose="02020603050405020304" pitchFamily="18" charset="0"/>
                        </a:rPr>
                        <a:t>FFFF.FFFF.FFFF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>
                          <a:latin typeface="Times New Roman" panose="02020603050405020304" pitchFamily="18" charset="0"/>
                          <a:ea typeface="함초롬바탕" panose="02030504000101010101" pitchFamily="18" charset="-127"/>
                          <a:cs typeface="Times New Roman" panose="02020603050405020304" pitchFamily="18" charset="0"/>
                        </a:rPr>
                        <a:t>1111.1111.1111</a:t>
                      </a:r>
                      <a:endParaRPr lang="ko-KR" altLang="en-US" sz="1200" dirty="0">
                        <a:latin typeface="Times New Roman" panose="02020603050405020304" pitchFamily="18" charset="0"/>
                        <a:ea typeface="함초롬바탕" panose="02030504000101010101" pitchFamily="18" charset="-127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0x0806</a:t>
                      </a:r>
                      <a:endParaRPr lang="ko-KR" altLang="en-US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>
                          <a:latin typeface="Times New Roman" panose="02020603050405020304" pitchFamily="18" charset="0"/>
                          <a:ea typeface="함초롬바탕" panose="02030504000101010101" pitchFamily="18" charset="-127"/>
                          <a:cs typeface="Times New Roman" panose="02020603050405020304" pitchFamily="18" charset="0"/>
                        </a:rPr>
                        <a:t>1111.1111.1111 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/ </a:t>
                      </a:r>
                      <a:r>
                        <a:rPr lang="en-US" altLang="ko-KR" sz="1200" b="1" dirty="0">
                          <a:solidFill>
                            <a:srgbClr val="FF0000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0.0.0.0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0000.0000.0000 </a:t>
                      </a:r>
                      <a:r>
                        <a:rPr lang="en-US" altLang="ko-KR" sz="1200" b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/</a:t>
                      </a:r>
                      <a:r>
                        <a:rPr lang="en-US" altLang="ko-KR" sz="1200" b="1" dirty="0">
                          <a:solidFill>
                            <a:srgbClr val="FF0000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192.168.1.20</a:t>
                      </a:r>
                      <a:endParaRPr lang="ko-KR" altLang="en-US" sz="1200" b="1" dirty="0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8" name="오른쪽 화살표 37"/>
          <p:cNvSpPr/>
          <p:nvPr/>
        </p:nvSpPr>
        <p:spPr>
          <a:xfrm rot="10800000">
            <a:off x="4748635" y="5875349"/>
            <a:ext cx="365843" cy="243149"/>
          </a:xfrm>
          <a:prstGeom prst="rightArrow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4" name="그룹 33"/>
          <p:cNvGrpSpPr/>
          <p:nvPr/>
        </p:nvGrpSpPr>
        <p:grpSpPr>
          <a:xfrm>
            <a:off x="5745231" y="2976621"/>
            <a:ext cx="1207816" cy="476937"/>
            <a:chOff x="2610322" y="5109168"/>
            <a:chExt cx="1495425" cy="742950"/>
          </a:xfrm>
        </p:grpSpPr>
        <p:sp>
          <p:nvSpPr>
            <p:cNvPr id="40" name="AutoShape 26"/>
            <p:cNvSpPr>
              <a:spLocks noChangeArrowheads="1"/>
            </p:cNvSpPr>
            <p:nvPr/>
          </p:nvSpPr>
          <p:spPr bwMode="auto">
            <a:xfrm>
              <a:off x="2610322" y="5109168"/>
              <a:ext cx="1495425" cy="742950"/>
            </a:xfrm>
            <a:prstGeom prst="cube">
              <a:avLst>
                <a:gd name="adj" fmla="val 55426"/>
              </a:avLst>
            </a:prstGeom>
            <a:gradFill rotWithShape="1">
              <a:gsLst>
                <a:gs pos="0">
                  <a:srgbClr val="EAEAEA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rgbClr val="777777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endParaRPr lang="ko-KR" altLang="en-US" sz="1600" kern="0">
                <a:solidFill>
                  <a:sysClr val="windowText" lastClr="000000"/>
                </a:solidFill>
                <a:latin typeface="Times New Roman" pitchFamily="18" charset="0"/>
                <a:cs typeface="Times New Roman" pitchFamily="18" charset="0"/>
              </a:endParaRPr>
            </a:p>
          </p:txBody>
        </p:sp>
        <p:sp>
          <p:nvSpPr>
            <p:cNvPr id="41" name="WordArt 28"/>
            <p:cNvSpPr>
              <a:spLocks noChangeArrowheads="1" noChangeShapeType="1" noTextEdit="1"/>
            </p:cNvSpPr>
            <p:nvPr/>
          </p:nvSpPr>
          <p:spPr bwMode="auto">
            <a:xfrm>
              <a:off x="2630926" y="5575432"/>
              <a:ext cx="1003300" cy="261937"/>
            </a:xfrm>
            <a:prstGeom prst="rect">
              <a:avLst/>
            </a:prstGeom>
          </p:spPr>
          <p:txBody>
            <a:bodyPr wrap="none" fromWordArt="1">
              <a:prstTxWarp prst="textPlain">
                <a:avLst>
                  <a:gd name="adj" fmla="val 50000"/>
                </a:avLst>
              </a:prstTxWarp>
            </a:bodyPr>
            <a:lstStyle/>
            <a:p>
              <a:pPr algn="ctr">
                <a:buNone/>
              </a:pPr>
              <a:r>
                <a:rPr lang="en-US" altLang="ko-KR" sz="1600" kern="10" dirty="0">
                  <a:ln w="9525">
                    <a:solidFill>
                      <a:srgbClr val="808080"/>
                    </a:solidFill>
                    <a:round/>
                    <a:headEnd/>
                    <a:tailEnd/>
                  </a:ln>
                  <a:solidFill>
                    <a:srgbClr val="808080"/>
                  </a:solidFill>
                  <a:latin typeface="Times New Roman" pitchFamily="18" charset="0"/>
                  <a:cs typeface="Times New Roman" pitchFamily="18" charset="0"/>
                </a:rPr>
                <a:t>SWITCH</a:t>
              </a:r>
              <a:endParaRPr lang="ko-KR" altLang="en-US" sz="1600" kern="10" dirty="0">
                <a:ln w="9525">
                  <a:solidFill>
                    <a:srgbClr val="808080"/>
                  </a:solidFill>
                  <a:round/>
                  <a:headEnd/>
                  <a:tailEnd/>
                </a:ln>
                <a:solidFill>
                  <a:srgbClr val="808080"/>
                </a:solidFill>
                <a:latin typeface="Times New Roman" pitchFamily="18" charset="0"/>
                <a:cs typeface="Times New Roman" pitchFamily="18" charset="0"/>
              </a:endParaRPr>
            </a:p>
          </p:txBody>
        </p:sp>
        <p:sp>
          <p:nvSpPr>
            <p:cNvPr id="42" name="Freeform 29"/>
            <p:cNvSpPr>
              <a:spLocks/>
            </p:cNvSpPr>
            <p:nvPr/>
          </p:nvSpPr>
          <p:spPr bwMode="auto">
            <a:xfrm>
              <a:off x="2705237" y="5139406"/>
              <a:ext cx="1228725" cy="357188"/>
            </a:xfrm>
            <a:custGeom>
              <a:avLst/>
              <a:gdLst/>
              <a:ahLst/>
              <a:cxnLst>
                <a:cxn ang="0">
                  <a:pos x="599" y="140"/>
                </a:cxn>
                <a:cxn ang="0">
                  <a:pos x="877" y="270"/>
                </a:cxn>
                <a:cxn ang="0">
                  <a:pos x="964" y="177"/>
                </a:cxn>
                <a:cxn ang="0">
                  <a:pos x="1393" y="183"/>
                </a:cxn>
                <a:cxn ang="0">
                  <a:pos x="1527" y="459"/>
                </a:cxn>
                <a:cxn ang="0">
                  <a:pos x="856" y="727"/>
                </a:cxn>
                <a:cxn ang="0">
                  <a:pos x="436" y="721"/>
                </a:cxn>
                <a:cxn ang="0">
                  <a:pos x="537" y="615"/>
                </a:cxn>
                <a:cxn ang="0">
                  <a:pos x="0" y="755"/>
                </a:cxn>
                <a:cxn ang="0">
                  <a:pos x="247" y="906"/>
                </a:cxn>
                <a:cxn ang="0">
                  <a:pos x="337" y="804"/>
                </a:cxn>
                <a:cxn ang="0">
                  <a:pos x="973" y="800"/>
                </a:cxn>
                <a:cxn ang="0">
                  <a:pos x="1570" y="552"/>
                </a:cxn>
                <a:cxn ang="0">
                  <a:pos x="1663" y="810"/>
                </a:cxn>
                <a:cxn ang="0">
                  <a:pos x="2281" y="807"/>
                </a:cxn>
                <a:cxn ang="0">
                  <a:pos x="2188" y="900"/>
                </a:cxn>
                <a:cxn ang="0">
                  <a:pos x="2707" y="772"/>
                </a:cxn>
                <a:cxn ang="0">
                  <a:pos x="2467" y="624"/>
                </a:cxn>
                <a:cxn ang="0">
                  <a:pos x="2359" y="726"/>
                </a:cxn>
                <a:cxn ang="0">
                  <a:pos x="1915" y="720"/>
                </a:cxn>
                <a:cxn ang="0">
                  <a:pos x="1812" y="447"/>
                </a:cxn>
                <a:cxn ang="0">
                  <a:pos x="2438" y="190"/>
                </a:cxn>
                <a:cxn ang="0">
                  <a:pos x="2899" y="192"/>
                </a:cxn>
                <a:cxn ang="0">
                  <a:pos x="2815" y="276"/>
                </a:cxn>
                <a:cxn ang="0">
                  <a:pos x="3328" y="151"/>
                </a:cxn>
                <a:cxn ang="0">
                  <a:pos x="3085" y="0"/>
                </a:cxn>
                <a:cxn ang="0">
                  <a:pos x="2974" y="114"/>
                </a:cxn>
                <a:cxn ang="0">
                  <a:pos x="2338" y="106"/>
                </a:cxn>
                <a:cxn ang="0">
                  <a:pos x="1762" y="352"/>
                </a:cxn>
                <a:cxn ang="0">
                  <a:pos x="1667" y="112"/>
                </a:cxn>
                <a:cxn ang="0">
                  <a:pos x="1046" y="106"/>
                </a:cxn>
                <a:cxn ang="0">
                  <a:pos x="1147" y="11"/>
                </a:cxn>
                <a:cxn ang="0">
                  <a:pos x="599" y="140"/>
                </a:cxn>
              </a:cxnLst>
              <a:rect l="0" t="0" r="r" b="b"/>
              <a:pathLst>
                <a:path w="3328" h="906">
                  <a:moveTo>
                    <a:pt x="599" y="140"/>
                  </a:moveTo>
                  <a:lnTo>
                    <a:pt x="877" y="270"/>
                  </a:lnTo>
                  <a:lnTo>
                    <a:pt x="964" y="177"/>
                  </a:lnTo>
                  <a:lnTo>
                    <a:pt x="1393" y="183"/>
                  </a:lnTo>
                  <a:lnTo>
                    <a:pt x="1527" y="459"/>
                  </a:lnTo>
                  <a:lnTo>
                    <a:pt x="856" y="727"/>
                  </a:lnTo>
                  <a:lnTo>
                    <a:pt x="436" y="721"/>
                  </a:lnTo>
                  <a:lnTo>
                    <a:pt x="537" y="615"/>
                  </a:lnTo>
                  <a:lnTo>
                    <a:pt x="0" y="755"/>
                  </a:lnTo>
                  <a:lnTo>
                    <a:pt x="247" y="906"/>
                  </a:lnTo>
                  <a:lnTo>
                    <a:pt x="337" y="804"/>
                  </a:lnTo>
                  <a:lnTo>
                    <a:pt x="973" y="800"/>
                  </a:lnTo>
                  <a:lnTo>
                    <a:pt x="1570" y="552"/>
                  </a:lnTo>
                  <a:lnTo>
                    <a:pt x="1663" y="810"/>
                  </a:lnTo>
                  <a:lnTo>
                    <a:pt x="2281" y="807"/>
                  </a:lnTo>
                  <a:lnTo>
                    <a:pt x="2188" y="900"/>
                  </a:lnTo>
                  <a:lnTo>
                    <a:pt x="2707" y="772"/>
                  </a:lnTo>
                  <a:lnTo>
                    <a:pt x="2467" y="624"/>
                  </a:lnTo>
                  <a:lnTo>
                    <a:pt x="2359" y="726"/>
                  </a:lnTo>
                  <a:lnTo>
                    <a:pt x="1915" y="720"/>
                  </a:lnTo>
                  <a:lnTo>
                    <a:pt x="1812" y="447"/>
                  </a:lnTo>
                  <a:lnTo>
                    <a:pt x="2438" y="190"/>
                  </a:lnTo>
                  <a:lnTo>
                    <a:pt x="2899" y="192"/>
                  </a:lnTo>
                  <a:lnTo>
                    <a:pt x="2815" y="276"/>
                  </a:lnTo>
                  <a:lnTo>
                    <a:pt x="3328" y="151"/>
                  </a:lnTo>
                  <a:lnTo>
                    <a:pt x="3085" y="0"/>
                  </a:lnTo>
                  <a:lnTo>
                    <a:pt x="2974" y="114"/>
                  </a:lnTo>
                  <a:lnTo>
                    <a:pt x="2338" y="106"/>
                  </a:lnTo>
                  <a:lnTo>
                    <a:pt x="1762" y="352"/>
                  </a:lnTo>
                  <a:lnTo>
                    <a:pt x="1667" y="112"/>
                  </a:lnTo>
                  <a:lnTo>
                    <a:pt x="1046" y="106"/>
                  </a:lnTo>
                  <a:lnTo>
                    <a:pt x="1147" y="11"/>
                  </a:lnTo>
                  <a:lnTo>
                    <a:pt x="599" y="140"/>
                  </a:lnTo>
                  <a:close/>
                </a:path>
              </a:pathLst>
            </a:custGeom>
            <a:solidFill>
              <a:srgbClr val="FFFFFF"/>
            </a:solidFill>
            <a:ln w="9525">
              <a:solidFill>
                <a:srgbClr val="4D4D4D"/>
              </a:solidFill>
              <a:round/>
              <a:headEnd type="none" w="med" len="med"/>
              <a:tailEnd type="none" w="med" len="med"/>
            </a:ln>
            <a:effectLst>
              <a:outerShdw dist="17961" dir="2700000" algn="ctr" rotWithShape="0">
                <a:srgbClr val="4D4D4D">
                  <a:alpha val="50000"/>
                </a:srgbClr>
              </a:outerShdw>
            </a:effectLst>
          </p:spPr>
          <p:txBody>
            <a:bodyPr/>
            <a:lstStyle/>
            <a:p>
              <a:pPr>
                <a:defRPr/>
              </a:pPr>
              <a:endParaRPr lang="ko-KR" altLang="en-US" sz="1600" kern="0">
                <a:solidFill>
                  <a:sysClr val="windowText" lastClr="000000"/>
                </a:solidFill>
                <a:latin typeface="Times New Roman" pitchFamily="18" charset="0"/>
                <a:cs typeface="Times New Roman" pitchFamily="18" charset="0"/>
              </a:endParaRPr>
            </a:p>
          </p:txBody>
        </p:sp>
      </p:grpSp>
      <p:sp>
        <p:nvSpPr>
          <p:cNvPr id="43" name="TextBox 42"/>
          <p:cNvSpPr txBox="1"/>
          <p:nvPr/>
        </p:nvSpPr>
        <p:spPr>
          <a:xfrm>
            <a:off x="1990644" y="3936693"/>
            <a:ext cx="178548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IP          192.168.1.20</a:t>
            </a:r>
          </a:p>
          <a:p>
            <a:r>
              <a:rPr lang="en-US" altLang="ko-KR" sz="12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SM        255.255.255.0</a:t>
            </a:r>
          </a:p>
          <a:p>
            <a:r>
              <a:rPr lang="en-US" altLang="ko-KR" sz="12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MAC     2222.2222.2222</a:t>
            </a:r>
          </a:p>
          <a:p>
            <a:r>
              <a:rPr lang="en-US" altLang="ko-KR" sz="12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BMAC  FFFF.FFFF.FFFF</a:t>
            </a:r>
          </a:p>
        </p:txBody>
      </p:sp>
      <p:pic>
        <p:nvPicPr>
          <p:cNvPr id="44" name="그림 43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47371" y="1037428"/>
            <a:ext cx="1094561" cy="880541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7041932" y="969412"/>
            <a:ext cx="1785489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IP          192.168.1.30</a:t>
            </a:r>
          </a:p>
          <a:p>
            <a:r>
              <a:rPr lang="en-US" altLang="ko-KR" sz="12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SM        255.255.255.0</a:t>
            </a:r>
          </a:p>
          <a:p>
            <a:r>
              <a:rPr lang="en-US" altLang="ko-KR" sz="12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MAC     3333.3333.3333</a:t>
            </a:r>
          </a:p>
          <a:p>
            <a:r>
              <a:rPr lang="en-US" altLang="ko-KR" sz="12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BMAC  FFFF.FFFF.FFFF</a:t>
            </a:r>
          </a:p>
          <a:p>
            <a:endParaRPr lang="en-US" altLang="ko-KR" dirty="0"/>
          </a:p>
        </p:txBody>
      </p:sp>
      <p:sp>
        <p:nvSpPr>
          <p:cNvPr id="48" name="TextBox 47"/>
          <p:cNvSpPr txBox="1"/>
          <p:nvPr/>
        </p:nvSpPr>
        <p:spPr>
          <a:xfrm>
            <a:off x="5359017" y="5475289"/>
            <a:ext cx="512537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      수</a:t>
            </a:r>
            <a:r>
              <a:rPr lang="en-US" altLang="ko-KR" sz="12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MAC</a:t>
            </a:r>
            <a:r>
              <a:rPr lang="en-US" altLang="ko-KR" sz="12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                    </a:t>
            </a:r>
            <a:r>
              <a:rPr lang="ko-KR" altLang="en-US" sz="12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송</a:t>
            </a:r>
            <a:r>
              <a:rPr lang="en-US" altLang="ko-KR" sz="12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MAC</a:t>
            </a:r>
            <a:r>
              <a:rPr lang="en-US" altLang="ko-KR" sz="12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                 </a:t>
            </a:r>
            <a:r>
              <a:rPr lang="en-US" altLang="ko-KR" sz="12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 Protocol                ARP Header</a:t>
            </a:r>
            <a:endParaRPr lang="ko-KR" altLang="en-US" sz="1200" dirty="0">
              <a:latin typeface="Times New Roman" panose="02020603050405020304" pitchFamily="18" charset="0"/>
              <a:ea typeface="함초롬바탕" panose="02030504000101010101" pitchFamily="18" charset="-127"/>
              <a:cs typeface="Times New Roman" panose="02020603050405020304" pitchFamily="18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0965081" y="5741038"/>
            <a:ext cx="670376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300" b="1" dirty="0">
                <a:solidFill>
                  <a:srgbClr val="C00000"/>
                </a:solidFill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송신지</a:t>
            </a:r>
            <a:endParaRPr lang="en-US" altLang="ko-KR" sz="1300" b="1" dirty="0">
              <a:solidFill>
                <a:srgbClr val="C00000"/>
              </a:solidFill>
              <a:latin typeface="함초롬바탕" panose="02030504000101010101" pitchFamily="18" charset="-127"/>
              <a:ea typeface="함초롬바탕" panose="02030504000101010101" pitchFamily="18" charset="-127"/>
              <a:cs typeface="함초롬바탕" panose="02030504000101010101" pitchFamily="18" charset="-127"/>
            </a:endParaRPr>
          </a:p>
          <a:p>
            <a:r>
              <a:rPr lang="ko-KR" altLang="en-US" sz="1300" b="1" dirty="0">
                <a:solidFill>
                  <a:srgbClr val="C00000"/>
                </a:solidFill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수신지</a:t>
            </a:r>
          </a:p>
        </p:txBody>
      </p:sp>
      <p:sp>
        <p:nvSpPr>
          <p:cNvPr id="27" name="직사각형 26"/>
          <p:cNvSpPr/>
          <p:nvPr/>
        </p:nvSpPr>
        <p:spPr>
          <a:xfrm>
            <a:off x="6273700" y="1813739"/>
            <a:ext cx="1920095" cy="4367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700" dirty="0">
                <a:solidFill>
                  <a:srgbClr val="FF0000"/>
                </a:solidFill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 </a:t>
            </a:r>
            <a:r>
              <a:rPr lang="en-US" altLang="ko-KR" sz="1700" dirty="0">
                <a:solidFill>
                  <a:srgbClr val="FF0000"/>
                </a:solidFill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❶ </a:t>
            </a:r>
            <a:r>
              <a:rPr lang="en-US" altLang="ko-KR" sz="1700" dirty="0">
                <a:solidFill>
                  <a:srgbClr val="FF0000"/>
                </a:solidFill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ARP Request</a:t>
            </a:r>
            <a:endParaRPr lang="ko-KR" altLang="en-US" sz="1700" dirty="0">
              <a:solidFill>
                <a:srgbClr val="FF0000"/>
              </a:solidFill>
              <a:latin typeface="함초롬바탕" panose="02030504000101010101" pitchFamily="18" charset="-127"/>
              <a:ea typeface="함초롬바탕" panose="02030504000101010101" pitchFamily="18" charset="-127"/>
              <a:cs typeface="함초롬바탕" panose="02030504000101010101" pitchFamily="18" charset="-127"/>
            </a:endParaRPr>
          </a:p>
        </p:txBody>
      </p:sp>
      <p:sp>
        <p:nvSpPr>
          <p:cNvPr id="28" name="직사각형 27"/>
          <p:cNvSpPr/>
          <p:nvPr/>
        </p:nvSpPr>
        <p:spPr>
          <a:xfrm>
            <a:off x="3028774" y="3141303"/>
            <a:ext cx="1920095" cy="4367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700" dirty="0">
                <a:solidFill>
                  <a:srgbClr val="FF0000"/>
                </a:solidFill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  </a:t>
            </a:r>
            <a:r>
              <a:rPr lang="en-US" altLang="ko-KR" sz="1700" dirty="0">
                <a:solidFill>
                  <a:srgbClr val="FF0000"/>
                </a:solidFill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❶ </a:t>
            </a:r>
            <a:r>
              <a:rPr lang="en-US" altLang="ko-KR" sz="1700" dirty="0">
                <a:solidFill>
                  <a:srgbClr val="FF0000"/>
                </a:solidFill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ARP Request</a:t>
            </a:r>
            <a:endParaRPr lang="ko-KR" altLang="en-US" sz="1700" dirty="0">
              <a:solidFill>
                <a:srgbClr val="FF0000"/>
              </a:solidFill>
              <a:latin typeface="함초롬바탕" panose="02030504000101010101" pitchFamily="18" charset="-127"/>
              <a:ea typeface="함초롬바탕" panose="02030504000101010101" pitchFamily="18" charset="-127"/>
              <a:cs typeface="함초롬바탕" panose="02030504000101010101" pitchFamily="18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>
          <a:xfrm>
            <a:off x="9106266" y="6393306"/>
            <a:ext cx="2743200" cy="365125"/>
          </a:xfrm>
        </p:spPr>
        <p:txBody>
          <a:bodyPr/>
          <a:lstStyle/>
          <a:p>
            <a:fld id="{7B2209E9-2AE8-42A0-AB53-D13299BB30AF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770BFF8C-92AA-BD44-B53E-63996FF3EFC6}"/>
              </a:ext>
            </a:extLst>
          </p:cNvPr>
          <p:cNvSpPr/>
          <p:nvPr/>
        </p:nvSpPr>
        <p:spPr>
          <a:xfrm>
            <a:off x="1266987" y="1832364"/>
            <a:ext cx="2837937" cy="73760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5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8D0CDE6-4FB0-627E-7108-C2ACAD6E3B48}"/>
              </a:ext>
            </a:extLst>
          </p:cNvPr>
          <p:cNvSpPr txBox="1"/>
          <p:nvPr/>
        </p:nvSpPr>
        <p:spPr>
          <a:xfrm>
            <a:off x="1239925" y="1555161"/>
            <a:ext cx="1643463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ARP Cache Table  </a:t>
            </a:r>
            <a:endParaRPr lang="ko-KR" altLang="en-US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329FFF52-21C5-6877-58CA-8EC3BDD27F72}"/>
              </a:ext>
            </a:extLst>
          </p:cNvPr>
          <p:cNvSpPr/>
          <p:nvPr/>
        </p:nvSpPr>
        <p:spPr>
          <a:xfrm>
            <a:off x="8148983" y="3259405"/>
            <a:ext cx="2932755" cy="71495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500" dirty="0">
                <a:solidFill>
                  <a:schemeClr val="tx1"/>
                </a:solidFill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  </a:t>
            </a:r>
            <a:endParaRPr lang="ko-KR" altLang="en-US" sz="15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BD0D471-EB19-6E24-C8EE-085E6A8F5A08}"/>
              </a:ext>
            </a:extLst>
          </p:cNvPr>
          <p:cNvSpPr txBox="1"/>
          <p:nvPr/>
        </p:nvSpPr>
        <p:spPr>
          <a:xfrm>
            <a:off x="9699158" y="2976621"/>
            <a:ext cx="155036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ARP Cache Table  </a:t>
            </a:r>
            <a:endParaRPr lang="ko-KR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74E06AA-5A03-D55B-457C-A7C0146133E2}"/>
              </a:ext>
            </a:extLst>
          </p:cNvPr>
          <p:cNvSpPr txBox="1"/>
          <p:nvPr/>
        </p:nvSpPr>
        <p:spPr>
          <a:xfrm>
            <a:off x="868777" y="304769"/>
            <a:ext cx="216809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4) ARP Probe</a:t>
            </a:r>
            <a:endParaRPr lang="ko-KR" alt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8426243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자유형 23"/>
          <p:cNvSpPr/>
          <p:nvPr/>
        </p:nvSpPr>
        <p:spPr>
          <a:xfrm>
            <a:off x="3480693" y="3507364"/>
            <a:ext cx="5818095" cy="1244274"/>
          </a:xfrm>
          <a:custGeom>
            <a:avLst/>
            <a:gdLst>
              <a:gd name="connsiteX0" fmla="*/ 0 w 5818095"/>
              <a:gd name="connsiteY0" fmla="*/ 0 h 2608729"/>
              <a:gd name="connsiteX1" fmla="*/ 3299012 w 5818095"/>
              <a:gd name="connsiteY1" fmla="*/ 0 h 2608729"/>
              <a:gd name="connsiteX2" fmla="*/ 3307977 w 5818095"/>
              <a:gd name="connsiteY2" fmla="*/ 2608729 h 2608729"/>
              <a:gd name="connsiteX3" fmla="*/ 5818095 w 5818095"/>
              <a:gd name="connsiteY3" fmla="*/ 2608729 h 26087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818095" h="2608729">
                <a:moveTo>
                  <a:pt x="0" y="0"/>
                </a:moveTo>
                <a:lnTo>
                  <a:pt x="3299012" y="0"/>
                </a:lnTo>
                <a:cubicBezTo>
                  <a:pt x="3302000" y="869576"/>
                  <a:pt x="3304989" y="1739153"/>
                  <a:pt x="3307977" y="2608729"/>
                </a:cubicBezTo>
                <a:lnTo>
                  <a:pt x="5818095" y="2608729"/>
                </a:lnTo>
              </a:path>
            </a:pathLst>
          </a:cu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07776" y="2919553"/>
            <a:ext cx="1031228" cy="1252345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98787" y="4361450"/>
            <a:ext cx="1304496" cy="104942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481991" y="3168811"/>
            <a:ext cx="54027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Server</a:t>
            </a:r>
            <a:endParaRPr lang="ko-KR" altLang="en-US" sz="16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9356872" y="4435330"/>
            <a:ext cx="8262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Client</a:t>
            </a:r>
            <a:endParaRPr lang="ko-KR" altLang="en-US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직사각형 15"/>
          <p:cNvSpPr/>
          <p:nvPr/>
        </p:nvSpPr>
        <p:spPr>
          <a:xfrm>
            <a:off x="7691909" y="3556748"/>
            <a:ext cx="2932755" cy="71495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5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9075478" y="3236865"/>
            <a:ext cx="155036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ARP Cache Table  </a:t>
            </a:r>
            <a:endParaRPr lang="ko-KR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7815753" y="4764546"/>
            <a:ext cx="148303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b="1" dirty="0">
                <a:solidFill>
                  <a:srgbClr val="FF0000"/>
                </a:solidFill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IP     192.168.1.20</a:t>
            </a:r>
          </a:p>
          <a:p>
            <a:r>
              <a:rPr lang="en-US" altLang="ko-KR" sz="12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SM    255.255.255.0</a:t>
            </a:r>
          </a:p>
          <a:p>
            <a:r>
              <a:rPr lang="en-US" altLang="ko-KR" sz="12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MAC1111.1111.1111</a:t>
            </a:r>
            <a:endParaRPr lang="ko-KR" altLang="en-US" sz="1200" dirty="0">
              <a:latin typeface="Times New Roman" panose="02020603050405020304" pitchFamily="18" charset="0"/>
              <a:ea typeface="함초롬바탕" panose="02030504000101010101" pitchFamily="18" charset="-127"/>
              <a:cs typeface="Times New Roman" panose="02020603050405020304" pitchFamily="18" charset="0"/>
            </a:endParaRPr>
          </a:p>
        </p:txBody>
      </p:sp>
      <p:graphicFrame>
        <p:nvGraphicFramePr>
          <p:cNvPr id="37" name="표 3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4200370"/>
              </p:ext>
            </p:extLst>
          </p:nvPr>
        </p:nvGraphicFramePr>
        <p:xfrm>
          <a:off x="2074914" y="1501804"/>
          <a:ext cx="5762948" cy="457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7045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26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0157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82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006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>
                          <a:latin typeface="Times New Roman" panose="02020603050405020304" pitchFamily="18" charset="0"/>
                          <a:ea typeface="함초롬바탕" panose="02030504000101010101" pitchFamily="18" charset="-127"/>
                          <a:cs typeface="Times New Roman" panose="02020603050405020304" pitchFamily="18" charset="0"/>
                        </a:rPr>
                        <a:t>2222.2222.2222 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/192.168.1.20</a:t>
                      </a: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1111.1111.1111 / 0.0.0.0</a:t>
                      </a:r>
                      <a:endParaRPr lang="en-US" altLang="ko-KR" sz="1200" b="1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함초롬바탕" panose="02030504000101010101" pitchFamily="18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0x0806</a:t>
                      </a:r>
                      <a:endParaRPr lang="ko-KR" altLang="en-US" sz="13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>
                          <a:latin typeface="Times New Roman" panose="02020603050405020304" pitchFamily="18" charset="0"/>
                          <a:ea typeface="함초롬바탕" panose="02030504000101010101" pitchFamily="18" charset="-127"/>
                          <a:cs typeface="Times New Roman" panose="02020603050405020304" pitchFamily="18" charset="0"/>
                        </a:rPr>
                        <a:t>2222.2222.2222</a:t>
                      </a:r>
                      <a:endParaRPr lang="ko-KR" altLang="en-US" sz="1200" dirty="0">
                        <a:latin typeface="Times New Roman" panose="02020603050405020304" pitchFamily="18" charset="0"/>
                        <a:ea typeface="함초롬바탕" panose="02030504000101010101" pitchFamily="18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1111.1111.1111</a:t>
                      </a:r>
                      <a:endParaRPr lang="ko-KR" altLang="en-US" sz="1200" b="1" dirty="0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pSp>
        <p:nvGrpSpPr>
          <p:cNvPr id="34" name="그룹 33"/>
          <p:cNvGrpSpPr/>
          <p:nvPr/>
        </p:nvGrpSpPr>
        <p:grpSpPr>
          <a:xfrm>
            <a:off x="6040923" y="3279760"/>
            <a:ext cx="1207816" cy="476937"/>
            <a:chOff x="2610322" y="5109168"/>
            <a:chExt cx="1495425" cy="742950"/>
          </a:xfrm>
        </p:grpSpPr>
        <p:sp>
          <p:nvSpPr>
            <p:cNvPr id="40" name="AutoShape 26"/>
            <p:cNvSpPr>
              <a:spLocks noChangeArrowheads="1"/>
            </p:cNvSpPr>
            <p:nvPr/>
          </p:nvSpPr>
          <p:spPr bwMode="auto">
            <a:xfrm>
              <a:off x="2610322" y="5109168"/>
              <a:ext cx="1495425" cy="742950"/>
            </a:xfrm>
            <a:prstGeom prst="cube">
              <a:avLst>
                <a:gd name="adj" fmla="val 55426"/>
              </a:avLst>
            </a:prstGeom>
            <a:gradFill rotWithShape="1">
              <a:gsLst>
                <a:gs pos="0">
                  <a:srgbClr val="EAEAEA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rgbClr val="777777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endParaRPr lang="ko-KR" altLang="en-US" sz="1600" kern="0">
                <a:solidFill>
                  <a:sysClr val="windowText" lastClr="000000"/>
                </a:solidFill>
                <a:latin typeface="Times New Roman" pitchFamily="18" charset="0"/>
                <a:cs typeface="Times New Roman" pitchFamily="18" charset="0"/>
              </a:endParaRPr>
            </a:p>
          </p:txBody>
        </p:sp>
        <p:sp>
          <p:nvSpPr>
            <p:cNvPr id="41" name="WordArt 28"/>
            <p:cNvSpPr>
              <a:spLocks noChangeArrowheads="1" noChangeShapeType="1" noTextEdit="1"/>
            </p:cNvSpPr>
            <p:nvPr/>
          </p:nvSpPr>
          <p:spPr bwMode="auto">
            <a:xfrm>
              <a:off x="2630926" y="5575432"/>
              <a:ext cx="1003300" cy="261937"/>
            </a:xfrm>
            <a:prstGeom prst="rect">
              <a:avLst/>
            </a:prstGeom>
          </p:spPr>
          <p:txBody>
            <a:bodyPr wrap="none" fromWordArt="1">
              <a:prstTxWarp prst="textPlain">
                <a:avLst>
                  <a:gd name="adj" fmla="val 50000"/>
                </a:avLst>
              </a:prstTxWarp>
            </a:bodyPr>
            <a:lstStyle/>
            <a:p>
              <a:pPr algn="ctr">
                <a:buNone/>
              </a:pPr>
              <a:r>
                <a:rPr lang="en-US" altLang="ko-KR" sz="1600" kern="10" dirty="0">
                  <a:ln w="9525">
                    <a:solidFill>
                      <a:srgbClr val="808080"/>
                    </a:solidFill>
                    <a:round/>
                    <a:headEnd/>
                    <a:tailEnd/>
                  </a:ln>
                  <a:solidFill>
                    <a:srgbClr val="808080"/>
                  </a:solidFill>
                  <a:latin typeface="Times New Roman" pitchFamily="18" charset="0"/>
                  <a:cs typeface="Times New Roman" pitchFamily="18" charset="0"/>
                </a:rPr>
                <a:t>SWITCH</a:t>
              </a:r>
              <a:endParaRPr lang="ko-KR" altLang="en-US" sz="1600" kern="10" dirty="0">
                <a:ln w="9525">
                  <a:solidFill>
                    <a:srgbClr val="808080"/>
                  </a:solidFill>
                  <a:round/>
                  <a:headEnd/>
                  <a:tailEnd/>
                </a:ln>
                <a:solidFill>
                  <a:srgbClr val="808080"/>
                </a:solidFill>
                <a:latin typeface="Times New Roman" pitchFamily="18" charset="0"/>
                <a:cs typeface="Times New Roman" pitchFamily="18" charset="0"/>
              </a:endParaRPr>
            </a:p>
          </p:txBody>
        </p:sp>
        <p:sp>
          <p:nvSpPr>
            <p:cNvPr id="42" name="Freeform 29"/>
            <p:cNvSpPr>
              <a:spLocks/>
            </p:cNvSpPr>
            <p:nvPr/>
          </p:nvSpPr>
          <p:spPr bwMode="auto">
            <a:xfrm>
              <a:off x="2705237" y="5139406"/>
              <a:ext cx="1228725" cy="357188"/>
            </a:xfrm>
            <a:custGeom>
              <a:avLst/>
              <a:gdLst/>
              <a:ahLst/>
              <a:cxnLst>
                <a:cxn ang="0">
                  <a:pos x="599" y="140"/>
                </a:cxn>
                <a:cxn ang="0">
                  <a:pos x="877" y="270"/>
                </a:cxn>
                <a:cxn ang="0">
                  <a:pos x="964" y="177"/>
                </a:cxn>
                <a:cxn ang="0">
                  <a:pos x="1393" y="183"/>
                </a:cxn>
                <a:cxn ang="0">
                  <a:pos x="1527" y="459"/>
                </a:cxn>
                <a:cxn ang="0">
                  <a:pos x="856" y="727"/>
                </a:cxn>
                <a:cxn ang="0">
                  <a:pos x="436" y="721"/>
                </a:cxn>
                <a:cxn ang="0">
                  <a:pos x="537" y="615"/>
                </a:cxn>
                <a:cxn ang="0">
                  <a:pos x="0" y="755"/>
                </a:cxn>
                <a:cxn ang="0">
                  <a:pos x="247" y="906"/>
                </a:cxn>
                <a:cxn ang="0">
                  <a:pos x="337" y="804"/>
                </a:cxn>
                <a:cxn ang="0">
                  <a:pos x="973" y="800"/>
                </a:cxn>
                <a:cxn ang="0">
                  <a:pos x="1570" y="552"/>
                </a:cxn>
                <a:cxn ang="0">
                  <a:pos x="1663" y="810"/>
                </a:cxn>
                <a:cxn ang="0">
                  <a:pos x="2281" y="807"/>
                </a:cxn>
                <a:cxn ang="0">
                  <a:pos x="2188" y="900"/>
                </a:cxn>
                <a:cxn ang="0">
                  <a:pos x="2707" y="772"/>
                </a:cxn>
                <a:cxn ang="0">
                  <a:pos x="2467" y="624"/>
                </a:cxn>
                <a:cxn ang="0">
                  <a:pos x="2359" y="726"/>
                </a:cxn>
                <a:cxn ang="0">
                  <a:pos x="1915" y="720"/>
                </a:cxn>
                <a:cxn ang="0">
                  <a:pos x="1812" y="447"/>
                </a:cxn>
                <a:cxn ang="0">
                  <a:pos x="2438" y="190"/>
                </a:cxn>
                <a:cxn ang="0">
                  <a:pos x="2899" y="192"/>
                </a:cxn>
                <a:cxn ang="0">
                  <a:pos x="2815" y="276"/>
                </a:cxn>
                <a:cxn ang="0">
                  <a:pos x="3328" y="151"/>
                </a:cxn>
                <a:cxn ang="0">
                  <a:pos x="3085" y="0"/>
                </a:cxn>
                <a:cxn ang="0">
                  <a:pos x="2974" y="114"/>
                </a:cxn>
                <a:cxn ang="0">
                  <a:pos x="2338" y="106"/>
                </a:cxn>
                <a:cxn ang="0">
                  <a:pos x="1762" y="352"/>
                </a:cxn>
                <a:cxn ang="0">
                  <a:pos x="1667" y="112"/>
                </a:cxn>
                <a:cxn ang="0">
                  <a:pos x="1046" y="106"/>
                </a:cxn>
                <a:cxn ang="0">
                  <a:pos x="1147" y="11"/>
                </a:cxn>
                <a:cxn ang="0">
                  <a:pos x="599" y="140"/>
                </a:cxn>
              </a:cxnLst>
              <a:rect l="0" t="0" r="r" b="b"/>
              <a:pathLst>
                <a:path w="3328" h="906">
                  <a:moveTo>
                    <a:pt x="599" y="140"/>
                  </a:moveTo>
                  <a:lnTo>
                    <a:pt x="877" y="270"/>
                  </a:lnTo>
                  <a:lnTo>
                    <a:pt x="964" y="177"/>
                  </a:lnTo>
                  <a:lnTo>
                    <a:pt x="1393" y="183"/>
                  </a:lnTo>
                  <a:lnTo>
                    <a:pt x="1527" y="459"/>
                  </a:lnTo>
                  <a:lnTo>
                    <a:pt x="856" y="727"/>
                  </a:lnTo>
                  <a:lnTo>
                    <a:pt x="436" y="721"/>
                  </a:lnTo>
                  <a:lnTo>
                    <a:pt x="537" y="615"/>
                  </a:lnTo>
                  <a:lnTo>
                    <a:pt x="0" y="755"/>
                  </a:lnTo>
                  <a:lnTo>
                    <a:pt x="247" y="906"/>
                  </a:lnTo>
                  <a:lnTo>
                    <a:pt x="337" y="804"/>
                  </a:lnTo>
                  <a:lnTo>
                    <a:pt x="973" y="800"/>
                  </a:lnTo>
                  <a:lnTo>
                    <a:pt x="1570" y="552"/>
                  </a:lnTo>
                  <a:lnTo>
                    <a:pt x="1663" y="810"/>
                  </a:lnTo>
                  <a:lnTo>
                    <a:pt x="2281" y="807"/>
                  </a:lnTo>
                  <a:lnTo>
                    <a:pt x="2188" y="900"/>
                  </a:lnTo>
                  <a:lnTo>
                    <a:pt x="2707" y="772"/>
                  </a:lnTo>
                  <a:lnTo>
                    <a:pt x="2467" y="624"/>
                  </a:lnTo>
                  <a:lnTo>
                    <a:pt x="2359" y="726"/>
                  </a:lnTo>
                  <a:lnTo>
                    <a:pt x="1915" y="720"/>
                  </a:lnTo>
                  <a:lnTo>
                    <a:pt x="1812" y="447"/>
                  </a:lnTo>
                  <a:lnTo>
                    <a:pt x="2438" y="190"/>
                  </a:lnTo>
                  <a:lnTo>
                    <a:pt x="2899" y="192"/>
                  </a:lnTo>
                  <a:lnTo>
                    <a:pt x="2815" y="276"/>
                  </a:lnTo>
                  <a:lnTo>
                    <a:pt x="3328" y="151"/>
                  </a:lnTo>
                  <a:lnTo>
                    <a:pt x="3085" y="0"/>
                  </a:lnTo>
                  <a:lnTo>
                    <a:pt x="2974" y="114"/>
                  </a:lnTo>
                  <a:lnTo>
                    <a:pt x="2338" y="106"/>
                  </a:lnTo>
                  <a:lnTo>
                    <a:pt x="1762" y="352"/>
                  </a:lnTo>
                  <a:lnTo>
                    <a:pt x="1667" y="112"/>
                  </a:lnTo>
                  <a:lnTo>
                    <a:pt x="1046" y="106"/>
                  </a:lnTo>
                  <a:lnTo>
                    <a:pt x="1147" y="11"/>
                  </a:lnTo>
                  <a:lnTo>
                    <a:pt x="599" y="140"/>
                  </a:lnTo>
                  <a:close/>
                </a:path>
              </a:pathLst>
            </a:custGeom>
            <a:solidFill>
              <a:srgbClr val="FFFFFF"/>
            </a:solidFill>
            <a:ln w="9525">
              <a:solidFill>
                <a:srgbClr val="4D4D4D"/>
              </a:solidFill>
              <a:round/>
              <a:headEnd type="none" w="med" len="med"/>
              <a:tailEnd type="none" w="med" len="med"/>
            </a:ln>
            <a:effectLst>
              <a:outerShdw dist="17961" dir="2700000" algn="ctr" rotWithShape="0">
                <a:srgbClr val="4D4D4D">
                  <a:alpha val="50000"/>
                </a:srgbClr>
              </a:outerShdw>
            </a:effectLst>
          </p:spPr>
          <p:txBody>
            <a:bodyPr/>
            <a:lstStyle/>
            <a:p>
              <a:pPr>
                <a:defRPr/>
              </a:pPr>
              <a:endParaRPr lang="ko-KR" altLang="en-US" sz="1600" kern="0">
                <a:solidFill>
                  <a:sysClr val="windowText" lastClr="000000"/>
                </a:solidFill>
                <a:latin typeface="Times New Roman" pitchFamily="18" charset="0"/>
                <a:cs typeface="Times New Roman" pitchFamily="18" charset="0"/>
              </a:endParaRPr>
            </a:p>
          </p:txBody>
        </p:sp>
      </p:grpSp>
      <p:sp>
        <p:nvSpPr>
          <p:cNvPr id="43" name="TextBox 42"/>
          <p:cNvSpPr txBox="1"/>
          <p:nvPr/>
        </p:nvSpPr>
        <p:spPr>
          <a:xfrm>
            <a:off x="2286336" y="4239832"/>
            <a:ext cx="178548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b="1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IP          192.168.1.20</a:t>
            </a:r>
          </a:p>
          <a:p>
            <a:r>
              <a:rPr lang="en-US" altLang="ko-KR" sz="12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SM        255.255.255.0</a:t>
            </a:r>
          </a:p>
          <a:p>
            <a:r>
              <a:rPr lang="en-US" altLang="ko-KR" sz="12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MAC     2222.2222.2222</a:t>
            </a:r>
          </a:p>
          <a:p>
            <a:r>
              <a:rPr lang="en-US" altLang="ko-KR" sz="12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BMAC  FFFF.FFFF.FFFF</a:t>
            </a:r>
          </a:p>
        </p:txBody>
      </p:sp>
      <p:sp>
        <p:nvSpPr>
          <p:cNvPr id="46" name="직사각형 45"/>
          <p:cNvSpPr/>
          <p:nvPr/>
        </p:nvSpPr>
        <p:spPr>
          <a:xfrm>
            <a:off x="2074914" y="2155186"/>
            <a:ext cx="2837937" cy="73760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5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507366" y="2523988"/>
            <a:ext cx="1643463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ARP Cache Table  </a:t>
            </a:r>
            <a:endParaRPr lang="ko-KR" altLang="en-US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2195094" y="1203043"/>
            <a:ext cx="56128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ARP Header                     </a:t>
            </a:r>
            <a:r>
              <a:rPr lang="en-US" altLang="ko-KR" sz="14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Protocol             </a:t>
            </a:r>
            <a:r>
              <a:rPr lang="ko-KR" altLang="en-US" sz="14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송</a:t>
            </a:r>
            <a:r>
              <a:rPr lang="en-US" altLang="ko-KR" sz="14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MAC</a:t>
            </a:r>
            <a:r>
              <a:rPr lang="ko-KR" altLang="en-US" sz="14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                  수</a:t>
            </a:r>
            <a:r>
              <a:rPr lang="en-US" altLang="ko-KR" sz="14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MAC</a:t>
            </a:r>
            <a:r>
              <a:rPr lang="ko-KR" altLang="en-US" sz="14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 </a:t>
            </a:r>
          </a:p>
        </p:txBody>
      </p:sp>
      <p:sp>
        <p:nvSpPr>
          <p:cNvPr id="27" name="오른쪽 화살표 26"/>
          <p:cNvSpPr/>
          <p:nvPr/>
        </p:nvSpPr>
        <p:spPr>
          <a:xfrm>
            <a:off x="7851827" y="1613098"/>
            <a:ext cx="365843" cy="243149"/>
          </a:xfrm>
          <a:prstGeom prst="righ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TextBox 21"/>
          <p:cNvSpPr txBox="1"/>
          <p:nvPr/>
        </p:nvSpPr>
        <p:spPr>
          <a:xfrm>
            <a:off x="1407975" y="1488450"/>
            <a:ext cx="670376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300" b="1" dirty="0">
                <a:solidFill>
                  <a:srgbClr val="C00000"/>
                </a:solidFill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송신지</a:t>
            </a:r>
            <a:endParaRPr lang="en-US" altLang="ko-KR" sz="1300" b="1" dirty="0">
              <a:solidFill>
                <a:srgbClr val="C00000"/>
              </a:solidFill>
              <a:latin typeface="함초롬바탕" panose="02030504000101010101" pitchFamily="18" charset="-127"/>
              <a:ea typeface="함초롬바탕" panose="02030504000101010101" pitchFamily="18" charset="-127"/>
              <a:cs typeface="함초롬바탕" panose="02030504000101010101" pitchFamily="18" charset="-127"/>
            </a:endParaRPr>
          </a:p>
          <a:p>
            <a:r>
              <a:rPr lang="ko-KR" altLang="en-US" sz="1300" b="1" dirty="0">
                <a:solidFill>
                  <a:srgbClr val="C00000"/>
                </a:solidFill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수신지</a:t>
            </a:r>
          </a:p>
        </p:txBody>
      </p:sp>
      <p:sp>
        <p:nvSpPr>
          <p:cNvPr id="23" name="직사각형 22"/>
          <p:cNvSpPr/>
          <p:nvPr/>
        </p:nvSpPr>
        <p:spPr>
          <a:xfrm>
            <a:off x="8231635" y="1501804"/>
            <a:ext cx="1920095" cy="39626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500" dirty="0">
                <a:solidFill>
                  <a:srgbClr val="FF0000"/>
                </a:solidFill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ARP Reply</a:t>
            </a:r>
            <a:endParaRPr lang="ko-KR" altLang="en-US" sz="1500" dirty="0">
              <a:solidFill>
                <a:srgbClr val="FF0000"/>
              </a:solidFill>
              <a:latin typeface="함초롬바탕" panose="02030504000101010101" pitchFamily="18" charset="-127"/>
              <a:ea typeface="함초롬바탕" panose="02030504000101010101" pitchFamily="18" charset="-127"/>
              <a:cs typeface="함초롬바탕" panose="02030504000101010101" pitchFamily="18" charset="-127"/>
            </a:endParaRPr>
          </a:p>
        </p:txBody>
      </p:sp>
      <p:sp>
        <p:nvSpPr>
          <p:cNvPr id="28" name="직사각형 27"/>
          <p:cNvSpPr/>
          <p:nvPr/>
        </p:nvSpPr>
        <p:spPr>
          <a:xfrm>
            <a:off x="7855764" y="4308977"/>
            <a:ext cx="1920095" cy="39626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500" dirty="0">
                <a:solidFill>
                  <a:srgbClr val="FF0000"/>
                </a:solidFill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❷ </a:t>
            </a:r>
            <a:r>
              <a:rPr lang="en-US" altLang="ko-KR" sz="1500" dirty="0">
                <a:solidFill>
                  <a:srgbClr val="FF0000"/>
                </a:solidFill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ARP Reply</a:t>
            </a:r>
            <a:endParaRPr lang="ko-KR" altLang="en-US" sz="1500" dirty="0">
              <a:solidFill>
                <a:srgbClr val="FF0000"/>
              </a:solidFill>
              <a:latin typeface="함초롬바탕" panose="02030504000101010101" pitchFamily="18" charset="-127"/>
              <a:ea typeface="함초롬바탕" panose="02030504000101010101" pitchFamily="18" charset="-127"/>
              <a:cs typeface="함초롬바탕" panose="02030504000101010101" pitchFamily="18" charset="-127"/>
            </a:endParaRPr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2209E9-2AE8-42A0-AB53-D13299BB30AF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9957893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62100" y="1970088"/>
            <a:ext cx="9144000" cy="744537"/>
          </a:xfrm>
        </p:spPr>
        <p:txBody>
          <a:bodyPr>
            <a:normAutofit/>
          </a:bodyPr>
          <a:lstStyle/>
          <a:p>
            <a:r>
              <a:rPr lang="en-US" altLang="ko-KR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TCP</a:t>
            </a:r>
            <a:r>
              <a:rPr lang="en-US" altLang="ko-KR" sz="4000" b="1" dirty="0"/>
              <a:t> </a:t>
            </a:r>
            <a:r>
              <a:rPr lang="ko-KR" altLang="en-US" sz="4000" b="1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단편화</a:t>
            </a:r>
            <a:endParaRPr lang="ko-KR" altLang="en-US" sz="4000" b="1" dirty="0">
              <a:latin typeface="함초롬바탕" panose="02030604000101010101" pitchFamily="18" charset="-127"/>
              <a:ea typeface="함초롬바탕" panose="02030604000101010101" pitchFamily="18" charset="-127"/>
              <a:cs typeface="함초롬바탕" panose="02030604000101010101" pitchFamily="18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00E85C-9068-46D2-A14A-A9DCCDE0C986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869359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7864" y="795807"/>
            <a:ext cx="9388984" cy="5767828"/>
          </a:xfrm>
          <a:prstGeom prst="rect">
            <a:avLst/>
          </a:prstGeom>
        </p:spPr>
      </p:pic>
      <p:sp>
        <p:nvSpPr>
          <p:cNvPr id="3" name="Rectangle 3"/>
          <p:cNvSpPr txBox="1">
            <a:spLocks noChangeArrowheads="1"/>
          </p:cNvSpPr>
          <p:nvPr/>
        </p:nvSpPr>
        <p:spPr>
          <a:xfrm>
            <a:off x="276224" y="396981"/>
            <a:ext cx="8286750" cy="5532438"/>
          </a:xfrm>
          <a:prstGeom prst="rect">
            <a:avLst/>
          </a:prstGeom>
        </p:spPr>
        <p:txBody>
          <a:bodyPr/>
          <a:lstStyle>
            <a:lvl1pPr marL="268288" indent="-268288" algn="l" rtl="0" eaLnBrk="0" fontAlgn="base" hangingPunct="0">
              <a:spcBef>
                <a:spcPct val="0"/>
              </a:spcBef>
              <a:spcAft>
                <a:spcPct val="25000"/>
              </a:spcAft>
              <a:buSzPct val="120000"/>
              <a:buBlip>
                <a:blip r:embed="rId4"/>
              </a:buBlip>
              <a:defRPr kumimoji="1" sz="3200" b="1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3888" indent="-176213" algn="l" rtl="0" eaLnBrk="0" fontAlgn="base" hangingPunct="0">
              <a:spcBef>
                <a:spcPct val="0"/>
              </a:spcBef>
              <a:spcAft>
                <a:spcPct val="25000"/>
              </a:spcAft>
              <a:buChar char="–"/>
              <a:defRPr kumimoji="1" sz="2800" b="1">
                <a:solidFill>
                  <a:schemeClr val="tx1"/>
                </a:solidFill>
                <a:latin typeface="+mn-lt"/>
                <a:ea typeface="+mn-ea"/>
              </a:defRPr>
            </a:lvl2pPr>
            <a:lvl3pPr marL="1141413" indent="-228600" algn="l" rtl="0" eaLnBrk="0" fontAlgn="base" hangingPunct="0">
              <a:spcBef>
                <a:spcPct val="0"/>
              </a:spcBef>
              <a:spcAft>
                <a:spcPct val="25000"/>
              </a:spcAft>
              <a:buChar char="•"/>
              <a:defRPr kumimoji="1" sz="2400" b="1">
                <a:solidFill>
                  <a:schemeClr val="tx1"/>
                </a:solidFill>
                <a:latin typeface="+mn-lt"/>
                <a:ea typeface="+mn-ea"/>
              </a:defRPr>
            </a:lvl3pPr>
            <a:lvl4pPr marL="1549400" indent="-228600" algn="l" rtl="0" eaLnBrk="0" fontAlgn="base" hangingPunct="0">
              <a:spcBef>
                <a:spcPct val="0"/>
              </a:spcBef>
              <a:spcAft>
                <a:spcPct val="25000"/>
              </a:spcAft>
              <a:buFont typeface="돋움" pitchFamily="50" charset="-127"/>
              <a:buChar char="▫"/>
              <a:defRPr kumimoji="1" sz="2000" b="1">
                <a:solidFill>
                  <a:schemeClr val="tx1"/>
                </a:solidFill>
                <a:latin typeface="+mn-lt"/>
                <a:ea typeface="+mn-ea"/>
              </a:defRPr>
            </a:lvl4pPr>
            <a:lvl5pPr marL="1957388" indent="-228600" algn="l" rtl="0" eaLnBrk="0" fontAlgn="base" hangingPunct="0">
              <a:spcBef>
                <a:spcPct val="0"/>
              </a:spcBef>
              <a:spcAft>
                <a:spcPct val="25000"/>
              </a:spcAft>
              <a:buChar char="»"/>
              <a:defRPr kumimoji="1" sz="2000" b="1">
                <a:solidFill>
                  <a:schemeClr val="tx1"/>
                </a:solidFill>
                <a:latin typeface="+mn-lt"/>
                <a:ea typeface="+mn-ea"/>
              </a:defRPr>
            </a:lvl5pPr>
            <a:lvl6pPr marL="2414588" indent="-228600" algn="l" rtl="0" fontAlgn="base">
              <a:spcBef>
                <a:spcPct val="0"/>
              </a:spcBef>
              <a:spcAft>
                <a:spcPct val="25000"/>
              </a:spcAft>
              <a:buChar char="»"/>
              <a:defRPr kumimoji="1" b="1">
                <a:solidFill>
                  <a:schemeClr val="tx1"/>
                </a:solidFill>
                <a:latin typeface="+mn-lt"/>
                <a:ea typeface="+mn-ea"/>
              </a:defRPr>
            </a:lvl6pPr>
            <a:lvl7pPr marL="2871788" indent="-228600" algn="l" rtl="0" fontAlgn="base">
              <a:spcBef>
                <a:spcPct val="0"/>
              </a:spcBef>
              <a:spcAft>
                <a:spcPct val="25000"/>
              </a:spcAft>
              <a:buChar char="»"/>
              <a:defRPr kumimoji="1" b="1">
                <a:solidFill>
                  <a:schemeClr val="tx1"/>
                </a:solidFill>
                <a:latin typeface="+mn-lt"/>
                <a:ea typeface="+mn-ea"/>
              </a:defRPr>
            </a:lvl7pPr>
            <a:lvl8pPr marL="3328988" indent="-228600" algn="l" rtl="0" fontAlgn="base">
              <a:spcBef>
                <a:spcPct val="0"/>
              </a:spcBef>
              <a:spcAft>
                <a:spcPct val="25000"/>
              </a:spcAft>
              <a:buChar char="»"/>
              <a:defRPr kumimoji="1" b="1">
                <a:solidFill>
                  <a:schemeClr val="tx1"/>
                </a:solidFill>
                <a:latin typeface="+mn-lt"/>
                <a:ea typeface="+mn-ea"/>
              </a:defRPr>
            </a:lvl8pPr>
            <a:lvl9pPr marL="3786188" indent="-228600" algn="l" rtl="0" fontAlgn="base">
              <a:spcBef>
                <a:spcPct val="0"/>
              </a:spcBef>
              <a:spcAft>
                <a:spcPct val="25000"/>
              </a:spcAft>
              <a:buChar char="»"/>
              <a:defRPr kumimoji="1" b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447675" lvl="1" indent="0" eaLnBrk="1" hangingPunct="1">
              <a:buNone/>
            </a:pPr>
            <a:r>
              <a:rPr lang="en-US" altLang="ko-KR" sz="3200" b="0" kern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Payload</a:t>
            </a:r>
            <a:r>
              <a:rPr lang="ko-KR" altLang="en-US" sz="3200" b="0" ker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sz="3200" b="0" kern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Encapsulation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>
          <a:xfrm>
            <a:off x="9727308" y="6319951"/>
            <a:ext cx="2057400" cy="365125"/>
          </a:xfrm>
        </p:spPr>
        <p:txBody>
          <a:bodyPr/>
          <a:lstStyle/>
          <a:p>
            <a:fld id="{F100E85C-9068-46D2-A14A-A9DCCDE0C986}" type="slidenum">
              <a:rPr lang="ko-KR" altLang="en-US" smtClean="0"/>
              <a:t>14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3881363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23595"/>
          </a:xfrm>
        </p:spPr>
        <p:txBody>
          <a:bodyPr>
            <a:normAutofit/>
          </a:bodyPr>
          <a:lstStyle/>
          <a:p>
            <a:r>
              <a:rPr lang="en-US" altLang="ko-KR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UDP</a:t>
            </a:r>
            <a:endParaRPr lang="ko-KR" altLang="en-US" sz="3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93648" y="1188720"/>
            <a:ext cx="10515600" cy="1463040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50000"/>
              </a:lnSpc>
            </a:pPr>
            <a:r>
              <a:rPr lang="en-US" altLang="ko-KR" sz="1800" dirty="0">
                <a:latin typeface="Times New Roman" panose="02020603050405020304" pitchFamily="18" charset="0"/>
                <a:ea typeface="함초롬바탕" panose="02030604000101010101" pitchFamily="18" charset="-127"/>
                <a:cs typeface="Times New Roman" panose="02020603050405020304" pitchFamily="18" charset="0"/>
              </a:rPr>
              <a:t>Message-Oriented Transport Protocol </a:t>
            </a:r>
          </a:p>
          <a:p>
            <a:pPr>
              <a:lnSpc>
                <a:spcPct val="150000"/>
              </a:lnSpc>
            </a:pPr>
            <a:r>
              <a:rPr lang="ko-KR" altLang="en-US" sz="18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상위계층에서 </a:t>
            </a:r>
            <a:r>
              <a:rPr lang="en-US" altLang="ko-KR" sz="1800" dirty="0">
                <a:latin typeface="Times New Roman" panose="02020603050405020304" pitchFamily="18" charset="0"/>
                <a:ea typeface="함초롬바탕" panose="02030604000101010101" pitchFamily="18" charset="-127"/>
                <a:cs typeface="Times New Roman" panose="02020603050405020304" pitchFamily="18" charset="0"/>
              </a:rPr>
              <a:t>payload</a:t>
            </a:r>
            <a:r>
              <a:rPr lang="en-US" altLang="ko-KR" sz="18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 </a:t>
            </a:r>
            <a:r>
              <a:rPr lang="ko-KR" altLang="en-US" sz="180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된 데이터를 단편화하지 않음</a:t>
            </a:r>
            <a:endParaRPr lang="en-US" altLang="ko-KR" sz="1800" dirty="0">
              <a:latin typeface="함초롬바탕" panose="02030604000101010101" pitchFamily="18" charset="-127"/>
              <a:ea typeface="함초롬바탕" panose="02030604000101010101" pitchFamily="18" charset="-127"/>
              <a:cs typeface="함초롬바탕" panose="02030604000101010101" pitchFamily="18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8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데이터 전송이 완료되지 전까지는 다른 데이터 흐름에 영향을 받지 않음 </a:t>
            </a:r>
            <a:endParaRPr lang="en-US" altLang="ko-KR" sz="1800" dirty="0">
              <a:latin typeface="함초롬바탕" panose="02030604000101010101" pitchFamily="18" charset="-127"/>
              <a:ea typeface="함초롬바탕" panose="02030604000101010101" pitchFamily="18" charset="-127"/>
              <a:cs typeface="함초롬바탕" panose="02030604000101010101" pitchFamily="18" charset="-127"/>
            </a:endParaRPr>
          </a:p>
          <a:p>
            <a:pPr marL="0" indent="0">
              <a:lnSpc>
                <a:spcPct val="150000"/>
              </a:lnSpc>
              <a:buNone/>
            </a:pPr>
            <a:endParaRPr lang="ko-KR" altLang="en-US" sz="1800" dirty="0">
              <a:latin typeface="함초롬바탕" panose="02030604000101010101" pitchFamily="18" charset="-127"/>
              <a:ea typeface="함초롬바탕" panose="02030604000101010101" pitchFamily="18" charset="-127"/>
              <a:cs typeface="함초롬바탕" panose="02030604000101010101" pitchFamily="18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00E85C-9068-46D2-A14A-A9DCCDE0C986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5" name="제목 1"/>
          <p:cNvSpPr txBox="1">
            <a:spLocks/>
          </p:cNvSpPr>
          <p:nvPr/>
        </p:nvSpPr>
        <p:spPr>
          <a:xfrm>
            <a:off x="838200" y="3301619"/>
            <a:ext cx="10515600" cy="82359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TCP</a:t>
            </a:r>
            <a:endParaRPr lang="ko-KR" altLang="en-US" sz="3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내용 개체 틀 2"/>
          <p:cNvSpPr txBox="1">
            <a:spLocks/>
          </p:cNvSpPr>
          <p:nvPr/>
        </p:nvSpPr>
        <p:spPr>
          <a:xfrm>
            <a:off x="993648" y="4243451"/>
            <a:ext cx="10515600" cy="1463040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en-US" altLang="ko-KR" sz="1800" dirty="0">
                <a:latin typeface="Times New Roman" panose="02020603050405020304" pitchFamily="18" charset="0"/>
                <a:ea typeface="함초롬바탕" panose="02030604000101010101" pitchFamily="18" charset="-127"/>
                <a:cs typeface="Times New Roman" panose="02020603050405020304" pitchFamily="18" charset="0"/>
              </a:rPr>
              <a:t>Stream-Oriented Transport Protocol </a:t>
            </a:r>
            <a:endParaRPr lang="en-US" altLang="ko-KR" sz="1800" dirty="0">
              <a:latin typeface="함초롬바탕" panose="02030604000101010101" pitchFamily="18" charset="-127"/>
              <a:ea typeface="함초롬바탕" panose="02030604000101010101" pitchFamily="18" charset="-127"/>
              <a:cs typeface="함초롬바탕" panose="02030604000101010101" pitchFamily="18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8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상위계층에서 </a:t>
            </a:r>
            <a:r>
              <a:rPr lang="en-US" altLang="ko-KR" sz="1800" dirty="0">
                <a:latin typeface="Times New Roman" panose="02020603050405020304" pitchFamily="18" charset="0"/>
                <a:ea typeface="함초롬바탕" panose="02030604000101010101" pitchFamily="18" charset="-127"/>
                <a:cs typeface="Times New Roman" panose="02020603050405020304" pitchFamily="18" charset="0"/>
              </a:rPr>
              <a:t>payload</a:t>
            </a:r>
            <a:r>
              <a:rPr lang="en-US" altLang="ko-KR" sz="18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 </a:t>
            </a:r>
            <a:r>
              <a:rPr lang="ko-KR" altLang="en-US" sz="180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된 데이터를 단편화</a:t>
            </a:r>
            <a:endParaRPr lang="en-US" altLang="ko-KR" sz="1800" dirty="0">
              <a:latin typeface="함초롬바탕" panose="02030604000101010101" pitchFamily="18" charset="-127"/>
              <a:ea typeface="함초롬바탕" panose="02030604000101010101" pitchFamily="18" charset="-127"/>
              <a:cs typeface="함초롬바탕" panose="02030604000101010101" pitchFamily="18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8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단편화를 통해 다수의 데이터들과 네트워크 자원을</a:t>
            </a:r>
          </a:p>
        </p:txBody>
      </p:sp>
    </p:spTree>
    <p:extLst>
      <p:ext uri="{BB962C8B-B14F-4D97-AF65-F5344CB8AC3E}">
        <p14:creationId xmlns:p14="http://schemas.microsoft.com/office/powerpoint/2010/main" val="82699928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00E85C-9068-46D2-A14A-A9DCCDE0C986}" type="slidenum">
              <a:rPr lang="ko-KR" altLang="en-US" smtClean="0"/>
              <a:t>16</a:t>
            </a:fld>
            <a:endParaRPr lang="ko-KR" altLang="en-US"/>
          </a:p>
        </p:txBody>
      </p:sp>
      <p:graphicFrame>
        <p:nvGraphicFramePr>
          <p:cNvPr id="5" name="표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80747163"/>
              </p:ext>
            </p:extLst>
          </p:nvPr>
        </p:nvGraphicFramePr>
        <p:xfrm>
          <a:off x="7702571" y="2871470"/>
          <a:ext cx="4237690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32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2445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6896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aseline="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UDP</a:t>
                      </a:r>
                    </a:p>
                    <a:p>
                      <a:pPr algn="ctr" latinLnBrk="1"/>
                      <a:r>
                        <a:rPr lang="en-US" altLang="ko-KR" baseline="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Header</a:t>
                      </a:r>
                      <a:endParaRPr lang="ko-KR" altLang="en-US" dirty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4000byte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6" name="표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80951664"/>
              </p:ext>
            </p:extLst>
          </p:nvPr>
        </p:nvGraphicFramePr>
        <p:xfrm>
          <a:off x="9060942" y="1693926"/>
          <a:ext cx="2868166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681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62179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4000byte</a:t>
                      </a:r>
                      <a:endParaRPr lang="ko-KR" altLang="en-US" dirty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4510663"/>
              </p:ext>
            </p:extLst>
          </p:nvPr>
        </p:nvGraphicFramePr>
        <p:xfrm>
          <a:off x="2794808" y="4197350"/>
          <a:ext cx="2852926" cy="6055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563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5953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277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0553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 IP</a:t>
                      </a:r>
                    </a:p>
                    <a:p>
                      <a:pPr algn="ctr" latinLnBrk="1"/>
                      <a:r>
                        <a:rPr lang="en-US" altLang="ko-KR" sz="1500" baseline="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Header</a:t>
                      </a:r>
                      <a:endParaRPr lang="ko-KR" altLang="en-US" sz="1500" dirty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5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UDP</a:t>
                      </a:r>
                      <a:r>
                        <a:rPr lang="en-US" altLang="ko-KR" sz="1500" baseline="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</a:p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500" baseline="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Header</a:t>
                      </a:r>
                      <a:endParaRPr lang="ko-KR" altLang="en-US" sz="15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5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1500byte</a:t>
                      </a:r>
                      <a:endParaRPr lang="ko-KR" altLang="en-US" sz="15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" name="표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03800403"/>
              </p:ext>
            </p:extLst>
          </p:nvPr>
        </p:nvGraphicFramePr>
        <p:xfrm>
          <a:off x="5940344" y="4188206"/>
          <a:ext cx="2852926" cy="6055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563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5953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277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0553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 IP</a:t>
                      </a:r>
                    </a:p>
                    <a:p>
                      <a:pPr algn="ctr" latinLnBrk="1"/>
                      <a:r>
                        <a:rPr lang="en-US" altLang="ko-KR" sz="1500" baseline="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Header</a:t>
                      </a:r>
                      <a:endParaRPr lang="ko-KR" altLang="en-US" sz="1500" dirty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500" baseline="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UDP</a:t>
                      </a:r>
                    </a:p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500" baseline="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Header</a:t>
                      </a:r>
                      <a:endParaRPr lang="ko-KR" altLang="en-US" sz="15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5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1500byte</a:t>
                      </a:r>
                      <a:endParaRPr lang="ko-KR" altLang="en-US" sz="15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" name="표 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22055750"/>
              </p:ext>
            </p:extLst>
          </p:nvPr>
        </p:nvGraphicFramePr>
        <p:xfrm>
          <a:off x="9048752" y="4169918"/>
          <a:ext cx="2852926" cy="6055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563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5953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277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0553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 IP</a:t>
                      </a:r>
                    </a:p>
                    <a:p>
                      <a:pPr algn="ctr" latinLnBrk="1"/>
                      <a:r>
                        <a:rPr lang="en-US" altLang="ko-KR" sz="1500" baseline="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Header</a:t>
                      </a:r>
                      <a:endParaRPr lang="ko-KR" altLang="en-US" sz="1500" dirty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500" baseline="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UDP</a:t>
                      </a:r>
                    </a:p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500" baseline="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Header</a:t>
                      </a:r>
                      <a:endParaRPr lang="ko-KR" altLang="en-US" sz="15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5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1000byte</a:t>
                      </a:r>
                      <a:endParaRPr lang="ko-KR" altLang="en-US" sz="15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5" name="표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50517710"/>
              </p:ext>
            </p:extLst>
          </p:nvPr>
        </p:nvGraphicFramePr>
        <p:xfrm>
          <a:off x="566166" y="5550662"/>
          <a:ext cx="3618529" cy="6055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4234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4234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3641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42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0553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Ether</a:t>
                      </a:r>
                    </a:p>
                    <a:p>
                      <a:pPr algn="ctr" latinLnBrk="1"/>
                      <a:r>
                        <a:rPr lang="en-US" altLang="ko-KR" sz="15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Header</a:t>
                      </a:r>
                      <a:endParaRPr lang="ko-KR" altLang="en-US" sz="1500" dirty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 IP</a:t>
                      </a:r>
                    </a:p>
                    <a:p>
                      <a:pPr algn="ctr" latinLnBrk="1"/>
                      <a:r>
                        <a:rPr lang="en-US" altLang="ko-KR" sz="1500" baseline="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Header</a:t>
                      </a:r>
                      <a:endParaRPr lang="ko-KR" altLang="en-US" sz="1500" dirty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5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UDP</a:t>
                      </a:r>
                      <a:r>
                        <a:rPr lang="en-US" altLang="ko-KR" sz="1500" baseline="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</a:p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500" baseline="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Header</a:t>
                      </a:r>
                      <a:endParaRPr lang="ko-KR" altLang="en-US" sz="15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5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1500byte</a:t>
                      </a:r>
                      <a:endParaRPr lang="ko-KR" altLang="en-US" sz="15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6" name="표 1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19669515"/>
              </p:ext>
            </p:extLst>
          </p:nvPr>
        </p:nvGraphicFramePr>
        <p:xfrm>
          <a:off x="4516374" y="5541518"/>
          <a:ext cx="3618529" cy="6055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4234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4234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3641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42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0553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Ether</a:t>
                      </a:r>
                    </a:p>
                    <a:p>
                      <a:pPr algn="ctr" latinLnBrk="1"/>
                      <a:r>
                        <a:rPr lang="en-US" altLang="ko-KR" sz="15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Header</a:t>
                      </a:r>
                      <a:endParaRPr lang="ko-KR" altLang="en-US" sz="1500" dirty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 IP</a:t>
                      </a:r>
                    </a:p>
                    <a:p>
                      <a:pPr algn="ctr" latinLnBrk="1"/>
                      <a:r>
                        <a:rPr lang="en-US" altLang="ko-KR" sz="1500" baseline="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Header</a:t>
                      </a:r>
                      <a:endParaRPr lang="ko-KR" altLang="en-US" sz="1500" dirty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5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UDP</a:t>
                      </a:r>
                      <a:r>
                        <a:rPr lang="en-US" altLang="ko-KR" sz="1500" baseline="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</a:p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500" baseline="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Header</a:t>
                      </a:r>
                      <a:endParaRPr lang="ko-KR" altLang="en-US" sz="15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5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1500byte</a:t>
                      </a:r>
                      <a:endParaRPr lang="ko-KR" altLang="en-US" sz="15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7" name="표 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25566322"/>
              </p:ext>
            </p:extLst>
          </p:nvPr>
        </p:nvGraphicFramePr>
        <p:xfrm>
          <a:off x="8292846" y="5541518"/>
          <a:ext cx="3618529" cy="6055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4234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4234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3641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42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0553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Ether</a:t>
                      </a:r>
                    </a:p>
                    <a:p>
                      <a:pPr algn="ctr" latinLnBrk="1"/>
                      <a:r>
                        <a:rPr lang="en-US" altLang="ko-KR" sz="15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Header</a:t>
                      </a:r>
                      <a:endParaRPr lang="ko-KR" altLang="en-US" sz="1500" dirty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 IP</a:t>
                      </a:r>
                    </a:p>
                    <a:p>
                      <a:pPr algn="ctr" latinLnBrk="1"/>
                      <a:r>
                        <a:rPr lang="en-US" altLang="ko-KR" sz="1500" baseline="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Header</a:t>
                      </a:r>
                      <a:endParaRPr lang="ko-KR" altLang="en-US" sz="1500" dirty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5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UDP</a:t>
                      </a:r>
                      <a:r>
                        <a:rPr lang="en-US" altLang="ko-KR" sz="1500" baseline="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</a:p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500" baseline="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Header</a:t>
                      </a:r>
                      <a:endParaRPr lang="ko-KR" altLang="en-US" sz="15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5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1000byte</a:t>
                      </a:r>
                      <a:endParaRPr lang="ko-KR" altLang="en-US" sz="15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493776" y="429768"/>
            <a:ext cx="715208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200" dirty="0">
                <a:latin typeface="Times New Roman" panose="02020603050405020304" pitchFamily="18" charset="0"/>
                <a:ea typeface="함초롬바탕" panose="02030604000101010101" pitchFamily="18" charset="-127"/>
                <a:cs typeface="Times New Roman" panose="02020603050405020304" pitchFamily="18" charset="0"/>
              </a:rPr>
              <a:t>UDP </a:t>
            </a:r>
            <a:r>
              <a:rPr lang="ko-KR" altLang="en-US" sz="320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기반의 애플리케이션 데이터 전송 </a:t>
            </a:r>
          </a:p>
        </p:txBody>
      </p:sp>
      <p:sp>
        <p:nvSpPr>
          <p:cNvPr id="3" name="오른쪽 화살표 2"/>
          <p:cNvSpPr/>
          <p:nvPr/>
        </p:nvSpPr>
        <p:spPr>
          <a:xfrm rot="5400000">
            <a:off x="10449877" y="2416494"/>
            <a:ext cx="366712" cy="328613"/>
          </a:xfrm>
          <a:prstGeom prst="rightArrow">
            <a:avLst/>
          </a:prstGeom>
          <a:noFill/>
          <a:ln w="317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오른쪽 화살표 18"/>
          <p:cNvSpPr/>
          <p:nvPr/>
        </p:nvSpPr>
        <p:spPr>
          <a:xfrm rot="5400000">
            <a:off x="10449876" y="3673795"/>
            <a:ext cx="366712" cy="328613"/>
          </a:xfrm>
          <a:prstGeom prst="rightArrow">
            <a:avLst/>
          </a:prstGeom>
          <a:noFill/>
          <a:ln w="317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오른쪽 화살표 19"/>
          <p:cNvSpPr/>
          <p:nvPr/>
        </p:nvSpPr>
        <p:spPr>
          <a:xfrm rot="5400000">
            <a:off x="10449875" y="5027138"/>
            <a:ext cx="366712" cy="328613"/>
          </a:xfrm>
          <a:prstGeom prst="rightArrow">
            <a:avLst/>
          </a:prstGeom>
          <a:noFill/>
          <a:ln w="317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직사각형 3"/>
          <p:cNvSpPr/>
          <p:nvPr/>
        </p:nvSpPr>
        <p:spPr>
          <a:xfrm>
            <a:off x="493776" y="1303139"/>
            <a:ext cx="482215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Message-oriented transport protocol</a:t>
            </a:r>
          </a:p>
        </p:txBody>
      </p:sp>
    </p:spTree>
    <p:extLst>
      <p:ext uri="{BB962C8B-B14F-4D97-AF65-F5344CB8AC3E}">
        <p14:creationId xmlns:p14="http://schemas.microsoft.com/office/powerpoint/2010/main" val="425958220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00E85C-9068-46D2-A14A-A9DCCDE0C986}" type="slidenum">
              <a:rPr lang="ko-KR" altLang="en-US" smtClean="0"/>
              <a:t>17</a:t>
            </a:fld>
            <a:endParaRPr lang="ko-KR" altLang="en-US"/>
          </a:p>
        </p:txBody>
      </p:sp>
      <p:graphicFrame>
        <p:nvGraphicFramePr>
          <p:cNvPr id="5" name="표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43192093"/>
              </p:ext>
            </p:extLst>
          </p:nvPr>
        </p:nvGraphicFramePr>
        <p:xfrm>
          <a:off x="7576933" y="2637979"/>
          <a:ext cx="4237690" cy="56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951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4254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6896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TCP</a:t>
                      </a:r>
                      <a:r>
                        <a:rPr lang="en-US" altLang="ko-KR" baseline="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Header</a:t>
                      </a:r>
                      <a:endParaRPr lang="ko-KR" altLang="en-US" dirty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4000byte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6" name="표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83637229"/>
              </p:ext>
            </p:extLst>
          </p:nvPr>
        </p:nvGraphicFramePr>
        <p:xfrm>
          <a:off x="9146931" y="1303713"/>
          <a:ext cx="2686257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8625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62179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4000byte</a:t>
                      </a:r>
                      <a:endParaRPr lang="ko-KR" altLang="en-US" dirty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33800856"/>
              </p:ext>
            </p:extLst>
          </p:nvPr>
        </p:nvGraphicFramePr>
        <p:xfrm>
          <a:off x="2761000" y="4052832"/>
          <a:ext cx="2852926" cy="6055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563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5953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277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0553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 IP</a:t>
                      </a:r>
                    </a:p>
                    <a:p>
                      <a:pPr algn="ctr" latinLnBrk="1"/>
                      <a:r>
                        <a:rPr lang="en-US" altLang="ko-KR" sz="1500" baseline="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Header</a:t>
                      </a:r>
                      <a:endParaRPr lang="ko-KR" altLang="en-US" sz="1500" dirty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5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TCP</a:t>
                      </a:r>
                      <a:r>
                        <a:rPr lang="en-US" altLang="ko-KR" sz="1500" baseline="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</a:p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500" baseline="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Header</a:t>
                      </a:r>
                      <a:endParaRPr lang="ko-KR" altLang="en-US" sz="15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5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1500byte</a:t>
                      </a:r>
                      <a:endParaRPr lang="ko-KR" altLang="en-US" sz="15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" name="표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28150952"/>
              </p:ext>
            </p:extLst>
          </p:nvPr>
        </p:nvGraphicFramePr>
        <p:xfrm>
          <a:off x="5894157" y="4061976"/>
          <a:ext cx="2852926" cy="6055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563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5953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277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0553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 IP</a:t>
                      </a:r>
                    </a:p>
                    <a:p>
                      <a:pPr algn="ctr" latinLnBrk="1"/>
                      <a:r>
                        <a:rPr lang="en-US" altLang="ko-KR" sz="1500" baseline="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Header</a:t>
                      </a:r>
                      <a:endParaRPr lang="ko-KR" altLang="en-US" sz="1500" dirty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5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TCP</a:t>
                      </a:r>
                      <a:r>
                        <a:rPr lang="en-US" altLang="ko-KR" sz="1500" baseline="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</a:p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500" baseline="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Header</a:t>
                      </a:r>
                      <a:endParaRPr lang="ko-KR" altLang="en-US" sz="15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5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1500byte</a:t>
                      </a:r>
                      <a:endParaRPr lang="ko-KR" altLang="en-US" sz="15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" name="표 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33808091"/>
              </p:ext>
            </p:extLst>
          </p:nvPr>
        </p:nvGraphicFramePr>
        <p:xfrm>
          <a:off x="8984274" y="4052832"/>
          <a:ext cx="2852926" cy="6055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563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5953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277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0553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 IP</a:t>
                      </a:r>
                    </a:p>
                    <a:p>
                      <a:pPr algn="ctr" latinLnBrk="1"/>
                      <a:r>
                        <a:rPr lang="en-US" altLang="ko-KR" sz="1500" baseline="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Header</a:t>
                      </a:r>
                      <a:endParaRPr lang="ko-KR" altLang="en-US" sz="1500" dirty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5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TCP</a:t>
                      </a:r>
                      <a:r>
                        <a:rPr lang="en-US" altLang="ko-KR" sz="1500" baseline="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</a:p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500" baseline="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Header</a:t>
                      </a:r>
                      <a:endParaRPr lang="ko-KR" altLang="en-US" sz="15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5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1000byte</a:t>
                      </a:r>
                      <a:endParaRPr lang="ko-KR" altLang="en-US" sz="15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93776" y="429768"/>
            <a:ext cx="7083157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200" dirty="0">
                <a:latin typeface="Times New Roman" panose="02020603050405020304" pitchFamily="18" charset="0"/>
                <a:ea typeface="함초롬바탕" panose="02030604000101010101" pitchFamily="18" charset="-127"/>
                <a:cs typeface="Times New Roman" panose="02020603050405020304" pitchFamily="18" charset="0"/>
              </a:rPr>
              <a:t>TCP </a:t>
            </a:r>
            <a:r>
              <a:rPr lang="ko-KR" altLang="en-US" sz="320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기반의 애플리케이션 데이터 전송 </a:t>
            </a:r>
            <a:endParaRPr lang="en-US" altLang="ko-KR" sz="3200" dirty="0">
              <a:latin typeface="함초롬바탕" panose="02030604000101010101" pitchFamily="18" charset="-127"/>
              <a:ea typeface="함초롬바탕" panose="02030604000101010101" pitchFamily="18" charset="-127"/>
              <a:cs typeface="함초롬바탕" panose="02030604000101010101" pitchFamily="18" charset="-127"/>
            </a:endParaRPr>
          </a:p>
          <a:p>
            <a:r>
              <a:rPr lang="en-US" altLang="ko-KR" sz="32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 </a:t>
            </a:r>
            <a:r>
              <a:rPr lang="ko-KR" altLang="en-US" sz="320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 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9034" y="1306931"/>
            <a:ext cx="341632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(</a:t>
            </a:r>
            <a:r>
              <a:rPr lang="ko-KR" altLang="en-US" sz="200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예</a:t>
            </a:r>
            <a:r>
              <a:rPr lang="en-US" altLang="ko-KR" sz="20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) </a:t>
            </a:r>
            <a:r>
              <a:rPr lang="en-US" altLang="ko-KR" sz="2000" dirty="0">
                <a:latin typeface="Times New Roman" panose="02020603050405020304" pitchFamily="18" charset="0"/>
                <a:ea typeface="함초롬바탕" panose="02030604000101010101" pitchFamily="18" charset="-127"/>
                <a:cs typeface="Times New Roman" panose="02020603050405020304" pitchFamily="18" charset="0"/>
              </a:rPr>
              <a:t>MSS</a:t>
            </a:r>
            <a:r>
              <a:rPr lang="ko-KR" altLang="en-US" sz="200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가 </a:t>
            </a:r>
            <a:r>
              <a:rPr lang="en-US" altLang="ko-KR" sz="20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5000</a:t>
            </a:r>
            <a:r>
              <a:rPr lang="en-US" altLang="ko-KR" sz="2000" dirty="0">
                <a:latin typeface="Times New Roman" panose="02020603050405020304" pitchFamily="18" charset="0"/>
                <a:ea typeface="함초롬바탕" panose="02030604000101010101" pitchFamily="18" charset="-127"/>
                <a:cs typeface="Times New Roman" panose="02020603050405020304" pitchFamily="18" charset="0"/>
              </a:rPr>
              <a:t>byte</a:t>
            </a:r>
            <a:r>
              <a:rPr lang="ko-KR" altLang="en-US" sz="200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인 경우 </a:t>
            </a:r>
          </a:p>
        </p:txBody>
      </p:sp>
      <p:graphicFrame>
        <p:nvGraphicFramePr>
          <p:cNvPr id="10" name="표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03548741"/>
              </p:ext>
            </p:extLst>
          </p:nvPr>
        </p:nvGraphicFramePr>
        <p:xfrm>
          <a:off x="386217" y="5566164"/>
          <a:ext cx="3618529" cy="6055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4234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4234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3641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42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0553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Ether</a:t>
                      </a:r>
                    </a:p>
                    <a:p>
                      <a:pPr algn="ctr" latinLnBrk="1"/>
                      <a:r>
                        <a:rPr lang="en-US" altLang="ko-KR" sz="15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Header</a:t>
                      </a:r>
                      <a:endParaRPr lang="ko-KR" altLang="en-US" sz="1500" dirty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 IP</a:t>
                      </a:r>
                    </a:p>
                    <a:p>
                      <a:pPr algn="ctr" latinLnBrk="1"/>
                      <a:r>
                        <a:rPr lang="en-US" altLang="ko-KR" sz="1500" baseline="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Header</a:t>
                      </a:r>
                      <a:endParaRPr lang="ko-KR" altLang="en-US" sz="1500" dirty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500" baseline="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TCP</a:t>
                      </a:r>
                    </a:p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500" baseline="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Header</a:t>
                      </a:r>
                      <a:endParaRPr lang="ko-KR" altLang="en-US" sz="15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5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1500byte</a:t>
                      </a:r>
                      <a:endParaRPr lang="ko-KR" altLang="en-US" sz="15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" name="표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24586243"/>
              </p:ext>
            </p:extLst>
          </p:nvPr>
        </p:nvGraphicFramePr>
        <p:xfrm>
          <a:off x="4327281" y="5575308"/>
          <a:ext cx="3618529" cy="6055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4234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4234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3641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42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0553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Ether</a:t>
                      </a:r>
                    </a:p>
                    <a:p>
                      <a:pPr algn="ctr" latinLnBrk="1"/>
                      <a:r>
                        <a:rPr lang="en-US" altLang="ko-KR" sz="15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Header</a:t>
                      </a:r>
                      <a:endParaRPr lang="ko-KR" altLang="en-US" sz="1500" dirty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 IP</a:t>
                      </a:r>
                    </a:p>
                    <a:p>
                      <a:pPr algn="ctr" latinLnBrk="1"/>
                      <a:r>
                        <a:rPr lang="en-US" altLang="ko-KR" sz="1500" baseline="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Header</a:t>
                      </a:r>
                      <a:endParaRPr lang="ko-KR" altLang="en-US" sz="1500" dirty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5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TCP</a:t>
                      </a:r>
                      <a:r>
                        <a:rPr lang="en-US" altLang="ko-KR" sz="1500" baseline="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</a:p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500" baseline="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Header</a:t>
                      </a:r>
                      <a:endParaRPr lang="ko-KR" altLang="en-US" sz="15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5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1500byte</a:t>
                      </a:r>
                      <a:endParaRPr lang="ko-KR" altLang="en-US" sz="15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" name="표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99455801"/>
              </p:ext>
            </p:extLst>
          </p:nvPr>
        </p:nvGraphicFramePr>
        <p:xfrm>
          <a:off x="8240913" y="5557020"/>
          <a:ext cx="3618529" cy="6055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4234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4234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3641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42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0553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Ether</a:t>
                      </a:r>
                    </a:p>
                    <a:p>
                      <a:pPr algn="ctr" latinLnBrk="1"/>
                      <a:r>
                        <a:rPr lang="en-US" altLang="ko-KR" sz="15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Header</a:t>
                      </a:r>
                      <a:endParaRPr lang="ko-KR" altLang="en-US" sz="1500" dirty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 IP</a:t>
                      </a:r>
                    </a:p>
                    <a:p>
                      <a:pPr algn="ctr" latinLnBrk="1"/>
                      <a:r>
                        <a:rPr lang="en-US" altLang="ko-KR" sz="1500" baseline="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Header</a:t>
                      </a:r>
                      <a:endParaRPr lang="ko-KR" altLang="en-US" sz="1500" dirty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5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TCP</a:t>
                      </a:r>
                      <a:r>
                        <a:rPr lang="en-US" altLang="ko-KR" sz="1500" baseline="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</a:p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500" baseline="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Header</a:t>
                      </a:r>
                      <a:endParaRPr lang="ko-KR" altLang="en-US" sz="15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5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1000byte</a:t>
                      </a:r>
                      <a:endParaRPr lang="ko-KR" altLang="en-US" sz="15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2817298" y="3742943"/>
            <a:ext cx="7569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ID=747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51023" y="3733417"/>
            <a:ext cx="7569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ID=747</a:t>
            </a:r>
            <a:endParaRPr lang="ko-KR" altLang="en-US" sz="1400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9018073" y="3742942"/>
            <a:ext cx="7569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ID=747</a:t>
            </a:r>
            <a:endParaRPr lang="ko-KR" altLang="en-US" sz="1400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오른쪽 화살표 15"/>
          <p:cNvSpPr/>
          <p:nvPr/>
        </p:nvSpPr>
        <p:spPr>
          <a:xfrm rot="5400000">
            <a:off x="10449877" y="2098922"/>
            <a:ext cx="366712" cy="328613"/>
          </a:xfrm>
          <a:prstGeom prst="rightArrow">
            <a:avLst/>
          </a:prstGeom>
          <a:noFill/>
          <a:ln w="317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오른쪽 화살표 18"/>
          <p:cNvSpPr/>
          <p:nvPr/>
        </p:nvSpPr>
        <p:spPr>
          <a:xfrm rot="5400000">
            <a:off x="10428743" y="3427191"/>
            <a:ext cx="366712" cy="328613"/>
          </a:xfrm>
          <a:prstGeom prst="rightArrow">
            <a:avLst/>
          </a:prstGeom>
          <a:noFill/>
          <a:ln w="317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오른쪽 화살표 19"/>
          <p:cNvSpPr/>
          <p:nvPr/>
        </p:nvSpPr>
        <p:spPr>
          <a:xfrm rot="5400000">
            <a:off x="10449877" y="4949493"/>
            <a:ext cx="366712" cy="328613"/>
          </a:xfrm>
          <a:prstGeom prst="rightArrow">
            <a:avLst/>
          </a:prstGeom>
          <a:noFill/>
          <a:ln w="317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7512757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>
          <a:xfrm>
            <a:off x="9268968" y="6338062"/>
            <a:ext cx="2743200" cy="365125"/>
          </a:xfrm>
        </p:spPr>
        <p:txBody>
          <a:bodyPr/>
          <a:lstStyle/>
          <a:p>
            <a:fld id="{F100E85C-9068-46D2-A14A-A9DCCDE0C986}" type="slidenum">
              <a:rPr lang="ko-KR" altLang="en-US" smtClean="0"/>
              <a:t>18</a:t>
            </a:fld>
            <a:endParaRPr lang="ko-KR" altLang="en-US"/>
          </a:p>
        </p:txBody>
      </p:sp>
      <p:graphicFrame>
        <p:nvGraphicFramePr>
          <p:cNvPr id="6" name="표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61235933"/>
              </p:ext>
            </p:extLst>
          </p:nvPr>
        </p:nvGraphicFramePr>
        <p:xfrm>
          <a:off x="8459920" y="1212378"/>
          <a:ext cx="3503121" cy="62356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31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62356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4000byte</a:t>
                      </a:r>
                      <a:endParaRPr lang="ko-KR" altLang="en-US" dirty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9" name="표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4422788"/>
              </p:ext>
            </p:extLst>
          </p:nvPr>
        </p:nvGraphicFramePr>
        <p:xfrm>
          <a:off x="6676930" y="2598651"/>
          <a:ext cx="2581586" cy="57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949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866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6896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TCP</a:t>
                      </a:r>
                      <a:r>
                        <a:rPr lang="en-US" altLang="ko-KR" sz="1600" baseline="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Header</a:t>
                      </a:r>
                      <a:endParaRPr lang="ko-KR" altLang="en-US" sz="1600" dirty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2000byte</a:t>
                      </a:r>
                      <a:endParaRPr lang="ko-KR" altLang="en-US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493776" y="429768"/>
            <a:ext cx="7083157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200" dirty="0">
                <a:latin typeface="Times New Roman" panose="02020603050405020304" pitchFamily="18" charset="0"/>
                <a:ea typeface="함초롬바탕" panose="02030604000101010101" pitchFamily="18" charset="-127"/>
                <a:cs typeface="Times New Roman" panose="02020603050405020304" pitchFamily="18" charset="0"/>
              </a:rPr>
              <a:t>TCP </a:t>
            </a:r>
            <a:r>
              <a:rPr lang="ko-KR" altLang="en-US" sz="320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기반의 애플리케이션 데이터 전송 </a:t>
            </a:r>
            <a:endParaRPr lang="en-US" altLang="ko-KR" sz="3200" dirty="0">
              <a:latin typeface="함초롬바탕" panose="02030604000101010101" pitchFamily="18" charset="-127"/>
              <a:ea typeface="함초롬바탕" panose="02030604000101010101" pitchFamily="18" charset="-127"/>
              <a:cs typeface="함초롬바탕" panose="02030604000101010101" pitchFamily="18" charset="-127"/>
            </a:endParaRPr>
          </a:p>
          <a:p>
            <a:r>
              <a:rPr lang="en-US" altLang="ko-KR" sz="32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 </a:t>
            </a:r>
            <a:r>
              <a:rPr lang="ko-KR" altLang="en-US" sz="320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 </a:t>
            </a:r>
          </a:p>
        </p:txBody>
      </p:sp>
      <p:graphicFrame>
        <p:nvGraphicFramePr>
          <p:cNvPr id="19" name="표 1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41853960"/>
              </p:ext>
            </p:extLst>
          </p:nvPr>
        </p:nvGraphicFramePr>
        <p:xfrm>
          <a:off x="9429274" y="2589507"/>
          <a:ext cx="2581586" cy="57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949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866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6896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TCP</a:t>
                      </a:r>
                      <a:r>
                        <a:rPr lang="en-US" altLang="ko-KR" sz="1600" baseline="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Header</a:t>
                      </a:r>
                      <a:endParaRPr lang="ko-KR" altLang="en-US" sz="1600" dirty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2000byte</a:t>
                      </a:r>
                      <a:endParaRPr lang="ko-KR" altLang="en-US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0" name="표 1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28787223"/>
              </p:ext>
            </p:extLst>
          </p:nvPr>
        </p:nvGraphicFramePr>
        <p:xfrm>
          <a:off x="342988" y="4231948"/>
          <a:ext cx="2704586" cy="6055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062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898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1498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0553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 IP</a:t>
                      </a:r>
                      <a:r>
                        <a:rPr lang="en-US" altLang="ko-KR" sz="1500" baseline="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Header</a:t>
                      </a:r>
                      <a:endParaRPr lang="ko-KR" altLang="en-US" sz="1500" dirty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5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TCP</a:t>
                      </a:r>
                      <a:r>
                        <a:rPr lang="en-US" altLang="ko-KR" sz="1500" baseline="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</a:p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500" baseline="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Header</a:t>
                      </a:r>
                      <a:endParaRPr lang="ko-KR" altLang="en-US" sz="15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5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1500</a:t>
                      </a:r>
                    </a:p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5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byte</a:t>
                      </a:r>
                      <a:endParaRPr lang="ko-KR" altLang="en-US" sz="15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6" name="표 2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26047054"/>
              </p:ext>
            </p:extLst>
          </p:nvPr>
        </p:nvGraphicFramePr>
        <p:xfrm>
          <a:off x="3449249" y="4213834"/>
          <a:ext cx="2594860" cy="6055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732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7484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326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0553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 IP</a:t>
                      </a:r>
                      <a:r>
                        <a:rPr lang="en-US" altLang="ko-KR" sz="1500" baseline="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Header</a:t>
                      </a:r>
                      <a:endParaRPr lang="ko-KR" altLang="en-US" sz="1500" dirty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5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TCP</a:t>
                      </a:r>
                      <a:r>
                        <a:rPr lang="en-US" altLang="ko-KR" sz="1500" baseline="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</a:p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500" baseline="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Header</a:t>
                      </a:r>
                      <a:endParaRPr lang="ko-KR" altLang="en-US" sz="15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5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500</a:t>
                      </a:r>
                    </a:p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5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byte</a:t>
                      </a:r>
                      <a:endParaRPr lang="ko-KR" altLang="en-US" sz="15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7" name="표 2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33333904"/>
              </p:ext>
            </p:extLst>
          </p:nvPr>
        </p:nvGraphicFramePr>
        <p:xfrm>
          <a:off x="6355901" y="4213834"/>
          <a:ext cx="2704586" cy="6055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062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898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1498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0553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 IP</a:t>
                      </a:r>
                      <a:r>
                        <a:rPr lang="en-US" altLang="ko-KR" sz="1500" baseline="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Header</a:t>
                      </a:r>
                      <a:endParaRPr lang="ko-KR" altLang="en-US" sz="1500" dirty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5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TCP</a:t>
                      </a:r>
                      <a:r>
                        <a:rPr lang="en-US" altLang="ko-KR" sz="1500" baseline="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</a:p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500" baseline="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Header</a:t>
                      </a:r>
                      <a:endParaRPr lang="ko-KR" altLang="en-US" sz="15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5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1500</a:t>
                      </a:r>
                    </a:p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5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byte</a:t>
                      </a:r>
                      <a:endParaRPr lang="ko-KR" altLang="en-US" sz="15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8" name="표 2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03314982"/>
              </p:ext>
            </p:extLst>
          </p:nvPr>
        </p:nvGraphicFramePr>
        <p:xfrm>
          <a:off x="9429274" y="4196100"/>
          <a:ext cx="2594860" cy="6055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732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7484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326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0553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 IP</a:t>
                      </a:r>
                      <a:r>
                        <a:rPr lang="en-US" altLang="ko-KR" sz="1500" baseline="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Header</a:t>
                      </a:r>
                      <a:endParaRPr lang="ko-KR" altLang="en-US" sz="1500" dirty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5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TCP</a:t>
                      </a:r>
                      <a:r>
                        <a:rPr lang="en-US" altLang="ko-KR" sz="1500" baseline="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</a:p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500" baseline="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Header</a:t>
                      </a:r>
                      <a:endParaRPr lang="ko-KR" altLang="en-US" sz="15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5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500</a:t>
                      </a:r>
                    </a:p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5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byte</a:t>
                      </a:r>
                      <a:endParaRPr lang="ko-KR" altLang="en-US" sz="15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30" name="표 2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8385093"/>
              </p:ext>
            </p:extLst>
          </p:nvPr>
        </p:nvGraphicFramePr>
        <p:xfrm>
          <a:off x="0" y="5713858"/>
          <a:ext cx="2992490" cy="6055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705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2705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2193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1645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0553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Ether</a:t>
                      </a:r>
                    </a:p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Header</a:t>
                      </a:r>
                      <a:endParaRPr lang="ko-KR" altLang="en-US" sz="1200" dirty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 IP</a:t>
                      </a:r>
                    </a:p>
                    <a:p>
                      <a:pPr algn="ctr" latinLnBrk="1"/>
                      <a:r>
                        <a:rPr lang="en-US" altLang="ko-KR" sz="1200" baseline="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Header</a:t>
                      </a:r>
                      <a:endParaRPr lang="ko-KR" altLang="en-US" sz="1200" dirty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aseline="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TCP</a:t>
                      </a:r>
                    </a:p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aseline="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Header</a:t>
                      </a:r>
                      <a:endParaRPr lang="ko-KR" altLang="en-US" sz="12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1500</a:t>
                      </a:r>
                    </a:p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byte</a:t>
                      </a:r>
                      <a:endParaRPr lang="ko-KR" altLang="en-US" sz="12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37" name="표 3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1480474"/>
              </p:ext>
            </p:extLst>
          </p:nvPr>
        </p:nvGraphicFramePr>
        <p:xfrm>
          <a:off x="3106674" y="5732526"/>
          <a:ext cx="2873619" cy="6055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981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81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32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8401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0553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Ether</a:t>
                      </a:r>
                    </a:p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Header</a:t>
                      </a:r>
                      <a:endParaRPr lang="ko-KR" altLang="en-US" sz="1200" dirty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 IP</a:t>
                      </a:r>
                    </a:p>
                    <a:p>
                      <a:pPr algn="ctr" latinLnBrk="1"/>
                      <a:r>
                        <a:rPr lang="en-US" altLang="ko-KR" sz="1200" baseline="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Header</a:t>
                      </a:r>
                      <a:endParaRPr lang="ko-KR" altLang="en-US" sz="1200" dirty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aseline="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TCP</a:t>
                      </a:r>
                    </a:p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aseline="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Header</a:t>
                      </a:r>
                      <a:endParaRPr lang="ko-KR" altLang="en-US" sz="12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500</a:t>
                      </a:r>
                    </a:p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byte</a:t>
                      </a:r>
                      <a:endParaRPr lang="ko-KR" altLang="en-US" sz="12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38" name="표 3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6464987"/>
              </p:ext>
            </p:extLst>
          </p:nvPr>
        </p:nvGraphicFramePr>
        <p:xfrm>
          <a:off x="9170199" y="5717994"/>
          <a:ext cx="2992490" cy="6055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705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2705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2193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1645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0553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Ether</a:t>
                      </a:r>
                    </a:p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Header</a:t>
                      </a:r>
                      <a:endParaRPr lang="ko-KR" altLang="en-US" sz="1200" dirty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 IP</a:t>
                      </a:r>
                    </a:p>
                    <a:p>
                      <a:pPr algn="ctr" latinLnBrk="1"/>
                      <a:r>
                        <a:rPr lang="en-US" altLang="ko-KR" sz="1200" baseline="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Header</a:t>
                      </a:r>
                      <a:endParaRPr lang="ko-KR" altLang="en-US" sz="1200" dirty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aseline="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TCP</a:t>
                      </a:r>
                    </a:p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aseline="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Header</a:t>
                      </a:r>
                      <a:endParaRPr lang="ko-KR" altLang="en-US" sz="12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1500</a:t>
                      </a:r>
                    </a:p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byte</a:t>
                      </a:r>
                      <a:endParaRPr lang="ko-KR" altLang="en-US" sz="12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39" name="표 3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26221543"/>
              </p:ext>
            </p:extLst>
          </p:nvPr>
        </p:nvGraphicFramePr>
        <p:xfrm>
          <a:off x="6080688" y="5726938"/>
          <a:ext cx="2992490" cy="6055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705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2705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2193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1645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0553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Ether</a:t>
                      </a:r>
                    </a:p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Header</a:t>
                      </a:r>
                      <a:endParaRPr lang="ko-KR" altLang="en-US" sz="1200" dirty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 IP</a:t>
                      </a:r>
                    </a:p>
                    <a:p>
                      <a:pPr algn="ctr" latinLnBrk="1"/>
                      <a:r>
                        <a:rPr lang="en-US" altLang="ko-KR" sz="1200" baseline="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Header</a:t>
                      </a:r>
                      <a:endParaRPr lang="ko-KR" altLang="en-US" sz="1200" dirty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aseline="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TCP</a:t>
                      </a:r>
                    </a:p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aseline="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Header</a:t>
                      </a:r>
                      <a:endParaRPr lang="ko-KR" altLang="en-US" sz="12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1500</a:t>
                      </a:r>
                    </a:p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byte</a:t>
                      </a:r>
                      <a:endParaRPr lang="ko-KR" altLang="en-US" sz="12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737620" y="2287721"/>
            <a:ext cx="87395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SN=1100</a:t>
            </a:r>
            <a:endParaRPr lang="ko-KR" altLang="en-US" sz="1400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9463918" y="2267174"/>
            <a:ext cx="87395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SN=3100</a:t>
            </a:r>
            <a:endParaRPr lang="ko-KR" altLang="en-US" sz="1400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398662" y="3943672"/>
            <a:ext cx="7569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ID=332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47622" y="3930858"/>
            <a:ext cx="7569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ID=332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89213" y="3934147"/>
            <a:ext cx="7569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ID=400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77782" y="3914556"/>
            <a:ext cx="7569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ID=400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52652" y="3935462"/>
            <a:ext cx="86728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SN=1100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99306" y="3935462"/>
            <a:ext cx="87395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SN=2600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14386" y="3943671"/>
            <a:ext cx="87395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SN=3100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29466" y="3924080"/>
            <a:ext cx="87395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SN=4600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9034" y="1306931"/>
            <a:ext cx="349326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(</a:t>
            </a:r>
            <a:r>
              <a:rPr lang="ko-KR" altLang="en-US" sz="200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예</a:t>
            </a:r>
            <a:r>
              <a:rPr lang="en-US" altLang="ko-KR" sz="20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) </a:t>
            </a:r>
            <a:r>
              <a:rPr lang="en-US" altLang="ko-KR" sz="2000" dirty="0">
                <a:latin typeface="Times New Roman" panose="02020603050405020304" pitchFamily="18" charset="0"/>
                <a:ea typeface="함초롬바탕" panose="02030604000101010101" pitchFamily="18" charset="-127"/>
                <a:cs typeface="Times New Roman" panose="02020603050405020304" pitchFamily="18" charset="0"/>
              </a:rPr>
              <a:t>MSS</a:t>
            </a:r>
            <a:r>
              <a:rPr lang="ko-KR" altLang="en-US" sz="200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가</a:t>
            </a:r>
            <a:r>
              <a:rPr lang="ko-KR" altLang="en-US" sz="2000">
                <a:latin typeface="Times New Roman" panose="02020603050405020304" pitchFamily="18" charset="0"/>
                <a:ea typeface="함초롬바탕" panose="02030604000101010101" pitchFamily="18" charset="-127"/>
                <a:cs typeface="Times New Roman" panose="02020603050405020304" pitchFamily="18" charset="0"/>
              </a:rPr>
              <a:t> </a:t>
            </a:r>
            <a:r>
              <a:rPr lang="en-US" altLang="ko-KR" sz="2000" dirty="0">
                <a:latin typeface="Times New Roman" panose="02020603050405020304" pitchFamily="18" charset="0"/>
                <a:ea typeface="함초롬바탕" panose="02030604000101010101" pitchFamily="18" charset="-127"/>
                <a:cs typeface="Times New Roman" panose="02020603050405020304" pitchFamily="18" charset="0"/>
              </a:rPr>
              <a:t>2000 byte</a:t>
            </a:r>
            <a:r>
              <a:rPr lang="ko-KR" altLang="en-US" sz="200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인 경우 </a:t>
            </a:r>
          </a:p>
        </p:txBody>
      </p:sp>
      <p:sp>
        <p:nvSpPr>
          <p:cNvPr id="35" name="오른쪽 화살표 34"/>
          <p:cNvSpPr/>
          <p:nvPr/>
        </p:nvSpPr>
        <p:spPr>
          <a:xfrm rot="5400000">
            <a:off x="11187598" y="2093947"/>
            <a:ext cx="366712" cy="328613"/>
          </a:xfrm>
          <a:prstGeom prst="rightArrow">
            <a:avLst/>
          </a:prstGeom>
          <a:noFill/>
          <a:ln w="317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오른쪽 화살표 35"/>
          <p:cNvSpPr/>
          <p:nvPr/>
        </p:nvSpPr>
        <p:spPr>
          <a:xfrm rot="5400000">
            <a:off x="11187597" y="3566894"/>
            <a:ext cx="366712" cy="328613"/>
          </a:xfrm>
          <a:prstGeom prst="rightArrow">
            <a:avLst/>
          </a:prstGeom>
          <a:noFill/>
          <a:ln w="317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오른쪽 화살표 39"/>
          <p:cNvSpPr/>
          <p:nvPr/>
        </p:nvSpPr>
        <p:spPr>
          <a:xfrm rot="5400000">
            <a:off x="11187597" y="5189492"/>
            <a:ext cx="366712" cy="328613"/>
          </a:xfrm>
          <a:prstGeom prst="rightArrow">
            <a:avLst/>
          </a:prstGeom>
          <a:noFill/>
          <a:ln w="317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898607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>
          <a:xfrm>
            <a:off x="9133968" y="6346825"/>
            <a:ext cx="2743200" cy="365125"/>
          </a:xfrm>
        </p:spPr>
        <p:txBody>
          <a:bodyPr/>
          <a:lstStyle/>
          <a:p>
            <a:fld id="{F100E85C-9068-46D2-A14A-A9DCCDE0C986}" type="slidenum">
              <a:rPr lang="ko-KR" altLang="en-US" smtClean="0"/>
              <a:t>19</a:t>
            </a:fld>
            <a:endParaRPr lang="ko-KR" altLang="en-US"/>
          </a:p>
        </p:txBody>
      </p:sp>
      <p:graphicFrame>
        <p:nvGraphicFramePr>
          <p:cNvPr id="5" name="표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93353758"/>
              </p:ext>
            </p:extLst>
          </p:nvPr>
        </p:nvGraphicFramePr>
        <p:xfrm>
          <a:off x="3626302" y="2789686"/>
          <a:ext cx="2682170" cy="57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64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756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6896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TCP</a:t>
                      </a:r>
                      <a:r>
                        <a:rPr lang="en-US" altLang="ko-KR" sz="1600" baseline="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Header</a:t>
                      </a:r>
                      <a:endParaRPr lang="ko-KR" altLang="en-US" sz="1600" dirty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1400byte</a:t>
                      </a:r>
                      <a:endParaRPr lang="ko-KR" altLang="en-US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6" name="표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2207031"/>
              </p:ext>
            </p:extLst>
          </p:nvPr>
        </p:nvGraphicFramePr>
        <p:xfrm>
          <a:off x="8374047" y="1235955"/>
          <a:ext cx="3503121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31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62179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4000byte</a:t>
                      </a:r>
                      <a:endParaRPr lang="ko-KR" altLang="en-US" dirty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9" name="표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02519777"/>
              </p:ext>
            </p:extLst>
          </p:nvPr>
        </p:nvGraphicFramePr>
        <p:xfrm>
          <a:off x="6543238" y="2789686"/>
          <a:ext cx="2581586" cy="57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949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866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6896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TCP</a:t>
                      </a:r>
                      <a:r>
                        <a:rPr lang="en-US" altLang="ko-KR" sz="1600" baseline="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Header</a:t>
                      </a:r>
                      <a:endParaRPr lang="ko-KR" altLang="en-US" sz="1600" dirty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1400byte</a:t>
                      </a:r>
                      <a:endParaRPr lang="ko-KR" altLang="en-US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493776" y="429768"/>
            <a:ext cx="7083157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200" dirty="0">
                <a:latin typeface="Times New Roman" panose="02020603050405020304" pitchFamily="18" charset="0"/>
                <a:ea typeface="함초롬바탕" panose="02030604000101010101" pitchFamily="18" charset="-127"/>
                <a:cs typeface="Times New Roman" panose="02020603050405020304" pitchFamily="18" charset="0"/>
              </a:rPr>
              <a:t>TCP </a:t>
            </a:r>
            <a:r>
              <a:rPr lang="ko-KR" altLang="en-US" sz="320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기반의 애플리케이션 데이터 전송 </a:t>
            </a:r>
            <a:endParaRPr lang="en-US" altLang="ko-KR" sz="3200" dirty="0">
              <a:latin typeface="함초롬바탕" panose="02030604000101010101" pitchFamily="18" charset="-127"/>
              <a:ea typeface="함초롬바탕" panose="02030604000101010101" pitchFamily="18" charset="-127"/>
              <a:cs typeface="함초롬바탕" panose="02030604000101010101" pitchFamily="18" charset="-127"/>
            </a:endParaRPr>
          </a:p>
          <a:p>
            <a:r>
              <a:rPr lang="en-US" altLang="ko-KR" sz="32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 </a:t>
            </a:r>
            <a:r>
              <a:rPr lang="ko-KR" altLang="en-US" sz="320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 </a:t>
            </a:r>
          </a:p>
        </p:txBody>
      </p:sp>
      <p:graphicFrame>
        <p:nvGraphicFramePr>
          <p:cNvPr id="19" name="표 1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47374860"/>
              </p:ext>
            </p:extLst>
          </p:nvPr>
        </p:nvGraphicFramePr>
        <p:xfrm>
          <a:off x="9295582" y="2780542"/>
          <a:ext cx="2581586" cy="57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949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866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6896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TCP</a:t>
                      </a:r>
                      <a:r>
                        <a:rPr lang="en-US" altLang="ko-KR" sz="1600" baseline="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Header</a:t>
                      </a:r>
                      <a:endParaRPr lang="ko-KR" altLang="en-US" sz="1600" dirty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1200byte</a:t>
                      </a:r>
                      <a:endParaRPr lang="ko-KR" altLang="en-US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0" name="표 1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2714740"/>
              </p:ext>
            </p:extLst>
          </p:nvPr>
        </p:nvGraphicFramePr>
        <p:xfrm>
          <a:off x="2400050" y="4236378"/>
          <a:ext cx="2852926" cy="6055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563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5953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277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0553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 IP</a:t>
                      </a:r>
                    </a:p>
                    <a:p>
                      <a:pPr algn="ctr" latinLnBrk="1"/>
                      <a:r>
                        <a:rPr lang="en-US" altLang="ko-KR" sz="1500" baseline="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Header</a:t>
                      </a:r>
                      <a:endParaRPr lang="ko-KR" altLang="en-US" sz="1500" dirty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5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TCP</a:t>
                      </a:r>
                      <a:r>
                        <a:rPr lang="en-US" altLang="ko-KR" sz="1500" baseline="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</a:p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500" baseline="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Header</a:t>
                      </a:r>
                      <a:endParaRPr lang="ko-KR" altLang="en-US" sz="15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5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1400byte</a:t>
                      </a:r>
                      <a:endParaRPr lang="ko-KR" altLang="en-US" sz="15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1" name="표 2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34899842"/>
              </p:ext>
            </p:extLst>
          </p:nvPr>
        </p:nvGraphicFramePr>
        <p:xfrm>
          <a:off x="5820920" y="4236378"/>
          <a:ext cx="2852926" cy="6055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563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5953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277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0553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 IP</a:t>
                      </a:r>
                    </a:p>
                    <a:p>
                      <a:pPr algn="ctr" latinLnBrk="1"/>
                      <a:r>
                        <a:rPr lang="en-US" altLang="ko-KR" sz="1500" baseline="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Header</a:t>
                      </a:r>
                      <a:endParaRPr lang="ko-KR" altLang="en-US" sz="1500" dirty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5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TCP</a:t>
                      </a:r>
                      <a:r>
                        <a:rPr lang="en-US" altLang="ko-KR" sz="1500" baseline="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</a:p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500" baseline="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Header</a:t>
                      </a:r>
                      <a:endParaRPr lang="ko-KR" altLang="en-US" sz="15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5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1400byte</a:t>
                      </a:r>
                      <a:endParaRPr lang="ko-KR" altLang="en-US" sz="15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2" name="표 2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09670090"/>
              </p:ext>
            </p:extLst>
          </p:nvPr>
        </p:nvGraphicFramePr>
        <p:xfrm>
          <a:off x="9024242" y="4216287"/>
          <a:ext cx="2852926" cy="6055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563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5953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277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0553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 IP</a:t>
                      </a:r>
                    </a:p>
                    <a:p>
                      <a:pPr algn="ctr" latinLnBrk="1"/>
                      <a:r>
                        <a:rPr lang="en-US" altLang="ko-KR" sz="1500" baseline="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Header</a:t>
                      </a:r>
                      <a:endParaRPr lang="ko-KR" altLang="en-US" sz="1500" dirty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5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TCP</a:t>
                      </a:r>
                      <a:r>
                        <a:rPr lang="en-US" altLang="ko-KR" sz="1500" baseline="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</a:p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500" baseline="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Header</a:t>
                      </a:r>
                      <a:endParaRPr lang="ko-KR" altLang="en-US" sz="15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5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1200byte</a:t>
                      </a:r>
                      <a:endParaRPr lang="ko-KR" altLang="en-US" sz="15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3" name="표 2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44187453"/>
              </p:ext>
            </p:extLst>
          </p:nvPr>
        </p:nvGraphicFramePr>
        <p:xfrm>
          <a:off x="8258639" y="5686425"/>
          <a:ext cx="3618529" cy="6055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4234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4234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3641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42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0553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Ether</a:t>
                      </a:r>
                    </a:p>
                    <a:p>
                      <a:pPr algn="ctr" latinLnBrk="1"/>
                      <a:r>
                        <a:rPr lang="en-US" altLang="ko-KR" sz="15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Header</a:t>
                      </a:r>
                      <a:endParaRPr lang="ko-KR" altLang="en-US" sz="1500" dirty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 IP</a:t>
                      </a:r>
                    </a:p>
                    <a:p>
                      <a:pPr algn="ctr" latinLnBrk="1"/>
                      <a:r>
                        <a:rPr lang="en-US" altLang="ko-KR" sz="1500" baseline="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Header</a:t>
                      </a:r>
                      <a:endParaRPr lang="ko-KR" altLang="en-US" sz="1500" dirty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5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TCP</a:t>
                      </a:r>
                      <a:r>
                        <a:rPr lang="en-US" altLang="ko-KR" sz="1500" baseline="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</a:p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500" baseline="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Header</a:t>
                      </a:r>
                      <a:endParaRPr lang="ko-KR" altLang="en-US" sz="15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5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1200byte</a:t>
                      </a:r>
                      <a:endParaRPr lang="ko-KR" altLang="en-US" sz="15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4" name="표 2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18277376"/>
              </p:ext>
            </p:extLst>
          </p:nvPr>
        </p:nvGraphicFramePr>
        <p:xfrm>
          <a:off x="4509599" y="5723001"/>
          <a:ext cx="3618529" cy="6055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4234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4234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3641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42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0553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Ether</a:t>
                      </a:r>
                    </a:p>
                    <a:p>
                      <a:pPr algn="ctr" latinLnBrk="1"/>
                      <a:r>
                        <a:rPr lang="en-US" altLang="ko-KR" sz="15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Header</a:t>
                      </a:r>
                      <a:endParaRPr lang="ko-KR" altLang="en-US" sz="1500" dirty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 IP</a:t>
                      </a:r>
                    </a:p>
                    <a:p>
                      <a:pPr algn="ctr" latinLnBrk="1"/>
                      <a:r>
                        <a:rPr lang="en-US" altLang="ko-KR" sz="1500" baseline="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Header</a:t>
                      </a:r>
                      <a:endParaRPr lang="ko-KR" altLang="en-US" sz="1500" dirty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5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TCP</a:t>
                      </a:r>
                      <a:r>
                        <a:rPr lang="en-US" altLang="ko-KR" sz="1500" baseline="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</a:p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500" baseline="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Header</a:t>
                      </a:r>
                      <a:endParaRPr lang="ko-KR" altLang="en-US" sz="15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5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1400byte</a:t>
                      </a:r>
                      <a:endParaRPr lang="ko-KR" altLang="en-US" sz="15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5" name="표 2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44048130"/>
              </p:ext>
            </p:extLst>
          </p:nvPr>
        </p:nvGraphicFramePr>
        <p:xfrm>
          <a:off x="705695" y="5741289"/>
          <a:ext cx="3618529" cy="6055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4234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4234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3641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42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0553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Ether</a:t>
                      </a:r>
                    </a:p>
                    <a:p>
                      <a:pPr algn="ctr" latinLnBrk="1"/>
                      <a:r>
                        <a:rPr lang="en-US" altLang="ko-KR" sz="15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Header</a:t>
                      </a:r>
                      <a:endParaRPr lang="ko-KR" altLang="en-US" sz="1500" dirty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 IP</a:t>
                      </a:r>
                    </a:p>
                    <a:p>
                      <a:pPr algn="ctr" latinLnBrk="1"/>
                      <a:r>
                        <a:rPr lang="en-US" altLang="ko-KR" sz="1500" baseline="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Header</a:t>
                      </a:r>
                      <a:endParaRPr lang="ko-KR" altLang="en-US" sz="1500" dirty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5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TCP</a:t>
                      </a:r>
                      <a:r>
                        <a:rPr lang="en-US" altLang="ko-KR" sz="1500" baseline="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</a:p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500" baseline="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Header</a:t>
                      </a:r>
                      <a:endParaRPr lang="ko-KR" altLang="en-US" sz="15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5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1400byte</a:t>
                      </a:r>
                      <a:endParaRPr lang="ko-KR" altLang="en-US" sz="15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604215" y="2486550"/>
            <a:ext cx="87395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SN=1100</a:t>
            </a:r>
            <a:endParaRPr lang="ko-KR" altLang="en-US" sz="1400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563382" y="2486550"/>
            <a:ext cx="87395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SN=2500</a:t>
            </a:r>
            <a:endParaRPr lang="ko-KR" altLang="en-US" sz="1400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9317891" y="2464623"/>
            <a:ext cx="87395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SN=3900</a:t>
            </a:r>
            <a:endParaRPr lang="ko-KR" altLang="en-US" sz="1400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2388363" y="3902973"/>
            <a:ext cx="7569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ID=232</a:t>
            </a:r>
            <a:endParaRPr lang="ko-KR" altLang="en-US" sz="1400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3244045" y="3902973"/>
            <a:ext cx="87395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SN=1100</a:t>
            </a:r>
            <a:endParaRPr lang="ko-KR" altLang="en-US" sz="1400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5819268" y="3930405"/>
            <a:ext cx="7569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ID=233</a:t>
            </a:r>
            <a:endParaRPr lang="ko-KR" altLang="en-US" sz="1400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6674950" y="3930405"/>
            <a:ext cx="87395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SN=2500</a:t>
            </a:r>
            <a:endParaRPr lang="ko-KR" altLang="en-US" sz="1400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9900163" y="3928601"/>
            <a:ext cx="87395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SN=3900</a:t>
            </a:r>
            <a:endParaRPr lang="ko-KR" altLang="en-US" sz="1400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9082581" y="3928601"/>
            <a:ext cx="7569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ID=234</a:t>
            </a:r>
            <a:endParaRPr lang="ko-KR" altLang="en-US" sz="1400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3" name="오른쪽 화살표 32"/>
          <p:cNvSpPr/>
          <p:nvPr/>
        </p:nvSpPr>
        <p:spPr>
          <a:xfrm rot="5400000">
            <a:off x="11187598" y="2093947"/>
            <a:ext cx="366712" cy="328613"/>
          </a:xfrm>
          <a:prstGeom prst="rightArrow">
            <a:avLst/>
          </a:prstGeom>
          <a:noFill/>
          <a:ln w="317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오른쪽 화살표 33"/>
          <p:cNvSpPr/>
          <p:nvPr/>
        </p:nvSpPr>
        <p:spPr>
          <a:xfrm rot="5400000">
            <a:off x="11187598" y="3664009"/>
            <a:ext cx="366712" cy="328613"/>
          </a:xfrm>
          <a:prstGeom prst="rightArrow">
            <a:avLst/>
          </a:prstGeom>
          <a:noFill/>
          <a:ln w="317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오른쪽 화살표 34"/>
          <p:cNvSpPr/>
          <p:nvPr/>
        </p:nvSpPr>
        <p:spPr>
          <a:xfrm rot="5400000">
            <a:off x="11208562" y="5050715"/>
            <a:ext cx="366712" cy="328613"/>
          </a:xfrm>
          <a:prstGeom prst="rightArrow">
            <a:avLst/>
          </a:prstGeom>
          <a:noFill/>
          <a:ln w="317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TextBox 35"/>
          <p:cNvSpPr txBox="1"/>
          <p:nvPr/>
        </p:nvSpPr>
        <p:spPr>
          <a:xfrm>
            <a:off x="619034" y="1306931"/>
            <a:ext cx="341632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(</a:t>
            </a:r>
            <a:r>
              <a:rPr lang="ko-KR" altLang="en-US" sz="200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예</a:t>
            </a:r>
            <a:r>
              <a:rPr lang="en-US" altLang="ko-KR" sz="20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) </a:t>
            </a:r>
            <a:r>
              <a:rPr lang="en-US" altLang="ko-KR" sz="2000" dirty="0">
                <a:latin typeface="Times New Roman" panose="02020603050405020304" pitchFamily="18" charset="0"/>
                <a:ea typeface="함초롬바탕" panose="02030604000101010101" pitchFamily="18" charset="-127"/>
                <a:cs typeface="Times New Roman" panose="02020603050405020304" pitchFamily="18" charset="0"/>
              </a:rPr>
              <a:t>MSS</a:t>
            </a:r>
            <a:r>
              <a:rPr lang="ko-KR" altLang="en-US" sz="200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가</a:t>
            </a:r>
            <a:r>
              <a:rPr lang="ko-KR" altLang="en-US" sz="2000">
                <a:latin typeface="Times New Roman" panose="02020603050405020304" pitchFamily="18" charset="0"/>
                <a:ea typeface="함초롬바탕" panose="02030604000101010101" pitchFamily="18" charset="-127"/>
                <a:cs typeface="Times New Roman" panose="02020603050405020304" pitchFamily="18" charset="0"/>
              </a:rPr>
              <a:t> </a:t>
            </a:r>
            <a:r>
              <a:rPr lang="en-US" altLang="ko-KR" sz="2000" dirty="0">
                <a:latin typeface="Times New Roman" panose="02020603050405020304" pitchFamily="18" charset="0"/>
                <a:ea typeface="함초롬바탕" panose="02030604000101010101" pitchFamily="18" charset="-127"/>
                <a:cs typeface="Times New Roman" panose="02020603050405020304" pitchFamily="18" charset="0"/>
              </a:rPr>
              <a:t>1400 byte</a:t>
            </a:r>
            <a:r>
              <a:rPr lang="ko-KR" altLang="en-US" sz="200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인 경우 </a:t>
            </a:r>
          </a:p>
        </p:txBody>
      </p:sp>
    </p:spTree>
    <p:extLst>
      <p:ext uri="{BB962C8B-B14F-4D97-AF65-F5344CB8AC3E}">
        <p14:creationId xmlns:p14="http://schemas.microsoft.com/office/powerpoint/2010/main" val="142500542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62100" y="1970088"/>
            <a:ext cx="9144000" cy="744537"/>
          </a:xfrm>
        </p:spPr>
        <p:txBody>
          <a:bodyPr>
            <a:normAutofit/>
          </a:bodyPr>
          <a:lstStyle/>
          <a:p>
            <a:r>
              <a:rPr lang="en-US" altLang="ko-KR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TCP</a:t>
            </a:r>
            <a:r>
              <a:rPr lang="en-US" altLang="ko-KR" sz="4000" b="1" dirty="0"/>
              <a:t> </a:t>
            </a:r>
            <a:r>
              <a:rPr lang="ko-KR" altLang="en-US" sz="4000" b="1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신뢰성</a:t>
            </a:r>
            <a:r>
              <a:rPr lang="ko-KR" altLang="en-US" sz="4000" b="1"/>
              <a:t> </a:t>
            </a:r>
            <a:endParaRPr lang="ko-KR" altLang="en-US" sz="4000" b="1" dirty="0">
              <a:latin typeface="함초롬바탕" panose="02030604000101010101" pitchFamily="18" charset="-127"/>
              <a:ea typeface="함초롬바탕" panose="02030604000101010101" pitchFamily="18" charset="-127"/>
              <a:cs typeface="함초롬바탕" panose="02030604000101010101" pitchFamily="18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00E85C-9068-46D2-A14A-A9DCCDE0C986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1476596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>
          <a:xfrm>
            <a:off x="9196131" y="6356350"/>
            <a:ext cx="2743200" cy="365125"/>
          </a:xfrm>
        </p:spPr>
        <p:txBody>
          <a:bodyPr/>
          <a:lstStyle/>
          <a:p>
            <a:fld id="{7B2209E9-2AE8-42A0-AB53-D13299BB30AF}" type="slidenum">
              <a:rPr lang="ko-KR" altLang="en-US" smtClean="0"/>
              <a:pPr/>
              <a:t>21</a:t>
            </a:fld>
            <a:endParaRPr lang="ko-KR" altLang="en-US" dirty="0"/>
          </a:p>
        </p:txBody>
      </p:sp>
      <p:sp>
        <p:nvSpPr>
          <p:cNvPr id="98306" name="제목 1"/>
          <p:cNvSpPr>
            <a:spLocks noGrp="1"/>
          </p:cNvSpPr>
          <p:nvPr>
            <p:ph type="title" idx="4294967295"/>
          </p:nvPr>
        </p:nvSpPr>
        <p:spPr bwMode="auto">
          <a:xfrm>
            <a:off x="0" y="427038"/>
            <a:ext cx="7280275" cy="47942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84406" tIns="42203" rIns="84406" bIns="42203" numCol="1" rtlCol="0" anchor="t" anchorCtr="0" compatLnSpc="1">
            <a:prstTxWarp prst="textNoShape">
              <a:avLst/>
            </a:prstTxWarp>
            <a:noAutofit/>
          </a:bodyPr>
          <a:lstStyle/>
          <a:p>
            <a:r>
              <a:rPr lang="en-US" altLang="ko-KR" sz="24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❶</a:t>
            </a:r>
            <a:r>
              <a:rPr lang="en-US" altLang="ko-KR" sz="2400" dirty="0">
                <a:ea typeface="함초롬바탕" panose="02030504000101010101"/>
              </a:rPr>
              <a:t> </a:t>
            </a:r>
            <a:r>
              <a:rPr lang="ko-KR" altLang="en-US" sz="2400" dirty="0">
                <a:ea typeface="함초롬바탕" panose="02030504000101010101"/>
              </a:rPr>
              <a:t>정상적인 트래픽 전송 과정 </a:t>
            </a:r>
          </a:p>
        </p:txBody>
      </p:sp>
      <p:grpSp>
        <p:nvGrpSpPr>
          <p:cNvPr id="98307" name="그룹 3"/>
          <p:cNvGrpSpPr>
            <a:grpSpLocks/>
          </p:cNvGrpSpPr>
          <p:nvPr/>
        </p:nvGrpSpPr>
        <p:grpSpPr bwMode="auto">
          <a:xfrm flipH="1">
            <a:off x="8990076" y="3036097"/>
            <a:ext cx="868973" cy="942569"/>
            <a:chOff x="1533695" y="4087365"/>
            <a:chExt cx="838200" cy="1008271"/>
          </a:xfrm>
        </p:grpSpPr>
        <p:sp>
          <p:nvSpPr>
            <p:cNvPr id="6" name="Freeform 174"/>
            <p:cNvSpPr>
              <a:spLocks/>
            </p:cNvSpPr>
            <p:nvPr/>
          </p:nvSpPr>
          <p:spPr bwMode="auto">
            <a:xfrm rot="355818">
              <a:off x="2175420" y="4753566"/>
              <a:ext cx="74915" cy="53296"/>
            </a:xfrm>
            <a:custGeom>
              <a:avLst/>
              <a:gdLst>
                <a:gd name="T0" fmla="*/ 1224 w 1224"/>
                <a:gd name="T1" fmla="*/ 755 h 755"/>
                <a:gd name="T2" fmla="*/ 1112 w 1224"/>
                <a:gd name="T3" fmla="*/ 716 h 755"/>
                <a:gd name="T4" fmla="*/ 1051 w 1224"/>
                <a:gd name="T5" fmla="*/ 693 h 755"/>
                <a:gd name="T6" fmla="*/ 1006 w 1224"/>
                <a:gd name="T7" fmla="*/ 671 h 755"/>
                <a:gd name="T8" fmla="*/ 984 w 1224"/>
                <a:gd name="T9" fmla="*/ 660 h 755"/>
                <a:gd name="T10" fmla="*/ 939 w 1224"/>
                <a:gd name="T11" fmla="*/ 626 h 755"/>
                <a:gd name="T12" fmla="*/ 894 w 1224"/>
                <a:gd name="T13" fmla="*/ 548 h 755"/>
                <a:gd name="T14" fmla="*/ 889 w 1224"/>
                <a:gd name="T15" fmla="*/ 531 h 755"/>
                <a:gd name="T16" fmla="*/ 850 w 1224"/>
                <a:gd name="T17" fmla="*/ 509 h 755"/>
                <a:gd name="T18" fmla="*/ 799 w 1224"/>
                <a:gd name="T19" fmla="*/ 481 h 755"/>
                <a:gd name="T20" fmla="*/ 704 w 1224"/>
                <a:gd name="T21" fmla="*/ 453 h 755"/>
                <a:gd name="T22" fmla="*/ 419 w 1224"/>
                <a:gd name="T23" fmla="*/ 442 h 755"/>
                <a:gd name="T24" fmla="*/ 330 w 1224"/>
                <a:gd name="T25" fmla="*/ 408 h 755"/>
                <a:gd name="T26" fmla="*/ 212 w 1224"/>
                <a:gd name="T27" fmla="*/ 279 h 755"/>
                <a:gd name="T28" fmla="*/ 145 w 1224"/>
                <a:gd name="T29" fmla="*/ 134 h 755"/>
                <a:gd name="T30" fmla="*/ 78 w 1224"/>
                <a:gd name="T31" fmla="*/ 39 h 755"/>
                <a:gd name="T32" fmla="*/ 0 w 1224"/>
                <a:gd name="T33" fmla="*/ 0 h 755"/>
                <a:gd name="T34" fmla="*/ 0 60000 65536"/>
                <a:gd name="T35" fmla="*/ 0 60000 65536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w 1224"/>
                <a:gd name="T52" fmla="*/ 0 h 755"/>
                <a:gd name="T53" fmla="*/ 1224 w 1224"/>
                <a:gd name="T54" fmla="*/ 755 h 755"/>
              </a:gdLst>
              <a:ahLst/>
              <a:cxnLst>
                <a:cxn ang="T34">
                  <a:pos x="T0" y="T1"/>
                </a:cxn>
                <a:cxn ang="T35">
                  <a:pos x="T2" y="T3"/>
                </a:cxn>
                <a:cxn ang="T36">
                  <a:pos x="T4" y="T5"/>
                </a:cxn>
                <a:cxn ang="T37">
                  <a:pos x="T6" y="T7"/>
                </a:cxn>
                <a:cxn ang="T38">
                  <a:pos x="T8" y="T9"/>
                </a:cxn>
                <a:cxn ang="T39">
                  <a:pos x="T10" y="T11"/>
                </a:cxn>
                <a:cxn ang="T40">
                  <a:pos x="T12" y="T13"/>
                </a:cxn>
                <a:cxn ang="T41">
                  <a:pos x="T14" y="T15"/>
                </a:cxn>
                <a:cxn ang="T42">
                  <a:pos x="T16" y="T17"/>
                </a:cxn>
                <a:cxn ang="T43">
                  <a:pos x="T18" y="T19"/>
                </a:cxn>
                <a:cxn ang="T44">
                  <a:pos x="T20" y="T21"/>
                </a:cxn>
                <a:cxn ang="T45">
                  <a:pos x="T22" y="T23"/>
                </a:cxn>
                <a:cxn ang="T46">
                  <a:pos x="T24" y="T25"/>
                </a:cxn>
                <a:cxn ang="T47">
                  <a:pos x="T26" y="T27"/>
                </a:cxn>
                <a:cxn ang="T48">
                  <a:pos x="T28" y="T29"/>
                </a:cxn>
                <a:cxn ang="T49">
                  <a:pos x="T30" y="T31"/>
                </a:cxn>
                <a:cxn ang="T50">
                  <a:pos x="T32" y="T33"/>
                </a:cxn>
              </a:cxnLst>
              <a:rect l="T51" t="T52" r="T53" b="T54"/>
              <a:pathLst>
                <a:path w="1224" h="755">
                  <a:moveTo>
                    <a:pt x="1224" y="755"/>
                  </a:moveTo>
                  <a:cubicBezTo>
                    <a:pt x="1190" y="729"/>
                    <a:pt x="1154" y="724"/>
                    <a:pt x="1112" y="716"/>
                  </a:cubicBezTo>
                  <a:cubicBezTo>
                    <a:pt x="1091" y="705"/>
                    <a:pt x="1072" y="702"/>
                    <a:pt x="1051" y="693"/>
                  </a:cubicBezTo>
                  <a:cubicBezTo>
                    <a:pt x="1036" y="686"/>
                    <a:pt x="1021" y="678"/>
                    <a:pt x="1006" y="671"/>
                  </a:cubicBezTo>
                  <a:cubicBezTo>
                    <a:pt x="999" y="667"/>
                    <a:pt x="984" y="660"/>
                    <a:pt x="984" y="660"/>
                  </a:cubicBezTo>
                  <a:cubicBezTo>
                    <a:pt x="971" y="646"/>
                    <a:pt x="939" y="626"/>
                    <a:pt x="939" y="626"/>
                  </a:cubicBezTo>
                  <a:cubicBezTo>
                    <a:pt x="923" y="602"/>
                    <a:pt x="906" y="575"/>
                    <a:pt x="894" y="548"/>
                  </a:cubicBezTo>
                  <a:cubicBezTo>
                    <a:pt x="892" y="543"/>
                    <a:pt x="893" y="536"/>
                    <a:pt x="889" y="531"/>
                  </a:cubicBezTo>
                  <a:cubicBezTo>
                    <a:pt x="884" y="524"/>
                    <a:pt x="855" y="512"/>
                    <a:pt x="850" y="509"/>
                  </a:cubicBezTo>
                  <a:cubicBezTo>
                    <a:pt x="802" y="480"/>
                    <a:pt x="833" y="491"/>
                    <a:pt x="799" y="481"/>
                  </a:cubicBezTo>
                  <a:cubicBezTo>
                    <a:pt x="764" y="457"/>
                    <a:pt x="751" y="457"/>
                    <a:pt x="704" y="453"/>
                  </a:cubicBezTo>
                  <a:cubicBezTo>
                    <a:pt x="606" y="457"/>
                    <a:pt x="515" y="459"/>
                    <a:pt x="419" y="442"/>
                  </a:cubicBezTo>
                  <a:cubicBezTo>
                    <a:pt x="391" y="426"/>
                    <a:pt x="360" y="419"/>
                    <a:pt x="330" y="408"/>
                  </a:cubicBezTo>
                  <a:cubicBezTo>
                    <a:pt x="287" y="368"/>
                    <a:pt x="245" y="328"/>
                    <a:pt x="212" y="279"/>
                  </a:cubicBezTo>
                  <a:cubicBezTo>
                    <a:pt x="183" y="235"/>
                    <a:pt x="168" y="181"/>
                    <a:pt x="145" y="134"/>
                  </a:cubicBezTo>
                  <a:cubicBezTo>
                    <a:pt x="128" y="100"/>
                    <a:pt x="99" y="71"/>
                    <a:pt x="78" y="39"/>
                  </a:cubicBezTo>
                  <a:cubicBezTo>
                    <a:pt x="70" y="27"/>
                    <a:pt x="15" y="7"/>
                    <a:pt x="0" y="0"/>
                  </a:cubicBezTo>
                </a:path>
              </a:pathLst>
            </a:custGeom>
            <a:noFill/>
            <a:ln w="12700">
              <a:solidFill>
                <a:srgbClr val="969696"/>
              </a:solidFill>
              <a:round/>
              <a:headEnd/>
              <a:tailEnd/>
            </a:ln>
          </p:spPr>
          <p:txBody>
            <a:bodyPr/>
            <a:lstStyle/>
            <a:p>
              <a:pPr>
                <a:defRPr/>
              </a:pPr>
              <a:endParaRPr lang="ko-KR" altLang="en-US" sz="1662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7" name="Freeform 175"/>
            <p:cNvSpPr>
              <a:spLocks/>
            </p:cNvSpPr>
            <p:nvPr/>
          </p:nvSpPr>
          <p:spPr bwMode="auto">
            <a:xfrm rot="355818" flipH="1">
              <a:off x="2234787" y="4802159"/>
              <a:ext cx="137108" cy="81512"/>
            </a:xfrm>
            <a:custGeom>
              <a:avLst/>
              <a:gdLst>
                <a:gd name="T0" fmla="*/ 886 w 971"/>
                <a:gd name="T1" fmla="*/ 33 h 550"/>
                <a:gd name="T2" fmla="*/ 937 w 971"/>
                <a:gd name="T3" fmla="*/ 70 h 550"/>
                <a:gd name="T4" fmla="*/ 971 w 971"/>
                <a:gd name="T5" fmla="*/ 130 h 550"/>
                <a:gd name="T6" fmla="*/ 967 w 971"/>
                <a:gd name="T7" fmla="*/ 218 h 550"/>
                <a:gd name="T8" fmla="*/ 882 w 971"/>
                <a:gd name="T9" fmla="*/ 261 h 550"/>
                <a:gd name="T10" fmla="*/ 791 w 971"/>
                <a:gd name="T11" fmla="*/ 294 h 550"/>
                <a:gd name="T12" fmla="*/ 665 w 971"/>
                <a:gd name="T13" fmla="*/ 382 h 550"/>
                <a:gd name="T14" fmla="*/ 519 w 971"/>
                <a:gd name="T15" fmla="*/ 522 h 550"/>
                <a:gd name="T16" fmla="*/ 397 w 971"/>
                <a:gd name="T17" fmla="*/ 542 h 550"/>
                <a:gd name="T18" fmla="*/ 298 w 971"/>
                <a:gd name="T19" fmla="*/ 550 h 550"/>
                <a:gd name="T20" fmla="*/ 155 w 971"/>
                <a:gd name="T21" fmla="*/ 522 h 550"/>
                <a:gd name="T22" fmla="*/ 34 w 971"/>
                <a:gd name="T23" fmla="*/ 459 h 550"/>
                <a:gd name="T24" fmla="*/ 0 w 971"/>
                <a:gd name="T25" fmla="*/ 393 h 550"/>
                <a:gd name="T26" fmla="*/ 11 w 971"/>
                <a:gd name="T27" fmla="*/ 315 h 550"/>
                <a:gd name="T28" fmla="*/ 63 w 971"/>
                <a:gd name="T29" fmla="*/ 210 h 550"/>
                <a:gd name="T30" fmla="*/ 142 w 971"/>
                <a:gd name="T31" fmla="*/ 147 h 550"/>
                <a:gd name="T32" fmla="*/ 246 w 971"/>
                <a:gd name="T33" fmla="*/ 89 h 550"/>
                <a:gd name="T34" fmla="*/ 445 w 971"/>
                <a:gd name="T35" fmla="*/ 21 h 550"/>
                <a:gd name="T36" fmla="*/ 634 w 971"/>
                <a:gd name="T37" fmla="*/ 0 h 550"/>
                <a:gd name="T38" fmla="*/ 794 w 971"/>
                <a:gd name="T39" fmla="*/ 13 h 550"/>
                <a:gd name="T40" fmla="*/ 886 w 971"/>
                <a:gd name="T41" fmla="*/ 33 h 550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60000 65536"/>
                <a:gd name="T55" fmla="*/ 0 60000 65536"/>
                <a:gd name="T56" fmla="*/ 0 60000 65536"/>
                <a:gd name="T57" fmla="*/ 0 60000 65536"/>
                <a:gd name="T58" fmla="*/ 0 60000 65536"/>
                <a:gd name="T59" fmla="*/ 0 60000 65536"/>
                <a:gd name="T60" fmla="*/ 0 60000 65536"/>
                <a:gd name="T61" fmla="*/ 0 60000 65536"/>
                <a:gd name="T62" fmla="*/ 0 60000 65536"/>
                <a:gd name="T63" fmla="*/ 0 w 971"/>
                <a:gd name="T64" fmla="*/ 0 h 550"/>
                <a:gd name="T65" fmla="*/ 971 w 971"/>
                <a:gd name="T66" fmla="*/ 550 h 550"/>
              </a:gdLst>
              <a:ahLst/>
              <a:cxnLst>
                <a:cxn ang="T42">
                  <a:pos x="T0" y="T1"/>
                </a:cxn>
                <a:cxn ang="T43">
                  <a:pos x="T2" y="T3"/>
                </a:cxn>
                <a:cxn ang="T44">
                  <a:pos x="T4" y="T5"/>
                </a:cxn>
                <a:cxn ang="T45">
                  <a:pos x="T6" y="T7"/>
                </a:cxn>
                <a:cxn ang="T46">
                  <a:pos x="T8" y="T9"/>
                </a:cxn>
                <a:cxn ang="T47">
                  <a:pos x="T10" y="T11"/>
                </a:cxn>
                <a:cxn ang="T48">
                  <a:pos x="T12" y="T13"/>
                </a:cxn>
                <a:cxn ang="T49">
                  <a:pos x="T14" y="T15"/>
                </a:cxn>
                <a:cxn ang="T50">
                  <a:pos x="T16" y="T17"/>
                </a:cxn>
                <a:cxn ang="T51">
                  <a:pos x="T18" y="T19"/>
                </a:cxn>
                <a:cxn ang="T52">
                  <a:pos x="T20" y="T21"/>
                </a:cxn>
                <a:cxn ang="T53">
                  <a:pos x="T22" y="T23"/>
                </a:cxn>
                <a:cxn ang="T54">
                  <a:pos x="T24" y="T25"/>
                </a:cxn>
                <a:cxn ang="T55">
                  <a:pos x="T26" y="T27"/>
                </a:cxn>
                <a:cxn ang="T56">
                  <a:pos x="T28" y="T29"/>
                </a:cxn>
                <a:cxn ang="T57">
                  <a:pos x="T30" y="T31"/>
                </a:cxn>
                <a:cxn ang="T58">
                  <a:pos x="T32" y="T33"/>
                </a:cxn>
                <a:cxn ang="T59">
                  <a:pos x="T34" y="T35"/>
                </a:cxn>
                <a:cxn ang="T60">
                  <a:pos x="T36" y="T37"/>
                </a:cxn>
                <a:cxn ang="T61">
                  <a:pos x="T38" y="T39"/>
                </a:cxn>
                <a:cxn ang="T62">
                  <a:pos x="T40" y="T41"/>
                </a:cxn>
              </a:cxnLst>
              <a:rect l="T63" t="T64" r="T65" b="T66"/>
              <a:pathLst>
                <a:path w="971" h="550">
                  <a:moveTo>
                    <a:pt x="886" y="33"/>
                  </a:moveTo>
                  <a:lnTo>
                    <a:pt x="937" y="70"/>
                  </a:lnTo>
                  <a:lnTo>
                    <a:pt x="971" y="130"/>
                  </a:lnTo>
                  <a:lnTo>
                    <a:pt x="967" y="218"/>
                  </a:lnTo>
                  <a:lnTo>
                    <a:pt x="882" y="261"/>
                  </a:lnTo>
                  <a:lnTo>
                    <a:pt x="791" y="294"/>
                  </a:lnTo>
                  <a:lnTo>
                    <a:pt x="665" y="382"/>
                  </a:lnTo>
                  <a:lnTo>
                    <a:pt x="519" y="522"/>
                  </a:lnTo>
                  <a:lnTo>
                    <a:pt x="397" y="542"/>
                  </a:lnTo>
                  <a:lnTo>
                    <a:pt x="298" y="550"/>
                  </a:lnTo>
                  <a:lnTo>
                    <a:pt x="155" y="522"/>
                  </a:lnTo>
                  <a:lnTo>
                    <a:pt x="34" y="459"/>
                  </a:lnTo>
                  <a:lnTo>
                    <a:pt x="0" y="393"/>
                  </a:lnTo>
                  <a:lnTo>
                    <a:pt x="11" y="315"/>
                  </a:lnTo>
                  <a:lnTo>
                    <a:pt x="63" y="210"/>
                  </a:lnTo>
                  <a:lnTo>
                    <a:pt x="142" y="147"/>
                  </a:lnTo>
                  <a:lnTo>
                    <a:pt x="246" y="89"/>
                  </a:lnTo>
                  <a:lnTo>
                    <a:pt x="445" y="21"/>
                  </a:lnTo>
                  <a:lnTo>
                    <a:pt x="634" y="0"/>
                  </a:lnTo>
                  <a:lnTo>
                    <a:pt x="794" y="13"/>
                  </a:lnTo>
                  <a:lnTo>
                    <a:pt x="886" y="33"/>
                  </a:lnTo>
                  <a:close/>
                </a:path>
              </a:pathLst>
            </a:custGeom>
            <a:gradFill rotWithShape="1">
              <a:gsLst>
                <a:gs pos="0">
                  <a:srgbClr val="EAEAEA"/>
                </a:gs>
                <a:gs pos="50000">
                  <a:srgbClr val="FFFFFF"/>
                </a:gs>
                <a:gs pos="100000">
                  <a:srgbClr val="EAEAEA"/>
                </a:gs>
              </a:gsLst>
              <a:lin ang="2700000" scaled="1"/>
            </a:gradFill>
            <a:ln w="9525">
              <a:solidFill>
                <a:srgbClr val="808080"/>
              </a:solidFill>
              <a:round/>
              <a:headEnd/>
              <a:tailEnd/>
            </a:ln>
          </p:spPr>
          <p:txBody>
            <a:bodyPr/>
            <a:lstStyle/>
            <a:p>
              <a:pPr>
                <a:defRPr/>
              </a:pPr>
              <a:endParaRPr lang="ko-KR" altLang="en-US" sz="1662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8" name="Freeform 176"/>
            <p:cNvSpPr>
              <a:spLocks/>
            </p:cNvSpPr>
            <p:nvPr/>
          </p:nvSpPr>
          <p:spPr bwMode="auto">
            <a:xfrm rot="355818">
              <a:off x="2229133" y="4830375"/>
              <a:ext cx="134281" cy="57999"/>
            </a:xfrm>
            <a:custGeom>
              <a:avLst/>
              <a:gdLst>
                <a:gd name="T0" fmla="*/ 0 w 1432"/>
                <a:gd name="T1" fmla="*/ 0 h 526"/>
                <a:gd name="T2" fmla="*/ 56 w 1432"/>
                <a:gd name="T3" fmla="*/ 118 h 526"/>
                <a:gd name="T4" fmla="*/ 319 w 1432"/>
                <a:gd name="T5" fmla="*/ 302 h 526"/>
                <a:gd name="T6" fmla="*/ 604 w 1432"/>
                <a:gd name="T7" fmla="*/ 448 h 526"/>
                <a:gd name="T8" fmla="*/ 867 w 1432"/>
                <a:gd name="T9" fmla="*/ 526 h 526"/>
                <a:gd name="T10" fmla="*/ 1091 w 1432"/>
                <a:gd name="T11" fmla="*/ 504 h 526"/>
                <a:gd name="T12" fmla="*/ 1270 w 1432"/>
                <a:gd name="T13" fmla="*/ 448 h 526"/>
                <a:gd name="T14" fmla="*/ 1432 w 1432"/>
                <a:gd name="T15" fmla="*/ 353 h 526"/>
                <a:gd name="T16" fmla="*/ 1253 w 1432"/>
                <a:gd name="T17" fmla="*/ 431 h 526"/>
                <a:gd name="T18" fmla="*/ 1108 w 1432"/>
                <a:gd name="T19" fmla="*/ 470 h 526"/>
                <a:gd name="T20" fmla="*/ 951 w 1432"/>
                <a:gd name="T21" fmla="*/ 470 h 526"/>
                <a:gd name="T22" fmla="*/ 789 w 1432"/>
                <a:gd name="T23" fmla="*/ 453 h 526"/>
                <a:gd name="T24" fmla="*/ 699 w 1432"/>
                <a:gd name="T25" fmla="*/ 420 h 526"/>
                <a:gd name="T26" fmla="*/ 560 w 1432"/>
                <a:gd name="T27" fmla="*/ 330 h 526"/>
                <a:gd name="T28" fmla="*/ 437 w 1432"/>
                <a:gd name="T29" fmla="*/ 213 h 526"/>
                <a:gd name="T30" fmla="*/ 274 w 1432"/>
                <a:gd name="T31" fmla="*/ 129 h 526"/>
                <a:gd name="T32" fmla="*/ 140 w 1432"/>
                <a:gd name="T33" fmla="*/ 73 h 526"/>
                <a:gd name="T34" fmla="*/ 0 w 1432"/>
                <a:gd name="T35" fmla="*/ 0 h 526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w 1432"/>
                <a:gd name="T55" fmla="*/ 0 h 526"/>
                <a:gd name="T56" fmla="*/ 1432 w 1432"/>
                <a:gd name="T57" fmla="*/ 526 h 526"/>
              </a:gdLst>
              <a:ahLst/>
              <a:cxnLst>
                <a:cxn ang="T36">
                  <a:pos x="T0" y="T1"/>
                </a:cxn>
                <a:cxn ang="T37">
                  <a:pos x="T2" y="T3"/>
                </a:cxn>
                <a:cxn ang="T38">
                  <a:pos x="T4" y="T5"/>
                </a:cxn>
                <a:cxn ang="T39">
                  <a:pos x="T6" y="T7"/>
                </a:cxn>
                <a:cxn ang="T40">
                  <a:pos x="T8" y="T9"/>
                </a:cxn>
                <a:cxn ang="T41">
                  <a:pos x="T10" y="T11"/>
                </a:cxn>
                <a:cxn ang="T42">
                  <a:pos x="T12" y="T13"/>
                </a:cxn>
                <a:cxn ang="T43">
                  <a:pos x="T14" y="T15"/>
                </a:cxn>
                <a:cxn ang="T44">
                  <a:pos x="T16" y="T17"/>
                </a:cxn>
                <a:cxn ang="T45">
                  <a:pos x="T18" y="T19"/>
                </a:cxn>
                <a:cxn ang="T46">
                  <a:pos x="T20" y="T21"/>
                </a:cxn>
                <a:cxn ang="T47">
                  <a:pos x="T22" y="T23"/>
                </a:cxn>
                <a:cxn ang="T48">
                  <a:pos x="T24" y="T25"/>
                </a:cxn>
                <a:cxn ang="T49">
                  <a:pos x="T26" y="T27"/>
                </a:cxn>
                <a:cxn ang="T50">
                  <a:pos x="T28" y="T29"/>
                </a:cxn>
                <a:cxn ang="T51">
                  <a:pos x="T30" y="T31"/>
                </a:cxn>
                <a:cxn ang="T52">
                  <a:pos x="T32" y="T33"/>
                </a:cxn>
                <a:cxn ang="T53">
                  <a:pos x="T34" y="T35"/>
                </a:cxn>
              </a:cxnLst>
              <a:rect l="T54" t="T55" r="T56" b="T57"/>
              <a:pathLst>
                <a:path w="1432" h="526">
                  <a:moveTo>
                    <a:pt x="0" y="0"/>
                  </a:moveTo>
                  <a:lnTo>
                    <a:pt x="56" y="118"/>
                  </a:lnTo>
                  <a:lnTo>
                    <a:pt x="319" y="302"/>
                  </a:lnTo>
                  <a:lnTo>
                    <a:pt x="604" y="448"/>
                  </a:lnTo>
                  <a:lnTo>
                    <a:pt x="867" y="526"/>
                  </a:lnTo>
                  <a:lnTo>
                    <a:pt x="1091" y="504"/>
                  </a:lnTo>
                  <a:lnTo>
                    <a:pt x="1270" y="448"/>
                  </a:lnTo>
                  <a:lnTo>
                    <a:pt x="1432" y="353"/>
                  </a:lnTo>
                  <a:lnTo>
                    <a:pt x="1253" y="431"/>
                  </a:lnTo>
                  <a:lnTo>
                    <a:pt x="1108" y="470"/>
                  </a:lnTo>
                  <a:lnTo>
                    <a:pt x="951" y="470"/>
                  </a:lnTo>
                  <a:lnTo>
                    <a:pt x="789" y="453"/>
                  </a:lnTo>
                  <a:lnTo>
                    <a:pt x="699" y="420"/>
                  </a:lnTo>
                  <a:lnTo>
                    <a:pt x="560" y="330"/>
                  </a:lnTo>
                  <a:lnTo>
                    <a:pt x="437" y="213"/>
                  </a:lnTo>
                  <a:lnTo>
                    <a:pt x="274" y="129"/>
                  </a:lnTo>
                  <a:lnTo>
                    <a:pt x="140" y="73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969696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rgbClr val="808080"/>
              </a:solidFill>
              <a:round/>
              <a:headEnd/>
              <a:tailEnd/>
            </a:ln>
          </p:spPr>
          <p:txBody>
            <a:bodyPr/>
            <a:lstStyle/>
            <a:p>
              <a:pPr>
                <a:defRPr/>
              </a:pPr>
              <a:endParaRPr lang="ko-KR" altLang="en-US" sz="1662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9" name="Freeform 177"/>
            <p:cNvSpPr>
              <a:spLocks/>
            </p:cNvSpPr>
            <p:nvPr/>
          </p:nvSpPr>
          <p:spPr bwMode="auto">
            <a:xfrm rot="355818" flipH="1">
              <a:off x="2263057" y="4797457"/>
              <a:ext cx="31097" cy="39188"/>
            </a:xfrm>
            <a:custGeom>
              <a:avLst/>
              <a:gdLst>
                <a:gd name="T0" fmla="*/ 229 w 229"/>
                <a:gd name="T1" fmla="*/ 261 h 261"/>
                <a:gd name="T2" fmla="*/ 115 w 229"/>
                <a:gd name="T3" fmla="*/ 57 h 261"/>
                <a:gd name="T4" fmla="*/ 0 w 229"/>
                <a:gd name="T5" fmla="*/ 0 h 261"/>
                <a:gd name="T6" fmla="*/ 0 60000 65536"/>
                <a:gd name="T7" fmla="*/ 0 60000 65536"/>
                <a:gd name="T8" fmla="*/ 0 60000 65536"/>
                <a:gd name="T9" fmla="*/ 0 w 229"/>
                <a:gd name="T10" fmla="*/ 0 h 261"/>
                <a:gd name="T11" fmla="*/ 229 w 229"/>
                <a:gd name="T12" fmla="*/ 261 h 261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229" h="261">
                  <a:moveTo>
                    <a:pt x="229" y="261"/>
                  </a:moveTo>
                  <a:lnTo>
                    <a:pt x="115" y="57"/>
                  </a:lnTo>
                  <a:lnTo>
                    <a:pt x="0" y="0"/>
                  </a:lnTo>
                </a:path>
              </a:pathLst>
            </a:custGeom>
            <a:noFill/>
            <a:ln w="19050">
              <a:solidFill>
                <a:srgbClr val="B2B2B2"/>
              </a:solidFill>
              <a:round/>
              <a:headEnd/>
              <a:tailEnd/>
            </a:ln>
          </p:spPr>
          <p:txBody>
            <a:bodyPr/>
            <a:lstStyle/>
            <a:p>
              <a:pPr>
                <a:defRPr/>
              </a:pPr>
              <a:endParaRPr lang="ko-KR" altLang="en-US" sz="1662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10" name="Freeform 178"/>
            <p:cNvSpPr>
              <a:spLocks/>
            </p:cNvSpPr>
            <p:nvPr/>
          </p:nvSpPr>
          <p:spPr bwMode="auto">
            <a:xfrm rot="355818">
              <a:off x="2247508" y="4795889"/>
              <a:ext cx="43819" cy="7838"/>
            </a:xfrm>
            <a:custGeom>
              <a:avLst/>
              <a:gdLst>
                <a:gd name="T0" fmla="*/ 0 w 560"/>
                <a:gd name="T1" fmla="*/ 79 h 79"/>
                <a:gd name="T2" fmla="*/ 246 w 560"/>
                <a:gd name="T3" fmla="*/ 26 h 79"/>
                <a:gd name="T4" fmla="*/ 408 w 560"/>
                <a:gd name="T5" fmla="*/ 0 h 79"/>
                <a:gd name="T6" fmla="*/ 560 w 560"/>
                <a:gd name="T7" fmla="*/ 26 h 79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560"/>
                <a:gd name="T13" fmla="*/ 0 h 79"/>
                <a:gd name="T14" fmla="*/ 560 w 560"/>
                <a:gd name="T15" fmla="*/ 79 h 79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560" h="79">
                  <a:moveTo>
                    <a:pt x="0" y="79"/>
                  </a:moveTo>
                  <a:lnTo>
                    <a:pt x="246" y="26"/>
                  </a:lnTo>
                  <a:lnTo>
                    <a:pt x="408" y="0"/>
                  </a:lnTo>
                  <a:lnTo>
                    <a:pt x="560" y="26"/>
                  </a:lnTo>
                </a:path>
              </a:pathLst>
            </a:custGeom>
            <a:noFill/>
            <a:ln w="9525">
              <a:solidFill>
                <a:srgbClr val="969696"/>
              </a:solidFill>
              <a:round/>
              <a:headEnd/>
              <a:tailEnd/>
            </a:ln>
          </p:spPr>
          <p:txBody>
            <a:bodyPr/>
            <a:lstStyle/>
            <a:p>
              <a:pPr>
                <a:defRPr/>
              </a:pPr>
              <a:endParaRPr lang="ko-KR" altLang="en-US" sz="1662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11" name="Oval 179"/>
            <p:cNvSpPr>
              <a:spLocks noChangeArrowheads="1"/>
            </p:cNvSpPr>
            <p:nvPr/>
          </p:nvSpPr>
          <p:spPr bwMode="auto">
            <a:xfrm rot="21219751">
              <a:off x="2267297" y="4792754"/>
              <a:ext cx="18376" cy="9405"/>
            </a:xfrm>
            <a:prstGeom prst="ellipse">
              <a:avLst/>
            </a:prstGeom>
            <a:solidFill>
              <a:srgbClr val="969696"/>
            </a:solidFill>
            <a:ln w="9525">
              <a:solidFill>
                <a:srgbClr val="969696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>
                <a:defRPr/>
              </a:pPr>
              <a:endParaRPr lang="ko-KR" altLang="en-US" sz="1662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12" name="Freeform 180"/>
            <p:cNvSpPr>
              <a:spLocks/>
            </p:cNvSpPr>
            <p:nvPr/>
          </p:nvSpPr>
          <p:spPr bwMode="auto">
            <a:xfrm rot="355818">
              <a:off x="2239027" y="4799024"/>
              <a:ext cx="35338" cy="32919"/>
            </a:xfrm>
            <a:custGeom>
              <a:avLst/>
              <a:gdLst>
                <a:gd name="T0" fmla="*/ 98 w 482"/>
                <a:gd name="T1" fmla="*/ 36 h 367"/>
                <a:gd name="T2" fmla="*/ 320 w 482"/>
                <a:gd name="T3" fmla="*/ 0 h 367"/>
                <a:gd name="T4" fmla="*/ 367 w 482"/>
                <a:gd name="T5" fmla="*/ 26 h 367"/>
                <a:gd name="T6" fmla="*/ 445 w 482"/>
                <a:gd name="T7" fmla="*/ 26 h 367"/>
                <a:gd name="T8" fmla="*/ 482 w 482"/>
                <a:gd name="T9" fmla="*/ 42 h 367"/>
                <a:gd name="T10" fmla="*/ 278 w 482"/>
                <a:gd name="T11" fmla="*/ 367 h 367"/>
                <a:gd name="T12" fmla="*/ 5 w 482"/>
                <a:gd name="T13" fmla="*/ 262 h 367"/>
                <a:gd name="T14" fmla="*/ 0 w 482"/>
                <a:gd name="T15" fmla="*/ 157 h 367"/>
                <a:gd name="T16" fmla="*/ 42 w 482"/>
                <a:gd name="T17" fmla="*/ 74 h 367"/>
                <a:gd name="T18" fmla="*/ 98 w 482"/>
                <a:gd name="T19" fmla="*/ 36 h 367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w 482"/>
                <a:gd name="T31" fmla="*/ 0 h 367"/>
                <a:gd name="T32" fmla="*/ 482 w 482"/>
                <a:gd name="T33" fmla="*/ 367 h 367"/>
              </a:gdLst>
              <a:ahLst/>
              <a:cxnLst>
                <a:cxn ang="T20">
                  <a:pos x="T0" y="T1"/>
                </a:cxn>
                <a:cxn ang="T21">
                  <a:pos x="T2" y="T3"/>
                </a:cxn>
                <a:cxn ang="T22">
                  <a:pos x="T4" y="T5"/>
                </a:cxn>
                <a:cxn ang="T23">
                  <a:pos x="T6" y="T7"/>
                </a:cxn>
                <a:cxn ang="T24">
                  <a:pos x="T8" y="T9"/>
                </a:cxn>
                <a:cxn ang="T25">
                  <a:pos x="T10" y="T11"/>
                </a:cxn>
                <a:cxn ang="T26">
                  <a:pos x="T12" y="T13"/>
                </a:cxn>
                <a:cxn ang="T27">
                  <a:pos x="T14" y="T15"/>
                </a:cxn>
                <a:cxn ang="T28">
                  <a:pos x="T16" y="T17"/>
                </a:cxn>
                <a:cxn ang="T29">
                  <a:pos x="T18" y="T19"/>
                </a:cxn>
              </a:cxnLst>
              <a:rect l="T30" t="T31" r="T32" b="T33"/>
              <a:pathLst>
                <a:path w="482" h="367">
                  <a:moveTo>
                    <a:pt x="98" y="36"/>
                  </a:moveTo>
                  <a:lnTo>
                    <a:pt x="320" y="0"/>
                  </a:lnTo>
                  <a:lnTo>
                    <a:pt x="367" y="26"/>
                  </a:lnTo>
                  <a:lnTo>
                    <a:pt x="445" y="26"/>
                  </a:lnTo>
                  <a:lnTo>
                    <a:pt x="482" y="42"/>
                  </a:lnTo>
                  <a:lnTo>
                    <a:pt x="278" y="367"/>
                  </a:lnTo>
                  <a:lnTo>
                    <a:pt x="5" y="262"/>
                  </a:lnTo>
                  <a:lnTo>
                    <a:pt x="0" y="157"/>
                  </a:lnTo>
                  <a:lnTo>
                    <a:pt x="42" y="74"/>
                  </a:lnTo>
                  <a:lnTo>
                    <a:pt x="98" y="36"/>
                  </a:lnTo>
                  <a:close/>
                </a:path>
              </a:pathLst>
            </a:custGeom>
            <a:noFill/>
            <a:ln w="9525">
              <a:solidFill>
                <a:srgbClr val="969696"/>
              </a:solidFill>
              <a:round/>
              <a:headEnd/>
              <a:tailEnd/>
            </a:ln>
          </p:spPr>
          <p:txBody>
            <a:bodyPr/>
            <a:lstStyle/>
            <a:p>
              <a:pPr>
                <a:defRPr/>
              </a:pPr>
              <a:endParaRPr lang="ko-KR" altLang="en-US" sz="1662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13" name="Freeform 182"/>
            <p:cNvSpPr>
              <a:spLocks/>
            </p:cNvSpPr>
            <p:nvPr/>
          </p:nvSpPr>
          <p:spPr bwMode="auto">
            <a:xfrm flipH="1">
              <a:off x="1772486" y="4767328"/>
              <a:ext cx="178189" cy="328308"/>
            </a:xfrm>
            <a:custGeom>
              <a:avLst/>
              <a:gdLst>
                <a:gd name="T0" fmla="*/ 933 w 933"/>
                <a:gd name="T1" fmla="*/ 135 h 352"/>
                <a:gd name="T2" fmla="*/ 932 w 933"/>
                <a:gd name="T3" fmla="*/ 171 h 352"/>
                <a:gd name="T4" fmla="*/ 762 w 933"/>
                <a:gd name="T5" fmla="*/ 352 h 352"/>
                <a:gd name="T6" fmla="*/ 4 w 933"/>
                <a:gd name="T7" fmla="*/ 195 h 352"/>
                <a:gd name="T8" fmla="*/ 0 w 933"/>
                <a:gd name="T9" fmla="*/ 148 h 352"/>
                <a:gd name="T10" fmla="*/ 244 w 933"/>
                <a:gd name="T11" fmla="*/ 0 h 352"/>
                <a:gd name="T12" fmla="*/ 933 w 933"/>
                <a:gd name="T13" fmla="*/ 135 h 352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933"/>
                <a:gd name="T22" fmla="*/ 0 h 352"/>
                <a:gd name="T23" fmla="*/ 933 w 933"/>
                <a:gd name="T24" fmla="*/ 352 h 352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933" h="352">
                  <a:moveTo>
                    <a:pt x="933" y="135"/>
                  </a:moveTo>
                  <a:lnTo>
                    <a:pt x="932" y="171"/>
                  </a:lnTo>
                  <a:lnTo>
                    <a:pt x="762" y="352"/>
                  </a:lnTo>
                  <a:lnTo>
                    <a:pt x="4" y="195"/>
                  </a:lnTo>
                  <a:lnTo>
                    <a:pt x="0" y="148"/>
                  </a:lnTo>
                  <a:lnTo>
                    <a:pt x="244" y="0"/>
                  </a:lnTo>
                  <a:lnTo>
                    <a:pt x="933" y="135"/>
                  </a:lnTo>
                  <a:close/>
                </a:path>
              </a:pathLst>
            </a:custGeom>
            <a:gradFill rotWithShape="0">
              <a:gsLst>
                <a:gs pos="0">
                  <a:srgbClr val="DDDDDD"/>
                </a:gs>
                <a:gs pos="100000">
                  <a:srgbClr val="F3F3F3"/>
                </a:gs>
              </a:gsLst>
              <a:lin ang="0" scaled="1"/>
            </a:gradFill>
            <a:ln w="6350">
              <a:solidFill>
                <a:srgbClr val="B2B2B2"/>
              </a:solidFill>
              <a:round/>
              <a:headEnd/>
              <a:tailEnd/>
            </a:ln>
          </p:spPr>
          <p:txBody>
            <a:bodyPr wrap="none" tIns="25322" bIns="25322" anchor="ctr">
              <a:spAutoFit/>
            </a:bodyPr>
            <a:lstStyle/>
            <a:p>
              <a:pPr>
                <a:defRPr/>
              </a:pPr>
              <a:endParaRPr lang="ko-KR" altLang="en-US" sz="1662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14" name="Freeform 183"/>
            <p:cNvSpPr>
              <a:spLocks/>
            </p:cNvSpPr>
            <p:nvPr/>
          </p:nvSpPr>
          <p:spPr bwMode="auto">
            <a:xfrm flipH="1">
              <a:off x="1786619" y="4752436"/>
              <a:ext cx="178189" cy="328308"/>
            </a:xfrm>
            <a:custGeom>
              <a:avLst/>
              <a:gdLst>
                <a:gd name="T0" fmla="*/ 895 w 895"/>
                <a:gd name="T1" fmla="*/ 133 h 294"/>
                <a:gd name="T2" fmla="*/ 232 w 895"/>
                <a:gd name="T3" fmla="*/ 0 h 294"/>
                <a:gd name="T4" fmla="*/ 0 w 895"/>
                <a:gd name="T5" fmla="*/ 143 h 294"/>
                <a:gd name="T6" fmla="*/ 739 w 895"/>
                <a:gd name="T7" fmla="*/ 294 h 294"/>
                <a:gd name="T8" fmla="*/ 895 w 895"/>
                <a:gd name="T9" fmla="*/ 133 h 294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895"/>
                <a:gd name="T16" fmla="*/ 0 h 294"/>
                <a:gd name="T17" fmla="*/ 895 w 895"/>
                <a:gd name="T18" fmla="*/ 294 h 294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895" h="294">
                  <a:moveTo>
                    <a:pt x="895" y="133"/>
                  </a:moveTo>
                  <a:lnTo>
                    <a:pt x="232" y="0"/>
                  </a:lnTo>
                  <a:lnTo>
                    <a:pt x="0" y="143"/>
                  </a:lnTo>
                  <a:lnTo>
                    <a:pt x="739" y="294"/>
                  </a:lnTo>
                  <a:lnTo>
                    <a:pt x="895" y="133"/>
                  </a:lnTo>
                  <a:close/>
                </a:path>
              </a:pathLst>
            </a:custGeom>
            <a:solidFill>
              <a:srgbClr val="FFFFFF"/>
            </a:solidFill>
            <a:ln w="3175">
              <a:solidFill>
                <a:srgbClr val="B2B2B2"/>
              </a:solidFill>
              <a:round/>
              <a:headEnd/>
              <a:tailEnd/>
            </a:ln>
          </p:spPr>
          <p:txBody>
            <a:bodyPr wrap="none" tIns="25322" bIns="25322" anchor="ctr">
              <a:spAutoFit/>
            </a:bodyPr>
            <a:lstStyle/>
            <a:p>
              <a:pPr>
                <a:defRPr/>
              </a:pPr>
              <a:endParaRPr lang="ko-KR" altLang="en-US" sz="1662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15" name="Freeform 184"/>
            <p:cNvSpPr>
              <a:spLocks/>
            </p:cNvSpPr>
            <p:nvPr/>
          </p:nvSpPr>
          <p:spPr bwMode="auto">
            <a:xfrm flipH="1">
              <a:off x="1799431" y="4828808"/>
              <a:ext cx="343478" cy="84647"/>
            </a:xfrm>
            <a:custGeom>
              <a:avLst/>
              <a:gdLst>
                <a:gd name="T0" fmla="*/ 0 w 531"/>
                <a:gd name="T1" fmla="*/ 15 h 118"/>
                <a:gd name="T2" fmla="*/ 508 w 531"/>
                <a:gd name="T3" fmla="*/ 118 h 118"/>
                <a:gd name="T4" fmla="*/ 531 w 531"/>
                <a:gd name="T5" fmla="*/ 103 h 118"/>
                <a:gd name="T6" fmla="*/ 23 w 531"/>
                <a:gd name="T7" fmla="*/ 0 h 118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531"/>
                <a:gd name="T13" fmla="*/ 0 h 118"/>
                <a:gd name="T14" fmla="*/ 531 w 531"/>
                <a:gd name="T15" fmla="*/ 118 h 118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531" h="118">
                  <a:moveTo>
                    <a:pt x="0" y="15"/>
                  </a:moveTo>
                  <a:lnTo>
                    <a:pt x="508" y="118"/>
                  </a:lnTo>
                  <a:lnTo>
                    <a:pt x="531" y="103"/>
                  </a:lnTo>
                  <a:lnTo>
                    <a:pt x="23" y="0"/>
                  </a:lnTo>
                </a:path>
              </a:pathLst>
            </a:custGeom>
            <a:solidFill>
              <a:srgbClr val="DDDDDD"/>
            </a:solidFill>
            <a:ln w="12700" cap="rnd">
              <a:solidFill>
                <a:srgbClr val="EAEAEA"/>
              </a:solidFill>
              <a:round/>
              <a:headEnd/>
              <a:tailEnd/>
            </a:ln>
          </p:spPr>
          <p:txBody>
            <a:bodyPr/>
            <a:lstStyle/>
            <a:p>
              <a:pPr>
                <a:defRPr/>
              </a:pPr>
              <a:endParaRPr lang="ko-KR" altLang="en-US" sz="1662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16" name="Freeform 185"/>
            <p:cNvSpPr>
              <a:spLocks/>
            </p:cNvSpPr>
            <p:nvPr/>
          </p:nvSpPr>
          <p:spPr bwMode="auto">
            <a:xfrm flipH="1">
              <a:off x="1885654" y="4850753"/>
              <a:ext cx="356200" cy="112862"/>
            </a:xfrm>
            <a:custGeom>
              <a:avLst/>
              <a:gdLst>
                <a:gd name="T0" fmla="*/ 0 w 548"/>
                <a:gd name="T1" fmla="*/ 74 h 159"/>
                <a:gd name="T2" fmla="*/ 31 w 548"/>
                <a:gd name="T3" fmla="*/ 78 h 159"/>
                <a:gd name="T4" fmla="*/ 57 w 548"/>
                <a:gd name="T5" fmla="*/ 66 h 159"/>
                <a:gd name="T6" fmla="*/ 76 w 548"/>
                <a:gd name="T7" fmla="*/ 71 h 159"/>
                <a:gd name="T8" fmla="*/ 58 w 548"/>
                <a:gd name="T9" fmla="*/ 81 h 159"/>
                <a:gd name="T10" fmla="*/ 451 w 548"/>
                <a:gd name="T11" fmla="*/ 159 h 159"/>
                <a:gd name="T12" fmla="*/ 548 w 548"/>
                <a:gd name="T13" fmla="*/ 84 h 159"/>
                <a:gd name="T14" fmla="*/ 130 w 548"/>
                <a:gd name="T15" fmla="*/ 0 h 159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548"/>
                <a:gd name="T25" fmla="*/ 0 h 159"/>
                <a:gd name="T26" fmla="*/ 548 w 548"/>
                <a:gd name="T27" fmla="*/ 159 h 159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548" h="159">
                  <a:moveTo>
                    <a:pt x="0" y="74"/>
                  </a:moveTo>
                  <a:lnTo>
                    <a:pt x="31" y="78"/>
                  </a:lnTo>
                  <a:lnTo>
                    <a:pt x="57" y="66"/>
                  </a:lnTo>
                  <a:lnTo>
                    <a:pt x="76" y="71"/>
                  </a:lnTo>
                  <a:lnTo>
                    <a:pt x="58" y="81"/>
                  </a:lnTo>
                  <a:lnTo>
                    <a:pt x="451" y="159"/>
                  </a:lnTo>
                  <a:lnTo>
                    <a:pt x="548" y="84"/>
                  </a:lnTo>
                  <a:lnTo>
                    <a:pt x="130" y="0"/>
                  </a:lnTo>
                </a:path>
              </a:pathLst>
            </a:custGeom>
            <a:solidFill>
              <a:srgbClr val="DDDDDD"/>
            </a:solidFill>
            <a:ln w="12700" cap="rnd">
              <a:solidFill>
                <a:srgbClr val="EAEAEA"/>
              </a:solidFill>
              <a:round/>
              <a:headEnd/>
              <a:tailEnd/>
            </a:ln>
          </p:spPr>
          <p:txBody>
            <a:bodyPr/>
            <a:lstStyle/>
            <a:p>
              <a:pPr>
                <a:defRPr/>
              </a:pPr>
              <a:endParaRPr lang="ko-KR" altLang="en-US" sz="1662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17" name="Freeform 186"/>
            <p:cNvSpPr>
              <a:spLocks/>
            </p:cNvSpPr>
            <p:nvPr/>
          </p:nvSpPr>
          <p:spPr bwMode="auto">
            <a:xfrm flipH="1">
              <a:off x="1819220" y="4915021"/>
              <a:ext cx="90463" cy="48594"/>
            </a:xfrm>
            <a:custGeom>
              <a:avLst/>
              <a:gdLst>
                <a:gd name="T0" fmla="*/ 73 w 140"/>
                <a:gd name="T1" fmla="*/ 0 h 70"/>
                <a:gd name="T2" fmla="*/ 140 w 140"/>
                <a:gd name="T3" fmla="*/ 11 h 70"/>
                <a:gd name="T4" fmla="*/ 75 w 140"/>
                <a:gd name="T5" fmla="*/ 70 h 70"/>
                <a:gd name="T6" fmla="*/ 0 w 140"/>
                <a:gd name="T7" fmla="*/ 56 h 70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140"/>
                <a:gd name="T13" fmla="*/ 0 h 70"/>
                <a:gd name="T14" fmla="*/ 140 w 140"/>
                <a:gd name="T15" fmla="*/ 70 h 70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140" h="70">
                  <a:moveTo>
                    <a:pt x="73" y="0"/>
                  </a:moveTo>
                  <a:lnTo>
                    <a:pt x="140" y="11"/>
                  </a:lnTo>
                  <a:lnTo>
                    <a:pt x="75" y="70"/>
                  </a:lnTo>
                  <a:lnTo>
                    <a:pt x="0" y="56"/>
                  </a:lnTo>
                </a:path>
              </a:pathLst>
            </a:custGeom>
            <a:solidFill>
              <a:srgbClr val="DDDDDD"/>
            </a:solidFill>
            <a:ln w="12700" cap="rnd">
              <a:solidFill>
                <a:srgbClr val="EAEAEA"/>
              </a:solidFill>
              <a:round/>
              <a:headEnd/>
              <a:tailEnd/>
            </a:ln>
          </p:spPr>
          <p:txBody>
            <a:bodyPr/>
            <a:lstStyle/>
            <a:p>
              <a:pPr>
                <a:defRPr/>
              </a:pPr>
              <a:endParaRPr lang="ko-KR" altLang="en-US" sz="1662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18" name="Freeform 187"/>
            <p:cNvSpPr>
              <a:spLocks/>
            </p:cNvSpPr>
            <p:nvPr/>
          </p:nvSpPr>
          <p:spPr bwMode="auto">
            <a:xfrm flipH="1">
              <a:off x="1754200" y="4925995"/>
              <a:ext cx="107425" cy="70538"/>
            </a:xfrm>
            <a:custGeom>
              <a:avLst/>
              <a:gdLst>
                <a:gd name="T0" fmla="*/ 87 w 167"/>
                <a:gd name="T1" fmla="*/ 0 h 101"/>
                <a:gd name="T2" fmla="*/ 167 w 167"/>
                <a:gd name="T3" fmla="*/ 15 h 101"/>
                <a:gd name="T4" fmla="*/ 81 w 167"/>
                <a:gd name="T5" fmla="*/ 101 h 101"/>
                <a:gd name="T6" fmla="*/ 0 w 167"/>
                <a:gd name="T7" fmla="*/ 83 h 101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167"/>
                <a:gd name="T13" fmla="*/ 0 h 101"/>
                <a:gd name="T14" fmla="*/ 167 w 167"/>
                <a:gd name="T15" fmla="*/ 101 h 101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167" h="101">
                  <a:moveTo>
                    <a:pt x="87" y="0"/>
                  </a:moveTo>
                  <a:lnTo>
                    <a:pt x="167" y="15"/>
                  </a:lnTo>
                  <a:lnTo>
                    <a:pt x="81" y="101"/>
                  </a:lnTo>
                  <a:lnTo>
                    <a:pt x="0" y="83"/>
                  </a:lnTo>
                </a:path>
              </a:pathLst>
            </a:custGeom>
            <a:solidFill>
              <a:srgbClr val="DDDDDD"/>
            </a:solidFill>
            <a:ln w="12700" cap="rnd">
              <a:solidFill>
                <a:srgbClr val="EAEAEA"/>
              </a:solidFill>
              <a:round/>
              <a:headEnd/>
              <a:tailEnd/>
            </a:ln>
          </p:spPr>
          <p:txBody>
            <a:bodyPr/>
            <a:lstStyle/>
            <a:p>
              <a:pPr>
                <a:defRPr/>
              </a:pPr>
              <a:endParaRPr lang="ko-KR" altLang="en-US" sz="1662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19" name="Freeform 189"/>
            <p:cNvSpPr>
              <a:spLocks noChangeAspect="1"/>
            </p:cNvSpPr>
            <p:nvPr/>
          </p:nvSpPr>
          <p:spPr bwMode="auto">
            <a:xfrm>
              <a:off x="1533695" y="4524707"/>
              <a:ext cx="144176" cy="352694"/>
            </a:xfrm>
            <a:custGeom>
              <a:avLst/>
              <a:gdLst/>
              <a:ahLst/>
              <a:cxnLst>
                <a:cxn ang="0">
                  <a:pos x="169" y="246"/>
                </a:cxn>
                <a:cxn ang="0">
                  <a:pos x="1" y="0"/>
                </a:cxn>
                <a:cxn ang="0">
                  <a:pos x="0" y="123"/>
                </a:cxn>
                <a:cxn ang="0">
                  <a:pos x="165" y="377"/>
                </a:cxn>
              </a:cxnLst>
              <a:rect l="0" t="0" r="r" b="b"/>
              <a:pathLst>
                <a:path w="169" h="377">
                  <a:moveTo>
                    <a:pt x="169" y="246"/>
                  </a:moveTo>
                  <a:lnTo>
                    <a:pt x="1" y="0"/>
                  </a:lnTo>
                  <a:lnTo>
                    <a:pt x="0" y="123"/>
                  </a:lnTo>
                  <a:lnTo>
                    <a:pt x="165" y="377"/>
                  </a:lnTo>
                </a:path>
              </a:pathLst>
            </a:custGeom>
            <a:gradFill rotWithShape="1">
              <a:gsLst>
                <a:gs pos="0">
                  <a:srgbClr val="EAEAEA"/>
                </a:gs>
                <a:gs pos="100000">
                  <a:srgbClr val="EAEAEA">
                    <a:gamma/>
                    <a:tint val="60784"/>
                    <a:invGamma/>
                  </a:srgbClr>
                </a:gs>
              </a:gsLst>
              <a:lin ang="0" scaled="1"/>
            </a:gradFill>
            <a:ln w="6350" cap="rnd" cmpd="sng">
              <a:solidFill>
                <a:srgbClr val="969696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pPr>
                <a:defRPr/>
              </a:pPr>
              <a:endParaRPr lang="ko-KR" altLang="en-US" sz="1662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0" name="Freeform 190"/>
            <p:cNvSpPr>
              <a:spLocks noChangeAspect="1"/>
            </p:cNvSpPr>
            <p:nvPr/>
          </p:nvSpPr>
          <p:spPr bwMode="auto">
            <a:xfrm>
              <a:off x="1536522" y="4465140"/>
              <a:ext cx="619109" cy="288426"/>
            </a:xfrm>
            <a:custGeom>
              <a:avLst/>
              <a:gdLst/>
              <a:ahLst/>
              <a:cxnLst>
                <a:cxn ang="0">
                  <a:pos x="166" y="310"/>
                </a:cxn>
                <a:cxn ang="0">
                  <a:pos x="718" y="211"/>
                </a:cxn>
                <a:cxn ang="0">
                  <a:pos x="444" y="0"/>
                </a:cxn>
                <a:cxn ang="0">
                  <a:pos x="0" y="64"/>
                </a:cxn>
                <a:cxn ang="0">
                  <a:pos x="166" y="310"/>
                </a:cxn>
              </a:cxnLst>
              <a:rect l="0" t="0" r="r" b="b"/>
              <a:pathLst>
                <a:path w="718" h="310">
                  <a:moveTo>
                    <a:pt x="166" y="310"/>
                  </a:moveTo>
                  <a:lnTo>
                    <a:pt x="718" y="211"/>
                  </a:lnTo>
                  <a:lnTo>
                    <a:pt x="444" y="0"/>
                  </a:lnTo>
                  <a:lnTo>
                    <a:pt x="0" y="64"/>
                  </a:lnTo>
                  <a:lnTo>
                    <a:pt x="166" y="310"/>
                  </a:lnTo>
                  <a:close/>
                </a:path>
              </a:pathLst>
            </a:custGeom>
            <a:solidFill>
              <a:srgbClr val="FFFFFF"/>
            </a:solidFill>
            <a:ln w="6350" cap="rnd" cmpd="sng">
              <a:solidFill>
                <a:srgbClr val="969696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pPr>
                <a:defRPr/>
              </a:pPr>
              <a:endParaRPr lang="ko-KR" altLang="en-US" sz="1662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1" name="Freeform 191"/>
            <p:cNvSpPr>
              <a:spLocks/>
            </p:cNvSpPr>
            <p:nvPr/>
          </p:nvSpPr>
          <p:spPr bwMode="auto">
            <a:xfrm>
              <a:off x="1672217" y="4661081"/>
              <a:ext cx="477760" cy="213184"/>
            </a:xfrm>
            <a:custGeom>
              <a:avLst/>
              <a:gdLst/>
              <a:ahLst/>
              <a:cxnLst>
                <a:cxn ang="0">
                  <a:pos x="6" y="99"/>
                </a:cxn>
                <a:cxn ang="0">
                  <a:pos x="557" y="0"/>
                </a:cxn>
                <a:cxn ang="0">
                  <a:pos x="549" y="121"/>
                </a:cxn>
                <a:cxn ang="0">
                  <a:pos x="0" y="228"/>
                </a:cxn>
                <a:cxn ang="0">
                  <a:pos x="6" y="99"/>
                </a:cxn>
              </a:cxnLst>
              <a:rect l="0" t="0" r="r" b="b"/>
              <a:pathLst>
                <a:path w="557" h="228">
                  <a:moveTo>
                    <a:pt x="6" y="99"/>
                  </a:moveTo>
                  <a:lnTo>
                    <a:pt x="557" y="0"/>
                  </a:lnTo>
                  <a:lnTo>
                    <a:pt x="549" y="121"/>
                  </a:lnTo>
                  <a:lnTo>
                    <a:pt x="0" y="228"/>
                  </a:lnTo>
                  <a:lnTo>
                    <a:pt x="6" y="99"/>
                  </a:lnTo>
                  <a:close/>
                </a:path>
              </a:pathLst>
            </a:custGeom>
            <a:gradFill rotWithShape="1">
              <a:gsLst>
                <a:gs pos="0">
                  <a:srgbClr val="EAEAEA"/>
                </a:gs>
                <a:gs pos="50000">
                  <a:srgbClr val="EAEAEA">
                    <a:gamma/>
                    <a:tint val="0"/>
                    <a:invGamma/>
                  </a:srgbClr>
                </a:gs>
                <a:gs pos="100000">
                  <a:srgbClr val="EAEAEA"/>
                </a:gs>
              </a:gsLst>
              <a:lin ang="0" scaled="1"/>
            </a:gradFill>
            <a:ln w="9525">
              <a:solidFill>
                <a:srgbClr val="969696"/>
              </a:solidFill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pPr>
                <a:defRPr/>
              </a:pPr>
              <a:endParaRPr lang="ko-KR" altLang="en-US" sz="1662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2" name="Freeform 192"/>
            <p:cNvSpPr>
              <a:spLocks/>
            </p:cNvSpPr>
            <p:nvPr/>
          </p:nvSpPr>
          <p:spPr bwMode="auto">
            <a:xfrm>
              <a:off x="1690592" y="4789619"/>
              <a:ext cx="144176" cy="59566"/>
            </a:xfrm>
            <a:custGeom>
              <a:avLst/>
              <a:gdLst/>
              <a:ahLst/>
              <a:cxnLst>
                <a:cxn ang="0">
                  <a:pos x="0" y="32"/>
                </a:cxn>
                <a:cxn ang="0">
                  <a:pos x="0" y="63"/>
                </a:cxn>
                <a:cxn ang="0">
                  <a:pos x="164" y="33"/>
                </a:cxn>
                <a:cxn ang="0">
                  <a:pos x="167" y="0"/>
                </a:cxn>
                <a:cxn ang="0">
                  <a:pos x="0" y="32"/>
                </a:cxn>
              </a:cxnLst>
              <a:rect l="0" t="0" r="r" b="b"/>
              <a:pathLst>
                <a:path w="167" h="63">
                  <a:moveTo>
                    <a:pt x="0" y="32"/>
                  </a:moveTo>
                  <a:lnTo>
                    <a:pt x="0" y="63"/>
                  </a:lnTo>
                  <a:lnTo>
                    <a:pt x="164" y="33"/>
                  </a:lnTo>
                  <a:lnTo>
                    <a:pt x="167" y="0"/>
                  </a:lnTo>
                  <a:lnTo>
                    <a:pt x="0" y="32"/>
                  </a:lnTo>
                  <a:close/>
                </a:path>
              </a:pathLst>
            </a:custGeom>
            <a:gradFill rotWithShape="1">
              <a:gsLst>
                <a:gs pos="0">
                  <a:srgbClr val="C0C0C0">
                    <a:gamma/>
                    <a:tint val="60784"/>
                    <a:invGamma/>
                  </a:srgbClr>
                </a:gs>
                <a:gs pos="100000">
                  <a:srgbClr val="C0C0C0"/>
                </a:gs>
              </a:gsLst>
              <a:lin ang="0" scaled="1"/>
            </a:gradFill>
            <a:ln w="9525">
              <a:noFill/>
              <a:round/>
              <a:headEnd type="none" w="med" len="med"/>
              <a:tailEnd type="none" w="med" len="med"/>
            </a:ln>
            <a:effectLst>
              <a:prstShdw prst="shdw17" dist="17961" dir="13500000">
                <a:srgbClr val="969696"/>
              </a:prstShdw>
            </a:effectLst>
          </p:spPr>
          <p:txBody>
            <a:bodyPr/>
            <a:lstStyle/>
            <a:p>
              <a:pPr>
                <a:defRPr/>
              </a:pPr>
              <a:endParaRPr lang="ko-KR" altLang="en-US" sz="1662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3" name="Oval 193"/>
            <p:cNvSpPr>
              <a:spLocks noChangeArrowheads="1"/>
            </p:cNvSpPr>
            <p:nvPr/>
          </p:nvSpPr>
          <p:spPr bwMode="auto">
            <a:xfrm>
              <a:off x="1809325" y="4797457"/>
              <a:ext cx="16962" cy="20377"/>
            </a:xfrm>
            <a:prstGeom prst="ellipse">
              <a:avLst/>
            </a:prstGeom>
            <a:solidFill>
              <a:srgbClr val="969696"/>
            </a:solidFill>
            <a:ln w="9525">
              <a:solidFill>
                <a:srgbClr val="969696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endParaRPr lang="ko-KR" altLang="en-US" sz="1662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4" name="Line 194"/>
            <p:cNvSpPr>
              <a:spLocks noChangeShapeType="1"/>
            </p:cNvSpPr>
            <p:nvPr/>
          </p:nvSpPr>
          <p:spPr bwMode="auto">
            <a:xfrm flipH="1">
              <a:off x="2032657" y="4706540"/>
              <a:ext cx="2827" cy="76809"/>
            </a:xfrm>
            <a:prstGeom prst="line">
              <a:avLst/>
            </a:prstGeom>
            <a:noFill/>
            <a:ln w="9525">
              <a:solidFill>
                <a:srgbClr val="808080"/>
              </a:solidFill>
              <a:round/>
              <a:headEnd/>
              <a:tailEnd/>
            </a:ln>
            <a:effectLst>
              <a:outerShdw dist="17961" dir="18900000" algn="ctr" rotWithShape="0">
                <a:srgbClr val="969696">
                  <a:alpha val="50000"/>
                </a:srgbClr>
              </a:outerShdw>
            </a:effectLst>
          </p:spPr>
          <p:txBody>
            <a:bodyPr/>
            <a:lstStyle/>
            <a:p>
              <a:pPr>
                <a:defRPr/>
              </a:pPr>
              <a:endParaRPr lang="ko-KR" altLang="en-US" sz="1662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5" name="Line 195"/>
            <p:cNvSpPr>
              <a:spLocks noChangeShapeType="1"/>
            </p:cNvSpPr>
            <p:nvPr/>
          </p:nvSpPr>
          <p:spPr bwMode="auto">
            <a:xfrm flipH="1">
              <a:off x="2021349" y="4708107"/>
              <a:ext cx="1414" cy="81512"/>
            </a:xfrm>
            <a:prstGeom prst="line">
              <a:avLst/>
            </a:prstGeom>
            <a:noFill/>
            <a:ln w="9525">
              <a:solidFill>
                <a:srgbClr val="808080"/>
              </a:solidFill>
              <a:round/>
              <a:headEnd/>
              <a:tailEnd/>
            </a:ln>
            <a:effectLst>
              <a:outerShdw dist="17961" dir="18900000" algn="ctr" rotWithShape="0">
                <a:srgbClr val="969696">
                  <a:alpha val="50000"/>
                </a:srgbClr>
              </a:outerShdw>
            </a:effectLst>
          </p:spPr>
          <p:txBody>
            <a:bodyPr/>
            <a:lstStyle/>
            <a:p>
              <a:pPr>
                <a:defRPr/>
              </a:pPr>
              <a:endParaRPr lang="ko-KR" altLang="en-US" sz="1662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6" name="Line 196"/>
            <p:cNvSpPr>
              <a:spLocks noChangeShapeType="1"/>
            </p:cNvSpPr>
            <p:nvPr/>
          </p:nvSpPr>
          <p:spPr bwMode="auto">
            <a:xfrm flipH="1">
              <a:off x="2045379" y="4704972"/>
              <a:ext cx="4240" cy="76810"/>
            </a:xfrm>
            <a:prstGeom prst="line">
              <a:avLst/>
            </a:prstGeom>
            <a:noFill/>
            <a:ln w="9525">
              <a:solidFill>
                <a:srgbClr val="808080"/>
              </a:solidFill>
              <a:round/>
              <a:headEnd/>
              <a:tailEnd/>
            </a:ln>
            <a:effectLst>
              <a:outerShdw dist="17961" dir="18900000" algn="ctr" rotWithShape="0">
                <a:srgbClr val="969696">
                  <a:alpha val="50000"/>
                </a:srgbClr>
              </a:outerShdw>
            </a:effectLst>
          </p:spPr>
          <p:txBody>
            <a:bodyPr/>
            <a:lstStyle/>
            <a:p>
              <a:pPr>
                <a:defRPr/>
              </a:pPr>
              <a:endParaRPr lang="ko-KR" altLang="en-US" sz="1662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7" name="Line 197"/>
            <p:cNvSpPr>
              <a:spLocks noChangeShapeType="1"/>
            </p:cNvSpPr>
            <p:nvPr/>
          </p:nvSpPr>
          <p:spPr bwMode="auto">
            <a:xfrm flipH="1">
              <a:off x="2056687" y="4703405"/>
              <a:ext cx="2827" cy="76809"/>
            </a:xfrm>
            <a:prstGeom prst="line">
              <a:avLst/>
            </a:prstGeom>
            <a:noFill/>
            <a:ln w="9525">
              <a:solidFill>
                <a:srgbClr val="808080"/>
              </a:solidFill>
              <a:round/>
              <a:headEnd/>
              <a:tailEnd/>
            </a:ln>
            <a:effectLst>
              <a:outerShdw dist="17961" dir="18900000" algn="ctr" rotWithShape="0">
                <a:srgbClr val="969696">
                  <a:alpha val="50000"/>
                </a:srgbClr>
              </a:outerShdw>
            </a:effectLst>
          </p:spPr>
          <p:txBody>
            <a:bodyPr/>
            <a:lstStyle/>
            <a:p>
              <a:pPr>
                <a:defRPr/>
              </a:pPr>
              <a:endParaRPr lang="ko-KR" altLang="en-US" sz="1662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8" name="Line 198"/>
            <p:cNvSpPr>
              <a:spLocks noChangeShapeType="1"/>
            </p:cNvSpPr>
            <p:nvPr/>
          </p:nvSpPr>
          <p:spPr bwMode="auto">
            <a:xfrm flipH="1">
              <a:off x="2065168" y="4701837"/>
              <a:ext cx="7067" cy="76810"/>
            </a:xfrm>
            <a:prstGeom prst="line">
              <a:avLst/>
            </a:prstGeom>
            <a:noFill/>
            <a:ln w="9525">
              <a:solidFill>
                <a:srgbClr val="808080"/>
              </a:solidFill>
              <a:round/>
              <a:headEnd/>
              <a:tailEnd/>
            </a:ln>
            <a:effectLst>
              <a:outerShdw dist="17961" dir="18900000" algn="ctr" rotWithShape="0">
                <a:srgbClr val="969696">
                  <a:alpha val="50000"/>
                </a:srgbClr>
              </a:outerShdw>
            </a:effectLst>
          </p:spPr>
          <p:txBody>
            <a:bodyPr/>
            <a:lstStyle/>
            <a:p>
              <a:pPr>
                <a:defRPr/>
              </a:pPr>
              <a:endParaRPr lang="ko-KR" altLang="en-US" sz="1662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9" name="Line 199"/>
            <p:cNvSpPr>
              <a:spLocks noChangeShapeType="1"/>
            </p:cNvSpPr>
            <p:nvPr/>
          </p:nvSpPr>
          <p:spPr bwMode="auto">
            <a:xfrm flipH="1">
              <a:off x="2076476" y="4698702"/>
              <a:ext cx="7067" cy="78377"/>
            </a:xfrm>
            <a:prstGeom prst="line">
              <a:avLst/>
            </a:prstGeom>
            <a:noFill/>
            <a:ln w="9525">
              <a:solidFill>
                <a:srgbClr val="808080"/>
              </a:solidFill>
              <a:round/>
              <a:headEnd/>
              <a:tailEnd/>
            </a:ln>
            <a:effectLst>
              <a:outerShdw dist="17961" dir="18900000" algn="ctr" rotWithShape="0">
                <a:srgbClr val="969696">
                  <a:alpha val="50000"/>
                </a:srgbClr>
              </a:outerShdw>
            </a:effectLst>
          </p:spPr>
          <p:txBody>
            <a:bodyPr/>
            <a:lstStyle/>
            <a:p>
              <a:pPr>
                <a:defRPr/>
              </a:pPr>
              <a:endParaRPr lang="ko-KR" altLang="en-US" sz="1662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30" name="Line 200"/>
            <p:cNvSpPr>
              <a:spLocks noChangeShapeType="1"/>
            </p:cNvSpPr>
            <p:nvPr/>
          </p:nvSpPr>
          <p:spPr bwMode="auto">
            <a:xfrm flipH="1">
              <a:off x="2087784" y="4698702"/>
              <a:ext cx="1413" cy="76810"/>
            </a:xfrm>
            <a:prstGeom prst="line">
              <a:avLst/>
            </a:prstGeom>
            <a:noFill/>
            <a:ln w="9525">
              <a:solidFill>
                <a:srgbClr val="808080"/>
              </a:solidFill>
              <a:round/>
              <a:headEnd/>
              <a:tailEnd/>
            </a:ln>
            <a:effectLst>
              <a:outerShdw dist="17961" dir="18900000" algn="ctr" rotWithShape="0">
                <a:srgbClr val="969696">
                  <a:alpha val="50000"/>
                </a:srgbClr>
              </a:outerShdw>
            </a:effectLst>
          </p:spPr>
          <p:txBody>
            <a:bodyPr/>
            <a:lstStyle/>
            <a:p>
              <a:pPr>
                <a:defRPr/>
              </a:pPr>
              <a:endParaRPr lang="ko-KR" altLang="en-US" sz="1662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31" name="Line 201"/>
            <p:cNvSpPr>
              <a:spLocks noChangeShapeType="1"/>
            </p:cNvSpPr>
            <p:nvPr/>
          </p:nvSpPr>
          <p:spPr bwMode="auto">
            <a:xfrm flipH="1">
              <a:off x="2097678" y="4692432"/>
              <a:ext cx="1414" cy="78377"/>
            </a:xfrm>
            <a:prstGeom prst="line">
              <a:avLst/>
            </a:prstGeom>
            <a:noFill/>
            <a:ln w="9525">
              <a:solidFill>
                <a:srgbClr val="808080"/>
              </a:solidFill>
              <a:round/>
              <a:headEnd/>
              <a:tailEnd/>
            </a:ln>
            <a:effectLst>
              <a:outerShdw dist="17961" dir="18900000" algn="ctr" rotWithShape="0">
                <a:srgbClr val="969696">
                  <a:alpha val="50000"/>
                </a:srgbClr>
              </a:outerShdw>
            </a:effectLst>
          </p:spPr>
          <p:txBody>
            <a:bodyPr/>
            <a:lstStyle/>
            <a:p>
              <a:pPr>
                <a:defRPr/>
              </a:pPr>
              <a:endParaRPr lang="ko-KR" altLang="en-US" sz="1662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32" name="Line 202"/>
            <p:cNvSpPr>
              <a:spLocks noChangeShapeType="1"/>
            </p:cNvSpPr>
            <p:nvPr/>
          </p:nvSpPr>
          <p:spPr bwMode="auto">
            <a:xfrm flipH="1">
              <a:off x="2106159" y="4692432"/>
              <a:ext cx="2827" cy="75241"/>
            </a:xfrm>
            <a:prstGeom prst="line">
              <a:avLst/>
            </a:prstGeom>
            <a:noFill/>
            <a:ln w="9525">
              <a:solidFill>
                <a:srgbClr val="808080"/>
              </a:solidFill>
              <a:round/>
              <a:headEnd/>
              <a:tailEnd/>
            </a:ln>
            <a:effectLst>
              <a:outerShdw dist="17961" dir="18900000" algn="ctr" rotWithShape="0">
                <a:srgbClr val="969696">
                  <a:alpha val="50000"/>
                </a:srgbClr>
              </a:outerShdw>
            </a:effectLst>
          </p:spPr>
          <p:txBody>
            <a:bodyPr/>
            <a:lstStyle/>
            <a:p>
              <a:pPr>
                <a:defRPr/>
              </a:pPr>
              <a:endParaRPr lang="ko-KR" altLang="en-US" sz="1662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33" name="Line 203"/>
            <p:cNvSpPr>
              <a:spLocks noChangeShapeType="1"/>
            </p:cNvSpPr>
            <p:nvPr/>
          </p:nvSpPr>
          <p:spPr bwMode="auto">
            <a:xfrm flipH="1">
              <a:off x="2117467" y="4690865"/>
              <a:ext cx="1414" cy="76809"/>
            </a:xfrm>
            <a:prstGeom prst="line">
              <a:avLst/>
            </a:prstGeom>
            <a:noFill/>
            <a:ln w="9525">
              <a:solidFill>
                <a:srgbClr val="808080"/>
              </a:solidFill>
              <a:round/>
              <a:headEnd/>
              <a:tailEnd/>
            </a:ln>
            <a:effectLst>
              <a:outerShdw dist="17961" dir="18900000" algn="ctr" rotWithShape="0">
                <a:srgbClr val="969696">
                  <a:alpha val="50000"/>
                </a:srgbClr>
              </a:outerShdw>
            </a:effectLst>
          </p:spPr>
          <p:txBody>
            <a:bodyPr/>
            <a:lstStyle/>
            <a:p>
              <a:pPr>
                <a:defRPr/>
              </a:pPr>
              <a:endParaRPr lang="ko-KR" altLang="en-US" sz="1662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34" name="Line 204"/>
            <p:cNvSpPr>
              <a:spLocks noChangeShapeType="1"/>
            </p:cNvSpPr>
            <p:nvPr/>
          </p:nvSpPr>
          <p:spPr bwMode="auto">
            <a:xfrm flipH="1">
              <a:off x="2070822" y="4731621"/>
              <a:ext cx="1413" cy="76809"/>
            </a:xfrm>
            <a:prstGeom prst="line">
              <a:avLst/>
            </a:prstGeom>
            <a:noFill/>
            <a:ln w="9525">
              <a:solidFill>
                <a:srgbClr val="808080"/>
              </a:solidFill>
              <a:round/>
              <a:headEnd/>
              <a:tailEnd/>
            </a:ln>
            <a:effectLst>
              <a:outerShdw dist="17961" dir="18900000" algn="ctr" rotWithShape="0">
                <a:srgbClr val="969696">
                  <a:alpha val="50000"/>
                </a:srgbClr>
              </a:outerShdw>
            </a:effectLst>
          </p:spPr>
          <p:txBody>
            <a:bodyPr/>
            <a:lstStyle/>
            <a:p>
              <a:pPr>
                <a:defRPr/>
              </a:pPr>
              <a:endParaRPr lang="ko-KR" altLang="en-US" sz="1662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35" name="Freeform 205"/>
            <p:cNvSpPr>
              <a:spLocks/>
            </p:cNvSpPr>
            <p:nvPr/>
          </p:nvSpPr>
          <p:spPr bwMode="auto">
            <a:xfrm>
              <a:off x="1878587" y="4737891"/>
              <a:ext cx="79156" cy="62701"/>
            </a:xfrm>
            <a:custGeom>
              <a:avLst/>
              <a:gdLst/>
              <a:ahLst/>
              <a:cxnLst>
                <a:cxn ang="0">
                  <a:pos x="2" y="33"/>
                </a:cxn>
                <a:cxn ang="0">
                  <a:pos x="0" y="138"/>
                </a:cxn>
                <a:cxn ang="0">
                  <a:pos x="186" y="104"/>
                </a:cxn>
                <a:cxn ang="0">
                  <a:pos x="186" y="0"/>
                </a:cxn>
                <a:cxn ang="0">
                  <a:pos x="2" y="33"/>
                </a:cxn>
              </a:cxnLst>
              <a:rect l="0" t="0" r="r" b="b"/>
              <a:pathLst>
                <a:path w="186" h="138">
                  <a:moveTo>
                    <a:pt x="2" y="33"/>
                  </a:moveTo>
                  <a:lnTo>
                    <a:pt x="0" y="138"/>
                  </a:lnTo>
                  <a:lnTo>
                    <a:pt x="186" y="104"/>
                  </a:lnTo>
                  <a:lnTo>
                    <a:pt x="186" y="0"/>
                  </a:lnTo>
                  <a:lnTo>
                    <a:pt x="2" y="33"/>
                  </a:lnTo>
                  <a:close/>
                </a:path>
              </a:pathLst>
            </a:custGeom>
            <a:gradFill rotWithShape="1">
              <a:gsLst>
                <a:gs pos="0">
                  <a:srgbClr val="969696"/>
                </a:gs>
                <a:gs pos="100000">
                  <a:srgbClr val="969696">
                    <a:gamma/>
                    <a:shade val="75686"/>
                    <a:invGamma/>
                  </a:srgbClr>
                </a:gs>
              </a:gsLst>
              <a:lin ang="0" scaled="1"/>
            </a:gradFill>
            <a:ln w="3175" cap="flat" cmpd="sng">
              <a:noFill/>
              <a:prstDash val="solid"/>
              <a:round/>
              <a:headEnd type="none" w="med" len="med"/>
              <a:tailEnd type="none" w="med" len="med"/>
            </a:ln>
            <a:effectLst>
              <a:prstShdw prst="shdw17" dist="17961" dir="13500000">
                <a:srgbClr val="969696">
                  <a:alpha val="50000"/>
                </a:srgbClr>
              </a:prstShdw>
            </a:effectLst>
          </p:spPr>
          <p:txBody>
            <a:bodyPr/>
            <a:lstStyle/>
            <a:p>
              <a:pPr>
                <a:defRPr/>
              </a:pPr>
              <a:endParaRPr lang="ko-KR" altLang="en-US" sz="1662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36" name="Line 206"/>
            <p:cNvSpPr>
              <a:spLocks noChangeShapeType="1"/>
            </p:cNvSpPr>
            <p:nvPr/>
          </p:nvSpPr>
          <p:spPr bwMode="auto">
            <a:xfrm flipH="1">
              <a:off x="1889895" y="4773944"/>
              <a:ext cx="0" cy="18810"/>
            </a:xfrm>
            <a:prstGeom prst="line">
              <a:avLst/>
            </a:prstGeom>
            <a:noFill/>
            <a:ln w="9525">
              <a:solidFill>
                <a:srgbClr val="3399FF">
                  <a:alpha val="55000"/>
                </a:srgbClr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pPr>
                <a:defRPr/>
              </a:pPr>
              <a:endParaRPr lang="ko-KR" altLang="en-US" sz="1662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37" name="Line 207"/>
            <p:cNvSpPr>
              <a:spLocks noChangeShapeType="1"/>
            </p:cNvSpPr>
            <p:nvPr/>
          </p:nvSpPr>
          <p:spPr bwMode="auto">
            <a:xfrm flipH="1">
              <a:off x="1950675" y="4758268"/>
              <a:ext cx="0" cy="20378"/>
            </a:xfrm>
            <a:prstGeom prst="line">
              <a:avLst/>
            </a:prstGeom>
            <a:noFill/>
            <a:ln w="9525">
              <a:solidFill>
                <a:srgbClr val="3399FF">
                  <a:alpha val="55000"/>
                </a:srgbClr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pPr>
                <a:defRPr/>
              </a:pPr>
              <a:endParaRPr lang="ko-KR" altLang="en-US" sz="1662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38" name="Line 208"/>
            <p:cNvSpPr>
              <a:spLocks noChangeShapeType="1"/>
            </p:cNvSpPr>
            <p:nvPr/>
          </p:nvSpPr>
          <p:spPr bwMode="auto">
            <a:xfrm flipH="1">
              <a:off x="1943608" y="4767674"/>
              <a:ext cx="0" cy="15675"/>
            </a:xfrm>
            <a:prstGeom prst="line">
              <a:avLst/>
            </a:prstGeom>
            <a:noFill/>
            <a:ln w="9525">
              <a:solidFill>
                <a:srgbClr val="3399FF">
                  <a:alpha val="55000"/>
                </a:srgbClr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pPr>
                <a:defRPr/>
              </a:pPr>
              <a:endParaRPr lang="ko-KR" altLang="en-US" sz="1662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39" name="Line 209"/>
            <p:cNvSpPr>
              <a:spLocks noChangeShapeType="1"/>
            </p:cNvSpPr>
            <p:nvPr/>
          </p:nvSpPr>
          <p:spPr bwMode="auto">
            <a:xfrm flipH="1">
              <a:off x="1898376" y="4781782"/>
              <a:ext cx="0" cy="12540"/>
            </a:xfrm>
            <a:prstGeom prst="line">
              <a:avLst/>
            </a:prstGeom>
            <a:noFill/>
            <a:ln w="9525">
              <a:solidFill>
                <a:srgbClr val="3399FF">
                  <a:alpha val="55000"/>
                </a:srgbClr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pPr>
                <a:defRPr/>
              </a:pPr>
              <a:endParaRPr lang="ko-KR" altLang="en-US" sz="1662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40" name="Line 210"/>
            <p:cNvSpPr>
              <a:spLocks noChangeShapeType="1"/>
            </p:cNvSpPr>
            <p:nvPr/>
          </p:nvSpPr>
          <p:spPr bwMode="auto">
            <a:xfrm flipV="1">
              <a:off x="1908270" y="4783349"/>
              <a:ext cx="25443" cy="6270"/>
            </a:xfrm>
            <a:prstGeom prst="line">
              <a:avLst/>
            </a:prstGeom>
            <a:noFill/>
            <a:ln w="9525">
              <a:solidFill>
                <a:srgbClr val="FFFF99">
                  <a:alpha val="45000"/>
                </a:srgbClr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pPr>
                <a:defRPr/>
              </a:pPr>
              <a:endParaRPr lang="ko-KR" altLang="en-US" sz="1662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41" name="Freeform 211"/>
            <p:cNvSpPr>
              <a:spLocks/>
            </p:cNvSpPr>
            <p:nvPr/>
          </p:nvSpPr>
          <p:spPr bwMode="auto">
            <a:xfrm>
              <a:off x="1714622" y="4751998"/>
              <a:ext cx="100357" cy="37621"/>
            </a:xfrm>
            <a:custGeom>
              <a:avLst/>
              <a:gdLst/>
              <a:ahLst/>
              <a:cxnLst>
                <a:cxn ang="0">
                  <a:pos x="0" y="20"/>
                </a:cxn>
                <a:cxn ang="0">
                  <a:pos x="1" y="38"/>
                </a:cxn>
                <a:cxn ang="0">
                  <a:pos x="116" y="19"/>
                </a:cxn>
                <a:cxn ang="0">
                  <a:pos x="116" y="0"/>
                </a:cxn>
                <a:cxn ang="0">
                  <a:pos x="0" y="20"/>
                </a:cxn>
              </a:cxnLst>
              <a:rect l="0" t="0" r="r" b="b"/>
              <a:pathLst>
                <a:path w="116" h="38">
                  <a:moveTo>
                    <a:pt x="0" y="20"/>
                  </a:moveTo>
                  <a:lnTo>
                    <a:pt x="1" y="38"/>
                  </a:lnTo>
                  <a:lnTo>
                    <a:pt x="116" y="19"/>
                  </a:lnTo>
                  <a:lnTo>
                    <a:pt x="116" y="0"/>
                  </a:lnTo>
                  <a:lnTo>
                    <a:pt x="0" y="20"/>
                  </a:lnTo>
                  <a:close/>
                </a:path>
              </a:pathLst>
            </a:custGeom>
            <a:gradFill rotWithShape="1">
              <a:gsLst>
                <a:gs pos="0">
                  <a:srgbClr val="C0C0C0">
                    <a:gamma/>
                    <a:tint val="60784"/>
                    <a:invGamma/>
                  </a:srgbClr>
                </a:gs>
                <a:gs pos="100000">
                  <a:srgbClr val="C0C0C0"/>
                </a:gs>
              </a:gsLst>
              <a:lin ang="0" scaled="1"/>
            </a:gradFill>
            <a:ln w="9525">
              <a:noFill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pPr>
                <a:defRPr/>
              </a:pPr>
              <a:endParaRPr lang="ko-KR" altLang="en-US" sz="1662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42" name="Line 212"/>
            <p:cNvSpPr>
              <a:spLocks noChangeShapeType="1"/>
            </p:cNvSpPr>
            <p:nvPr/>
          </p:nvSpPr>
          <p:spPr bwMode="auto">
            <a:xfrm flipV="1">
              <a:off x="1706141" y="4758268"/>
              <a:ext cx="113079" cy="23513"/>
            </a:xfrm>
            <a:prstGeom prst="line">
              <a:avLst/>
            </a:prstGeom>
            <a:noFill/>
            <a:ln w="3175">
              <a:solidFill>
                <a:srgbClr val="5F5F5F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pPr>
                <a:defRPr/>
              </a:pPr>
              <a:endParaRPr lang="ko-KR" altLang="en-US" sz="1662" kern="0">
                <a:solidFill>
                  <a:sysClr val="windowText" lastClr="000000"/>
                </a:solidFill>
              </a:endParaRPr>
            </a:p>
          </p:txBody>
        </p:sp>
        <p:grpSp>
          <p:nvGrpSpPr>
            <p:cNvPr id="98361" name="Group 150"/>
            <p:cNvGrpSpPr>
              <a:grpSpLocks/>
            </p:cNvGrpSpPr>
            <p:nvPr/>
          </p:nvGrpSpPr>
          <p:grpSpPr bwMode="auto">
            <a:xfrm>
              <a:off x="1598783" y="4144515"/>
              <a:ext cx="328612" cy="369887"/>
              <a:chOff x="685" y="3115"/>
              <a:chExt cx="207" cy="233"/>
            </a:xfrm>
          </p:grpSpPr>
          <p:sp>
            <p:nvSpPr>
              <p:cNvPr id="56" name="Freeform 215"/>
              <p:cNvSpPr>
                <a:spLocks/>
              </p:cNvSpPr>
              <p:nvPr/>
            </p:nvSpPr>
            <p:spPr bwMode="auto">
              <a:xfrm flipH="1">
                <a:off x="686" y="3115"/>
                <a:ext cx="207" cy="30"/>
              </a:xfrm>
              <a:custGeom>
                <a:avLst/>
                <a:gdLst>
                  <a:gd name="T0" fmla="*/ 1205 w 1205"/>
                  <a:gd name="T1" fmla="*/ 151 h 178"/>
                  <a:gd name="T2" fmla="*/ 964 w 1205"/>
                  <a:gd name="T3" fmla="*/ 178 h 178"/>
                  <a:gd name="T4" fmla="*/ 0 w 1205"/>
                  <a:gd name="T5" fmla="*/ 0 h 178"/>
                  <a:gd name="T6" fmla="*/ 1205 w 1205"/>
                  <a:gd name="T7" fmla="*/ 151 h 178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1205"/>
                  <a:gd name="T13" fmla="*/ 0 h 178"/>
                  <a:gd name="T14" fmla="*/ 1205 w 1205"/>
                  <a:gd name="T15" fmla="*/ 178 h 178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1205" h="178">
                    <a:moveTo>
                      <a:pt x="1205" y="151"/>
                    </a:moveTo>
                    <a:lnTo>
                      <a:pt x="964" y="178"/>
                    </a:lnTo>
                    <a:lnTo>
                      <a:pt x="0" y="0"/>
                    </a:lnTo>
                    <a:lnTo>
                      <a:pt x="1205" y="151"/>
                    </a:lnTo>
                    <a:close/>
                  </a:path>
                </a:pathLst>
              </a:custGeom>
              <a:solidFill>
                <a:srgbClr val="EAEAEA"/>
              </a:solidFill>
              <a:ln w="9525">
                <a:solidFill>
                  <a:srgbClr val="969696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pPr>
                  <a:defRPr/>
                </a:pPr>
                <a:endParaRPr lang="ko-KR" altLang="en-US" sz="1662" kern="0">
                  <a:solidFill>
                    <a:sysClr val="windowText" lastClr="000000"/>
                  </a:solidFill>
                </a:endParaRPr>
              </a:p>
            </p:txBody>
          </p:sp>
          <p:sp>
            <p:nvSpPr>
              <p:cNvPr id="57" name="Freeform 216"/>
              <p:cNvSpPr>
                <a:spLocks/>
              </p:cNvSpPr>
              <p:nvPr/>
            </p:nvSpPr>
            <p:spPr bwMode="auto">
              <a:xfrm flipH="1">
                <a:off x="685" y="3139"/>
                <a:ext cx="69" cy="207"/>
              </a:xfrm>
              <a:custGeom>
                <a:avLst/>
                <a:gdLst>
                  <a:gd name="T0" fmla="*/ 405 w 405"/>
                  <a:gd name="T1" fmla="*/ 0 h 1241"/>
                  <a:gd name="T2" fmla="*/ 389 w 405"/>
                  <a:gd name="T3" fmla="*/ 1000 h 1241"/>
                  <a:gd name="T4" fmla="*/ 133 w 405"/>
                  <a:gd name="T5" fmla="*/ 1241 h 1241"/>
                  <a:gd name="T6" fmla="*/ 0 w 405"/>
                  <a:gd name="T7" fmla="*/ 13 h 1241"/>
                  <a:gd name="T8" fmla="*/ 189 w 405"/>
                  <a:gd name="T9" fmla="*/ 24 h 1241"/>
                  <a:gd name="T10" fmla="*/ 405 w 405"/>
                  <a:gd name="T11" fmla="*/ 0 h 1241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405"/>
                  <a:gd name="T19" fmla="*/ 0 h 1241"/>
                  <a:gd name="T20" fmla="*/ 405 w 405"/>
                  <a:gd name="T21" fmla="*/ 1241 h 1241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405" h="1241">
                    <a:moveTo>
                      <a:pt x="405" y="0"/>
                    </a:moveTo>
                    <a:lnTo>
                      <a:pt x="389" y="1000"/>
                    </a:lnTo>
                    <a:lnTo>
                      <a:pt x="133" y="1241"/>
                    </a:lnTo>
                    <a:lnTo>
                      <a:pt x="0" y="13"/>
                    </a:lnTo>
                    <a:lnTo>
                      <a:pt x="189" y="24"/>
                    </a:lnTo>
                    <a:lnTo>
                      <a:pt x="405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CCCCCC"/>
                  </a:gs>
                  <a:gs pos="100000">
                    <a:srgbClr val="969696"/>
                  </a:gs>
                </a:gsLst>
                <a:lin ang="0" scaled="1"/>
              </a:gradFill>
              <a:ln w="9525">
                <a:solidFill>
                  <a:srgbClr val="969696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pPr>
                  <a:defRPr/>
                </a:pPr>
                <a:endParaRPr lang="ko-KR" altLang="en-US" sz="1662" kern="0">
                  <a:solidFill>
                    <a:sysClr val="windowText" lastClr="000000"/>
                  </a:solidFill>
                </a:endParaRPr>
              </a:p>
            </p:txBody>
          </p:sp>
        </p:grpSp>
        <p:sp>
          <p:nvSpPr>
            <p:cNvPr id="44" name="Oval 217"/>
            <p:cNvSpPr>
              <a:spLocks noChangeArrowheads="1"/>
            </p:cNvSpPr>
            <p:nvPr/>
          </p:nvSpPr>
          <p:spPr bwMode="auto">
            <a:xfrm>
              <a:off x="1683525" y="4543517"/>
              <a:ext cx="298246" cy="92484"/>
            </a:xfrm>
            <a:prstGeom prst="ellipse">
              <a:avLst/>
            </a:prstGeom>
            <a:solidFill>
              <a:srgbClr val="969696"/>
            </a:solidFill>
            <a:ln w="9525">
              <a:solidFill>
                <a:srgbClr val="969696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>
                <a:defRPr/>
              </a:pPr>
              <a:endParaRPr lang="ko-KR" altLang="en-US" sz="1662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45" name="Oval 218"/>
            <p:cNvSpPr>
              <a:spLocks noChangeArrowheads="1"/>
            </p:cNvSpPr>
            <p:nvPr/>
          </p:nvSpPr>
          <p:spPr bwMode="auto">
            <a:xfrm>
              <a:off x="1683525" y="4537247"/>
              <a:ext cx="298246" cy="90917"/>
            </a:xfrm>
            <a:prstGeom prst="ellipse">
              <a:avLst/>
            </a:prstGeom>
            <a:gradFill rotWithShape="1">
              <a:gsLst>
                <a:gs pos="0">
                  <a:srgbClr val="C0C0C0"/>
                </a:gs>
                <a:gs pos="100000">
                  <a:srgbClr val="EAEAEA"/>
                </a:gs>
              </a:gsLst>
              <a:lin ang="2700000" scaled="1"/>
            </a:gradFill>
            <a:ln w="9525">
              <a:solidFill>
                <a:srgbClr val="969696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>
                <a:defRPr/>
              </a:pPr>
              <a:endParaRPr lang="ko-KR" altLang="en-US" sz="1662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46" name="Freeform 219"/>
            <p:cNvSpPr>
              <a:spLocks/>
            </p:cNvSpPr>
            <p:nvPr/>
          </p:nvSpPr>
          <p:spPr bwMode="auto">
            <a:xfrm flipH="1">
              <a:off x="1663736" y="4088933"/>
              <a:ext cx="436768" cy="511015"/>
            </a:xfrm>
            <a:custGeom>
              <a:avLst/>
              <a:gdLst>
                <a:gd name="T0" fmla="*/ 1602 w 1602"/>
                <a:gd name="T1" fmla="*/ 204 h 1734"/>
                <a:gd name="T2" fmla="*/ 5 w 1602"/>
                <a:gd name="T3" fmla="*/ 0 h 1734"/>
                <a:gd name="T4" fmla="*/ 0 w 1602"/>
                <a:gd name="T5" fmla="*/ 1488 h 1734"/>
                <a:gd name="T6" fmla="*/ 1597 w 1602"/>
                <a:gd name="T7" fmla="*/ 1734 h 1734"/>
                <a:gd name="T8" fmla="*/ 1602 w 1602"/>
                <a:gd name="T9" fmla="*/ 204 h 1734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602"/>
                <a:gd name="T16" fmla="*/ 0 h 1734"/>
                <a:gd name="T17" fmla="*/ 1602 w 1602"/>
                <a:gd name="T18" fmla="*/ 1734 h 1734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602" h="1734">
                  <a:moveTo>
                    <a:pt x="1602" y="204"/>
                  </a:moveTo>
                  <a:lnTo>
                    <a:pt x="5" y="0"/>
                  </a:lnTo>
                  <a:lnTo>
                    <a:pt x="0" y="1488"/>
                  </a:lnTo>
                  <a:lnTo>
                    <a:pt x="1597" y="1734"/>
                  </a:lnTo>
                  <a:lnTo>
                    <a:pt x="1602" y="204"/>
                  </a:lnTo>
                  <a:close/>
                </a:path>
              </a:pathLst>
            </a:custGeom>
            <a:gradFill rotWithShape="1">
              <a:gsLst>
                <a:gs pos="0">
                  <a:srgbClr val="FFFFFF"/>
                </a:gs>
                <a:gs pos="100000">
                  <a:srgbClr val="DDDDDD"/>
                </a:gs>
              </a:gsLst>
              <a:lin ang="5400000" scaled="1"/>
            </a:gradFill>
            <a:ln w="9525">
              <a:solidFill>
                <a:srgbClr val="969696"/>
              </a:solidFill>
              <a:round/>
              <a:headEnd/>
              <a:tailEnd/>
            </a:ln>
          </p:spPr>
          <p:txBody>
            <a:bodyPr/>
            <a:lstStyle/>
            <a:p>
              <a:pPr>
                <a:defRPr/>
              </a:pPr>
              <a:endParaRPr lang="ko-KR" altLang="en-US" sz="1662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47" name="Freeform 220"/>
            <p:cNvSpPr>
              <a:spLocks/>
            </p:cNvSpPr>
            <p:nvPr/>
          </p:nvSpPr>
          <p:spPr bwMode="auto">
            <a:xfrm flipH="1">
              <a:off x="1723103" y="4502761"/>
              <a:ext cx="357613" cy="97187"/>
            </a:xfrm>
            <a:custGeom>
              <a:avLst/>
              <a:gdLst>
                <a:gd name="T0" fmla="*/ 1327 w 1330"/>
                <a:gd name="T1" fmla="*/ 200 h 330"/>
                <a:gd name="T2" fmla="*/ 0 w 1330"/>
                <a:gd name="T3" fmla="*/ 0 h 330"/>
                <a:gd name="T4" fmla="*/ 0 w 1330"/>
                <a:gd name="T5" fmla="*/ 115 h 330"/>
                <a:gd name="T6" fmla="*/ 1330 w 1330"/>
                <a:gd name="T7" fmla="*/ 330 h 330"/>
                <a:gd name="T8" fmla="*/ 1327 w 1330"/>
                <a:gd name="T9" fmla="*/ 200 h 33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330"/>
                <a:gd name="T16" fmla="*/ 0 h 330"/>
                <a:gd name="T17" fmla="*/ 1330 w 1330"/>
                <a:gd name="T18" fmla="*/ 330 h 33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330" h="330">
                  <a:moveTo>
                    <a:pt x="1327" y="200"/>
                  </a:moveTo>
                  <a:lnTo>
                    <a:pt x="0" y="0"/>
                  </a:lnTo>
                  <a:lnTo>
                    <a:pt x="0" y="115"/>
                  </a:lnTo>
                  <a:lnTo>
                    <a:pt x="1330" y="330"/>
                  </a:lnTo>
                  <a:lnTo>
                    <a:pt x="1327" y="200"/>
                  </a:lnTo>
                  <a:close/>
                </a:path>
              </a:pathLst>
            </a:custGeom>
            <a:gradFill rotWithShape="1">
              <a:gsLst>
                <a:gs pos="0">
                  <a:srgbClr val="C0C0C0"/>
                </a:gs>
                <a:gs pos="50000">
                  <a:srgbClr val="FFFFFF"/>
                </a:gs>
                <a:gs pos="100000">
                  <a:srgbClr val="C0C0C0"/>
                </a:gs>
              </a:gsLst>
              <a:lin ang="5400000" scaled="1"/>
            </a:gradFill>
            <a:ln w="9525">
              <a:solidFill>
                <a:srgbClr val="969696"/>
              </a:solidFill>
              <a:round/>
              <a:headEnd/>
              <a:tailEnd/>
            </a:ln>
          </p:spPr>
          <p:txBody>
            <a:bodyPr/>
            <a:lstStyle/>
            <a:p>
              <a:pPr>
                <a:defRPr/>
              </a:pPr>
              <a:endParaRPr lang="ko-KR" altLang="en-US" sz="1662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48" name="Freeform 221"/>
            <p:cNvSpPr>
              <a:spLocks/>
            </p:cNvSpPr>
            <p:nvPr/>
          </p:nvSpPr>
          <p:spPr bwMode="auto">
            <a:xfrm flipH="1">
              <a:off x="1651014" y="4146931"/>
              <a:ext cx="15549" cy="453017"/>
            </a:xfrm>
            <a:custGeom>
              <a:avLst/>
              <a:gdLst>
                <a:gd name="T0" fmla="*/ 4 w 56"/>
                <a:gd name="T1" fmla="*/ 16 h 1536"/>
                <a:gd name="T2" fmla="*/ 56 w 56"/>
                <a:gd name="T3" fmla="*/ 0 h 1536"/>
                <a:gd name="T4" fmla="*/ 46 w 56"/>
                <a:gd name="T5" fmla="*/ 1513 h 1536"/>
                <a:gd name="T6" fmla="*/ 0 w 56"/>
                <a:gd name="T7" fmla="*/ 1536 h 1536"/>
                <a:gd name="T8" fmla="*/ 4 w 56"/>
                <a:gd name="T9" fmla="*/ 16 h 153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56"/>
                <a:gd name="T16" fmla="*/ 0 h 1536"/>
                <a:gd name="T17" fmla="*/ 56 w 56"/>
                <a:gd name="T18" fmla="*/ 1536 h 1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56" h="1536">
                  <a:moveTo>
                    <a:pt x="4" y="16"/>
                  </a:moveTo>
                  <a:lnTo>
                    <a:pt x="56" y="0"/>
                  </a:lnTo>
                  <a:lnTo>
                    <a:pt x="46" y="1513"/>
                  </a:lnTo>
                  <a:lnTo>
                    <a:pt x="0" y="1536"/>
                  </a:lnTo>
                  <a:lnTo>
                    <a:pt x="4" y="16"/>
                  </a:lnTo>
                  <a:close/>
                </a:path>
              </a:pathLst>
            </a:custGeom>
            <a:gradFill rotWithShape="1">
              <a:gsLst>
                <a:gs pos="0">
                  <a:srgbClr val="777777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rgbClr val="969696"/>
              </a:solidFill>
              <a:round/>
              <a:headEnd/>
              <a:tailEnd/>
            </a:ln>
          </p:spPr>
          <p:txBody>
            <a:bodyPr/>
            <a:lstStyle/>
            <a:p>
              <a:pPr>
                <a:defRPr/>
              </a:pPr>
              <a:endParaRPr lang="ko-KR" altLang="en-US" sz="1662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49" name="Oval 222"/>
            <p:cNvSpPr>
              <a:spLocks noChangeArrowheads="1"/>
            </p:cNvSpPr>
            <p:nvPr/>
          </p:nvSpPr>
          <p:spPr bwMode="auto">
            <a:xfrm>
              <a:off x="2049619" y="4510598"/>
              <a:ext cx="12722" cy="28216"/>
            </a:xfrm>
            <a:prstGeom prst="ellipse">
              <a:avLst/>
            </a:prstGeom>
            <a:solidFill>
              <a:srgbClr val="777777"/>
            </a:solidFill>
            <a:ln w="9525">
              <a:solidFill>
                <a:srgbClr val="969696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>
                <a:defRPr/>
              </a:pPr>
              <a:endParaRPr lang="ko-KR" altLang="en-US" sz="1662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50" name="Oval 223"/>
            <p:cNvSpPr>
              <a:spLocks noChangeArrowheads="1"/>
            </p:cNvSpPr>
            <p:nvPr/>
          </p:nvSpPr>
          <p:spPr bwMode="auto">
            <a:xfrm>
              <a:off x="2025590" y="4516869"/>
              <a:ext cx="11308" cy="23513"/>
            </a:xfrm>
            <a:prstGeom prst="ellipse">
              <a:avLst/>
            </a:prstGeom>
            <a:solidFill>
              <a:srgbClr val="C0C0C0"/>
            </a:solidFill>
            <a:ln w="9525">
              <a:solidFill>
                <a:srgbClr val="969696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>
                <a:defRPr/>
              </a:pPr>
              <a:endParaRPr lang="ko-KR" altLang="en-US" sz="1662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51" name="Oval 224"/>
            <p:cNvSpPr>
              <a:spLocks noChangeArrowheads="1"/>
            </p:cNvSpPr>
            <p:nvPr/>
          </p:nvSpPr>
          <p:spPr bwMode="auto">
            <a:xfrm>
              <a:off x="1943608" y="4538814"/>
              <a:ext cx="14135" cy="15675"/>
            </a:xfrm>
            <a:prstGeom prst="ellipse">
              <a:avLst/>
            </a:prstGeom>
            <a:solidFill>
              <a:srgbClr val="C0C0C0"/>
            </a:solidFill>
            <a:ln w="9525">
              <a:solidFill>
                <a:srgbClr val="969696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>
                <a:defRPr/>
              </a:pPr>
              <a:endParaRPr lang="ko-KR" altLang="en-US" sz="1662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52" name="Oval 225"/>
            <p:cNvSpPr>
              <a:spLocks noChangeArrowheads="1"/>
            </p:cNvSpPr>
            <p:nvPr/>
          </p:nvSpPr>
          <p:spPr bwMode="auto">
            <a:xfrm>
              <a:off x="1918165" y="4543517"/>
              <a:ext cx="12721" cy="17242"/>
            </a:xfrm>
            <a:prstGeom prst="ellipse">
              <a:avLst/>
            </a:prstGeom>
            <a:solidFill>
              <a:srgbClr val="C0C0C0"/>
            </a:solidFill>
            <a:ln w="9525">
              <a:solidFill>
                <a:srgbClr val="969696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>
                <a:defRPr/>
              </a:pPr>
              <a:endParaRPr lang="ko-KR" altLang="en-US" sz="1662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53" name="Oval 226"/>
            <p:cNvSpPr>
              <a:spLocks noChangeArrowheads="1"/>
            </p:cNvSpPr>
            <p:nvPr/>
          </p:nvSpPr>
          <p:spPr bwMode="auto">
            <a:xfrm>
              <a:off x="1889895" y="4548219"/>
              <a:ext cx="14135" cy="15675"/>
            </a:xfrm>
            <a:prstGeom prst="ellipse">
              <a:avLst/>
            </a:prstGeom>
            <a:solidFill>
              <a:srgbClr val="C0C0C0"/>
            </a:solidFill>
            <a:ln w="9525">
              <a:solidFill>
                <a:srgbClr val="969696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>
                <a:defRPr/>
              </a:pPr>
              <a:endParaRPr lang="ko-KR" altLang="en-US" sz="1662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54" name="Freeform 227"/>
            <p:cNvSpPr>
              <a:spLocks/>
            </p:cNvSpPr>
            <p:nvPr/>
          </p:nvSpPr>
          <p:spPr bwMode="auto">
            <a:xfrm flipH="1">
              <a:off x="1704727" y="4139094"/>
              <a:ext cx="361854" cy="402855"/>
            </a:xfrm>
            <a:custGeom>
              <a:avLst/>
              <a:gdLst>
                <a:gd name="T0" fmla="*/ 1330 w 1345"/>
                <a:gd name="T1" fmla="*/ 167 h 1366"/>
                <a:gd name="T2" fmla="*/ 0 w 1345"/>
                <a:gd name="T3" fmla="*/ 0 h 1366"/>
                <a:gd name="T4" fmla="*/ 0 w 1345"/>
                <a:gd name="T5" fmla="*/ 1157 h 1366"/>
                <a:gd name="T6" fmla="*/ 1345 w 1345"/>
                <a:gd name="T7" fmla="*/ 1366 h 1366"/>
                <a:gd name="T8" fmla="*/ 1330 w 1345"/>
                <a:gd name="T9" fmla="*/ 167 h 136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345"/>
                <a:gd name="T16" fmla="*/ 0 h 1366"/>
                <a:gd name="T17" fmla="*/ 1345 w 1345"/>
                <a:gd name="T18" fmla="*/ 1366 h 136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345" h="1366">
                  <a:moveTo>
                    <a:pt x="1330" y="167"/>
                  </a:moveTo>
                  <a:lnTo>
                    <a:pt x="0" y="0"/>
                  </a:lnTo>
                  <a:lnTo>
                    <a:pt x="0" y="1157"/>
                  </a:lnTo>
                  <a:lnTo>
                    <a:pt x="1345" y="1366"/>
                  </a:lnTo>
                  <a:lnTo>
                    <a:pt x="1330" y="167"/>
                  </a:lnTo>
                  <a:close/>
                </a:path>
              </a:pathLst>
            </a:custGeom>
            <a:gradFill rotWithShape="1">
              <a:gsLst>
                <a:gs pos="0">
                  <a:srgbClr val="C0C0C0"/>
                </a:gs>
                <a:gs pos="100000">
                  <a:srgbClr val="4D4D4D"/>
                </a:gs>
              </a:gsLst>
              <a:lin ang="5400000" scaled="1"/>
            </a:gradFill>
            <a:ln w="9525">
              <a:solidFill>
                <a:srgbClr val="969696"/>
              </a:solidFill>
              <a:round/>
              <a:headEnd/>
              <a:tailEnd/>
            </a:ln>
          </p:spPr>
          <p:txBody>
            <a:bodyPr/>
            <a:lstStyle/>
            <a:p>
              <a:pPr>
                <a:defRPr/>
              </a:pPr>
              <a:endParaRPr lang="ko-KR" altLang="en-US" sz="1662" kern="0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55" name="Freeform 228"/>
            <p:cNvSpPr>
              <a:spLocks/>
            </p:cNvSpPr>
            <p:nvPr/>
          </p:nvSpPr>
          <p:spPr bwMode="auto">
            <a:xfrm flipH="1">
              <a:off x="1651014" y="4087365"/>
              <a:ext cx="448077" cy="64269"/>
            </a:xfrm>
            <a:custGeom>
              <a:avLst/>
              <a:gdLst>
                <a:gd name="T0" fmla="*/ 0 w 1660"/>
                <a:gd name="T1" fmla="*/ 10 h 214"/>
                <a:gd name="T2" fmla="*/ 68 w 1660"/>
                <a:gd name="T3" fmla="*/ 0 h 214"/>
                <a:gd name="T4" fmla="*/ 1660 w 1660"/>
                <a:gd name="T5" fmla="*/ 199 h 214"/>
                <a:gd name="T6" fmla="*/ 1613 w 1660"/>
                <a:gd name="T7" fmla="*/ 214 h 214"/>
                <a:gd name="T8" fmla="*/ 0 w 1660"/>
                <a:gd name="T9" fmla="*/ 10 h 214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660"/>
                <a:gd name="T16" fmla="*/ 0 h 214"/>
                <a:gd name="T17" fmla="*/ 1660 w 1660"/>
                <a:gd name="T18" fmla="*/ 214 h 214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660" h="214">
                  <a:moveTo>
                    <a:pt x="0" y="10"/>
                  </a:moveTo>
                  <a:lnTo>
                    <a:pt x="68" y="0"/>
                  </a:lnTo>
                  <a:lnTo>
                    <a:pt x="1660" y="199"/>
                  </a:lnTo>
                  <a:lnTo>
                    <a:pt x="1613" y="214"/>
                  </a:lnTo>
                  <a:lnTo>
                    <a:pt x="0" y="10"/>
                  </a:lnTo>
                  <a:close/>
                </a:path>
              </a:pathLst>
            </a:custGeom>
            <a:noFill/>
            <a:ln w="9525">
              <a:solidFill>
                <a:srgbClr val="969696"/>
              </a:solidFill>
              <a:round/>
              <a:headEnd/>
              <a:tailEnd/>
            </a:ln>
          </p:spPr>
          <p:txBody>
            <a:bodyPr/>
            <a:lstStyle/>
            <a:p>
              <a:pPr>
                <a:defRPr/>
              </a:pPr>
              <a:endParaRPr lang="ko-KR" altLang="en-US" sz="1662" kern="0">
                <a:solidFill>
                  <a:sysClr val="windowText" lastClr="000000"/>
                </a:solidFill>
              </a:endParaRPr>
            </a:p>
          </p:txBody>
        </p:sp>
      </p:grpSp>
      <p:pic>
        <p:nvPicPr>
          <p:cNvPr id="98308" name="Picture 2" descr="C:\Users\Toshiba\AppData\Local\Microsoft\Windows\Temporary Internet Files\Content.IE5\TBE21NJN\MC900434845[1]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93742" y="3113944"/>
            <a:ext cx="1462453" cy="13906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8309" name="TextBox 58"/>
          <p:cNvSpPr txBox="1">
            <a:spLocks noChangeArrowheads="1"/>
          </p:cNvSpPr>
          <p:nvPr/>
        </p:nvSpPr>
        <p:spPr bwMode="auto">
          <a:xfrm>
            <a:off x="2114660" y="4651135"/>
            <a:ext cx="1162498" cy="3196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1pPr>
            <a:lvl2pPr marL="742950" indent="-285750"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2pPr>
            <a:lvl3pPr marL="1143000" indent="-228600"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3pPr>
            <a:lvl4pPr marL="1600200" indent="-228600"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4pPr>
            <a:lvl5pPr marL="2057400" indent="-228600"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9pPr>
          </a:lstStyle>
          <a:p>
            <a:r>
              <a:rPr lang="ko-KR" altLang="en-US" sz="1477">
                <a:latin typeface="함초롬바탕" panose="02030504000101010101" pitchFamily="18" charset="-127"/>
                <a:ea typeface="함초롬바탕" panose="02030504000101010101" pitchFamily="18" charset="-127"/>
              </a:rPr>
              <a:t>송신호스트 </a:t>
            </a:r>
          </a:p>
        </p:txBody>
      </p:sp>
      <p:sp>
        <p:nvSpPr>
          <p:cNvPr id="60" name="오른쪽 화살표 59"/>
          <p:cNvSpPr/>
          <p:nvPr/>
        </p:nvSpPr>
        <p:spPr>
          <a:xfrm>
            <a:off x="4603275" y="1362370"/>
            <a:ext cx="3632689" cy="578827"/>
          </a:xfrm>
          <a:prstGeom prst="rightArrow">
            <a:avLst>
              <a:gd name="adj1" fmla="val 50000"/>
              <a:gd name="adj2" fmla="val 86095"/>
            </a:avLst>
          </a:prstGeom>
          <a:solidFill>
            <a:schemeClr val="bg1">
              <a:lumMod val="85000"/>
            </a:schemeClr>
          </a:solidFill>
          <a:ln cap="sq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886"/>
          </a:p>
        </p:txBody>
      </p:sp>
      <p:sp>
        <p:nvSpPr>
          <p:cNvPr id="98311" name="TextBox 60"/>
          <p:cNvSpPr txBox="1">
            <a:spLocks noChangeArrowheads="1"/>
          </p:cNvSpPr>
          <p:nvPr/>
        </p:nvSpPr>
        <p:spPr bwMode="auto">
          <a:xfrm>
            <a:off x="5038494" y="1508909"/>
            <a:ext cx="2295821" cy="3196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1pPr>
            <a:lvl2pPr marL="742950" indent="-285750"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2pPr>
            <a:lvl3pPr marL="1143000" indent="-228600"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3pPr>
            <a:lvl4pPr marL="1600200" indent="-228600"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4pPr>
            <a:lvl5pPr marL="2057400" indent="-228600"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9pPr>
          </a:lstStyle>
          <a:p>
            <a:r>
              <a:rPr lang="en-US" altLang="ko-KR" sz="1477" dirty="0">
                <a:latin typeface="Times New Roman" panose="02020603050405020304" pitchFamily="18" charset="0"/>
                <a:cs typeface="Times New Roman" panose="02020603050405020304" pitchFamily="18" charset="0"/>
              </a:rPr>
              <a:t>SN=</a:t>
            </a:r>
            <a:r>
              <a:rPr lang="en-US" altLang="ko-KR" sz="1477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5000 (</a:t>
            </a:r>
            <a:r>
              <a:rPr lang="en-US" altLang="ko-KR" sz="1477" dirty="0">
                <a:solidFill>
                  <a:schemeClr val="accent2"/>
                </a:solidFill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Data Size : 500</a:t>
            </a:r>
            <a:r>
              <a:rPr lang="en-US" altLang="ko-KR" sz="1477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)</a:t>
            </a:r>
            <a:r>
              <a:rPr lang="ko-KR" altLang="en-US" sz="1477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 </a:t>
            </a:r>
          </a:p>
        </p:txBody>
      </p:sp>
      <p:sp>
        <p:nvSpPr>
          <p:cNvPr id="62" name="오른쪽 화살표 61"/>
          <p:cNvSpPr/>
          <p:nvPr/>
        </p:nvSpPr>
        <p:spPr>
          <a:xfrm rot="10800000">
            <a:off x="4603275" y="2137783"/>
            <a:ext cx="3632689" cy="580292"/>
          </a:xfrm>
          <a:prstGeom prst="rightArrow">
            <a:avLst>
              <a:gd name="adj1" fmla="val 50000"/>
              <a:gd name="adj2" fmla="val 86095"/>
            </a:avLst>
          </a:prstGeom>
          <a:noFill/>
          <a:ln cap="sq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886"/>
          </a:p>
        </p:txBody>
      </p:sp>
      <p:sp>
        <p:nvSpPr>
          <p:cNvPr id="64" name="오른쪽 화살표 63"/>
          <p:cNvSpPr/>
          <p:nvPr/>
        </p:nvSpPr>
        <p:spPr>
          <a:xfrm>
            <a:off x="4607672" y="2967404"/>
            <a:ext cx="3634154" cy="580292"/>
          </a:xfrm>
          <a:prstGeom prst="rightArrow">
            <a:avLst>
              <a:gd name="adj1" fmla="val 50000"/>
              <a:gd name="adj2" fmla="val 86095"/>
            </a:avLst>
          </a:prstGeom>
          <a:solidFill>
            <a:schemeClr val="bg1">
              <a:lumMod val="85000"/>
            </a:schemeClr>
          </a:solidFill>
          <a:ln cap="sq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886"/>
          </a:p>
        </p:txBody>
      </p:sp>
      <p:sp>
        <p:nvSpPr>
          <p:cNvPr id="66" name="오른쪽 화살표 65"/>
          <p:cNvSpPr/>
          <p:nvPr/>
        </p:nvSpPr>
        <p:spPr>
          <a:xfrm rot="10800000">
            <a:off x="4603276" y="3710356"/>
            <a:ext cx="3632688" cy="578827"/>
          </a:xfrm>
          <a:prstGeom prst="rightArrow">
            <a:avLst>
              <a:gd name="adj1" fmla="val 50000"/>
              <a:gd name="adj2" fmla="val 86095"/>
            </a:avLst>
          </a:prstGeom>
          <a:noFill/>
          <a:ln cap="sq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886"/>
          </a:p>
        </p:txBody>
      </p:sp>
      <p:sp>
        <p:nvSpPr>
          <p:cNvPr id="68" name="오른쪽 화살표 67"/>
          <p:cNvSpPr/>
          <p:nvPr/>
        </p:nvSpPr>
        <p:spPr>
          <a:xfrm>
            <a:off x="4603276" y="4573903"/>
            <a:ext cx="3632688" cy="578827"/>
          </a:xfrm>
          <a:prstGeom prst="rightArrow">
            <a:avLst>
              <a:gd name="adj1" fmla="val 50000"/>
              <a:gd name="adj2" fmla="val 86095"/>
            </a:avLst>
          </a:prstGeom>
          <a:solidFill>
            <a:schemeClr val="bg1">
              <a:lumMod val="85000"/>
            </a:schemeClr>
          </a:solidFill>
          <a:ln cap="sq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886"/>
          </a:p>
        </p:txBody>
      </p:sp>
      <p:sp>
        <p:nvSpPr>
          <p:cNvPr id="70" name="오른쪽 화살표 69"/>
          <p:cNvSpPr/>
          <p:nvPr/>
        </p:nvSpPr>
        <p:spPr>
          <a:xfrm rot="10800000">
            <a:off x="4603276" y="5287545"/>
            <a:ext cx="3632688" cy="578827"/>
          </a:xfrm>
          <a:prstGeom prst="rightArrow">
            <a:avLst>
              <a:gd name="adj1" fmla="val 50000"/>
              <a:gd name="adj2" fmla="val 86095"/>
            </a:avLst>
          </a:prstGeom>
          <a:noFill/>
          <a:ln cap="sq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886"/>
          </a:p>
        </p:txBody>
      </p:sp>
      <p:sp>
        <p:nvSpPr>
          <p:cNvPr id="98317" name="TextBox 73"/>
          <p:cNvSpPr txBox="1">
            <a:spLocks noChangeArrowheads="1"/>
          </p:cNvSpPr>
          <p:nvPr/>
        </p:nvSpPr>
        <p:spPr bwMode="auto">
          <a:xfrm>
            <a:off x="9012054" y="4104359"/>
            <a:ext cx="1162498" cy="3196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1pPr>
            <a:lvl2pPr marL="742950" indent="-285750"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2pPr>
            <a:lvl3pPr marL="1143000" indent="-228600"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3pPr>
            <a:lvl4pPr marL="1600200" indent="-228600"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4pPr>
            <a:lvl5pPr marL="2057400" indent="-228600"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9pPr>
          </a:lstStyle>
          <a:p>
            <a:r>
              <a:rPr lang="ko-KR" altLang="en-US" sz="1477">
                <a:latin typeface="함초롬바탕" panose="02030504000101010101" pitchFamily="18" charset="-127"/>
                <a:ea typeface="함초롬바탕" panose="02030504000101010101" pitchFamily="18" charset="-127"/>
              </a:rPr>
              <a:t>수신호스트 </a:t>
            </a:r>
          </a:p>
        </p:txBody>
      </p:sp>
      <p:sp>
        <p:nvSpPr>
          <p:cNvPr id="98318" name="TextBox 74"/>
          <p:cNvSpPr txBox="1">
            <a:spLocks noChangeArrowheads="1"/>
          </p:cNvSpPr>
          <p:nvPr/>
        </p:nvSpPr>
        <p:spPr bwMode="auto">
          <a:xfrm>
            <a:off x="5740413" y="2285789"/>
            <a:ext cx="1039067" cy="3196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1pPr>
            <a:lvl2pPr marL="742950" indent="-285750"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2pPr>
            <a:lvl3pPr marL="1143000" indent="-228600"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3pPr>
            <a:lvl4pPr marL="1600200" indent="-228600"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4pPr>
            <a:lvl5pPr marL="2057400" indent="-228600"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9pPr>
          </a:lstStyle>
          <a:p>
            <a:r>
              <a:rPr lang="en-US" altLang="ko-KR" sz="1477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AN=5500 </a:t>
            </a:r>
            <a:r>
              <a:rPr lang="ko-KR" altLang="en-US" sz="1477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 </a:t>
            </a:r>
          </a:p>
        </p:txBody>
      </p:sp>
      <p:sp>
        <p:nvSpPr>
          <p:cNvPr id="98319" name="TextBox 75"/>
          <p:cNvSpPr txBox="1">
            <a:spLocks noChangeArrowheads="1"/>
          </p:cNvSpPr>
          <p:nvPr/>
        </p:nvSpPr>
        <p:spPr bwMode="auto">
          <a:xfrm>
            <a:off x="5750673" y="3867153"/>
            <a:ext cx="1039067" cy="3196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1pPr>
            <a:lvl2pPr marL="742950" indent="-285750"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2pPr>
            <a:lvl3pPr marL="1143000" indent="-228600"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3pPr>
            <a:lvl4pPr marL="1600200" indent="-228600"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4pPr>
            <a:lvl5pPr marL="2057400" indent="-228600"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9pPr>
          </a:lstStyle>
          <a:p>
            <a:r>
              <a:rPr lang="en-US" altLang="ko-KR" sz="1477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AN=6100 </a:t>
            </a:r>
            <a:r>
              <a:rPr lang="ko-KR" altLang="en-US" sz="1477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 </a:t>
            </a:r>
          </a:p>
        </p:txBody>
      </p:sp>
      <p:sp>
        <p:nvSpPr>
          <p:cNvPr id="98320" name="TextBox 76"/>
          <p:cNvSpPr txBox="1">
            <a:spLocks noChangeArrowheads="1"/>
          </p:cNvSpPr>
          <p:nvPr/>
        </p:nvSpPr>
        <p:spPr bwMode="auto">
          <a:xfrm>
            <a:off x="5828338" y="5420896"/>
            <a:ext cx="1039067" cy="3196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1pPr>
            <a:lvl2pPr marL="742950" indent="-285750"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2pPr>
            <a:lvl3pPr marL="1143000" indent="-228600"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3pPr>
            <a:lvl4pPr marL="1600200" indent="-228600"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4pPr>
            <a:lvl5pPr marL="2057400" indent="-228600"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9pPr>
          </a:lstStyle>
          <a:p>
            <a:r>
              <a:rPr lang="en-US" altLang="ko-KR" sz="1477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AN=6400 </a:t>
            </a:r>
            <a:r>
              <a:rPr lang="ko-KR" altLang="en-US" sz="1477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 </a:t>
            </a:r>
          </a:p>
        </p:txBody>
      </p:sp>
      <p:sp>
        <p:nvSpPr>
          <p:cNvPr id="98321" name="TextBox 77"/>
          <p:cNvSpPr txBox="1">
            <a:spLocks noChangeArrowheads="1"/>
          </p:cNvSpPr>
          <p:nvPr/>
        </p:nvSpPr>
        <p:spPr bwMode="auto">
          <a:xfrm>
            <a:off x="4943247" y="3113944"/>
            <a:ext cx="2295821" cy="3196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1pPr>
            <a:lvl2pPr marL="742950" indent="-285750"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2pPr>
            <a:lvl3pPr marL="1143000" indent="-228600"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3pPr>
            <a:lvl4pPr marL="1600200" indent="-228600"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4pPr>
            <a:lvl5pPr marL="2057400" indent="-228600"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9pPr>
          </a:lstStyle>
          <a:p>
            <a:r>
              <a:rPr lang="en-US" altLang="ko-KR" sz="1477" dirty="0">
                <a:latin typeface="Times New Roman" panose="02020603050405020304" pitchFamily="18" charset="0"/>
                <a:cs typeface="Times New Roman" panose="02020603050405020304" pitchFamily="18" charset="0"/>
              </a:rPr>
              <a:t>SN=</a:t>
            </a:r>
            <a:r>
              <a:rPr lang="en-US" altLang="ko-KR" sz="1477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5500 (</a:t>
            </a:r>
            <a:r>
              <a:rPr lang="en-US" altLang="ko-KR" sz="1477" dirty="0">
                <a:solidFill>
                  <a:schemeClr val="accent2"/>
                </a:solidFill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Data Size : 600</a:t>
            </a:r>
            <a:r>
              <a:rPr lang="en-US" altLang="ko-KR" sz="1477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)</a:t>
            </a:r>
            <a:r>
              <a:rPr lang="ko-KR" altLang="en-US" sz="1477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 </a:t>
            </a:r>
          </a:p>
        </p:txBody>
      </p:sp>
      <p:sp>
        <p:nvSpPr>
          <p:cNvPr id="98322" name="TextBox 78"/>
          <p:cNvSpPr txBox="1">
            <a:spLocks noChangeArrowheads="1"/>
          </p:cNvSpPr>
          <p:nvPr/>
        </p:nvSpPr>
        <p:spPr bwMode="auto">
          <a:xfrm>
            <a:off x="4952039" y="4721907"/>
            <a:ext cx="2343911" cy="3196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1pPr>
            <a:lvl2pPr marL="742950" indent="-285750"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2pPr>
            <a:lvl3pPr marL="1143000" indent="-228600"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3pPr>
            <a:lvl4pPr marL="1600200" indent="-228600"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4pPr>
            <a:lvl5pPr marL="2057400" indent="-228600"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9pPr>
          </a:lstStyle>
          <a:p>
            <a:r>
              <a:rPr lang="en-US" altLang="ko-KR" sz="1477" dirty="0">
                <a:latin typeface="Times New Roman" panose="02020603050405020304" pitchFamily="18" charset="0"/>
                <a:cs typeface="Times New Roman" panose="02020603050405020304" pitchFamily="18" charset="0"/>
              </a:rPr>
              <a:t>SN=</a:t>
            </a:r>
            <a:r>
              <a:rPr lang="en-US" altLang="ko-KR" sz="1477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6100  (</a:t>
            </a:r>
            <a:r>
              <a:rPr lang="en-US" altLang="ko-KR" sz="1477" dirty="0">
                <a:solidFill>
                  <a:schemeClr val="accent2"/>
                </a:solidFill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Data Size : 300</a:t>
            </a:r>
            <a:r>
              <a:rPr lang="en-US" altLang="ko-KR" sz="1477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)</a:t>
            </a:r>
            <a:r>
              <a:rPr lang="ko-KR" altLang="en-US" sz="1477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 </a:t>
            </a:r>
          </a:p>
        </p:txBody>
      </p:sp>
      <p:sp>
        <p:nvSpPr>
          <p:cNvPr id="98323" name="TextBox 1"/>
          <p:cNvSpPr txBox="1">
            <a:spLocks noChangeArrowheads="1"/>
          </p:cNvSpPr>
          <p:nvPr/>
        </p:nvSpPr>
        <p:spPr bwMode="auto">
          <a:xfrm>
            <a:off x="8757080" y="2599409"/>
            <a:ext cx="1853392" cy="3196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1pPr>
            <a:lvl2pPr marL="742950" indent="-285750"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2pPr>
            <a:lvl3pPr marL="1143000" indent="-228600"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3pPr>
            <a:lvl4pPr marL="1600200" indent="-228600"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4pPr>
            <a:lvl5pPr marL="2057400" indent="-228600"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9pPr>
          </a:lstStyle>
          <a:p>
            <a:r>
              <a:rPr lang="en-US" altLang="ko-KR" sz="1477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AN=SN+ </a:t>
            </a:r>
            <a:r>
              <a:rPr lang="en-US" altLang="ko-KR" sz="1477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DataLength</a:t>
            </a:r>
            <a:endParaRPr lang="ko-KR" altLang="en-US" sz="1477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직사각형 1"/>
          <p:cNvSpPr/>
          <p:nvPr/>
        </p:nvSpPr>
        <p:spPr>
          <a:xfrm>
            <a:off x="2934491" y="2135068"/>
            <a:ext cx="803409" cy="39750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4" dirty="0">
                <a:latin typeface="Times New Roman" panose="02020603050405020304" pitchFamily="18" charset="0"/>
                <a:cs typeface="Times New Roman" panose="02020603050405020304" pitchFamily="18" charset="0"/>
              </a:rPr>
              <a:t>500</a:t>
            </a:r>
            <a:endParaRPr lang="ko-KR" altLang="en-US" sz="1504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3" name="직사각형 72"/>
          <p:cNvSpPr/>
          <p:nvPr/>
        </p:nvSpPr>
        <p:spPr>
          <a:xfrm>
            <a:off x="2040877" y="2135068"/>
            <a:ext cx="803409" cy="397508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4" dirty="0">
                <a:latin typeface="Times New Roman" panose="02020603050405020304" pitchFamily="18" charset="0"/>
                <a:cs typeface="Times New Roman" panose="02020603050405020304" pitchFamily="18" charset="0"/>
              </a:rPr>
              <a:t>600</a:t>
            </a:r>
            <a:endParaRPr lang="ko-KR" altLang="en-US" sz="1504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4" name="직사각형 73"/>
          <p:cNvSpPr/>
          <p:nvPr/>
        </p:nvSpPr>
        <p:spPr>
          <a:xfrm>
            <a:off x="1147263" y="2135068"/>
            <a:ext cx="803409" cy="397508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4" dirty="0">
                <a:latin typeface="Times New Roman" panose="02020603050405020304" pitchFamily="18" charset="0"/>
                <a:cs typeface="Times New Roman" panose="02020603050405020304" pitchFamily="18" charset="0"/>
              </a:rPr>
              <a:t>300</a:t>
            </a:r>
            <a:endParaRPr lang="ko-KR" altLang="en-US" sz="1504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2971096" y="1859953"/>
            <a:ext cx="763351" cy="2723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17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SN=5000</a:t>
            </a:r>
            <a:endParaRPr lang="ko-KR" altLang="en-US" sz="117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6" name="TextBox 75"/>
          <p:cNvSpPr txBox="1"/>
          <p:nvPr/>
        </p:nvSpPr>
        <p:spPr>
          <a:xfrm>
            <a:off x="2094310" y="1859309"/>
            <a:ext cx="763351" cy="2723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17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SN=5500</a:t>
            </a:r>
            <a:endParaRPr lang="ko-KR" altLang="en-US" sz="117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7" name="TextBox 76"/>
          <p:cNvSpPr txBox="1"/>
          <p:nvPr/>
        </p:nvSpPr>
        <p:spPr>
          <a:xfrm>
            <a:off x="1197840" y="1860485"/>
            <a:ext cx="763351" cy="2723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17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SN=6100</a:t>
            </a:r>
            <a:endParaRPr lang="ko-KR" altLang="en-US" sz="117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7338552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>
          <a:xfrm>
            <a:off x="9172575" y="6336906"/>
            <a:ext cx="2743200" cy="365125"/>
          </a:xfrm>
        </p:spPr>
        <p:txBody>
          <a:bodyPr/>
          <a:lstStyle/>
          <a:p>
            <a:fld id="{7B2209E9-2AE8-42A0-AB53-D13299BB30AF}" type="slidenum">
              <a:rPr lang="ko-KR" altLang="en-US" smtClean="0"/>
              <a:pPr/>
              <a:t>22</a:t>
            </a:fld>
            <a:endParaRPr lang="ko-KR" altLang="en-US" dirty="0"/>
          </a:p>
        </p:txBody>
      </p:sp>
      <p:sp>
        <p:nvSpPr>
          <p:cNvPr id="99330" name="제목 1"/>
          <p:cNvSpPr>
            <a:spLocks noGrp="1"/>
          </p:cNvSpPr>
          <p:nvPr>
            <p:ph type="title" idx="4294967295"/>
          </p:nvPr>
        </p:nvSpPr>
        <p:spPr bwMode="auto">
          <a:xfrm>
            <a:off x="0" y="407988"/>
            <a:ext cx="7280275" cy="481012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84406" tIns="42203" rIns="84406" bIns="42203" numCol="1" rtlCol="0" anchor="t" anchorCtr="0" compatLnSpc="1">
            <a:prstTxWarp prst="textNoShape">
              <a:avLst/>
            </a:prstTxWarp>
            <a:noAutofit/>
          </a:bodyPr>
          <a:lstStyle/>
          <a:p>
            <a:r>
              <a:rPr lang="en-US" altLang="ko-KR" sz="24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❷ </a:t>
            </a:r>
            <a:r>
              <a:rPr lang="ko-KR" altLang="en-US" sz="2400" dirty="0">
                <a:ea typeface="함초롬바탕" panose="02030504000101010101"/>
              </a:rPr>
              <a:t>비정상적인 트래픽 </a:t>
            </a:r>
            <a:r>
              <a:rPr lang="ko-KR" altLang="en-US" sz="2400">
                <a:ea typeface="함초롬바탕" panose="02030504000101010101"/>
              </a:rPr>
              <a:t>전송 과정</a:t>
            </a:r>
            <a:r>
              <a:rPr lang="en-US" altLang="ko-KR" sz="2400" dirty="0">
                <a:ea typeface="함초롬바탕" panose="02030504000101010101"/>
              </a:rPr>
              <a:t>(1)</a:t>
            </a:r>
            <a:r>
              <a:rPr lang="ko-KR" altLang="en-US" sz="2400">
                <a:ea typeface="함초롬바탕" panose="02030504000101010101"/>
              </a:rPr>
              <a:t> </a:t>
            </a:r>
            <a:endParaRPr lang="ko-KR" altLang="en-US" sz="2400" dirty="0">
              <a:ea typeface="함초롬바탕" panose="02030504000101010101"/>
            </a:endParaRPr>
          </a:p>
        </p:txBody>
      </p:sp>
      <p:grpSp>
        <p:nvGrpSpPr>
          <p:cNvPr id="99331" name="그룹 3"/>
          <p:cNvGrpSpPr>
            <a:grpSpLocks/>
          </p:cNvGrpSpPr>
          <p:nvPr/>
        </p:nvGrpSpPr>
        <p:grpSpPr bwMode="auto">
          <a:xfrm flipH="1">
            <a:off x="9456651" y="2955940"/>
            <a:ext cx="868973" cy="942566"/>
            <a:chOff x="1533695" y="4087365"/>
            <a:chExt cx="838200" cy="1008269"/>
          </a:xfrm>
        </p:grpSpPr>
        <p:sp>
          <p:nvSpPr>
            <p:cNvPr id="6" name="Freeform 174"/>
            <p:cNvSpPr>
              <a:spLocks/>
            </p:cNvSpPr>
            <p:nvPr/>
          </p:nvSpPr>
          <p:spPr bwMode="auto">
            <a:xfrm rot="355818">
              <a:off x="2175420" y="4753566"/>
              <a:ext cx="74915" cy="53296"/>
            </a:xfrm>
            <a:custGeom>
              <a:avLst/>
              <a:gdLst>
                <a:gd name="T0" fmla="*/ 1224 w 1224"/>
                <a:gd name="T1" fmla="*/ 755 h 755"/>
                <a:gd name="T2" fmla="*/ 1112 w 1224"/>
                <a:gd name="T3" fmla="*/ 716 h 755"/>
                <a:gd name="T4" fmla="*/ 1051 w 1224"/>
                <a:gd name="T5" fmla="*/ 693 h 755"/>
                <a:gd name="T6" fmla="*/ 1006 w 1224"/>
                <a:gd name="T7" fmla="*/ 671 h 755"/>
                <a:gd name="T8" fmla="*/ 984 w 1224"/>
                <a:gd name="T9" fmla="*/ 660 h 755"/>
                <a:gd name="T10" fmla="*/ 939 w 1224"/>
                <a:gd name="T11" fmla="*/ 626 h 755"/>
                <a:gd name="T12" fmla="*/ 894 w 1224"/>
                <a:gd name="T13" fmla="*/ 548 h 755"/>
                <a:gd name="T14" fmla="*/ 889 w 1224"/>
                <a:gd name="T15" fmla="*/ 531 h 755"/>
                <a:gd name="T16" fmla="*/ 850 w 1224"/>
                <a:gd name="T17" fmla="*/ 509 h 755"/>
                <a:gd name="T18" fmla="*/ 799 w 1224"/>
                <a:gd name="T19" fmla="*/ 481 h 755"/>
                <a:gd name="T20" fmla="*/ 704 w 1224"/>
                <a:gd name="T21" fmla="*/ 453 h 755"/>
                <a:gd name="T22" fmla="*/ 419 w 1224"/>
                <a:gd name="T23" fmla="*/ 442 h 755"/>
                <a:gd name="T24" fmla="*/ 330 w 1224"/>
                <a:gd name="T25" fmla="*/ 408 h 755"/>
                <a:gd name="T26" fmla="*/ 212 w 1224"/>
                <a:gd name="T27" fmla="*/ 279 h 755"/>
                <a:gd name="T28" fmla="*/ 145 w 1224"/>
                <a:gd name="T29" fmla="*/ 134 h 755"/>
                <a:gd name="T30" fmla="*/ 78 w 1224"/>
                <a:gd name="T31" fmla="*/ 39 h 755"/>
                <a:gd name="T32" fmla="*/ 0 w 1224"/>
                <a:gd name="T33" fmla="*/ 0 h 755"/>
                <a:gd name="T34" fmla="*/ 0 60000 65536"/>
                <a:gd name="T35" fmla="*/ 0 60000 65536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w 1224"/>
                <a:gd name="T52" fmla="*/ 0 h 755"/>
                <a:gd name="T53" fmla="*/ 1224 w 1224"/>
                <a:gd name="T54" fmla="*/ 755 h 755"/>
              </a:gdLst>
              <a:ahLst/>
              <a:cxnLst>
                <a:cxn ang="T34">
                  <a:pos x="T0" y="T1"/>
                </a:cxn>
                <a:cxn ang="T35">
                  <a:pos x="T2" y="T3"/>
                </a:cxn>
                <a:cxn ang="T36">
                  <a:pos x="T4" y="T5"/>
                </a:cxn>
                <a:cxn ang="T37">
                  <a:pos x="T6" y="T7"/>
                </a:cxn>
                <a:cxn ang="T38">
                  <a:pos x="T8" y="T9"/>
                </a:cxn>
                <a:cxn ang="T39">
                  <a:pos x="T10" y="T11"/>
                </a:cxn>
                <a:cxn ang="T40">
                  <a:pos x="T12" y="T13"/>
                </a:cxn>
                <a:cxn ang="T41">
                  <a:pos x="T14" y="T15"/>
                </a:cxn>
                <a:cxn ang="T42">
                  <a:pos x="T16" y="T17"/>
                </a:cxn>
                <a:cxn ang="T43">
                  <a:pos x="T18" y="T19"/>
                </a:cxn>
                <a:cxn ang="T44">
                  <a:pos x="T20" y="T21"/>
                </a:cxn>
                <a:cxn ang="T45">
                  <a:pos x="T22" y="T23"/>
                </a:cxn>
                <a:cxn ang="T46">
                  <a:pos x="T24" y="T25"/>
                </a:cxn>
                <a:cxn ang="T47">
                  <a:pos x="T26" y="T27"/>
                </a:cxn>
                <a:cxn ang="T48">
                  <a:pos x="T28" y="T29"/>
                </a:cxn>
                <a:cxn ang="T49">
                  <a:pos x="T30" y="T31"/>
                </a:cxn>
                <a:cxn ang="T50">
                  <a:pos x="T32" y="T33"/>
                </a:cxn>
              </a:cxnLst>
              <a:rect l="T51" t="T52" r="T53" b="T54"/>
              <a:pathLst>
                <a:path w="1224" h="755">
                  <a:moveTo>
                    <a:pt x="1224" y="755"/>
                  </a:moveTo>
                  <a:cubicBezTo>
                    <a:pt x="1190" y="729"/>
                    <a:pt x="1154" y="724"/>
                    <a:pt x="1112" y="716"/>
                  </a:cubicBezTo>
                  <a:cubicBezTo>
                    <a:pt x="1091" y="705"/>
                    <a:pt x="1072" y="702"/>
                    <a:pt x="1051" y="693"/>
                  </a:cubicBezTo>
                  <a:cubicBezTo>
                    <a:pt x="1036" y="686"/>
                    <a:pt x="1021" y="678"/>
                    <a:pt x="1006" y="671"/>
                  </a:cubicBezTo>
                  <a:cubicBezTo>
                    <a:pt x="999" y="667"/>
                    <a:pt x="984" y="660"/>
                    <a:pt x="984" y="660"/>
                  </a:cubicBezTo>
                  <a:cubicBezTo>
                    <a:pt x="971" y="646"/>
                    <a:pt x="939" y="626"/>
                    <a:pt x="939" y="626"/>
                  </a:cubicBezTo>
                  <a:cubicBezTo>
                    <a:pt x="923" y="602"/>
                    <a:pt x="906" y="575"/>
                    <a:pt x="894" y="548"/>
                  </a:cubicBezTo>
                  <a:cubicBezTo>
                    <a:pt x="892" y="543"/>
                    <a:pt x="893" y="536"/>
                    <a:pt x="889" y="531"/>
                  </a:cubicBezTo>
                  <a:cubicBezTo>
                    <a:pt x="884" y="524"/>
                    <a:pt x="855" y="512"/>
                    <a:pt x="850" y="509"/>
                  </a:cubicBezTo>
                  <a:cubicBezTo>
                    <a:pt x="802" y="480"/>
                    <a:pt x="833" y="491"/>
                    <a:pt x="799" y="481"/>
                  </a:cubicBezTo>
                  <a:cubicBezTo>
                    <a:pt x="764" y="457"/>
                    <a:pt x="751" y="457"/>
                    <a:pt x="704" y="453"/>
                  </a:cubicBezTo>
                  <a:cubicBezTo>
                    <a:pt x="606" y="457"/>
                    <a:pt x="515" y="459"/>
                    <a:pt x="419" y="442"/>
                  </a:cubicBezTo>
                  <a:cubicBezTo>
                    <a:pt x="391" y="426"/>
                    <a:pt x="360" y="419"/>
                    <a:pt x="330" y="408"/>
                  </a:cubicBezTo>
                  <a:cubicBezTo>
                    <a:pt x="287" y="368"/>
                    <a:pt x="245" y="328"/>
                    <a:pt x="212" y="279"/>
                  </a:cubicBezTo>
                  <a:cubicBezTo>
                    <a:pt x="183" y="235"/>
                    <a:pt x="168" y="181"/>
                    <a:pt x="145" y="134"/>
                  </a:cubicBezTo>
                  <a:cubicBezTo>
                    <a:pt x="128" y="100"/>
                    <a:pt x="99" y="71"/>
                    <a:pt x="78" y="39"/>
                  </a:cubicBezTo>
                  <a:cubicBezTo>
                    <a:pt x="70" y="27"/>
                    <a:pt x="15" y="7"/>
                    <a:pt x="0" y="0"/>
                  </a:cubicBezTo>
                </a:path>
              </a:pathLst>
            </a:custGeom>
            <a:noFill/>
            <a:ln w="12700">
              <a:solidFill>
                <a:srgbClr val="969696"/>
              </a:solidFill>
              <a:round/>
              <a:headEnd/>
              <a:tailEnd/>
            </a:ln>
          </p:spPr>
          <p:txBody>
            <a:bodyPr/>
            <a:lstStyle/>
            <a:p>
              <a:pPr>
                <a:defRPr/>
              </a:pPr>
              <a:endParaRPr lang="ko-KR" altLang="en-US" sz="1662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7" name="Freeform 175"/>
            <p:cNvSpPr>
              <a:spLocks/>
            </p:cNvSpPr>
            <p:nvPr/>
          </p:nvSpPr>
          <p:spPr bwMode="auto">
            <a:xfrm rot="355818" flipH="1">
              <a:off x="2234787" y="4802160"/>
              <a:ext cx="137108" cy="81512"/>
            </a:xfrm>
            <a:custGeom>
              <a:avLst/>
              <a:gdLst>
                <a:gd name="T0" fmla="*/ 886 w 971"/>
                <a:gd name="T1" fmla="*/ 33 h 550"/>
                <a:gd name="T2" fmla="*/ 937 w 971"/>
                <a:gd name="T3" fmla="*/ 70 h 550"/>
                <a:gd name="T4" fmla="*/ 971 w 971"/>
                <a:gd name="T5" fmla="*/ 130 h 550"/>
                <a:gd name="T6" fmla="*/ 967 w 971"/>
                <a:gd name="T7" fmla="*/ 218 h 550"/>
                <a:gd name="T8" fmla="*/ 882 w 971"/>
                <a:gd name="T9" fmla="*/ 261 h 550"/>
                <a:gd name="T10" fmla="*/ 791 w 971"/>
                <a:gd name="T11" fmla="*/ 294 h 550"/>
                <a:gd name="T12" fmla="*/ 665 w 971"/>
                <a:gd name="T13" fmla="*/ 382 h 550"/>
                <a:gd name="T14" fmla="*/ 519 w 971"/>
                <a:gd name="T15" fmla="*/ 522 h 550"/>
                <a:gd name="T16" fmla="*/ 397 w 971"/>
                <a:gd name="T17" fmla="*/ 542 h 550"/>
                <a:gd name="T18" fmla="*/ 298 w 971"/>
                <a:gd name="T19" fmla="*/ 550 h 550"/>
                <a:gd name="T20" fmla="*/ 155 w 971"/>
                <a:gd name="T21" fmla="*/ 522 h 550"/>
                <a:gd name="T22" fmla="*/ 34 w 971"/>
                <a:gd name="T23" fmla="*/ 459 h 550"/>
                <a:gd name="T24" fmla="*/ 0 w 971"/>
                <a:gd name="T25" fmla="*/ 393 h 550"/>
                <a:gd name="T26" fmla="*/ 11 w 971"/>
                <a:gd name="T27" fmla="*/ 315 h 550"/>
                <a:gd name="T28" fmla="*/ 63 w 971"/>
                <a:gd name="T29" fmla="*/ 210 h 550"/>
                <a:gd name="T30" fmla="*/ 142 w 971"/>
                <a:gd name="T31" fmla="*/ 147 h 550"/>
                <a:gd name="T32" fmla="*/ 246 w 971"/>
                <a:gd name="T33" fmla="*/ 89 h 550"/>
                <a:gd name="T34" fmla="*/ 445 w 971"/>
                <a:gd name="T35" fmla="*/ 21 h 550"/>
                <a:gd name="T36" fmla="*/ 634 w 971"/>
                <a:gd name="T37" fmla="*/ 0 h 550"/>
                <a:gd name="T38" fmla="*/ 794 w 971"/>
                <a:gd name="T39" fmla="*/ 13 h 550"/>
                <a:gd name="T40" fmla="*/ 886 w 971"/>
                <a:gd name="T41" fmla="*/ 33 h 550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60000 65536"/>
                <a:gd name="T55" fmla="*/ 0 60000 65536"/>
                <a:gd name="T56" fmla="*/ 0 60000 65536"/>
                <a:gd name="T57" fmla="*/ 0 60000 65536"/>
                <a:gd name="T58" fmla="*/ 0 60000 65536"/>
                <a:gd name="T59" fmla="*/ 0 60000 65536"/>
                <a:gd name="T60" fmla="*/ 0 60000 65536"/>
                <a:gd name="T61" fmla="*/ 0 60000 65536"/>
                <a:gd name="T62" fmla="*/ 0 60000 65536"/>
                <a:gd name="T63" fmla="*/ 0 w 971"/>
                <a:gd name="T64" fmla="*/ 0 h 550"/>
                <a:gd name="T65" fmla="*/ 971 w 971"/>
                <a:gd name="T66" fmla="*/ 550 h 550"/>
              </a:gdLst>
              <a:ahLst/>
              <a:cxnLst>
                <a:cxn ang="T42">
                  <a:pos x="T0" y="T1"/>
                </a:cxn>
                <a:cxn ang="T43">
                  <a:pos x="T2" y="T3"/>
                </a:cxn>
                <a:cxn ang="T44">
                  <a:pos x="T4" y="T5"/>
                </a:cxn>
                <a:cxn ang="T45">
                  <a:pos x="T6" y="T7"/>
                </a:cxn>
                <a:cxn ang="T46">
                  <a:pos x="T8" y="T9"/>
                </a:cxn>
                <a:cxn ang="T47">
                  <a:pos x="T10" y="T11"/>
                </a:cxn>
                <a:cxn ang="T48">
                  <a:pos x="T12" y="T13"/>
                </a:cxn>
                <a:cxn ang="T49">
                  <a:pos x="T14" y="T15"/>
                </a:cxn>
                <a:cxn ang="T50">
                  <a:pos x="T16" y="T17"/>
                </a:cxn>
                <a:cxn ang="T51">
                  <a:pos x="T18" y="T19"/>
                </a:cxn>
                <a:cxn ang="T52">
                  <a:pos x="T20" y="T21"/>
                </a:cxn>
                <a:cxn ang="T53">
                  <a:pos x="T22" y="T23"/>
                </a:cxn>
                <a:cxn ang="T54">
                  <a:pos x="T24" y="T25"/>
                </a:cxn>
                <a:cxn ang="T55">
                  <a:pos x="T26" y="T27"/>
                </a:cxn>
                <a:cxn ang="T56">
                  <a:pos x="T28" y="T29"/>
                </a:cxn>
                <a:cxn ang="T57">
                  <a:pos x="T30" y="T31"/>
                </a:cxn>
                <a:cxn ang="T58">
                  <a:pos x="T32" y="T33"/>
                </a:cxn>
                <a:cxn ang="T59">
                  <a:pos x="T34" y="T35"/>
                </a:cxn>
                <a:cxn ang="T60">
                  <a:pos x="T36" y="T37"/>
                </a:cxn>
                <a:cxn ang="T61">
                  <a:pos x="T38" y="T39"/>
                </a:cxn>
                <a:cxn ang="T62">
                  <a:pos x="T40" y="T41"/>
                </a:cxn>
              </a:cxnLst>
              <a:rect l="T63" t="T64" r="T65" b="T66"/>
              <a:pathLst>
                <a:path w="971" h="550">
                  <a:moveTo>
                    <a:pt x="886" y="33"/>
                  </a:moveTo>
                  <a:lnTo>
                    <a:pt x="937" y="70"/>
                  </a:lnTo>
                  <a:lnTo>
                    <a:pt x="971" y="130"/>
                  </a:lnTo>
                  <a:lnTo>
                    <a:pt x="967" y="218"/>
                  </a:lnTo>
                  <a:lnTo>
                    <a:pt x="882" y="261"/>
                  </a:lnTo>
                  <a:lnTo>
                    <a:pt x="791" y="294"/>
                  </a:lnTo>
                  <a:lnTo>
                    <a:pt x="665" y="382"/>
                  </a:lnTo>
                  <a:lnTo>
                    <a:pt x="519" y="522"/>
                  </a:lnTo>
                  <a:lnTo>
                    <a:pt x="397" y="542"/>
                  </a:lnTo>
                  <a:lnTo>
                    <a:pt x="298" y="550"/>
                  </a:lnTo>
                  <a:lnTo>
                    <a:pt x="155" y="522"/>
                  </a:lnTo>
                  <a:lnTo>
                    <a:pt x="34" y="459"/>
                  </a:lnTo>
                  <a:lnTo>
                    <a:pt x="0" y="393"/>
                  </a:lnTo>
                  <a:lnTo>
                    <a:pt x="11" y="315"/>
                  </a:lnTo>
                  <a:lnTo>
                    <a:pt x="63" y="210"/>
                  </a:lnTo>
                  <a:lnTo>
                    <a:pt x="142" y="147"/>
                  </a:lnTo>
                  <a:lnTo>
                    <a:pt x="246" y="89"/>
                  </a:lnTo>
                  <a:lnTo>
                    <a:pt x="445" y="21"/>
                  </a:lnTo>
                  <a:lnTo>
                    <a:pt x="634" y="0"/>
                  </a:lnTo>
                  <a:lnTo>
                    <a:pt x="794" y="13"/>
                  </a:lnTo>
                  <a:lnTo>
                    <a:pt x="886" y="33"/>
                  </a:lnTo>
                  <a:close/>
                </a:path>
              </a:pathLst>
            </a:custGeom>
            <a:gradFill rotWithShape="1">
              <a:gsLst>
                <a:gs pos="0">
                  <a:srgbClr val="EAEAEA"/>
                </a:gs>
                <a:gs pos="50000">
                  <a:srgbClr val="FFFFFF"/>
                </a:gs>
                <a:gs pos="100000">
                  <a:srgbClr val="EAEAEA"/>
                </a:gs>
              </a:gsLst>
              <a:lin ang="2700000" scaled="1"/>
            </a:gradFill>
            <a:ln w="9525">
              <a:solidFill>
                <a:srgbClr val="808080"/>
              </a:solidFill>
              <a:round/>
              <a:headEnd/>
              <a:tailEnd/>
            </a:ln>
          </p:spPr>
          <p:txBody>
            <a:bodyPr/>
            <a:lstStyle/>
            <a:p>
              <a:pPr>
                <a:defRPr/>
              </a:pPr>
              <a:endParaRPr lang="ko-KR" altLang="en-US" sz="1662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8" name="Freeform 176"/>
            <p:cNvSpPr>
              <a:spLocks/>
            </p:cNvSpPr>
            <p:nvPr/>
          </p:nvSpPr>
          <p:spPr bwMode="auto">
            <a:xfrm rot="355818">
              <a:off x="2229133" y="4830375"/>
              <a:ext cx="134281" cy="57998"/>
            </a:xfrm>
            <a:custGeom>
              <a:avLst/>
              <a:gdLst>
                <a:gd name="T0" fmla="*/ 0 w 1432"/>
                <a:gd name="T1" fmla="*/ 0 h 526"/>
                <a:gd name="T2" fmla="*/ 56 w 1432"/>
                <a:gd name="T3" fmla="*/ 118 h 526"/>
                <a:gd name="T4" fmla="*/ 319 w 1432"/>
                <a:gd name="T5" fmla="*/ 302 h 526"/>
                <a:gd name="T6" fmla="*/ 604 w 1432"/>
                <a:gd name="T7" fmla="*/ 448 h 526"/>
                <a:gd name="T8" fmla="*/ 867 w 1432"/>
                <a:gd name="T9" fmla="*/ 526 h 526"/>
                <a:gd name="T10" fmla="*/ 1091 w 1432"/>
                <a:gd name="T11" fmla="*/ 504 h 526"/>
                <a:gd name="T12" fmla="*/ 1270 w 1432"/>
                <a:gd name="T13" fmla="*/ 448 h 526"/>
                <a:gd name="T14" fmla="*/ 1432 w 1432"/>
                <a:gd name="T15" fmla="*/ 353 h 526"/>
                <a:gd name="T16" fmla="*/ 1253 w 1432"/>
                <a:gd name="T17" fmla="*/ 431 h 526"/>
                <a:gd name="T18" fmla="*/ 1108 w 1432"/>
                <a:gd name="T19" fmla="*/ 470 h 526"/>
                <a:gd name="T20" fmla="*/ 951 w 1432"/>
                <a:gd name="T21" fmla="*/ 470 h 526"/>
                <a:gd name="T22" fmla="*/ 789 w 1432"/>
                <a:gd name="T23" fmla="*/ 453 h 526"/>
                <a:gd name="T24" fmla="*/ 699 w 1432"/>
                <a:gd name="T25" fmla="*/ 420 h 526"/>
                <a:gd name="T26" fmla="*/ 560 w 1432"/>
                <a:gd name="T27" fmla="*/ 330 h 526"/>
                <a:gd name="T28" fmla="*/ 437 w 1432"/>
                <a:gd name="T29" fmla="*/ 213 h 526"/>
                <a:gd name="T30" fmla="*/ 274 w 1432"/>
                <a:gd name="T31" fmla="*/ 129 h 526"/>
                <a:gd name="T32" fmla="*/ 140 w 1432"/>
                <a:gd name="T33" fmla="*/ 73 h 526"/>
                <a:gd name="T34" fmla="*/ 0 w 1432"/>
                <a:gd name="T35" fmla="*/ 0 h 526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w 1432"/>
                <a:gd name="T55" fmla="*/ 0 h 526"/>
                <a:gd name="T56" fmla="*/ 1432 w 1432"/>
                <a:gd name="T57" fmla="*/ 526 h 526"/>
              </a:gdLst>
              <a:ahLst/>
              <a:cxnLst>
                <a:cxn ang="T36">
                  <a:pos x="T0" y="T1"/>
                </a:cxn>
                <a:cxn ang="T37">
                  <a:pos x="T2" y="T3"/>
                </a:cxn>
                <a:cxn ang="T38">
                  <a:pos x="T4" y="T5"/>
                </a:cxn>
                <a:cxn ang="T39">
                  <a:pos x="T6" y="T7"/>
                </a:cxn>
                <a:cxn ang="T40">
                  <a:pos x="T8" y="T9"/>
                </a:cxn>
                <a:cxn ang="T41">
                  <a:pos x="T10" y="T11"/>
                </a:cxn>
                <a:cxn ang="T42">
                  <a:pos x="T12" y="T13"/>
                </a:cxn>
                <a:cxn ang="T43">
                  <a:pos x="T14" y="T15"/>
                </a:cxn>
                <a:cxn ang="T44">
                  <a:pos x="T16" y="T17"/>
                </a:cxn>
                <a:cxn ang="T45">
                  <a:pos x="T18" y="T19"/>
                </a:cxn>
                <a:cxn ang="T46">
                  <a:pos x="T20" y="T21"/>
                </a:cxn>
                <a:cxn ang="T47">
                  <a:pos x="T22" y="T23"/>
                </a:cxn>
                <a:cxn ang="T48">
                  <a:pos x="T24" y="T25"/>
                </a:cxn>
                <a:cxn ang="T49">
                  <a:pos x="T26" y="T27"/>
                </a:cxn>
                <a:cxn ang="T50">
                  <a:pos x="T28" y="T29"/>
                </a:cxn>
                <a:cxn ang="T51">
                  <a:pos x="T30" y="T31"/>
                </a:cxn>
                <a:cxn ang="T52">
                  <a:pos x="T32" y="T33"/>
                </a:cxn>
                <a:cxn ang="T53">
                  <a:pos x="T34" y="T35"/>
                </a:cxn>
              </a:cxnLst>
              <a:rect l="T54" t="T55" r="T56" b="T57"/>
              <a:pathLst>
                <a:path w="1432" h="526">
                  <a:moveTo>
                    <a:pt x="0" y="0"/>
                  </a:moveTo>
                  <a:lnTo>
                    <a:pt x="56" y="118"/>
                  </a:lnTo>
                  <a:lnTo>
                    <a:pt x="319" y="302"/>
                  </a:lnTo>
                  <a:lnTo>
                    <a:pt x="604" y="448"/>
                  </a:lnTo>
                  <a:lnTo>
                    <a:pt x="867" y="526"/>
                  </a:lnTo>
                  <a:lnTo>
                    <a:pt x="1091" y="504"/>
                  </a:lnTo>
                  <a:lnTo>
                    <a:pt x="1270" y="448"/>
                  </a:lnTo>
                  <a:lnTo>
                    <a:pt x="1432" y="353"/>
                  </a:lnTo>
                  <a:lnTo>
                    <a:pt x="1253" y="431"/>
                  </a:lnTo>
                  <a:lnTo>
                    <a:pt x="1108" y="470"/>
                  </a:lnTo>
                  <a:lnTo>
                    <a:pt x="951" y="470"/>
                  </a:lnTo>
                  <a:lnTo>
                    <a:pt x="789" y="453"/>
                  </a:lnTo>
                  <a:lnTo>
                    <a:pt x="699" y="420"/>
                  </a:lnTo>
                  <a:lnTo>
                    <a:pt x="560" y="330"/>
                  </a:lnTo>
                  <a:lnTo>
                    <a:pt x="437" y="213"/>
                  </a:lnTo>
                  <a:lnTo>
                    <a:pt x="274" y="129"/>
                  </a:lnTo>
                  <a:lnTo>
                    <a:pt x="140" y="73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969696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rgbClr val="808080"/>
              </a:solidFill>
              <a:round/>
              <a:headEnd/>
              <a:tailEnd/>
            </a:ln>
          </p:spPr>
          <p:txBody>
            <a:bodyPr/>
            <a:lstStyle/>
            <a:p>
              <a:pPr>
                <a:defRPr/>
              </a:pPr>
              <a:endParaRPr lang="ko-KR" altLang="en-US" sz="1662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9" name="Freeform 177"/>
            <p:cNvSpPr>
              <a:spLocks/>
            </p:cNvSpPr>
            <p:nvPr/>
          </p:nvSpPr>
          <p:spPr bwMode="auto">
            <a:xfrm rot="355818" flipH="1">
              <a:off x="2263057" y="4797457"/>
              <a:ext cx="31097" cy="39189"/>
            </a:xfrm>
            <a:custGeom>
              <a:avLst/>
              <a:gdLst>
                <a:gd name="T0" fmla="*/ 229 w 229"/>
                <a:gd name="T1" fmla="*/ 261 h 261"/>
                <a:gd name="T2" fmla="*/ 115 w 229"/>
                <a:gd name="T3" fmla="*/ 57 h 261"/>
                <a:gd name="T4" fmla="*/ 0 w 229"/>
                <a:gd name="T5" fmla="*/ 0 h 261"/>
                <a:gd name="T6" fmla="*/ 0 60000 65536"/>
                <a:gd name="T7" fmla="*/ 0 60000 65536"/>
                <a:gd name="T8" fmla="*/ 0 60000 65536"/>
                <a:gd name="T9" fmla="*/ 0 w 229"/>
                <a:gd name="T10" fmla="*/ 0 h 261"/>
                <a:gd name="T11" fmla="*/ 229 w 229"/>
                <a:gd name="T12" fmla="*/ 261 h 261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229" h="261">
                  <a:moveTo>
                    <a:pt x="229" y="261"/>
                  </a:moveTo>
                  <a:lnTo>
                    <a:pt x="115" y="57"/>
                  </a:lnTo>
                  <a:lnTo>
                    <a:pt x="0" y="0"/>
                  </a:lnTo>
                </a:path>
              </a:pathLst>
            </a:custGeom>
            <a:noFill/>
            <a:ln w="19050">
              <a:solidFill>
                <a:srgbClr val="B2B2B2"/>
              </a:solidFill>
              <a:round/>
              <a:headEnd/>
              <a:tailEnd/>
            </a:ln>
          </p:spPr>
          <p:txBody>
            <a:bodyPr/>
            <a:lstStyle/>
            <a:p>
              <a:pPr>
                <a:defRPr/>
              </a:pPr>
              <a:endParaRPr lang="ko-KR" altLang="en-US" sz="1662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10" name="Freeform 178"/>
            <p:cNvSpPr>
              <a:spLocks/>
            </p:cNvSpPr>
            <p:nvPr/>
          </p:nvSpPr>
          <p:spPr bwMode="auto">
            <a:xfrm rot="355818">
              <a:off x="2247508" y="4795890"/>
              <a:ext cx="43819" cy="7837"/>
            </a:xfrm>
            <a:custGeom>
              <a:avLst/>
              <a:gdLst>
                <a:gd name="T0" fmla="*/ 0 w 560"/>
                <a:gd name="T1" fmla="*/ 79 h 79"/>
                <a:gd name="T2" fmla="*/ 246 w 560"/>
                <a:gd name="T3" fmla="*/ 26 h 79"/>
                <a:gd name="T4" fmla="*/ 408 w 560"/>
                <a:gd name="T5" fmla="*/ 0 h 79"/>
                <a:gd name="T6" fmla="*/ 560 w 560"/>
                <a:gd name="T7" fmla="*/ 26 h 79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560"/>
                <a:gd name="T13" fmla="*/ 0 h 79"/>
                <a:gd name="T14" fmla="*/ 560 w 560"/>
                <a:gd name="T15" fmla="*/ 79 h 79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560" h="79">
                  <a:moveTo>
                    <a:pt x="0" y="79"/>
                  </a:moveTo>
                  <a:lnTo>
                    <a:pt x="246" y="26"/>
                  </a:lnTo>
                  <a:lnTo>
                    <a:pt x="408" y="0"/>
                  </a:lnTo>
                  <a:lnTo>
                    <a:pt x="560" y="26"/>
                  </a:lnTo>
                </a:path>
              </a:pathLst>
            </a:custGeom>
            <a:noFill/>
            <a:ln w="9525">
              <a:solidFill>
                <a:srgbClr val="969696"/>
              </a:solidFill>
              <a:round/>
              <a:headEnd/>
              <a:tailEnd/>
            </a:ln>
          </p:spPr>
          <p:txBody>
            <a:bodyPr/>
            <a:lstStyle/>
            <a:p>
              <a:pPr>
                <a:defRPr/>
              </a:pPr>
              <a:endParaRPr lang="ko-KR" altLang="en-US" sz="1662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11" name="Oval 179"/>
            <p:cNvSpPr>
              <a:spLocks noChangeArrowheads="1"/>
            </p:cNvSpPr>
            <p:nvPr/>
          </p:nvSpPr>
          <p:spPr bwMode="auto">
            <a:xfrm rot="21219751">
              <a:off x="2267297" y="4792755"/>
              <a:ext cx="18376" cy="9405"/>
            </a:xfrm>
            <a:prstGeom prst="ellipse">
              <a:avLst/>
            </a:prstGeom>
            <a:solidFill>
              <a:srgbClr val="969696"/>
            </a:solidFill>
            <a:ln w="9525">
              <a:solidFill>
                <a:srgbClr val="969696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>
                <a:defRPr/>
              </a:pPr>
              <a:endParaRPr lang="ko-KR" altLang="en-US" sz="1662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12" name="Freeform 180"/>
            <p:cNvSpPr>
              <a:spLocks/>
            </p:cNvSpPr>
            <p:nvPr/>
          </p:nvSpPr>
          <p:spPr bwMode="auto">
            <a:xfrm rot="355818">
              <a:off x="2239027" y="4799025"/>
              <a:ext cx="35338" cy="32918"/>
            </a:xfrm>
            <a:custGeom>
              <a:avLst/>
              <a:gdLst>
                <a:gd name="T0" fmla="*/ 98 w 482"/>
                <a:gd name="T1" fmla="*/ 36 h 367"/>
                <a:gd name="T2" fmla="*/ 320 w 482"/>
                <a:gd name="T3" fmla="*/ 0 h 367"/>
                <a:gd name="T4" fmla="*/ 367 w 482"/>
                <a:gd name="T5" fmla="*/ 26 h 367"/>
                <a:gd name="T6" fmla="*/ 445 w 482"/>
                <a:gd name="T7" fmla="*/ 26 h 367"/>
                <a:gd name="T8" fmla="*/ 482 w 482"/>
                <a:gd name="T9" fmla="*/ 42 h 367"/>
                <a:gd name="T10" fmla="*/ 278 w 482"/>
                <a:gd name="T11" fmla="*/ 367 h 367"/>
                <a:gd name="T12" fmla="*/ 5 w 482"/>
                <a:gd name="T13" fmla="*/ 262 h 367"/>
                <a:gd name="T14" fmla="*/ 0 w 482"/>
                <a:gd name="T15" fmla="*/ 157 h 367"/>
                <a:gd name="T16" fmla="*/ 42 w 482"/>
                <a:gd name="T17" fmla="*/ 74 h 367"/>
                <a:gd name="T18" fmla="*/ 98 w 482"/>
                <a:gd name="T19" fmla="*/ 36 h 367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w 482"/>
                <a:gd name="T31" fmla="*/ 0 h 367"/>
                <a:gd name="T32" fmla="*/ 482 w 482"/>
                <a:gd name="T33" fmla="*/ 367 h 367"/>
              </a:gdLst>
              <a:ahLst/>
              <a:cxnLst>
                <a:cxn ang="T20">
                  <a:pos x="T0" y="T1"/>
                </a:cxn>
                <a:cxn ang="T21">
                  <a:pos x="T2" y="T3"/>
                </a:cxn>
                <a:cxn ang="T22">
                  <a:pos x="T4" y="T5"/>
                </a:cxn>
                <a:cxn ang="T23">
                  <a:pos x="T6" y="T7"/>
                </a:cxn>
                <a:cxn ang="T24">
                  <a:pos x="T8" y="T9"/>
                </a:cxn>
                <a:cxn ang="T25">
                  <a:pos x="T10" y="T11"/>
                </a:cxn>
                <a:cxn ang="T26">
                  <a:pos x="T12" y="T13"/>
                </a:cxn>
                <a:cxn ang="T27">
                  <a:pos x="T14" y="T15"/>
                </a:cxn>
                <a:cxn ang="T28">
                  <a:pos x="T16" y="T17"/>
                </a:cxn>
                <a:cxn ang="T29">
                  <a:pos x="T18" y="T19"/>
                </a:cxn>
              </a:cxnLst>
              <a:rect l="T30" t="T31" r="T32" b="T33"/>
              <a:pathLst>
                <a:path w="482" h="367">
                  <a:moveTo>
                    <a:pt x="98" y="36"/>
                  </a:moveTo>
                  <a:lnTo>
                    <a:pt x="320" y="0"/>
                  </a:lnTo>
                  <a:lnTo>
                    <a:pt x="367" y="26"/>
                  </a:lnTo>
                  <a:lnTo>
                    <a:pt x="445" y="26"/>
                  </a:lnTo>
                  <a:lnTo>
                    <a:pt x="482" y="42"/>
                  </a:lnTo>
                  <a:lnTo>
                    <a:pt x="278" y="367"/>
                  </a:lnTo>
                  <a:lnTo>
                    <a:pt x="5" y="262"/>
                  </a:lnTo>
                  <a:lnTo>
                    <a:pt x="0" y="157"/>
                  </a:lnTo>
                  <a:lnTo>
                    <a:pt x="42" y="74"/>
                  </a:lnTo>
                  <a:lnTo>
                    <a:pt x="98" y="36"/>
                  </a:lnTo>
                  <a:close/>
                </a:path>
              </a:pathLst>
            </a:custGeom>
            <a:noFill/>
            <a:ln w="9525">
              <a:solidFill>
                <a:srgbClr val="969696"/>
              </a:solidFill>
              <a:round/>
              <a:headEnd/>
              <a:tailEnd/>
            </a:ln>
          </p:spPr>
          <p:txBody>
            <a:bodyPr/>
            <a:lstStyle/>
            <a:p>
              <a:pPr>
                <a:defRPr/>
              </a:pPr>
              <a:endParaRPr lang="ko-KR" altLang="en-US" sz="1662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13" name="Freeform 182"/>
            <p:cNvSpPr>
              <a:spLocks/>
            </p:cNvSpPr>
            <p:nvPr/>
          </p:nvSpPr>
          <p:spPr bwMode="auto">
            <a:xfrm flipH="1">
              <a:off x="1772486" y="4767326"/>
              <a:ext cx="178189" cy="328308"/>
            </a:xfrm>
            <a:custGeom>
              <a:avLst/>
              <a:gdLst>
                <a:gd name="T0" fmla="*/ 933 w 933"/>
                <a:gd name="T1" fmla="*/ 135 h 352"/>
                <a:gd name="T2" fmla="*/ 932 w 933"/>
                <a:gd name="T3" fmla="*/ 171 h 352"/>
                <a:gd name="T4" fmla="*/ 762 w 933"/>
                <a:gd name="T5" fmla="*/ 352 h 352"/>
                <a:gd name="T6" fmla="*/ 4 w 933"/>
                <a:gd name="T7" fmla="*/ 195 h 352"/>
                <a:gd name="T8" fmla="*/ 0 w 933"/>
                <a:gd name="T9" fmla="*/ 148 h 352"/>
                <a:gd name="T10" fmla="*/ 244 w 933"/>
                <a:gd name="T11" fmla="*/ 0 h 352"/>
                <a:gd name="T12" fmla="*/ 933 w 933"/>
                <a:gd name="T13" fmla="*/ 135 h 352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933"/>
                <a:gd name="T22" fmla="*/ 0 h 352"/>
                <a:gd name="T23" fmla="*/ 933 w 933"/>
                <a:gd name="T24" fmla="*/ 352 h 352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933" h="352">
                  <a:moveTo>
                    <a:pt x="933" y="135"/>
                  </a:moveTo>
                  <a:lnTo>
                    <a:pt x="932" y="171"/>
                  </a:lnTo>
                  <a:lnTo>
                    <a:pt x="762" y="352"/>
                  </a:lnTo>
                  <a:lnTo>
                    <a:pt x="4" y="195"/>
                  </a:lnTo>
                  <a:lnTo>
                    <a:pt x="0" y="148"/>
                  </a:lnTo>
                  <a:lnTo>
                    <a:pt x="244" y="0"/>
                  </a:lnTo>
                  <a:lnTo>
                    <a:pt x="933" y="135"/>
                  </a:lnTo>
                  <a:close/>
                </a:path>
              </a:pathLst>
            </a:custGeom>
            <a:gradFill rotWithShape="0">
              <a:gsLst>
                <a:gs pos="0">
                  <a:srgbClr val="DDDDDD"/>
                </a:gs>
                <a:gs pos="100000">
                  <a:srgbClr val="F3F3F3"/>
                </a:gs>
              </a:gsLst>
              <a:lin ang="0" scaled="1"/>
            </a:gradFill>
            <a:ln w="6350">
              <a:solidFill>
                <a:srgbClr val="B2B2B2"/>
              </a:solidFill>
              <a:round/>
              <a:headEnd/>
              <a:tailEnd/>
            </a:ln>
          </p:spPr>
          <p:txBody>
            <a:bodyPr wrap="none" tIns="25322" bIns="25322" anchor="ctr">
              <a:spAutoFit/>
            </a:bodyPr>
            <a:lstStyle/>
            <a:p>
              <a:pPr>
                <a:defRPr/>
              </a:pPr>
              <a:endParaRPr lang="ko-KR" altLang="en-US" sz="1662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14" name="Freeform 183"/>
            <p:cNvSpPr>
              <a:spLocks/>
            </p:cNvSpPr>
            <p:nvPr/>
          </p:nvSpPr>
          <p:spPr bwMode="auto">
            <a:xfrm flipH="1">
              <a:off x="1786619" y="4752436"/>
              <a:ext cx="178189" cy="328308"/>
            </a:xfrm>
            <a:custGeom>
              <a:avLst/>
              <a:gdLst>
                <a:gd name="T0" fmla="*/ 895 w 895"/>
                <a:gd name="T1" fmla="*/ 133 h 294"/>
                <a:gd name="T2" fmla="*/ 232 w 895"/>
                <a:gd name="T3" fmla="*/ 0 h 294"/>
                <a:gd name="T4" fmla="*/ 0 w 895"/>
                <a:gd name="T5" fmla="*/ 143 h 294"/>
                <a:gd name="T6" fmla="*/ 739 w 895"/>
                <a:gd name="T7" fmla="*/ 294 h 294"/>
                <a:gd name="T8" fmla="*/ 895 w 895"/>
                <a:gd name="T9" fmla="*/ 133 h 294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895"/>
                <a:gd name="T16" fmla="*/ 0 h 294"/>
                <a:gd name="T17" fmla="*/ 895 w 895"/>
                <a:gd name="T18" fmla="*/ 294 h 294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895" h="294">
                  <a:moveTo>
                    <a:pt x="895" y="133"/>
                  </a:moveTo>
                  <a:lnTo>
                    <a:pt x="232" y="0"/>
                  </a:lnTo>
                  <a:lnTo>
                    <a:pt x="0" y="143"/>
                  </a:lnTo>
                  <a:lnTo>
                    <a:pt x="739" y="294"/>
                  </a:lnTo>
                  <a:lnTo>
                    <a:pt x="895" y="133"/>
                  </a:lnTo>
                  <a:close/>
                </a:path>
              </a:pathLst>
            </a:custGeom>
            <a:solidFill>
              <a:srgbClr val="FFFFFF"/>
            </a:solidFill>
            <a:ln w="3175">
              <a:solidFill>
                <a:srgbClr val="B2B2B2"/>
              </a:solidFill>
              <a:round/>
              <a:headEnd/>
              <a:tailEnd/>
            </a:ln>
          </p:spPr>
          <p:txBody>
            <a:bodyPr wrap="none" tIns="25322" bIns="25322" anchor="ctr">
              <a:spAutoFit/>
            </a:bodyPr>
            <a:lstStyle/>
            <a:p>
              <a:pPr>
                <a:defRPr/>
              </a:pPr>
              <a:endParaRPr lang="ko-KR" altLang="en-US" sz="1662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15" name="Freeform 184"/>
            <p:cNvSpPr>
              <a:spLocks/>
            </p:cNvSpPr>
            <p:nvPr/>
          </p:nvSpPr>
          <p:spPr bwMode="auto">
            <a:xfrm flipH="1">
              <a:off x="1799431" y="4828807"/>
              <a:ext cx="343478" cy="84647"/>
            </a:xfrm>
            <a:custGeom>
              <a:avLst/>
              <a:gdLst>
                <a:gd name="T0" fmla="*/ 0 w 531"/>
                <a:gd name="T1" fmla="*/ 15 h 118"/>
                <a:gd name="T2" fmla="*/ 508 w 531"/>
                <a:gd name="T3" fmla="*/ 118 h 118"/>
                <a:gd name="T4" fmla="*/ 531 w 531"/>
                <a:gd name="T5" fmla="*/ 103 h 118"/>
                <a:gd name="T6" fmla="*/ 23 w 531"/>
                <a:gd name="T7" fmla="*/ 0 h 118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531"/>
                <a:gd name="T13" fmla="*/ 0 h 118"/>
                <a:gd name="T14" fmla="*/ 531 w 531"/>
                <a:gd name="T15" fmla="*/ 118 h 118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531" h="118">
                  <a:moveTo>
                    <a:pt x="0" y="15"/>
                  </a:moveTo>
                  <a:lnTo>
                    <a:pt x="508" y="118"/>
                  </a:lnTo>
                  <a:lnTo>
                    <a:pt x="531" y="103"/>
                  </a:lnTo>
                  <a:lnTo>
                    <a:pt x="23" y="0"/>
                  </a:lnTo>
                </a:path>
              </a:pathLst>
            </a:custGeom>
            <a:solidFill>
              <a:srgbClr val="DDDDDD"/>
            </a:solidFill>
            <a:ln w="12700" cap="rnd">
              <a:solidFill>
                <a:srgbClr val="EAEAEA"/>
              </a:solidFill>
              <a:round/>
              <a:headEnd/>
              <a:tailEnd/>
            </a:ln>
          </p:spPr>
          <p:txBody>
            <a:bodyPr/>
            <a:lstStyle/>
            <a:p>
              <a:pPr>
                <a:defRPr/>
              </a:pPr>
              <a:endParaRPr lang="ko-KR" altLang="en-US" sz="1662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16" name="Freeform 185"/>
            <p:cNvSpPr>
              <a:spLocks/>
            </p:cNvSpPr>
            <p:nvPr/>
          </p:nvSpPr>
          <p:spPr bwMode="auto">
            <a:xfrm flipH="1">
              <a:off x="1885654" y="4850753"/>
              <a:ext cx="356200" cy="112862"/>
            </a:xfrm>
            <a:custGeom>
              <a:avLst/>
              <a:gdLst>
                <a:gd name="T0" fmla="*/ 0 w 548"/>
                <a:gd name="T1" fmla="*/ 74 h 159"/>
                <a:gd name="T2" fmla="*/ 31 w 548"/>
                <a:gd name="T3" fmla="*/ 78 h 159"/>
                <a:gd name="T4" fmla="*/ 57 w 548"/>
                <a:gd name="T5" fmla="*/ 66 h 159"/>
                <a:gd name="T6" fmla="*/ 76 w 548"/>
                <a:gd name="T7" fmla="*/ 71 h 159"/>
                <a:gd name="T8" fmla="*/ 58 w 548"/>
                <a:gd name="T9" fmla="*/ 81 h 159"/>
                <a:gd name="T10" fmla="*/ 451 w 548"/>
                <a:gd name="T11" fmla="*/ 159 h 159"/>
                <a:gd name="T12" fmla="*/ 548 w 548"/>
                <a:gd name="T13" fmla="*/ 84 h 159"/>
                <a:gd name="T14" fmla="*/ 130 w 548"/>
                <a:gd name="T15" fmla="*/ 0 h 159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548"/>
                <a:gd name="T25" fmla="*/ 0 h 159"/>
                <a:gd name="T26" fmla="*/ 548 w 548"/>
                <a:gd name="T27" fmla="*/ 159 h 159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548" h="159">
                  <a:moveTo>
                    <a:pt x="0" y="74"/>
                  </a:moveTo>
                  <a:lnTo>
                    <a:pt x="31" y="78"/>
                  </a:lnTo>
                  <a:lnTo>
                    <a:pt x="57" y="66"/>
                  </a:lnTo>
                  <a:lnTo>
                    <a:pt x="76" y="71"/>
                  </a:lnTo>
                  <a:lnTo>
                    <a:pt x="58" y="81"/>
                  </a:lnTo>
                  <a:lnTo>
                    <a:pt x="451" y="159"/>
                  </a:lnTo>
                  <a:lnTo>
                    <a:pt x="548" y="84"/>
                  </a:lnTo>
                  <a:lnTo>
                    <a:pt x="130" y="0"/>
                  </a:lnTo>
                </a:path>
              </a:pathLst>
            </a:custGeom>
            <a:solidFill>
              <a:srgbClr val="DDDDDD"/>
            </a:solidFill>
            <a:ln w="12700" cap="rnd">
              <a:solidFill>
                <a:srgbClr val="EAEAEA"/>
              </a:solidFill>
              <a:round/>
              <a:headEnd/>
              <a:tailEnd/>
            </a:ln>
          </p:spPr>
          <p:txBody>
            <a:bodyPr/>
            <a:lstStyle/>
            <a:p>
              <a:pPr>
                <a:defRPr/>
              </a:pPr>
              <a:endParaRPr lang="ko-KR" altLang="en-US" sz="1662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17" name="Freeform 186"/>
            <p:cNvSpPr>
              <a:spLocks/>
            </p:cNvSpPr>
            <p:nvPr/>
          </p:nvSpPr>
          <p:spPr bwMode="auto">
            <a:xfrm flipH="1">
              <a:off x="1819220" y="4915022"/>
              <a:ext cx="90463" cy="48593"/>
            </a:xfrm>
            <a:custGeom>
              <a:avLst/>
              <a:gdLst>
                <a:gd name="T0" fmla="*/ 73 w 140"/>
                <a:gd name="T1" fmla="*/ 0 h 70"/>
                <a:gd name="T2" fmla="*/ 140 w 140"/>
                <a:gd name="T3" fmla="*/ 11 h 70"/>
                <a:gd name="T4" fmla="*/ 75 w 140"/>
                <a:gd name="T5" fmla="*/ 70 h 70"/>
                <a:gd name="T6" fmla="*/ 0 w 140"/>
                <a:gd name="T7" fmla="*/ 56 h 70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140"/>
                <a:gd name="T13" fmla="*/ 0 h 70"/>
                <a:gd name="T14" fmla="*/ 140 w 140"/>
                <a:gd name="T15" fmla="*/ 70 h 70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140" h="70">
                  <a:moveTo>
                    <a:pt x="73" y="0"/>
                  </a:moveTo>
                  <a:lnTo>
                    <a:pt x="140" y="11"/>
                  </a:lnTo>
                  <a:lnTo>
                    <a:pt x="75" y="70"/>
                  </a:lnTo>
                  <a:lnTo>
                    <a:pt x="0" y="56"/>
                  </a:lnTo>
                </a:path>
              </a:pathLst>
            </a:custGeom>
            <a:solidFill>
              <a:srgbClr val="DDDDDD"/>
            </a:solidFill>
            <a:ln w="12700" cap="rnd">
              <a:solidFill>
                <a:srgbClr val="EAEAEA"/>
              </a:solidFill>
              <a:round/>
              <a:headEnd/>
              <a:tailEnd/>
            </a:ln>
          </p:spPr>
          <p:txBody>
            <a:bodyPr/>
            <a:lstStyle/>
            <a:p>
              <a:pPr>
                <a:defRPr/>
              </a:pPr>
              <a:endParaRPr lang="ko-KR" altLang="en-US" sz="1662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18" name="Freeform 187"/>
            <p:cNvSpPr>
              <a:spLocks/>
            </p:cNvSpPr>
            <p:nvPr/>
          </p:nvSpPr>
          <p:spPr bwMode="auto">
            <a:xfrm flipH="1">
              <a:off x="1754200" y="4925994"/>
              <a:ext cx="107425" cy="70539"/>
            </a:xfrm>
            <a:custGeom>
              <a:avLst/>
              <a:gdLst>
                <a:gd name="T0" fmla="*/ 87 w 167"/>
                <a:gd name="T1" fmla="*/ 0 h 101"/>
                <a:gd name="T2" fmla="*/ 167 w 167"/>
                <a:gd name="T3" fmla="*/ 15 h 101"/>
                <a:gd name="T4" fmla="*/ 81 w 167"/>
                <a:gd name="T5" fmla="*/ 101 h 101"/>
                <a:gd name="T6" fmla="*/ 0 w 167"/>
                <a:gd name="T7" fmla="*/ 83 h 101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167"/>
                <a:gd name="T13" fmla="*/ 0 h 101"/>
                <a:gd name="T14" fmla="*/ 167 w 167"/>
                <a:gd name="T15" fmla="*/ 101 h 101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167" h="101">
                  <a:moveTo>
                    <a:pt x="87" y="0"/>
                  </a:moveTo>
                  <a:lnTo>
                    <a:pt x="167" y="15"/>
                  </a:lnTo>
                  <a:lnTo>
                    <a:pt x="81" y="101"/>
                  </a:lnTo>
                  <a:lnTo>
                    <a:pt x="0" y="83"/>
                  </a:lnTo>
                </a:path>
              </a:pathLst>
            </a:custGeom>
            <a:solidFill>
              <a:srgbClr val="DDDDDD"/>
            </a:solidFill>
            <a:ln w="12700" cap="rnd">
              <a:solidFill>
                <a:srgbClr val="EAEAEA"/>
              </a:solidFill>
              <a:round/>
              <a:headEnd/>
              <a:tailEnd/>
            </a:ln>
          </p:spPr>
          <p:txBody>
            <a:bodyPr/>
            <a:lstStyle/>
            <a:p>
              <a:pPr>
                <a:defRPr/>
              </a:pPr>
              <a:endParaRPr lang="ko-KR" altLang="en-US" sz="1662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19" name="Freeform 189"/>
            <p:cNvSpPr>
              <a:spLocks noChangeAspect="1"/>
            </p:cNvSpPr>
            <p:nvPr/>
          </p:nvSpPr>
          <p:spPr bwMode="auto">
            <a:xfrm>
              <a:off x="1533695" y="4524706"/>
              <a:ext cx="144176" cy="352695"/>
            </a:xfrm>
            <a:custGeom>
              <a:avLst/>
              <a:gdLst/>
              <a:ahLst/>
              <a:cxnLst>
                <a:cxn ang="0">
                  <a:pos x="169" y="246"/>
                </a:cxn>
                <a:cxn ang="0">
                  <a:pos x="1" y="0"/>
                </a:cxn>
                <a:cxn ang="0">
                  <a:pos x="0" y="123"/>
                </a:cxn>
                <a:cxn ang="0">
                  <a:pos x="165" y="377"/>
                </a:cxn>
              </a:cxnLst>
              <a:rect l="0" t="0" r="r" b="b"/>
              <a:pathLst>
                <a:path w="169" h="377">
                  <a:moveTo>
                    <a:pt x="169" y="246"/>
                  </a:moveTo>
                  <a:lnTo>
                    <a:pt x="1" y="0"/>
                  </a:lnTo>
                  <a:lnTo>
                    <a:pt x="0" y="123"/>
                  </a:lnTo>
                  <a:lnTo>
                    <a:pt x="165" y="377"/>
                  </a:lnTo>
                </a:path>
              </a:pathLst>
            </a:custGeom>
            <a:gradFill rotWithShape="1">
              <a:gsLst>
                <a:gs pos="0">
                  <a:srgbClr val="EAEAEA"/>
                </a:gs>
                <a:gs pos="100000">
                  <a:srgbClr val="EAEAEA">
                    <a:gamma/>
                    <a:tint val="60784"/>
                    <a:invGamma/>
                  </a:srgbClr>
                </a:gs>
              </a:gsLst>
              <a:lin ang="0" scaled="1"/>
            </a:gradFill>
            <a:ln w="6350" cap="rnd" cmpd="sng">
              <a:solidFill>
                <a:srgbClr val="969696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pPr>
                <a:defRPr/>
              </a:pPr>
              <a:endParaRPr lang="ko-KR" altLang="en-US" sz="1662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0" name="Freeform 190"/>
            <p:cNvSpPr>
              <a:spLocks noChangeAspect="1"/>
            </p:cNvSpPr>
            <p:nvPr/>
          </p:nvSpPr>
          <p:spPr bwMode="auto">
            <a:xfrm>
              <a:off x="1536522" y="4465140"/>
              <a:ext cx="619109" cy="288426"/>
            </a:xfrm>
            <a:custGeom>
              <a:avLst/>
              <a:gdLst/>
              <a:ahLst/>
              <a:cxnLst>
                <a:cxn ang="0">
                  <a:pos x="166" y="310"/>
                </a:cxn>
                <a:cxn ang="0">
                  <a:pos x="718" y="211"/>
                </a:cxn>
                <a:cxn ang="0">
                  <a:pos x="444" y="0"/>
                </a:cxn>
                <a:cxn ang="0">
                  <a:pos x="0" y="64"/>
                </a:cxn>
                <a:cxn ang="0">
                  <a:pos x="166" y="310"/>
                </a:cxn>
              </a:cxnLst>
              <a:rect l="0" t="0" r="r" b="b"/>
              <a:pathLst>
                <a:path w="718" h="310">
                  <a:moveTo>
                    <a:pt x="166" y="310"/>
                  </a:moveTo>
                  <a:lnTo>
                    <a:pt x="718" y="211"/>
                  </a:lnTo>
                  <a:lnTo>
                    <a:pt x="444" y="0"/>
                  </a:lnTo>
                  <a:lnTo>
                    <a:pt x="0" y="64"/>
                  </a:lnTo>
                  <a:lnTo>
                    <a:pt x="166" y="310"/>
                  </a:lnTo>
                  <a:close/>
                </a:path>
              </a:pathLst>
            </a:custGeom>
            <a:solidFill>
              <a:srgbClr val="FFFFFF"/>
            </a:solidFill>
            <a:ln w="6350" cap="rnd" cmpd="sng">
              <a:solidFill>
                <a:srgbClr val="969696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pPr>
                <a:defRPr/>
              </a:pPr>
              <a:endParaRPr lang="ko-KR" altLang="en-US" sz="1662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1" name="Freeform 191"/>
            <p:cNvSpPr>
              <a:spLocks/>
            </p:cNvSpPr>
            <p:nvPr/>
          </p:nvSpPr>
          <p:spPr bwMode="auto">
            <a:xfrm>
              <a:off x="1672217" y="4661082"/>
              <a:ext cx="477760" cy="213184"/>
            </a:xfrm>
            <a:custGeom>
              <a:avLst/>
              <a:gdLst/>
              <a:ahLst/>
              <a:cxnLst>
                <a:cxn ang="0">
                  <a:pos x="6" y="99"/>
                </a:cxn>
                <a:cxn ang="0">
                  <a:pos x="557" y="0"/>
                </a:cxn>
                <a:cxn ang="0">
                  <a:pos x="549" y="121"/>
                </a:cxn>
                <a:cxn ang="0">
                  <a:pos x="0" y="228"/>
                </a:cxn>
                <a:cxn ang="0">
                  <a:pos x="6" y="99"/>
                </a:cxn>
              </a:cxnLst>
              <a:rect l="0" t="0" r="r" b="b"/>
              <a:pathLst>
                <a:path w="557" h="228">
                  <a:moveTo>
                    <a:pt x="6" y="99"/>
                  </a:moveTo>
                  <a:lnTo>
                    <a:pt x="557" y="0"/>
                  </a:lnTo>
                  <a:lnTo>
                    <a:pt x="549" y="121"/>
                  </a:lnTo>
                  <a:lnTo>
                    <a:pt x="0" y="228"/>
                  </a:lnTo>
                  <a:lnTo>
                    <a:pt x="6" y="99"/>
                  </a:lnTo>
                  <a:close/>
                </a:path>
              </a:pathLst>
            </a:custGeom>
            <a:gradFill rotWithShape="1">
              <a:gsLst>
                <a:gs pos="0">
                  <a:srgbClr val="EAEAEA"/>
                </a:gs>
                <a:gs pos="50000">
                  <a:srgbClr val="EAEAEA">
                    <a:gamma/>
                    <a:tint val="0"/>
                    <a:invGamma/>
                  </a:srgbClr>
                </a:gs>
                <a:gs pos="100000">
                  <a:srgbClr val="EAEAEA"/>
                </a:gs>
              </a:gsLst>
              <a:lin ang="0" scaled="1"/>
            </a:gradFill>
            <a:ln w="9525">
              <a:solidFill>
                <a:srgbClr val="969696"/>
              </a:solidFill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pPr>
                <a:defRPr/>
              </a:pPr>
              <a:endParaRPr lang="ko-KR" altLang="en-US" sz="1662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2" name="Freeform 192"/>
            <p:cNvSpPr>
              <a:spLocks/>
            </p:cNvSpPr>
            <p:nvPr/>
          </p:nvSpPr>
          <p:spPr bwMode="auto">
            <a:xfrm>
              <a:off x="1690592" y="4789620"/>
              <a:ext cx="144176" cy="59566"/>
            </a:xfrm>
            <a:custGeom>
              <a:avLst/>
              <a:gdLst/>
              <a:ahLst/>
              <a:cxnLst>
                <a:cxn ang="0">
                  <a:pos x="0" y="32"/>
                </a:cxn>
                <a:cxn ang="0">
                  <a:pos x="0" y="63"/>
                </a:cxn>
                <a:cxn ang="0">
                  <a:pos x="164" y="33"/>
                </a:cxn>
                <a:cxn ang="0">
                  <a:pos x="167" y="0"/>
                </a:cxn>
                <a:cxn ang="0">
                  <a:pos x="0" y="32"/>
                </a:cxn>
              </a:cxnLst>
              <a:rect l="0" t="0" r="r" b="b"/>
              <a:pathLst>
                <a:path w="167" h="63">
                  <a:moveTo>
                    <a:pt x="0" y="32"/>
                  </a:moveTo>
                  <a:lnTo>
                    <a:pt x="0" y="63"/>
                  </a:lnTo>
                  <a:lnTo>
                    <a:pt x="164" y="33"/>
                  </a:lnTo>
                  <a:lnTo>
                    <a:pt x="167" y="0"/>
                  </a:lnTo>
                  <a:lnTo>
                    <a:pt x="0" y="32"/>
                  </a:lnTo>
                  <a:close/>
                </a:path>
              </a:pathLst>
            </a:custGeom>
            <a:gradFill rotWithShape="1">
              <a:gsLst>
                <a:gs pos="0">
                  <a:srgbClr val="C0C0C0">
                    <a:gamma/>
                    <a:tint val="60784"/>
                    <a:invGamma/>
                  </a:srgbClr>
                </a:gs>
                <a:gs pos="100000">
                  <a:srgbClr val="C0C0C0"/>
                </a:gs>
              </a:gsLst>
              <a:lin ang="0" scaled="1"/>
            </a:gradFill>
            <a:ln w="9525">
              <a:noFill/>
              <a:round/>
              <a:headEnd type="none" w="med" len="med"/>
              <a:tailEnd type="none" w="med" len="med"/>
            </a:ln>
            <a:effectLst>
              <a:prstShdw prst="shdw17" dist="17961" dir="13500000">
                <a:srgbClr val="969696"/>
              </a:prstShdw>
            </a:effectLst>
          </p:spPr>
          <p:txBody>
            <a:bodyPr/>
            <a:lstStyle/>
            <a:p>
              <a:pPr>
                <a:defRPr/>
              </a:pPr>
              <a:endParaRPr lang="ko-KR" altLang="en-US" sz="1662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3" name="Oval 193"/>
            <p:cNvSpPr>
              <a:spLocks noChangeArrowheads="1"/>
            </p:cNvSpPr>
            <p:nvPr/>
          </p:nvSpPr>
          <p:spPr bwMode="auto">
            <a:xfrm>
              <a:off x="1809325" y="4797457"/>
              <a:ext cx="16962" cy="20378"/>
            </a:xfrm>
            <a:prstGeom prst="ellipse">
              <a:avLst/>
            </a:prstGeom>
            <a:solidFill>
              <a:srgbClr val="969696"/>
            </a:solidFill>
            <a:ln w="9525">
              <a:solidFill>
                <a:srgbClr val="969696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endParaRPr lang="ko-KR" altLang="en-US" sz="1662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4" name="Line 194"/>
            <p:cNvSpPr>
              <a:spLocks noChangeShapeType="1"/>
            </p:cNvSpPr>
            <p:nvPr/>
          </p:nvSpPr>
          <p:spPr bwMode="auto">
            <a:xfrm flipH="1">
              <a:off x="2032657" y="4706540"/>
              <a:ext cx="2827" cy="76810"/>
            </a:xfrm>
            <a:prstGeom prst="line">
              <a:avLst/>
            </a:prstGeom>
            <a:noFill/>
            <a:ln w="9525">
              <a:solidFill>
                <a:srgbClr val="808080"/>
              </a:solidFill>
              <a:round/>
              <a:headEnd/>
              <a:tailEnd/>
            </a:ln>
            <a:effectLst>
              <a:outerShdw dist="17961" dir="18900000" algn="ctr" rotWithShape="0">
                <a:srgbClr val="969696">
                  <a:alpha val="50000"/>
                </a:srgbClr>
              </a:outerShdw>
            </a:effectLst>
          </p:spPr>
          <p:txBody>
            <a:bodyPr/>
            <a:lstStyle/>
            <a:p>
              <a:pPr>
                <a:defRPr/>
              </a:pPr>
              <a:endParaRPr lang="ko-KR" altLang="en-US" sz="1662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5" name="Line 195"/>
            <p:cNvSpPr>
              <a:spLocks noChangeShapeType="1"/>
            </p:cNvSpPr>
            <p:nvPr/>
          </p:nvSpPr>
          <p:spPr bwMode="auto">
            <a:xfrm flipH="1">
              <a:off x="2021349" y="4708108"/>
              <a:ext cx="1414" cy="81512"/>
            </a:xfrm>
            <a:prstGeom prst="line">
              <a:avLst/>
            </a:prstGeom>
            <a:noFill/>
            <a:ln w="9525">
              <a:solidFill>
                <a:srgbClr val="808080"/>
              </a:solidFill>
              <a:round/>
              <a:headEnd/>
              <a:tailEnd/>
            </a:ln>
            <a:effectLst>
              <a:outerShdw dist="17961" dir="18900000" algn="ctr" rotWithShape="0">
                <a:srgbClr val="969696">
                  <a:alpha val="50000"/>
                </a:srgbClr>
              </a:outerShdw>
            </a:effectLst>
          </p:spPr>
          <p:txBody>
            <a:bodyPr/>
            <a:lstStyle/>
            <a:p>
              <a:pPr>
                <a:defRPr/>
              </a:pPr>
              <a:endParaRPr lang="ko-KR" altLang="en-US" sz="1662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6" name="Line 196"/>
            <p:cNvSpPr>
              <a:spLocks noChangeShapeType="1"/>
            </p:cNvSpPr>
            <p:nvPr/>
          </p:nvSpPr>
          <p:spPr bwMode="auto">
            <a:xfrm flipH="1">
              <a:off x="2045379" y="4704973"/>
              <a:ext cx="4240" cy="76809"/>
            </a:xfrm>
            <a:prstGeom prst="line">
              <a:avLst/>
            </a:prstGeom>
            <a:noFill/>
            <a:ln w="9525">
              <a:solidFill>
                <a:srgbClr val="808080"/>
              </a:solidFill>
              <a:round/>
              <a:headEnd/>
              <a:tailEnd/>
            </a:ln>
            <a:effectLst>
              <a:outerShdw dist="17961" dir="18900000" algn="ctr" rotWithShape="0">
                <a:srgbClr val="969696">
                  <a:alpha val="50000"/>
                </a:srgbClr>
              </a:outerShdw>
            </a:effectLst>
          </p:spPr>
          <p:txBody>
            <a:bodyPr/>
            <a:lstStyle/>
            <a:p>
              <a:pPr>
                <a:defRPr/>
              </a:pPr>
              <a:endParaRPr lang="ko-KR" altLang="en-US" sz="1662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7" name="Line 197"/>
            <p:cNvSpPr>
              <a:spLocks noChangeShapeType="1"/>
            </p:cNvSpPr>
            <p:nvPr/>
          </p:nvSpPr>
          <p:spPr bwMode="auto">
            <a:xfrm flipH="1">
              <a:off x="2056687" y="4703405"/>
              <a:ext cx="2827" cy="76810"/>
            </a:xfrm>
            <a:prstGeom prst="line">
              <a:avLst/>
            </a:prstGeom>
            <a:noFill/>
            <a:ln w="9525">
              <a:solidFill>
                <a:srgbClr val="808080"/>
              </a:solidFill>
              <a:round/>
              <a:headEnd/>
              <a:tailEnd/>
            </a:ln>
            <a:effectLst>
              <a:outerShdw dist="17961" dir="18900000" algn="ctr" rotWithShape="0">
                <a:srgbClr val="969696">
                  <a:alpha val="50000"/>
                </a:srgbClr>
              </a:outerShdw>
            </a:effectLst>
          </p:spPr>
          <p:txBody>
            <a:bodyPr/>
            <a:lstStyle/>
            <a:p>
              <a:pPr>
                <a:defRPr/>
              </a:pPr>
              <a:endParaRPr lang="ko-KR" altLang="en-US" sz="1662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8" name="Line 198"/>
            <p:cNvSpPr>
              <a:spLocks noChangeShapeType="1"/>
            </p:cNvSpPr>
            <p:nvPr/>
          </p:nvSpPr>
          <p:spPr bwMode="auto">
            <a:xfrm flipH="1">
              <a:off x="2065168" y="4701838"/>
              <a:ext cx="7067" cy="76809"/>
            </a:xfrm>
            <a:prstGeom prst="line">
              <a:avLst/>
            </a:prstGeom>
            <a:noFill/>
            <a:ln w="9525">
              <a:solidFill>
                <a:srgbClr val="808080"/>
              </a:solidFill>
              <a:round/>
              <a:headEnd/>
              <a:tailEnd/>
            </a:ln>
            <a:effectLst>
              <a:outerShdw dist="17961" dir="18900000" algn="ctr" rotWithShape="0">
                <a:srgbClr val="969696">
                  <a:alpha val="50000"/>
                </a:srgbClr>
              </a:outerShdw>
            </a:effectLst>
          </p:spPr>
          <p:txBody>
            <a:bodyPr/>
            <a:lstStyle/>
            <a:p>
              <a:pPr>
                <a:defRPr/>
              </a:pPr>
              <a:endParaRPr lang="ko-KR" altLang="en-US" sz="1662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9" name="Line 199"/>
            <p:cNvSpPr>
              <a:spLocks noChangeShapeType="1"/>
            </p:cNvSpPr>
            <p:nvPr/>
          </p:nvSpPr>
          <p:spPr bwMode="auto">
            <a:xfrm flipH="1">
              <a:off x="2076476" y="4698703"/>
              <a:ext cx="7067" cy="78377"/>
            </a:xfrm>
            <a:prstGeom prst="line">
              <a:avLst/>
            </a:prstGeom>
            <a:noFill/>
            <a:ln w="9525">
              <a:solidFill>
                <a:srgbClr val="808080"/>
              </a:solidFill>
              <a:round/>
              <a:headEnd/>
              <a:tailEnd/>
            </a:ln>
            <a:effectLst>
              <a:outerShdw dist="17961" dir="18900000" algn="ctr" rotWithShape="0">
                <a:srgbClr val="969696">
                  <a:alpha val="50000"/>
                </a:srgbClr>
              </a:outerShdw>
            </a:effectLst>
          </p:spPr>
          <p:txBody>
            <a:bodyPr/>
            <a:lstStyle/>
            <a:p>
              <a:pPr>
                <a:defRPr/>
              </a:pPr>
              <a:endParaRPr lang="ko-KR" altLang="en-US" sz="1662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30" name="Line 200"/>
            <p:cNvSpPr>
              <a:spLocks noChangeShapeType="1"/>
            </p:cNvSpPr>
            <p:nvPr/>
          </p:nvSpPr>
          <p:spPr bwMode="auto">
            <a:xfrm flipH="1">
              <a:off x="2087784" y="4698703"/>
              <a:ext cx="1413" cy="76809"/>
            </a:xfrm>
            <a:prstGeom prst="line">
              <a:avLst/>
            </a:prstGeom>
            <a:noFill/>
            <a:ln w="9525">
              <a:solidFill>
                <a:srgbClr val="808080"/>
              </a:solidFill>
              <a:round/>
              <a:headEnd/>
              <a:tailEnd/>
            </a:ln>
            <a:effectLst>
              <a:outerShdw dist="17961" dir="18900000" algn="ctr" rotWithShape="0">
                <a:srgbClr val="969696">
                  <a:alpha val="50000"/>
                </a:srgbClr>
              </a:outerShdw>
            </a:effectLst>
          </p:spPr>
          <p:txBody>
            <a:bodyPr/>
            <a:lstStyle/>
            <a:p>
              <a:pPr>
                <a:defRPr/>
              </a:pPr>
              <a:endParaRPr lang="ko-KR" altLang="en-US" sz="1662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31" name="Line 201"/>
            <p:cNvSpPr>
              <a:spLocks noChangeShapeType="1"/>
            </p:cNvSpPr>
            <p:nvPr/>
          </p:nvSpPr>
          <p:spPr bwMode="auto">
            <a:xfrm flipH="1">
              <a:off x="2097678" y="4692433"/>
              <a:ext cx="1414" cy="78377"/>
            </a:xfrm>
            <a:prstGeom prst="line">
              <a:avLst/>
            </a:prstGeom>
            <a:noFill/>
            <a:ln w="9525">
              <a:solidFill>
                <a:srgbClr val="808080"/>
              </a:solidFill>
              <a:round/>
              <a:headEnd/>
              <a:tailEnd/>
            </a:ln>
            <a:effectLst>
              <a:outerShdw dist="17961" dir="18900000" algn="ctr" rotWithShape="0">
                <a:srgbClr val="969696">
                  <a:alpha val="50000"/>
                </a:srgbClr>
              </a:outerShdw>
            </a:effectLst>
          </p:spPr>
          <p:txBody>
            <a:bodyPr/>
            <a:lstStyle/>
            <a:p>
              <a:pPr>
                <a:defRPr/>
              </a:pPr>
              <a:endParaRPr lang="ko-KR" altLang="en-US" sz="1662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32" name="Line 202"/>
            <p:cNvSpPr>
              <a:spLocks noChangeShapeType="1"/>
            </p:cNvSpPr>
            <p:nvPr/>
          </p:nvSpPr>
          <p:spPr bwMode="auto">
            <a:xfrm flipH="1">
              <a:off x="2106159" y="4692433"/>
              <a:ext cx="2827" cy="75242"/>
            </a:xfrm>
            <a:prstGeom prst="line">
              <a:avLst/>
            </a:prstGeom>
            <a:noFill/>
            <a:ln w="9525">
              <a:solidFill>
                <a:srgbClr val="808080"/>
              </a:solidFill>
              <a:round/>
              <a:headEnd/>
              <a:tailEnd/>
            </a:ln>
            <a:effectLst>
              <a:outerShdw dist="17961" dir="18900000" algn="ctr" rotWithShape="0">
                <a:srgbClr val="969696">
                  <a:alpha val="50000"/>
                </a:srgbClr>
              </a:outerShdw>
            </a:effectLst>
          </p:spPr>
          <p:txBody>
            <a:bodyPr/>
            <a:lstStyle/>
            <a:p>
              <a:pPr>
                <a:defRPr/>
              </a:pPr>
              <a:endParaRPr lang="ko-KR" altLang="en-US" sz="1662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33" name="Line 203"/>
            <p:cNvSpPr>
              <a:spLocks noChangeShapeType="1"/>
            </p:cNvSpPr>
            <p:nvPr/>
          </p:nvSpPr>
          <p:spPr bwMode="auto">
            <a:xfrm flipH="1">
              <a:off x="2117467" y="4690865"/>
              <a:ext cx="1414" cy="76810"/>
            </a:xfrm>
            <a:prstGeom prst="line">
              <a:avLst/>
            </a:prstGeom>
            <a:noFill/>
            <a:ln w="9525">
              <a:solidFill>
                <a:srgbClr val="808080"/>
              </a:solidFill>
              <a:round/>
              <a:headEnd/>
              <a:tailEnd/>
            </a:ln>
            <a:effectLst>
              <a:outerShdw dist="17961" dir="18900000" algn="ctr" rotWithShape="0">
                <a:srgbClr val="969696">
                  <a:alpha val="50000"/>
                </a:srgbClr>
              </a:outerShdw>
            </a:effectLst>
          </p:spPr>
          <p:txBody>
            <a:bodyPr/>
            <a:lstStyle/>
            <a:p>
              <a:pPr>
                <a:defRPr/>
              </a:pPr>
              <a:endParaRPr lang="ko-KR" altLang="en-US" sz="1662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34" name="Line 204"/>
            <p:cNvSpPr>
              <a:spLocks noChangeShapeType="1"/>
            </p:cNvSpPr>
            <p:nvPr/>
          </p:nvSpPr>
          <p:spPr bwMode="auto">
            <a:xfrm flipH="1">
              <a:off x="2070822" y="4731620"/>
              <a:ext cx="1413" cy="76810"/>
            </a:xfrm>
            <a:prstGeom prst="line">
              <a:avLst/>
            </a:prstGeom>
            <a:noFill/>
            <a:ln w="9525">
              <a:solidFill>
                <a:srgbClr val="808080"/>
              </a:solidFill>
              <a:round/>
              <a:headEnd/>
              <a:tailEnd/>
            </a:ln>
            <a:effectLst>
              <a:outerShdw dist="17961" dir="18900000" algn="ctr" rotWithShape="0">
                <a:srgbClr val="969696">
                  <a:alpha val="50000"/>
                </a:srgbClr>
              </a:outerShdw>
            </a:effectLst>
          </p:spPr>
          <p:txBody>
            <a:bodyPr/>
            <a:lstStyle/>
            <a:p>
              <a:pPr>
                <a:defRPr/>
              </a:pPr>
              <a:endParaRPr lang="ko-KR" altLang="en-US" sz="1662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35" name="Freeform 205"/>
            <p:cNvSpPr>
              <a:spLocks/>
            </p:cNvSpPr>
            <p:nvPr/>
          </p:nvSpPr>
          <p:spPr bwMode="auto">
            <a:xfrm>
              <a:off x="1878587" y="4737891"/>
              <a:ext cx="79156" cy="62701"/>
            </a:xfrm>
            <a:custGeom>
              <a:avLst/>
              <a:gdLst/>
              <a:ahLst/>
              <a:cxnLst>
                <a:cxn ang="0">
                  <a:pos x="2" y="33"/>
                </a:cxn>
                <a:cxn ang="0">
                  <a:pos x="0" y="138"/>
                </a:cxn>
                <a:cxn ang="0">
                  <a:pos x="186" y="104"/>
                </a:cxn>
                <a:cxn ang="0">
                  <a:pos x="186" y="0"/>
                </a:cxn>
                <a:cxn ang="0">
                  <a:pos x="2" y="33"/>
                </a:cxn>
              </a:cxnLst>
              <a:rect l="0" t="0" r="r" b="b"/>
              <a:pathLst>
                <a:path w="186" h="138">
                  <a:moveTo>
                    <a:pt x="2" y="33"/>
                  </a:moveTo>
                  <a:lnTo>
                    <a:pt x="0" y="138"/>
                  </a:lnTo>
                  <a:lnTo>
                    <a:pt x="186" y="104"/>
                  </a:lnTo>
                  <a:lnTo>
                    <a:pt x="186" y="0"/>
                  </a:lnTo>
                  <a:lnTo>
                    <a:pt x="2" y="33"/>
                  </a:lnTo>
                  <a:close/>
                </a:path>
              </a:pathLst>
            </a:custGeom>
            <a:gradFill rotWithShape="1">
              <a:gsLst>
                <a:gs pos="0">
                  <a:srgbClr val="969696"/>
                </a:gs>
                <a:gs pos="100000">
                  <a:srgbClr val="969696">
                    <a:gamma/>
                    <a:shade val="75686"/>
                    <a:invGamma/>
                  </a:srgbClr>
                </a:gs>
              </a:gsLst>
              <a:lin ang="0" scaled="1"/>
            </a:gradFill>
            <a:ln w="3175" cap="flat" cmpd="sng">
              <a:noFill/>
              <a:prstDash val="solid"/>
              <a:round/>
              <a:headEnd type="none" w="med" len="med"/>
              <a:tailEnd type="none" w="med" len="med"/>
            </a:ln>
            <a:effectLst>
              <a:prstShdw prst="shdw17" dist="17961" dir="13500000">
                <a:srgbClr val="969696">
                  <a:alpha val="50000"/>
                </a:srgbClr>
              </a:prstShdw>
            </a:effectLst>
          </p:spPr>
          <p:txBody>
            <a:bodyPr/>
            <a:lstStyle/>
            <a:p>
              <a:pPr>
                <a:defRPr/>
              </a:pPr>
              <a:endParaRPr lang="ko-KR" altLang="en-US" sz="1662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36" name="Line 206"/>
            <p:cNvSpPr>
              <a:spLocks noChangeShapeType="1"/>
            </p:cNvSpPr>
            <p:nvPr/>
          </p:nvSpPr>
          <p:spPr bwMode="auto">
            <a:xfrm flipH="1">
              <a:off x="1889895" y="4773944"/>
              <a:ext cx="0" cy="18810"/>
            </a:xfrm>
            <a:prstGeom prst="line">
              <a:avLst/>
            </a:prstGeom>
            <a:noFill/>
            <a:ln w="9525">
              <a:solidFill>
                <a:srgbClr val="3399FF">
                  <a:alpha val="55000"/>
                </a:srgbClr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pPr>
                <a:defRPr/>
              </a:pPr>
              <a:endParaRPr lang="ko-KR" altLang="en-US" sz="1662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37" name="Line 207"/>
            <p:cNvSpPr>
              <a:spLocks noChangeShapeType="1"/>
            </p:cNvSpPr>
            <p:nvPr/>
          </p:nvSpPr>
          <p:spPr bwMode="auto">
            <a:xfrm flipH="1">
              <a:off x="1950675" y="4758269"/>
              <a:ext cx="0" cy="20377"/>
            </a:xfrm>
            <a:prstGeom prst="line">
              <a:avLst/>
            </a:prstGeom>
            <a:noFill/>
            <a:ln w="9525">
              <a:solidFill>
                <a:srgbClr val="3399FF">
                  <a:alpha val="55000"/>
                </a:srgbClr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pPr>
                <a:defRPr/>
              </a:pPr>
              <a:endParaRPr lang="ko-KR" altLang="en-US" sz="1662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38" name="Line 208"/>
            <p:cNvSpPr>
              <a:spLocks noChangeShapeType="1"/>
            </p:cNvSpPr>
            <p:nvPr/>
          </p:nvSpPr>
          <p:spPr bwMode="auto">
            <a:xfrm flipH="1">
              <a:off x="1943608" y="4767674"/>
              <a:ext cx="0" cy="15675"/>
            </a:xfrm>
            <a:prstGeom prst="line">
              <a:avLst/>
            </a:prstGeom>
            <a:noFill/>
            <a:ln w="9525">
              <a:solidFill>
                <a:srgbClr val="3399FF">
                  <a:alpha val="55000"/>
                </a:srgbClr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pPr>
                <a:defRPr/>
              </a:pPr>
              <a:endParaRPr lang="ko-KR" altLang="en-US" sz="1662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39" name="Line 209"/>
            <p:cNvSpPr>
              <a:spLocks noChangeShapeType="1"/>
            </p:cNvSpPr>
            <p:nvPr/>
          </p:nvSpPr>
          <p:spPr bwMode="auto">
            <a:xfrm flipH="1">
              <a:off x="1898376" y="4781781"/>
              <a:ext cx="0" cy="12540"/>
            </a:xfrm>
            <a:prstGeom prst="line">
              <a:avLst/>
            </a:prstGeom>
            <a:noFill/>
            <a:ln w="9525">
              <a:solidFill>
                <a:srgbClr val="3399FF">
                  <a:alpha val="55000"/>
                </a:srgbClr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pPr>
                <a:defRPr/>
              </a:pPr>
              <a:endParaRPr lang="ko-KR" altLang="en-US" sz="1662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40" name="Line 210"/>
            <p:cNvSpPr>
              <a:spLocks noChangeShapeType="1"/>
            </p:cNvSpPr>
            <p:nvPr/>
          </p:nvSpPr>
          <p:spPr bwMode="auto">
            <a:xfrm flipV="1">
              <a:off x="1908270" y="4783349"/>
              <a:ext cx="25443" cy="6270"/>
            </a:xfrm>
            <a:prstGeom prst="line">
              <a:avLst/>
            </a:prstGeom>
            <a:noFill/>
            <a:ln w="9525">
              <a:solidFill>
                <a:srgbClr val="FFFF99">
                  <a:alpha val="45000"/>
                </a:srgbClr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pPr>
                <a:defRPr/>
              </a:pPr>
              <a:endParaRPr lang="ko-KR" altLang="en-US" sz="1662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41" name="Freeform 211"/>
            <p:cNvSpPr>
              <a:spLocks/>
            </p:cNvSpPr>
            <p:nvPr/>
          </p:nvSpPr>
          <p:spPr bwMode="auto">
            <a:xfrm>
              <a:off x="1714622" y="4751999"/>
              <a:ext cx="100357" cy="37621"/>
            </a:xfrm>
            <a:custGeom>
              <a:avLst/>
              <a:gdLst/>
              <a:ahLst/>
              <a:cxnLst>
                <a:cxn ang="0">
                  <a:pos x="0" y="20"/>
                </a:cxn>
                <a:cxn ang="0">
                  <a:pos x="1" y="38"/>
                </a:cxn>
                <a:cxn ang="0">
                  <a:pos x="116" y="19"/>
                </a:cxn>
                <a:cxn ang="0">
                  <a:pos x="116" y="0"/>
                </a:cxn>
                <a:cxn ang="0">
                  <a:pos x="0" y="20"/>
                </a:cxn>
              </a:cxnLst>
              <a:rect l="0" t="0" r="r" b="b"/>
              <a:pathLst>
                <a:path w="116" h="38">
                  <a:moveTo>
                    <a:pt x="0" y="20"/>
                  </a:moveTo>
                  <a:lnTo>
                    <a:pt x="1" y="38"/>
                  </a:lnTo>
                  <a:lnTo>
                    <a:pt x="116" y="19"/>
                  </a:lnTo>
                  <a:lnTo>
                    <a:pt x="116" y="0"/>
                  </a:lnTo>
                  <a:lnTo>
                    <a:pt x="0" y="20"/>
                  </a:lnTo>
                  <a:close/>
                </a:path>
              </a:pathLst>
            </a:custGeom>
            <a:gradFill rotWithShape="1">
              <a:gsLst>
                <a:gs pos="0">
                  <a:srgbClr val="C0C0C0">
                    <a:gamma/>
                    <a:tint val="60784"/>
                    <a:invGamma/>
                  </a:srgbClr>
                </a:gs>
                <a:gs pos="100000">
                  <a:srgbClr val="C0C0C0"/>
                </a:gs>
              </a:gsLst>
              <a:lin ang="0" scaled="1"/>
            </a:gradFill>
            <a:ln w="9525">
              <a:noFill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pPr>
                <a:defRPr/>
              </a:pPr>
              <a:endParaRPr lang="ko-KR" altLang="en-US" sz="1662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42" name="Line 212"/>
            <p:cNvSpPr>
              <a:spLocks noChangeShapeType="1"/>
            </p:cNvSpPr>
            <p:nvPr/>
          </p:nvSpPr>
          <p:spPr bwMode="auto">
            <a:xfrm flipV="1">
              <a:off x="1706141" y="4758269"/>
              <a:ext cx="113079" cy="23512"/>
            </a:xfrm>
            <a:prstGeom prst="line">
              <a:avLst/>
            </a:prstGeom>
            <a:noFill/>
            <a:ln w="3175">
              <a:solidFill>
                <a:srgbClr val="5F5F5F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pPr>
                <a:defRPr/>
              </a:pPr>
              <a:endParaRPr lang="ko-KR" altLang="en-US" sz="1662" kern="0">
                <a:solidFill>
                  <a:sysClr val="windowText" lastClr="000000"/>
                </a:solidFill>
              </a:endParaRPr>
            </a:p>
          </p:txBody>
        </p:sp>
        <p:grpSp>
          <p:nvGrpSpPr>
            <p:cNvPr id="99384" name="Group 150"/>
            <p:cNvGrpSpPr>
              <a:grpSpLocks/>
            </p:cNvGrpSpPr>
            <p:nvPr/>
          </p:nvGrpSpPr>
          <p:grpSpPr bwMode="auto">
            <a:xfrm>
              <a:off x="1598783" y="4144515"/>
              <a:ext cx="328612" cy="369887"/>
              <a:chOff x="685" y="3115"/>
              <a:chExt cx="207" cy="233"/>
            </a:xfrm>
          </p:grpSpPr>
          <p:sp>
            <p:nvSpPr>
              <p:cNvPr id="56" name="Freeform 215"/>
              <p:cNvSpPr>
                <a:spLocks/>
              </p:cNvSpPr>
              <p:nvPr/>
            </p:nvSpPr>
            <p:spPr bwMode="auto">
              <a:xfrm flipH="1">
                <a:off x="686" y="3115"/>
                <a:ext cx="207" cy="30"/>
              </a:xfrm>
              <a:custGeom>
                <a:avLst/>
                <a:gdLst>
                  <a:gd name="T0" fmla="*/ 1205 w 1205"/>
                  <a:gd name="T1" fmla="*/ 151 h 178"/>
                  <a:gd name="T2" fmla="*/ 964 w 1205"/>
                  <a:gd name="T3" fmla="*/ 178 h 178"/>
                  <a:gd name="T4" fmla="*/ 0 w 1205"/>
                  <a:gd name="T5" fmla="*/ 0 h 178"/>
                  <a:gd name="T6" fmla="*/ 1205 w 1205"/>
                  <a:gd name="T7" fmla="*/ 151 h 178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1205"/>
                  <a:gd name="T13" fmla="*/ 0 h 178"/>
                  <a:gd name="T14" fmla="*/ 1205 w 1205"/>
                  <a:gd name="T15" fmla="*/ 178 h 178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1205" h="178">
                    <a:moveTo>
                      <a:pt x="1205" y="151"/>
                    </a:moveTo>
                    <a:lnTo>
                      <a:pt x="964" y="178"/>
                    </a:lnTo>
                    <a:lnTo>
                      <a:pt x="0" y="0"/>
                    </a:lnTo>
                    <a:lnTo>
                      <a:pt x="1205" y="151"/>
                    </a:lnTo>
                    <a:close/>
                  </a:path>
                </a:pathLst>
              </a:custGeom>
              <a:solidFill>
                <a:srgbClr val="EAEAEA"/>
              </a:solidFill>
              <a:ln w="9525">
                <a:solidFill>
                  <a:srgbClr val="969696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pPr>
                  <a:defRPr/>
                </a:pPr>
                <a:endParaRPr lang="ko-KR" altLang="en-US" sz="1662" kern="0">
                  <a:solidFill>
                    <a:sysClr val="windowText" lastClr="000000"/>
                  </a:solidFill>
                </a:endParaRPr>
              </a:p>
            </p:txBody>
          </p:sp>
          <p:sp>
            <p:nvSpPr>
              <p:cNvPr id="57" name="Freeform 216"/>
              <p:cNvSpPr>
                <a:spLocks/>
              </p:cNvSpPr>
              <p:nvPr/>
            </p:nvSpPr>
            <p:spPr bwMode="auto">
              <a:xfrm flipH="1">
                <a:off x="685" y="3139"/>
                <a:ext cx="69" cy="207"/>
              </a:xfrm>
              <a:custGeom>
                <a:avLst/>
                <a:gdLst>
                  <a:gd name="T0" fmla="*/ 405 w 405"/>
                  <a:gd name="T1" fmla="*/ 0 h 1241"/>
                  <a:gd name="T2" fmla="*/ 389 w 405"/>
                  <a:gd name="T3" fmla="*/ 1000 h 1241"/>
                  <a:gd name="T4" fmla="*/ 133 w 405"/>
                  <a:gd name="T5" fmla="*/ 1241 h 1241"/>
                  <a:gd name="T6" fmla="*/ 0 w 405"/>
                  <a:gd name="T7" fmla="*/ 13 h 1241"/>
                  <a:gd name="T8" fmla="*/ 189 w 405"/>
                  <a:gd name="T9" fmla="*/ 24 h 1241"/>
                  <a:gd name="T10" fmla="*/ 405 w 405"/>
                  <a:gd name="T11" fmla="*/ 0 h 1241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405"/>
                  <a:gd name="T19" fmla="*/ 0 h 1241"/>
                  <a:gd name="T20" fmla="*/ 405 w 405"/>
                  <a:gd name="T21" fmla="*/ 1241 h 1241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405" h="1241">
                    <a:moveTo>
                      <a:pt x="405" y="0"/>
                    </a:moveTo>
                    <a:lnTo>
                      <a:pt x="389" y="1000"/>
                    </a:lnTo>
                    <a:lnTo>
                      <a:pt x="133" y="1241"/>
                    </a:lnTo>
                    <a:lnTo>
                      <a:pt x="0" y="13"/>
                    </a:lnTo>
                    <a:lnTo>
                      <a:pt x="189" y="24"/>
                    </a:lnTo>
                    <a:lnTo>
                      <a:pt x="405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CCCCCC"/>
                  </a:gs>
                  <a:gs pos="100000">
                    <a:srgbClr val="969696"/>
                  </a:gs>
                </a:gsLst>
                <a:lin ang="0" scaled="1"/>
              </a:gradFill>
              <a:ln w="9525">
                <a:solidFill>
                  <a:srgbClr val="969696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pPr>
                  <a:defRPr/>
                </a:pPr>
                <a:endParaRPr lang="ko-KR" altLang="en-US" sz="1662" kern="0">
                  <a:solidFill>
                    <a:sysClr val="windowText" lastClr="000000"/>
                  </a:solidFill>
                </a:endParaRPr>
              </a:p>
            </p:txBody>
          </p:sp>
        </p:grpSp>
        <p:sp>
          <p:nvSpPr>
            <p:cNvPr id="44" name="Oval 217"/>
            <p:cNvSpPr>
              <a:spLocks noChangeArrowheads="1"/>
            </p:cNvSpPr>
            <p:nvPr/>
          </p:nvSpPr>
          <p:spPr bwMode="auto">
            <a:xfrm>
              <a:off x="1683525" y="4543517"/>
              <a:ext cx="298246" cy="92485"/>
            </a:xfrm>
            <a:prstGeom prst="ellipse">
              <a:avLst/>
            </a:prstGeom>
            <a:solidFill>
              <a:srgbClr val="969696"/>
            </a:solidFill>
            <a:ln w="9525">
              <a:solidFill>
                <a:srgbClr val="969696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>
                <a:defRPr/>
              </a:pPr>
              <a:endParaRPr lang="ko-KR" altLang="en-US" sz="1662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45" name="Oval 218"/>
            <p:cNvSpPr>
              <a:spLocks noChangeArrowheads="1"/>
            </p:cNvSpPr>
            <p:nvPr/>
          </p:nvSpPr>
          <p:spPr bwMode="auto">
            <a:xfrm>
              <a:off x="1683525" y="4537246"/>
              <a:ext cx="298246" cy="90917"/>
            </a:xfrm>
            <a:prstGeom prst="ellipse">
              <a:avLst/>
            </a:prstGeom>
            <a:gradFill rotWithShape="1">
              <a:gsLst>
                <a:gs pos="0">
                  <a:srgbClr val="C0C0C0"/>
                </a:gs>
                <a:gs pos="100000">
                  <a:srgbClr val="EAEAEA"/>
                </a:gs>
              </a:gsLst>
              <a:lin ang="2700000" scaled="1"/>
            </a:gradFill>
            <a:ln w="9525">
              <a:solidFill>
                <a:srgbClr val="969696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>
                <a:defRPr/>
              </a:pPr>
              <a:endParaRPr lang="ko-KR" altLang="en-US" sz="1662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46" name="Freeform 219"/>
            <p:cNvSpPr>
              <a:spLocks/>
            </p:cNvSpPr>
            <p:nvPr/>
          </p:nvSpPr>
          <p:spPr bwMode="auto">
            <a:xfrm flipH="1">
              <a:off x="1663736" y="4088932"/>
              <a:ext cx="436768" cy="511016"/>
            </a:xfrm>
            <a:custGeom>
              <a:avLst/>
              <a:gdLst>
                <a:gd name="T0" fmla="*/ 1602 w 1602"/>
                <a:gd name="T1" fmla="*/ 204 h 1734"/>
                <a:gd name="T2" fmla="*/ 5 w 1602"/>
                <a:gd name="T3" fmla="*/ 0 h 1734"/>
                <a:gd name="T4" fmla="*/ 0 w 1602"/>
                <a:gd name="T5" fmla="*/ 1488 h 1734"/>
                <a:gd name="T6" fmla="*/ 1597 w 1602"/>
                <a:gd name="T7" fmla="*/ 1734 h 1734"/>
                <a:gd name="T8" fmla="*/ 1602 w 1602"/>
                <a:gd name="T9" fmla="*/ 204 h 1734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602"/>
                <a:gd name="T16" fmla="*/ 0 h 1734"/>
                <a:gd name="T17" fmla="*/ 1602 w 1602"/>
                <a:gd name="T18" fmla="*/ 1734 h 1734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602" h="1734">
                  <a:moveTo>
                    <a:pt x="1602" y="204"/>
                  </a:moveTo>
                  <a:lnTo>
                    <a:pt x="5" y="0"/>
                  </a:lnTo>
                  <a:lnTo>
                    <a:pt x="0" y="1488"/>
                  </a:lnTo>
                  <a:lnTo>
                    <a:pt x="1597" y="1734"/>
                  </a:lnTo>
                  <a:lnTo>
                    <a:pt x="1602" y="204"/>
                  </a:lnTo>
                  <a:close/>
                </a:path>
              </a:pathLst>
            </a:custGeom>
            <a:gradFill rotWithShape="1">
              <a:gsLst>
                <a:gs pos="0">
                  <a:srgbClr val="FFFFFF"/>
                </a:gs>
                <a:gs pos="100000">
                  <a:srgbClr val="DDDDDD"/>
                </a:gs>
              </a:gsLst>
              <a:lin ang="5400000" scaled="1"/>
            </a:gradFill>
            <a:ln w="9525">
              <a:solidFill>
                <a:srgbClr val="969696"/>
              </a:solidFill>
              <a:round/>
              <a:headEnd/>
              <a:tailEnd/>
            </a:ln>
          </p:spPr>
          <p:txBody>
            <a:bodyPr/>
            <a:lstStyle/>
            <a:p>
              <a:pPr>
                <a:defRPr/>
              </a:pPr>
              <a:endParaRPr lang="ko-KR" altLang="en-US" sz="1662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47" name="Freeform 220"/>
            <p:cNvSpPr>
              <a:spLocks/>
            </p:cNvSpPr>
            <p:nvPr/>
          </p:nvSpPr>
          <p:spPr bwMode="auto">
            <a:xfrm flipH="1">
              <a:off x="1723103" y="4502761"/>
              <a:ext cx="357613" cy="97187"/>
            </a:xfrm>
            <a:custGeom>
              <a:avLst/>
              <a:gdLst>
                <a:gd name="T0" fmla="*/ 1327 w 1330"/>
                <a:gd name="T1" fmla="*/ 200 h 330"/>
                <a:gd name="T2" fmla="*/ 0 w 1330"/>
                <a:gd name="T3" fmla="*/ 0 h 330"/>
                <a:gd name="T4" fmla="*/ 0 w 1330"/>
                <a:gd name="T5" fmla="*/ 115 h 330"/>
                <a:gd name="T6" fmla="*/ 1330 w 1330"/>
                <a:gd name="T7" fmla="*/ 330 h 330"/>
                <a:gd name="T8" fmla="*/ 1327 w 1330"/>
                <a:gd name="T9" fmla="*/ 200 h 33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330"/>
                <a:gd name="T16" fmla="*/ 0 h 330"/>
                <a:gd name="T17" fmla="*/ 1330 w 1330"/>
                <a:gd name="T18" fmla="*/ 330 h 33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330" h="330">
                  <a:moveTo>
                    <a:pt x="1327" y="200"/>
                  </a:moveTo>
                  <a:lnTo>
                    <a:pt x="0" y="0"/>
                  </a:lnTo>
                  <a:lnTo>
                    <a:pt x="0" y="115"/>
                  </a:lnTo>
                  <a:lnTo>
                    <a:pt x="1330" y="330"/>
                  </a:lnTo>
                  <a:lnTo>
                    <a:pt x="1327" y="200"/>
                  </a:lnTo>
                  <a:close/>
                </a:path>
              </a:pathLst>
            </a:custGeom>
            <a:gradFill rotWithShape="1">
              <a:gsLst>
                <a:gs pos="0">
                  <a:srgbClr val="C0C0C0"/>
                </a:gs>
                <a:gs pos="50000">
                  <a:srgbClr val="FFFFFF"/>
                </a:gs>
                <a:gs pos="100000">
                  <a:srgbClr val="C0C0C0"/>
                </a:gs>
              </a:gsLst>
              <a:lin ang="5400000" scaled="1"/>
            </a:gradFill>
            <a:ln w="9525">
              <a:solidFill>
                <a:srgbClr val="969696"/>
              </a:solidFill>
              <a:round/>
              <a:headEnd/>
              <a:tailEnd/>
            </a:ln>
          </p:spPr>
          <p:txBody>
            <a:bodyPr/>
            <a:lstStyle/>
            <a:p>
              <a:pPr>
                <a:defRPr/>
              </a:pPr>
              <a:endParaRPr lang="ko-KR" altLang="en-US" sz="1662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48" name="Freeform 221"/>
            <p:cNvSpPr>
              <a:spLocks/>
            </p:cNvSpPr>
            <p:nvPr/>
          </p:nvSpPr>
          <p:spPr bwMode="auto">
            <a:xfrm flipH="1">
              <a:off x="1651014" y="4146931"/>
              <a:ext cx="15549" cy="453016"/>
            </a:xfrm>
            <a:custGeom>
              <a:avLst/>
              <a:gdLst>
                <a:gd name="T0" fmla="*/ 4 w 56"/>
                <a:gd name="T1" fmla="*/ 16 h 1536"/>
                <a:gd name="T2" fmla="*/ 56 w 56"/>
                <a:gd name="T3" fmla="*/ 0 h 1536"/>
                <a:gd name="T4" fmla="*/ 46 w 56"/>
                <a:gd name="T5" fmla="*/ 1513 h 1536"/>
                <a:gd name="T6" fmla="*/ 0 w 56"/>
                <a:gd name="T7" fmla="*/ 1536 h 1536"/>
                <a:gd name="T8" fmla="*/ 4 w 56"/>
                <a:gd name="T9" fmla="*/ 16 h 153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56"/>
                <a:gd name="T16" fmla="*/ 0 h 1536"/>
                <a:gd name="T17" fmla="*/ 56 w 56"/>
                <a:gd name="T18" fmla="*/ 1536 h 1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56" h="1536">
                  <a:moveTo>
                    <a:pt x="4" y="16"/>
                  </a:moveTo>
                  <a:lnTo>
                    <a:pt x="56" y="0"/>
                  </a:lnTo>
                  <a:lnTo>
                    <a:pt x="46" y="1513"/>
                  </a:lnTo>
                  <a:lnTo>
                    <a:pt x="0" y="1536"/>
                  </a:lnTo>
                  <a:lnTo>
                    <a:pt x="4" y="16"/>
                  </a:lnTo>
                  <a:close/>
                </a:path>
              </a:pathLst>
            </a:custGeom>
            <a:gradFill rotWithShape="1">
              <a:gsLst>
                <a:gs pos="0">
                  <a:srgbClr val="777777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rgbClr val="969696"/>
              </a:solidFill>
              <a:round/>
              <a:headEnd/>
              <a:tailEnd/>
            </a:ln>
          </p:spPr>
          <p:txBody>
            <a:bodyPr/>
            <a:lstStyle/>
            <a:p>
              <a:pPr>
                <a:defRPr/>
              </a:pPr>
              <a:endParaRPr lang="ko-KR" altLang="en-US" sz="1662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49" name="Oval 222"/>
            <p:cNvSpPr>
              <a:spLocks noChangeArrowheads="1"/>
            </p:cNvSpPr>
            <p:nvPr/>
          </p:nvSpPr>
          <p:spPr bwMode="auto">
            <a:xfrm>
              <a:off x="2049619" y="4510599"/>
              <a:ext cx="12722" cy="28216"/>
            </a:xfrm>
            <a:prstGeom prst="ellipse">
              <a:avLst/>
            </a:prstGeom>
            <a:solidFill>
              <a:srgbClr val="777777"/>
            </a:solidFill>
            <a:ln w="9525">
              <a:solidFill>
                <a:srgbClr val="969696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>
                <a:defRPr/>
              </a:pPr>
              <a:endParaRPr lang="ko-KR" altLang="en-US" sz="1662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50" name="Oval 223"/>
            <p:cNvSpPr>
              <a:spLocks noChangeArrowheads="1"/>
            </p:cNvSpPr>
            <p:nvPr/>
          </p:nvSpPr>
          <p:spPr bwMode="auto">
            <a:xfrm>
              <a:off x="2025590" y="4516869"/>
              <a:ext cx="11308" cy="23512"/>
            </a:xfrm>
            <a:prstGeom prst="ellipse">
              <a:avLst/>
            </a:prstGeom>
            <a:solidFill>
              <a:srgbClr val="C0C0C0"/>
            </a:solidFill>
            <a:ln w="9525">
              <a:solidFill>
                <a:srgbClr val="969696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>
                <a:defRPr/>
              </a:pPr>
              <a:endParaRPr lang="ko-KR" altLang="en-US" sz="1662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51" name="Oval 224"/>
            <p:cNvSpPr>
              <a:spLocks noChangeArrowheads="1"/>
            </p:cNvSpPr>
            <p:nvPr/>
          </p:nvSpPr>
          <p:spPr bwMode="auto">
            <a:xfrm>
              <a:off x="1943608" y="4538814"/>
              <a:ext cx="14135" cy="15675"/>
            </a:xfrm>
            <a:prstGeom prst="ellipse">
              <a:avLst/>
            </a:prstGeom>
            <a:solidFill>
              <a:srgbClr val="C0C0C0"/>
            </a:solidFill>
            <a:ln w="9525">
              <a:solidFill>
                <a:srgbClr val="969696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>
                <a:defRPr/>
              </a:pPr>
              <a:endParaRPr lang="ko-KR" altLang="en-US" sz="1662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52" name="Oval 225"/>
            <p:cNvSpPr>
              <a:spLocks noChangeArrowheads="1"/>
            </p:cNvSpPr>
            <p:nvPr/>
          </p:nvSpPr>
          <p:spPr bwMode="auto">
            <a:xfrm>
              <a:off x="1918165" y="4543517"/>
              <a:ext cx="12721" cy="17243"/>
            </a:xfrm>
            <a:prstGeom prst="ellipse">
              <a:avLst/>
            </a:prstGeom>
            <a:solidFill>
              <a:srgbClr val="C0C0C0"/>
            </a:solidFill>
            <a:ln w="9525">
              <a:solidFill>
                <a:srgbClr val="969696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>
                <a:defRPr/>
              </a:pPr>
              <a:endParaRPr lang="ko-KR" altLang="en-US" sz="1662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53" name="Oval 226"/>
            <p:cNvSpPr>
              <a:spLocks noChangeArrowheads="1"/>
            </p:cNvSpPr>
            <p:nvPr/>
          </p:nvSpPr>
          <p:spPr bwMode="auto">
            <a:xfrm>
              <a:off x="1889895" y="4548220"/>
              <a:ext cx="14135" cy="15675"/>
            </a:xfrm>
            <a:prstGeom prst="ellipse">
              <a:avLst/>
            </a:prstGeom>
            <a:solidFill>
              <a:srgbClr val="C0C0C0"/>
            </a:solidFill>
            <a:ln w="9525">
              <a:solidFill>
                <a:srgbClr val="969696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>
                <a:defRPr/>
              </a:pPr>
              <a:endParaRPr lang="ko-KR" altLang="en-US" sz="1662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54" name="Freeform 227"/>
            <p:cNvSpPr>
              <a:spLocks/>
            </p:cNvSpPr>
            <p:nvPr/>
          </p:nvSpPr>
          <p:spPr bwMode="auto">
            <a:xfrm flipH="1">
              <a:off x="1704727" y="4139093"/>
              <a:ext cx="361854" cy="402856"/>
            </a:xfrm>
            <a:custGeom>
              <a:avLst/>
              <a:gdLst>
                <a:gd name="T0" fmla="*/ 1330 w 1345"/>
                <a:gd name="T1" fmla="*/ 167 h 1366"/>
                <a:gd name="T2" fmla="*/ 0 w 1345"/>
                <a:gd name="T3" fmla="*/ 0 h 1366"/>
                <a:gd name="T4" fmla="*/ 0 w 1345"/>
                <a:gd name="T5" fmla="*/ 1157 h 1366"/>
                <a:gd name="T6" fmla="*/ 1345 w 1345"/>
                <a:gd name="T7" fmla="*/ 1366 h 1366"/>
                <a:gd name="T8" fmla="*/ 1330 w 1345"/>
                <a:gd name="T9" fmla="*/ 167 h 136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345"/>
                <a:gd name="T16" fmla="*/ 0 h 1366"/>
                <a:gd name="T17" fmla="*/ 1345 w 1345"/>
                <a:gd name="T18" fmla="*/ 1366 h 136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345" h="1366">
                  <a:moveTo>
                    <a:pt x="1330" y="167"/>
                  </a:moveTo>
                  <a:lnTo>
                    <a:pt x="0" y="0"/>
                  </a:lnTo>
                  <a:lnTo>
                    <a:pt x="0" y="1157"/>
                  </a:lnTo>
                  <a:lnTo>
                    <a:pt x="1345" y="1366"/>
                  </a:lnTo>
                  <a:lnTo>
                    <a:pt x="1330" y="167"/>
                  </a:lnTo>
                  <a:close/>
                </a:path>
              </a:pathLst>
            </a:custGeom>
            <a:gradFill rotWithShape="1">
              <a:gsLst>
                <a:gs pos="0">
                  <a:srgbClr val="C0C0C0"/>
                </a:gs>
                <a:gs pos="100000">
                  <a:srgbClr val="4D4D4D"/>
                </a:gs>
              </a:gsLst>
              <a:lin ang="5400000" scaled="1"/>
            </a:gradFill>
            <a:ln w="9525">
              <a:solidFill>
                <a:srgbClr val="969696"/>
              </a:solidFill>
              <a:round/>
              <a:headEnd/>
              <a:tailEnd/>
            </a:ln>
          </p:spPr>
          <p:txBody>
            <a:bodyPr/>
            <a:lstStyle/>
            <a:p>
              <a:pPr>
                <a:defRPr/>
              </a:pPr>
              <a:endParaRPr lang="ko-KR" altLang="en-US" sz="1662" kern="0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55" name="Freeform 228"/>
            <p:cNvSpPr>
              <a:spLocks/>
            </p:cNvSpPr>
            <p:nvPr/>
          </p:nvSpPr>
          <p:spPr bwMode="auto">
            <a:xfrm flipH="1">
              <a:off x="1651014" y="4087365"/>
              <a:ext cx="448077" cy="64268"/>
            </a:xfrm>
            <a:custGeom>
              <a:avLst/>
              <a:gdLst>
                <a:gd name="T0" fmla="*/ 0 w 1660"/>
                <a:gd name="T1" fmla="*/ 10 h 214"/>
                <a:gd name="T2" fmla="*/ 68 w 1660"/>
                <a:gd name="T3" fmla="*/ 0 h 214"/>
                <a:gd name="T4" fmla="*/ 1660 w 1660"/>
                <a:gd name="T5" fmla="*/ 199 h 214"/>
                <a:gd name="T6" fmla="*/ 1613 w 1660"/>
                <a:gd name="T7" fmla="*/ 214 h 214"/>
                <a:gd name="T8" fmla="*/ 0 w 1660"/>
                <a:gd name="T9" fmla="*/ 10 h 214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660"/>
                <a:gd name="T16" fmla="*/ 0 h 214"/>
                <a:gd name="T17" fmla="*/ 1660 w 1660"/>
                <a:gd name="T18" fmla="*/ 214 h 214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660" h="214">
                  <a:moveTo>
                    <a:pt x="0" y="10"/>
                  </a:moveTo>
                  <a:lnTo>
                    <a:pt x="68" y="0"/>
                  </a:lnTo>
                  <a:lnTo>
                    <a:pt x="1660" y="199"/>
                  </a:lnTo>
                  <a:lnTo>
                    <a:pt x="1613" y="214"/>
                  </a:lnTo>
                  <a:lnTo>
                    <a:pt x="0" y="10"/>
                  </a:lnTo>
                  <a:close/>
                </a:path>
              </a:pathLst>
            </a:custGeom>
            <a:noFill/>
            <a:ln w="9525">
              <a:solidFill>
                <a:srgbClr val="969696"/>
              </a:solidFill>
              <a:round/>
              <a:headEnd/>
              <a:tailEnd/>
            </a:ln>
          </p:spPr>
          <p:txBody>
            <a:bodyPr/>
            <a:lstStyle/>
            <a:p>
              <a:pPr>
                <a:defRPr/>
              </a:pPr>
              <a:endParaRPr lang="ko-KR" altLang="en-US" sz="1662" kern="0">
                <a:solidFill>
                  <a:sysClr val="windowText" lastClr="000000"/>
                </a:solidFill>
              </a:endParaRPr>
            </a:p>
          </p:txBody>
        </p:sp>
      </p:grpSp>
      <p:pic>
        <p:nvPicPr>
          <p:cNvPr id="99332" name="Picture 2" descr="C:\Users\Toshiba\AppData\Local\Microsoft\Windows\Temporary Internet Files\Content.IE5\TBE21NJN\MC900434845[1]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51472" y="2806652"/>
            <a:ext cx="1462453" cy="139065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9333" name="TextBox 58"/>
          <p:cNvSpPr txBox="1">
            <a:spLocks noChangeArrowheads="1"/>
          </p:cNvSpPr>
          <p:nvPr/>
        </p:nvSpPr>
        <p:spPr bwMode="auto">
          <a:xfrm>
            <a:off x="2672390" y="4343843"/>
            <a:ext cx="1162498" cy="3196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1pPr>
            <a:lvl2pPr marL="742950" indent="-285750"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2pPr>
            <a:lvl3pPr marL="1143000" indent="-228600"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3pPr>
            <a:lvl4pPr marL="1600200" indent="-228600"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4pPr>
            <a:lvl5pPr marL="2057400" indent="-228600"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9pPr>
          </a:lstStyle>
          <a:p>
            <a:r>
              <a:rPr lang="ko-KR" altLang="en-US" sz="1477">
                <a:latin typeface="함초롬바탕" panose="02030504000101010101" pitchFamily="18" charset="-127"/>
                <a:ea typeface="함초롬바탕" panose="02030504000101010101" pitchFamily="18" charset="-127"/>
              </a:rPr>
              <a:t>송신호스트 </a:t>
            </a:r>
          </a:p>
        </p:txBody>
      </p:sp>
      <p:sp>
        <p:nvSpPr>
          <p:cNvPr id="60" name="오른쪽 화살표 59"/>
          <p:cNvSpPr/>
          <p:nvPr/>
        </p:nvSpPr>
        <p:spPr>
          <a:xfrm>
            <a:off x="4980085" y="888531"/>
            <a:ext cx="3632689" cy="580292"/>
          </a:xfrm>
          <a:prstGeom prst="rightArrow">
            <a:avLst>
              <a:gd name="adj1" fmla="val 50000"/>
              <a:gd name="adj2" fmla="val 86095"/>
            </a:avLst>
          </a:prstGeom>
          <a:solidFill>
            <a:schemeClr val="bg1">
              <a:lumMod val="85000"/>
            </a:schemeClr>
          </a:solidFill>
          <a:ln cap="sq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886"/>
          </a:p>
        </p:txBody>
      </p:sp>
      <p:sp>
        <p:nvSpPr>
          <p:cNvPr id="99335" name="TextBox 60"/>
          <p:cNvSpPr txBox="1">
            <a:spLocks noChangeArrowheads="1"/>
          </p:cNvSpPr>
          <p:nvPr/>
        </p:nvSpPr>
        <p:spPr bwMode="auto">
          <a:xfrm>
            <a:off x="5415305" y="1036537"/>
            <a:ext cx="2295821" cy="3196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1pPr>
            <a:lvl2pPr marL="742950" indent="-285750"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2pPr>
            <a:lvl3pPr marL="1143000" indent="-228600"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3pPr>
            <a:lvl4pPr marL="1600200" indent="-228600"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4pPr>
            <a:lvl5pPr marL="2057400" indent="-228600"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9pPr>
          </a:lstStyle>
          <a:p>
            <a:r>
              <a:rPr lang="en-US" altLang="ko-KR" sz="1477" dirty="0">
                <a:latin typeface="Times New Roman" panose="02020603050405020304" pitchFamily="18" charset="0"/>
                <a:cs typeface="Times New Roman" panose="02020603050405020304" pitchFamily="18" charset="0"/>
              </a:rPr>
              <a:t>SN=</a:t>
            </a:r>
            <a:r>
              <a:rPr lang="en-US" altLang="ko-KR" sz="1477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5000 (</a:t>
            </a:r>
            <a:r>
              <a:rPr lang="en-US" altLang="ko-KR" sz="1477" dirty="0">
                <a:solidFill>
                  <a:schemeClr val="accent2"/>
                </a:solidFill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Data Size : 500</a:t>
            </a:r>
            <a:r>
              <a:rPr lang="en-US" altLang="ko-KR" sz="1477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)</a:t>
            </a:r>
            <a:r>
              <a:rPr lang="ko-KR" altLang="en-US" sz="1477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 </a:t>
            </a:r>
          </a:p>
        </p:txBody>
      </p:sp>
      <p:sp>
        <p:nvSpPr>
          <p:cNvPr id="62" name="오른쪽 화살표 61"/>
          <p:cNvSpPr/>
          <p:nvPr/>
        </p:nvSpPr>
        <p:spPr>
          <a:xfrm rot="10800000">
            <a:off x="4980085" y="1605105"/>
            <a:ext cx="3632689" cy="580292"/>
          </a:xfrm>
          <a:prstGeom prst="rightArrow">
            <a:avLst>
              <a:gd name="adj1" fmla="val 50000"/>
              <a:gd name="adj2" fmla="val 86095"/>
            </a:avLst>
          </a:prstGeom>
          <a:noFill/>
          <a:ln cap="sq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886"/>
          </a:p>
        </p:txBody>
      </p:sp>
      <p:sp>
        <p:nvSpPr>
          <p:cNvPr id="64" name="오른쪽 화살표 63"/>
          <p:cNvSpPr/>
          <p:nvPr/>
        </p:nvSpPr>
        <p:spPr>
          <a:xfrm>
            <a:off x="4971293" y="2321678"/>
            <a:ext cx="3632689" cy="578827"/>
          </a:xfrm>
          <a:prstGeom prst="rightArrow">
            <a:avLst>
              <a:gd name="adj1" fmla="val 50000"/>
              <a:gd name="adj2" fmla="val 86095"/>
            </a:avLst>
          </a:prstGeom>
          <a:solidFill>
            <a:schemeClr val="bg1">
              <a:lumMod val="85000"/>
            </a:schemeClr>
          </a:solidFill>
          <a:ln cap="sq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886"/>
          </a:p>
        </p:txBody>
      </p:sp>
      <p:sp>
        <p:nvSpPr>
          <p:cNvPr id="66" name="오른쪽 화살표 65"/>
          <p:cNvSpPr/>
          <p:nvPr/>
        </p:nvSpPr>
        <p:spPr>
          <a:xfrm rot="10800000">
            <a:off x="4965430" y="3063162"/>
            <a:ext cx="3634154" cy="580292"/>
          </a:xfrm>
          <a:prstGeom prst="rightArrow">
            <a:avLst>
              <a:gd name="adj1" fmla="val 50000"/>
              <a:gd name="adj2" fmla="val 86095"/>
            </a:avLst>
          </a:prstGeom>
          <a:noFill/>
          <a:ln cap="sq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886"/>
          </a:p>
        </p:txBody>
      </p:sp>
      <p:sp>
        <p:nvSpPr>
          <p:cNvPr id="68" name="오른쪽 화살표 67"/>
          <p:cNvSpPr/>
          <p:nvPr/>
        </p:nvSpPr>
        <p:spPr>
          <a:xfrm>
            <a:off x="4978619" y="5168809"/>
            <a:ext cx="3634154" cy="580292"/>
          </a:xfrm>
          <a:prstGeom prst="rightArrow">
            <a:avLst>
              <a:gd name="adj1" fmla="val 50000"/>
              <a:gd name="adj2" fmla="val 86095"/>
            </a:avLst>
          </a:prstGeom>
          <a:solidFill>
            <a:schemeClr val="bg1">
              <a:lumMod val="85000"/>
            </a:schemeClr>
          </a:solidFill>
          <a:ln cap="sq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886"/>
          </a:p>
        </p:txBody>
      </p:sp>
      <p:sp>
        <p:nvSpPr>
          <p:cNvPr id="70" name="오른쪽 화살표 69"/>
          <p:cNvSpPr/>
          <p:nvPr/>
        </p:nvSpPr>
        <p:spPr>
          <a:xfrm rot="10800000">
            <a:off x="4978619" y="5882451"/>
            <a:ext cx="3634154" cy="580292"/>
          </a:xfrm>
          <a:prstGeom prst="rightArrow">
            <a:avLst>
              <a:gd name="adj1" fmla="val 50000"/>
              <a:gd name="adj2" fmla="val 86095"/>
            </a:avLst>
          </a:prstGeom>
          <a:noFill/>
          <a:ln cap="sq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886"/>
          </a:p>
        </p:txBody>
      </p:sp>
      <p:sp>
        <p:nvSpPr>
          <p:cNvPr id="99341" name="TextBox 73"/>
          <p:cNvSpPr txBox="1">
            <a:spLocks noChangeArrowheads="1"/>
          </p:cNvSpPr>
          <p:nvPr/>
        </p:nvSpPr>
        <p:spPr bwMode="auto">
          <a:xfrm>
            <a:off x="9478630" y="4024204"/>
            <a:ext cx="1162498" cy="3196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1pPr>
            <a:lvl2pPr marL="742950" indent="-285750"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2pPr>
            <a:lvl3pPr marL="1143000" indent="-228600"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3pPr>
            <a:lvl4pPr marL="1600200" indent="-228600"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4pPr>
            <a:lvl5pPr marL="2057400" indent="-228600"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9pPr>
          </a:lstStyle>
          <a:p>
            <a:r>
              <a:rPr lang="ko-KR" altLang="en-US" sz="1477">
                <a:latin typeface="함초롬바탕" panose="02030504000101010101" pitchFamily="18" charset="-127"/>
                <a:ea typeface="함초롬바탕" panose="02030504000101010101" pitchFamily="18" charset="-127"/>
              </a:rPr>
              <a:t>수신호스트 </a:t>
            </a:r>
          </a:p>
        </p:txBody>
      </p:sp>
      <p:sp>
        <p:nvSpPr>
          <p:cNvPr id="99342" name="TextBox 74"/>
          <p:cNvSpPr txBox="1">
            <a:spLocks noChangeArrowheads="1"/>
          </p:cNvSpPr>
          <p:nvPr/>
        </p:nvSpPr>
        <p:spPr bwMode="auto">
          <a:xfrm>
            <a:off x="6099639" y="1751645"/>
            <a:ext cx="1039067" cy="3196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1pPr>
            <a:lvl2pPr marL="742950" indent="-285750"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2pPr>
            <a:lvl3pPr marL="1143000" indent="-228600"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3pPr>
            <a:lvl4pPr marL="1600200" indent="-228600"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4pPr>
            <a:lvl5pPr marL="2057400" indent="-228600"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9pPr>
          </a:lstStyle>
          <a:p>
            <a:r>
              <a:rPr lang="en-US" altLang="ko-KR" sz="1477" dirty="0">
                <a:solidFill>
                  <a:schemeClr val="tx1">
                    <a:lumMod val="85000"/>
                    <a:lumOff val="15000"/>
                  </a:schemeClr>
                </a:solidFill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AN=5200 </a:t>
            </a:r>
            <a:r>
              <a:rPr lang="ko-KR" altLang="en-US" sz="1477" dirty="0">
                <a:solidFill>
                  <a:schemeClr val="tx1">
                    <a:lumMod val="85000"/>
                    <a:lumOff val="15000"/>
                  </a:schemeClr>
                </a:solidFill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 </a:t>
            </a:r>
          </a:p>
        </p:txBody>
      </p:sp>
      <p:sp>
        <p:nvSpPr>
          <p:cNvPr id="99343" name="TextBox 75"/>
          <p:cNvSpPr txBox="1">
            <a:spLocks noChangeArrowheads="1"/>
          </p:cNvSpPr>
          <p:nvPr/>
        </p:nvSpPr>
        <p:spPr bwMode="auto">
          <a:xfrm>
            <a:off x="6114292" y="3221425"/>
            <a:ext cx="1087157" cy="3196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1pPr>
            <a:lvl2pPr marL="742950" indent="-285750"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2pPr>
            <a:lvl3pPr marL="1143000" indent="-228600"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3pPr>
            <a:lvl4pPr marL="1600200" indent="-228600"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4pPr>
            <a:lvl5pPr marL="2057400" indent="-228600"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9pPr>
          </a:lstStyle>
          <a:p>
            <a:r>
              <a:rPr lang="en-US" altLang="ko-KR" sz="1477" dirty="0">
                <a:solidFill>
                  <a:schemeClr val="tx1">
                    <a:lumMod val="85000"/>
                    <a:lumOff val="15000"/>
                  </a:schemeClr>
                </a:solidFill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AN= </a:t>
            </a:r>
            <a:r>
              <a:rPr lang="en-US" altLang="ko-KR" sz="1477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5400 </a:t>
            </a:r>
            <a:r>
              <a:rPr lang="ko-KR" altLang="en-US" sz="1477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 </a:t>
            </a:r>
          </a:p>
        </p:txBody>
      </p:sp>
      <p:sp>
        <p:nvSpPr>
          <p:cNvPr id="99344" name="TextBox 76"/>
          <p:cNvSpPr txBox="1">
            <a:spLocks noChangeArrowheads="1"/>
          </p:cNvSpPr>
          <p:nvPr/>
        </p:nvSpPr>
        <p:spPr bwMode="auto">
          <a:xfrm>
            <a:off x="6187561" y="6017267"/>
            <a:ext cx="1350050" cy="3196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1pPr>
            <a:lvl2pPr marL="742950" indent="-285750"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2pPr>
            <a:lvl3pPr marL="1143000" indent="-228600"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3pPr>
            <a:lvl4pPr marL="1600200" indent="-228600"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4pPr>
            <a:lvl5pPr marL="2057400" indent="-228600"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9pPr>
          </a:lstStyle>
          <a:p>
            <a:r>
              <a:rPr lang="en-US" altLang="ko-KR" sz="1477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ACK # : 6000 </a:t>
            </a:r>
            <a:r>
              <a:rPr lang="ko-KR" altLang="en-US" sz="1477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 </a:t>
            </a:r>
          </a:p>
        </p:txBody>
      </p:sp>
      <p:sp>
        <p:nvSpPr>
          <p:cNvPr id="99345" name="TextBox 77"/>
          <p:cNvSpPr txBox="1">
            <a:spLocks noChangeArrowheads="1"/>
          </p:cNvSpPr>
          <p:nvPr/>
        </p:nvSpPr>
        <p:spPr bwMode="auto">
          <a:xfrm>
            <a:off x="5306867" y="2466753"/>
            <a:ext cx="2295821" cy="3196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1pPr>
            <a:lvl2pPr marL="742950" indent="-285750"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2pPr>
            <a:lvl3pPr marL="1143000" indent="-228600"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3pPr>
            <a:lvl4pPr marL="1600200" indent="-228600"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4pPr>
            <a:lvl5pPr marL="2057400" indent="-228600"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9pPr>
          </a:lstStyle>
          <a:p>
            <a:r>
              <a:rPr lang="en-US" altLang="ko-KR" sz="1477" dirty="0">
                <a:latin typeface="Times New Roman" panose="02020603050405020304" pitchFamily="18" charset="0"/>
                <a:cs typeface="Times New Roman" panose="02020603050405020304" pitchFamily="18" charset="0"/>
              </a:rPr>
              <a:t>SN=</a:t>
            </a:r>
            <a:r>
              <a:rPr lang="en-US" altLang="ko-KR" sz="1477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5000 (</a:t>
            </a:r>
            <a:r>
              <a:rPr lang="en-US" altLang="ko-KR" sz="1477" dirty="0">
                <a:solidFill>
                  <a:schemeClr val="accent2"/>
                </a:solidFill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Data Size : 500</a:t>
            </a:r>
            <a:r>
              <a:rPr lang="en-US" altLang="ko-KR" sz="1477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)</a:t>
            </a:r>
            <a:r>
              <a:rPr lang="ko-KR" altLang="en-US" sz="1477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 </a:t>
            </a:r>
          </a:p>
        </p:txBody>
      </p:sp>
      <p:sp>
        <p:nvSpPr>
          <p:cNvPr id="99346" name="TextBox 78"/>
          <p:cNvSpPr txBox="1">
            <a:spLocks noChangeArrowheads="1"/>
          </p:cNvSpPr>
          <p:nvPr/>
        </p:nvSpPr>
        <p:spPr bwMode="auto">
          <a:xfrm>
            <a:off x="5328848" y="5318279"/>
            <a:ext cx="2343911" cy="3196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1pPr>
            <a:lvl2pPr marL="742950" indent="-285750"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2pPr>
            <a:lvl3pPr marL="1143000" indent="-228600"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3pPr>
            <a:lvl4pPr marL="1600200" indent="-228600"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4pPr>
            <a:lvl5pPr marL="2057400" indent="-228600"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9pPr>
          </a:lstStyle>
          <a:p>
            <a:r>
              <a:rPr lang="en-US" altLang="ko-KR" sz="1477" dirty="0">
                <a:latin typeface="Times New Roman" panose="02020603050405020304" pitchFamily="18" charset="0"/>
                <a:cs typeface="Times New Roman" panose="02020603050405020304" pitchFamily="18" charset="0"/>
              </a:rPr>
              <a:t>SN=</a:t>
            </a:r>
            <a:r>
              <a:rPr lang="en-US" altLang="ko-KR" sz="1477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5500  (</a:t>
            </a:r>
            <a:r>
              <a:rPr lang="en-US" altLang="ko-KR" sz="1477" dirty="0">
                <a:solidFill>
                  <a:schemeClr val="accent2"/>
                </a:solidFill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Data Size : 600</a:t>
            </a:r>
            <a:r>
              <a:rPr lang="en-US" altLang="ko-KR" sz="1477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)</a:t>
            </a:r>
            <a:r>
              <a:rPr lang="ko-KR" altLang="en-US" sz="1477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 </a:t>
            </a:r>
          </a:p>
        </p:txBody>
      </p:sp>
      <p:sp>
        <p:nvSpPr>
          <p:cNvPr id="71" name="직사각형 70"/>
          <p:cNvSpPr/>
          <p:nvPr/>
        </p:nvSpPr>
        <p:spPr>
          <a:xfrm>
            <a:off x="3187414" y="2145677"/>
            <a:ext cx="803409" cy="39750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4" dirty="0">
                <a:latin typeface="Times New Roman" panose="02020603050405020304" pitchFamily="18" charset="0"/>
                <a:cs typeface="Times New Roman" panose="02020603050405020304" pitchFamily="18" charset="0"/>
              </a:rPr>
              <a:t>500</a:t>
            </a:r>
            <a:endParaRPr lang="ko-KR" altLang="en-US" sz="1504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2" name="직사각형 71"/>
          <p:cNvSpPr/>
          <p:nvPr/>
        </p:nvSpPr>
        <p:spPr>
          <a:xfrm>
            <a:off x="2293800" y="2145677"/>
            <a:ext cx="803409" cy="397508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4" dirty="0">
                <a:latin typeface="Times New Roman" panose="02020603050405020304" pitchFamily="18" charset="0"/>
                <a:cs typeface="Times New Roman" panose="02020603050405020304" pitchFamily="18" charset="0"/>
              </a:rPr>
              <a:t>600</a:t>
            </a:r>
            <a:endParaRPr lang="ko-KR" altLang="en-US" sz="1504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3" name="직사각형 72"/>
          <p:cNvSpPr/>
          <p:nvPr/>
        </p:nvSpPr>
        <p:spPr>
          <a:xfrm>
            <a:off x="1400186" y="2145677"/>
            <a:ext cx="803409" cy="397508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4" dirty="0">
                <a:latin typeface="Times New Roman" panose="02020603050405020304" pitchFamily="18" charset="0"/>
                <a:cs typeface="Times New Roman" panose="02020603050405020304" pitchFamily="18" charset="0"/>
              </a:rPr>
              <a:t>300</a:t>
            </a:r>
            <a:endParaRPr lang="ko-KR" altLang="en-US" sz="1504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4" name="TextBox 73"/>
          <p:cNvSpPr txBox="1"/>
          <p:nvPr/>
        </p:nvSpPr>
        <p:spPr>
          <a:xfrm>
            <a:off x="3224019" y="1870562"/>
            <a:ext cx="763351" cy="2723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17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SN=5000</a:t>
            </a:r>
            <a:endParaRPr lang="ko-KR" altLang="en-US" sz="117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5" name="TextBox 74"/>
          <p:cNvSpPr txBox="1"/>
          <p:nvPr/>
        </p:nvSpPr>
        <p:spPr>
          <a:xfrm>
            <a:off x="2347233" y="1869918"/>
            <a:ext cx="763351" cy="2723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17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SN=5500</a:t>
            </a:r>
            <a:endParaRPr lang="ko-KR" altLang="en-US" sz="117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6" name="TextBox 75"/>
          <p:cNvSpPr txBox="1"/>
          <p:nvPr/>
        </p:nvSpPr>
        <p:spPr>
          <a:xfrm>
            <a:off x="1450762" y="1871094"/>
            <a:ext cx="763351" cy="2723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17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SN=6100</a:t>
            </a:r>
            <a:endParaRPr lang="ko-KR" altLang="en-US" sz="117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8" name="오른쪽 화살표 77"/>
          <p:cNvSpPr/>
          <p:nvPr/>
        </p:nvSpPr>
        <p:spPr>
          <a:xfrm>
            <a:off x="4965534" y="3783929"/>
            <a:ext cx="3632689" cy="578827"/>
          </a:xfrm>
          <a:prstGeom prst="rightArrow">
            <a:avLst>
              <a:gd name="adj1" fmla="val 50000"/>
              <a:gd name="adj2" fmla="val 86095"/>
            </a:avLst>
          </a:prstGeom>
          <a:solidFill>
            <a:schemeClr val="bg1">
              <a:lumMod val="85000"/>
            </a:schemeClr>
          </a:solidFill>
          <a:ln cap="sq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886"/>
          </a:p>
        </p:txBody>
      </p:sp>
      <p:sp>
        <p:nvSpPr>
          <p:cNvPr id="79" name="오른쪽 화살표 78"/>
          <p:cNvSpPr/>
          <p:nvPr/>
        </p:nvSpPr>
        <p:spPr>
          <a:xfrm rot="10800000">
            <a:off x="4959671" y="4525413"/>
            <a:ext cx="3634154" cy="580292"/>
          </a:xfrm>
          <a:prstGeom prst="rightArrow">
            <a:avLst>
              <a:gd name="adj1" fmla="val 50000"/>
              <a:gd name="adj2" fmla="val 86095"/>
            </a:avLst>
          </a:prstGeom>
          <a:noFill/>
          <a:ln cap="sq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886"/>
          </a:p>
        </p:txBody>
      </p:sp>
      <p:sp>
        <p:nvSpPr>
          <p:cNvPr id="80" name="TextBox 75"/>
          <p:cNvSpPr txBox="1">
            <a:spLocks noChangeArrowheads="1"/>
          </p:cNvSpPr>
          <p:nvPr/>
        </p:nvSpPr>
        <p:spPr bwMode="auto">
          <a:xfrm>
            <a:off x="6108533" y="4683676"/>
            <a:ext cx="1087157" cy="3196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1pPr>
            <a:lvl2pPr marL="742950" indent="-285750"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2pPr>
            <a:lvl3pPr marL="1143000" indent="-228600"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3pPr>
            <a:lvl4pPr marL="1600200" indent="-228600"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4pPr>
            <a:lvl5pPr marL="2057400" indent="-228600"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9pPr>
          </a:lstStyle>
          <a:p>
            <a:r>
              <a:rPr lang="en-US" altLang="ko-KR" sz="1477" dirty="0">
                <a:solidFill>
                  <a:schemeClr val="tx1">
                    <a:lumMod val="85000"/>
                    <a:lumOff val="15000"/>
                  </a:schemeClr>
                </a:solidFill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AN= </a:t>
            </a:r>
            <a:r>
              <a:rPr lang="en-US" altLang="ko-KR" sz="1477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5500 </a:t>
            </a:r>
            <a:r>
              <a:rPr lang="ko-KR" altLang="en-US" sz="1477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 </a:t>
            </a:r>
          </a:p>
        </p:txBody>
      </p:sp>
      <p:sp>
        <p:nvSpPr>
          <p:cNvPr id="81" name="TextBox 77"/>
          <p:cNvSpPr txBox="1">
            <a:spLocks noChangeArrowheads="1"/>
          </p:cNvSpPr>
          <p:nvPr/>
        </p:nvSpPr>
        <p:spPr bwMode="auto">
          <a:xfrm>
            <a:off x="5301108" y="3929004"/>
            <a:ext cx="2295821" cy="3196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1pPr>
            <a:lvl2pPr marL="742950" indent="-285750"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2pPr>
            <a:lvl3pPr marL="1143000" indent="-228600"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3pPr>
            <a:lvl4pPr marL="1600200" indent="-228600"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4pPr>
            <a:lvl5pPr marL="2057400" indent="-228600"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9pPr>
          </a:lstStyle>
          <a:p>
            <a:r>
              <a:rPr lang="en-US" altLang="ko-KR" sz="1477" dirty="0">
                <a:latin typeface="Times New Roman" panose="02020603050405020304" pitchFamily="18" charset="0"/>
                <a:cs typeface="Times New Roman" panose="02020603050405020304" pitchFamily="18" charset="0"/>
              </a:rPr>
              <a:t>SN=</a:t>
            </a:r>
            <a:r>
              <a:rPr lang="en-US" altLang="ko-KR" sz="1477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5000 (</a:t>
            </a:r>
            <a:r>
              <a:rPr lang="en-US" altLang="ko-KR" sz="1477" dirty="0">
                <a:solidFill>
                  <a:schemeClr val="accent2"/>
                </a:solidFill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Data Size : 500</a:t>
            </a:r>
            <a:r>
              <a:rPr lang="en-US" altLang="ko-KR" sz="1477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)</a:t>
            </a:r>
            <a:r>
              <a:rPr lang="ko-KR" altLang="en-US" sz="1477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3504682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0669" y="3055412"/>
            <a:ext cx="1127526" cy="1127526"/>
          </a:xfrm>
          <a:prstGeom prst="rect">
            <a:avLst/>
          </a:prstGeom>
        </p:spPr>
      </p:pic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>
          <a:xfrm>
            <a:off x="9172575" y="6336906"/>
            <a:ext cx="2743200" cy="365125"/>
          </a:xfrm>
        </p:spPr>
        <p:txBody>
          <a:bodyPr/>
          <a:lstStyle/>
          <a:p>
            <a:fld id="{7B2209E9-2AE8-42A0-AB53-D13299BB30AF}" type="slidenum">
              <a:rPr lang="ko-KR" altLang="en-US" smtClean="0"/>
              <a:pPr/>
              <a:t>23</a:t>
            </a:fld>
            <a:endParaRPr lang="ko-KR" altLang="en-US" dirty="0"/>
          </a:p>
        </p:txBody>
      </p:sp>
      <p:sp>
        <p:nvSpPr>
          <p:cNvPr id="99330" name="제목 1"/>
          <p:cNvSpPr>
            <a:spLocks noGrp="1"/>
          </p:cNvSpPr>
          <p:nvPr>
            <p:ph type="title" idx="4294967295"/>
          </p:nvPr>
        </p:nvSpPr>
        <p:spPr bwMode="auto">
          <a:xfrm>
            <a:off x="0" y="407988"/>
            <a:ext cx="7280275" cy="481012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84406" tIns="42203" rIns="84406" bIns="42203" numCol="1" rtlCol="0" anchor="t" anchorCtr="0" compatLnSpc="1">
            <a:prstTxWarp prst="textNoShape">
              <a:avLst/>
            </a:prstTxWarp>
            <a:noAutofit/>
          </a:bodyPr>
          <a:lstStyle/>
          <a:p>
            <a:r>
              <a:rPr lang="en-US" altLang="ko-KR" sz="24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❷ </a:t>
            </a:r>
            <a:r>
              <a:rPr lang="ko-KR" altLang="en-US" sz="2400" dirty="0">
                <a:ea typeface="함초롬바탕" panose="02030504000101010101"/>
              </a:rPr>
              <a:t>비정상적인 트래픽 </a:t>
            </a:r>
            <a:r>
              <a:rPr lang="ko-KR" altLang="en-US" sz="2400">
                <a:ea typeface="함초롬바탕" panose="02030504000101010101"/>
              </a:rPr>
              <a:t>전송 과정</a:t>
            </a:r>
            <a:r>
              <a:rPr lang="en-US" altLang="ko-KR" sz="2400" dirty="0">
                <a:ea typeface="함초롬바탕" panose="02030504000101010101"/>
              </a:rPr>
              <a:t>(2)</a:t>
            </a:r>
            <a:r>
              <a:rPr lang="ko-KR" altLang="en-US" sz="2400">
                <a:ea typeface="함초롬바탕" panose="02030504000101010101"/>
              </a:rPr>
              <a:t> </a:t>
            </a:r>
            <a:endParaRPr lang="ko-KR" altLang="en-US" sz="2400" dirty="0">
              <a:ea typeface="함초롬바탕" panose="02030504000101010101"/>
            </a:endParaRPr>
          </a:p>
        </p:txBody>
      </p:sp>
      <p:grpSp>
        <p:nvGrpSpPr>
          <p:cNvPr id="99331" name="그룹 3"/>
          <p:cNvGrpSpPr>
            <a:grpSpLocks/>
          </p:cNvGrpSpPr>
          <p:nvPr/>
        </p:nvGrpSpPr>
        <p:grpSpPr bwMode="auto">
          <a:xfrm flipH="1">
            <a:off x="9479511" y="3253714"/>
            <a:ext cx="868973" cy="942566"/>
            <a:chOff x="1533695" y="4087365"/>
            <a:chExt cx="838200" cy="1008269"/>
          </a:xfrm>
        </p:grpSpPr>
        <p:sp>
          <p:nvSpPr>
            <p:cNvPr id="6" name="Freeform 174"/>
            <p:cNvSpPr>
              <a:spLocks/>
            </p:cNvSpPr>
            <p:nvPr/>
          </p:nvSpPr>
          <p:spPr bwMode="auto">
            <a:xfrm rot="355818">
              <a:off x="2175420" y="4753566"/>
              <a:ext cx="74915" cy="53296"/>
            </a:xfrm>
            <a:custGeom>
              <a:avLst/>
              <a:gdLst>
                <a:gd name="T0" fmla="*/ 1224 w 1224"/>
                <a:gd name="T1" fmla="*/ 755 h 755"/>
                <a:gd name="T2" fmla="*/ 1112 w 1224"/>
                <a:gd name="T3" fmla="*/ 716 h 755"/>
                <a:gd name="T4" fmla="*/ 1051 w 1224"/>
                <a:gd name="T5" fmla="*/ 693 h 755"/>
                <a:gd name="T6" fmla="*/ 1006 w 1224"/>
                <a:gd name="T7" fmla="*/ 671 h 755"/>
                <a:gd name="T8" fmla="*/ 984 w 1224"/>
                <a:gd name="T9" fmla="*/ 660 h 755"/>
                <a:gd name="T10" fmla="*/ 939 w 1224"/>
                <a:gd name="T11" fmla="*/ 626 h 755"/>
                <a:gd name="T12" fmla="*/ 894 w 1224"/>
                <a:gd name="T13" fmla="*/ 548 h 755"/>
                <a:gd name="T14" fmla="*/ 889 w 1224"/>
                <a:gd name="T15" fmla="*/ 531 h 755"/>
                <a:gd name="T16" fmla="*/ 850 w 1224"/>
                <a:gd name="T17" fmla="*/ 509 h 755"/>
                <a:gd name="T18" fmla="*/ 799 w 1224"/>
                <a:gd name="T19" fmla="*/ 481 h 755"/>
                <a:gd name="T20" fmla="*/ 704 w 1224"/>
                <a:gd name="T21" fmla="*/ 453 h 755"/>
                <a:gd name="T22" fmla="*/ 419 w 1224"/>
                <a:gd name="T23" fmla="*/ 442 h 755"/>
                <a:gd name="T24" fmla="*/ 330 w 1224"/>
                <a:gd name="T25" fmla="*/ 408 h 755"/>
                <a:gd name="T26" fmla="*/ 212 w 1224"/>
                <a:gd name="T27" fmla="*/ 279 h 755"/>
                <a:gd name="T28" fmla="*/ 145 w 1224"/>
                <a:gd name="T29" fmla="*/ 134 h 755"/>
                <a:gd name="T30" fmla="*/ 78 w 1224"/>
                <a:gd name="T31" fmla="*/ 39 h 755"/>
                <a:gd name="T32" fmla="*/ 0 w 1224"/>
                <a:gd name="T33" fmla="*/ 0 h 755"/>
                <a:gd name="T34" fmla="*/ 0 60000 65536"/>
                <a:gd name="T35" fmla="*/ 0 60000 65536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w 1224"/>
                <a:gd name="T52" fmla="*/ 0 h 755"/>
                <a:gd name="T53" fmla="*/ 1224 w 1224"/>
                <a:gd name="T54" fmla="*/ 755 h 755"/>
              </a:gdLst>
              <a:ahLst/>
              <a:cxnLst>
                <a:cxn ang="T34">
                  <a:pos x="T0" y="T1"/>
                </a:cxn>
                <a:cxn ang="T35">
                  <a:pos x="T2" y="T3"/>
                </a:cxn>
                <a:cxn ang="T36">
                  <a:pos x="T4" y="T5"/>
                </a:cxn>
                <a:cxn ang="T37">
                  <a:pos x="T6" y="T7"/>
                </a:cxn>
                <a:cxn ang="T38">
                  <a:pos x="T8" y="T9"/>
                </a:cxn>
                <a:cxn ang="T39">
                  <a:pos x="T10" y="T11"/>
                </a:cxn>
                <a:cxn ang="T40">
                  <a:pos x="T12" y="T13"/>
                </a:cxn>
                <a:cxn ang="T41">
                  <a:pos x="T14" y="T15"/>
                </a:cxn>
                <a:cxn ang="T42">
                  <a:pos x="T16" y="T17"/>
                </a:cxn>
                <a:cxn ang="T43">
                  <a:pos x="T18" y="T19"/>
                </a:cxn>
                <a:cxn ang="T44">
                  <a:pos x="T20" y="T21"/>
                </a:cxn>
                <a:cxn ang="T45">
                  <a:pos x="T22" y="T23"/>
                </a:cxn>
                <a:cxn ang="T46">
                  <a:pos x="T24" y="T25"/>
                </a:cxn>
                <a:cxn ang="T47">
                  <a:pos x="T26" y="T27"/>
                </a:cxn>
                <a:cxn ang="T48">
                  <a:pos x="T28" y="T29"/>
                </a:cxn>
                <a:cxn ang="T49">
                  <a:pos x="T30" y="T31"/>
                </a:cxn>
                <a:cxn ang="T50">
                  <a:pos x="T32" y="T33"/>
                </a:cxn>
              </a:cxnLst>
              <a:rect l="T51" t="T52" r="T53" b="T54"/>
              <a:pathLst>
                <a:path w="1224" h="755">
                  <a:moveTo>
                    <a:pt x="1224" y="755"/>
                  </a:moveTo>
                  <a:cubicBezTo>
                    <a:pt x="1190" y="729"/>
                    <a:pt x="1154" y="724"/>
                    <a:pt x="1112" y="716"/>
                  </a:cubicBezTo>
                  <a:cubicBezTo>
                    <a:pt x="1091" y="705"/>
                    <a:pt x="1072" y="702"/>
                    <a:pt x="1051" y="693"/>
                  </a:cubicBezTo>
                  <a:cubicBezTo>
                    <a:pt x="1036" y="686"/>
                    <a:pt x="1021" y="678"/>
                    <a:pt x="1006" y="671"/>
                  </a:cubicBezTo>
                  <a:cubicBezTo>
                    <a:pt x="999" y="667"/>
                    <a:pt x="984" y="660"/>
                    <a:pt x="984" y="660"/>
                  </a:cubicBezTo>
                  <a:cubicBezTo>
                    <a:pt x="971" y="646"/>
                    <a:pt x="939" y="626"/>
                    <a:pt x="939" y="626"/>
                  </a:cubicBezTo>
                  <a:cubicBezTo>
                    <a:pt x="923" y="602"/>
                    <a:pt x="906" y="575"/>
                    <a:pt x="894" y="548"/>
                  </a:cubicBezTo>
                  <a:cubicBezTo>
                    <a:pt x="892" y="543"/>
                    <a:pt x="893" y="536"/>
                    <a:pt x="889" y="531"/>
                  </a:cubicBezTo>
                  <a:cubicBezTo>
                    <a:pt x="884" y="524"/>
                    <a:pt x="855" y="512"/>
                    <a:pt x="850" y="509"/>
                  </a:cubicBezTo>
                  <a:cubicBezTo>
                    <a:pt x="802" y="480"/>
                    <a:pt x="833" y="491"/>
                    <a:pt x="799" y="481"/>
                  </a:cubicBezTo>
                  <a:cubicBezTo>
                    <a:pt x="764" y="457"/>
                    <a:pt x="751" y="457"/>
                    <a:pt x="704" y="453"/>
                  </a:cubicBezTo>
                  <a:cubicBezTo>
                    <a:pt x="606" y="457"/>
                    <a:pt x="515" y="459"/>
                    <a:pt x="419" y="442"/>
                  </a:cubicBezTo>
                  <a:cubicBezTo>
                    <a:pt x="391" y="426"/>
                    <a:pt x="360" y="419"/>
                    <a:pt x="330" y="408"/>
                  </a:cubicBezTo>
                  <a:cubicBezTo>
                    <a:pt x="287" y="368"/>
                    <a:pt x="245" y="328"/>
                    <a:pt x="212" y="279"/>
                  </a:cubicBezTo>
                  <a:cubicBezTo>
                    <a:pt x="183" y="235"/>
                    <a:pt x="168" y="181"/>
                    <a:pt x="145" y="134"/>
                  </a:cubicBezTo>
                  <a:cubicBezTo>
                    <a:pt x="128" y="100"/>
                    <a:pt x="99" y="71"/>
                    <a:pt x="78" y="39"/>
                  </a:cubicBezTo>
                  <a:cubicBezTo>
                    <a:pt x="70" y="27"/>
                    <a:pt x="15" y="7"/>
                    <a:pt x="0" y="0"/>
                  </a:cubicBezTo>
                </a:path>
              </a:pathLst>
            </a:custGeom>
            <a:noFill/>
            <a:ln w="12700">
              <a:solidFill>
                <a:srgbClr val="969696"/>
              </a:solidFill>
              <a:round/>
              <a:headEnd/>
              <a:tailEnd/>
            </a:ln>
          </p:spPr>
          <p:txBody>
            <a:bodyPr/>
            <a:lstStyle/>
            <a:p>
              <a:pPr>
                <a:defRPr/>
              </a:pPr>
              <a:endParaRPr lang="ko-KR" altLang="en-US" sz="1662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7" name="Freeform 175"/>
            <p:cNvSpPr>
              <a:spLocks/>
            </p:cNvSpPr>
            <p:nvPr/>
          </p:nvSpPr>
          <p:spPr bwMode="auto">
            <a:xfrm rot="355818" flipH="1">
              <a:off x="2234787" y="4802160"/>
              <a:ext cx="137108" cy="81512"/>
            </a:xfrm>
            <a:custGeom>
              <a:avLst/>
              <a:gdLst>
                <a:gd name="T0" fmla="*/ 886 w 971"/>
                <a:gd name="T1" fmla="*/ 33 h 550"/>
                <a:gd name="T2" fmla="*/ 937 w 971"/>
                <a:gd name="T3" fmla="*/ 70 h 550"/>
                <a:gd name="T4" fmla="*/ 971 w 971"/>
                <a:gd name="T5" fmla="*/ 130 h 550"/>
                <a:gd name="T6" fmla="*/ 967 w 971"/>
                <a:gd name="T7" fmla="*/ 218 h 550"/>
                <a:gd name="T8" fmla="*/ 882 w 971"/>
                <a:gd name="T9" fmla="*/ 261 h 550"/>
                <a:gd name="T10" fmla="*/ 791 w 971"/>
                <a:gd name="T11" fmla="*/ 294 h 550"/>
                <a:gd name="T12" fmla="*/ 665 w 971"/>
                <a:gd name="T13" fmla="*/ 382 h 550"/>
                <a:gd name="T14" fmla="*/ 519 w 971"/>
                <a:gd name="T15" fmla="*/ 522 h 550"/>
                <a:gd name="T16" fmla="*/ 397 w 971"/>
                <a:gd name="T17" fmla="*/ 542 h 550"/>
                <a:gd name="T18" fmla="*/ 298 w 971"/>
                <a:gd name="T19" fmla="*/ 550 h 550"/>
                <a:gd name="T20" fmla="*/ 155 w 971"/>
                <a:gd name="T21" fmla="*/ 522 h 550"/>
                <a:gd name="T22" fmla="*/ 34 w 971"/>
                <a:gd name="T23" fmla="*/ 459 h 550"/>
                <a:gd name="T24" fmla="*/ 0 w 971"/>
                <a:gd name="T25" fmla="*/ 393 h 550"/>
                <a:gd name="T26" fmla="*/ 11 w 971"/>
                <a:gd name="T27" fmla="*/ 315 h 550"/>
                <a:gd name="T28" fmla="*/ 63 w 971"/>
                <a:gd name="T29" fmla="*/ 210 h 550"/>
                <a:gd name="T30" fmla="*/ 142 w 971"/>
                <a:gd name="T31" fmla="*/ 147 h 550"/>
                <a:gd name="T32" fmla="*/ 246 w 971"/>
                <a:gd name="T33" fmla="*/ 89 h 550"/>
                <a:gd name="T34" fmla="*/ 445 w 971"/>
                <a:gd name="T35" fmla="*/ 21 h 550"/>
                <a:gd name="T36" fmla="*/ 634 w 971"/>
                <a:gd name="T37" fmla="*/ 0 h 550"/>
                <a:gd name="T38" fmla="*/ 794 w 971"/>
                <a:gd name="T39" fmla="*/ 13 h 550"/>
                <a:gd name="T40" fmla="*/ 886 w 971"/>
                <a:gd name="T41" fmla="*/ 33 h 550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60000 65536"/>
                <a:gd name="T55" fmla="*/ 0 60000 65536"/>
                <a:gd name="T56" fmla="*/ 0 60000 65536"/>
                <a:gd name="T57" fmla="*/ 0 60000 65536"/>
                <a:gd name="T58" fmla="*/ 0 60000 65536"/>
                <a:gd name="T59" fmla="*/ 0 60000 65536"/>
                <a:gd name="T60" fmla="*/ 0 60000 65536"/>
                <a:gd name="T61" fmla="*/ 0 60000 65536"/>
                <a:gd name="T62" fmla="*/ 0 60000 65536"/>
                <a:gd name="T63" fmla="*/ 0 w 971"/>
                <a:gd name="T64" fmla="*/ 0 h 550"/>
                <a:gd name="T65" fmla="*/ 971 w 971"/>
                <a:gd name="T66" fmla="*/ 550 h 550"/>
              </a:gdLst>
              <a:ahLst/>
              <a:cxnLst>
                <a:cxn ang="T42">
                  <a:pos x="T0" y="T1"/>
                </a:cxn>
                <a:cxn ang="T43">
                  <a:pos x="T2" y="T3"/>
                </a:cxn>
                <a:cxn ang="T44">
                  <a:pos x="T4" y="T5"/>
                </a:cxn>
                <a:cxn ang="T45">
                  <a:pos x="T6" y="T7"/>
                </a:cxn>
                <a:cxn ang="T46">
                  <a:pos x="T8" y="T9"/>
                </a:cxn>
                <a:cxn ang="T47">
                  <a:pos x="T10" y="T11"/>
                </a:cxn>
                <a:cxn ang="T48">
                  <a:pos x="T12" y="T13"/>
                </a:cxn>
                <a:cxn ang="T49">
                  <a:pos x="T14" y="T15"/>
                </a:cxn>
                <a:cxn ang="T50">
                  <a:pos x="T16" y="T17"/>
                </a:cxn>
                <a:cxn ang="T51">
                  <a:pos x="T18" y="T19"/>
                </a:cxn>
                <a:cxn ang="T52">
                  <a:pos x="T20" y="T21"/>
                </a:cxn>
                <a:cxn ang="T53">
                  <a:pos x="T22" y="T23"/>
                </a:cxn>
                <a:cxn ang="T54">
                  <a:pos x="T24" y="T25"/>
                </a:cxn>
                <a:cxn ang="T55">
                  <a:pos x="T26" y="T27"/>
                </a:cxn>
                <a:cxn ang="T56">
                  <a:pos x="T28" y="T29"/>
                </a:cxn>
                <a:cxn ang="T57">
                  <a:pos x="T30" y="T31"/>
                </a:cxn>
                <a:cxn ang="T58">
                  <a:pos x="T32" y="T33"/>
                </a:cxn>
                <a:cxn ang="T59">
                  <a:pos x="T34" y="T35"/>
                </a:cxn>
                <a:cxn ang="T60">
                  <a:pos x="T36" y="T37"/>
                </a:cxn>
                <a:cxn ang="T61">
                  <a:pos x="T38" y="T39"/>
                </a:cxn>
                <a:cxn ang="T62">
                  <a:pos x="T40" y="T41"/>
                </a:cxn>
              </a:cxnLst>
              <a:rect l="T63" t="T64" r="T65" b="T66"/>
              <a:pathLst>
                <a:path w="971" h="550">
                  <a:moveTo>
                    <a:pt x="886" y="33"/>
                  </a:moveTo>
                  <a:lnTo>
                    <a:pt x="937" y="70"/>
                  </a:lnTo>
                  <a:lnTo>
                    <a:pt x="971" y="130"/>
                  </a:lnTo>
                  <a:lnTo>
                    <a:pt x="967" y="218"/>
                  </a:lnTo>
                  <a:lnTo>
                    <a:pt x="882" y="261"/>
                  </a:lnTo>
                  <a:lnTo>
                    <a:pt x="791" y="294"/>
                  </a:lnTo>
                  <a:lnTo>
                    <a:pt x="665" y="382"/>
                  </a:lnTo>
                  <a:lnTo>
                    <a:pt x="519" y="522"/>
                  </a:lnTo>
                  <a:lnTo>
                    <a:pt x="397" y="542"/>
                  </a:lnTo>
                  <a:lnTo>
                    <a:pt x="298" y="550"/>
                  </a:lnTo>
                  <a:lnTo>
                    <a:pt x="155" y="522"/>
                  </a:lnTo>
                  <a:lnTo>
                    <a:pt x="34" y="459"/>
                  </a:lnTo>
                  <a:lnTo>
                    <a:pt x="0" y="393"/>
                  </a:lnTo>
                  <a:lnTo>
                    <a:pt x="11" y="315"/>
                  </a:lnTo>
                  <a:lnTo>
                    <a:pt x="63" y="210"/>
                  </a:lnTo>
                  <a:lnTo>
                    <a:pt x="142" y="147"/>
                  </a:lnTo>
                  <a:lnTo>
                    <a:pt x="246" y="89"/>
                  </a:lnTo>
                  <a:lnTo>
                    <a:pt x="445" y="21"/>
                  </a:lnTo>
                  <a:lnTo>
                    <a:pt x="634" y="0"/>
                  </a:lnTo>
                  <a:lnTo>
                    <a:pt x="794" y="13"/>
                  </a:lnTo>
                  <a:lnTo>
                    <a:pt x="886" y="33"/>
                  </a:lnTo>
                  <a:close/>
                </a:path>
              </a:pathLst>
            </a:custGeom>
            <a:gradFill rotWithShape="1">
              <a:gsLst>
                <a:gs pos="0">
                  <a:srgbClr val="EAEAEA"/>
                </a:gs>
                <a:gs pos="50000">
                  <a:srgbClr val="FFFFFF"/>
                </a:gs>
                <a:gs pos="100000">
                  <a:srgbClr val="EAEAEA"/>
                </a:gs>
              </a:gsLst>
              <a:lin ang="2700000" scaled="1"/>
            </a:gradFill>
            <a:ln w="9525">
              <a:solidFill>
                <a:srgbClr val="808080"/>
              </a:solidFill>
              <a:round/>
              <a:headEnd/>
              <a:tailEnd/>
            </a:ln>
          </p:spPr>
          <p:txBody>
            <a:bodyPr/>
            <a:lstStyle/>
            <a:p>
              <a:pPr>
                <a:defRPr/>
              </a:pPr>
              <a:endParaRPr lang="ko-KR" altLang="en-US" sz="1662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8" name="Freeform 176"/>
            <p:cNvSpPr>
              <a:spLocks/>
            </p:cNvSpPr>
            <p:nvPr/>
          </p:nvSpPr>
          <p:spPr bwMode="auto">
            <a:xfrm rot="355818">
              <a:off x="2229133" y="4830375"/>
              <a:ext cx="134281" cy="57998"/>
            </a:xfrm>
            <a:custGeom>
              <a:avLst/>
              <a:gdLst>
                <a:gd name="T0" fmla="*/ 0 w 1432"/>
                <a:gd name="T1" fmla="*/ 0 h 526"/>
                <a:gd name="T2" fmla="*/ 56 w 1432"/>
                <a:gd name="T3" fmla="*/ 118 h 526"/>
                <a:gd name="T4" fmla="*/ 319 w 1432"/>
                <a:gd name="T5" fmla="*/ 302 h 526"/>
                <a:gd name="T6" fmla="*/ 604 w 1432"/>
                <a:gd name="T7" fmla="*/ 448 h 526"/>
                <a:gd name="T8" fmla="*/ 867 w 1432"/>
                <a:gd name="T9" fmla="*/ 526 h 526"/>
                <a:gd name="T10" fmla="*/ 1091 w 1432"/>
                <a:gd name="T11" fmla="*/ 504 h 526"/>
                <a:gd name="T12" fmla="*/ 1270 w 1432"/>
                <a:gd name="T13" fmla="*/ 448 h 526"/>
                <a:gd name="T14" fmla="*/ 1432 w 1432"/>
                <a:gd name="T15" fmla="*/ 353 h 526"/>
                <a:gd name="T16" fmla="*/ 1253 w 1432"/>
                <a:gd name="T17" fmla="*/ 431 h 526"/>
                <a:gd name="T18" fmla="*/ 1108 w 1432"/>
                <a:gd name="T19" fmla="*/ 470 h 526"/>
                <a:gd name="T20" fmla="*/ 951 w 1432"/>
                <a:gd name="T21" fmla="*/ 470 h 526"/>
                <a:gd name="T22" fmla="*/ 789 w 1432"/>
                <a:gd name="T23" fmla="*/ 453 h 526"/>
                <a:gd name="T24" fmla="*/ 699 w 1432"/>
                <a:gd name="T25" fmla="*/ 420 h 526"/>
                <a:gd name="T26" fmla="*/ 560 w 1432"/>
                <a:gd name="T27" fmla="*/ 330 h 526"/>
                <a:gd name="T28" fmla="*/ 437 w 1432"/>
                <a:gd name="T29" fmla="*/ 213 h 526"/>
                <a:gd name="T30" fmla="*/ 274 w 1432"/>
                <a:gd name="T31" fmla="*/ 129 h 526"/>
                <a:gd name="T32" fmla="*/ 140 w 1432"/>
                <a:gd name="T33" fmla="*/ 73 h 526"/>
                <a:gd name="T34" fmla="*/ 0 w 1432"/>
                <a:gd name="T35" fmla="*/ 0 h 526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w 1432"/>
                <a:gd name="T55" fmla="*/ 0 h 526"/>
                <a:gd name="T56" fmla="*/ 1432 w 1432"/>
                <a:gd name="T57" fmla="*/ 526 h 526"/>
              </a:gdLst>
              <a:ahLst/>
              <a:cxnLst>
                <a:cxn ang="T36">
                  <a:pos x="T0" y="T1"/>
                </a:cxn>
                <a:cxn ang="T37">
                  <a:pos x="T2" y="T3"/>
                </a:cxn>
                <a:cxn ang="T38">
                  <a:pos x="T4" y="T5"/>
                </a:cxn>
                <a:cxn ang="T39">
                  <a:pos x="T6" y="T7"/>
                </a:cxn>
                <a:cxn ang="T40">
                  <a:pos x="T8" y="T9"/>
                </a:cxn>
                <a:cxn ang="T41">
                  <a:pos x="T10" y="T11"/>
                </a:cxn>
                <a:cxn ang="T42">
                  <a:pos x="T12" y="T13"/>
                </a:cxn>
                <a:cxn ang="T43">
                  <a:pos x="T14" y="T15"/>
                </a:cxn>
                <a:cxn ang="T44">
                  <a:pos x="T16" y="T17"/>
                </a:cxn>
                <a:cxn ang="T45">
                  <a:pos x="T18" y="T19"/>
                </a:cxn>
                <a:cxn ang="T46">
                  <a:pos x="T20" y="T21"/>
                </a:cxn>
                <a:cxn ang="T47">
                  <a:pos x="T22" y="T23"/>
                </a:cxn>
                <a:cxn ang="T48">
                  <a:pos x="T24" y="T25"/>
                </a:cxn>
                <a:cxn ang="T49">
                  <a:pos x="T26" y="T27"/>
                </a:cxn>
                <a:cxn ang="T50">
                  <a:pos x="T28" y="T29"/>
                </a:cxn>
                <a:cxn ang="T51">
                  <a:pos x="T30" y="T31"/>
                </a:cxn>
                <a:cxn ang="T52">
                  <a:pos x="T32" y="T33"/>
                </a:cxn>
                <a:cxn ang="T53">
                  <a:pos x="T34" y="T35"/>
                </a:cxn>
              </a:cxnLst>
              <a:rect l="T54" t="T55" r="T56" b="T57"/>
              <a:pathLst>
                <a:path w="1432" h="526">
                  <a:moveTo>
                    <a:pt x="0" y="0"/>
                  </a:moveTo>
                  <a:lnTo>
                    <a:pt x="56" y="118"/>
                  </a:lnTo>
                  <a:lnTo>
                    <a:pt x="319" y="302"/>
                  </a:lnTo>
                  <a:lnTo>
                    <a:pt x="604" y="448"/>
                  </a:lnTo>
                  <a:lnTo>
                    <a:pt x="867" y="526"/>
                  </a:lnTo>
                  <a:lnTo>
                    <a:pt x="1091" y="504"/>
                  </a:lnTo>
                  <a:lnTo>
                    <a:pt x="1270" y="448"/>
                  </a:lnTo>
                  <a:lnTo>
                    <a:pt x="1432" y="353"/>
                  </a:lnTo>
                  <a:lnTo>
                    <a:pt x="1253" y="431"/>
                  </a:lnTo>
                  <a:lnTo>
                    <a:pt x="1108" y="470"/>
                  </a:lnTo>
                  <a:lnTo>
                    <a:pt x="951" y="470"/>
                  </a:lnTo>
                  <a:lnTo>
                    <a:pt x="789" y="453"/>
                  </a:lnTo>
                  <a:lnTo>
                    <a:pt x="699" y="420"/>
                  </a:lnTo>
                  <a:lnTo>
                    <a:pt x="560" y="330"/>
                  </a:lnTo>
                  <a:lnTo>
                    <a:pt x="437" y="213"/>
                  </a:lnTo>
                  <a:lnTo>
                    <a:pt x="274" y="129"/>
                  </a:lnTo>
                  <a:lnTo>
                    <a:pt x="140" y="73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969696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rgbClr val="808080"/>
              </a:solidFill>
              <a:round/>
              <a:headEnd/>
              <a:tailEnd/>
            </a:ln>
          </p:spPr>
          <p:txBody>
            <a:bodyPr/>
            <a:lstStyle/>
            <a:p>
              <a:pPr>
                <a:defRPr/>
              </a:pPr>
              <a:endParaRPr lang="ko-KR" altLang="en-US" sz="1662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9" name="Freeform 177"/>
            <p:cNvSpPr>
              <a:spLocks/>
            </p:cNvSpPr>
            <p:nvPr/>
          </p:nvSpPr>
          <p:spPr bwMode="auto">
            <a:xfrm rot="355818" flipH="1">
              <a:off x="2263057" y="4797457"/>
              <a:ext cx="31097" cy="39189"/>
            </a:xfrm>
            <a:custGeom>
              <a:avLst/>
              <a:gdLst>
                <a:gd name="T0" fmla="*/ 229 w 229"/>
                <a:gd name="T1" fmla="*/ 261 h 261"/>
                <a:gd name="T2" fmla="*/ 115 w 229"/>
                <a:gd name="T3" fmla="*/ 57 h 261"/>
                <a:gd name="T4" fmla="*/ 0 w 229"/>
                <a:gd name="T5" fmla="*/ 0 h 261"/>
                <a:gd name="T6" fmla="*/ 0 60000 65536"/>
                <a:gd name="T7" fmla="*/ 0 60000 65536"/>
                <a:gd name="T8" fmla="*/ 0 60000 65536"/>
                <a:gd name="T9" fmla="*/ 0 w 229"/>
                <a:gd name="T10" fmla="*/ 0 h 261"/>
                <a:gd name="T11" fmla="*/ 229 w 229"/>
                <a:gd name="T12" fmla="*/ 261 h 261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229" h="261">
                  <a:moveTo>
                    <a:pt x="229" y="261"/>
                  </a:moveTo>
                  <a:lnTo>
                    <a:pt x="115" y="57"/>
                  </a:lnTo>
                  <a:lnTo>
                    <a:pt x="0" y="0"/>
                  </a:lnTo>
                </a:path>
              </a:pathLst>
            </a:custGeom>
            <a:noFill/>
            <a:ln w="19050">
              <a:solidFill>
                <a:srgbClr val="B2B2B2"/>
              </a:solidFill>
              <a:round/>
              <a:headEnd/>
              <a:tailEnd/>
            </a:ln>
          </p:spPr>
          <p:txBody>
            <a:bodyPr/>
            <a:lstStyle/>
            <a:p>
              <a:pPr>
                <a:defRPr/>
              </a:pPr>
              <a:endParaRPr lang="ko-KR" altLang="en-US" sz="1662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10" name="Freeform 178"/>
            <p:cNvSpPr>
              <a:spLocks/>
            </p:cNvSpPr>
            <p:nvPr/>
          </p:nvSpPr>
          <p:spPr bwMode="auto">
            <a:xfrm rot="355818">
              <a:off x="2247508" y="4795890"/>
              <a:ext cx="43819" cy="7837"/>
            </a:xfrm>
            <a:custGeom>
              <a:avLst/>
              <a:gdLst>
                <a:gd name="T0" fmla="*/ 0 w 560"/>
                <a:gd name="T1" fmla="*/ 79 h 79"/>
                <a:gd name="T2" fmla="*/ 246 w 560"/>
                <a:gd name="T3" fmla="*/ 26 h 79"/>
                <a:gd name="T4" fmla="*/ 408 w 560"/>
                <a:gd name="T5" fmla="*/ 0 h 79"/>
                <a:gd name="T6" fmla="*/ 560 w 560"/>
                <a:gd name="T7" fmla="*/ 26 h 79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560"/>
                <a:gd name="T13" fmla="*/ 0 h 79"/>
                <a:gd name="T14" fmla="*/ 560 w 560"/>
                <a:gd name="T15" fmla="*/ 79 h 79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560" h="79">
                  <a:moveTo>
                    <a:pt x="0" y="79"/>
                  </a:moveTo>
                  <a:lnTo>
                    <a:pt x="246" y="26"/>
                  </a:lnTo>
                  <a:lnTo>
                    <a:pt x="408" y="0"/>
                  </a:lnTo>
                  <a:lnTo>
                    <a:pt x="560" y="26"/>
                  </a:lnTo>
                </a:path>
              </a:pathLst>
            </a:custGeom>
            <a:noFill/>
            <a:ln w="9525">
              <a:solidFill>
                <a:srgbClr val="969696"/>
              </a:solidFill>
              <a:round/>
              <a:headEnd/>
              <a:tailEnd/>
            </a:ln>
          </p:spPr>
          <p:txBody>
            <a:bodyPr/>
            <a:lstStyle/>
            <a:p>
              <a:pPr>
                <a:defRPr/>
              </a:pPr>
              <a:endParaRPr lang="ko-KR" altLang="en-US" sz="1662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11" name="Oval 179"/>
            <p:cNvSpPr>
              <a:spLocks noChangeArrowheads="1"/>
            </p:cNvSpPr>
            <p:nvPr/>
          </p:nvSpPr>
          <p:spPr bwMode="auto">
            <a:xfrm rot="21219751">
              <a:off x="2267297" y="4792755"/>
              <a:ext cx="18376" cy="9405"/>
            </a:xfrm>
            <a:prstGeom prst="ellipse">
              <a:avLst/>
            </a:prstGeom>
            <a:solidFill>
              <a:srgbClr val="969696"/>
            </a:solidFill>
            <a:ln w="9525">
              <a:solidFill>
                <a:srgbClr val="969696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>
                <a:defRPr/>
              </a:pPr>
              <a:endParaRPr lang="ko-KR" altLang="en-US" sz="1662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12" name="Freeform 180"/>
            <p:cNvSpPr>
              <a:spLocks/>
            </p:cNvSpPr>
            <p:nvPr/>
          </p:nvSpPr>
          <p:spPr bwMode="auto">
            <a:xfrm rot="355818">
              <a:off x="2239027" y="4799025"/>
              <a:ext cx="35338" cy="32918"/>
            </a:xfrm>
            <a:custGeom>
              <a:avLst/>
              <a:gdLst>
                <a:gd name="T0" fmla="*/ 98 w 482"/>
                <a:gd name="T1" fmla="*/ 36 h 367"/>
                <a:gd name="T2" fmla="*/ 320 w 482"/>
                <a:gd name="T3" fmla="*/ 0 h 367"/>
                <a:gd name="T4" fmla="*/ 367 w 482"/>
                <a:gd name="T5" fmla="*/ 26 h 367"/>
                <a:gd name="T6" fmla="*/ 445 w 482"/>
                <a:gd name="T7" fmla="*/ 26 h 367"/>
                <a:gd name="T8" fmla="*/ 482 w 482"/>
                <a:gd name="T9" fmla="*/ 42 h 367"/>
                <a:gd name="T10" fmla="*/ 278 w 482"/>
                <a:gd name="T11" fmla="*/ 367 h 367"/>
                <a:gd name="T12" fmla="*/ 5 w 482"/>
                <a:gd name="T13" fmla="*/ 262 h 367"/>
                <a:gd name="T14" fmla="*/ 0 w 482"/>
                <a:gd name="T15" fmla="*/ 157 h 367"/>
                <a:gd name="T16" fmla="*/ 42 w 482"/>
                <a:gd name="T17" fmla="*/ 74 h 367"/>
                <a:gd name="T18" fmla="*/ 98 w 482"/>
                <a:gd name="T19" fmla="*/ 36 h 367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w 482"/>
                <a:gd name="T31" fmla="*/ 0 h 367"/>
                <a:gd name="T32" fmla="*/ 482 w 482"/>
                <a:gd name="T33" fmla="*/ 367 h 367"/>
              </a:gdLst>
              <a:ahLst/>
              <a:cxnLst>
                <a:cxn ang="T20">
                  <a:pos x="T0" y="T1"/>
                </a:cxn>
                <a:cxn ang="T21">
                  <a:pos x="T2" y="T3"/>
                </a:cxn>
                <a:cxn ang="T22">
                  <a:pos x="T4" y="T5"/>
                </a:cxn>
                <a:cxn ang="T23">
                  <a:pos x="T6" y="T7"/>
                </a:cxn>
                <a:cxn ang="T24">
                  <a:pos x="T8" y="T9"/>
                </a:cxn>
                <a:cxn ang="T25">
                  <a:pos x="T10" y="T11"/>
                </a:cxn>
                <a:cxn ang="T26">
                  <a:pos x="T12" y="T13"/>
                </a:cxn>
                <a:cxn ang="T27">
                  <a:pos x="T14" y="T15"/>
                </a:cxn>
                <a:cxn ang="T28">
                  <a:pos x="T16" y="T17"/>
                </a:cxn>
                <a:cxn ang="T29">
                  <a:pos x="T18" y="T19"/>
                </a:cxn>
              </a:cxnLst>
              <a:rect l="T30" t="T31" r="T32" b="T33"/>
              <a:pathLst>
                <a:path w="482" h="367">
                  <a:moveTo>
                    <a:pt x="98" y="36"/>
                  </a:moveTo>
                  <a:lnTo>
                    <a:pt x="320" y="0"/>
                  </a:lnTo>
                  <a:lnTo>
                    <a:pt x="367" y="26"/>
                  </a:lnTo>
                  <a:lnTo>
                    <a:pt x="445" y="26"/>
                  </a:lnTo>
                  <a:lnTo>
                    <a:pt x="482" y="42"/>
                  </a:lnTo>
                  <a:lnTo>
                    <a:pt x="278" y="367"/>
                  </a:lnTo>
                  <a:lnTo>
                    <a:pt x="5" y="262"/>
                  </a:lnTo>
                  <a:lnTo>
                    <a:pt x="0" y="157"/>
                  </a:lnTo>
                  <a:lnTo>
                    <a:pt x="42" y="74"/>
                  </a:lnTo>
                  <a:lnTo>
                    <a:pt x="98" y="36"/>
                  </a:lnTo>
                  <a:close/>
                </a:path>
              </a:pathLst>
            </a:custGeom>
            <a:noFill/>
            <a:ln w="9525">
              <a:solidFill>
                <a:srgbClr val="969696"/>
              </a:solidFill>
              <a:round/>
              <a:headEnd/>
              <a:tailEnd/>
            </a:ln>
          </p:spPr>
          <p:txBody>
            <a:bodyPr/>
            <a:lstStyle/>
            <a:p>
              <a:pPr>
                <a:defRPr/>
              </a:pPr>
              <a:endParaRPr lang="ko-KR" altLang="en-US" sz="1662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13" name="Freeform 182"/>
            <p:cNvSpPr>
              <a:spLocks/>
            </p:cNvSpPr>
            <p:nvPr/>
          </p:nvSpPr>
          <p:spPr bwMode="auto">
            <a:xfrm flipH="1">
              <a:off x="1772486" y="4767326"/>
              <a:ext cx="178189" cy="328308"/>
            </a:xfrm>
            <a:custGeom>
              <a:avLst/>
              <a:gdLst>
                <a:gd name="T0" fmla="*/ 933 w 933"/>
                <a:gd name="T1" fmla="*/ 135 h 352"/>
                <a:gd name="T2" fmla="*/ 932 w 933"/>
                <a:gd name="T3" fmla="*/ 171 h 352"/>
                <a:gd name="T4" fmla="*/ 762 w 933"/>
                <a:gd name="T5" fmla="*/ 352 h 352"/>
                <a:gd name="T6" fmla="*/ 4 w 933"/>
                <a:gd name="T7" fmla="*/ 195 h 352"/>
                <a:gd name="T8" fmla="*/ 0 w 933"/>
                <a:gd name="T9" fmla="*/ 148 h 352"/>
                <a:gd name="T10" fmla="*/ 244 w 933"/>
                <a:gd name="T11" fmla="*/ 0 h 352"/>
                <a:gd name="T12" fmla="*/ 933 w 933"/>
                <a:gd name="T13" fmla="*/ 135 h 352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933"/>
                <a:gd name="T22" fmla="*/ 0 h 352"/>
                <a:gd name="T23" fmla="*/ 933 w 933"/>
                <a:gd name="T24" fmla="*/ 352 h 352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933" h="352">
                  <a:moveTo>
                    <a:pt x="933" y="135"/>
                  </a:moveTo>
                  <a:lnTo>
                    <a:pt x="932" y="171"/>
                  </a:lnTo>
                  <a:lnTo>
                    <a:pt x="762" y="352"/>
                  </a:lnTo>
                  <a:lnTo>
                    <a:pt x="4" y="195"/>
                  </a:lnTo>
                  <a:lnTo>
                    <a:pt x="0" y="148"/>
                  </a:lnTo>
                  <a:lnTo>
                    <a:pt x="244" y="0"/>
                  </a:lnTo>
                  <a:lnTo>
                    <a:pt x="933" y="135"/>
                  </a:lnTo>
                  <a:close/>
                </a:path>
              </a:pathLst>
            </a:custGeom>
            <a:gradFill rotWithShape="0">
              <a:gsLst>
                <a:gs pos="0">
                  <a:srgbClr val="DDDDDD"/>
                </a:gs>
                <a:gs pos="100000">
                  <a:srgbClr val="F3F3F3"/>
                </a:gs>
              </a:gsLst>
              <a:lin ang="0" scaled="1"/>
            </a:gradFill>
            <a:ln w="6350">
              <a:solidFill>
                <a:srgbClr val="B2B2B2"/>
              </a:solidFill>
              <a:round/>
              <a:headEnd/>
              <a:tailEnd/>
            </a:ln>
          </p:spPr>
          <p:txBody>
            <a:bodyPr wrap="none" tIns="25322" bIns="25322" anchor="ctr">
              <a:spAutoFit/>
            </a:bodyPr>
            <a:lstStyle/>
            <a:p>
              <a:pPr>
                <a:defRPr/>
              </a:pPr>
              <a:endParaRPr lang="ko-KR" altLang="en-US" sz="1662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14" name="Freeform 183"/>
            <p:cNvSpPr>
              <a:spLocks/>
            </p:cNvSpPr>
            <p:nvPr/>
          </p:nvSpPr>
          <p:spPr bwMode="auto">
            <a:xfrm flipH="1">
              <a:off x="1786619" y="4752436"/>
              <a:ext cx="178189" cy="328308"/>
            </a:xfrm>
            <a:custGeom>
              <a:avLst/>
              <a:gdLst>
                <a:gd name="T0" fmla="*/ 895 w 895"/>
                <a:gd name="T1" fmla="*/ 133 h 294"/>
                <a:gd name="T2" fmla="*/ 232 w 895"/>
                <a:gd name="T3" fmla="*/ 0 h 294"/>
                <a:gd name="T4" fmla="*/ 0 w 895"/>
                <a:gd name="T5" fmla="*/ 143 h 294"/>
                <a:gd name="T6" fmla="*/ 739 w 895"/>
                <a:gd name="T7" fmla="*/ 294 h 294"/>
                <a:gd name="T8" fmla="*/ 895 w 895"/>
                <a:gd name="T9" fmla="*/ 133 h 294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895"/>
                <a:gd name="T16" fmla="*/ 0 h 294"/>
                <a:gd name="T17" fmla="*/ 895 w 895"/>
                <a:gd name="T18" fmla="*/ 294 h 294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895" h="294">
                  <a:moveTo>
                    <a:pt x="895" y="133"/>
                  </a:moveTo>
                  <a:lnTo>
                    <a:pt x="232" y="0"/>
                  </a:lnTo>
                  <a:lnTo>
                    <a:pt x="0" y="143"/>
                  </a:lnTo>
                  <a:lnTo>
                    <a:pt x="739" y="294"/>
                  </a:lnTo>
                  <a:lnTo>
                    <a:pt x="895" y="133"/>
                  </a:lnTo>
                  <a:close/>
                </a:path>
              </a:pathLst>
            </a:custGeom>
            <a:solidFill>
              <a:srgbClr val="FFFFFF"/>
            </a:solidFill>
            <a:ln w="3175">
              <a:solidFill>
                <a:srgbClr val="B2B2B2"/>
              </a:solidFill>
              <a:round/>
              <a:headEnd/>
              <a:tailEnd/>
            </a:ln>
          </p:spPr>
          <p:txBody>
            <a:bodyPr wrap="none" tIns="25322" bIns="25322" anchor="ctr">
              <a:spAutoFit/>
            </a:bodyPr>
            <a:lstStyle/>
            <a:p>
              <a:pPr>
                <a:defRPr/>
              </a:pPr>
              <a:endParaRPr lang="ko-KR" altLang="en-US" sz="1662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15" name="Freeform 184"/>
            <p:cNvSpPr>
              <a:spLocks/>
            </p:cNvSpPr>
            <p:nvPr/>
          </p:nvSpPr>
          <p:spPr bwMode="auto">
            <a:xfrm flipH="1">
              <a:off x="1799431" y="4828807"/>
              <a:ext cx="343478" cy="84647"/>
            </a:xfrm>
            <a:custGeom>
              <a:avLst/>
              <a:gdLst>
                <a:gd name="T0" fmla="*/ 0 w 531"/>
                <a:gd name="T1" fmla="*/ 15 h 118"/>
                <a:gd name="T2" fmla="*/ 508 w 531"/>
                <a:gd name="T3" fmla="*/ 118 h 118"/>
                <a:gd name="T4" fmla="*/ 531 w 531"/>
                <a:gd name="T5" fmla="*/ 103 h 118"/>
                <a:gd name="T6" fmla="*/ 23 w 531"/>
                <a:gd name="T7" fmla="*/ 0 h 118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531"/>
                <a:gd name="T13" fmla="*/ 0 h 118"/>
                <a:gd name="T14" fmla="*/ 531 w 531"/>
                <a:gd name="T15" fmla="*/ 118 h 118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531" h="118">
                  <a:moveTo>
                    <a:pt x="0" y="15"/>
                  </a:moveTo>
                  <a:lnTo>
                    <a:pt x="508" y="118"/>
                  </a:lnTo>
                  <a:lnTo>
                    <a:pt x="531" y="103"/>
                  </a:lnTo>
                  <a:lnTo>
                    <a:pt x="23" y="0"/>
                  </a:lnTo>
                </a:path>
              </a:pathLst>
            </a:custGeom>
            <a:solidFill>
              <a:srgbClr val="DDDDDD"/>
            </a:solidFill>
            <a:ln w="12700" cap="rnd">
              <a:solidFill>
                <a:srgbClr val="EAEAEA"/>
              </a:solidFill>
              <a:round/>
              <a:headEnd/>
              <a:tailEnd/>
            </a:ln>
          </p:spPr>
          <p:txBody>
            <a:bodyPr/>
            <a:lstStyle/>
            <a:p>
              <a:pPr>
                <a:defRPr/>
              </a:pPr>
              <a:endParaRPr lang="ko-KR" altLang="en-US" sz="1662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16" name="Freeform 185"/>
            <p:cNvSpPr>
              <a:spLocks/>
            </p:cNvSpPr>
            <p:nvPr/>
          </p:nvSpPr>
          <p:spPr bwMode="auto">
            <a:xfrm flipH="1">
              <a:off x="1885654" y="4850753"/>
              <a:ext cx="356200" cy="112862"/>
            </a:xfrm>
            <a:custGeom>
              <a:avLst/>
              <a:gdLst>
                <a:gd name="T0" fmla="*/ 0 w 548"/>
                <a:gd name="T1" fmla="*/ 74 h 159"/>
                <a:gd name="T2" fmla="*/ 31 w 548"/>
                <a:gd name="T3" fmla="*/ 78 h 159"/>
                <a:gd name="T4" fmla="*/ 57 w 548"/>
                <a:gd name="T5" fmla="*/ 66 h 159"/>
                <a:gd name="T6" fmla="*/ 76 w 548"/>
                <a:gd name="T7" fmla="*/ 71 h 159"/>
                <a:gd name="T8" fmla="*/ 58 w 548"/>
                <a:gd name="T9" fmla="*/ 81 h 159"/>
                <a:gd name="T10" fmla="*/ 451 w 548"/>
                <a:gd name="T11" fmla="*/ 159 h 159"/>
                <a:gd name="T12" fmla="*/ 548 w 548"/>
                <a:gd name="T13" fmla="*/ 84 h 159"/>
                <a:gd name="T14" fmla="*/ 130 w 548"/>
                <a:gd name="T15" fmla="*/ 0 h 159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548"/>
                <a:gd name="T25" fmla="*/ 0 h 159"/>
                <a:gd name="T26" fmla="*/ 548 w 548"/>
                <a:gd name="T27" fmla="*/ 159 h 159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548" h="159">
                  <a:moveTo>
                    <a:pt x="0" y="74"/>
                  </a:moveTo>
                  <a:lnTo>
                    <a:pt x="31" y="78"/>
                  </a:lnTo>
                  <a:lnTo>
                    <a:pt x="57" y="66"/>
                  </a:lnTo>
                  <a:lnTo>
                    <a:pt x="76" y="71"/>
                  </a:lnTo>
                  <a:lnTo>
                    <a:pt x="58" y="81"/>
                  </a:lnTo>
                  <a:lnTo>
                    <a:pt x="451" y="159"/>
                  </a:lnTo>
                  <a:lnTo>
                    <a:pt x="548" y="84"/>
                  </a:lnTo>
                  <a:lnTo>
                    <a:pt x="130" y="0"/>
                  </a:lnTo>
                </a:path>
              </a:pathLst>
            </a:custGeom>
            <a:solidFill>
              <a:srgbClr val="DDDDDD"/>
            </a:solidFill>
            <a:ln w="12700" cap="rnd">
              <a:solidFill>
                <a:srgbClr val="EAEAEA"/>
              </a:solidFill>
              <a:round/>
              <a:headEnd/>
              <a:tailEnd/>
            </a:ln>
          </p:spPr>
          <p:txBody>
            <a:bodyPr/>
            <a:lstStyle/>
            <a:p>
              <a:pPr>
                <a:defRPr/>
              </a:pPr>
              <a:endParaRPr lang="ko-KR" altLang="en-US" sz="1662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17" name="Freeform 186"/>
            <p:cNvSpPr>
              <a:spLocks/>
            </p:cNvSpPr>
            <p:nvPr/>
          </p:nvSpPr>
          <p:spPr bwMode="auto">
            <a:xfrm flipH="1">
              <a:off x="1819220" y="4915022"/>
              <a:ext cx="90463" cy="48593"/>
            </a:xfrm>
            <a:custGeom>
              <a:avLst/>
              <a:gdLst>
                <a:gd name="T0" fmla="*/ 73 w 140"/>
                <a:gd name="T1" fmla="*/ 0 h 70"/>
                <a:gd name="T2" fmla="*/ 140 w 140"/>
                <a:gd name="T3" fmla="*/ 11 h 70"/>
                <a:gd name="T4" fmla="*/ 75 w 140"/>
                <a:gd name="T5" fmla="*/ 70 h 70"/>
                <a:gd name="T6" fmla="*/ 0 w 140"/>
                <a:gd name="T7" fmla="*/ 56 h 70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140"/>
                <a:gd name="T13" fmla="*/ 0 h 70"/>
                <a:gd name="T14" fmla="*/ 140 w 140"/>
                <a:gd name="T15" fmla="*/ 70 h 70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140" h="70">
                  <a:moveTo>
                    <a:pt x="73" y="0"/>
                  </a:moveTo>
                  <a:lnTo>
                    <a:pt x="140" y="11"/>
                  </a:lnTo>
                  <a:lnTo>
                    <a:pt x="75" y="70"/>
                  </a:lnTo>
                  <a:lnTo>
                    <a:pt x="0" y="56"/>
                  </a:lnTo>
                </a:path>
              </a:pathLst>
            </a:custGeom>
            <a:solidFill>
              <a:srgbClr val="DDDDDD"/>
            </a:solidFill>
            <a:ln w="12700" cap="rnd">
              <a:solidFill>
                <a:srgbClr val="EAEAEA"/>
              </a:solidFill>
              <a:round/>
              <a:headEnd/>
              <a:tailEnd/>
            </a:ln>
          </p:spPr>
          <p:txBody>
            <a:bodyPr/>
            <a:lstStyle/>
            <a:p>
              <a:pPr>
                <a:defRPr/>
              </a:pPr>
              <a:endParaRPr lang="ko-KR" altLang="en-US" sz="1662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18" name="Freeform 187"/>
            <p:cNvSpPr>
              <a:spLocks/>
            </p:cNvSpPr>
            <p:nvPr/>
          </p:nvSpPr>
          <p:spPr bwMode="auto">
            <a:xfrm flipH="1">
              <a:off x="1754200" y="4925994"/>
              <a:ext cx="107425" cy="70539"/>
            </a:xfrm>
            <a:custGeom>
              <a:avLst/>
              <a:gdLst>
                <a:gd name="T0" fmla="*/ 87 w 167"/>
                <a:gd name="T1" fmla="*/ 0 h 101"/>
                <a:gd name="T2" fmla="*/ 167 w 167"/>
                <a:gd name="T3" fmla="*/ 15 h 101"/>
                <a:gd name="T4" fmla="*/ 81 w 167"/>
                <a:gd name="T5" fmla="*/ 101 h 101"/>
                <a:gd name="T6" fmla="*/ 0 w 167"/>
                <a:gd name="T7" fmla="*/ 83 h 101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167"/>
                <a:gd name="T13" fmla="*/ 0 h 101"/>
                <a:gd name="T14" fmla="*/ 167 w 167"/>
                <a:gd name="T15" fmla="*/ 101 h 101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167" h="101">
                  <a:moveTo>
                    <a:pt x="87" y="0"/>
                  </a:moveTo>
                  <a:lnTo>
                    <a:pt x="167" y="15"/>
                  </a:lnTo>
                  <a:lnTo>
                    <a:pt x="81" y="101"/>
                  </a:lnTo>
                  <a:lnTo>
                    <a:pt x="0" y="83"/>
                  </a:lnTo>
                </a:path>
              </a:pathLst>
            </a:custGeom>
            <a:solidFill>
              <a:srgbClr val="DDDDDD"/>
            </a:solidFill>
            <a:ln w="12700" cap="rnd">
              <a:solidFill>
                <a:srgbClr val="EAEAEA"/>
              </a:solidFill>
              <a:round/>
              <a:headEnd/>
              <a:tailEnd/>
            </a:ln>
          </p:spPr>
          <p:txBody>
            <a:bodyPr/>
            <a:lstStyle/>
            <a:p>
              <a:pPr>
                <a:defRPr/>
              </a:pPr>
              <a:endParaRPr lang="ko-KR" altLang="en-US" sz="1662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19" name="Freeform 189"/>
            <p:cNvSpPr>
              <a:spLocks noChangeAspect="1"/>
            </p:cNvSpPr>
            <p:nvPr/>
          </p:nvSpPr>
          <p:spPr bwMode="auto">
            <a:xfrm>
              <a:off x="1533695" y="4524706"/>
              <a:ext cx="144176" cy="352695"/>
            </a:xfrm>
            <a:custGeom>
              <a:avLst/>
              <a:gdLst/>
              <a:ahLst/>
              <a:cxnLst>
                <a:cxn ang="0">
                  <a:pos x="169" y="246"/>
                </a:cxn>
                <a:cxn ang="0">
                  <a:pos x="1" y="0"/>
                </a:cxn>
                <a:cxn ang="0">
                  <a:pos x="0" y="123"/>
                </a:cxn>
                <a:cxn ang="0">
                  <a:pos x="165" y="377"/>
                </a:cxn>
              </a:cxnLst>
              <a:rect l="0" t="0" r="r" b="b"/>
              <a:pathLst>
                <a:path w="169" h="377">
                  <a:moveTo>
                    <a:pt x="169" y="246"/>
                  </a:moveTo>
                  <a:lnTo>
                    <a:pt x="1" y="0"/>
                  </a:lnTo>
                  <a:lnTo>
                    <a:pt x="0" y="123"/>
                  </a:lnTo>
                  <a:lnTo>
                    <a:pt x="165" y="377"/>
                  </a:lnTo>
                </a:path>
              </a:pathLst>
            </a:custGeom>
            <a:gradFill rotWithShape="1">
              <a:gsLst>
                <a:gs pos="0">
                  <a:srgbClr val="EAEAEA"/>
                </a:gs>
                <a:gs pos="100000">
                  <a:srgbClr val="EAEAEA">
                    <a:gamma/>
                    <a:tint val="60784"/>
                    <a:invGamma/>
                  </a:srgbClr>
                </a:gs>
              </a:gsLst>
              <a:lin ang="0" scaled="1"/>
            </a:gradFill>
            <a:ln w="6350" cap="rnd" cmpd="sng">
              <a:solidFill>
                <a:srgbClr val="969696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pPr>
                <a:defRPr/>
              </a:pPr>
              <a:endParaRPr lang="ko-KR" altLang="en-US" sz="1662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0" name="Freeform 190"/>
            <p:cNvSpPr>
              <a:spLocks noChangeAspect="1"/>
            </p:cNvSpPr>
            <p:nvPr/>
          </p:nvSpPr>
          <p:spPr bwMode="auto">
            <a:xfrm>
              <a:off x="1536522" y="4465140"/>
              <a:ext cx="619109" cy="288426"/>
            </a:xfrm>
            <a:custGeom>
              <a:avLst/>
              <a:gdLst/>
              <a:ahLst/>
              <a:cxnLst>
                <a:cxn ang="0">
                  <a:pos x="166" y="310"/>
                </a:cxn>
                <a:cxn ang="0">
                  <a:pos x="718" y="211"/>
                </a:cxn>
                <a:cxn ang="0">
                  <a:pos x="444" y="0"/>
                </a:cxn>
                <a:cxn ang="0">
                  <a:pos x="0" y="64"/>
                </a:cxn>
                <a:cxn ang="0">
                  <a:pos x="166" y="310"/>
                </a:cxn>
              </a:cxnLst>
              <a:rect l="0" t="0" r="r" b="b"/>
              <a:pathLst>
                <a:path w="718" h="310">
                  <a:moveTo>
                    <a:pt x="166" y="310"/>
                  </a:moveTo>
                  <a:lnTo>
                    <a:pt x="718" y="211"/>
                  </a:lnTo>
                  <a:lnTo>
                    <a:pt x="444" y="0"/>
                  </a:lnTo>
                  <a:lnTo>
                    <a:pt x="0" y="64"/>
                  </a:lnTo>
                  <a:lnTo>
                    <a:pt x="166" y="310"/>
                  </a:lnTo>
                  <a:close/>
                </a:path>
              </a:pathLst>
            </a:custGeom>
            <a:solidFill>
              <a:srgbClr val="FFFFFF"/>
            </a:solidFill>
            <a:ln w="6350" cap="rnd" cmpd="sng">
              <a:solidFill>
                <a:srgbClr val="969696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pPr>
                <a:defRPr/>
              </a:pPr>
              <a:endParaRPr lang="ko-KR" altLang="en-US" sz="1662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1" name="Freeform 191"/>
            <p:cNvSpPr>
              <a:spLocks/>
            </p:cNvSpPr>
            <p:nvPr/>
          </p:nvSpPr>
          <p:spPr bwMode="auto">
            <a:xfrm>
              <a:off x="1672217" y="4661082"/>
              <a:ext cx="477760" cy="213184"/>
            </a:xfrm>
            <a:custGeom>
              <a:avLst/>
              <a:gdLst/>
              <a:ahLst/>
              <a:cxnLst>
                <a:cxn ang="0">
                  <a:pos x="6" y="99"/>
                </a:cxn>
                <a:cxn ang="0">
                  <a:pos x="557" y="0"/>
                </a:cxn>
                <a:cxn ang="0">
                  <a:pos x="549" y="121"/>
                </a:cxn>
                <a:cxn ang="0">
                  <a:pos x="0" y="228"/>
                </a:cxn>
                <a:cxn ang="0">
                  <a:pos x="6" y="99"/>
                </a:cxn>
              </a:cxnLst>
              <a:rect l="0" t="0" r="r" b="b"/>
              <a:pathLst>
                <a:path w="557" h="228">
                  <a:moveTo>
                    <a:pt x="6" y="99"/>
                  </a:moveTo>
                  <a:lnTo>
                    <a:pt x="557" y="0"/>
                  </a:lnTo>
                  <a:lnTo>
                    <a:pt x="549" y="121"/>
                  </a:lnTo>
                  <a:lnTo>
                    <a:pt x="0" y="228"/>
                  </a:lnTo>
                  <a:lnTo>
                    <a:pt x="6" y="99"/>
                  </a:lnTo>
                  <a:close/>
                </a:path>
              </a:pathLst>
            </a:custGeom>
            <a:gradFill rotWithShape="1">
              <a:gsLst>
                <a:gs pos="0">
                  <a:srgbClr val="EAEAEA"/>
                </a:gs>
                <a:gs pos="50000">
                  <a:srgbClr val="EAEAEA">
                    <a:gamma/>
                    <a:tint val="0"/>
                    <a:invGamma/>
                  </a:srgbClr>
                </a:gs>
                <a:gs pos="100000">
                  <a:srgbClr val="EAEAEA"/>
                </a:gs>
              </a:gsLst>
              <a:lin ang="0" scaled="1"/>
            </a:gradFill>
            <a:ln w="9525">
              <a:solidFill>
                <a:srgbClr val="969696"/>
              </a:solidFill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pPr>
                <a:defRPr/>
              </a:pPr>
              <a:endParaRPr lang="ko-KR" altLang="en-US" sz="1662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2" name="Freeform 192"/>
            <p:cNvSpPr>
              <a:spLocks/>
            </p:cNvSpPr>
            <p:nvPr/>
          </p:nvSpPr>
          <p:spPr bwMode="auto">
            <a:xfrm>
              <a:off x="1690592" y="4789620"/>
              <a:ext cx="144176" cy="59566"/>
            </a:xfrm>
            <a:custGeom>
              <a:avLst/>
              <a:gdLst/>
              <a:ahLst/>
              <a:cxnLst>
                <a:cxn ang="0">
                  <a:pos x="0" y="32"/>
                </a:cxn>
                <a:cxn ang="0">
                  <a:pos x="0" y="63"/>
                </a:cxn>
                <a:cxn ang="0">
                  <a:pos x="164" y="33"/>
                </a:cxn>
                <a:cxn ang="0">
                  <a:pos x="167" y="0"/>
                </a:cxn>
                <a:cxn ang="0">
                  <a:pos x="0" y="32"/>
                </a:cxn>
              </a:cxnLst>
              <a:rect l="0" t="0" r="r" b="b"/>
              <a:pathLst>
                <a:path w="167" h="63">
                  <a:moveTo>
                    <a:pt x="0" y="32"/>
                  </a:moveTo>
                  <a:lnTo>
                    <a:pt x="0" y="63"/>
                  </a:lnTo>
                  <a:lnTo>
                    <a:pt x="164" y="33"/>
                  </a:lnTo>
                  <a:lnTo>
                    <a:pt x="167" y="0"/>
                  </a:lnTo>
                  <a:lnTo>
                    <a:pt x="0" y="32"/>
                  </a:lnTo>
                  <a:close/>
                </a:path>
              </a:pathLst>
            </a:custGeom>
            <a:gradFill rotWithShape="1">
              <a:gsLst>
                <a:gs pos="0">
                  <a:srgbClr val="C0C0C0">
                    <a:gamma/>
                    <a:tint val="60784"/>
                    <a:invGamma/>
                  </a:srgbClr>
                </a:gs>
                <a:gs pos="100000">
                  <a:srgbClr val="C0C0C0"/>
                </a:gs>
              </a:gsLst>
              <a:lin ang="0" scaled="1"/>
            </a:gradFill>
            <a:ln w="9525">
              <a:noFill/>
              <a:round/>
              <a:headEnd type="none" w="med" len="med"/>
              <a:tailEnd type="none" w="med" len="med"/>
            </a:ln>
            <a:effectLst>
              <a:prstShdw prst="shdw17" dist="17961" dir="13500000">
                <a:srgbClr val="969696"/>
              </a:prstShdw>
            </a:effectLst>
          </p:spPr>
          <p:txBody>
            <a:bodyPr/>
            <a:lstStyle/>
            <a:p>
              <a:pPr>
                <a:defRPr/>
              </a:pPr>
              <a:endParaRPr lang="ko-KR" altLang="en-US" sz="1662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3" name="Oval 193"/>
            <p:cNvSpPr>
              <a:spLocks noChangeArrowheads="1"/>
            </p:cNvSpPr>
            <p:nvPr/>
          </p:nvSpPr>
          <p:spPr bwMode="auto">
            <a:xfrm>
              <a:off x="1809325" y="4797457"/>
              <a:ext cx="16962" cy="20378"/>
            </a:xfrm>
            <a:prstGeom prst="ellipse">
              <a:avLst/>
            </a:prstGeom>
            <a:solidFill>
              <a:srgbClr val="969696"/>
            </a:solidFill>
            <a:ln w="9525">
              <a:solidFill>
                <a:srgbClr val="969696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endParaRPr lang="ko-KR" altLang="en-US" sz="1662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4" name="Line 194"/>
            <p:cNvSpPr>
              <a:spLocks noChangeShapeType="1"/>
            </p:cNvSpPr>
            <p:nvPr/>
          </p:nvSpPr>
          <p:spPr bwMode="auto">
            <a:xfrm flipH="1">
              <a:off x="2032657" y="4706540"/>
              <a:ext cx="2827" cy="76810"/>
            </a:xfrm>
            <a:prstGeom prst="line">
              <a:avLst/>
            </a:prstGeom>
            <a:noFill/>
            <a:ln w="9525">
              <a:solidFill>
                <a:srgbClr val="808080"/>
              </a:solidFill>
              <a:round/>
              <a:headEnd/>
              <a:tailEnd/>
            </a:ln>
            <a:effectLst>
              <a:outerShdw dist="17961" dir="18900000" algn="ctr" rotWithShape="0">
                <a:srgbClr val="969696">
                  <a:alpha val="50000"/>
                </a:srgbClr>
              </a:outerShdw>
            </a:effectLst>
          </p:spPr>
          <p:txBody>
            <a:bodyPr/>
            <a:lstStyle/>
            <a:p>
              <a:pPr>
                <a:defRPr/>
              </a:pPr>
              <a:endParaRPr lang="ko-KR" altLang="en-US" sz="1662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5" name="Line 195"/>
            <p:cNvSpPr>
              <a:spLocks noChangeShapeType="1"/>
            </p:cNvSpPr>
            <p:nvPr/>
          </p:nvSpPr>
          <p:spPr bwMode="auto">
            <a:xfrm flipH="1">
              <a:off x="2021349" y="4708108"/>
              <a:ext cx="1414" cy="81512"/>
            </a:xfrm>
            <a:prstGeom prst="line">
              <a:avLst/>
            </a:prstGeom>
            <a:noFill/>
            <a:ln w="9525">
              <a:solidFill>
                <a:srgbClr val="808080"/>
              </a:solidFill>
              <a:round/>
              <a:headEnd/>
              <a:tailEnd/>
            </a:ln>
            <a:effectLst>
              <a:outerShdw dist="17961" dir="18900000" algn="ctr" rotWithShape="0">
                <a:srgbClr val="969696">
                  <a:alpha val="50000"/>
                </a:srgbClr>
              </a:outerShdw>
            </a:effectLst>
          </p:spPr>
          <p:txBody>
            <a:bodyPr/>
            <a:lstStyle/>
            <a:p>
              <a:pPr>
                <a:defRPr/>
              </a:pPr>
              <a:endParaRPr lang="ko-KR" altLang="en-US" sz="1662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6" name="Line 196"/>
            <p:cNvSpPr>
              <a:spLocks noChangeShapeType="1"/>
            </p:cNvSpPr>
            <p:nvPr/>
          </p:nvSpPr>
          <p:spPr bwMode="auto">
            <a:xfrm flipH="1">
              <a:off x="2045379" y="4704973"/>
              <a:ext cx="4240" cy="76809"/>
            </a:xfrm>
            <a:prstGeom prst="line">
              <a:avLst/>
            </a:prstGeom>
            <a:noFill/>
            <a:ln w="9525">
              <a:solidFill>
                <a:srgbClr val="808080"/>
              </a:solidFill>
              <a:round/>
              <a:headEnd/>
              <a:tailEnd/>
            </a:ln>
            <a:effectLst>
              <a:outerShdw dist="17961" dir="18900000" algn="ctr" rotWithShape="0">
                <a:srgbClr val="969696">
                  <a:alpha val="50000"/>
                </a:srgbClr>
              </a:outerShdw>
            </a:effectLst>
          </p:spPr>
          <p:txBody>
            <a:bodyPr/>
            <a:lstStyle/>
            <a:p>
              <a:pPr>
                <a:defRPr/>
              </a:pPr>
              <a:endParaRPr lang="ko-KR" altLang="en-US" sz="1662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7" name="Line 197"/>
            <p:cNvSpPr>
              <a:spLocks noChangeShapeType="1"/>
            </p:cNvSpPr>
            <p:nvPr/>
          </p:nvSpPr>
          <p:spPr bwMode="auto">
            <a:xfrm flipH="1">
              <a:off x="2056687" y="4703405"/>
              <a:ext cx="2827" cy="76810"/>
            </a:xfrm>
            <a:prstGeom prst="line">
              <a:avLst/>
            </a:prstGeom>
            <a:noFill/>
            <a:ln w="9525">
              <a:solidFill>
                <a:srgbClr val="808080"/>
              </a:solidFill>
              <a:round/>
              <a:headEnd/>
              <a:tailEnd/>
            </a:ln>
            <a:effectLst>
              <a:outerShdw dist="17961" dir="18900000" algn="ctr" rotWithShape="0">
                <a:srgbClr val="969696">
                  <a:alpha val="50000"/>
                </a:srgbClr>
              </a:outerShdw>
            </a:effectLst>
          </p:spPr>
          <p:txBody>
            <a:bodyPr/>
            <a:lstStyle/>
            <a:p>
              <a:pPr>
                <a:defRPr/>
              </a:pPr>
              <a:endParaRPr lang="ko-KR" altLang="en-US" sz="1662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8" name="Line 198"/>
            <p:cNvSpPr>
              <a:spLocks noChangeShapeType="1"/>
            </p:cNvSpPr>
            <p:nvPr/>
          </p:nvSpPr>
          <p:spPr bwMode="auto">
            <a:xfrm flipH="1">
              <a:off x="2065168" y="4701838"/>
              <a:ext cx="7067" cy="76809"/>
            </a:xfrm>
            <a:prstGeom prst="line">
              <a:avLst/>
            </a:prstGeom>
            <a:noFill/>
            <a:ln w="9525">
              <a:solidFill>
                <a:srgbClr val="808080"/>
              </a:solidFill>
              <a:round/>
              <a:headEnd/>
              <a:tailEnd/>
            </a:ln>
            <a:effectLst>
              <a:outerShdw dist="17961" dir="18900000" algn="ctr" rotWithShape="0">
                <a:srgbClr val="969696">
                  <a:alpha val="50000"/>
                </a:srgbClr>
              </a:outerShdw>
            </a:effectLst>
          </p:spPr>
          <p:txBody>
            <a:bodyPr/>
            <a:lstStyle/>
            <a:p>
              <a:pPr>
                <a:defRPr/>
              </a:pPr>
              <a:endParaRPr lang="ko-KR" altLang="en-US" sz="1662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9" name="Line 199"/>
            <p:cNvSpPr>
              <a:spLocks noChangeShapeType="1"/>
            </p:cNvSpPr>
            <p:nvPr/>
          </p:nvSpPr>
          <p:spPr bwMode="auto">
            <a:xfrm flipH="1">
              <a:off x="2076476" y="4698703"/>
              <a:ext cx="7067" cy="78377"/>
            </a:xfrm>
            <a:prstGeom prst="line">
              <a:avLst/>
            </a:prstGeom>
            <a:noFill/>
            <a:ln w="9525">
              <a:solidFill>
                <a:srgbClr val="808080"/>
              </a:solidFill>
              <a:round/>
              <a:headEnd/>
              <a:tailEnd/>
            </a:ln>
            <a:effectLst>
              <a:outerShdw dist="17961" dir="18900000" algn="ctr" rotWithShape="0">
                <a:srgbClr val="969696">
                  <a:alpha val="50000"/>
                </a:srgbClr>
              </a:outerShdw>
            </a:effectLst>
          </p:spPr>
          <p:txBody>
            <a:bodyPr/>
            <a:lstStyle/>
            <a:p>
              <a:pPr>
                <a:defRPr/>
              </a:pPr>
              <a:endParaRPr lang="ko-KR" altLang="en-US" sz="1662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30" name="Line 200"/>
            <p:cNvSpPr>
              <a:spLocks noChangeShapeType="1"/>
            </p:cNvSpPr>
            <p:nvPr/>
          </p:nvSpPr>
          <p:spPr bwMode="auto">
            <a:xfrm flipH="1">
              <a:off x="2087784" y="4698703"/>
              <a:ext cx="1413" cy="76809"/>
            </a:xfrm>
            <a:prstGeom prst="line">
              <a:avLst/>
            </a:prstGeom>
            <a:noFill/>
            <a:ln w="9525">
              <a:solidFill>
                <a:srgbClr val="808080"/>
              </a:solidFill>
              <a:round/>
              <a:headEnd/>
              <a:tailEnd/>
            </a:ln>
            <a:effectLst>
              <a:outerShdw dist="17961" dir="18900000" algn="ctr" rotWithShape="0">
                <a:srgbClr val="969696">
                  <a:alpha val="50000"/>
                </a:srgbClr>
              </a:outerShdw>
            </a:effectLst>
          </p:spPr>
          <p:txBody>
            <a:bodyPr/>
            <a:lstStyle/>
            <a:p>
              <a:pPr>
                <a:defRPr/>
              </a:pPr>
              <a:endParaRPr lang="ko-KR" altLang="en-US" sz="1662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31" name="Line 201"/>
            <p:cNvSpPr>
              <a:spLocks noChangeShapeType="1"/>
            </p:cNvSpPr>
            <p:nvPr/>
          </p:nvSpPr>
          <p:spPr bwMode="auto">
            <a:xfrm flipH="1">
              <a:off x="2097678" y="4692433"/>
              <a:ext cx="1414" cy="78377"/>
            </a:xfrm>
            <a:prstGeom prst="line">
              <a:avLst/>
            </a:prstGeom>
            <a:noFill/>
            <a:ln w="9525">
              <a:solidFill>
                <a:srgbClr val="808080"/>
              </a:solidFill>
              <a:round/>
              <a:headEnd/>
              <a:tailEnd/>
            </a:ln>
            <a:effectLst>
              <a:outerShdw dist="17961" dir="18900000" algn="ctr" rotWithShape="0">
                <a:srgbClr val="969696">
                  <a:alpha val="50000"/>
                </a:srgbClr>
              </a:outerShdw>
            </a:effectLst>
          </p:spPr>
          <p:txBody>
            <a:bodyPr/>
            <a:lstStyle/>
            <a:p>
              <a:pPr>
                <a:defRPr/>
              </a:pPr>
              <a:endParaRPr lang="ko-KR" altLang="en-US" sz="1662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32" name="Line 202"/>
            <p:cNvSpPr>
              <a:spLocks noChangeShapeType="1"/>
            </p:cNvSpPr>
            <p:nvPr/>
          </p:nvSpPr>
          <p:spPr bwMode="auto">
            <a:xfrm flipH="1">
              <a:off x="2106159" y="4692433"/>
              <a:ext cx="2827" cy="75242"/>
            </a:xfrm>
            <a:prstGeom prst="line">
              <a:avLst/>
            </a:prstGeom>
            <a:noFill/>
            <a:ln w="9525">
              <a:solidFill>
                <a:srgbClr val="808080"/>
              </a:solidFill>
              <a:round/>
              <a:headEnd/>
              <a:tailEnd/>
            </a:ln>
            <a:effectLst>
              <a:outerShdw dist="17961" dir="18900000" algn="ctr" rotWithShape="0">
                <a:srgbClr val="969696">
                  <a:alpha val="50000"/>
                </a:srgbClr>
              </a:outerShdw>
            </a:effectLst>
          </p:spPr>
          <p:txBody>
            <a:bodyPr/>
            <a:lstStyle/>
            <a:p>
              <a:pPr>
                <a:defRPr/>
              </a:pPr>
              <a:endParaRPr lang="ko-KR" altLang="en-US" sz="1662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33" name="Line 203"/>
            <p:cNvSpPr>
              <a:spLocks noChangeShapeType="1"/>
            </p:cNvSpPr>
            <p:nvPr/>
          </p:nvSpPr>
          <p:spPr bwMode="auto">
            <a:xfrm flipH="1">
              <a:off x="2117467" y="4690865"/>
              <a:ext cx="1414" cy="76810"/>
            </a:xfrm>
            <a:prstGeom prst="line">
              <a:avLst/>
            </a:prstGeom>
            <a:noFill/>
            <a:ln w="9525">
              <a:solidFill>
                <a:srgbClr val="808080"/>
              </a:solidFill>
              <a:round/>
              <a:headEnd/>
              <a:tailEnd/>
            </a:ln>
            <a:effectLst>
              <a:outerShdw dist="17961" dir="18900000" algn="ctr" rotWithShape="0">
                <a:srgbClr val="969696">
                  <a:alpha val="50000"/>
                </a:srgbClr>
              </a:outerShdw>
            </a:effectLst>
          </p:spPr>
          <p:txBody>
            <a:bodyPr/>
            <a:lstStyle/>
            <a:p>
              <a:pPr>
                <a:defRPr/>
              </a:pPr>
              <a:endParaRPr lang="ko-KR" altLang="en-US" sz="1662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34" name="Line 204"/>
            <p:cNvSpPr>
              <a:spLocks noChangeShapeType="1"/>
            </p:cNvSpPr>
            <p:nvPr/>
          </p:nvSpPr>
          <p:spPr bwMode="auto">
            <a:xfrm flipH="1">
              <a:off x="2070822" y="4731620"/>
              <a:ext cx="1413" cy="76810"/>
            </a:xfrm>
            <a:prstGeom prst="line">
              <a:avLst/>
            </a:prstGeom>
            <a:noFill/>
            <a:ln w="9525">
              <a:solidFill>
                <a:srgbClr val="808080"/>
              </a:solidFill>
              <a:round/>
              <a:headEnd/>
              <a:tailEnd/>
            </a:ln>
            <a:effectLst>
              <a:outerShdw dist="17961" dir="18900000" algn="ctr" rotWithShape="0">
                <a:srgbClr val="969696">
                  <a:alpha val="50000"/>
                </a:srgbClr>
              </a:outerShdw>
            </a:effectLst>
          </p:spPr>
          <p:txBody>
            <a:bodyPr/>
            <a:lstStyle/>
            <a:p>
              <a:pPr>
                <a:defRPr/>
              </a:pPr>
              <a:endParaRPr lang="ko-KR" altLang="en-US" sz="1662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35" name="Freeform 205"/>
            <p:cNvSpPr>
              <a:spLocks/>
            </p:cNvSpPr>
            <p:nvPr/>
          </p:nvSpPr>
          <p:spPr bwMode="auto">
            <a:xfrm>
              <a:off x="1878587" y="4737891"/>
              <a:ext cx="79156" cy="62701"/>
            </a:xfrm>
            <a:custGeom>
              <a:avLst/>
              <a:gdLst/>
              <a:ahLst/>
              <a:cxnLst>
                <a:cxn ang="0">
                  <a:pos x="2" y="33"/>
                </a:cxn>
                <a:cxn ang="0">
                  <a:pos x="0" y="138"/>
                </a:cxn>
                <a:cxn ang="0">
                  <a:pos x="186" y="104"/>
                </a:cxn>
                <a:cxn ang="0">
                  <a:pos x="186" y="0"/>
                </a:cxn>
                <a:cxn ang="0">
                  <a:pos x="2" y="33"/>
                </a:cxn>
              </a:cxnLst>
              <a:rect l="0" t="0" r="r" b="b"/>
              <a:pathLst>
                <a:path w="186" h="138">
                  <a:moveTo>
                    <a:pt x="2" y="33"/>
                  </a:moveTo>
                  <a:lnTo>
                    <a:pt x="0" y="138"/>
                  </a:lnTo>
                  <a:lnTo>
                    <a:pt x="186" y="104"/>
                  </a:lnTo>
                  <a:lnTo>
                    <a:pt x="186" y="0"/>
                  </a:lnTo>
                  <a:lnTo>
                    <a:pt x="2" y="33"/>
                  </a:lnTo>
                  <a:close/>
                </a:path>
              </a:pathLst>
            </a:custGeom>
            <a:gradFill rotWithShape="1">
              <a:gsLst>
                <a:gs pos="0">
                  <a:srgbClr val="969696"/>
                </a:gs>
                <a:gs pos="100000">
                  <a:srgbClr val="969696">
                    <a:gamma/>
                    <a:shade val="75686"/>
                    <a:invGamma/>
                  </a:srgbClr>
                </a:gs>
              </a:gsLst>
              <a:lin ang="0" scaled="1"/>
            </a:gradFill>
            <a:ln w="3175" cap="flat" cmpd="sng">
              <a:noFill/>
              <a:prstDash val="solid"/>
              <a:round/>
              <a:headEnd type="none" w="med" len="med"/>
              <a:tailEnd type="none" w="med" len="med"/>
            </a:ln>
            <a:effectLst>
              <a:prstShdw prst="shdw17" dist="17961" dir="13500000">
                <a:srgbClr val="969696">
                  <a:alpha val="50000"/>
                </a:srgbClr>
              </a:prstShdw>
            </a:effectLst>
          </p:spPr>
          <p:txBody>
            <a:bodyPr/>
            <a:lstStyle/>
            <a:p>
              <a:pPr>
                <a:defRPr/>
              </a:pPr>
              <a:endParaRPr lang="ko-KR" altLang="en-US" sz="1662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36" name="Line 206"/>
            <p:cNvSpPr>
              <a:spLocks noChangeShapeType="1"/>
            </p:cNvSpPr>
            <p:nvPr/>
          </p:nvSpPr>
          <p:spPr bwMode="auto">
            <a:xfrm flipH="1">
              <a:off x="1889895" y="4773944"/>
              <a:ext cx="0" cy="18810"/>
            </a:xfrm>
            <a:prstGeom prst="line">
              <a:avLst/>
            </a:prstGeom>
            <a:noFill/>
            <a:ln w="9525">
              <a:solidFill>
                <a:srgbClr val="3399FF">
                  <a:alpha val="55000"/>
                </a:srgbClr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pPr>
                <a:defRPr/>
              </a:pPr>
              <a:endParaRPr lang="ko-KR" altLang="en-US" sz="1662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37" name="Line 207"/>
            <p:cNvSpPr>
              <a:spLocks noChangeShapeType="1"/>
            </p:cNvSpPr>
            <p:nvPr/>
          </p:nvSpPr>
          <p:spPr bwMode="auto">
            <a:xfrm flipH="1">
              <a:off x="1950675" y="4758269"/>
              <a:ext cx="0" cy="20377"/>
            </a:xfrm>
            <a:prstGeom prst="line">
              <a:avLst/>
            </a:prstGeom>
            <a:noFill/>
            <a:ln w="9525">
              <a:solidFill>
                <a:srgbClr val="3399FF">
                  <a:alpha val="55000"/>
                </a:srgbClr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pPr>
                <a:defRPr/>
              </a:pPr>
              <a:endParaRPr lang="ko-KR" altLang="en-US" sz="1662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38" name="Line 208"/>
            <p:cNvSpPr>
              <a:spLocks noChangeShapeType="1"/>
            </p:cNvSpPr>
            <p:nvPr/>
          </p:nvSpPr>
          <p:spPr bwMode="auto">
            <a:xfrm flipH="1">
              <a:off x="1943608" y="4767674"/>
              <a:ext cx="0" cy="15675"/>
            </a:xfrm>
            <a:prstGeom prst="line">
              <a:avLst/>
            </a:prstGeom>
            <a:noFill/>
            <a:ln w="9525">
              <a:solidFill>
                <a:srgbClr val="3399FF">
                  <a:alpha val="55000"/>
                </a:srgbClr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pPr>
                <a:defRPr/>
              </a:pPr>
              <a:endParaRPr lang="ko-KR" altLang="en-US" sz="1662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39" name="Line 209"/>
            <p:cNvSpPr>
              <a:spLocks noChangeShapeType="1"/>
            </p:cNvSpPr>
            <p:nvPr/>
          </p:nvSpPr>
          <p:spPr bwMode="auto">
            <a:xfrm flipH="1">
              <a:off x="1898376" y="4781781"/>
              <a:ext cx="0" cy="12540"/>
            </a:xfrm>
            <a:prstGeom prst="line">
              <a:avLst/>
            </a:prstGeom>
            <a:noFill/>
            <a:ln w="9525">
              <a:solidFill>
                <a:srgbClr val="3399FF">
                  <a:alpha val="55000"/>
                </a:srgbClr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pPr>
                <a:defRPr/>
              </a:pPr>
              <a:endParaRPr lang="ko-KR" altLang="en-US" sz="1662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40" name="Line 210"/>
            <p:cNvSpPr>
              <a:spLocks noChangeShapeType="1"/>
            </p:cNvSpPr>
            <p:nvPr/>
          </p:nvSpPr>
          <p:spPr bwMode="auto">
            <a:xfrm flipV="1">
              <a:off x="1908270" y="4783349"/>
              <a:ext cx="25443" cy="6270"/>
            </a:xfrm>
            <a:prstGeom prst="line">
              <a:avLst/>
            </a:prstGeom>
            <a:noFill/>
            <a:ln w="9525">
              <a:solidFill>
                <a:srgbClr val="FFFF99">
                  <a:alpha val="45000"/>
                </a:srgbClr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pPr>
                <a:defRPr/>
              </a:pPr>
              <a:endParaRPr lang="ko-KR" altLang="en-US" sz="1662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41" name="Freeform 211"/>
            <p:cNvSpPr>
              <a:spLocks/>
            </p:cNvSpPr>
            <p:nvPr/>
          </p:nvSpPr>
          <p:spPr bwMode="auto">
            <a:xfrm>
              <a:off x="1714622" y="4751999"/>
              <a:ext cx="100357" cy="37621"/>
            </a:xfrm>
            <a:custGeom>
              <a:avLst/>
              <a:gdLst/>
              <a:ahLst/>
              <a:cxnLst>
                <a:cxn ang="0">
                  <a:pos x="0" y="20"/>
                </a:cxn>
                <a:cxn ang="0">
                  <a:pos x="1" y="38"/>
                </a:cxn>
                <a:cxn ang="0">
                  <a:pos x="116" y="19"/>
                </a:cxn>
                <a:cxn ang="0">
                  <a:pos x="116" y="0"/>
                </a:cxn>
                <a:cxn ang="0">
                  <a:pos x="0" y="20"/>
                </a:cxn>
              </a:cxnLst>
              <a:rect l="0" t="0" r="r" b="b"/>
              <a:pathLst>
                <a:path w="116" h="38">
                  <a:moveTo>
                    <a:pt x="0" y="20"/>
                  </a:moveTo>
                  <a:lnTo>
                    <a:pt x="1" y="38"/>
                  </a:lnTo>
                  <a:lnTo>
                    <a:pt x="116" y="19"/>
                  </a:lnTo>
                  <a:lnTo>
                    <a:pt x="116" y="0"/>
                  </a:lnTo>
                  <a:lnTo>
                    <a:pt x="0" y="20"/>
                  </a:lnTo>
                  <a:close/>
                </a:path>
              </a:pathLst>
            </a:custGeom>
            <a:gradFill rotWithShape="1">
              <a:gsLst>
                <a:gs pos="0">
                  <a:srgbClr val="C0C0C0">
                    <a:gamma/>
                    <a:tint val="60784"/>
                    <a:invGamma/>
                  </a:srgbClr>
                </a:gs>
                <a:gs pos="100000">
                  <a:srgbClr val="C0C0C0"/>
                </a:gs>
              </a:gsLst>
              <a:lin ang="0" scaled="1"/>
            </a:gradFill>
            <a:ln w="9525">
              <a:noFill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pPr>
                <a:defRPr/>
              </a:pPr>
              <a:endParaRPr lang="ko-KR" altLang="en-US" sz="1662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42" name="Line 212"/>
            <p:cNvSpPr>
              <a:spLocks noChangeShapeType="1"/>
            </p:cNvSpPr>
            <p:nvPr/>
          </p:nvSpPr>
          <p:spPr bwMode="auto">
            <a:xfrm flipV="1">
              <a:off x="1706141" y="4758269"/>
              <a:ext cx="113079" cy="23512"/>
            </a:xfrm>
            <a:prstGeom prst="line">
              <a:avLst/>
            </a:prstGeom>
            <a:noFill/>
            <a:ln w="3175">
              <a:solidFill>
                <a:srgbClr val="5F5F5F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pPr>
                <a:defRPr/>
              </a:pPr>
              <a:endParaRPr lang="ko-KR" altLang="en-US" sz="1662" kern="0">
                <a:solidFill>
                  <a:sysClr val="windowText" lastClr="000000"/>
                </a:solidFill>
              </a:endParaRPr>
            </a:p>
          </p:txBody>
        </p:sp>
        <p:grpSp>
          <p:nvGrpSpPr>
            <p:cNvPr id="99384" name="Group 150"/>
            <p:cNvGrpSpPr>
              <a:grpSpLocks/>
            </p:cNvGrpSpPr>
            <p:nvPr/>
          </p:nvGrpSpPr>
          <p:grpSpPr bwMode="auto">
            <a:xfrm>
              <a:off x="1598783" y="4144515"/>
              <a:ext cx="328612" cy="369887"/>
              <a:chOff x="685" y="3115"/>
              <a:chExt cx="207" cy="233"/>
            </a:xfrm>
          </p:grpSpPr>
          <p:sp>
            <p:nvSpPr>
              <p:cNvPr id="56" name="Freeform 215"/>
              <p:cNvSpPr>
                <a:spLocks/>
              </p:cNvSpPr>
              <p:nvPr/>
            </p:nvSpPr>
            <p:spPr bwMode="auto">
              <a:xfrm flipH="1">
                <a:off x="686" y="3115"/>
                <a:ext cx="207" cy="30"/>
              </a:xfrm>
              <a:custGeom>
                <a:avLst/>
                <a:gdLst>
                  <a:gd name="T0" fmla="*/ 1205 w 1205"/>
                  <a:gd name="T1" fmla="*/ 151 h 178"/>
                  <a:gd name="T2" fmla="*/ 964 w 1205"/>
                  <a:gd name="T3" fmla="*/ 178 h 178"/>
                  <a:gd name="T4" fmla="*/ 0 w 1205"/>
                  <a:gd name="T5" fmla="*/ 0 h 178"/>
                  <a:gd name="T6" fmla="*/ 1205 w 1205"/>
                  <a:gd name="T7" fmla="*/ 151 h 178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1205"/>
                  <a:gd name="T13" fmla="*/ 0 h 178"/>
                  <a:gd name="T14" fmla="*/ 1205 w 1205"/>
                  <a:gd name="T15" fmla="*/ 178 h 178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1205" h="178">
                    <a:moveTo>
                      <a:pt x="1205" y="151"/>
                    </a:moveTo>
                    <a:lnTo>
                      <a:pt x="964" y="178"/>
                    </a:lnTo>
                    <a:lnTo>
                      <a:pt x="0" y="0"/>
                    </a:lnTo>
                    <a:lnTo>
                      <a:pt x="1205" y="151"/>
                    </a:lnTo>
                    <a:close/>
                  </a:path>
                </a:pathLst>
              </a:custGeom>
              <a:solidFill>
                <a:srgbClr val="EAEAEA"/>
              </a:solidFill>
              <a:ln w="9525">
                <a:solidFill>
                  <a:srgbClr val="969696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pPr>
                  <a:defRPr/>
                </a:pPr>
                <a:endParaRPr lang="ko-KR" altLang="en-US" sz="1662" kern="0">
                  <a:solidFill>
                    <a:sysClr val="windowText" lastClr="000000"/>
                  </a:solidFill>
                </a:endParaRPr>
              </a:p>
            </p:txBody>
          </p:sp>
          <p:sp>
            <p:nvSpPr>
              <p:cNvPr id="57" name="Freeform 216"/>
              <p:cNvSpPr>
                <a:spLocks/>
              </p:cNvSpPr>
              <p:nvPr/>
            </p:nvSpPr>
            <p:spPr bwMode="auto">
              <a:xfrm flipH="1">
                <a:off x="685" y="3139"/>
                <a:ext cx="69" cy="207"/>
              </a:xfrm>
              <a:custGeom>
                <a:avLst/>
                <a:gdLst>
                  <a:gd name="T0" fmla="*/ 405 w 405"/>
                  <a:gd name="T1" fmla="*/ 0 h 1241"/>
                  <a:gd name="T2" fmla="*/ 389 w 405"/>
                  <a:gd name="T3" fmla="*/ 1000 h 1241"/>
                  <a:gd name="T4" fmla="*/ 133 w 405"/>
                  <a:gd name="T5" fmla="*/ 1241 h 1241"/>
                  <a:gd name="T6" fmla="*/ 0 w 405"/>
                  <a:gd name="T7" fmla="*/ 13 h 1241"/>
                  <a:gd name="T8" fmla="*/ 189 w 405"/>
                  <a:gd name="T9" fmla="*/ 24 h 1241"/>
                  <a:gd name="T10" fmla="*/ 405 w 405"/>
                  <a:gd name="T11" fmla="*/ 0 h 1241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405"/>
                  <a:gd name="T19" fmla="*/ 0 h 1241"/>
                  <a:gd name="T20" fmla="*/ 405 w 405"/>
                  <a:gd name="T21" fmla="*/ 1241 h 1241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405" h="1241">
                    <a:moveTo>
                      <a:pt x="405" y="0"/>
                    </a:moveTo>
                    <a:lnTo>
                      <a:pt x="389" y="1000"/>
                    </a:lnTo>
                    <a:lnTo>
                      <a:pt x="133" y="1241"/>
                    </a:lnTo>
                    <a:lnTo>
                      <a:pt x="0" y="13"/>
                    </a:lnTo>
                    <a:lnTo>
                      <a:pt x="189" y="24"/>
                    </a:lnTo>
                    <a:lnTo>
                      <a:pt x="405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CCCCCC"/>
                  </a:gs>
                  <a:gs pos="100000">
                    <a:srgbClr val="969696"/>
                  </a:gs>
                </a:gsLst>
                <a:lin ang="0" scaled="1"/>
              </a:gradFill>
              <a:ln w="9525">
                <a:solidFill>
                  <a:srgbClr val="969696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pPr>
                  <a:defRPr/>
                </a:pPr>
                <a:endParaRPr lang="ko-KR" altLang="en-US" sz="1662" kern="0">
                  <a:solidFill>
                    <a:sysClr val="windowText" lastClr="000000"/>
                  </a:solidFill>
                </a:endParaRPr>
              </a:p>
            </p:txBody>
          </p:sp>
        </p:grpSp>
        <p:sp>
          <p:nvSpPr>
            <p:cNvPr id="44" name="Oval 217"/>
            <p:cNvSpPr>
              <a:spLocks noChangeArrowheads="1"/>
            </p:cNvSpPr>
            <p:nvPr/>
          </p:nvSpPr>
          <p:spPr bwMode="auto">
            <a:xfrm>
              <a:off x="1683525" y="4543517"/>
              <a:ext cx="298246" cy="92485"/>
            </a:xfrm>
            <a:prstGeom prst="ellipse">
              <a:avLst/>
            </a:prstGeom>
            <a:solidFill>
              <a:srgbClr val="969696"/>
            </a:solidFill>
            <a:ln w="9525">
              <a:solidFill>
                <a:srgbClr val="969696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>
                <a:defRPr/>
              </a:pPr>
              <a:endParaRPr lang="ko-KR" altLang="en-US" sz="1662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45" name="Oval 218"/>
            <p:cNvSpPr>
              <a:spLocks noChangeArrowheads="1"/>
            </p:cNvSpPr>
            <p:nvPr/>
          </p:nvSpPr>
          <p:spPr bwMode="auto">
            <a:xfrm>
              <a:off x="1683525" y="4537246"/>
              <a:ext cx="298246" cy="90917"/>
            </a:xfrm>
            <a:prstGeom prst="ellipse">
              <a:avLst/>
            </a:prstGeom>
            <a:gradFill rotWithShape="1">
              <a:gsLst>
                <a:gs pos="0">
                  <a:srgbClr val="C0C0C0"/>
                </a:gs>
                <a:gs pos="100000">
                  <a:srgbClr val="EAEAEA"/>
                </a:gs>
              </a:gsLst>
              <a:lin ang="2700000" scaled="1"/>
            </a:gradFill>
            <a:ln w="9525">
              <a:solidFill>
                <a:srgbClr val="969696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>
                <a:defRPr/>
              </a:pPr>
              <a:endParaRPr lang="ko-KR" altLang="en-US" sz="1662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46" name="Freeform 219"/>
            <p:cNvSpPr>
              <a:spLocks/>
            </p:cNvSpPr>
            <p:nvPr/>
          </p:nvSpPr>
          <p:spPr bwMode="auto">
            <a:xfrm flipH="1">
              <a:off x="1663736" y="4088932"/>
              <a:ext cx="436768" cy="511016"/>
            </a:xfrm>
            <a:custGeom>
              <a:avLst/>
              <a:gdLst>
                <a:gd name="T0" fmla="*/ 1602 w 1602"/>
                <a:gd name="T1" fmla="*/ 204 h 1734"/>
                <a:gd name="T2" fmla="*/ 5 w 1602"/>
                <a:gd name="T3" fmla="*/ 0 h 1734"/>
                <a:gd name="T4" fmla="*/ 0 w 1602"/>
                <a:gd name="T5" fmla="*/ 1488 h 1734"/>
                <a:gd name="T6" fmla="*/ 1597 w 1602"/>
                <a:gd name="T7" fmla="*/ 1734 h 1734"/>
                <a:gd name="T8" fmla="*/ 1602 w 1602"/>
                <a:gd name="T9" fmla="*/ 204 h 1734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602"/>
                <a:gd name="T16" fmla="*/ 0 h 1734"/>
                <a:gd name="T17" fmla="*/ 1602 w 1602"/>
                <a:gd name="T18" fmla="*/ 1734 h 1734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602" h="1734">
                  <a:moveTo>
                    <a:pt x="1602" y="204"/>
                  </a:moveTo>
                  <a:lnTo>
                    <a:pt x="5" y="0"/>
                  </a:lnTo>
                  <a:lnTo>
                    <a:pt x="0" y="1488"/>
                  </a:lnTo>
                  <a:lnTo>
                    <a:pt x="1597" y="1734"/>
                  </a:lnTo>
                  <a:lnTo>
                    <a:pt x="1602" y="204"/>
                  </a:lnTo>
                  <a:close/>
                </a:path>
              </a:pathLst>
            </a:custGeom>
            <a:gradFill rotWithShape="1">
              <a:gsLst>
                <a:gs pos="0">
                  <a:srgbClr val="FFFFFF"/>
                </a:gs>
                <a:gs pos="100000">
                  <a:srgbClr val="DDDDDD"/>
                </a:gs>
              </a:gsLst>
              <a:lin ang="5400000" scaled="1"/>
            </a:gradFill>
            <a:ln w="9525">
              <a:solidFill>
                <a:srgbClr val="969696"/>
              </a:solidFill>
              <a:round/>
              <a:headEnd/>
              <a:tailEnd/>
            </a:ln>
          </p:spPr>
          <p:txBody>
            <a:bodyPr/>
            <a:lstStyle/>
            <a:p>
              <a:pPr>
                <a:defRPr/>
              </a:pPr>
              <a:endParaRPr lang="ko-KR" altLang="en-US" sz="1662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47" name="Freeform 220"/>
            <p:cNvSpPr>
              <a:spLocks/>
            </p:cNvSpPr>
            <p:nvPr/>
          </p:nvSpPr>
          <p:spPr bwMode="auto">
            <a:xfrm flipH="1">
              <a:off x="1723103" y="4502761"/>
              <a:ext cx="357613" cy="97187"/>
            </a:xfrm>
            <a:custGeom>
              <a:avLst/>
              <a:gdLst>
                <a:gd name="T0" fmla="*/ 1327 w 1330"/>
                <a:gd name="T1" fmla="*/ 200 h 330"/>
                <a:gd name="T2" fmla="*/ 0 w 1330"/>
                <a:gd name="T3" fmla="*/ 0 h 330"/>
                <a:gd name="T4" fmla="*/ 0 w 1330"/>
                <a:gd name="T5" fmla="*/ 115 h 330"/>
                <a:gd name="T6" fmla="*/ 1330 w 1330"/>
                <a:gd name="T7" fmla="*/ 330 h 330"/>
                <a:gd name="T8" fmla="*/ 1327 w 1330"/>
                <a:gd name="T9" fmla="*/ 200 h 33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330"/>
                <a:gd name="T16" fmla="*/ 0 h 330"/>
                <a:gd name="T17" fmla="*/ 1330 w 1330"/>
                <a:gd name="T18" fmla="*/ 330 h 33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330" h="330">
                  <a:moveTo>
                    <a:pt x="1327" y="200"/>
                  </a:moveTo>
                  <a:lnTo>
                    <a:pt x="0" y="0"/>
                  </a:lnTo>
                  <a:lnTo>
                    <a:pt x="0" y="115"/>
                  </a:lnTo>
                  <a:lnTo>
                    <a:pt x="1330" y="330"/>
                  </a:lnTo>
                  <a:lnTo>
                    <a:pt x="1327" y="200"/>
                  </a:lnTo>
                  <a:close/>
                </a:path>
              </a:pathLst>
            </a:custGeom>
            <a:gradFill rotWithShape="1">
              <a:gsLst>
                <a:gs pos="0">
                  <a:srgbClr val="C0C0C0"/>
                </a:gs>
                <a:gs pos="50000">
                  <a:srgbClr val="FFFFFF"/>
                </a:gs>
                <a:gs pos="100000">
                  <a:srgbClr val="C0C0C0"/>
                </a:gs>
              </a:gsLst>
              <a:lin ang="5400000" scaled="1"/>
            </a:gradFill>
            <a:ln w="9525">
              <a:solidFill>
                <a:srgbClr val="969696"/>
              </a:solidFill>
              <a:round/>
              <a:headEnd/>
              <a:tailEnd/>
            </a:ln>
          </p:spPr>
          <p:txBody>
            <a:bodyPr/>
            <a:lstStyle/>
            <a:p>
              <a:pPr>
                <a:defRPr/>
              </a:pPr>
              <a:endParaRPr lang="ko-KR" altLang="en-US" sz="1662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48" name="Freeform 221"/>
            <p:cNvSpPr>
              <a:spLocks/>
            </p:cNvSpPr>
            <p:nvPr/>
          </p:nvSpPr>
          <p:spPr bwMode="auto">
            <a:xfrm flipH="1">
              <a:off x="1651014" y="4146931"/>
              <a:ext cx="15549" cy="453016"/>
            </a:xfrm>
            <a:custGeom>
              <a:avLst/>
              <a:gdLst>
                <a:gd name="T0" fmla="*/ 4 w 56"/>
                <a:gd name="T1" fmla="*/ 16 h 1536"/>
                <a:gd name="T2" fmla="*/ 56 w 56"/>
                <a:gd name="T3" fmla="*/ 0 h 1536"/>
                <a:gd name="T4" fmla="*/ 46 w 56"/>
                <a:gd name="T5" fmla="*/ 1513 h 1536"/>
                <a:gd name="T6" fmla="*/ 0 w 56"/>
                <a:gd name="T7" fmla="*/ 1536 h 1536"/>
                <a:gd name="T8" fmla="*/ 4 w 56"/>
                <a:gd name="T9" fmla="*/ 16 h 153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56"/>
                <a:gd name="T16" fmla="*/ 0 h 1536"/>
                <a:gd name="T17" fmla="*/ 56 w 56"/>
                <a:gd name="T18" fmla="*/ 1536 h 1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56" h="1536">
                  <a:moveTo>
                    <a:pt x="4" y="16"/>
                  </a:moveTo>
                  <a:lnTo>
                    <a:pt x="56" y="0"/>
                  </a:lnTo>
                  <a:lnTo>
                    <a:pt x="46" y="1513"/>
                  </a:lnTo>
                  <a:lnTo>
                    <a:pt x="0" y="1536"/>
                  </a:lnTo>
                  <a:lnTo>
                    <a:pt x="4" y="16"/>
                  </a:lnTo>
                  <a:close/>
                </a:path>
              </a:pathLst>
            </a:custGeom>
            <a:gradFill rotWithShape="1">
              <a:gsLst>
                <a:gs pos="0">
                  <a:srgbClr val="777777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rgbClr val="969696"/>
              </a:solidFill>
              <a:round/>
              <a:headEnd/>
              <a:tailEnd/>
            </a:ln>
          </p:spPr>
          <p:txBody>
            <a:bodyPr/>
            <a:lstStyle/>
            <a:p>
              <a:pPr>
                <a:defRPr/>
              </a:pPr>
              <a:endParaRPr lang="ko-KR" altLang="en-US" sz="1662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49" name="Oval 222"/>
            <p:cNvSpPr>
              <a:spLocks noChangeArrowheads="1"/>
            </p:cNvSpPr>
            <p:nvPr/>
          </p:nvSpPr>
          <p:spPr bwMode="auto">
            <a:xfrm>
              <a:off x="2049619" y="4510599"/>
              <a:ext cx="12722" cy="28216"/>
            </a:xfrm>
            <a:prstGeom prst="ellipse">
              <a:avLst/>
            </a:prstGeom>
            <a:solidFill>
              <a:srgbClr val="777777"/>
            </a:solidFill>
            <a:ln w="9525">
              <a:solidFill>
                <a:srgbClr val="969696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>
                <a:defRPr/>
              </a:pPr>
              <a:endParaRPr lang="ko-KR" altLang="en-US" sz="1662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50" name="Oval 223"/>
            <p:cNvSpPr>
              <a:spLocks noChangeArrowheads="1"/>
            </p:cNvSpPr>
            <p:nvPr/>
          </p:nvSpPr>
          <p:spPr bwMode="auto">
            <a:xfrm>
              <a:off x="2025590" y="4516869"/>
              <a:ext cx="11308" cy="23512"/>
            </a:xfrm>
            <a:prstGeom prst="ellipse">
              <a:avLst/>
            </a:prstGeom>
            <a:solidFill>
              <a:srgbClr val="C0C0C0"/>
            </a:solidFill>
            <a:ln w="9525">
              <a:solidFill>
                <a:srgbClr val="969696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>
                <a:defRPr/>
              </a:pPr>
              <a:endParaRPr lang="ko-KR" altLang="en-US" sz="1662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51" name="Oval 224"/>
            <p:cNvSpPr>
              <a:spLocks noChangeArrowheads="1"/>
            </p:cNvSpPr>
            <p:nvPr/>
          </p:nvSpPr>
          <p:spPr bwMode="auto">
            <a:xfrm>
              <a:off x="1943608" y="4538814"/>
              <a:ext cx="14135" cy="15675"/>
            </a:xfrm>
            <a:prstGeom prst="ellipse">
              <a:avLst/>
            </a:prstGeom>
            <a:solidFill>
              <a:srgbClr val="C0C0C0"/>
            </a:solidFill>
            <a:ln w="9525">
              <a:solidFill>
                <a:srgbClr val="969696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>
                <a:defRPr/>
              </a:pPr>
              <a:endParaRPr lang="ko-KR" altLang="en-US" sz="1662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52" name="Oval 225"/>
            <p:cNvSpPr>
              <a:spLocks noChangeArrowheads="1"/>
            </p:cNvSpPr>
            <p:nvPr/>
          </p:nvSpPr>
          <p:spPr bwMode="auto">
            <a:xfrm>
              <a:off x="1918165" y="4543517"/>
              <a:ext cx="12721" cy="17243"/>
            </a:xfrm>
            <a:prstGeom prst="ellipse">
              <a:avLst/>
            </a:prstGeom>
            <a:solidFill>
              <a:srgbClr val="C0C0C0"/>
            </a:solidFill>
            <a:ln w="9525">
              <a:solidFill>
                <a:srgbClr val="969696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>
                <a:defRPr/>
              </a:pPr>
              <a:endParaRPr lang="ko-KR" altLang="en-US" sz="1662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53" name="Oval 226"/>
            <p:cNvSpPr>
              <a:spLocks noChangeArrowheads="1"/>
            </p:cNvSpPr>
            <p:nvPr/>
          </p:nvSpPr>
          <p:spPr bwMode="auto">
            <a:xfrm>
              <a:off x="1889895" y="4548220"/>
              <a:ext cx="14135" cy="15675"/>
            </a:xfrm>
            <a:prstGeom prst="ellipse">
              <a:avLst/>
            </a:prstGeom>
            <a:solidFill>
              <a:srgbClr val="C0C0C0"/>
            </a:solidFill>
            <a:ln w="9525">
              <a:solidFill>
                <a:srgbClr val="969696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>
                <a:defRPr/>
              </a:pPr>
              <a:endParaRPr lang="ko-KR" altLang="en-US" sz="1662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54" name="Freeform 227"/>
            <p:cNvSpPr>
              <a:spLocks/>
            </p:cNvSpPr>
            <p:nvPr/>
          </p:nvSpPr>
          <p:spPr bwMode="auto">
            <a:xfrm flipH="1">
              <a:off x="1704727" y="4139093"/>
              <a:ext cx="361854" cy="402856"/>
            </a:xfrm>
            <a:custGeom>
              <a:avLst/>
              <a:gdLst>
                <a:gd name="T0" fmla="*/ 1330 w 1345"/>
                <a:gd name="T1" fmla="*/ 167 h 1366"/>
                <a:gd name="T2" fmla="*/ 0 w 1345"/>
                <a:gd name="T3" fmla="*/ 0 h 1366"/>
                <a:gd name="T4" fmla="*/ 0 w 1345"/>
                <a:gd name="T5" fmla="*/ 1157 h 1366"/>
                <a:gd name="T6" fmla="*/ 1345 w 1345"/>
                <a:gd name="T7" fmla="*/ 1366 h 1366"/>
                <a:gd name="T8" fmla="*/ 1330 w 1345"/>
                <a:gd name="T9" fmla="*/ 167 h 136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345"/>
                <a:gd name="T16" fmla="*/ 0 h 1366"/>
                <a:gd name="T17" fmla="*/ 1345 w 1345"/>
                <a:gd name="T18" fmla="*/ 1366 h 136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345" h="1366">
                  <a:moveTo>
                    <a:pt x="1330" y="167"/>
                  </a:moveTo>
                  <a:lnTo>
                    <a:pt x="0" y="0"/>
                  </a:lnTo>
                  <a:lnTo>
                    <a:pt x="0" y="1157"/>
                  </a:lnTo>
                  <a:lnTo>
                    <a:pt x="1345" y="1366"/>
                  </a:lnTo>
                  <a:lnTo>
                    <a:pt x="1330" y="167"/>
                  </a:lnTo>
                  <a:close/>
                </a:path>
              </a:pathLst>
            </a:custGeom>
            <a:gradFill rotWithShape="1">
              <a:gsLst>
                <a:gs pos="0">
                  <a:srgbClr val="C0C0C0"/>
                </a:gs>
                <a:gs pos="100000">
                  <a:srgbClr val="4D4D4D"/>
                </a:gs>
              </a:gsLst>
              <a:lin ang="5400000" scaled="1"/>
            </a:gradFill>
            <a:ln w="9525">
              <a:solidFill>
                <a:srgbClr val="969696"/>
              </a:solidFill>
              <a:round/>
              <a:headEnd/>
              <a:tailEnd/>
            </a:ln>
          </p:spPr>
          <p:txBody>
            <a:bodyPr/>
            <a:lstStyle/>
            <a:p>
              <a:pPr>
                <a:defRPr/>
              </a:pPr>
              <a:endParaRPr lang="ko-KR" altLang="en-US" sz="1662" kern="0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55" name="Freeform 228"/>
            <p:cNvSpPr>
              <a:spLocks/>
            </p:cNvSpPr>
            <p:nvPr/>
          </p:nvSpPr>
          <p:spPr bwMode="auto">
            <a:xfrm flipH="1">
              <a:off x="1651014" y="4087365"/>
              <a:ext cx="448077" cy="64268"/>
            </a:xfrm>
            <a:custGeom>
              <a:avLst/>
              <a:gdLst>
                <a:gd name="T0" fmla="*/ 0 w 1660"/>
                <a:gd name="T1" fmla="*/ 10 h 214"/>
                <a:gd name="T2" fmla="*/ 68 w 1660"/>
                <a:gd name="T3" fmla="*/ 0 h 214"/>
                <a:gd name="T4" fmla="*/ 1660 w 1660"/>
                <a:gd name="T5" fmla="*/ 199 h 214"/>
                <a:gd name="T6" fmla="*/ 1613 w 1660"/>
                <a:gd name="T7" fmla="*/ 214 h 214"/>
                <a:gd name="T8" fmla="*/ 0 w 1660"/>
                <a:gd name="T9" fmla="*/ 10 h 214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660"/>
                <a:gd name="T16" fmla="*/ 0 h 214"/>
                <a:gd name="T17" fmla="*/ 1660 w 1660"/>
                <a:gd name="T18" fmla="*/ 214 h 214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660" h="214">
                  <a:moveTo>
                    <a:pt x="0" y="10"/>
                  </a:moveTo>
                  <a:lnTo>
                    <a:pt x="68" y="0"/>
                  </a:lnTo>
                  <a:lnTo>
                    <a:pt x="1660" y="199"/>
                  </a:lnTo>
                  <a:lnTo>
                    <a:pt x="1613" y="214"/>
                  </a:lnTo>
                  <a:lnTo>
                    <a:pt x="0" y="10"/>
                  </a:lnTo>
                  <a:close/>
                </a:path>
              </a:pathLst>
            </a:custGeom>
            <a:noFill/>
            <a:ln w="9525">
              <a:solidFill>
                <a:srgbClr val="969696"/>
              </a:solidFill>
              <a:round/>
              <a:headEnd/>
              <a:tailEnd/>
            </a:ln>
          </p:spPr>
          <p:txBody>
            <a:bodyPr/>
            <a:lstStyle/>
            <a:p>
              <a:pPr>
                <a:defRPr/>
              </a:pPr>
              <a:endParaRPr lang="ko-KR" altLang="en-US" sz="1662" kern="0">
                <a:solidFill>
                  <a:sysClr val="windowText" lastClr="000000"/>
                </a:solidFill>
              </a:endParaRPr>
            </a:p>
          </p:txBody>
        </p:sp>
      </p:grpSp>
      <p:pic>
        <p:nvPicPr>
          <p:cNvPr id="99332" name="Picture 2" descr="C:\Users\Toshiba\AppData\Local\Microsoft\Windows\Temporary Internet Files\Content.IE5\TBE21NJN\MC900434845[1]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71393" y="3063945"/>
            <a:ext cx="1462453" cy="139065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9333" name="TextBox 58"/>
          <p:cNvSpPr txBox="1">
            <a:spLocks noChangeArrowheads="1"/>
          </p:cNvSpPr>
          <p:nvPr/>
        </p:nvSpPr>
        <p:spPr bwMode="auto">
          <a:xfrm>
            <a:off x="2793000" y="4398424"/>
            <a:ext cx="1162498" cy="3196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1pPr>
            <a:lvl2pPr marL="742950" indent="-285750"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2pPr>
            <a:lvl3pPr marL="1143000" indent="-228600"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3pPr>
            <a:lvl4pPr marL="1600200" indent="-228600"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4pPr>
            <a:lvl5pPr marL="2057400" indent="-228600"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9pPr>
          </a:lstStyle>
          <a:p>
            <a:r>
              <a:rPr lang="ko-KR" altLang="en-US" sz="1477" dirty="0">
                <a:latin typeface="함초롬바탕" panose="02030504000101010101" pitchFamily="18" charset="-127"/>
                <a:ea typeface="함초롬바탕" panose="02030504000101010101" pitchFamily="18" charset="-127"/>
              </a:rPr>
              <a:t>송신호스트 </a:t>
            </a:r>
          </a:p>
        </p:txBody>
      </p:sp>
      <p:sp>
        <p:nvSpPr>
          <p:cNvPr id="60" name="오른쪽 화살표 59"/>
          <p:cNvSpPr/>
          <p:nvPr/>
        </p:nvSpPr>
        <p:spPr>
          <a:xfrm>
            <a:off x="4928707" y="1938780"/>
            <a:ext cx="3632689" cy="580292"/>
          </a:xfrm>
          <a:prstGeom prst="rightArrow">
            <a:avLst>
              <a:gd name="adj1" fmla="val 50000"/>
              <a:gd name="adj2" fmla="val 86095"/>
            </a:avLst>
          </a:prstGeom>
          <a:solidFill>
            <a:schemeClr val="bg1">
              <a:lumMod val="85000"/>
            </a:schemeClr>
          </a:solidFill>
          <a:ln cap="sq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886"/>
          </a:p>
        </p:txBody>
      </p:sp>
      <p:sp>
        <p:nvSpPr>
          <p:cNvPr id="99335" name="TextBox 60"/>
          <p:cNvSpPr txBox="1">
            <a:spLocks noChangeArrowheads="1"/>
          </p:cNvSpPr>
          <p:nvPr/>
        </p:nvSpPr>
        <p:spPr bwMode="auto">
          <a:xfrm>
            <a:off x="5363927" y="2086786"/>
            <a:ext cx="2295821" cy="3196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1pPr>
            <a:lvl2pPr marL="742950" indent="-285750"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2pPr>
            <a:lvl3pPr marL="1143000" indent="-228600"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3pPr>
            <a:lvl4pPr marL="1600200" indent="-228600"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4pPr>
            <a:lvl5pPr marL="2057400" indent="-228600"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9pPr>
          </a:lstStyle>
          <a:p>
            <a:r>
              <a:rPr lang="en-US" altLang="ko-KR" sz="1477" dirty="0">
                <a:latin typeface="Times New Roman" panose="02020603050405020304" pitchFamily="18" charset="0"/>
                <a:cs typeface="Times New Roman" panose="02020603050405020304" pitchFamily="18" charset="0"/>
              </a:rPr>
              <a:t>SN=</a:t>
            </a:r>
            <a:r>
              <a:rPr lang="en-US" altLang="ko-KR" sz="1477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5000 (</a:t>
            </a:r>
            <a:r>
              <a:rPr lang="en-US" altLang="ko-KR" sz="1477" dirty="0">
                <a:solidFill>
                  <a:schemeClr val="accent2"/>
                </a:solidFill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Data Size : 500</a:t>
            </a:r>
            <a:r>
              <a:rPr lang="en-US" altLang="ko-KR" sz="1477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)</a:t>
            </a:r>
            <a:r>
              <a:rPr lang="ko-KR" altLang="en-US" sz="1477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 </a:t>
            </a:r>
          </a:p>
        </p:txBody>
      </p:sp>
      <p:sp>
        <p:nvSpPr>
          <p:cNvPr id="62" name="오른쪽 화살표 61"/>
          <p:cNvSpPr/>
          <p:nvPr/>
        </p:nvSpPr>
        <p:spPr>
          <a:xfrm rot="10800000">
            <a:off x="6526475" y="2655354"/>
            <a:ext cx="2034919" cy="580292"/>
          </a:xfrm>
          <a:prstGeom prst="rightArrow">
            <a:avLst>
              <a:gd name="adj1" fmla="val 50000"/>
              <a:gd name="adj2" fmla="val 86095"/>
            </a:avLst>
          </a:prstGeom>
          <a:noFill/>
          <a:ln cap="sq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886"/>
          </a:p>
        </p:txBody>
      </p:sp>
      <p:sp>
        <p:nvSpPr>
          <p:cNvPr id="64" name="오른쪽 화살표 63"/>
          <p:cNvSpPr/>
          <p:nvPr/>
        </p:nvSpPr>
        <p:spPr>
          <a:xfrm>
            <a:off x="4921432" y="3458551"/>
            <a:ext cx="3632689" cy="578827"/>
          </a:xfrm>
          <a:prstGeom prst="rightArrow">
            <a:avLst>
              <a:gd name="adj1" fmla="val 50000"/>
              <a:gd name="adj2" fmla="val 86095"/>
            </a:avLst>
          </a:prstGeom>
          <a:solidFill>
            <a:schemeClr val="bg1">
              <a:lumMod val="85000"/>
            </a:schemeClr>
          </a:solidFill>
          <a:ln cap="sq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886"/>
          </a:p>
        </p:txBody>
      </p:sp>
      <p:sp>
        <p:nvSpPr>
          <p:cNvPr id="66" name="오른쪽 화살표 65"/>
          <p:cNvSpPr/>
          <p:nvPr/>
        </p:nvSpPr>
        <p:spPr>
          <a:xfrm rot="10800000">
            <a:off x="4915569" y="4200035"/>
            <a:ext cx="3634154" cy="580292"/>
          </a:xfrm>
          <a:prstGeom prst="rightArrow">
            <a:avLst>
              <a:gd name="adj1" fmla="val 50000"/>
              <a:gd name="adj2" fmla="val 86095"/>
            </a:avLst>
          </a:prstGeom>
          <a:noFill/>
          <a:ln cap="sq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886"/>
          </a:p>
        </p:txBody>
      </p:sp>
      <p:sp>
        <p:nvSpPr>
          <p:cNvPr id="99341" name="TextBox 73"/>
          <p:cNvSpPr txBox="1">
            <a:spLocks noChangeArrowheads="1"/>
          </p:cNvSpPr>
          <p:nvPr/>
        </p:nvSpPr>
        <p:spPr bwMode="auto">
          <a:xfrm>
            <a:off x="9501490" y="4321978"/>
            <a:ext cx="1162498" cy="3196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1pPr>
            <a:lvl2pPr marL="742950" indent="-285750"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2pPr>
            <a:lvl3pPr marL="1143000" indent="-228600"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3pPr>
            <a:lvl4pPr marL="1600200" indent="-228600"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4pPr>
            <a:lvl5pPr marL="2057400" indent="-228600"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9pPr>
          </a:lstStyle>
          <a:p>
            <a:r>
              <a:rPr lang="ko-KR" altLang="en-US" sz="1477">
                <a:latin typeface="함초롬바탕" panose="02030504000101010101" pitchFamily="18" charset="-127"/>
                <a:ea typeface="함초롬바탕" panose="02030504000101010101" pitchFamily="18" charset="-127"/>
              </a:rPr>
              <a:t>수신호스트 </a:t>
            </a:r>
          </a:p>
        </p:txBody>
      </p:sp>
      <p:sp>
        <p:nvSpPr>
          <p:cNvPr id="99342" name="TextBox 74"/>
          <p:cNvSpPr txBox="1">
            <a:spLocks noChangeArrowheads="1"/>
          </p:cNvSpPr>
          <p:nvPr/>
        </p:nvSpPr>
        <p:spPr bwMode="auto">
          <a:xfrm>
            <a:off x="7101847" y="2799283"/>
            <a:ext cx="1039067" cy="3196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1pPr>
            <a:lvl2pPr marL="742950" indent="-285750"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2pPr>
            <a:lvl3pPr marL="1143000" indent="-228600"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3pPr>
            <a:lvl4pPr marL="1600200" indent="-228600"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4pPr>
            <a:lvl5pPr marL="2057400" indent="-228600"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9pPr>
          </a:lstStyle>
          <a:p>
            <a:r>
              <a:rPr lang="en-US" altLang="ko-KR" sz="1477" dirty="0">
                <a:solidFill>
                  <a:schemeClr val="tx1">
                    <a:lumMod val="85000"/>
                    <a:lumOff val="15000"/>
                  </a:schemeClr>
                </a:solidFill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AN=5500 </a:t>
            </a:r>
            <a:r>
              <a:rPr lang="ko-KR" altLang="en-US" sz="1477">
                <a:solidFill>
                  <a:schemeClr val="tx1">
                    <a:lumMod val="85000"/>
                    <a:lumOff val="15000"/>
                  </a:schemeClr>
                </a:solidFill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 </a:t>
            </a:r>
            <a:endParaRPr lang="ko-KR" altLang="en-US" sz="1477" dirty="0">
              <a:solidFill>
                <a:schemeClr val="tx1">
                  <a:lumMod val="85000"/>
                  <a:lumOff val="15000"/>
                </a:schemeClr>
              </a:solidFill>
              <a:latin typeface="Times New Roman" panose="02020603050405020304" pitchFamily="18" charset="0"/>
              <a:ea typeface="함초롬바탕" panose="02030504000101010101" pitchFamily="18" charset="-127"/>
              <a:cs typeface="Times New Roman" panose="02020603050405020304" pitchFamily="18" charset="0"/>
            </a:endParaRPr>
          </a:p>
        </p:txBody>
      </p:sp>
      <p:sp>
        <p:nvSpPr>
          <p:cNvPr id="99343" name="TextBox 75"/>
          <p:cNvSpPr txBox="1">
            <a:spLocks noChangeArrowheads="1"/>
          </p:cNvSpPr>
          <p:nvPr/>
        </p:nvSpPr>
        <p:spPr bwMode="auto">
          <a:xfrm>
            <a:off x="6064431" y="4358298"/>
            <a:ext cx="1087157" cy="3196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1pPr>
            <a:lvl2pPr marL="742950" indent="-285750"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2pPr>
            <a:lvl3pPr marL="1143000" indent="-228600"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3pPr>
            <a:lvl4pPr marL="1600200" indent="-228600"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4pPr>
            <a:lvl5pPr marL="2057400" indent="-228600"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9pPr>
          </a:lstStyle>
          <a:p>
            <a:r>
              <a:rPr lang="en-US" altLang="ko-KR" sz="1477" dirty="0">
                <a:solidFill>
                  <a:schemeClr val="tx1">
                    <a:lumMod val="85000"/>
                    <a:lumOff val="15000"/>
                  </a:schemeClr>
                </a:solidFill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AN= </a:t>
            </a:r>
            <a:r>
              <a:rPr lang="en-US" altLang="ko-KR" sz="1477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5500 </a:t>
            </a:r>
            <a:r>
              <a:rPr lang="ko-KR" altLang="en-US" sz="1477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 </a:t>
            </a:r>
            <a:endParaRPr lang="ko-KR" altLang="en-US" sz="1477" dirty="0">
              <a:latin typeface="Times New Roman" panose="02020603050405020304" pitchFamily="18" charset="0"/>
              <a:ea typeface="함초롬바탕" panose="02030504000101010101" pitchFamily="18" charset="-127"/>
              <a:cs typeface="Times New Roman" panose="02020603050405020304" pitchFamily="18" charset="0"/>
            </a:endParaRPr>
          </a:p>
        </p:txBody>
      </p:sp>
      <p:sp>
        <p:nvSpPr>
          <p:cNvPr id="99345" name="TextBox 77"/>
          <p:cNvSpPr txBox="1">
            <a:spLocks noChangeArrowheads="1"/>
          </p:cNvSpPr>
          <p:nvPr/>
        </p:nvSpPr>
        <p:spPr bwMode="auto">
          <a:xfrm>
            <a:off x="5257006" y="3603626"/>
            <a:ext cx="2295821" cy="3196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1pPr>
            <a:lvl2pPr marL="742950" indent="-285750"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2pPr>
            <a:lvl3pPr marL="1143000" indent="-228600"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3pPr>
            <a:lvl4pPr marL="1600200" indent="-228600"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4pPr>
            <a:lvl5pPr marL="2057400" indent="-228600"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9pPr>
          </a:lstStyle>
          <a:p>
            <a:r>
              <a:rPr lang="en-US" altLang="ko-KR" sz="1477" dirty="0">
                <a:latin typeface="Times New Roman" panose="02020603050405020304" pitchFamily="18" charset="0"/>
                <a:cs typeface="Times New Roman" panose="02020603050405020304" pitchFamily="18" charset="0"/>
              </a:rPr>
              <a:t>SN=</a:t>
            </a:r>
            <a:r>
              <a:rPr lang="en-US" altLang="ko-KR" sz="1477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5000 (</a:t>
            </a:r>
            <a:r>
              <a:rPr lang="en-US" altLang="ko-KR" sz="1477" dirty="0">
                <a:solidFill>
                  <a:schemeClr val="accent2"/>
                </a:solidFill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Data Size : 500</a:t>
            </a:r>
            <a:r>
              <a:rPr lang="en-US" altLang="ko-KR" sz="1477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)</a:t>
            </a:r>
            <a:r>
              <a:rPr lang="ko-KR" altLang="en-US" sz="1477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 </a:t>
            </a:r>
          </a:p>
        </p:txBody>
      </p:sp>
      <p:sp>
        <p:nvSpPr>
          <p:cNvPr id="71" name="직사각형 70"/>
          <p:cNvSpPr/>
          <p:nvPr/>
        </p:nvSpPr>
        <p:spPr>
          <a:xfrm>
            <a:off x="3307335" y="2402970"/>
            <a:ext cx="803409" cy="39750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4" dirty="0">
                <a:latin typeface="Times New Roman" panose="02020603050405020304" pitchFamily="18" charset="0"/>
                <a:cs typeface="Times New Roman" panose="02020603050405020304" pitchFamily="18" charset="0"/>
              </a:rPr>
              <a:t>500</a:t>
            </a:r>
            <a:endParaRPr lang="ko-KR" altLang="en-US" sz="1504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2" name="직사각형 71"/>
          <p:cNvSpPr/>
          <p:nvPr/>
        </p:nvSpPr>
        <p:spPr>
          <a:xfrm>
            <a:off x="2413721" y="2402970"/>
            <a:ext cx="803409" cy="397508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4" dirty="0">
                <a:latin typeface="Times New Roman" panose="02020603050405020304" pitchFamily="18" charset="0"/>
                <a:cs typeface="Times New Roman" panose="02020603050405020304" pitchFamily="18" charset="0"/>
              </a:rPr>
              <a:t>600</a:t>
            </a:r>
            <a:endParaRPr lang="ko-KR" altLang="en-US" sz="1504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3" name="직사각형 72"/>
          <p:cNvSpPr/>
          <p:nvPr/>
        </p:nvSpPr>
        <p:spPr>
          <a:xfrm>
            <a:off x="1520107" y="2402970"/>
            <a:ext cx="803409" cy="397508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4" dirty="0">
                <a:latin typeface="Times New Roman" panose="02020603050405020304" pitchFamily="18" charset="0"/>
                <a:cs typeface="Times New Roman" panose="02020603050405020304" pitchFamily="18" charset="0"/>
              </a:rPr>
              <a:t>300</a:t>
            </a:r>
            <a:endParaRPr lang="ko-KR" altLang="en-US" sz="1504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4" name="TextBox 73"/>
          <p:cNvSpPr txBox="1"/>
          <p:nvPr/>
        </p:nvSpPr>
        <p:spPr>
          <a:xfrm>
            <a:off x="3343940" y="2127855"/>
            <a:ext cx="763351" cy="2723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17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SN=5000</a:t>
            </a:r>
            <a:endParaRPr lang="ko-KR" altLang="en-US" sz="117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5" name="TextBox 74"/>
          <p:cNvSpPr txBox="1"/>
          <p:nvPr/>
        </p:nvSpPr>
        <p:spPr>
          <a:xfrm>
            <a:off x="2467154" y="2127211"/>
            <a:ext cx="763351" cy="2723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17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SN=5500</a:t>
            </a:r>
            <a:endParaRPr lang="ko-KR" altLang="en-US" sz="117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6" name="TextBox 75"/>
          <p:cNvSpPr txBox="1"/>
          <p:nvPr/>
        </p:nvSpPr>
        <p:spPr>
          <a:xfrm>
            <a:off x="1570683" y="2128387"/>
            <a:ext cx="763351" cy="2723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17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SN=6100</a:t>
            </a:r>
            <a:endParaRPr lang="ko-KR" altLang="en-US" sz="117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8" name="오른쪽 화살표 77"/>
          <p:cNvSpPr/>
          <p:nvPr/>
        </p:nvSpPr>
        <p:spPr>
          <a:xfrm>
            <a:off x="4928707" y="5015130"/>
            <a:ext cx="3632689" cy="578827"/>
          </a:xfrm>
          <a:prstGeom prst="rightArrow">
            <a:avLst>
              <a:gd name="adj1" fmla="val 50000"/>
              <a:gd name="adj2" fmla="val 86095"/>
            </a:avLst>
          </a:prstGeom>
          <a:solidFill>
            <a:schemeClr val="bg1">
              <a:lumMod val="85000"/>
            </a:schemeClr>
          </a:solidFill>
          <a:ln cap="sq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886"/>
          </a:p>
        </p:txBody>
      </p:sp>
      <p:sp>
        <p:nvSpPr>
          <p:cNvPr id="79" name="오른쪽 화살표 78"/>
          <p:cNvSpPr/>
          <p:nvPr/>
        </p:nvSpPr>
        <p:spPr>
          <a:xfrm rot="10800000">
            <a:off x="4922844" y="5756614"/>
            <a:ext cx="3634154" cy="580292"/>
          </a:xfrm>
          <a:prstGeom prst="rightArrow">
            <a:avLst>
              <a:gd name="adj1" fmla="val 50000"/>
              <a:gd name="adj2" fmla="val 86095"/>
            </a:avLst>
          </a:prstGeom>
          <a:noFill/>
          <a:ln cap="sq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886"/>
          </a:p>
        </p:txBody>
      </p:sp>
      <p:sp>
        <p:nvSpPr>
          <p:cNvPr id="80" name="TextBox 75"/>
          <p:cNvSpPr txBox="1">
            <a:spLocks noChangeArrowheads="1"/>
          </p:cNvSpPr>
          <p:nvPr/>
        </p:nvSpPr>
        <p:spPr bwMode="auto">
          <a:xfrm>
            <a:off x="6071706" y="5914877"/>
            <a:ext cx="1087157" cy="3196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1pPr>
            <a:lvl2pPr marL="742950" indent="-285750"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2pPr>
            <a:lvl3pPr marL="1143000" indent="-228600"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3pPr>
            <a:lvl4pPr marL="1600200" indent="-228600"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4pPr>
            <a:lvl5pPr marL="2057400" indent="-228600"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9pPr>
          </a:lstStyle>
          <a:p>
            <a:r>
              <a:rPr lang="en-US" altLang="ko-KR" sz="1477" dirty="0">
                <a:solidFill>
                  <a:schemeClr val="tx1">
                    <a:lumMod val="85000"/>
                    <a:lumOff val="15000"/>
                  </a:schemeClr>
                </a:solidFill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AN= </a:t>
            </a:r>
            <a:r>
              <a:rPr lang="en-US" altLang="ko-KR" sz="1477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6100 </a:t>
            </a:r>
            <a:r>
              <a:rPr lang="ko-KR" altLang="en-US" sz="1477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 </a:t>
            </a:r>
            <a:endParaRPr lang="ko-KR" altLang="en-US" sz="1477" dirty="0">
              <a:latin typeface="Times New Roman" panose="02020603050405020304" pitchFamily="18" charset="0"/>
              <a:ea typeface="함초롬바탕" panose="02030504000101010101" pitchFamily="18" charset="-127"/>
              <a:cs typeface="Times New Roman" panose="02020603050405020304" pitchFamily="18" charset="0"/>
            </a:endParaRPr>
          </a:p>
        </p:txBody>
      </p:sp>
      <p:sp>
        <p:nvSpPr>
          <p:cNvPr id="81" name="TextBox 77"/>
          <p:cNvSpPr txBox="1">
            <a:spLocks noChangeArrowheads="1"/>
          </p:cNvSpPr>
          <p:nvPr/>
        </p:nvSpPr>
        <p:spPr bwMode="auto">
          <a:xfrm>
            <a:off x="5264281" y="5160205"/>
            <a:ext cx="2295821" cy="3196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1pPr>
            <a:lvl2pPr marL="742950" indent="-285750"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2pPr>
            <a:lvl3pPr marL="1143000" indent="-228600"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3pPr>
            <a:lvl4pPr marL="1600200" indent="-228600"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4pPr>
            <a:lvl5pPr marL="2057400" indent="-228600"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9pPr>
          </a:lstStyle>
          <a:p>
            <a:r>
              <a:rPr lang="en-US" altLang="ko-KR" sz="1477" dirty="0">
                <a:latin typeface="Times New Roman" panose="02020603050405020304" pitchFamily="18" charset="0"/>
                <a:cs typeface="Times New Roman" panose="02020603050405020304" pitchFamily="18" charset="0"/>
              </a:rPr>
              <a:t>SN=</a:t>
            </a:r>
            <a:r>
              <a:rPr lang="en-US" altLang="ko-KR" sz="1477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5500 (</a:t>
            </a:r>
            <a:r>
              <a:rPr lang="en-US" altLang="ko-KR" sz="1477" dirty="0">
                <a:solidFill>
                  <a:schemeClr val="accent2"/>
                </a:solidFill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Data Size : 600</a:t>
            </a:r>
            <a:r>
              <a:rPr lang="en-US" altLang="ko-KR" sz="1477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)</a:t>
            </a:r>
            <a:r>
              <a:rPr lang="ko-KR" altLang="en-US" sz="1477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 </a:t>
            </a:r>
          </a:p>
        </p:txBody>
      </p:sp>
      <p:sp>
        <p:nvSpPr>
          <p:cNvPr id="3" name="폭발 1 2"/>
          <p:cNvSpPr/>
          <p:nvPr/>
        </p:nvSpPr>
        <p:spPr>
          <a:xfrm>
            <a:off x="5844024" y="2596894"/>
            <a:ext cx="1011106" cy="750161"/>
          </a:xfrm>
          <a:prstGeom prst="irregularSeal1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TextBox 3"/>
          <p:cNvSpPr txBox="1"/>
          <p:nvPr/>
        </p:nvSpPr>
        <p:spPr>
          <a:xfrm>
            <a:off x="1254758" y="1185450"/>
            <a:ext cx="30764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b="1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(</a:t>
            </a:r>
            <a:r>
              <a:rPr lang="ko-KR" altLang="en-US" b="1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예</a:t>
            </a:r>
            <a:r>
              <a:rPr lang="en-US" altLang="ko-KR" b="1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) </a:t>
            </a:r>
            <a:r>
              <a:rPr lang="ko-KR" altLang="en-US" b="1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송신측에서 재전송 시도 </a:t>
            </a:r>
          </a:p>
        </p:txBody>
      </p:sp>
    </p:spTree>
    <p:extLst>
      <p:ext uri="{BB962C8B-B14F-4D97-AF65-F5344CB8AC3E}">
        <p14:creationId xmlns:p14="http://schemas.microsoft.com/office/powerpoint/2010/main" val="147121010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>
          <a:xfrm>
            <a:off x="9359650" y="6373033"/>
            <a:ext cx="2743200" cy="365125"/>
          </a:xfrm>
        </p:spPr>
        <p:txBody>
          <a:bodyPr/>
          <a:lstStyle/>
          <a:p>
            <a:fld id="{55A22EA7-80FE-42C8-BCF2-09639A4FECEC}" type="slidenum">
              <a:rPr lang="ko-KR" altLang="en-US" smtClean="0"/>
              <a:t>24</a:t>
            </a:fld>
            <a:endParaRPr lang="ko-KR" altLang="en-US"/>
          </a:p>
        </p:txBody>
      </p:sp>
      <p:grpSp>
        <p:nvGrpSpPr>
          <p:cNvPr id="4" name="그룹 3"/>
          <p:cNvGrpSpPr/>
          <p:nvPr/>
        </p:nvGrpSpPr>
        <p:grpSpPr>
          <a:xfrm flipH="1">
            <a:off x="9461787" y="3274550"/>
            <a:ext cx="941018" cy="1020399"/>
            <a:chOff x="1533695" y="4087365"/>
            <a:chExt cx="838200" cy="1007923"/>
          </a:xfrm>
        </p:grpSpPr>
        <p:sp>
          <p:nvSpPr>
            <p:cNvPr id="6" name="Freeform 174"/>
            <p:cNvSpPr>
              <a:spLocks/>
            </p:cNvSpPr>
            <p:nvPr/>
          </p:nvSpPr>
          <p:spPr bwMode="auto">
            <a:xfrm rot="355818">
              <a:off x="2175045" y="4754115"/>
              <a:ext cx="74613" cy="52387"/>
            </a:xfrm>
            <a:custGeom>
              <a:avLst/>
              <a:gdLst>
                <a:gd name="T0" fmla="*/ 1224 w 1224"/>
                <a:gd name="T1" fmla="*/ 755 h 755"/>
                <a:gd name="T2" fmla="*/ 1112 w 1224"/>
                <a:gd name="T3" fmla="*/ 716 h 755"/>
                <a:gd name="T4" fmla="*/ 1051 w 1224"/>
                <a:gd name="T5" fmla="*/ 693 h 755"/>
                <a:gd name="T6" fmla="*/ 1006 w 1224"/>
                <a:gd name="T7" fmla="*/ 671 h 755"/>
                <a:gd name="T8" fmla="*/ 984 w 1224"/>
                <a:gd name="T9" fmla="*/ 660 h 755"/>
                <a:gd name="T10" fmla="*/ 939 w 1224"/>
                <a:gd name="T11" fmla="*/ 626 h 755"/>
                <a:gd name="T12" fmla="*/ 894 w 1224"/>
                <a:gd name="T13" fmla="*/ 548 h 755"/>
                <a:gd name="T14" fmla="*/ 889 w 1224"/>
                <a:gd name="T15" fmla="*/ 531 h 755"/>
                <a:gd name="T16" fmla="*/ 850 w 1224"/>
                <a:gd name="T17" fmla="*/ 509 h 755"/>
                <a:gd name="T18" fmla="*/ 799 w 1224"/>
                <a:gd name="T19" fmla="*/ 481 h 755"/>
                <a:gd name="T20" fmla="*/ 704 w 1224"/>
                <a:gd name="T21" fmla="*/ 453 h 755"/>
                <a:gd name="T22" fmla="*/ 419 w 1224"/>
                <a:gd name="T23" fmla="*/ 442 h 755"/>
                <a:gd name="T24" fmla="*/ 330 w 1224"/>
                <a:gd name="T25" fmla="*/ 408 h 755"/>
                <a:gd name="T26" fmla="*/ 212 w 1224"/>
                <a:gd name="T27" fmla="*/ 279 h 755"/>
                <a:gd name="T28" fmla="*/ 145 w 1224"/>
                <a:gd name="T29" fmla="*/ 134 h 755"/>
                <a:gd name="T30" fmla="*/ 78 w 1224"/>
                <a:gd name="T31" fmla="*/ 39 h 755"/>
                <a:gd name="T32" fmla="*/ 0 w 1224"/>
                <a:gd name="T33" fmla="*/ 0 h 755"/>
                <a:gd name="T34" fmla="*/ 0 60000 65536"/>
                <a:gd name="T35" fmla="*/ 0 60000 65536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w 1224"/>
                <a:gd name="T52" fmla="*/ 0 h 755"/>
                <a:gd name="T53" fmla="*/ 1224 w 1224"/>
                <a:gd name="T54" fmla="*/ 755 h 755"/>
              </a:gdLst>
              <a:ahLst/>
              <a:cxnLst>
                <a:cxn ang="T34">
                  <a:pos x="T0" y="T1"/>
                </a:cxn>
                <a:cxn ang="T35">
                  <a:pos x="T2" y="T3"/>
                </a:cxn>
                <a:cxn ang="T36">
                  <a:pos x="T4" y="T5"/>
                </a:cxn>
                <a:cxn ang="T37">
                  <a:pos x="T6" y="T7"/>
                </a:cxn>
                <a:cxn ang="T38">
                  <a:pos x="T8" y="T9"/>
                </a:cxn>
                <a:cxn ang="T39">
                  <a:pos x="T10" y="T11"/>
                </a:cxn>
                <a:cxn ang="T40">
                  <a:pos x="T12" y="T13"/>
                </a:cxn>
                <a:cxn ang="T41">
                  <a:pos x="T14" y="T15"/>
                </a:cxn>
                <a:cxn ang="T42">
                  <a:pos x="T16" y="T17"/>
                </a:cxn>
                <a:cxn ang="T43">
                  <a:pos x="T18" y="T19"/>
                </a:cxn>
                <a:cxn ang="T44">
                  <a:pos x="T20" y="T21"/>
                </a:cxn>
                <a:cxn ang="T45">
                  <a:pos x="T22" y="T23"/>
                </a:cxn>
                <a:cxn ang="T46">
                  <a:pos x="T24" y="T25"/>
                </a:cxn>
                <a:cxn ang="T47">
                  <a:pos x="T26" y="T27"/>
                </a:cxn>
                <a:cxn ang="T48">
                  <a:pos x="T28" y="T29"/>
                </a:cxn>
                <a:cxn ang="T49">
                  <a:pos x="T30" y="T31"/>
                </a:cxn>
                <a:cxn ang="T50">
                  <a:pos x="T32" y="T33"/>
                </a:cxn>
              </a:cxnLst>
              <a:rect l="T51" t="T52" r="T53" b="T54"/>
              <a:pathLst>
                <a:path w="1224" h="755">
                  <a:moveTo>
                    <a:pt x="1224" y="755"/>
                  </a:moveTo>
                  <a:cubicBezTo>
                    <a:pt x="1190" y="729"/>
                    <a:pt x="1154" y="724"/>
                    <a:pt x="1112" y="716"/>
                  </a:cubicBezTo>
                  <a:cubicBezTo>
                    <a:pt x="1091" y="705"/>
                    <a:pt x="1072" y="702"/>
                    <a:pt x="1051" y="693"/>
                  </a:cubicBezTo>
                  <a:cubicBezTo>
                    <a:pt x="1036" y="686"/>
                    <a:pt x="1021" y="678"/>
                    <a:pt x="1006" y="671"/>
                  </a:cubicBezTo>
                  <a:cubicBezTo>
                    <a:pt x="999" y="667"/>
                    <a:pt x="984" y="660"/>
                    <a:pt x="984" y="660"/>
                  </a:cubicBezTo>
                  <a:cubicBezTo>
                    <a:pt x="971" y="646"/>
                    <a:pt x="939" y="626"/>
                    <a:pt x="939" y="626"/>
                  </a:cubicBezTo>
                  <a:cubicBezTo>
                    <a:pt x="923" y="602"/>
                    <a:pt x="906" y="575"/>
                    <a:pt x="894" y="548"/>
                  </a:cubicBezTo>
                  <a:cubicBezTo>
                    <a:pt x="892" y="543"/>
                    <a:pt x="893" y="536"/>
                    <a:pt x="889" y="531"/>
                  </a:cubicBezTo>
                  <a:cubicBezTo>
                    <a:pt x="884" y="524"/>
                    <a:pt x="855" y="512"/>
                    <a:pt x="850" y="509"/>
                  </a:cubicBezTo>
                  <a:cubicBezTo>
                    <a:pt x="802" y="480"/>
                    <a:pt x="833" y="491"/>
                    <a:pt x="799" y="481"/>
                  </a:cubicBezTo>
                  <a:cubicBezTo>
                    <a:pt x="764" y="457"/>
                    <a:pt x="751" y="457"/>
                    <a:pt x="704" y="453"/>
                  </a:cubicBezTo>
                  <a:cubicBezTo>
                    <a:pt x="606" y="457"/>
                    <a:pt x="515" y="459"/>
                    <a:pt x="419" y="442"/>
                  </a:cubicBezTo>
                  <a:cubicBezTo>
                    <a:pt x="391" y="426"/>
                    <a:pt x="360" y="419"/>
                    <a:pt x="330" y="408"/>
                  </a:cubicBezTo>
                  <a:cubicBezTo>
                    <a:pt x="287" y="368"/>
                    <a:pt x="245" y="328"/>
                    <a:pt x="212" y="279"/>
                  </a:cubicBezTo>
                  <a:cubicBezTo>
                    <a:pt x="183" y="235"/>
                    <a:pt x="168" y="181"/>
                    <a:pt x="145" y="134"/>
                  </a:cubicBezTo>
                  <a:cubicBezTo>
                    <a:pt x="128" y="100"/>
                    <a:pt x="99" y="71"/>
                    <a:pt x="78" y="39"/>
                  </a:cubicBezTo>
                  <a:cubicBezTo>
                    <a:pt x="70" y="27"/>
                    <a:pt x="15" y="7"/>
                    <a:pt x="0" y="0"/>
                  </a:cubicBezTo>
                </a:path>
              </a:pathLst>
            </a:custGeom>
            <a:noFill/>
            <a:ln w="12700">
              <a:solidFill>
                <a:srgbClr val="969696"/>
              </a:solidFill>
              <a:round/>
              <a:headEnd/>
              <a:tailEnd/>
            </a:ln>
          </p:spPr>
          <p:txBody>
            <a:bodyPr/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7" name="Freeform 175"/>
            <p:cNvSpPr>
              <a:spLocks/>
            </p:cNvSpPr>
            <p:nvPr/>
          </p:nvSpPr>
          <p:spPr bwMode="auto">
            <a:xfrm rot="355818" flipH="1">
              <a:off x="2235370" y="4801740"/>
              <a:ext cx="136525" cy="82550"/>
            </a:xfrm>
            <a:custGeom>
              <a:avLst/>
              <a:gdLst>
                <a:gd name="T0" fmla="*/ 886 w 971"/>
                <a:gd name="T1" fmla="*/ 33 h 550"/>
                <a:gd name="T2" fmla="*/ 937 w 971"/>
                <a:gd name="T3" fmla="*/ 70 h 550"/>
                <a:gd name="T4" fmla="*/ 971 w 971"/>
                <a:gd name="T5" fmla="*/ 130 h 550"/>
                <a:gd name="T6" fmla="*/ 967 w 971"/>
                <a:gd name="T7" fmla="*/ 218 h 550"/>
                <a:gd name="T8" fmla="*/ 882 w 971"/>
                <a:gd name="T9" fmla="*/ 261 h 550"/>
                <a:gd name="T10" fmla="*/ 791 w 971"/>
                <a:gd name="T11" fmla="*/ 294 h 550"/>
                <a:gd name="T12" fmla="*/ 665 w 971"/>
                <a:gd name="T13" fmla="*/ 382 h 550"/>
                <a:gd name="T14" fmla="*/ 519 w 971"/>
                <a:gd name="T15" fmla="*/ 522 h 550"/>
                <a:gd name="T16" fmla="*/ 397 w 971"/>
                <a:gd name="T17" fmla="*/ 542 h 550"/>
                <a:gd name="T18" fmla="*/ 298 w 971"/>
                <a:gd name="T19" fmla="*/ 550 h 550"/>
                <a:gd name="T20" fmla="*/ 155 w 971"/>
                <a:gd name="T21" fmla="*/ 522 h 550"/>
                <a:gd name="T22" fmla="*/ 34 w 971"/>
                <a:gd name="T23" fmla="*/ 459 h 550"/>
                <a:gd name="T24" fmla="*/ 0 w 971"/>
                <a:gd name="T25" fmla="*/ 393 h 550"/>
                <a:gd name="T26" fmla="*/ 11 w 971"/>
                <a:gd name="T27" fmla="*/ 315 h 550"/>
                <a:gd name="T28" fmla="*/ 63 w 971"/>
                <a:gd name="T29" fmla="*/ 210 h 550"/>
                <a:gd name="T30" fmla="*/ 142 w 971"/>
                <a:gd name="T31" fmla="*/ 147 h 550"/>
                <a:gd name="T32" fmla="*/ 246 w 971"/>
                <a:gd name="T33" fmla="*/ 89 h 550"/>
                <a:gd name="T34" fmla="*/ 445 w 971"/>
                <a:gd name="T35" fmla="*/ 21 h 550"/>
                <a:gd name="T36" fmla="*/ 634 w 971"/>
                <a:gd name="T37" fmla="*/ 0 h 550"/>
                <a:gd name="T38" fmla="*/ 794 w 971"/>
                <a:gd name="T39" fmla="*/ 13 h 550"/>
                <a:gd name="T40" fmla="*/ 886 w 971"/>
                <a:gd name="T41" fmla="*/ 33 h 550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60000 65536"/>
                <a:gd name="T55" fmla="*/ 0 60000 65536"/>
                <a:gd name="T56" fmla="*/ 0 60000 65536"/>
                <a:gd name="T57" fmla="*/ 0 60000 65536"/>
                <a:gd name="T58" fmla="*/ 0 60000 65536"/>
                <a:gd name="T59" fmla="*/ 0 60000 65536"/>
                <a:gd name="T60" fmla="*/ 0 60000 65536"/>
                <a:gd name="T61" fmla="*/ 0 60000 65536"/>
                <a:gd name="T62" fmla="*/ 0 60000 65536"/>
                <a:gd name="T63" fmla="*/ 0 w 971"/>
                <a:gd name="T64" fmla="*/ 0 h 550"/>
                <a:gd name="T65" fmla="*/ 971 w 971"/>
                <a:gd name="T66" fmla="*/ 550 h 550"/>
              </a:gdLst>
              <a:ahLst/>
              <a:cxnLst>
                <a:cxn ang="T42">
                  <a:pos x="T0" y="T1"/>
                </a:cxn>
                <a:cxn ang="T43">
                  <a:pos x="T2" y="T3"/>
                </a:cxn>
                <a:cxn ang="T44">
                  <a:pos x="T4" y="T5"/>
                </a:cxn>
                <a:cxn ang="T45">
                  <a:pos x="T6" y="T7"/>
                </a:cxn>
                <a:cxn ang="T46">
                  <a:pos x="T8" y="T9"/>
                </a:cxn>
                <a:cxn ang="T47">
                  <a:pos x="T10" y="T11"/>
                </a:cxn>
                <a:cxn ang="T48">
                  <a:pos x="T12" y="T13"/>
                </a:cxn>
                <a:cxn ang="T49">
                  <a:pos x="T14" y="T15"/>
                </a:cxn>
                <a:cxn ang="T50">
                  <a:pos x="T16" y="T17"/>
                </a:cxn>
                <a:cxn ang="T51">
                  <a:pos x="T18" y="T19"/>
                </a:cxn>
                <a:cxn ang="T52">
                  <a:pos x="T20" y="T21"/>
                </a:cxn>
                <a:cxn ang="T53">
                  <a:pos x="T22" y="T23"/>
                </a:cxn>
                <a:cxn ang="T54">
                  <a:pos x="T24" y="T25"/>
                </a:cxn>
                <a:cxn ang="T55">
                  <a:pos x="T26" y="T27"/>
                </a:cxn>
                <a:cxn ang="T56">
                  <a:pos x="T28" y="T29"/>
                </a:cxn>
                <a:cxn ang="T57">
                  <a:pos x="T30" y="T31"/>
                </a:cxn>
                <a:cxn ang="T58">
                  <a:pos x="T32" y="T33"/>
                </a:cxn>
                <a:cxn ang="T59">
                  <a:pos x="T34" y="T35"/>
                </a:cxn>
                <a:cxn ang="T60">
                  <a:pos x="T36" y="T37"/>
                </a:cxn>
                <a:cxn ang="T61">
                  <a:pos x="T38" y="T39"/>
                </a:cxn>
                <a:cxn ang="T62">
                  <a:pos x="T40" y="T41"/>
                </a:cxn>
              </a:cxnLst>
              <a:rect l="T63" t="T64" r="T65" b="T66"/>
              <a:pathLst>
                <a:path w="971" h="550">
                  <a:moveTo>
                    <a:pt x="886" y="33"/>
                  </a:moveTo>
                  <a:lnTo>
                    <a:pt x="937" y="70"/>
                  </a:lnTo>
                  <a:lnTo>
                    <a:pt x="971" y="130"/>
                  </a:lnTo>
                  <a:lnTo>
                    <a:pt x="967" y="218"/>
                  </a:lnTo>
                  <a:lnTo>
                    <a:pt x="882" y="261"/>
                  </a:lnTo>
                  <a:lnTo>
                    <a:pt x="791" y="294"/>
                  </a:lnTo>
                  <a:lnTo>
                    <a:pt x="665" y="382"/>
                  </a:lnTo>
                  <a:lnTo>
                    <a:pt x="519" y="522"/>
                  </a:lnTo>
                  <a:lnTo>
                    <a:pt x="397" y="542"/>
                  </a:lnTo>
                  <a:lnTo>
                    <a:pt x="298" y="550"/>
                  </a:lnTo>
                  <a:lnTo>
                    <a:pt x="155" y="522"/>
                  </a:lnTo>
                  <a:lnTo>
                    <a:pt x="34" y="459"/>
                  </a:lnTo>
                  <a:lnTo>
                    <a:pt x="0" y="393"/>
                  </a:lnTo>
                  <a:lnTo>
                    <a:pt x="11" y="315"/>
                  </a:lnTo>
                  <a:lnTo>
                    <a:pt x="63" y="210"/>
                  </a:lnTo>
                  <a:lnTo>
                    <a:pt x="142" y="147"/>
                  </a:lnTo>
                  <a:lnTo>
                    <a:pt x="246" y="89"/>
                  </a:lnTo>
                  <a:lnTo>
                    <a:pt x="445" y="21"/>
                  </a:lnTo>
                  <a:lnTo>
                    <a:pt x="634" y="0"/>
                  </a:lnTo>
                  <a:lnTo>
                    <a:pt x="794" y="13"/>
                  </a:lnTo>
                  <a:lnTo>
                    <a:pt x="886" y="33"/>
                  </a:lnTo>
                  <a:close/>
                </a:path>
              </a:pathLst>
            </a:custGeom>
            <a:gradFill rotWithShape="1">
              <a:gsLst>
                <a:gs pos="0">
                  <a:srgbClr val="EAEAEA"/>
                </a:gs>
                <a:gs pos="50000">
                  <a:srgbClr val="FFFFFF"/>
                </a:gs>
                <a:gs pos="100000">
                  <a:srgbClr val="EAEAEA"/>
                </a:gs>
              </a:gsLst>
              <a:lin ang="2700000" scaled="1"/>
            </a:gradFill>
            <a:ln w="9525">
              <a:solidFill>
                <a:srgbClr val="808080"/>
              </a:solidFill>
              <a:round/>
              <a:headEnd/>
              <a:tailEnd/>
            </a:ln>
          </p:spPr>
          <p:txBody>
            <a:bodyPr/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8" name="Freeform 176"/>
            <p:cNvSpPr>
              <a:spLocks/>
            </p:cNvSpPr>
            <p:nvPr/>
          </p:nvSpPr>
          <p:spPr bwMode="auto">
            <a:xfrm rot="355818">
              <a:off x="2229020" y="4830315"/>
              <a:ext cx="134938" cy="58737"/>
            </a:xfrm>
            <a:custGeom>
              <a:avLst/>
              <a:gdLst>
                <a:gd name="T0" fmla="*/ 0 w 1432"/>
                <a:gd name="T1" fmla="*/ 0 h 526"/>
                <a:gd name="T2" fmla="*/ 56 w 1432"/>
                <a:gd name="T3" fmla="*/ 118 h 526"/>
                <a:gd name="T4" fmla="*/ 319 w 1432"/>
                <a:gd name="T5" fmla="*/ 302 h 526"/>
                <a:gd name="T6" fmla="*/ 604 w 1432"/>
                <a:gd name="T7" fmla="*/ 448 h 526"/>
                <a:gd name="T8" fmla="*/ 867 w 1432"/>
                <a:gd name="T9" fmla="*/ 526 h 526"/>
                <a:gd name="T10" fmla="*/ 1091 w 1432"/>
                <a:gd name="T11" fmla="*/ 504 h 526"/>
                <a:gd name="T12" fmla="*/ 1270 w 1432"/>
                <a:gd name="T13" fmla="*/ 448 h 526"/>
                <a:gd name="T14" fmla="*/ 1432 w 1432"/>
                <a:gd name="T15" fmla="*/ 353 h 526"/>
                <a:gd name="T16" fmla="*/ 1253 w 1432"/>
                <a:gd name="T17" fmla="*/ 431 h 526"/>
                <a:gd name="T18" fmla="*/ 1108 w 1432"/>
                <a:gd name="T19" fmla="*/ 470 h 526"/>
                <a:gd name="T20" fmla="*/ 951 w 1432"/>
                <a:gd name="T21" fmla="*/ 470 h 526"/>
                <a:gd name="T22" fmla="*/ 789 w 1432"/>
                <a:gd name="T23" fmla="*/ 453 h 526"/>
                <a:gd name="T24" fmla="*/ 699 w 1432"/>
                <a:gd name="T25" fmla="*/ 420 h 526"/>
                <a:gd name="T26" fmla="*/ 560 w 1432"/>
                <a:gd name="T27" fmla="*/ 330 h 526"/>
                <a:gd name="T28" fmla="*/ 437 w 1432"/>
                <a:gd name="T29" fmla="*/ 213 h 526"/>
                <a:gd name="T30" fmla="*/ 274 w 1432"/>
                <a:gd name="T31" fmla="*/ 129 h 526"/>
                <a:gd name="T32" fmla="*/ 140 w 1432"/>
                <a:gd name="T33" fmla="*/ 73 h 526"/>
                <a:gd name="T34" fmla="*/ 0 w 1432"/>
                <a:gd name="T35" fmla="*/ 0 h 526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w 1432"/>
                <a:gd name="T55" fmla="*/ 0 h 526"/>
                <a:gd name="T56" fmla="*/ 1432 w 1432"/>
                <a:gd name="T57" fmla="*/ 526 h 526"/>
              </a:gdLst>
              <a:ahLst/>
              <a:cxnLst>
                <a:cxn ang="T36">
                  <a:pos x="T0" y="T1"/>
                </a:cxn>
                <a:cxn ang="T37">
                  <a:pos x="T2" y="T3"/>
                </a:cxn>
                <a:cxn ang="T38">
                  <a:pos x="T4" y="T5"/>
                </a:cxn>
                <a:cxn ang="T39">
                  <a:pos x="T6" y="T7"/>
                </a:cxn>
                <a:cxn ang="T40">
                  <a:pos x="T8" y="T9"/>
                </a:cxn>
                <a:cxn ang="T41">
                  <a:pos x="T10" y="T11"/>
                </a:cxn>
                <a:cxn ang="T42">
                  <a:pos x="T12" y="T13"/>
                </a:cxn>
                <a:cxn ang="T43">
                  <a:pos x="T14" y="T15"/>
                </a:cxn>
                <a:cxn ang="T44">
                  <a:pos x="T16" y="T17"/>
                </a:cxn>
                <a:cxn ang="T45">
                  <a:pos x="T18" y="T19"/>
                </a:cxn>
                <a:cxn ang="T46">
                  <a:pos x="T20" y="T21"/>
                </a:cxn>
                <a:cxn ang="T47">
                  <a:pos x="T22" y="T23"/>
                </a:cxn>
                <a:cxn ang="T48">
                  <a:pos x="T24" y="T25"/>
                </a:cxn>
                <a:cxn ang="T49">
                  <a:pos x="T26" y="T27"/>
                </a:cxn>
                <a:cxn ang="T50">
                  <a:pos x="T28" y="T29"/>
                </a:cxn>
                <a:cxn ang="T51">
                  <a:pos x="T30" y="T31"/>
                </a:cxn>
                <a:cxn ang="T52">
                  <a:pos x="T32" y="T33"/>
                </a:cxn>
                <a:cxn ang="T53">
                  <a:pos x="T34" y="T35"/>
                </a:cxn>
              </a:cxnLst>
              <a:rect l="T54" t="T55" r="T56" b="T57"/>
              <a:pathLst>
                <a:path w="1432" h="526">
                  <a:moveTo>
                    <a:pt x="0" y="0"/>
                  </a:moveTo>
                  <a:lnTo>
                    <a:pt x="56" y="118"/>
                  </a:lnTo>
                  <a:lnTo>
                    <a:pt x="319" y="302"/>
                  </a:lnTo>
                  <a:lnTo>
                    <a:pt x="604" y="448"/>
                  </a:lnTo>
                  <a:lnTo>
                    <a:pt x="867" y="526"/>
                  </a:lnTo>
                  <a:lnTo>
                    <a:pt x="1091" y="504"/>
                  </a:lnTo>
                  <a:lnTo>
                    <a:pt x="1270" y="448"/>
                  </a:lnTo>
                  <a:lnTo>
                    <a:pt x="1432" y="353"/>
                  </a:lnTo>
                  <a:lnTo>
                    <a:pt x="1253" y="431"/>
                  </a:lnTo>
                  <a:lnTo>
                    <a:pt x="1108" y="470"/>
                  </a:lnTo>
                  <a:lnTo>
                    <a:pt x="951" y="470"/>
                  </a:lnTo>
                  <a:lnTo>
                    <a:pt x="789" y="453"/>
                  </a:lnTo>
                  <a:lnTo>
                    <a:pt x="699" y="420"/>
                  </a:lnTo>
                  <a:lnTo>
                    <a:pt x="560" y="330"/>
                  </a:lnTo>
                  <a:lnTo>
                    <a:pt x="437" y="213"/>
                  </a:lnTo>
                  <a:lnTo>
                    <a:pt x="274" y="129"/>
                  </a:lnTo>
                  <a:lnTo>
                    <a:pt x="140" y="73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969696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rgbClr val="808080"/>
              </a:solidFill>
              <a:round/>
              <a:headEnd/>
              <a:tailEnd/>
            </a:ln>
          </p:spPr>
          <p:txBody>
            <a:bodyPr/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9" name="Freeform 177"/>
            <p:cNvSpPr>
              <a:spLocks/>
            </p:cNvSpPr>
            <p:nvPr/>
          </p:nvSpPr>
          <p:spPr bwMode="auto">
            <a:xfrm rot="355818" flipH="1">
              <a:off x="2262358" y="4796977"/>
              <a:ext cx="31750" cy="39688"/>
            </a:xfrm>
            <a:custGeom>
              <a:avLst/>
              <a:gdLst>
                <a:gd name="T0" fmla="*/ 229 w 229"/>
                <a:gd name="T1" fmla="*/ 261 h 261"/>
                <a:gd name="T2" fmla="*/ 115 w 229"/>
                <a:gd name="T3" fmla="*/ 57 h 261"/>
                <a:gd name="T4" fmla="*/ 0 w 229"/>
                <a:gd name="T5" fmla="*/ 0 h 261"/>
                <a:gd name="T6" fmla="*/ 0 60000 65536"/>
                <a:gd name="T7" fmla="*/ 0 60000 65536"/>
                <a:gd name="T8" fmla="*/ 0 60000 65536"/>
                <a:gd name="T9" fmla="*/ 0 w 229"/>
                <a:gd name="T10" fmla="*/ 0 h 261"/>
                <a:gd name="T11" fmla="*/ 229 w 229"/>
                <a:gd name="T12" fmla="*/ 261 h 261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229" h="261">
                  <a:moveTo>
                    <a:pt x="229" y="261"/>
                  </a:moveTo>
                  <a:lnTo>
                    <a:pt x="115" y="57"/>
                  </a:lnTo>
                  <a:lnTo>
                    <a:pt x="0" y="0"/>
                  </a:lnTo>
                </a:path>
              </a:pathLst>
            </a:custGeom>
            <a:noFill/>
            <a:ln w="19050">
              <a:solidFill>
                <a:srgbClr val="B2B2B2"/>
              </a:solidFill>
              <a:round/>
              <a:headEnd/>
              <a:tailEnd/>
            </a:ln>
          </p:spPr>
          <p:txBody>
            <a:bodyPr/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10" name="Freeform 178"/>
            <p:cNvSpPr>
              <a:spLocks/>
            </p:cNvSpPr>
            <p:nvPr/>
          </p:nvSpPr>
          <p:spPr bwMode="auto">
            <a:xfrm rot="355818">
              <a:off x="2248070" y="4795390"/>
              <a:ext cx="42863" cy="7937"/>
            </a:xfrm>
            <a:custGeom>
              <a:avLst/>
              <a:gdLst>
                <a:gd name="T0" fmla="*/ 0 w 560"/>
                <a:gd name="T1" fmla="*/ 79 h 79"/>
                <a:gd name="T2" fmla="*/ 246 w 560"/>
                <a:gd name="T3" fmla="*/ 26 h 79"/>
                <a:gd name="T4" fmla="*/ 408 w 560"/>
                <a:gd name="T5" fmla="*/ 0 h 79"/>
                <a:gd name="T6" fmla="*/ 560 w 560"/>
                <a:gd name="T7" fmla="*/ 26 h 79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560"/>
                <a:gd name="T13" fmla="*/ 0 h 79"/>
                <a:gd name="T14" fmla="*/ 560 w 560"/>
                <a:gd name="T15" fmla="*/ 79 h 79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560" h="79">
                  <a:moveTo>
                    <a:pt x="0" y="79"/>
                  </a:moveTo>
                  <a:lnTo>
                    <a:pt x="246" y="26"/>
                  </a:lnTo>
                  <a:lnTo>
                    <a:pt x="408" y="0"/>
                  </a:lnTo>
                  <a:lnTo>
                    <a:pt x="560" y="26"/>
                  </a:lnTo>
                </a:path>
              </a:pathLst>
            </a:custGeom>
            <a:noFill/>
            <a:ln w="9525">
              <a:solidFill>
                <a:srgbClr val="969696"/>
              </a:solidFill>
              <a:round/>
              <a:headEnd/>
              <a:tailEnd/>
            </a:ln>
          </p:spPr>
          <p:txBody>
            <a:bodyPr/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11" name="Oval 179"/>
            <p:cNvSpPr>
              <a:spLocks noChangeArrowheads="1"/>
            </p:cNvSpPr>
            <p:nvPr/>
          </p:nvSpPr>
          <p:spPr bwMode="auto">
            <a:xfrm rot="21219751">
              <a:off x="2267120" y="4792215"/>
              <a:ext cx="19050" cy="9525"/>
            </a:xfrm>
            <a:prstGeom prst="ellipse">
              <a:avLst/>
            </a:prstGeom>
            <a:solidFill>
              <a:srgbClr val="969696"/>
            </a:solidFill>
            <a:ln w="9525">
              <a:solidFill>
                <a:srgbClr val="969696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12" name="Freeform 180"/>
            <p:cNvSpPr>
              <a:spLocks/>
            </p:cNvSpPr>
            <p:nvPr/>
          </p:nvSpPr>
          <p:spPr bwMode="auto">
            <a:xfrm rot="355818">
              <a:off x="2238545" y="4798565"/>
              <a:ext cx="36513" cy="33337"/>
            </a:xfrm>
            <a:custGeom>
              <a:avLst/>
              <a:gdLst>
                <a:gd name="T0" fmla="*/ 98 w 482"/>
                <a:gd name="T1" fmla="*/ 36 h 367"/>
                <a:gd name="T2" fmla="*/ 320 w 482"/>
                <a:gd name="T3" fmla="*/ 0 h 367"/>
                <a:gd name="T4" fmla="*/ 367 w 482"/>
                <a:gd name="T5" fmla="*/ 26 h 367"/>
                <a:gd name="T6" fmla="*/ 445 w 482"/>
                <a:gd name="T7" fmla="*/ 26 h 367"/>
                <a:gd name="T8" fmla="*/ 482 w 482"/>
                <a:gd name="T9" fmla="*/ 42 h 367"/>
                <a:gd name="T10" fmla="*/ 278 w 482"/>
                <a:gd name="T11" fmla="*/ 367 h 367"/>
                <a:gd name="T12" fmla="*/ 5 w 482"/>
                <a:gd name="T13" fmla="*/ 262 h 367"/>
                <a:gd name="T14" fmla="*/ 0 w 482"/>
                <a:gd name="T15" fmla="*/ 157 h 367"/>
                <a:gd name="T16" fmla="*/ 42 w 482"/>
                <a:gd name="T17" fmla="*/ 74 h 367"/>
                <a:gd name="T18" fmla="*/ 98 w 482"/>
                <a:gd name="T19" fmla="*/ 36 h 367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w 482"/>
                <a:gd name="T31" fmla="*/ 0 h 367"/>
                <a:gd name="T32" fmla="*/ 482 w 482"/>
                <a:gd name="T33" fmla="*/ 367 h 367"/>
              </a:gdLst>
              <a:ahLst/>
              <a:cxnLst>
                <a:cxn ang="T20">
                  <a:pos x="T0" y="T1"/>
                </a:cxn>
                <a:cxn ang="T21">
                  <a:pos x="T2" y="T3"/>
                </a:cxn>
                <a:cxn ang="T22">
                  <a:pos x="T4" y="T5"/>
                </a:cxn>
                <a:cxn ang="T23">
                  <a:pos x="T6" y="T7"/>
                </a:cxn>
                <a:cxn ang="T24">
                  <a:pos x="T8" y="T9"/>
                </a:cxn>
                <a:cxn ang="T25">
                  <a:pos x="T10" y="T11"/>
                </a:cxn>
                <a:cxn ang="T26">
                  <a:pos x="T12" y="T13"/>
                </a:cxn>
                <a:cxn ang="T27">
                  <a:pos x="T14" y="T15"/>
                </a:cxn>
                <a:cxn ang="T28">
                  <a:pos x="T16" y="T17"/>
                </a:cxn>
                <a:cxn ang="T29">
                  <a:pos x="T18" y="T19"/>
                </a:cxn>
              </a:cxnLst>
              <a:rect l="T30" t="T31" r="T32" b="T33"/>
              <a:pathLst>
                <a:path w="482" h="367">
                  <a:moveTo>
                    <a:pt x="98" y="36"/>
                  </a:moveTo>
                  <a:lnTo>
                    <a:pt x="320" y="0"/>
                  </a:lnTo>
                  <a:lnTo>
                    <a:pt x="367" y="26"/>
                  </a:lnTo>
                  <a:lnTo>
                    <a:pt x="445" y="26"/>
                  </a:lnTo>
                  <a:lnTo>
                    <a:pt x="482" y="42"/>
                  </a:lnTo>
                  <a:lnTo>
                    <a:pt x="278" y="367"/>
                  </a:lnTo>
                  <a:lnTo>
                    <a:pt x="5" y="262"/>
                  </a:lnTo>
                  <a:lnTo>
                    <a:pt x="0" y="157"/>
                  </a:lnTo>
                  <a:lnTo>
                    <a:pt x="42" y="74"/>
                  </a:lnTo>
                  <a:lnTo>
                    <a:pt x="98" y="36"/>
                  </a:lnTo>
                  <a:close/>
                </a:path>
              </a:pathLst>
            </a:custGeom>
            <a:noFill/>
            <a:ln w="9525">
              <a:solidFill>
                <a:srgbClr val="969696"/>
              </a:solidFill>
              <a:round/>
              <a:headEnd/>
              <a:tailEnd/>
            </a:ln>
          </p:spPr>
          <p:txBody>
            <a:bodyPr/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13" name="Freeform 182"/>
            <p:cNvSpPr>
              <a:spLocks/>
            </p:cNvSpPr>
            <p:nvPr/>
          </p:nvSpPr>
          <p:spPr bwMode="auto">
            <a:xfrm flipH="1">
              <a:off x="1786661" y="4766953"/>
              <a:ext cx="164547" cy="328335"/>
            </a:xfrm>
            <a:custGeom>
              <a:avLst/>
              <a:gdLst>
                <a:gd name="T0" fmla="*/ 933 w 933"/>
                <a:gd name="T1" fmla="*/ 135 h 352"/>
                <a:gd name="T2" fmla="*/ 932 w 933"/>
                <a:gd name="T3" fmla="*/ 171 h 352"/>
                <a:gd name="T4" fmla="*/ 762 w 933"/>
                <a:gd name="T5" fmla="*/ 352 h 352"/>
                <a:gd name="T6" fmla="*/ 4 w 933"/>
                <a:gd name="T7" fmla="*/ 195 h 352"/>
                <a:gd name="T8" fmla="*/ 0 w 933"/>
                <a:gd name="T9" fmla="*/ 148 h 352"/>
                <a:gd name="T10" fmla="*/ 244 w 933"/>
                <a:gd name="T11" fmla="*/ 0 h 352"/>
                <a:gd name="T12" fmla="*/ 933 w 933"/>
                <a:gd name="T13" fmla="*/ 135 h 352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933"/>
                <a:gd name="T22" fmla="*/ 0 h 352"/>
                <a:gd name="T23" fmla="*/ 933 w 933"/>
                <a:gd name="T24" fmla="*/ 352 h 352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933" h="352">
                  <a:moveTo>
                    <a:pt x="933" y="135"/>
                  </a:moveTo>
                  <a:lnTo>
                    <a:pt x="932" y="171"/>
                  </a:lnTo>
                  <a:lnTo>
                    <a:pt x="762" y="352"/>
                  </a:lnTo>
                  <a:lnTo>
                    <a:pt x="4" y="195"/>
                  </a:lnTo>
                  <a:lnTo>
                    <a:pt x="0" y="148"/>
                  </a:lnTo>
                  <a:lnTo>
                    <a:pt x="244" y="0"/>
                  </a:lnTo>
                  <a:lnTo>
                    <a:pt x="933" y="135"/>
                  </a:lnTo>
                  <a:close/>
                </a:path>
              </a:pathLst>
            </a:custGeom>
            <a:gradFill rotWithShape="0">
              <a:gsLst>
                <a:gs pos="0">
                  <a:srgbClr val="DDDDDD"/>
                </a:gs>
                <a:gs pos="100000">
                  <a:srgbClr val="F3F3F3"/>
                </a:gs>
              </a:gsLst>
              <a:lin ang="0" scaled="1"/>
            </a:gradFill>
            <a:ln w="6350">
              <a:solidFill>
                <a:srgbClr val="B2B2B2"/>
              </a:solidFill>
              <a:round/>
              <a:headEnd/>
              <a:tailEnd/>
            </a:ln>
          </p:spPr>
          <p:txBody>
            <a:bodyPr wrap="none" tIns="27432" bIns="27432" anchor="ctr">
              <a:spAutoFit/>
            </a:bodyPr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14" name="Freeform 183"/>
            <p:cNvSpPr>
              <a:spLocks/>
            </p:cNvSpPr>
            <p:nvPr/>
          </p:nvSpPr>
          <p:spPr bwMode="auto">
            <a:xfrm flipH="1">
              <a:off x="1800948" y="4752666"/>
              <a:ext cx="164547" cy="328335"/>
            </a:xfrm>
            <a:custGeom>
              <a:avLst/>
              <a:gdLst>
                <a:gd name="T0" fmla="*/ 895 w 895"/>
                <a:gd name="T1" fmla="*/ 133 h 294"/>
                <a:gd name="T2" fmla="*/ 232 w 895"/>
                <a:gd name="T3" fmla="*/ 0 h 294"/>
                <a:gd name="T4" fmla="*/ 0 w 895"/>
                <a:gd name="T5" fmla="*/ 143 h 294"/>
                <a:gd name="T6" fmla="*/ 739 w 895"/>
                <a:gd name="T7" fmla="*/ 294 h 294"/>
                <a:gd name="T8" fmla="*/ 895 w 895"/>
                <a:gd name="T9" fmla="*/ 133 h 294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895"/>
                <a:gd name="T16" fmla="*/ 0 h 294"/>
                <a:gd name="T17" fmla="*/ 895 w 895"/>
                <a:gd name="T18" fmla="*/ 294 h 294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895" h="294">
                  <a:moveTo>
                    <a:pt x="895" y="133"/>
                  </a:moveTo>
                  <a:lnTo>
                    <a:pt x="232" y="0"/>
                  </a:lnTo>
                  <a:lnTo>
                    <a:pt x="0" y="143"/>
                  </a:lnTo>
                  <a:lnTo>
                    <a:pt x="739" y="294"/>
                  </a:lnTo>
                  <a:lnTo>
                    <a:pt x="895" y="133"/>
                  </a:lnTo>
                  <a:close/>
                </a:path>
              </a:pathLst>
            </a:custGeom>
            <a:solidFill>
              <a:srgbClr val="FFFFFF"/>
            </a:solidFill>
            <a:ln w="3175">
              <a:solidFill>
                <a:srgbClr val="B2B2B2"/>
              </a:solidFill>
              <a:round/>
              <a:headEnd/>
              <a:tailEnd/>
            </a:ln>
          </p:spPr>
          <p:txBody>
            <a:bodyPr wrap="none" tIns="27432" bIns="27432" anchor="ctr">
              <a:spAutoFit/>
            </a:bodyPr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15" name="Freeform 184"/>
            <p:cNvSpPr>
              <a:spLocks/>
            </p:cNvSpPr>
            <p:nvPr/>
          </p:nvSpPr>
          <p:spPr bwMode="auto">
            <a:xfrm flipH="1">
              <a:off x="1798808" y="4828727"/>
              <a:ext cx="344487" cy="84138"/>
            </a:xfrm>
            <a:custGeom>
              <a:avLst/>
              <a:gdLst>
                <a:gd name="T0" fmla="*/ 0 w 531"/>
                <a:gd name="T1" fmla="*/ 15 h 118"/>
                <a:gd name="T2" fmla="*/ 508 w 531"/>
                <a:gd name="T3" fmla="*/ 118 h 118"/>
                <a:gd name="T4" fmla="*/ 531 w 531"/>
                <a:gd name="T5" fmla="*/ 103 h 118"/>
                <a:gd name="T6" fmla="*/ 23 w 531"/>
                <a:gd name="T7" fmla="*/ 0 h 118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531"/>
                <a:gd name="T13" fmla="*/ 0 h 118"/>
                <a:gd name="T14" fmla="*/ 531 w 531"/>
                <a:gd name="T15" fmla="*/ 118 h 118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531" h="118">
                  <a:moveTo>
                    <a:pt x="0" y="15"/>
                  </a:moveTo>
                  <a:lnTo>
                    <a:pt x="508" y="118"/>
                  </a:lnTo>
                  <a:lnTo>
                    <a:pt x="531" y="103"/>
                  </a:lnTo>
                  <a:lnTo>
                    <a:pt x="23" y="0"/>
                  </a:lnTo>
                </a:path>
              </a:pathLst>
            </a:custGeom>
            <a:solidFill>
              <a:srgbClr val="DDDDDD"/>
            </a:solidFill>
            <a:ln w="12700" cap="rnd">
              <a:solidFill>
                <a:srgbClr val="EAEAEA"/>
              </a:solidFill>
              <a:round/>
              <a:headEnd/>
              <a:tailEnd/>
            </a:ln>
          </p:spPr>
          <p:txBody>
            <a:bodyPr/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16" name="Freeform 185"/>
            <p:cNvSpPr>
              <a:spLocks/>
            </p:cNvSpPr>
            <p:nvPr/>
          </p:nvSpPr>
          <p:spPr bwMode="auto">
            <a:xfrm flipH="1">
              <a:off x="1886120" y="4850952"/>
              <a:ext cx="355600" cy="112713"/>
            </a:xfrm>
            <a:custGeom>
              <a:avLst/>
              <a:gdLst>
                <a:gd name="T0" fmla="*/ 0 w 548"/>
                <a:gd name="T1" fmla="*/ 74 h 159"/>
                <a:gd name="T2" fmla="*/ 31 w 548"/>
                <a:gd name="T3" fmla="*/ 78 h 159"/>
                <a:gd name="T4" fmla="*/ 57 w 548"/>
                <a:gd name="T5" fmla="*/ 66 h 159"/>
                <a:gd name="T6" fmla="*/ 76 w 548"/>
                <a:gd name="T7" fmla="*/ 71 h 159"/>
                <a:gd name="T8" fmla="*/ 58 w 548"/>
                <a:gd name="T9" fmla="*/ 81 h 159"/>
                <a:gd name="T10" fmla="*/ 451 w 548"/>
                <a:gd name="T11" fmla="*/ 159 h 159"/>
                <a:gd name="T12" fmla="*/ 548 w 548"/>
                <a:gd name="T13" fmla="*/ 84 h 159"/>
                <a:gd name="T14" fmla="*/ 130 w 548"/>
                <a:gd name="T15" fmla="*/ 0 h 159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548"/>
                <a:gd name="T25" fmla="*/ 0 h 159"/>
                <a:gd name="T26" fmla="*/ 548 w 548"/>
                <a:gd name="T27" fmla="*/ 159 h 159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548" h="159">
                  <a:moveTo>
                    <a:pt x="0" y="74"/>
                  </a:moveTo>
                  <a:lnTo>
                    <a:pt x="31" y="78"/>
                  </a:lnTo>
                  <a:lnTo>
                    <a:pt x="57" y="66"/>
                  </a:lnTo>
                  <a:lnTo>
                    <a:pt x="76" y="71"/>
                  </a:lnTo>
                  <a:lnTo>
                    <a:pt x="58" y="81"/>
                  </a:lnTo>
                  <a:lnTo>
                    <a:pt x="451" y="159"/>
                  </a:lnTo>
                  <a:lnTo>
                    <a:pt x="548" y="84"/>
                  </a:lnTo>
                  <a:lnTo>
                    <a:pt x="130" y="0"/>
                  </a:lnTo>
                </a:path>
              </a:pathLst>
            </a:custGeom>
            <a:solidFill>
              <a:srgbClr val="DDDDDD"/>
            </a:solidFill>
            <a:ln w="12700" cap="rnd">
              <a:solidFill>
                <a:srgbClr val="EAEAEA"/>
              </a:solidFill>
              <a:round/>
              <a:headEnd/>
              <a:tailEnd/>
            </a:ln>
          </p:spPr>
          <p:txBody>
            <a:bodyPr/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17" name="Freeform 186"/>
            <p:cNvSpPr>
              <a:spLocks/>
            </p:cNvSpPr>
            <p:nvPr/>
          </p:nvSpPr>
          <p:spPr bwMode="auto">
            <a:xfrm flipH="1">
              <a:off x="1819445" y="4914452"/>
              <a:ext cx="90488" cy="49213"/>
            </a:xfrm>
            <a:custGeom>
              <a:avLst/>
              <a:gdLst>
                <a:gd name="T0" fmla="*/ 73 w 140"/>
                <a:gd name="T1" fmla="*/ 0 h 70"/>
                <a:gd name="T2" fmla="*/ 140 w 140"/>
                <a:gd name="T3" fmla="*/ 11 h 70"/>
                <a:gd name="T4" fmla="*/ 75 w 140"/>
                <a:gd name="T5" fmla="*/ 70 h 70"/>
                <a:gd name="T6" fmla="*/ 0 w 140"/>
                <a:gd name="T7" fmla="*/ 56 h 70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140"/>
                <a:gd name="T13" fmla="*/ 0 h 70"/>
                <a:gd name="T14" fmla="*/ 140 w 140"/>
                <a:gd name="T15" fmla="*/ 70 h 70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140" h="70">
                  <a:moveTo>
                    <a:pt x="73" y="0"/>
                  </a:moveTo>
                  <a:lnTo>
                    <a:pt x="140" y="11"/>
                  </a:lnTo>
                  <a:lnTo>
                    <a:pt x="75" y="70"/>
                  </a:lnTo>
                  <a:lnTo>
                    <a:pt x="0" y="56"/>
                  </a:lnTo>
                </a:path>
              </a:pathLst>
            </a:custGeom>
            <a:solidFill>
              <a:srgbClr val="DDDDDD"/>
            </a:solidFill>
            <a:ln w="12700" cap="rnd">
              <a:solidFill>
                <a:srgbClr val="EAEAEA"/>
              </a:solidFill>
              <a:round/>
              <a:headEnd/>
              <a:tailEnd/>
            </a:ln>
          </p:spPr>
          <p:txBody>
            <a:bodyPr/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18" name="Freeform 187"/>
            <p:cNvSpPr>
              <a:spLocks/>
            </p:cNvSpPr>
            <p:nvPr/>
          </p:nvSpPr>
          <p:spPr bwMode="auto">
            <a:xfrm flipH="1">
              <a:off x="1754358" y="4925565"/>
              <a:ext cx="107950" cy="71437"/>
            </a:xfrm>
            <a:custGeom>
              <a:avLst/>
              <a:gdLst>
                <a:gd name="T0" fmla="*/ 87 w 167"/>
                <a:gd name="T1" fmla="*/ 0 h 101"/>
                <a:gd name="T2" fmla="*/ 167 w 167"/>
                <a:gd name="T3" fmla="*/ 15 h 101"/>
                <a:gd name="T4" fmla="*/ 81 w 167"/>
                <a:gd name="T5" fmla="*/ 101 h 101"/>
                <a:gd name="T6" fmla="*/ 0 w 167"/>
                <a:gd name="T7" fmla="*/ 83 h 101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167"/>
                <a:gd name="T13" fmla="*/ 0 h 101"/>
                <a:gd name="T14" fmla="*/ 167 w 167"/>
                <a:gd name="T15" fmla="*/ 101 h 101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167" h="101">
                  <a:moveTo>
                    <a:pt x="87" y="0"/>
                  </a:moveTo>
                  <a:lnTo>
                    <a:pt x="167" y="15"/>
                  </a:lnTo>
                  <a:lnTo>
                    <a:pt x="81" y="101"/>
                  </a:lnTo>
                  <a:lnTo>
                    <a:pt x="0" y="83"/>
                  </a:lnTo>
                </a:path>
              </a:pathLst>
            </a:custGeom>
            <a:solidFill>
              <a:srgbClr val="DDDDDD"/>
            </a:solidFill>
            <a:ln w="12700" cap="rnd">
              <a:solidFill>
                <a:srgbClr val="EAEAEA"/>
              </a:solidFill>
              <a:round/>
              <a:headEnd/>
              <a:tailEnd/>
            </a:ln>
          </p:spPr>
          <p:txBody>
            <a:bodyPr/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19" name="Freeform 189"/>
            <p:cNvSpPr>
              <a:spLocks noChangeAspect="1"/>
            </p:cNvSpPr>
            <p:nvPr/>
          </p:nvSpPr>
          <p:spPr bwMode="auto">
            <a:xfrm>
              <a:off x="1533695" y="4523927"/>
              <a:ext cx="144463" cy="354013"/>
            </a:xfrm>
            <a:custGeom>
              <a:avLst/>
              <a:gdLst/>
              <a:ahLst/>
              <a:cxnLst>
                <a:cxn ang="0">
                  <a:pos x="169" y="246"/>
                </a:cxn>
                <a:cxn ang="0">
                  <a:pos x="1" y="0"/>
                </a:cxn>
                <a:cxn ang="0">
                  <a:pos x="0" y="123"/>
                </a:cxn>
                <a:cxn ang="0">
                  <a:pos x="165" y="377"/>
                </a:cxn>
              </a:cxnLst>
              <a:rect l="0" t="0" r="r" b="b"/>
              <a:pathLst>
                <a:path w="169" h="377">
                  <a:moveTo>
                    <a:pt x="169" y="246"/>
                  </a:moveTo>
                  <a:lnTo>
                    <a:pt x="1" y="0"/>
                  </a:lnTo>
                  <a:lnTo>
                    <a:pt x="0" y="123"/>
                  </a:lnTo>
                  <a:lnTo>
                    <a:pt x="165" y="377"/>
                  </a:lnTo>
                </a:path>
              </a:pathLst>
            </a:custGeom>
            <a:gradFill rotWithShape="1">
              <a:gsLst>
                <a:gs pos="0">
                  <a:srgbClr val="EAEAEA"/>
                </a:gs>
                <a:gs pos="100000">
                  <a:srgbClr val="EAEAEA">
                    <a:gamma/>
                    <a:tint val="60784"/>
                    <a:invGamma/>
                  </a:srgbClr>
                </a:gs>
              </a:gsLst>
              <a:lin ang="0" scaled="1"/>
            </a:gradFill>
            <a:ln w="6350" cap="rnd" cmpd="sng">
              <a:solidFill>
                <a:srgbClr val="969696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0" name="Freeform 190"/>
            <p:cNvSpPr>
              <a:spLocks noChangeAspect="1"/>
            </p:cNvSpPr>
            <p:nvPr/>
          </p:nvSpPr>
          <p:spPr bwMode="auto">
            <a:xfrm>
              <a:off x="1536870" y="4465190"/>
              <a:ext cx="619125" cy="288925"/>
            </a:xfrm>
            <a:custGeom>
              <a:avLst/>
              <a:gdLst/>
              <a:ahLst/>
              <a:cxnLst>
                <a:cxn ang="0">
                  <a:pos x="166" y="310"/>
                </a:cxn>
                <a:cxn ang="0">
                  <a:pos x="718" y="211"/>
                </a:cxn>
                <a:cxn ang="0">
                  <a:pos x="444" y="0"/>
                </a:cxn>
                <a:cxn ang="0">
                  <a:pos x="0" y="64"/>
                </a:cxn>
                <a:cxn ang="0">
                  <a:pos x="166" y="310"/>
                </a:cxn>
              </a:cxnLst>
              <a:rect l="0" t="0" r="r" b="b"/>
              <a:pathLst>
                <a:path w="718" h="310">
                  <a:moveTo>
                    <a:pt x="166" y="310"/>
                  </a:moveTo>
                  <a:lnTo>
                    <a:pt x="718" y="211"/>
                  </a:lnTo>
                  <a:lnTo>
                    <a:pt x="444" y="0"/>
                  </a:lnTo>
                  <a:lnTo>
                    <a:pt x="0" y="64"/>
                  </a:lnTo>
                  <a:lnTo>
                    <a:pt x="166" y="310"/>
                  </a:lnTo>
                  <a:close/>
                </a:path>
              </a:pathLst>
            </a:custGeom>
            <a:solidFill>
              <a:srgbClr val="FFFFFF"/>
            </a:solidFill>
            <a:ln w="6350" cap="rnd" cmpd="sng">
              <a:solidFill>
                <a:srgbClr val="969696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1" name="Freeform 191"/>
            <p:cNvSpPr>
              <a:spLocks/>
            </p:cNvSpPr>
            <p:nvPr/>
          </p:nvSpPr>
          <p:spPr bwMode="auto">
            <a:xfrm>
              <a:off x="1671808" y="4660452"/>
              <a:ext cx="477837" cy="214313"/>
            </a:xfrm>
            <a:custGeom>
              <a:avLst/>
              <a:gdLst/>
              <a:ahLst/>
              <a:cxnLst>
                <a:cxn ang="0">
                  <a:pos x="6" y="99"/>
                </a:cxn>
                <a:cxn ang="0">
                  <a:pos x="557" y="0"/>
                </a:cxn>
                <a:cxn ang="0">
                  <a:pos x="549" y="121"/>
                </a:cxn>
                <a:cxn ang="0">
                  <a:pos x="0" y="228"/>
                </a:cxn>
                <a:cxn ang="0">
                  <a:pos x="6" y="99"/>
                </a:cxn>
              </a:cxnLst>
              <a:rect l="0" t="0" r="r" b="b"/>
              <a:pathLst>
                <a:path w="557" h="228">
                  <a:moveTo>
                    <a:pt x="6" y="99"/>
                  </a:moveTo>
                  <a:lnTo>
                    <a:pt x="557" y="0"/>
                  </a:lnTo>
                  <a:lnTo>
                    <a:pt x="549" y="121"/>
                  </a:lnTo>
                  <a:lnTo>
                    <a:pt x="0" y="228"/>
                  </a:lnTo>
                  <a:lnTo>
                    <a:pt x="6" y="99"/>
                  </a:lnTo>
                  <a:close/>
                </a:path>
              </a:pathLst>
            </a:custGeom>
            <a:gradFill rotWithShape="1">
              <a:gsLst>
                <a:gs pos="0">
                  <a:srgbClr val="EAEAEA"/>
                </a:gs>
                <a:gs pos="50000">
                  <a:srgbClr val="EAEAEA">
                    <a:gamma/>
                    <a:tint val="0"/>
                    <a:invGamma/>
                  </a:srgbClr>
                </a:gs>
                <a:gs pos="100000">
                  <a:srgbClr val="EAEAEA"/>
                </a:gs>
              </a:gsLst>
              <a:lin ang="0" scaled="1"/>
            </a:gradFill>
            <a:ln w="9525">
              <a:solidFill>
                <a:srgbClr val="969696"/>
              </a:solidFill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2" name="Freeform 192"/>
            <p:cNvSpPr>
              <a:spLocks/>
            </p:cNvSpPr>
            <p:nvPr/>
          </p:nvSpPr>
          <p:spPr bwMode="auto">
            <a:xfrm>
              <a:off x="1690858" y="4789040"/>
              <a:ext cx="144462" cy="60325"/>
            </a:xfrm>
            <a:custGeom>
              <a:avLst/>
              <a:gdLst/>
              <a:ahLst/>
              <a:cxnLst>
                <a:cxn ang="0">
                  <a:pos x="0" y="32"/>
                </a:cxn>
                <a:cxn ang="0">
                  <a:pos x="0" y="63"/>
                </a:cxn>
                <a:cxn ang="0">
                  <a:pos x="164" y="33"/>
                </a:cxn>
                <a:cxn ang="0">
                  <a:pos x="167" y="0"/>
                </a:cxn>
                <a:cxn ang="0">
                  <a:pos x="0" y="32"/>
                </a:cxn>
              </a:cxnLst>
              <a:rect l="0" t="0" r="r" b="b"/>
              <a:pathLst>
                <a:path w="167" h="63">
                  <a:moveTo>
                    <a:pt x="0" y="32"/>
                  </a:moveTo>
                  <a:lnTo>
                    <a:pt x="0" y="63"/>
                  </a:lnTo>
                  <a:lnTo>
                    <a:pt x="164" y="33"/>
                  </a:lnTo>
                  <a:lnTo>
                    <a:pt x="167" y="0"/>
                  </a:lnTo>
                  <a:lnTo>
                    <a:pt x="0" y="32"/>
                  </a:lnTo>
                  <a:close/>
                </a:path>
              </a:pathLst>
            </a:custGeom>
            <a:gradFill rotWithShape="1">
              <a:gsLst>
                <a:gs pos="0">
                  <a:srgbClr val="C0C0C0">
                    <a:gamma/>
                    <a:tint val="60784"/>
                    <a:invGamma/>
                  </a:srgbClr>
                </a:gs>
                <a:gs pos="100000">
                  <a:srgbClr val="C0C0C0"/>
                </a:gs>
              </a:gsLst>
              <a:lin ang="0" scaled="1"/>
            </a:gradFill>
            <a:ln w="9525">
              <a:noFill/>
              <a:round/>
              <a:headEnd type="none" w="med" len="med"/>
              <a:tailEnd type="none" w="med" len="med"/>
            </a:ln>
            <a:effectLst>
              <a:prstShdw prst="shdw17" dist="17961" dir="13500000">
                <a:srgbClr val="969696"/>
              </a:prstShdw>
            </a:effectLst>
          </p:spPr>
          <p:txBody>
            <a:bodyPr/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3" name="Oval 193"/>
            <p:cNvSpPr>
              <a:spLocks noChangeArrowheads="1"/>
            </p:cNvSpPr>
            <p:nvPr/>
          </p:nvSpPr>
          <p:spPr bwMode="auto">
            <a:xfrm>
              <a:off x="1809920" y="4796977"/>
              <a:ext cx="15875" cy="20638"/>
            </a:xfrm>
            <a:prstGeom prst="ellipse">
              <a:avLst/>
            </a:prstGeom>
            <a:solidFill>
              <a:srgbClr val="969696"/>
            </a:solidFill>
            <a:ln w="9525">
              <a:solidFill>
                <a:srgbClr val="969696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4" name="Line 194"/>
            <p:cNvSpPr>
              <a:spLocks noChangeShapeType="1"/>
            </p:cNvSpPr>
            <p:nvPr/>
          </p:nvSpPr>
          <p:spPr bwMode="auto">
            <a:xfrm flipH="1">
              <a:off x="2032170" y="4706490"/>
              <a:ext cx="3175" cy="76200"/>
            </a:xfrm>
            <a:prstGeom prst="line">
              <a:avLst/>
            </a:prstGeom>
            <a:noFill/>
            <a:ln w="9525">
              <a:solidFill>
                <a:srgbClr val="808080"/>
              </a:solidFill>
              <a:round/>
              <a:headEnd/>
              <a:tailEnd/>
            </a:ln>
            <a:effectLst>
              <a:outerShdw dist="17961" dir="18900000" algn="ctr" rotWithShape="0">
                <a:srgbClr val="969696">
                  <a:alpha val="50000"/>
                </a:srgbClr>
              </a:outerShdw>
            </a:effectLst>
          </p:spPr>
          <p:txBody>
            <a:bodyPr/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5" name="Line 195"/>
            <p:cNvSpPr>
              <a:spLocks noChangeShapeType="1"/>
            </p:cNvSpPr>
            <p:nvPr/>
          </p:nvSpPr>
          <p:spPr bwMode="auto">
            <a:xfrm flipH="1">
              <a:off x="2021058" y="4708077"/>
              <a:ext cx="1587" cy="80963"/>
            </a:xfrm>
            <a:prstGeom prst="line">
              <a:avLst/>
            </a:prstGeom>
            <a:noFill/>
            <a:ln w="9525">
              <a:solidFill>
                <a:srgbClr val="808080"/>
              </a:solidFill>
              <a:round/>
              <a:headEnd/>
              <a:tailEnd/>
            </a:ln>
            <a:effectLst>
              <a:outerShdw dist="17961" dir="18900000" algn="ctr" rotWithShape="0">
                <a:srgbClr val="969696">
                  <a:alpha val="50000"/>
                </a:srgbClr>
              </a:outerShdw>
            </a:effectLst>
          </p:spPr>
          <p:txBody>
            <a:bodyPr/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6" name="Line 196"/>
            <p:cNvSpPr>
              <a:spLocks noChangeShapeType="1"/>
            </p:cNvSpPr>
            <p:nvPr/>
          </p:nvSpPr>
          <p:spPr bwMode="auto">
            <a:xfrm flipH="1">
              <a:off x="2044870" y="4704902"/>
              <a:ext cx="4763" cy="76200"/>
            </a:xfrm>
            <a:prstGeom prst="line">
              <a:avLst/>
            </a:prstGeom>
            <a:noFill/>
            <a:ln w="9525">
              <a:solidFill>
                <a:srgbClr val="808080"/>
              </a:solidFill>
              <a:round/>
              <a:headEnd/>
              <a:tailEnd/>
            </a:ln>
            <a:effectLst>
              <a:outerShdw dist="17961" dir="18900000" algn="ctr" rotWithShape="0">
                <a:srgbClr val="969696">
                  <a:alpha val="50000"/>
                </a:srgbClr>
              </a:outerShdw>
            </a:effectLst>
          </p:spPr>
          <p:txBody>
            <a:bodyPr/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7" name="Line 197"/>
            <p:cNvSpPr>
              <a:spLocks noChangeShapeType="1"/>
            </p:cNvSpPr>
            <p:nvPr/>
          </p:nvSpPr>
          <p:spPr bwMode="auto">
            <a:xfrm flipH="1">
              <a:off x="2055983" y="4703315"/>
              <a:ext cx="3175" cy="76200"/>
            </a:xfrm>
            <a:prstGeom prst="line">
              <a:avLst/>
            </a:prstGeom>
            <a:noFill/>
            <a:ln w="9525">
              <a:solidFill>
                <a:srgbClr val="808080"/>
              </a:solidFill>
              <a:round/>
              <a:headEnd/>
              <a:tailEnd/>
            </a:ln>
            <a:effectLst>
              <a:outerShdw dist="17961" dir="18900000" algn="ctr" rotWithShape="0">
                <a:srgbClr val="969696">
                  <a:alpha val="50000"/>
                </a:srgbClr>
              </a:outerShdw>
            </a:effectLst>
          </p:spPr>
          <p:txBody>
            <a:bodyPr/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8" name="Line 198"/>
            <p:cNvSpPr>
              <a:spLocks noChangeShapeType="1"/>
            </p:cNvSpPr>
            <p:nvPr/>
          </p:nvSpPr>
          <p:spPr bwMode="auto">
            <a:xfrm flipH="1">
              <a:off x="2065508" y="4701727"/>
              <a:ext cx="6350" cy="76200"/>
            </a:xfrm>
            <a:prstGeom prst="line">
              <a:avLst/>
            </a:prstGeom>
            <a:noFill/>
            <a:ln w="9525">
              <a:solidFill>
                <a:srgbClr val="808080"/>
              </a:solidFill>
              <a:round/>
              <a:headEnd/>
              <a:tailEnd/>
            </a:ln>
            <a:effectLst>
              <a:outerShdw dist="17961" dir="18900000" algn="ctr" rotWithShape="0">
                <a:srgbClr val="969696">
                  <a:alpha val="50000"/>
                </a:srgbClr>
              </a:outerShdw>
            </a:effectLst>
          </p:spPr>
          <p:txBody>
            <a:bodyPr/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9" name="Line 199"/>
            <p:cNvSpPr>
              <a:spLocks noChangeShapeType="1"/>
            </p:cNvSpPr>
            <p:nvPr/>
          </p:nvSpPr>
          <p:spPr bwMode="auto">
            <a:xfrm flipH="1">
              <a:off x="2076620" y="4698552"/>
              <a:ext cx="6350" cy="77788"/>
            </a:xfrm>
            <a:prstGeom prst="line">
              <a:avLst/>
            </a:prstGeom>
            <a:noFill/>
            <a:ln w="9525">
              <a:solidFill>
                <a:srgbClr val="808080"/>
              </a:solidFill>
              <a:round/>
              <a:headEnd/>
              <a:tailEnd/>
            </a:ln>
            <a:effectLst>
              <a:outerShdw dist="17961" dir="18900000" algn="ctr" rotWithShape="0">
                <a:srgbClr val="969696">
                  <a:alpha val="50000"/>
                </a:srgbClr>
              </a:outerShdw>
            </a:effectLst>
          </p:spPr>
          <p:txBody>
            <a:bodyPr/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30" name="Line 200"/>
            <p:cNvSpPr>
              <a:spLocks noChangeShapeType="1"/>
            </p:cNvSpPr>
            <p:nvPr/>
          </p:nvSpPr>
          <p:spPr bwMode="auto">
            <a:xfrm flipH="1">
              <a:off x="2087733" y="4698552"/>
              <a:ext cx="1587" cy="76200"/>
            </a:xfrm>
            <a:prstGeom prst="line">
              <a:avLst/>
            </a:prstGeom>
            <a:noFill/>
            <a:ln w="9525">
              <a:solidFill>
                <a:srgbClr val="808080"/>
              </a:solidFill>
              <a:round/>
              <a:headEnd/>
              <a:tailEnd/>
            </a:ln>
            <a:effectLst>
              <a:outerShdw dist="17961" dir="18900000" algn="ctr" rotWithShape="0">
                <a:srgbClr val="969696">
                  <a:alpha val="50000"/>
                </a:srgbClr>
              </a:outerShdw>
            </a:effectLst>
          </p:spPr>
          <p:txBody>
            <a:bodyPr/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31" name="Line 201"/>
            <p:cNvSpPr>
              <a:spLocks noChangeShapeType="1"/>
            </p:cNvSpPr>
            <p:nvPr/>
          </p:nvSpPr>
          <p:spPr bwMode="auto">
            <a:xfrm flipH="1">
              <a:off x="2097258" y="4692202"/>
              <a:ext cx="1587" cy="79375"/>
            </a:xfrm>
            <a:prstGeom prst="line">
              <a:avLst/>
            </a:prstGeom>
            <a:noFill/>
            <a:ln w="9525">
              <a:solidFill>
                <a:srgbClr val="808080"/>
              </a:solidFill>
              <a:round/>
              <a:headEnd/>
              <a:tailEnd/>
            </a:ln>
            <a:effectLst>
              <a:outerShdw dist="17961" dir="18900000" algn="ctr" rotWithShape="0">
                <a:srgbClr val="969696">
                  <a:alpha val="50000"/>
                </a:srgbClr>
              </a:outerShdw>
            </a:effectLst>
          </p:spPr>
          <p:txBody>
            <a:bodyPr/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32" name="Line 202"/>
            <p:cNvSpPr>
              <a:spLocks noChangeShapeType="1"/>
            </p:cNvSpPr>
            <p:nvPr/>
          </p:nvSpPr>
          <p:spPr bwMode="auto">
            <a:xfrm flipH="1">
              <a:off x="2106783" y="4692202"/>
              <a:ext cx="1587" cy="76200"/>
            </a:xfrm>
            <a:prstGeom prst="line">
              <a:avLst/>
            </a:prstGeom>
            <a:noFill/>
            <a:ln w="9525">
              <a:solidFill>
                <a:srgbClr val="808080"/>
              </a:solidFill>
              <a:round/>
              <a:headEnd/>
              <a:tailEnd/>
            </a:ln>
            <a:effectLst>
              <a:outerShdw dist="17961" dir="18900000" algn="ctr" rotWithShape="0">
                <a:srgbClr val="969696">
                  <a:alpha val="50000"/>
                </a:srgbClr>
              </a:outerShdw>
            </a:effectLst>
          </p:spPr>
          <p:txBody>
            <a:bodyPr/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33" name="Line 203"/>
            <p:cNvSpPr>
              <a:spLocks noChangeShapeType="1"/>
            </p:cNvSpPr>
            <p:nvPr/>
          </p:nvSpPr>
          <p:spPr bwMode="auto">
            <a:xfrm flipH="1">
              <a:off x="2117895" y="4690615"/>
              <a:ext cx="1588" cy="77787"/>
            </a:xfrm>
            <a:prstGeom prst="line">
              <a:avLst/>
            </a:prstGeom>
            <a:noFill/>
            <a:ln w="9525">
              <a:solidFill>
                <a:srgbClr val="808080"/>
              </a:solidFill>
              <a:round/>
              <a:headEnd/>
              <a:tailEnd/>
            </a:ln>
            <a:effectLst>
              <a:outerShdw dist="17961" dir="18900000" algn="ctr" rotWithShape="0">
                <a:srgbClr val="969696">
                  <a:alpha val="50000"/>
                </a:srgbClr>
              </a:outerShdw>
            </a:effectLst>
          </p:spPr>
          <p:txBody>
            <a:bodyPr/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34" name="Line 204"/>
            <p:cNvSpPr>
              <a:spLocks noChangeShapeType="1"/>
            </p:cNvSpPr>
            <p:nvPr/>
          </p:nvSpPr>
          <p:spPr bwMode="auto">
            <a:xfrm flipH="1">
              <a:off x="2071064" y="4731896"/>
              <a:ext cx="1587" cy="76200"/>
            </a:xfrm>
            <a:prstGeom prst="line">
              <a:avLst/>
            </a:prstGeom>
            <a:noFill/>
            <a:ln w="9525">
              <a:solidFill>
                <a:srgbClr val="808080"/>
              </a:solidFill>
              <a:round/>
              <a:headEnd/>
              <a:tailEnd/>
            </a:ln>
            <a:effectLst>
              <a:outerShdw dist="17961" dir="18900000" algn="ctr" rotWithShape="0">
                <a:srgbClr val="969696">
                  <a:alpha val="50000"/>
                </a:srgbClr>
              </a:outerShdw>
            </a:effectLst>
          </p:spPr>
          <p:txBody>
            <a:bodyPr/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35" name="Freeform 205"/>
            <p:cNvSpPr>
              <a:spLocks/>
            </p:cNvSpPr>
            <p:nvPr/>
          </p:nvSpPr>
          <p:spPr bwMode="auto">
            <a:xfrm>
              <a:off x="1878183" y="4738240"/>
              <a:ext cx="79375" cy="61912"/>
            </a:xfrm>
            <a:custGeom>
              <a:avLst/>
              <a:gdLst/>
              <a:ahLst/>
              <a:cxnLst>
                <a:cxn ang="0">
                  <a:pos x="2" y="33"/>
                </a:cxn>
                <a:cxn ang="0">
                  <a:pos x="0" y="138"/>
                </a:cxn>
                <a:cxn ang="0">
                  <a:pos x="186" y="104"/>
                </a:cxn>
                <a:cxn ang="0">
                  <a:pos x="186" y="0"/>
                </a:cxn>
                <a:cxn ang="0">
                  <a:pos x="2" y="33"/>
                </a:cxn>
              </a:cxnLst>
              <a:rect l="0" t="0" r="r" b="b"/>
              <a:pathLst>
                <a:path w="186" h="138">
                  <a:moveTo>
                    <a:pt x="2" y="33"/>
                  </a:moveTo>
                  <a:lnTo>
                    <a:pt x="0" y="138"/>
                  </a:lnTo>
                  <a:lnTo>
                    <a:pt x="186" y="104"/>
                  </a:lnTo>
                  <a:lnTo>
                    <a:pt x="186" y="0"/>
                  </a:lnTo>
                  <a:lnTo>
                    <a:pt x="2" y="33"/>
                  </a:lnTo>
                  <a:close/>
                </a:path>
              </a:pathLst>
            </a:custGeom>
            <a:gradFill rotWithShape="1">
              <a:gsLst>
                <a:gs pos="0">
                  <a:srgbClr val="969696"/>
                </a:gs>
                <a:gs pos="100000">
                  <a:srgbClr val="969696">
                    <a:gamma/>
                    <a:shade val="75686"/>
                    <a:invGamma/>
                  </a:srgbClr>
                </a:gs>
              </a:gsLst>
              <a:lin ang="0" scaled="1"/>
            </a:gradFill>
            <a:ln w="3175" cap="flat" cmpd="sng">
              <a:noFill/>
              <a:prstDash val="solid"/>
              <a:round/>
              <a:headEnd type="none" w="med" len="med"/>
              <a:tailEnd type="none" w="med" len="med"/>
            </a:ln>
            <a:effectLst>
              <a:prstShdw prst="shdw17" dist="17961" dir="13500000">
                <a:srgbClr val="969696">
                  <a:alpha val="50000"/>
                </a:srgbClr>
              </a:prstShdw>
            </a:effectLst>
          </p:spPr>
          <p:txBody>
            <a:bodyPr/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36" name="Line 206"/>
            <p:cNvSpPr>
              <a:spLocks noChangeShapeType="1"/>
            </p:cNvSpPr>
            <p:nvPr/>
          </p:nvSpPr>
          <p:spPr bwMode="auto">
            <a:xfrm flipH="1">
              <a:off x="1889295" y="4773165"/>
              <a:ext cx="0" cy="19050"/>
            </a:xfrm>
            <a:prstGeom prst="line">
              <a:avLst/>
            </a:prstGeom>
            <a:noFill/>
            <a:ln w="9525">
              <a:solidFill>
                <a:srgbClr val="3399FF">
                  <a:alpha val="55000"/>
                </a:srgbClr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37" name="Line 207"/>
            <p:cNvSpPr>
              <a:spLocks noChangeShapeType="1"/>
            </p:cNvSpPr>
            <p:nvPr/>
          </p:nvSpPr>
          <p:spPr bwMode="auto">
            <a:xfrm flipH="1">
              <a:off x="1951208" y="4758877"/>
              <a:ext cx="0" cy="19050"/>
            </a:xfrm>
            <a:prstGeom prst="line">
              <a:avLst/>
            </a:prstGeom>
            <a:noFill/>
            <a:ln w="9525">
              <a:solidFill>
                <a:srgbClr val="3399FF">
                  <a:alpha val="55000"/>
                </a:srgbClr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38" name="Line 208"/>
            <p:cNvSpPr>
              <a:spLocks noChangeShapeType="1"/>
            </p:cNvSpPr>
            <p:nvPr/>
          </p:nvSpPr>
          <p:spPr bwMode="auto">
            <a:xfrm flipH="1">
              <a:off x="1943270" y="4768402"/>
              <a:ext cx="0" cy="14288"/>
            </a:xfrm>
            <a:prstGeom prst="line">
              <a:avLst/>
            </a:prstGeom>
            <a:noFill/>
            <a:ln w="9525">
              <a:solidFill>
                <a:srgbClr val="3399FF">
                  <a:alpha val="55000"/>
                </a:srgbClr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39" name="Line 209"/>
            <p:cNvSpPr>
              <a:spLocks noChangeShapeType="1"/>
            </p:cNvSpPr>
            <p:nvPr/>
          </p:nvSpPr>
          <p:spPr bwMode="auto">
            <a:xfrm flipH="1">
              <a:off x="1898820" y="4781102"/>
              <a:ext cx="0" cy="12700"/>
            </a:xfrm>
            <a:prstGeom prst="line">
              <a:avLst/>
            </a:prstGeom>
            <a:noFill/>
            <a:ln w="9525">
              <a:solidFill>
                <a:srgbClr val="3399FF">
                  <a:alpha val="55000"/>
                </a:srgbClr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40" name="Line 210"/>
            <p:cNvSpPr>
              <a:spLocks noChangeShapeType="1"/>
            </p:cNvSpPr>
            <p:nvPr/>
          </p:nvSpPr>
          <p:spPr bwMode="auto">
            <a:xfrm flipV="1">
              <a:off x="1908345" y="4782690"/>
              <a:ext cx="25400" cy="6350"/>
            </a:xfrm>
            <a:prstGeom prst="line">
              <a:avLst/>
            </a:prstGeom>
            <a:noFill/>
            <a:ln w="9525">
              <a:solidFill>
                <a:srgbClr val="FFFF99">
                  <a:alpha val="45000"/>
                </a:srgbClr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41" name="Freeform 211"/>
            <p:cNvSpPr>
              <a:spLocks/>
            </p:cNvSpPr>
            <p:nvPr/>
          </p:nvSpPr>
          <p:spPr bwMode="auto">
            <a:xfrm>
              <a:off x="1714670" y="4752527"/>
              <a:ext cx="100013" cy="36513"/>
            </a:xfrm>
            <a:custGeom>
              <a:avLst/>
              <a:gdLst/>
              <a:ahLst/>
              <a:cxnLst>
                <a:cxn ang="0">
                  <a:pos x="0" y="20"/>
                </a:cxn>
                <a:cxn ang="0">
                  <a:pos x="1" y="38"/>
                </a:cxn>
                <a:cxn ang="0">
                  <a:pos x="116" y="19"/>
                </a:cxn>
                <a:cxn ang="0">
                  <a:pos x="116" y="0"/>
                </a:cxn>
                <a:cxn ang="0">
                  <a:pos x="0" y="20"/>
                </a:cxn>
              </a:cxnLst>
              <a:rect l="0" t="0" r="r" b="b"/>
              <a:pathLst>
                <a:path w="116" h="38">
                  <a:moveTo>
                    <a:pt x="0" y="20"/>
                  </a:moveTo>
                  <a:lnTo>
                    <a:pt x="1" y="38"/>
                  </a:lnTo>
                  <a:lnTo>
                    <a:pt x="116" y="19"/>
                  </a:lnTo>
                  <a:lnTo>
                    <a:pt x="116" y="0"/>
                  </a:lnTo>
                  <a:lnTo>
                    <a:pt x="0" y="20"/>
                  </a:lnTo>
                  <a:close/>
                </a:path>
              </a:pathLst>
            </a:custGeom>
            <a:gradFill rotWithShape="1">
              <a:gsLst>
                <a:gs pos="0">
                  <a:srgbClr val="C0C0C0">
                    <a:gamma/>
                    <a:tint val="60784"/>
                    <a:invGamma/>
                  </a:srgbClr>
                </a:gs>
                <a:gs pos="100000">
                  <a:srgbClr val="C0C0C0"/>
                </a:gs>
              </a:gsLst>
              <a:lin ang="0" scaled="1"/>
            </a:gradFill>
            <a:ln w="9525">
              <a:noFill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42" name="Line 212"/>
            <p:cNvSpPr>
              <a:spLocks noChangeShapeType="1"/>
            </p:cNvSpPr>
            <p:nvPr/>
          </p:nvSpPr>
          <p:spPr bwMode="auto">
            <a:xfrm flipV="1">
              <a:off x="1706733" y="4758877"/>
              <a:ext cx="112712" cy="22225"/>
            </a:xfrm>
            <a:prstGeom prst="line">
              <a:avLst/>
            </a:prstGeom>
            <a:noFill/>
            <a:ln w="3175">
              <a:solidFill>
                <a:srgbClr val="5F5F5F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grpSp>
          <p:nvGrpSpPr>
            <p:cNvPr id="43" name="Group 150"/>
            <p:cNvGrpSpPr>
              <a:grpSpLocks/>
            </p:cNvGrpSpPr>
            <p:nvPr/>
          </p:nvGrpSpPr>
          <p:grpSpPr bwMode="auto">
            <a:xfrm>
              <a:off x="1598783" y="4144515"/>
              <a:ext cx="328612" cy="369887"/>
              <a:chOff x="685" y="3115"/>
              <a:chExt cx="207" cy="233"/>
            </a:xfrm>
          </p:grpSpPr>
          <p:sp>
            <p:nvSpPr>
              <p:cNvPr id="56" name="Freeform 215"/>
              <p:cNvSpPr>
                <a:spLocks/>
              </p:cNvSpPr>
              <p:nvPr/>
            </p:nvSpPr>
            <p:spPr bwMode="auto">
              <a:xfrm flipH="1">
                <a:off x="686" y="3115"/>
                <a:ext cx="206" cy="30"/>
              </a:xfrm>
              <a:custGeom>
                <a:avLst/>
                <a:gdLst>
                  <a:gd name="T0" fmla="*/ 1205 w 1205"/>
                  <a:gd name="T1" fmla="*/ 151 h 178"/>
                  <a:gd name="T2" fmla="*/ 964 w 1205"/>
                  <a:gd name="T3" fmla="*/ 178 h 178"/>
                  <a:gd name="T4" fmla="*/ 0 w 1205"/>
                  <a:gd name="T5" fmla="*/ 0 h 178"/>
                  <a:gd name="T6" fmla="*/ 1205 w 1205"/>
                  <a:gd name="T7" fmla="*/ 151 h 178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1205"/>
                  <a:gd name="T13" fmla="*/ 0 h 178"/>
                  <a:gd name="T14" fmla="*/ 1205 w 1205"/>
                  <a:gd name="T15" fmla="*/ 178 h 178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1205" h="178">
                    <a:moveTo>
                      <a:pt x="1205" y="151"/>
                    </a:moveTo>
                    <a:lnTo>
                      <a:pt x="964" y="178"/>
                    </a:lnTo>
                    <a:lnTo>
                      <a:pt x="0" y="0"/>
                    </a:lnTo>
                    <a:lnTo>
                      <a:pt x="1205" y="151"/>
                    </a:lnTo>
                    <a:close/>
                  </a:path>
                </a:pathLst>
              </a:custGeom>
              <a:solidFill>
                <a:srgbClr val="EAEAEA"/>
              </a:solidFill>
              <a:ln w="9525">
                <a:solidFill>
                  <a:srgbClr val="969696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pPr>
                  <a:defRPr/>
                </a:pPr>
                <a:endParaRPr lang="ko-KR" altLang="en-US" kern="0">
                  <a:solidFill>
                    <a:sysClr val="windowText" lastClr="000000"/>
                  </a:solidFill>
                </a:endParaRPr>
              </a:p>
            </p:txBody>
          </p:sp>
          <p:sp>
            <p:nvSpPr>
              <p:cNvPr id="57" name="Freeform 216"/>
              <p:cNvSpPr>
                <a:spLocks/>
              </p:cNvSpPr>
              <p:nvPr/>
            </p:nvSpPr>
            <p:spPr bwMode="auto">
              <a:xfrm flipH="1">
                <a:off x="685" y="3141"/>
                <a:ext cx="69" cy="207"/>
              </a:xfrm>
              <a:custGeom>
                <a:avLst/>
                <a:gdLst>
                  <a:gd name="T0" fmla="*/ 405 w 405"/>
                  <a:gd name="T1" fmla="*/ 0 h 1241"/>
                  <a:gd name="T2" fmla="*/ 389 w 405"/>
                  <a:gd name="T3" fmla="*/ 1000 h 1241"/>
                  <a:gd name="T4" fmla="*/ 133 w 405"/>
                  <a:gd name="T5" fmla="*/ 1241 h 1241"/>
                  <a:gd name="T6" fmla="*/ 0 w 405"/>
                  <a:gd name="T7" fmla="*/ 13 h 1241"/>
                  <a:gd name="T8" fmla="*/ 189 w 405"/>
                  <a:gd name="T9" fmla="*/ 24 h 1241"/>
                  <a:gd name="T10" fmla="*/ 405 w 405"/>
                  <a:gd name="T11" fmla="*/ 0 h 1241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405"/>
                  <a:gd name="T19" fmla="*/ 0 h 1241"/>
                  <a:gd name="T20" fmla="*/ 405 w 405"/>
                  <a:gd name="T21" fmla="*/ 1241 h 1241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405" h="1241">
                    <a:moveTo>
                      <a:pt x="405" y="0"/>
                    </a:moveTo>
                    <a:lnTo>
                      <a:pt x="389" y="1000"/>
                    </a:lnTo>
                    <a:lnTo>
                      <a:pt x="133" y="1241"/>
                    </a:lnTo>
                    <a:lnTo>
                      <a:pt x="0" y="13"/>
                    </a:lnTo>
                    <a:lnTo>
                      <a:pt x="189" y="24"/>
                    </a:lnTo>
                    <a:lnTo>
                      <a:pt x="405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CCCCCC"/>
                  </a:gs>
                  <a:gs pos="100000">
                    <a:srgbClr val="969696"/>
                  </a:gs>
                </a:gsLst>
                <a:lin ang="0" scaled="1"/>
              </a:gradFill>
              <a:ln w="9525">
                <a:solidFill>
                  <a:srgbClr val="969696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pPr>
                  <a:defRPr/>
                </a:pPr>
                <a:endParaRPr lang="ko-KR" altLang="en-US" kern="0">
                  <a:solidFill>
                    <a:sysClr val="windowText" lastClr="000000"/>
                  </a:solidFill>
                </a:endParaRPr>
              </a:p>
            </p:txBody>
          </p:sp>
        </p:grpSp>
        <p:sp>
          <p:nvSpPr>
            <p:cNvPr id="44" name="Oval 217"/>
            <p:cNvSpPr>
              <a:spLocks noChangeArrowheads="1"/>
            </p:cNvSpPr>
            <p:nvPr/>
          </p:nvSpPr>
          <p:spPr bwMode="auto">
            <a:xfrm>
              <a:off x="1682920" y="4542977"/>
              <a:ext cx="298450" cy="93663"/>
            </a:xfrm>
            <a:prstGeom prst="ellipse">
              <a:avLst/>
            </a:prstGeom>
            <a:solidFill>
              <a:srgbClr val="969696"/>
            </a:solidFill>
            <a:ln w="9525">
              <a:solidFill>
                <a:srgbClr val="969696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45" name="Oval 218"/>
            <p:cNvSpPr>
              <a:spLocks noChangeArrowheads="1"/>
            </p:cNvSpPr>
            <p:nvPr/>
          </p:nvSpPr>
          <p:spPr bwMode="auto">
            <a:xfrm>
              <a:off x="1682920" y="4536627"/>
              <a:ext cx="298450" cy="92075"/>
            </a:xfrm>
            <a:prstGeom prst="ellipse">
              <a:avLst/>
            </a:prstGeom>
            <a:gradFill rotWithShape="1">
              <a:gsLst>
                <a:gs pos="0">
                  <a:srgbClr val="C0C0C0"/>
                </a:gs>
                <a:gs pos="100000">
                  <a:srgbClr val="EAEAEA"/>
                </a:gs>
              </a:gsLst>
              <a:lin ang="2700000" scaled="1"/>
            </a:gradFill>
            <a:ln w="9525">
              <a:solidFill>
                <a:srgbClr val="969696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46" name="Freeform 219"/>
            <p:cNvSpPr>
              <a:spLocks/>
            </p:cNvSpPr>
            <p:nvPr/>
          </p:nvSpPr>
          <p:spPr bwMode="auto">
            <a:xfrm flipH="1">
              <a:off x="1663870" y="4088952"/>
              <a:ext cx="436563" cy="511175"/>
            </a:xfrm>
            <a:custGeom>
              <a:avLst/>
              <a:gdLst>
                <a:gd name="T0" fmla="*/ 1602 w 1602"/>
                <a:gd name="T1" fmla="*/ 204 h 1734"/>
                <a:gd name="T2" fmla="*/ 5 w 1602"/>
                <a:gd name="T3" fmla="*/ 0 h 1734"/>
                <a:gd name="T4" fmla="*/ 0 w 1602"/>
                <a:gd name="T5" fmla="*/ 1488 h 1734"/>
                <a:gd name="T6" fmla="*/ 1597 w 1602"/>
                <a:gd name="T7" fmla="*/ 1734 h 1734"/>
                <a:gd name="T8" fmla="*/ 1602 w 1602"/>
                <a:gd name="T9" fmla="*/ 204 h 1734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602"/>
                <a:gd name="T16" fmla="*/ 0 h 1734"/>
                <a:gd name="T17" fmla="*/ 1602 w 1602"/>
                <a:gd name="T18" fmla="*/ 1734 h 1734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602" h="1734">
                  <a:moveTo>
                    <a:pt x="1602" y="204"/>
                  </a:moveTo>
                  <a:lnTo>
                    <a:pt x="5" y="0"/>
                  </a:lnTo>
                  <a:lnTo>
                    <a:pt x="0" y="1488"/>
                  </a:lnTo>
                  <a:lnTo>
                    <a:pt x="1597" y="1734"/>
                  </a:lnTo>
                  <a:lnTo>
                    <a:pt x="1602" y="204"/>
                  </a:lnTo>
                  <a:close/>
                </a:path>
              </a:pathLst>
            </a:custGeom>
            <a:gradFill rotWithShape="1">
              <a:gsLst>
                <a:gs pos="0">
                  <a:srgbClr val="FFFFFF"/>
                </a:gs>
                <a:gs pos="100000">
                  <a:srgbClr val="DDDDDD"/>
                </a:gs>
              </a:gsLst>
              <a:lin ang="5400000" scaled="1"/>
            </a:gradFill>
            <a:ln w="9525">
              <a:solidFill>
                <a:srgbClr val="969696"/>
              </a:solidFill>
              <a:round/>
              <a:headEnd/>
              <a:tailEnd/>
            </a:ln>
          </p:spPr>
          <p:txBody>
            <a:bodyPr/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47" name="Freeform 220"/>
            <p:cNvSpPr>
              <a:spLocks/>
            </p:cNvSpPr>
            <p:nvPr/>
          </p:nvSpPr>
          <p:spPr bwMode="auto">
            <a:xfrm flipH="1">
              <a:off x="1722608" y="4503290"/>
              <a:ext cx="358775" cy="96837"/>
            </a:xfrm>
            <a:custGeom>
              <a:avLst/>
              <a:gdLst>
                <a:gd name="T0" fmla="*/ 1327 w 1330"/>
                <a:gd name="T1" fmla="*/ 200 h 330"/>
                <a:gd name="T2" fmla="*/ 0 w 1330"/>
                <a:gd name="T3" fmla="*/ 0 h 330"/>
                <a:gd name="T4" fmla="*/ 0 w 1330"/>
                <a:gd name="T5" fmla="*/ 115 h 330"/>
                <a:gd name="T6" fmla="*/ 1330 w 1330"/>
                <a:gd name="T7" fmla="*/ 330 h 330"/>
                <a:gd name="T8" fmla="*/ 1327 w 1330"/>
                <a:gd name="T9" fmla="*/ 200 h 33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330"/>
                <a:gd name="T16" fmla="*/ 0 h 330"/>
                <a:gd name="T17" fmla="*/ 1330 w 1330"/>
                <a:gd name="T18" fmla="*/ 330 h 33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330" h="330">
                  <a:moveTo>
                    <a:pt x="1327" y="200"/>
                  </a:moveTo>
                  <a:lnTo>
                    <a:pt x="0" y="0"/>
                  </a:lnTo>
                  <a:lnTo>
                    <a:pt x="0" y="115"/>
                  </a:lnTo>
                  <a:lnTo>
                    <a:pt x="1330" y="330"/>
                  </a:lnTo>
                  <a:lnTo>
                    <a:pt x="1327" y="200"/>
                  </a:lnTo>
                  <a:close/>
                </a:path>
              </a:pathLst>
            </a:custGeom>
            <a:gradFill rotWithShape="1">
              <a:gsLst>
                <a:gs pos="0">
                  <a:srgbClr val="C0C0C0"/>
                </a:gs>
                <a:gs pos="50000">
                  <a:srgbClr val="FFFFFF"/>
                </a:gs>
                <a:gs pos="100000">
                  <a:srgbClr val="C0C0C0"/>
                </a:gs>
              </a:gsLst>
              <a:lin ang="5400000" scaled="1"/>
            </a:gradFill>
            <a:ln w="9525">
              <a:solidFill>
                <a:srgbClr val="969696"/>
              </a:solidFill>
              <a:round/>
              <a:headEnd/>
              <a:tailEnd/>
            </a:ln>
          </p:spPr>
          <p:txBody>
            <a:bodyPr/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48" name="Freeform 221"/>
            <p:cNvSpPr>
              <a:spLocks/>
            </p:cNvSpPr>
            <p:nvPr/>
          </p:nvSpPr>
          <p:spPr bwMode="auto">
            <a:xfrm flipH="1">
              <a:off x="1651170" y="4147690"/>
              <a:ext cx="15875" cy="452437"/>
            </a:xfrm>
            <a:custGeom>
              <a:avLst/>
              <a:gdLst>
                <a:gd name="T0" fmla="*/ 4 w 56"/>
                <a:gd name="T1" fmla="*/ 16 h 1536"/>
                <a:gd name="T2" fmla="*/ 56 w 56"/>
                <a:gd name="T3" fmla="*/ 0 h 1536"/>
                <a:gd name="T4" fmla="*/ 46 w 56"/>
                <a:gd name="T5" fmla="*/ 1513 h 1536"/>
                <a:gd name="T6" fmla="*/ 0 w 56"/>
                <a:gd name="T7" fmla="*/ 1536 h 1536"/>
                <a:gd name="T8" fmla="*/ 4 w 56"/>
                <a:gd name="T9" fmla="*/ 16 h 153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56"/>
                <a:gd name="T16" fmla="*/ 0 h 1536"/>
                <a:gd name="T17" fmla="*/ 56 w 56"/>
                <a:gd name="T18" fmla="*/ 1536 h 1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56" h="1536">
                  <a:moveTo>
                    <a:pt x="4" y="16"/>
                  </a:moveTo>
                  <a:lnTo>
                    <a:pt x="56" y="0"/>
                  </a:lnTo>
                  <a:lnTo>
                    <a:pt x="46" y="1513"/>
                  </a:lnTo>
                  <a:lnTo>
                    <a:pt x="0" y="1536"/>
                  </a:lnTo>
                  <a:lnTo>
                    <a:pt x="4" y="16"/>
                  </a:lnTo>
                  <a:close/>
                </a:path>
              </a:pathLst>
            </a:custGeom>
            <a:gradFill rotWithShape="1">
              <a:gsLst>
                <a:gs pos="0">
                  <a:srgbClr val="777777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rgbClr val="969696"/>
              </a:solidFill>
              <a:round/>
              <a:headEnd/>
              <a:tailEnd/>
            </a:ln>
          </p:spPr>
          <p:txBody>
            <a:bodyPr/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49" name="Oval 222"/>
            <p:cNvSpPr>
              <a:spLocks noChangeArrowheads="1"/>
            </p:cNvSpPr>
            <p:nvPr/>
          </p:nvSpPr>
          <p:spPr bwMode="auto">
            <a:xfrm>
              <a:off x="2049633" y="4511227"/>
              <a:ext cx="12700" cy="26988"/>
            </a:xfrm>
            <a:prstGeom prst="ellipse">
              <a:avLst/>
            </a:prstGeom>
            <a:solidFill>
              <a:srgbClr val="777777"/>
            </a:solidFill>
            <a:ln w="9525">
              <a:solidFill>
                <a:srgbClr val="969696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50" name="Oval 223"/>
            <p:cNvSpPr>
              <a:spLocks noChangeArrowheads="1"/>
            </p:cNvSpPr>
            <p:nvPr/>
          </p:nvSpPr>
          <p:spPr bwMode="auto">
            <a:xfrm>
              <a:off x="2025820" y="4517577"/>
              <a:ext cx="11113" cy="22225"/>
            </a:xfrm>
            <a:prstGeom prst="ellipse">
              <a:avLst/>
            </a:prstGeom>
            <a:solidFill>
              <a:srgbClr val="C0C0C0"/>
            </a:solidFill>
            <a:ln w="9525">
              <a:solidFill>
                <a:srgbClr val="969696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51" name="Oval 224"/>
            <p:cNvSpPr>
              <a:spLocks noChangeArrowheads="1"/>
            </p:cNvSpPr>
            <p:nvPr/>
          </p:nvSpPr>
          <p:spPr bwMode="auto">
            <a:xfrm>
              <a:off x="1943270" y="4538215"/>
              <a:ext cx="14288" cy="15875"/>
            </a:xfrm>
            <a:prstGeom prst="ellipse">
              <a:avLst/>
            </a:prstGeom>
            <a:solidFill>
              <a:srgbClr val="C0C0C0"/>
            </a:solidFill>
            <a:ln w="9525">
              <a:solidFill>
                <a:srgbClr val="969696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52" name="Oval 225"/>
            <p:cNvSpPr>
              <a:spLocks noChangeArrowheads="1"/>
            </p:cNvSpPr>
            <p:nvPr/>
          </p:nvSpPr>
          <p:spPr bwMode="auto">
            <a:xfrm>
              <a:off x="1917870" y="4542977"/>
              <a:ext cx="12700" cy="17463"/>
            </a:xfrm>
            <a:prstGeom prst="ellipse">
              <a:avLst/>
            </a:prstGeom>
            <a:solidFill>
              <a:srgbClr val="C0C0C0"/>
            </a:solidFill>
            <a:ln w="9525">
              <a:solidFill>
                <a:srgbClr val="969696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53" name="Oval 226"/>
            <p:cNvSpPr>
              <a:spLocks noChangeArrowheads="1"/>
            </p:cNvSpPr>
            <p:nvPr/>
          </p:nvSpPr>
          <p:spPr bwMode="auto">
            <a:xfrm>
              <a:off x="1889295" y="4547740"/>
              <a:ext cx="14288" cy="15875"/>
            </a:xfrm>
            <a:prstGeom prst="ellipse">
              <a:avLst/>
            </a:prstGeom>
            <a:solidFill>
              <a:srgbClr val="C0C0C0"/>
            </a:solidFill>
            <a:ln w="9525">
              <a:solidFill>
                <a:srgbClr val="969696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54" name="Freeform 227"/>
            <p:cNvSpPr>
              <a:spLocks/>
            </p:cNvSpPr>
            <p:nvPr/>
          </p:nvSpPr>
          <p:spPr bwMode="auto">
            <a:xfrm flipH="1">
              <a:off x="1705145" y="4139752"/>
              <a:ext cx="361950" cy="401638"/>
            </a:xfrm>
            <a:custGeom>
              <a:avLst/>
              <a:gdLst>
                <a:gd name="T0" fmla="*/ 1330 w 1345"/>
                <a:gd name="T1" fmla="*/ 167 h 1366"/>
                <a:gd name="T2" fmla="*/ 0 w 1345"/>
                <a:gd name="T3" fmla="*/ 0 h 1366"/>
                <a:gd name="T4" fmla="*/ 0 w 1345"/>
                <a:gd name="T5" fmla="*/ 1157 h 1366"/>
                <a:gd name="T6" fmla="*/ 1345 w 1345"/>
                <a:gd name="T7" fmla="*/ 1366 h 1366"/>
                <a:gd name="T8" fmla="*/ 1330 w 1345"/>
                <a:gd name="T9" fmla="*/ 167 h 136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345"/>
                <a:gd name="T16" fmla="*/ 0 h 1366"/>
                <a:gd name="T17" fmla="*/ 1345 w 1345"/>
                <a:gd name="T18" fmla="*/ 1366 h 136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345" h="1366">
                  <a:moveTo>
                    <a:pt x="1330" y="167"/>
                  </a:moveTo>
                  <a:lnTo>
                    <a:pt x="0" y="0"/>
                  </a:lnTo>
                  <a:lnTo>
                    <a:pt x="0" y="1157"/>
                  </a:lnTo>
                  <a:lnTo>
                    <a:pt x="1345" y="1366"/>
                  </a:lnTo>
                  <a:lnTo>
                    <a:pt x="1330" y="167"/>
                  </a:lnTo>
                  <a:close/>
                </a:path>
              </a:pathLst>
            </a:custGeom>
            <a:gradFill rotWithShape="1">
              <a:gsLst>
                <a:gs pos="0">
                  <a:srgbClr val="C0C0C0"/>
                </a:gs>
                <a:gs pos="100000">
                  <a:srgbClr val="4D4D4D"/>
                </a:gs>
              </a:gsLst>
              <a:lin ang="5400000" scaled="1"/>
            </a:gradFill>
            <a:ln w="9525">
              <a:solidFill>
                <a:srgbClr val="969696"/>
              </a:solidFill>
              <a:round/>
              <a:headEnd/>
              <a:tailEnd/>
            </a:ln>
          </p:spPr>
          <p:txBody>
            <a:bodyPr/>
            <a:lstStyle/>
            <a:p>
              <a:pPr>
                <a:defRPr/>
              </a:pPr>
              <a:endParaRPr lang="ko-KR" altLang="en-US" kern="0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55" name="Freeform 228"/>
            <p:cNvSpPr>
              <a:spLocks/>
            </p:cNvSpPr>
            <p:nvPr/>
          </p:nvSpPr>
          <p:spPr bwMode="auto">
            <a:xfrm flipH="1">
              <a:off x="1651170" y="4087365"/>
              <a:ext cx="447675" cy="63500"/>
            </a:xfrm>
            <a:custGeom>
              <a:avLst/>
              <a:gdLst>
                <a:gd name="T0" fmla="*/ 0 w 1660"/>
                <a:gd name="T1" fmla="*/ 10 h 214"/>
                <a:gd name="T2" fmla="*/ 68 w 1660"/>
                <a:gd name="T3" fmla="*/ 0 h 214"/>
                <a:gd name="T4" fmla="*/ 1660 w 1660"/>
                <a:gd name="T5" fmla="*/ 199 h 214"/>
                <a:gd name="T6" fmla="*/ 1613 w 1660"/>
                <a:gd name="T7" fmla="*/ 214 h 214"/>
                <a:gd name="T8" fmla="*/ 0 w 1660"/>
                <a:gd name="T9" fmla="*/ 10 h 214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660"/>
                <a:gd name="T16" fmla="*/ 0 h 214"/>
                <a:gd name="T17" fmla="*/ 1660 w 1660"/>
                <a:gd name="T18" fmla="*/ 214 h 214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660" h="214">
                  <a:moveTo>
                    <a:pt x="0" y="10"/>
                  </a:moveTo>
                  <a:lnTo>
                    <a:pt x="68" y="0"/>
                  </a:lnTo>
                  <a:lnTo>
                    <a:pt x="1660" y="199"/>
                  </a:lnTo>
                  <a:lnTo>
                    <a:pt x="1613" y="214"/>
                  </a:lnTo>
                  <a:lnTo>
                    <a:pt x="0" y="10"/>
                  </a:lnTo>
                  <a:close/>
                </a:path>
              </a:pathLst>
            </a:custGeom>
            <a:noFill/>
            <a:ln w="9525">
              <a:solidFill>
                <a:srgbClr val="969696"/>
              </a:solidFill>
              <a:round/>
              <a:headEnd/>
              <a:tailEnd/>
            </a:ln>
          </p:spPr>
          <p:txBody>
            <a:bodyPr/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</p:grpSp>
      <p:pic>
        <p:nvPicPr>
          <p:cNvPr id="58" name="Picture 2" descr="C:\Users\Toshiba\AppData\Local\Microsoft\Windows\Temporary Internet Files\Content.IE5\TBE21NJN\MC900434845[1]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1802840" y="3040300"/>
            <a:ext cx="1583716" cy="150671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9" name="TextBox 58"/>
          <p:cNvSpPr txBox="1"/>
          <p:nvPr/>
        </p:nvSpPr>
        <p:spPr>
          <a:xfrm>
            <a:off x="2090805" y="4502468"/>
            <a:ext cx="123944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송신호스트 </a:t>
            </a:r>
          </a:p>
        </p:txBody>
      </p:sp>
      <p:sp>
        <p:nvSpPr>
          <p:cNvPr id="60" name="오른쪽 화살표 59"/>
          <p:cNvSpPr/>
          <p:nvPr/>
        </p:nvSpPr>
        <p:spPr>
          <a:xfrm>
            <a:off x="4310181" y="1188982"/>
            <a:ext cx="3935976" cy="627995"/>
          </a:xfrm>
          <a:prstGeom prst="rightArrow">
            <a:avLst>
              <a:gd name="adj1" fmla="val 50000"/>
              <a:gd name="adj2" fmla="val 86095"/>
            </a:avLst>
          </a:prstGeom>
          <a:solidFill>
            <a:schemeClr val="bg1">
              <a:lumMod val="85000"/>
            </a:schemeClr>
          </a:solidFill>
          <a:ln cap="sq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오른쪽 화살표 61"/>
          <p:cNvSpPr/>
          <p:nvPr/>
        </p:nvSpPr>
        <p:spPr>
          <a:xfrm rot="10800000">
            <a:off x="4328578" y="1879401"/>
            <a:ext cx="3935976" cy="627995"/>
          </a:xfrm>
          <a:prstGeom prst="rightArrow">
            <a:avLst>
              <a:gd name="adj1" fmla="val 50000"/>
              <a:gd name="adj2" fmla="val 86095"/>
            </a:avLst>
          </a:prstGeom>
          <a:noFill/>
          <a:ln cap="sq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4" name="오른쪽 화살표 63"/>
          <p:cNvSpPr/>
          <p:nvPr/>
        </p:nvSpPr>
        <p:spPr>
          <a:xfrm>
            <a:off x="4319839" y="2548109"/>
            <a:ext cx="2772752" cy="627995"/>
          </a:xfrm>
          <a:prstGeom prst="rightArrow">
            <a:avLst>
              <a:gd name="adj1" fmla="val 50000"/>
              <a:gd name="adj2" fmla="val 86095"/>
            </a:avLst>
          </a:prstGeom>
          <a:solidFill>
            <a:schemeClr val="bg1">
              <a:lumMod val="85000"/>
            </a:schemeClr>
          </a:solidFill>
          <a:ln cap="sq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6" name="오른쪽 화살표 65"/>
          <p:cNvSpPr/>
          <p:nvPr/>
        </p:nvSpPr>
        <p:spPr>
          <a:xfrm rot="10800000">
            <a:off x="4220073" y="5431039"/>
            <a:ext cx="3935976" cy="627995"/>
          </a:xfrm>
          <a:prstGeom prst="rightArrow">
            <a:avLst>
              <a:gd name="adj1" fmla="val 50000"/>
              <a:gd name="adj2" fmla="val 86095"/>
            </a:avLst>
          </a:prstGeom>
          <a:solidFill>
            <a:schemeClr val="accent2">
              <a:lumMod val="60000"/>
              <a:lumOff val="40000"/>
            </a:schemeClr>
          </a:solidFill>
          <a:ln cap="sq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8" name="오른쪽 화살표 67"/>
          <p:cNvSpPr/>
          <p:nvPr/>
        </p:nvSpPr>
        <p:spPr>
          <a:xfrm>
            <a:off x="4300003" y="3285618"/>
            <a:ext cx="3935976" cy="627995"/>
          </a:xfrm>
          <a:prstGeom prst="rightArrow">
            <a:avLst>
              <a:gd name="adj1" fmla="val 50000"/>
              <a:gd name="adj2" fmla="val 86095"/>
            </a:avLst>
          </a:prstGeom>
          <a:solidFill>
            <a:schemeClr val="bg1">
              <a:lumMod val="85000"/>
            </a:schemeClr>
          </a:solidFill>
          <a:ln cap="sq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4" name="TextBox 73"/>
          <p:cNvSpPr txBox="1"/>
          <p:nvPr/>
        </p:nvSpPr>
        <p:spPr>
          <a:xfrm>
            <a:off x="9348220" y="4387500"/>
            <a:ext cx="123944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수신호스트 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560514" y="2038606"/>
            <a:ext cx="11528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AN : 6400 </a:t>
            </a:r>
            <a:r>
              <a:rPr lang="ko-KR" altLang="en-US" sz="160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 </a:t>
            </a:r>
            <a:endParaRPr lang="ko-KR" altLang="en-US" sz="1600" dirty="0">
              <a:latin typeface="Times New Roman" panose="02020603050405020304" pitchFamily="18" charset="0"/>
              <a:ea typeface="함초롬바탕" panose="02030504000101010101" pitchFamily="18" charset="-127"/>
              <a:cs typeface="Times New Roman" panose="02020603050405020304" pitchFamily="18" charset="0"/>
            </a:endParaRPr>
          </a:p>
        </p:txBody>
      </p:sp>
      <p:sp>
        <p:nvSpPr>
          <p:cNvPr id="78" name="TextBox 77"/>
          <p:cNvSpPr txBox="1"/>
          <p:nvPr/>
        </p:nvSpPr>
        <p:spPr>
          <a:xfrm>
            <a:off x="4370944" y="2707843"/>
            <a:ext cx="26212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SN : 6400 (</a:t>
            </a:r>
            <a:r>
              <a:rPr lang="en-US" altLang="ko-KR" sz="1600" dirty="0">
                <a:solidFill>
                  <a:schemeClr val="accent2"/>
                </a:solidFill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Data Size : 1000</a:t>
            </a:r>
            <a:r>
              <a:rPr lang="en-US" altLang="ko-KR" sz="16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)</a:t>
            </a:r>
            <a:r>
              <a:rPr lang="ko-KR" altLang="en-US" sz="160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 </a:t>
            </a:r>
          </a:p>
          <a:p>
            <a:endParaRPr lang="ko-KR" altLang="en-US" sz="1600" dirty="0">
              <a:latin typeface="Times New Roman" panose="02020603050405020304" pitchFamily="18" charset="0"/>
              <a:ea typeface="함초롬바탕" panose="02030504000101010101" pitchFamily="18" charset="-127"/>
              <a:cs typeface="Times New Roman" panose="02020603050405020304" pitchFamily="18" charset="0"/>
            </a:endParaRPr>
          </a:p>
        </p:txBody>
      </p:sp>
      <p:sp>
        <p:nvSpPr>
          <p:cNvPr id="79" name="TextBox 78"/>
          <p:cNvSpPr txBox="1"/>
          <p:nvPr/>
        </p:nvSpPr>
        <p:spPr>
          <a:xfrm>
            <a:off x="4787709" y="3446196"/>
            <a:ext cx="243207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SN : 7400  Data Size : 800</a:t>
            </a:r>
            <a:r>
              <a:rPr lang="ko-KR" altLang="en-US" sz="160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 </a:t>
            </a:r>
            <a:endParaRPr lang="ko-KR" altLang="en-US" sz="1600" dirty="0">
              <a:latin typeface="Times New Roman" panose="02020603050405020304" pitchFamily="18" charset="0"/>
              <a:ea typeface="함초롬바탕" panose="02030504000101010101" pitchFamily="18" charset="-127"/>
              <a:cs typeface="Times New Roman" panose="02020603050405020304" pitchFamily="18" charset="0"/>
            </a:endParaRPr>
          </a:p>
        </p:txBody>
      </p:sp>
      <p:sp>
        <p:nvSpPr>
          <p:cNvPr id="72" name="오른쪽 화살표 71"/>
          <p:cNvSpPr/>
          <p:nvPr/>
        </p:nvSpPr>
        <p:spPr>
          <a:xfrm rot="10800000">
            <a:off x="4220073" y="4640748"/>
            <a:ext cx="3935976" cy="627995"/>
          </a:xfrm>
          <a:prstGeom prst="rightArrow">
            <a:avLst>
              <a:gd name="adj1" fmla="val 50000"/>
              <a:gd name="adj2" fmla="val 86095"/>
            </a:avLst>
          </a:prstGeom>
          <a:solidFill>
            <a:schemeClr val="accent2">
              <a:lumMod val="60000"/>
              <a:lumOff val="40000"/>
            </a:schemeClr>
          </a:solidFill>
          <a:ln cap="sq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3" name="오른쪽 화살표 72"/>
          <p:cNvSpPr/>
          <p:nvPr/>
        </p:nvSpPr>
        <p:spPr>
          <a:xfrm rot="10800000">
            <a:off x="4220074" y="3907219"/>
            <a:ext cx="3935976" cy="627995"/>
          </a:xfrm>
          <a:prstGeom prst="rightArrow">
            <a:avLst>
              <a:gd name="adj1" fmla="val 50000"/>
              <a:gd name="adj2" fmla="val 86095"/>
            </a:avLst>
          </a:prstGeom>
          <a:solidFill>
            <a:schemeClr val="accent2">
              <a:lumMod val="60000"/>
              <a:lumOff val="40000"/>
            </a:schemeClr>
          </a:solidFill>
          <a:ln cap="sq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0" name="TextBox 79"/>
          <p:cNvSpPr txBox="1"/>
          <p:nvPr/>
        </p:nvSpPr>
        <p:spPr>
          <a:xfrm>
            <a:off x="5055012" y="4086625"/>
            <a:ext cx="202157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Duplicate AN(1) 6400</a:t>
            </a:r>
            <a:endParaRPr lang="ko-KR" altLang="en-US" sz="1600" dirty="0">
              <a:latin typeface="Times New Roman" panose="02020603050405020304" pitchFamily="18" charset="0"/>
              <a:ea typeface="함초롬바탕" panose="02030504000101010101" pitchFamily="18" charset="-127"/>
              <a:cs typeface="Times New Roman" panose="02020603050405020304" pitchFamily="18" charset="0"/>
            </a:endParaRPr>
          </a:p>
        </p:txBody>
      </p:sp>
      <p:sp>
        <p:nvSpPr>
          <p:cNvPr id="81" name="TextBox 80"/>
          <p:cNvSpPr txBox="1"/>
          <p:nvPr/>
        </p:nvSpPr>
        <p:spPr>
          <a:xfrm>
            <a:off x="5074602" y="4793438"/>
            <a:ext cx="202157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Duplicate AN(2) 6400</a:t>
            </a:r>
            <a:endParaRPr lang="ko-KR" altLang="en-US" sz="1600" dirty="0">
              <a:latin typeface="Times New Roman" panose="02020603050405020304" pitchFamily="18" charset="0"/>
              <a:ea typeface="함초롬바탕" panose="02030504000101010101" pitchFamily="18" charset="-127"/>
              <a:cs typeface="Times New Roman" panose="02020603050405020304" pitchFamily="18" charset="0"/>
            </a:endParaRPr>
          </a:p>
        </p:txBody>
      </p:sp>
      <p:sp>
        <p:nvSpPr>
          <p:cNvPr id="82" name="TextBox 81"/>
          <p:cNvSpPr txBox="1"/>
          <p:nvPr/>
        </p:nvSpPr>
        <p:spPr>
          <a:xfrm>
            <a:off x="5099589" y="5571565"/>
            <a:ext cx="202157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Duplicate AN(3) 6400</a:t>
            </a:r>
            <a:endParaRPr lang="ko-KR" altLang="en-US" sz="1600" dirty="0">
              <a:latin typeface="Times New Roman" panose="02020603050405020304" pitchFamily="18" charset="0"/>
              <a:ea typeface="함초롬바탕" panose="02030504000101010101" pitchFamily="18" charset="-127"/>
              <a:cs typeface="Times New Roman" panose="02020603050405020304" pitchFamily="18" charset="0"/>
            </a:endParaRPr>
          </a:p>
        </p:txBody>
      </p:sp>
      <p:sp>
        <p:nvSpPr>
          <p:cNvPr id="83" name="제목 1"/>
          <p:cNvSpPr txBox="1">
            <a:spLocks/>
          </p:cNvSpPr>
          <p:nvPr/>
        </p:nvSpPr>
        <p:spPr>
          <a:xfrm>
            <a:off x="761777" y="190283"/>
            <a:ext cx="10152349" cy="7750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2400" dirty="0">
                <a:solidFill>
                  <a:schemeClr val="tx1">
                    <a:lumMod val="85000"/>
                    <a:lumOff val="15000"/>
                  </a:schemeClr>
                </a:solidFill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❷ </a:t>
            </a:r>
            <a:r>
              <a:rPr lang="ko-KR" altLang="en-US" sz="2400">
                <a:ea typeface="함초롬바탕" panose="02030504000101010101"/>
              </a:rPr>
              <a:t>비정상적인 트래픽 전송 과정</a:t>
            </a:r>
            <a:r>
              <a:rPr lang="en-US" altLang="ko-KR" sz="2400" dirty="0">
                <a:ea typeface="함초롬바탕" panose="02030504000101010101"/>
              </a:rPr>
              <a:t>(3)</a:t>
            </a:r>
            <a:r>
              <a:rPr lang="ko-KR" altLang="en-US" sz="2400">
                <a:ea typeface="함초롬바탕" panose="02030504000101010101"/>
              </a:rPr>
              <a:t> </a:t>
            </a:r>
            <a:r>
              <a:rPr lang="en-US" altLang="ko-KR" sz="2400" dirty="0">
                <a:ea typeface="함초롬바탕" panose="02030504000101010101"/>
                <a:sym typeface="Wingdings" panose="05000000000000000000" pitchFamily="2" charset="2"/>
              </a:rPr>
              <a:t> </a:t>
            </a:r>
            <a:r>
              <a:rPr lang="en-US" altLang="ko-KR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TCP</a:t>
            </a:r>
            <a:r>
              <a:rPr lang="en-US" altLang="ko-KR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 </a:t>
            </a:r>
            <a:r>
              <a:rPr lang="ko-KR" altLang="en-US" sz="2400" b="1">
                <a:solidFill>
                  <a:schemeClr val="tx1">
                    <a:lumMod val="85000"/>
                    <a:lumOff val="15000"/>
                  </a:schemeClr>
                </a:solidFill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중복 </a:t>
            </a:r>
            <a:r>
              <a:rPr lang="en-US" altLang="ko-KR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ACK</a:t>
            </a:r>
            <a:r>
              <a:rPr lang="ko-KR" altLang="en-US" sz="2400" b="1">
                <a:solidFill>
                  <a:schemeClr val="tx1">
                    <a:lumMod val="85000"/>
                    <a:lumOff val="15000"/>
                  </a:schemeClr>
                </a:solidFill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과 빠른 재전송</a:t>
            </a:r>
            <a:endParaRPr lang="ko-KR" altLang="en-US" sz="2400" b="1" dirty="0">
              <a:solidFill>
                <a:schemeClr val="tx1">
                  <a:lumMod val="85000"/>
                  <a:lumOff val="15000"/>
                </a:schemeClr>
              </a:solidFill>
              <a:latin typeface="함초롬바탕" panose="02030504000101010101" pitchFamily="18" charset="-127"/>
              <a:ea typeface="함초롬바탕" panose="02030504000101010101" pitchFamily="18" charset="-127"/>
              <a:cs typeface="함초롬바탕" panose="02030504000101010101" pitchFamily="18" charset="-127"/>
            </a:endParaRPr>
          </a:p>
        </p:txBody>
      </p:sp>
      <p:sp>
        <p:nvSpPr>
          <p:cNvPr id="76" name="직사각형 75"/>
          <p:cNvSpPr/>
          <p:nvPr/>
        </p:nvSpPr>
        <p:spPr>
          <a:xfrm>
            <a:off x="2702570" y="2507396"/>
            <a:ext cx="803409" cy="39750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4" dirty="0">
                <a:latin typeface="Times New Roman" panose="02020603050405020304" pitchFamily="18" charset="0"/>
                <a:cs typeface="Times New Roman" panose="02020603050405020304" pitchFamily="18" charset="0"/>
              </a:rPr>
              <a:t>1400</a:t>
            </a:r>
            <a:endParaRPr lang="ko-KR" altLang="en-US" sz="1504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4" name="직사각형 83"/>
          <p:cNvSpPr/>
          <p:nvPr/>
        </p:nvSpPr>
        <p:spPr>
          <a:xfrm>
            <a:off x="1808956" y="2507396"/>
            <a:ext cx="803409" cy="397508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4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1000</a:t>
            </a:r>
            <a:endParaRPr lang="ko-KR" altLang="en-US" sz="1504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5" name="TextBox 84"/>
          <p:cNvSpPr txBox="1"/>
          <p:nvPr/>
        </p:nvSpPr>
        <p:spPr>
          <a:xfrm>
            <a:off x="2739175" y="2232281"/>
            <a:ext cx="763351" cy="2723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17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SN=5000</a:t>
            </a:r>
            <a:endParaRPr lang="ko-KR" altLang="en-US" sz="117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6" name="TextBox 85"/>
          <p:cNvSpPr txBox="1"/>
          <p:nvPr/>
        </p:nvSpPr>
        <p:spPr>
          <a:xfrm>
            <a:off x="1862389" y="2231637"/>
            <a:ext cx="763351" cy="2723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17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SN=6400</a:t>
            </a:r>
            <a:endParaRPr lang="ko-KR" altLang="en-US" sz="117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7" name="TextBox 60"/>
          <p:cNvSpPr txBox="1">
            <a:spLocks noChangeArrowheads="1"/>
          </p:cNvSpPr>
          <p:nvPr/>
        </p:nvSpPr>
        <p:spPr bwMode="auto">
          <a:xfrm>
            <a:off x="5265465" y="1329259"/>
            <a:ext cx="2390398" cy="3196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1pPr>
            <a:lvl2pPr marL="742950" indent="-285750"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2pPr>
            <a:lvl3pPr marL="1143000" indent="-228600"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3pPr>
            <a:lvl4pPr marL="1600200" indent="-228600"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4pPr>
            <a:lvl5pPr marL="2057400" indent="-228600"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9pPr>
          </a:lstStyle>
          <a:p>
            <a:r>
              <a:rPr lang="en-US" altLang="ko-KR" sz="1477" dirty="0">
                <a:latin typeface="Times New Roman" panose="02020603050405020304" pitchFamily="18" charset="0"/>
                <a:cs typeface="Times New Roman" panose="02020603050405020304" pitchFamily="18" charset="0"/>
              </a:rPr>
              <a:t>SN=</a:t>
            </a:r>
            <a:r>
              <a:rPr lang="en-US" altLang="ko-KR" sz="1477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5000 (</a:t>
            </a:r>
            <a:r>
              <a:rPr lang="en-US" altLang="ko-KR" sz="1477" dirty="0">
                <a:solidFill>
                  <a:schemeClr val="accent2"/>
                </a:solidFill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Data Size : 1400</a:t>
            </a:r>
            <a:r>
              <a:rPr lang="en-US" altLang="ko-KR" sz="1477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)</a:t>
            </a:r>
            <a:r>
              <a:rPr lang="ko-KR" altLang="en-US" sz="1477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 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16002" y="2228260"/>
            <a:ext cx="763351" cy="2723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17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SN=7400</a:t>
            </a:r>
            <a:endParaRPr lang="ko-KR" altLang="en-US" sz="117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0" name="직사각형 89"/>
          <p:cNvSpPr/>
          <p:nvPr/>
        </p:nvSpPr>
        <p:spPr>
          <a:xfrm>
            <a:off x="875944" y="2519290"/>
            <a:ext cx="803409" cy="397508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4" dirty="0">
                <a:latin typeface="Times New Roman" panose="02020603050405020304" pitchFamily="18" charset="0"/>
                <a:cs typeface="Times New Roman" panose="02020603050405020304" pitchFamily="18" charset="0"/>
              </a:rPr>
              <a:t>800</a:t>
            </a:r>
            <a:endParaRPr lang="ko-KR" altLang="en-US" sz="1504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1" name="폭발 1 90"/>
          <p:cNvSpPr/>
          <p:nvPr/>
        </p:nvSpPr>
        <p:spPr>
          <a:xfrm>
            <a:off x="7076559" y="2469329"/>
            <a:ext cx="807436" cy="706776"/>
          </a:xfrm>
          <a:prstGeom prst="irregularSeal1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3" name="TextBox 92"/>
          <p:cNvSpPr txBox="1"/>
          <p:nvPr/>
        </p:nvSpPr>
        <p:spPr>
          <a:xfrm>
            <a:off x="10698700" y="2375885"/>
            <a:ext cx="763351" cy="2723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17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SN=5000</a:t>
            </a:r>
            <a:endParaRPr lang="ko-KR" altLang="en-US" sz="117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5" name="TextBox 94"/>
          <p:cNvSpPr txBox="1"/>
          <p:nvPr/>
        </p:nvSpPr>
        <p:spPr>
          <a:xfrm>
            <a:off x="8827425" y="2403846"/>
            <a:ext cx="763351" cy="2723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17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SN=7400</a:t>
            </a:r>
            <a:endParaRPr lang="ko-KR" altLang="en-US" sz="117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6" name="직사각형 95"/>
          <p:cNvSpPr/>
          <p:nvPr/>
        </p:nvSpPr>
        <p:spPr>
          <a:xfrm>
            <a:off x="9729970" y="2670215"/>
            <a:ext cx="803409" cy="397508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504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7" name="TextBox 96"/>
          <p:cNvSpPr txBox="1"/>
          <p:nvPr/>
        </p:nvSpPr>
        <p:spPr>
          <a:xfrm>
            <a:off x="9704273" y="2393745"/>
            <a:ext cx="763351" cy="2723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17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SN=6400</a:t>
            </a:r>
            <a:endParaRPr lang="ko-KR" altLang="en-US" sz="117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8" name="직사각형 97"/>
          <p:cNvSpPr/>
          <p:nvPr/>
        </p:nvSpPr>
        <p:spPr>
          <a:xfrm>
            <a:off x="8807395" y="2677357"/>
            <a:ext cx="803409" cy="397508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4" dirty="0">
                <a:latin typeface="Times New Roman" panose="02020603050405020304" pitchFamily="18" charset="0"/>
                <a:cs typeface="Times New Roman" panose="02020603050405020304" pitchFamily="18" charset="0"/>
              </a:rPr>
              <a:t>800</a:t>
            </a:r>
            <a:endParaRPr lang="ko-KR" altLang="en-US" sz="1504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9" name="오른쪽 화살표 98"/>
          <p:cNvSpPr/>
          <p:nvPr/>
        </p:nvSpPr>
        <p:spPr>
          <a:xfrm>
            <a:off x="4319839" y="6059035"/>
            <a:ext cx="3935976" cy="627995"/>
          </a:xfrm>
          <a:prstGeom prst="rightArrow">
            <a:avLst>
              <a:gd name="adj1" fmla="val 50000"/>
              <a:gd name="adj2" fmla="val 86095"/>
            </a:avLst>
          </a:prstGeom>
          <a:solidFill>
            <a:schemeClr val="bg1">
              <a:lumMod val="85000"/>
            </a:schemeClr>
          </a:solidFill>
          <a:ln cap="sq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0" name="TextBox 60"/>
          <p:cNvSpPr txBox="1">
            <a:spLocks noChangeArrowheads="1"/>
          </p:cNvSpPr>
          <p:nvPr/>
        </p:nvSpPr>
        <p:spPr bwMode="auto">
          <a:xfrm>
            <a:off x="5216421" y="6199561"/>
            <a:ext cx="2390398" cy="3196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1pPr>
            <a:lvl2pPr marL="742950" indent="-285750"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2pPr>
            <a:lvl3pPr marL="1143000" indent="-228600"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3pPr>
            <a:lvl4pPr marL="1600200" indent="-228600"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4pPr>
            <a:lvl5pPr marL="2057400" indent="-228600"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9pPr>
          </a:lstStyle>
          <a:p>
            <a:r>
              <a:rPr lang="en-US" altLang="ko-KR" sz="1477" dirty="0">
                <a:latin typeface="Times New Roman" panose="02020603050405020304" pitchFamily="18" charset="0"/>
                <a:cs typeface="Times New Roman" panose="02020603050405020304" pitchFamily="18" charset="0"/>
              </a:rPr>
              <a:t>SN=</a:t>
            </a:r>
            <a:r>
              <a:rPr lang="en-US" altLang="ko-KR" sz="1477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6400 (</a:t>
            </a:r>
            <a:r>
              <a:rPr lang="en-US" altLang="ko-KR" sz="1477" dirty="0">
                <a:solidFill>
                  <a:schemeClr val="accent2"/>
                </a:solidFill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Data Size : 1000</a:t>
            </a:r>
            <a:r>
              <a:rPr lang="en-US" altLang="ko-KR" sz="1477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)</a:t>
            </a:r>
            <a:r>
              <a:rPr lang="ko-KR" altLang="en-US" sz="1477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 </a:t>
            </a:r>
          </a:p>
        </p:txBody>
      </p:sp>
      <p:sp>
        <p:nvSpPr>
          <p:cNvPr id="94" name="직사각형 93"/>
          <p:cNvSpPr/>
          <p:nvPr/>
        </p:nvSpPr>
        <p:spPr>
          <a:xfrm>
            <a:off x="10719820" y="2677357"/>
            <a:ext cx="803409" cy="39750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4" dirty="0">
                <a:latin typeface="Times New Roman" panose="02020603050405020304" pitchFamily="18" charset="0"/>
                <a:cs typeface="Times New Roman" panose="02020603050405020304" pitchFamily="18" charset="0"/>
              </a:rPr>
              <a:t>1400</a:t>
            </a:r>
            <a:endParaRPr lang="ko-KR" altLang="en-US" sz="1504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2" name="TextBox 91"/>
          <p:cNvSpPr txBox="1"/>
          <p:nvPr/>
        </p:nvSpPr>
        <p:spPr>
          <a:xfrm>
            <a:off x="916002" y="1103446"/>
            <a:ext cx="31694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b="1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(</a:t>
            </a:r>
            <a:r>
              <a:rPr lang="ko-KR" altLang="en-US" b="1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예</a:t>
            </a:r>
            <a:r>
              <a:rPr lang="en-US" altLang="ko-KR" b="1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) </a:t>
            </a:r>
            <a:r>
              <a:rPr lang="ko-KR" altLang="en-US" b="1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수신측에서 재전송 요청  </a:t>
            </a:r>
          </a:p>
        </p:txBody>
      </p:sp>
    </p:spTree>
    <p:extLst>
      <p:ext uri="{BB962C8B-B14F-4D97-AF65-F5344CB8AC3E}">
        <p14:creationId xmlns:p14="http://schemas.microsoft.com/office/powerpoint/2010/main" val="99421460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>
          <a:xfrm>
            <a:off x="9131930" y="6381352"/>
            <a:ext cx="2743200" cy="365125"/>
          </a:xfrm>
        </p:spPr>
        <p:txBody>
          <a:bodyPr/>
          <a:lstStyle/>
          <a:p>
            <a:fld id="{B1F5DBBF-35D1-4D56-BF8F-CD0D3754FCBA}" type="slidenum">
              <a:rPr lang="ko-KR" altLang="en-US" smtClean="0"/>
              <a:pPr/>
              <a:t>25</a:t>
            </a:fld>
            <a:endParaRPr lang="en-US" altLang="ko-KR"/>
          </a:p>
        </p:txBody>
      </p:sp>
      <p:grpSp>
        <p:nvGrpSpPr>
          <p:cNvPr id="6" name="그룹 5"/>
          <p:cNvGrpSpPr/>
          <p:nvPr/>
        </p:nvGrpSpPr>
        <p:grpSpPr>
          <a:xfrm flipH="1">
            <a:off x="9398230" y="2989066"/>
            <a:ext cx="941018" cy="1020399"/>
            <a:chOff x="1533695" y="4087365"/>
            <a:chExt cx="838200" cy="1007923"/>
          </a:xfrm>
        </p:grpSpPr>
        <p:sp>
          <p:nvSpPr>
            <p:cNvPr id="7" name="Freeform 174"/>
            <p:cNvSpPr>
              <a:spLocks/>
            </p:cNvSpPr>
            <p:nvPr/>
          </p:nvSpPr>
          <p:spPr bwMode="auto">
            <a:xfrm rot="355818">
              <a:off x="2175045" y="4754115"/>
              <a:ext cx="74613" cy="52387"/>
            </a:xfrm>
            <a:custGeom>
              <a:avLst/>
              <a:gdLst>
                <a:gd name="T0" fmla="*/ 1224 w 1224"/>
                <a:gd name="T1" fmla="*/ 755 h 755"/>
                <a:gd name="T2" fmla="*/ 1112 w 1224"/>
                <a:gd name="T3" fmla="*/ 716 h 755"/>
                <a:gd name="T4" fmla="*/ 1051 w 1224"/>
                <a:gd name="T5" fmla="*/ 693 h 755"/>
                <a:gd name="T6" fmla="*/ 1006 w 1224"/>
                <a:gd name="T7" fmla="*/ 671 h 755"/>
                <a:gd name="T8" fmla="*/ 984 w 1224"/>
                <a:gd name="T9" fmla="*/ 660 h 755"/>
                <a:gd name="T10" fmla="*/ 939 w 1224"/>
                <a:gd name="T11" fmla="*/ 626 h 755"/>
                <a:gd name="T12" fmla="*/ 894 w 1224"/>
                <a:gd name="T13" fmla="*/ 548 h 755"/>
                <a:gd name="T14" fmla="*/ 889 w 1224"/>
                <a:gd name="T15" fmla="*/ 531 h 755"/>
                <a:gd name="T16" fmla="*/ 850 w 1224"/>
                <a:gd name="T17" fmla="*/ 509 h 755"/>
                <a:gd name="T18" fmla="*/ 799 w 1224"/>
                <a:gd name="T19" fmla="*/ 481 h 755"/>
                <a:gd name="T20" fmla="*/ 704 w 1224"/>
                <a:gd name="T21" fmla="*/ 453 h 755"/>
                <a:gd name="T22" fmla="*/ 419 w 1224"/>
                <a:gd name="T23" fmla="*/ 442 h 755"/>
                <a:gd name="T24" fmla="*/ 330 w 1224"/>
                <a:gd name="T25" fmla="*/ 408 h 755"/>
                <a:gd name="T26" fmla="*/ 212 w 1224"/>
                <a:gd name="T27" fmla="*/ 279 h 755"/>
                <a:gd name="T28" fmla="*/ 145 w 1224"/>
                <a:gd name="T29" fmla="*/ 134 h 755"/>
                <a:gd name="T30" fmla="*/ 78 w 1224"/>
                <a:gd name="T31" fmla="*/ 39 h 755"/>
                <a:gd name="T32" fmla="*/ 0 w 1224"/>
                <a:gd name="T33" fmla="*/ 0 h 755"/>
                <a:gd name="T34" fmla="*/ 0 60000 65536"/>
                <a:gd name="T35" fmla="*/ 0 60000 65536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w 1224"/>
                <a:gd name="T52" fmla="*/ 0 h 755"/>
                <a:gd name="T53" fmla="*/ 1224 w 1224"/>
                <a:gd name="T54" fmla="*/ 755 h 755"/>
              </a:gdLst>
              <a:ahLst/>
              <a:cxnLst>
                <a:cxn ang="T34">
                  <a:pos x="T0" y="T1"/>
                </a:cxn>
                <a:cxn ang="T35">
                  <a:pos x="T2" y="T3"/>
                </a:cxn>
                <a:cxn ang="T36">
                  <a:pos x="T4" y="T5"/>
                </a:cxn>
                <a:cxn ang="T37">
                  <a:pos x="T6" y="T7"/>
                </a:cxn>
                <a:cxn ang="T38">
                  <a:pos x="T8" y="T9"/>
                </a:cxn>
                <a:cxn ang="T39">
                  <a:pos x="T10" y="T11"/>
                </a:cxn>
                <a:cxn ang="T40">
                  <a:pos x="T12" y="T13"/>
                </a:cxn>
                <a:cxn ang="T41">
                  <a:pos x="T14" y="T15"/>
                </a:cxn>
                <a:cxn ang="T42">
                  <a:pos x="T16" y="T17"/>
                </a:cxn>
                <a:cxn ang="T43">
                  <a:pos x="T18" y="T19"/>
                </a:cxn>
                <a:cxn ang="T44">
                  <a:pos x="T20" y="T21"/>
                </a:cxn>
                <a:cxn ang="T45">
                  <a:pos x="T22" y="T23"/>
                </a:cxn>
                <a:cxn ang="T46">
                  <a:pos x="T24" y="T25"/>
                </a:cxn>
                <a:cxn ang="T47">
                  <a:pos x="T26" y="T27"/>
                </a:cxn>
                <a:cxn ang="T48">
                  <a:pos x="T28" y="T29"/>
                </a:cxn>
                <a:cxn ang="T49">
                  <a:pos x="T30" y="T31"/>
                </a:cxn>
                <a:cxn ang="T50">
                  <a:pos x="T32" y="T33"/>
                </a:cxn>
              </a:cxnLst>
              <a:rect l="T51" t="T52" r="T53" b="T54"/>
              <a:pathLst>
                <a:path w="1224" h="755">
                  <a:moveTo>
                    <a:pt x="1224" y="755"/>
                  </a:moveTo>
                  <a:cubicBezTo>
                    <a:pt x="1190" y="729"/>
                    <a:pt x="1154" y="724"/>
                    <a:pt x="1112" y="716"/>
                  </a:cubicBezTo>
                  <a:cubicBezTo>
                    <a:pt x="1091" y="705"/>
                    <a:pt x="1072" y="702"/>
                    <a:pt x="1051" y="693"/>
                  </a:cubicBezTo>
                  <a:cubicBezTo>
                    <a:pt x="1036" y="686"/>
                    <a:pt x="1021" y="678"/>
                    <a:pt x="1006" y="671"/>
                  </a:cubicBezTo>
                  <a:cubicBezTo>
                    <a:pt x="999" y="667"/>
                    <a:pt x="984" y="660"/>
                    <a:pt x="984" y="660"/>
                  </a:cubicBezTo>
                  <a:cubicBezTo>
                    <a:pt x="971" y="646"/>
                    <a:pt x="939" y="626"/>
                    <a:pt x="939" y="626"/>
                  </a:cubicBezTo>
                  <a:cubicBezTo>
                    <a:pt x="923" y="602"/>
                    <a:pt x="906" y="575"/>
                    <a:pt x="894" y="548"/>
                  </a:cubicBezTo>
                  <a:cubicBezTo>
                    <a:pt x="892" y="543"/>
                    <a:pt x="893" y="536"/>
                    <a:pt x="889" y="531"/>
                  </a:cubicBezTo>
                  <a:cubicBezTo>
                    <a:pt x="884" y="524"/>
                    <a:pt x="855" y="512"/>
                    <a:pt x="850" y="509"/>
                  </a:cubicBezTo>
                  <a:cubicBezTo>
                    <a:pt x="802" y="480"/>
                    <a:pt x="833" y="491"/>
                    <a:pt x="799" y="481"/>
                  </a:cubicBezTo>
                  <a:cubicBezTo>
                    <a:pt x="764" y="457"/>
                    <a:pt x="751" y="457"/>
                    <a:pt x="704" y="453"/>
                  </a:cubicBezTo>
                  <a:cubicBezTo>
                    <a:pt x="606" y="457"/>
                    <a:pt x="515" y="459"/>
                    <a:pt x="419" y="442"/>
                  </a:cubicBezTo>
                  <a:cubicBezTo>
                    <a:pt x="391" y="426"/>
                    <a:pt x="360" y="419"/>
                    <a:pt x="330" y="408"/>
                  </a:cubicBezTo>
                  <a:cubicBezTo>
                    <a:pt x="287" y="368"/>
                    <a:pt x="245" y="328"/>
                    <a:pt x="212" y="279"/>
                  </a:cubicBezTo>
                  <a:cubicBezTo>
                    <a:pt x="183" y="235"/>
                    <a:pt x="168" y="181"/>
                    <a:pt x="145" y="134"/>
                  </a:cubicBezTo>
                  <a:cubicBezTo>
                    <a:pt x="128" y="100"/>
                    <a:pt x="99" y="71"/>
                    <a:pt x="78" y="39"/>
                  </a:cubicBezTo>
                  <a:cubicBezTo>
                    <a:pt x="70" y="27"/>
                    <a:pt x="15" y="7"/>
                    <a:pt x="0" y="0"/>
                  </a:cubicBezTo>
                </a:path>
              </a:pathLst>
            </a:custGeom>
            <a:noFill/>
            <a:ln w="12700">
              <a:solidFill>
                <a:srgbClr val="969696"/>
              </a:solidFill>
              <a:round/>
              <a:headEnd/>
              <a:tailEnd/>
            </a:ln>
          </p:spPr>
          <p:txBody>
            <a:bodyPr/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8" name="Freeform 175"/>
            <p:cNvSpPr>
              <a:spLocks/>
            </p:cNvSpPr>
            <p:nvPr/>
          </p:nvSpPr>
          <p:spPr bwMode="auto">
            <a:xfrm rot="355818" flipH="1">
              <a:off x="2235370" y="4801740"/>
              <a:ext cx="136525" cy="82550"/>
            </a:xfrm>
            <a:custGeom>
              <a:avLst/>
              <a:gdLst>
                <a:gd name="T0" fmla="*/ 886 w 971"/>
                <a:gd name="T1" fmla="*/ 33 h 550"/>
                <a:gd name="T2" fmla="*/ 937 w 971"/>
                <a:gd name="T3" fmla="*/ 70 h 550"/>
                <a:gd name="T4" fmla="*/ 971 w 971"/>
                <a:gd name="T5" fmla="*/ 130 h 550"/>
                <a:gd name="T6" fmla="*/ 967 w 971"/>
                <a:gd name="T7" fmla="*/ 218 h 550"/>
                <a:gd name="T8" fmla="*/ 882 w 971"/>
                <a:gd name="T9" fmla="*/ 261 h 550"/>
                <a:gd name="T10" fmla="*/ 791 w 971"/>
                <a:gd name="T11" fmla="*/ 294 h 550"/>
                <a:gd name="T12" fmla="*/ 665 w 971"/>
                <a:gd name="T13" fmla="*/ 382 h 550"/>
                <a:gd name="T14" fmla="*/ 519 w 971"/>
                <a:gd name="T15" fmla="*/ 522 h 550"/>
                <a:gd name="T16" fmla="*/ 397 w 971"/>
                <a:gd name="T17" fmla="*/ 542 h 550"/>
                <a:gd name="T18" fmla="*/ 298 w 971"/>
                <a:gd name="T19" fmla="*/ 550 h 550"/>
                <a:gd name="T20" fmla="*/ 155 w 971"/>
                <a:gd name="T21" fmla="*/ 522 h 550"/>
                <a:gd name="T22" fmla="*/ 34 w 971"/>
                <a:gd name="T23" fmla="*/ 459 h 550"/>
                <a:gd name="T24" fmla="*/ 0 w 971"/>
                <a:gd name="T25" fmla="*/ 393 h 550"/>
                <a:gd name="T26" fmla="*/ 11 w 971"/>
                <a:gd name="T27" fmla="*/ 315 h 550"/>
                <a:gd name="T28" fmla="*/ 63 w 971"/>
                <a:gd name="T29" fmla="*/ 210 h 550"/>
                <a:gd name="T30" fmla="*/ 142 w 971"/>
                <a:gd name="T31" fmla="*/ 147 h 550"/>
                <a:gd name="T32" fmla="*/ 246 w 971"/>
                <a:gd name="T33" fmla="*/ 89 h 550"/>
                <a:gd name="T34" fmla="*/ 445 w 971"/>
                <a:gd name="T35" fmla="*/ 21 h 550"/>
                <a:gd name="T36" fmla="*/ 634 w 971"/>
                <a:gd name="T37" fmla="*/ 0 h 550"/>
                <a:gd name="T38" fmla="*/ 794 w 971"/>
                <a:gd name="T39" fmla="*/ 13 h 550"/>
                <a:gd name="T40" fmla="*/ 886 w 971"/>
                <a:gd name="T41" fmla="*/ 33 h 550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60000 65536"/>
                <a:gd name="T55" fmla="*/ 0 60000 65536"/>
                <a:gd name="T56" fmla="*/ 0 60000 65536"/>
                <a:gd name="T57" fmla="*/ 0 60000 65536"/>
                <a:gd name="T58" fmla="*/ 0 60000 65536"/>
                <a:gd name="T59" fmla="*/ 0 60000 65536"/>
                <a:gd name="T60" fmla="*/ 0 60000 65536"/>
                <a:gd name="T61" fmla="*/ 0 60000 65536"/>
                <a:gd name="T62" fmla="*/ 0 60000 65536"/>
                <a:gd name="T63" fmla="*/ 0 w 971"/>
                <a:gd name="T64" fmla="*/ 0 h 550"/>
                <a:gd name="T65" fmla="*/ 971 w 971"/>
                <a:gd name="T66" fmla="*/ 550 h 550"/>
              </a:gdLst>
              <a:ahLst/>
              <a:cxnLst>
                <a:cxn ang="T42">
                  <a:pos x="T0" y="T1"/>
                </a:cxn>
                <a:cxn ang="T43">
                  <a:pos x="T2" y="T3"/>
                </a:cxn>
                <a:cxn ang="T44">
                  <a:pos x="T4" y="T5"/>
                </a:cxn>
                <a:cxn ang="T45">
                  <a:pos x="T6" y="T7"/>
                </a:cxn>
                <a:cxn ang="T46">
                  <a:pos x="T8" y="T9"/>
                </a:cxn>
                <a:cxn ang="T47">
                  <a:pos x="T10" y="T11"/>
                </a:cxn>
                <a:cxn ang="T48">
                  <a:pos x="T12" y="T13"/>
                </a:cxn>
                <a:cxn ang="T49">
                  <a:pos x="T14" y="T15"/>
                </a:cxn>
                <a:cxn ang="T50">
                  <a:pos x="T16" y="T17"/>
                </a:cxn>
                <a:cxn ang="T51">
                  <a:pos x="T18" y="T19"/>
                </a:cxn>
                <a:cxn ang="T52">
                  <a:pos x="T20" y="T21"/>
                </a:cxn>
                <a:cxn ang="T53">
                  <a:pos x="T22" y="T23"/>
                </a:cxn>
                <a:cxn ang="T54">
                  <a:pos x="T24" y="T25"/>
                </a:cxn>
                <a:cxn ang="T55">
                  <a:pos x="T26" y="T27"/>
                </a:cxn>
                <a:cxn ang="T56">
                  <a:pos x="T28" y="T29"/>
                </a:cxn>
                <a:cxn ang="T57">
                  <a:pos x="T30" y="T31"/>
                </a:cxn>
                <a:cxn ang="T58">
                  <a:pos x="T32" y="T33"/>
                </a:cxn>
                <a:cxn ang="T59">
                  <a:pos x="T34" y="T35"/>
                </a:cxn>
                <a:cxn ang="T60">
                  <a:pos x="T36" y="T37"/>
                </a:cxn>
                <a:cxn ang="T61">
                  <a:pos x="T38" y="T39"/>
                </a:cxn>
                <a:cxn ang="T62">
                  <a:pos x="T40" y="T41"/>
                </a:cxn>
              </a:cxnLst>
              <a:rect l="T63" t="T64" r="T65" b="T66"/>
              <a:pathLst>
                <a:path w="971" h="550">
                  <a:moveTo>
                    <a:pt x="886" y="33"/>
                  </a:moveTo>
                  <a:lnTo>
                    <a:pt x="937" y="70"/>
                  </a:lnTo>
                  <a:lnTo>
                    <a:pt x="971" y="130"/>
                  </a:lnTo>
                  <a:lnTo>
                    <a:pt x="967" y="218"/>
                  </a:lnTo>
                  <a:lnTo>
                    <a:pt x="882" y="261"/>
                  </a:lnTo>
                  <a:lnTo>
                    <a:pt x="791" y="294"/>
                  </a:lnTo>
                  <a:lnTo>
                    <a:pt x="665" y="382"/>
                  </a:lnTo>
                  <a:lnTo>
                    <a:pt x="519" y="522"/>
                  </a:lnTo>
                  <a:lnTo>
                    <a:pt x="397" y="542"/>
                  </a:lnTo>
                  <a:lnTo>
                    <a:pt x="298" y="550"/>
                  </a:lnTo>
                  <a:lnTo>
                    <a:pt x="155" y="522"/>
                  </a:lnTo>
                  <a:lnTo>
                    <a:pt x="34" y="459"/>
                  </a:lnTo>
                  <a:lnTo>
                    <a:pt x="0" y="393"/>
                  </a:lnTo>
                  <a:lnTo>
                    <a:pt x="11" y="315"/>
                  </a:lnTo>
                  <a:lnTo>
                    <a:pt x="63" y="210"/>
                  </a:lnTo>
                  <a:lnTo>
                    <a:pt x="142" y="147"/>
                  </a:lnTo>
                  <a:lnTo>
                    <a:pt x="246" y="89"/>
                  </a:lnTo>
                  <a:lnTo>
                    <a:pt x="445" y="21"/>
                  </a:lnTo>
                  <a:lnTo>
                    <a:pt x="634" y="0"/>
                  </a:lnTo>
                  <a:lnTo>
                    <a:pt x="794" y="13"/>
                  </a:lnTo>
                  <a:lnTo>
                    <a:pt x="886" y="33"/>
                  </a:lnTo>
                  <a:close/>
                </a:path>
              </a:pathLst>
            </a:custGeom>
            <a:gradFill rotWithShape="1">
              <a:gsLst>
                <a:gs pos="0">
                  <a:srgbClr val="EAEAEA"/>
                </a:gs>
                <a:gs pos="50000">
                  <a:srgbClr val="FFFFFF"/>
                </a:gs>
                <a:gs pos="100000">
                  <a:srgbClr val="EAEAEA"/>
                </a:gs>
              </a:gsLst>
              <a:lin ang="2700000" scaled="1"/>
            </a:gradFill>
            <a:ln w="9525">
              <a:solidFill>
                <a:srgbClr val="808080"/>
              </a:solidFill>
              <a:round/>
              <a:headEnd/>
              <a:tailEnd/>
            </a:ln>
          </p:spPr>
          <p:txBody>
            <a:bodyPr/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9" name="Freeform 176"/>
            <p:cNvSpPr>
              <a:spLocks/>
            </p:cNvSpPr>
            <p:nvPr/>
          </p:nvSpPr>
          <p:spPr bwMode="auto">
            <a:xfrm rot="355818">
              <a:off x="2229020" y="4830315"/>
              <a:ext cx="134938" cy="58737"/>
            </a:xfrm>
            <a:custGeom>
              <a:avLst/>
              <a:gdLst>
                <a:gd name="T0" fmla="*/ 0 w 1432"/>
                <a:gd name="T1" fmla="*/ 0 h 526"/>
                <a:gd name="T2" fmla="*/ 56 w 1432"/>
                <a:gd name="T3" fmla="*/ 118 h 526"/>
                <a:gd name="T4" fmla="*/ 319 w 1432"/>
                <a:gd name="T5" fmla="*/ 302 h 526"/>
                <a:gd name="T6" fmla="*/ 604 w 1432"/>
                <a:gd name="T7" fmla="*/ 448 h 526"/>
                <a:gd name="T8" fmla="*/ 867 w 1432"/>
                <a:gd name="T9" fmla="*/ 526 h 526"/>
                <a:gd name="T10" fmla="*/ 1091 w 1432"/>
                <a:gd name="T11" fmla="*/ 504 h 526"/>
                <a:gd name="T12" fmla="*/ 1270 w 1432"/>
                <a:gd name="T13" fmla="*/ 448 h 526"/>
                <a:gd name="T14" fmla="*/ 1432 w 1432"/>
                <a:gd name="T15" fmla="*/ 353 h 526"/>
                <a:gd name="T16" fmla="*/ 1253 w 1432"/>
                <a:gd name="T17" fmla="*/ 431 h 526"/>
                <a:gd name="T18" fmla="*/ 1108 w 1432"/>
                <a:gd name="T19" fmla="*/ 470 h 526"/>
                <a:gd name="T20" fmla="*/ 951 w 1432"/>
                <a:gd name="T21" fmla="*/ 470 h 526"/>
                <a:gd name="T22" fmla="*/ 789 w 1432"/>
                <a:gd name="T23" fmla="*/ 453 h 526"/>
                <a:gd name="T24" fmla="*/ 699 w 1432"/>
                <a:gd name="T25" fmla="*/ 420 h 526"/>
                <a:gd name="T26" fmla="*/ 560 w 1432"/>
                <a:gd name="T27" fmla="*/ 330 h 526"/>
                <a:gd name="T28" fmla="*/ 437 w 1432"/>
                <a:gd name="T29" fmla="*/ 213 h 526"/>
                <a:gd name="T30" fmla="*/ 274 w 1432"/>
                <a:gd name="T31" fmla="*/ 129 h 526"/>
                <a:gd name="T32" fmla="*/ 140 w 1432"/>
                <a:gd name="T33" fmla="*/ 73 h 526"/>
                <a:gd name="T34" fmla="*/ 0 w 1432"/>
                <a:gd name="T35" fmla="*/ 0 h 526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w 1432"/>
                <a:gd name="T55" fmla="*/ 0 h 526"/>
                <a:gd name="T56" fmla="*/ 1432 w 1432"/>
                <a:gd name="T57" fmla="*/ 526 h 526"/>
              </a:gdLst>
              <a:ahLst/>
              <a:cxnLst>
                <a:cxn ang="T36">
                  <a:pos x="T0" y="T1"/>
                </a:cxn>
                <a:cxn ang="T37">
                  <a:pos x="T2" y="T3"/>
                </a:cxn>
                <a:cxn ang="T38">
                  <a:pos x="T4" y="T5"/>
                </a:cxn>
                <a:cxn ang="T39">
                  <a:pos x="T6" y="T7"/>
                </a:cxn>
                <a:cxn ang="T40">
                  <a:pos x="T8" y="T9"/>
                </a:cxn>
                <a:cxn ang="T41">
                  <a:pos x="T10" y="T11"/>
                </a:cxn>
                <a:cxn ang="T42">
                  <a:pos x="T12" y="T13"/>
                </a:cxn>
                <a:cxn ang="T43">
                  <a:pos x="T14" y="T15"/>
                </a:cxn>
                <a:cxn ang="T44">
                  <a:pos x="T16" y="T17"/>
                </a:cxn>
                <a:cxn ang="T45">
                  <a:pos x="T18" y="T19"/>
                </a:cxn>
                <a:cxn ang="T46">
                  <a:pos x="T20" y="T21"/>
                </a:cxn>
                <a:cxn ang="T47">
                  <a:pos x="T22" y="T23"/>
                </a:cxn>
                <a:cxn ang="T48">
                  <a:pos x="T24" y="T25"/>
                </a:cxn>
                <a:cxn ang="T49">
                  <a:pos x="T26" y="T27"/>
                </a:cxn>
                <a:cxn ang="T50">
                  <a:pos x="T28" y="T29"/>
                </a:cxn>
                <a:cxn ang="T51">
                  <a:pos x="T30" y="T31"/>
                </a:cxn>
                <a:cxn ang="T52">
                  <a:pos x="T32" y="T33"/>
                </a:cxn>
                <a:cxn ang="T53">
                  <a:pos x="T34" y="T35"/>
                </a:cxn>
              </a:cxnLst>
              <a:rect l="T54" t="T55" r="T56" b="T57"/>
              <a:pathLst>
                <a:path w="1432" h="526">
                  <a:moveTo>
                    <a:pt x="0" y="0"/>
                  </a:moveTo>
                  <a:lnTo>
                    <a:pt x="56" y="118"/>
                  </a:lnTo>
                  <a:lnTo>
                    <a:pt x="319" y="302"/>
                  </a:lnTo>
                  <a:lnTo>
                    <a:pt x="604" y="448"/>
                  </a:lnTo>
                  <a:lnTo>
                    <a:pt x="867" y="526"/>
                  </a:lnTo>
                  <a:lnTo>
                    <a:pt x="1091" y="504"/>
                  </a:lnTo>
                  <a:lnTo>
                    <a:pt x="1270" y="448"/>
                  </a:lnTo>
                  <a:lnTo>
                    <a:pt x="1432" y="353"/>
                  </a:lnTo>
                  <a:lnTo>
                    <a:pt x="1253" y="431"/>
                  </a:lnTo>
                  <a:lnTo>
                    <a:pt x="1108" y="470"/>
                  </a:lnTo>
                  <a:lnTo>
                    <a:pt x="951" y="470"/>
                  </a:lnTo>
                  <a:lnTo>
                    <a:pt x="789" y="453"/>
                  </a:lnTo>
                  <a:lnTo>
                    <a:pt x="699" y="420"/>
                  </a:lnTo>
                  <a:lnTo>
                    <a:pt x="560" y="330"/>
                  </a:lnTo>
                  <a:lnTo>
                    <a:pt x="437" y="213"/>
                  </a:lnTo>
                  <a:lnTo>
                    <a:pt x="274" y="129"/>
                  </a:lnTo>
                  <a:lnTo>
                    <a:pt x="140" y="73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969696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rgbClr val="808080"/>
              </a:solidFill>
              <a:round/>
              <a:headEnd/>
              <a:tailEnd/>
            </a:ln>
          </p:spPr>
          <p:txBody>
            <a:bodyPr/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10" name="Freeform 177"/>
            <p:cNvSpPr>
              <a:spLocks/>
            </p:cNvSpPr>
            <p:nvPr/>
          </p:nvSpPr>
          <p:spPr bwMode="auto">
            <a:xfrm rot="355818" flipH="1">
              <a:off x="2262358" y="4796977"/>
              <a:ext cx="31750" cy="39688"/>
            </a:xfrm>
            <a:custGeom>
              <a:avLst/>
              <a:gdLst>
                <a:gd name="T0" fmla="*/ 229 w 229"/>
                <a:gd name="T1" fmla="*/ 261 h 261"/>
                <a:gd name="T2" fmla="*/ 115 w 229"/>
                <a:gd name="T3" fmla="*/ 57 h 261"/>
                <a:gd name="T4" fmla="*/ 0 w 229"/>
                <a:gd name="T5" fmla="*/ 0 h 261"/>
                <a:gd name="T6" fmla="*/ 0 60000 65536"/>
                <a:gd name="T7" fmla="*/ 0 60000 65536"/>
                <a:gd name="T8" fmla="*/ 0 60000 65536"/>
                <a:gd name="T9" fmla="*/ 0 w 229"/>
                <a:gd name="T10" fmla="*/ 0 h 261"/>
                <a:gd name="T11" fmla="*/ 229 w 229"/>
                <a:gd name="T12" fmla="*/ 261 h 261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229" h="261">
                  <a:moveTo>
                    <a:pt x="229" y="261"/>
                  </a:moveTo>
                  <a:lnTo>
                    <a:pt x="115" y="57"/>
                  </a:lnTo>
                  <a:lnTo>
                    <a:pt x="0" y="0"/>
                  </a:lnTo>
                </a:path>
              </a:pathLst>
            </a:custGeom>
            <a:noFill/>
            <a:ln w="19050">
              <a:solidFill>
                <a:srgbClr val="B2B2B2"/>
              </a:solidFill>
              <a:round/>
              <a:headEnd/>
              <a:tailEnd/>
            </a:ln>
          </p:spPr>
          <p:txBody>
            <a:bodyPr/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11" name="Freeform 178"/>
            <p:cNvSpPr>
              <a:spLocks/>
            </p:cNvSpPr>
            <p:nvPr/>
          </p:nvSpPr>
          <p:spPr bwMode="auto">
            <a:xfrm rot="355818">
              <a:off x="2248070" y="4795390"/>
              <a:ext cx="42863" cy="7937"/>
            </a:xfrm>
            <a:custGeom>
              <a:avLst/>
              <a:gdLst>
                <a:gd name="T0" fmla="*/ 0 w 560"/>
                <a:gd name="T1" fmla="*/ 79 h 79"/>
                <a:gd name="T2" fmla="*/ 246 w 560"/>
                <a:gd name="T3" fmla="*/ 26 h 79"/>
                <a:gd name="T4" fmla="*/ 408 w 560"/>
                <a:gd name="T5" fmla="*/ 0 h 79"/>
                <a:gd name="T6" fmla="*/ 560 w 560"/>
                <a:gd name="T7" fmla="*/ 26 h 79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560"/>
                <a:gd name="T13" fmla="*/ 0 h 79"/>
                <a:gd name="T14" fmla="*/ 560 w 560"/>
                <a:gd name="T15" fmla="*/ 79 h 79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560" h="79">
                  <a:moveTo>
                    <a:pt x="0" y="79"/>
                  </a:moveTo>
                  <a:lnTo>
                    <a:pt x="246" y="26"/>
                  </a:lnTo>
                  <a:lnTo>
                    <a:pt x="408" y="0"/>
                  </a:lnTo>
                  <a:lnTo>
                    <a:pt x="560" y="26"/>
                  </a:lnTo>
                </a:path>
              </a:pathLst>
            </a:custGeom>
            <a:noFill/>
            <a:ln w="9525">
              <a:solidFill>
                <a:srgbClr val="969696"/>
              </a:solidFill>
              <a:round/>
              <a:headEnd/>
              <a:tailEnd/>
            </a:ln>
          </p:spPr>
          <p:txBody>
            <a:bodyPr/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12" name="Oval 179"/>
            <p:cNvSpPr>
              <a:spLocks noChangeArrowheads="1"/>
            </p:cNvSpPr>
            <p:nvPr/>
          </p:nvSpPr>
          <p:spPr bwMode="auto">
            <a:xfrm rot="21219751">
              <a:off x="2267120" y="4792215"/>
              <a:ext cx="19050" cy="9525"/>
            </a:xfrm>
            <a:prstGeom prst="ellipse">
              <a:avLst/>
            </a:prstGeom>
            <a:solidFill>
              <a:srgbClr val="969696"/>
            </a:solidFill>
            <a:ln w="9525">
              <a:solidFill>
                <a:srgbClr val="969696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13" name="Freeform 180"/>
            <p:cNvSpPr>
              <a:spLocks/>
            </p:cNvSpPr>
            <p:nvPr/>
          </p:nvSpPr>
          <p:spPr bwMode="auto">
            <a:xfrm rot="355818">
              <a:off x="2238545" y="4798565"/>
              <a:ext cx="36513" cy="33337"/>
            </a:xfrm>
            <a:custGeom>
              <a:avLst/>
              <a:gdLst>
                <a:gd name="T0" fmla="*/ 98 w 482"/>
                <a:gd name="T1" fmla="*/ 36 h 367"/>
                <a:gd name="T2" fmla="*/ 320 w 482"/>
                <a:gd name="T3" fmla="*/ 0 h 367"/>
                <a:gd name="T4" fmla="*/ 367 w 482"/>
                <a:gd name="T5" fmla="*/ 26 h 367"/>
                <a:gd name="T6" fmla="*/ 445 w 482"/>
                <a:gd name="T7" fmla="*/ 26 h 367"/>
                <a:gd name="T8" fmla="*/ 482 w 482"/>
                <a:gd name="T9" fmla="*/ 42 h 367"/>
                <a:gd name="T10" fmla="*/ 278 w 482"/>
                <a:gd name="T11" fmla="*/ 367 h 367"/>
                <a:gd name="T12" fmla="*/ 5 w 482"/>
                <a:gd name="T13" fmla="*/ 262 h 367"/>
                <a:gd name="T14" fmla="*/ 0 w 482"/>
                <a:gd name="T15" fmla="*/ 157 h 367"/>
                <a:gd name="T16" fmla="*/ 42 w 482"/>
                <a:gd name="T17" fmla="*/ 74 h 367"/>
                <a:gd name="T18" fmla="*/ 98 w 482"/>
                <a:gd name="T19" fmla="*/ 36 h 367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w 482"/>
                <a:gd name="T31" fmla="*/ 0 h 367"/>
                <a:gd name="T32" fmla="*/ 482 w 482"/>
                <a:gd name="T33" fmla="*/ 367 h 367"/>
              </a:gdLst>
              <a:ahLst/>
              <a:cxnLst>
                <a:cxn ang="T20">
                  <a:pos x="T0" y="T1"/>
                </a:cxn>
                <a:cxn ang="T21">
                  <a:pos x="T2" y="T3"/>
                </a:cxn>
                <a:cxn ang="T22">
                  <a:pos x="T4" y="T5"/>
                </a:cxn>
                <a:cxn ang="T23">
                  <a:pos x="T6" y="T7"/>
                </a:cxn>
                <a:cxn ang="T24">
                  <a:pos x="T8" y="T9"/>
                </a:cxn>
                <a:cxn ang="T25">
                  <a:pos x="T10" y="T11"/>
                </a:cxn>
                <a:cxn ang="T26">
                  <a:pos x="T12" y="T13"/>
                </a:cxn>
                <a:cxn ang="T27">
                  <a:pos x="T14" y="T15"/>
                </a:cxn>
                <a:cxn ang="T28">
                  <a:pos x="T16" y="T17"/>
                </a:cxn>
                <a:cxn ang="T29">
                  <a:pos x="T18" y="T19"/>
                </a:cxn>
              </a:cxnLst>
              <a:rect l="T30" t="T31" r="T32" b="T33"/>
              <a:pathLst>
                <a:path w="482" h="367">
                  <a:moveTo>
                    <a:pt x="98" y="36"/>
                  </a:moveTo>
                  <a:lnTo>
                    <a:pt x="320" y="0"/>
                  </a:lnTo>
                  <a:lnTo>
                    <a:pt x="367" y="26"/>
                  </a:lnTo>
                  <a:lnTo>
                    <a:pt x="445" y="26"/>
                  </a:lnTo>
                  <a:lnTo>
                    <a:pt x="482" y="42"/>
                  </a:lnTo>
                  <a:lnTo>
                    <a:pt x="278" y="367"/>
                  </a:lnTo>
                  <a:lnTo>
                    <a:pt x="5" y="262"/>
                  </a:lnTo>
                  <a:lnTo>
                    <a:pt x="0" y="157"/>
                  </a:lnTo>
                  <a:lnTo>
                    <a:pt x="42" y="74"/>
                  </a:lnTo>
                  <a:lnTo>
                    <a:pt x="98" y="36"/>
                  </a:lnTo>
                  <a:close/>
                </a:path>
              </a:pathLst>
            </a:custGeom>
            <a:noFill/>
            <a:ln w="9525">
              <a:solidFill>
                <a:srgbClr val="969696"/>
              </a:solidFill>
              <a:round/>
              <a:headEnd/>
              <a:tailEnd/>
            </a:ln>
          </p:spPr>
          <p:txBody>
            <a:bodyPr/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14" name="Freeform 182"/>
            <p:cNvSpPr>
              <a:spLocks/>
            </p:cNvSpPr>
            <p:nvPr/>
          </p:nvSpPr>
          <p:spPr bwMode="auto">
            <a:xfrm flipH="1">
              <a:off x="1786661" y="4766953"/>
              <a:ext cx="164547" cy="328335"/>
            </a:xfrm>
            <a:custGeom>
              <a:avLst/>
              <a:gdLst>
                <a:gd name="T0" fmla="*/ 933 w 933"/>
                <a:gd name="T1" fmla="*/ 135 h 352"/>
                <a:gd name="T2" fmla="*/ 932 w 933"/>
                <a:gd name="T3" fmla="*/ 171 h 352"/>
                <a:gd name="T4" fmla="*/ 762 w 933"/>
                <a:gd name="T5" fmla="*/ 352 h 352"/>
                <a:gd name="T6" fmla="*/ 4 w 933"/>
                <a:gd name="T7" fmla="*/ 195 h 352"/>
                <a:gd name="T8" fmla="*/ 0 w 933"/>
                <a:gd name="T9" fmla="*/ 148 h 352"/>
                <a:gd name="T10" fmla="*/ 244 w 933"/>
                <a:gd name="T11" fmla="*/ 0 h 352"/>
                <a:gd name="T12" fmla="*/ 933 w 933"/>
                <a:gd name="T13" fmla="*/ 135 h 352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933"/>
                <a:gd name="T22" fmla="*/ 0 h 352"/>
                <a:gd name="T23" fmla="*/ 933 w 933"/>
                <a:gd name="T24" fmla="*/ 352 h 352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933" h="352">
                  <a:moveTo>
                    <a:pt x="933" y="135"/>
                  </a:moveTo>
                  <a:lnTo>
                    <a:pt x="932" y="171"/>
                  </a:lnTo>
                  <a:lnTo>
                    <a:pt x="762" y="352"/>
                  </a:lnTo>
                  <a:lnTo>
                    <a:pt x="4" y="195"/>
                  </a:lnTo>
                  <a:lnTo>
                    <a:pt x="0" y="148"/>
                  </a:lnTo>
                  <a:lnTo>
                    <a:pt x="244" y="0"/>
                  </a:lnTo>
                  <a:lnTo>
                    <a:pt x="933" y="135"/>
                  </a:lnTo>
                  <a:close/>
                </a:path>
              </a:pathLst>
            </a:custGeom>
            <a:gradFill rotWithShape="0">
              <a:gsLst>
                <a:gs pos="0">
                  <a:srgbClr val="DDDDDD"/>
                </a:gs>
                <a:gs pos="100000">
                  <a:srgbClr val="F3F3F3"/>
                </a:gs>
              </a:gsLst>
              <a:lin ang="0" scaled="1"/>
            </a:gradFill>
            <a:ln w="6350">
              <a:solidFill>
                <a:srgbClr val="B2B2B2"/>
              </a:solidFill>
              <a:round/>
              <a:headEnd/>
              <a:tailEnd/>
            </a:ln>
          </p:spPr>
          <p:txBody>
            <a:bodyPr wrap="none" tIns="27432" bIns="27432" anchor="ctr">
              <a:spAutoFit/>
            </a:bodyPr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15" name="Freeform 183"/>
            <p:cNvSpPr>
              <a:spLocks/>
            </p:cNvSpPr>
            <p:nvPr/>
          </p:nvSpPr>
          <p:spPr bwMode="auto">
            <a:xfrm flipH="1">
              <a:off x="1800948" y="4752666"/>
              <a:ext cx="164547" cy="328335"/>
            </a:xfrm>
            <a:custGeom>
              <a:avLst/>
              <a:gdLst>
                <a:gd name="T0" fmla="*/ 895 w 895"/>
                <a:gd name="T1" fmla="*/ 133 h 294"/>
                <a:gd name="T2" fmla="*/ 232 w 895"/>
                <a:gd name="T3" fmla="*/ 0 h 294"/>
                <a:gd name="T4" fmla="*/ 0 w 895"/>
                <a:gd name="T5" fmla="*/ 143 h 294"/>
                <a:gd name="T6" fmla="*/ 739 w 895"/>
                <a:gd name="T7" fmla="*/ 294 h 294"/>
                <a:gd name="T8" fmla="*/ 895 w 895"/>
                <a:gd name="T9" fmla="*/ 133 h 294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895"/>
                <a:gd name="T16" fmla="*/ 0 h 294"/>
                <a:gd name="T17" fmla="*/ 895 w 895"/>
                <a:gd name="T18" fmla="*/ 294 h 294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895" h="294">
                  <a:moveTo>
                    <a:pt x="895" y="133"/>
                  </a:moveTo>
                  <a:lnTo>
                    <a:pt x="232" y="0"/>
                  </a:lnTo>
                  <a:lnTo>
                    <a:pt x="0" y="143"/>
                  </a:lnTo>
                  <a:lnTo>
                    <a:pt x="739" y="294"/>
                  </a:lnTo>
                  <a:lnTo>
                    <a:pt x="895" y="133"/>
                  </a:lnTo>
                  <a:close/>
                </a:path>
              </a:pathLst>
            </a:custGeom>
            <a:solidFill>
              <a:srgbClr val="FFFFFF"/>
            </a:solidFill>
            <a:ln w="3175">
              <a:solidFill>
                <a:srgbClr val="B2B2B2"/>
              </a:solidFill>
              <a:round/>
              <a:headEnd/>
              <a:tailEnd/>
            </a:ln>
          </p:spPr>
          <p:txBody>
            <a:bodyPr wrap="none" tIns="27432" bIns="27432" anchor="ctr">
              <a:spAutoFit/>
            </a:bodyPr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16" name="Freeform 184"/>
            <p:cNvSpPr>
              <a:spLocks/>
            </p:cNvSpPr>
            <p:nvPr/>
          </p:nvSpPr>
          <p:spPr bwMode="auto">
            <a:xfrm flipH="1">
              <a:off x="1798808" y="4828727"/>
              <a:ext cx="344487" cy="84138"/>
            </a:xfrm>
            <a:custGeom>
              <a:avLst/>
              <a:gdLst>
                <a:gd name="T0" fmla="*/ 0 w 531"/>
                <a:gd name="T1" fmla="*/ 15 h 118"/>
                <a:gd name="T2" fmla="*/ 508 w 531"/>
                <a:gd name="T3" fmla="*/ 118 h 118"/>
                <a:gd name="T4" fmla="*/ 531 w 531"/>
                <a:gd name="T5" fmla="*/ 103 h 118"/>
                <a:gd name="T6" fmla="*/ 23 w 531"/>
                <a:gd name="T7" fmla="*/ 0 h 118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531"/>
                <a:gd name="T13" fmla="*/ 0 h 118"/>
                <a:gd name="T14" fmla="*/ 531 w 531"/>
                <a:gd name="T15" fmla="*/ 118 h 118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531" h="118">
                  <a:moveTo>
                    <a:pt x="0" y="15"/>
                  </a:moveTo>
                  <a:lnTo>
                    <a:pt x="508" y="118"/>
                  </a:lnTo>
                  <a:lnTo>
                    <a:pt x="531" y="103"/>
                  </a:lnTo>
                  <a:lnTo>
                    <a:pt x="23" y="0"/>
                  </a:lnTo>
                </a:path>
              </a:pathLst>
            </a:custGeom>
            <a:solidFill>
              <a:srgbClr val="DDDDDD"/>
            </a:solidFill>
            <a:ln w="12700" cap="rnd">
              <a:solidFill>
                <a:srgbClr val="EAEAEA"/>
              </a:solidFill>
              <a:round/>
              <a:headEnd/>
              <a:tailEnd/>
            </a:ln>
          </p:spPr>
          <p:txBody>
            <a:bodyPr/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17" name="Freeform 185"/>
            <p:cNvSpPr>
              <a:spLocks/>
            </p:cNvSpPr>
            <p:nvPr/>
          </p:nvSpPr>
          <p:spPr bwMode="auto">
            <a:xfrm flipH="1">
              <a:off x="1886120" y="4850952"/>
              <a:ext cx="355600" cy="112713"/>
            </a:xfrm>
            <a:custGeom>
              <a:avLst/>
              <a:gdLst>
                <a:gd name="T0" fmla="*/ 0 w 548"/>
                <a:gd name="T1" fmla="*/ 74 h 159"/>
                <a:gd name="T2" fmla="*/ 31 w 548"/>
                <a:gd name="T3" fmla="*/ 78 h 159"/>
                <a:gd name="T4" fmla="*/ 57 w 548"/>
                <a:gd name="T5" fmla="*/ 66 h 159"/>
                <a:gd name="T6" fmla="*/ 76 w 548"/>
                <a:gd name="T7" fmla="*/ 71 h 159"/>
                <a:gd name="T8" fmla="*/ 58 w 548"/>
                <a:gd name="T9" fmla="*/ 81 h 159"/>
                <a:gd name="T10" fmla="*/ 451 w 548"/>
                <a:gd name="T11" fmla="*/ 159 h 159"/>
                <a:gd name="T12" fmla="*/ 548 w 548"/>
                <a:gd name="T13" fmla="*/ 84 h 159"/>
                <a:gd name="T14" fmla="*/ 130 w 548"/>
                <a:gd name="T15" fmla="*/ 0 h 159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548"/>
                <a:gd name="T25" fmla="*/ 0 h 159"/>
                <a:gd name="T26" fmla="*/ 548 w 548"/>
                <a:gd name="T27" fmla="*/ 159 h 159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548" h="159">
                  <a:moveTo>
                    <a:pt x="0" y="74"/>
                  </a:moveTo>
                  <a:lnTo>
                    <a:pt x="31" y="78"/>
                  </a:lnTo>
                  <a:lnTo>
                    <a:pt x="57" y="66"/>
                  </a:lnTo>
                  <a:lnTo>
                    <a:pt x="76" y="71"/>
                  </a:lnTo>
                  <a:lnTo>
                    <a:pt x="58" y="81"/>
                  </a:lnTo>
                  <a:lnTo>
                    <a:pt x="451" y="159"/>
                  </a:lnTo>
                  <a:lnTo>
                    <a:pt x="548" y="84"/>
                  </a:lnTo>
                  <a:lnTo>
                    <a:pt x="130" y="0"/>
                  </a:lnTo>
                </a:path>
              </a:pathLst>
            </a:custGeom>
            <a:solidFill>
              <a:srgbClr val="DDDDDD"/>
            </a:solidFill>
            <a:ln w="12700" cap="rnd">
              <a:solidFill>
                <a:srgbClr val="EAEAEA"/>
              </a:solidFill>
              <a:round/>
              <a:headEnd/>
              <a:tailEnd/>
            </a:ln>
          </p:spPr>
          <p:txBody>
            <a:bodyPr/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18" name="Freeform 186"/>
            <p:cNvSpPr>
              <a:spLocks/>
            </p:cNvSpPr>
            <p:nvPr/>
          </p:nvSpPr>
          <p:spPr bwMode="auto">
            <a:xfrm flipH="1">
              <a:off x="1819445" y="4914452"/>
              <a:ext cx="90488" cy="49213"/>
            </a:xfrm>
            <a:custGeom>
              <a:avLst/>
              <a:gdLst>
                <a:gd name="T0" fmla="*/ 73 w 140"/>
                <a:gd name="T1" fmla="*/ 0 h 70"/>
                <a:gd name="T2" fmla="*/ 140 w 140"/>
                <a:gd name="T3" fmla="*/ 11 h 70"/>
                <a:gd name="T4" fmla="*/ 75 w 140"/>
                <a:gd name="T5" fmla="*/ 70 h 70"/>
                <a:gd name="T6" fmla="*/ 0 w 140"/>
                <a:gd name="T7" fmla="*/ 56 h 70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140"/>
                <a:gd name="T13" fmla="*/ 0 h 70"/>
                <a:gd name="T14" fmla="*/ 140 w 140"/>
                <a:gd name="T15" fmla="*/ 70 h 70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140" h="70">
                  <a:moveTo>
                    <a:pt x="73" y="0"/>
                  </a:moveTo>
                  <a:lnTo>
                    <a:pt x="140" y="11"/>
                  </a:lnTo>
                  <a:lnTo>
                    <a:pt x="75" y="70"/>
                  </a:lnTo>
                  <a:lnTo>
                    <a:pt x="0" y="56"/>
                  </a:lnTo>
                </a:path>
              </a:pathLst>
            </a:custGeom>
            <a:solidFill>
              <a:srgbClr val="DDDDDD"/>
            </a:solidFill>
            <a:ln w="12700" cap="rnd">
              <a:solidFill>
                <a:srgbClr val="EAEAEA"/>
              </a:solidFill>
              <a:round/>
              <a:headEnd/>
              <a:tailEnd/>
            </a:ln>
          </p:spPr>
          <p:txBody>
            <a:bodyPr/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19" name="Freeform 187"/>
            <p:cNvSpPr>
              <a:spLocks/>
            </p:cNvSpPr>
            <p:nvPr/>
          </p:nvSpPr>
          <p:spPr bwMode="auto">
            <a:xfrm flipH="1">
              <a:off x="1754358" y="4925565"/>
              <a:ext cx="107950" cy="71437"/>
            </a:xfrm>
            <a:custGeom>
              <a:avLst/>
              <a:gdLst>
                <a:gd name="T0" fmla="*/ 87 w 167"/>
                <a:gd name="T1" fmla="*/ 0 h 101"/>
                <a:gd name="T2" fmla="*/ 167 w 167"/>
                <a:gd name="T3" fmla="*/ 15 h 101"/>
                <a:gd name="T4" fmla="*/ 81 w 167"/>
                <a:gd name="T5" fmla="*/ 101 h 101"/>
                <a:gd name="T6" fmla="*/ 0 w 167"/>
                <a:gd name="T7" fmla="*/ 83 h 101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167"/>
                <a:gd name="T13" fmla="*/ 0 h 101"/>
                <a:gd name="T14" fmla="*/ 167 w 167"/>
                <a:gd name="T15" fmla="*/ 101 h 101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167" h="101">
                  <a:moveTo>
                    <a:pt x="87" y="0"/>
                  </a:moveTo>
                  <a:lnTo>
                    <a:pt x="167" y="15"/>
                  </a:lnTo>
                  <a:lnTo>
                    <a:pt x="81" y="101"/>
                  </a:lnTo>
                  <a:lnTo>
                    <a:pt x="0" y="83"/>
                  </a:lnTo>
                </a:path>
              </a:pathLst>
            </a:custGeom>
            <a:solidFill>
              <a:srgbClr val="DDDDDD"/>
            </a:solidFill>
            <a:ln w="12700" cap="rnd">
              <a:solidFill>
                <a:srgbClr val="EAEAEA"/>
              </a:solidFill>
              <a:round/>
              <a:headEnd/>
              <a:tailEnd/>
            </a:ln>
          </p:spPr>
          <p:txBody>
            <a:bodyPr/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0" name="Freeform 189"/>
            <p:cNvSpPr>
              <a:spLocks noChangeAspect="1"/>
            </p:cNvSpPr>
            <p:nvPr/>
          </p:nvSpPr>
          <p:spPr bwMode="auto">
            <a:xfrm>
              <a:off x="1533695" y="4523927"/>
              <a:ext cx="144463" cy="354013"/>
            </a:xfrm>
            <a:custGeom>
              <a:avLst/>
              <a:gdLst/>
              <a:ahLst/>
              <a:cxnLst>
                <a:cxn ang="0">
                  <a:pos x="169" y="246"/>
                </a:cxn>
                <a:cxn ang="0">
                  <a:pos x="1" y="0"/>
                </a:cxn>
                <a:cxn ang="0">
                  <a:pos x="0" y="123"/>
                </a:cxn>
                <a:cxn ang="0">
                  <a:pos x="165" y="377"/>
                </a:cxn>
              </a:cxnLst>
              <a:rect l="0" t="0" r="r" b="b"/>
              <a:pathLst>
                <a:path w="169" h="377">
                  <a:moveTo>
                    <a:pt x="169" y="246"/>
                  </a:moveTo>
                  <a:lnTo>
                    <a:pt x="1" y="0"/>
                  </a:lnTo>
                  <a:lnTo>
                    <a:pt x="0" y="123"/>
                  </a:lnTo>
                  <a:lnTo>
                    <a:pt x="165" y="377"/>
                  </a:lnTo>
                </a:path>
              </a:pathLst>
            </a:custGeom>
            <a:gradFill rotWithShape="1">
              <a:gsLst>
                <a:gs pos="0">
                  <a:srgbClr val="EAEAEA"/>
                </a:gs>
                <a:gs pos="100000">
                  <a:srgbClr val="EAEAEA">
                    <a:gamma/>
                    <a:tint val="60784"/>
                    <a:invGamma/>
                  </a:srgbClr>
                </a:gs>
              </a:gsLst>
              <a:lin ang="0" scaled="1"/>
            </a:gradFill>
            <a:ln w="6350" cap="rnd" cmpd="sng">
              <a:solidFill>
                <a:srgbClr val="969696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1" name="Freeform 190"/>
            <p:cNvSpPr>
              <a:spLocks noChangeAspect="1"/>
            </p:cNvSpPr>
            <p:nvPr/>
          </p:nvSpPr>
          <p:spPr bwMode="auto">
            <a:xfrm>
              <a:off x="1536870" y="4465190"/>
              <a:ext cx="619125" cy="288925"/>
            </a:xfrm>
            <a:custGeom>
              <a:avLst/>
              <a:gdLst/>
              <a:ahLst/>
              <a:cxnLst>
                <a:cxn ang="0">
                  <a:pos x="166" y="310"/>
                </a:cxn>
                <a:cxn ang="0">
                  <a:pos x="718" y="211"/>
                </a:cxn>
                <a:cxn ang="0">
                  <a:pos x="444" y="0"/>
                </a:cxn>
                <a:cxn ang="0">
                  <a:pos x="0" y="64"/>
                </a:cxn>
                <a:cxn ang="0">
                  <a:pos x="166" y="310"/>
                </a:cxn>
              </a:cxnLst>
              <a:rect l="0" t="0" r="r" b="b"/>
              <a:pathLst>
                <a:path w="718" h="310">
                  <a:moveTo>
                    <a:pt x="166" y="310"/>
                  </a:moveTo>
                  <a:lnTo>
                    <a:pt x="718" y="211"/>
                  </a:lnTo>
                  <a:lnTo>
                    <a:pt x="444" y="0"/>
                  </a:lnTo>
                  <a:lnTo>
                    <a:pt x="0" y="64"/>
                  </a:lnTo>
                  <a:lnTo>
                    <a:pt x="166" y="310"/>
                  </a:lnTo>
                  <a:close/>
                </a:path>
              </a:pathLst>
            </a:custGeom>
            <a:solidFill>
              <a:srgbClr val="FFFFFF"/>
            </a:solidFill>
            <a:ln w="6350" cap="rnd" cmpd="sng">
              <a:solidFill>
                <a:srgbClr val="969696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2" name="Freeform 191"/>
            <p:cNvSpPr>
              <a:spLocks/>
            </p:cNvSpPr>
            <p:nvPr/>
          </p:nvSpPr>
          <p:spPr bwMode="auto">
            <a:xfrm>
              <a:off x="1671808" y="4660452"/>
              <a:ext cx="477837" cy="214313"/>
            </a:xfrm>
            <a:custGeom>
              <a:avLst/>
              <a:gdLst/>
              <a:ahLst/>
              <a:cxnLst>
                <a:cxn ang="0">
                  <a:pos x="6" y="99"/>
                </a:cxn>
                <a:cxn ang="0">
                  <a:pos x="557" y="0"/>
                </a:cxn>
                <a:cxn ang="0">
                  <a:pos x="549" y="121"/>
                </a:cxn>
                <a:cxn ang="0">
                  <a:pos x="0" y="228"/>
                </a:cxn>
                <a:cxn ang="0">
                  <a:pos x="6" y="99"/>
                </a:cxn>
              </a:cxnLst>
              <a:rect l="0" t="0" r="r" b="b"/>
              <a:pathLst>
                <a:path w="557" h="228">
                  <a:moveTo>
                    <a:pt x="6" y="99"/>
                  </a:moveTo>
                  <a:lnTo>
                    <a:pt x="557" y="0"/>
                  </a:lnTo>
                  <a:lnTo>
                    <a:pt x="549" y="121"/>
                  </a:lnTo>
                  <a:lnTo>
                    <a:pt x="0" y="228"/>
                  </a:lnTo>
                  <a:lnTo>
                    <a:pt x="6" y="99"/>
                  </a:lnTo>
                  <a:close/>
                </a:path>
              </a:pathLst>
            </a:custGeom>
            <a:gradFill rotWithShape="1">
              <a:gsLst>
                <a:gs pos="0">
                  <a:srgbClr val="EAEAEA"/>
                </a:gs>
                <a:gs pos="50000">
                  <a:srgbClr val="EAEAEA">
                    <a:gamma/>
                    <a:tint val="0"/>
                    <a:invGamma/>
                  </a:srgbClr>
                </a:gs>
                <a:gs pos="100000">
                  <a:srgbClr val="EAEAEA"/>
                </a:gs>
              </a:gsLst>
              <a:lin ang="0" scaled="1"/>
            </a:gradFill>
            <a:ln w="9525">
              <a:solidFill>
                <a:srgbClr val="969696"/>
              </a:solidFill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3" name="Freeform 192"/>
            <p:cNvSpPr>
              <a:spLocks/>
            </p:cNvSpPr>
            <p:nvPr/>
          </p:nvSpPr>
          <p:spPr bwMode="auto">
            <a:xfrm>
              <a:off x="1690858" y="4789040"/>
              <a:ext cx="144462" cy="60325"/>
            </a:xfrm>
            <a:custGeom>
              <a:avLst/>
              <a:gdLst/>
              <a:ahLst/>
              <a:cxnLst>
                <a:cxn ang="0">
                  <a:pos x="0" y="32"/>
                </a:cxn>
                <a:cxn ang="0">
                  <a:pos x="0" y="63"/>
                </a:cxn>
                <a:cxn ang="0">
                  <a:pos x="164" y="33"/>
                </a:cxn>
                <a:cxn ang="0">
                  <a:pos x="167" y="0"/>
                </a:cxn>
                <a:cxn ang="0">
                  <a:pos x="0" y="32"/>
                </a:cxn>
              </a:cxnLst>
              <a:rect l="0" t="0" r="r" b="b"/>
              <a:pathLst>
                <a:path w="167" h="63">
                  <a:moveTo>
                    <a:pt x="0" y="32"/>
                  </a:moveTo>
                  <a:lnTo>
                    <a:pt x="0" y="63"/>
                  </a:lnTo>
                  <a:lnTo>
                    <a:pt x="164" y="33"/>
                  </a:lnTo>
                  <a:lnTo>
                    <a:pt x="167" y="0"/>
                  </a:lnTo>
                  <a:lnTo>
                    <a:pt x="0" y="32"/>
                  </a:lnTo>
                  <a:close/>
                </a:path>
              </a:pathLst>
            </a:custGeom>
            <a:gradFill rotWithShape="1">
              <a:gsLst>
                <a:gs pos="0">
                  <a:srgbClr val="C0C0C0">
                    <a:gamma/>
                    <a:tint val="60784"/>
                    <a:invGamma/>
                  </a:srgbClr>
                </a:gs>
                <a:gs pos="100000">
                  <a:srgbClr val="C0C0C0"/>
                </a:gs>
              </a:gsLst>
              <a:lin ang="0" scaled="1"/>
            </a:gradFill>
            <a:ln w="9525">
              <a:noFill/>
              <a:round/>
              <a:headEnd type="none" w="med" len="med"/>
              <a:tailEnd type="none" w="med" len="med"/>
            </a:ln>
            <a:effectLst>
              <a:prstShdw prst="shdw17" dist="17961" dir="13500000">
                <a:srgbClr val="969696"/>
              </a:prstShdw>
            </a:effectLst>
          </p:spPr>
          <p:txBody>
            <a:bodyPr/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4" name="Oval 193"/>
            <p:cNvSpPr>
              <a:spLocks noChangeArrowheads="1"/>
            </p:cNvSpPr>
            <p:nvPr/>
          </p:nvSpPr>
          <p:spPr bwMode="auto">
            <a:xfrm>
              <a:off x="1809920" y="4796977"/>
              <a:ext cx="15875" cy="20638"/>
            </a:xfrm>
            <a:prstGeom prst="ellipse">
              <a:avLst/>
            </a:prstGeom>
            <a:solidFill>
              <a:srgbClr val="969696"/>
            </a:solidFill>
            <a:ln w="9525">
              <a:solidFill>
                <a:srgbClr val="969696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5" name="Line 194"/>
            <p:cNvSpPr>
              <a:spLocks noChangeShapeType="1"/>
            </p:cNvSpPr>
            <p:nvPr/>
          </p:nvSpPr>
          <p:spPr bwMode="auto">
            <a:xfrm flipH="1">
              <a:off x="2032170" y="4706490"/>
              <a:ext cx="3175" cy="76200"/>
            </a:xfrm>
            <a:prstGeom prst="line">
              <a:avLst/>
            </a:prstGeom>
            <a:noFill/>
            <a:ln w="9525">
              <a:solidFill>
                <a:srgbClr val="808080"/>
              </a:solidFill>
              <a:round/>
              <a:headEnd/>
              <a:tailEnd/>
            </a:ln>
            <a:effectLst>
              <a:outerShdw dist="17961" dir="18900000" algn="ctr" rotWithShape="0">
                <a:srgbClr val="969696">
                  <a:alpha val="50000"/>
                </a:srgbClr>
              </a:outerShdw>
            </a:effectLst>
          </p:spPr>
          <p:txBody>
            <a:bodyPr/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6" name="Line 195"/>
            <p:cNvSpPr>
              <a:spLocks noChangeShapeType="1"/>
            </p:cNvSpPr>
            <p:nvPr/>
          </p:nvSpPr>
          <p:spPr bwMode="auto">
            <a:xfrm flipH="1">
              <a:off x="2021058" y="4708077"/>
              <a:ext cx="1587" cy="80963"/>
            </a:xfrm>
            <a:prstGeom prst="line">
              <a:avLst/>
            </a:prstGeom>
            <a:noFill/>
            <a:ln w="9525">
              <a:solidFill>
                <a:srgbClr val="808080"/>
              </a:solidFill>
              <a:round/>
              <a:headEnd/>
              <a:tailEnd/>
            </a:ln>
            <a:effectLst>
              <a:outerShdw dist="17961" dir="18900000" algn="ctr" rotWithShape="0">
                <a:srgbClr val="969696">
                  <a:alpha val="50000"/>
                </a:srgbClr>
              </a:outerShdw>
            </a:effectLst>
          </p:spPr>
          <p:txBody>
            <a:bodyPr/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7" name="Line 196"/>
            <p:cNvSpPr>
              <a:spLocks noChangeShapeType="1"/>
            </p:cNvSpPr>
            <p:nvPr/>
          </p:nvSpPr>
          <p:spPr bwMode="auto">
            <a:xfrm flipH="1">
              <a:off x="2044870" y="4704902"/>
              <a:ext cx="4763" cy="76200"/>
            </a:xfrm>
            <a:prstGeom prst="line">
              <a:avLst/>
            </a:prstGeom>
            <a:noFill/>
            <a:ln w="9525">
              <a:solidFill>
                <a:srgbClr val="808080"/>
              </a:solidFill>
              <a:round/>
              <a:headEnd/>
              <a:tailEnd/>
            </a:ln>
            <a:effectLst>
              <a:outerShdw dist="17961" dir="18900000" algn="ctr" rotWithShape="0">
                <a:srgbClr val="969696">
                  <a:alpha val="50000"/>
                </a:srgbClr>
              </a:outerShdw>
            </a:effectLst>
          </p:spPr>
          <p:txBody>
            <a:bodyPr/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8" name="Line 197"/>
            <p:cNvSpPr>
              <a:spLocks noChangeShapeType="1"/>
            </p:cNvSpPr>
            <p:nvPr/>
          </p:nvSpPr>
          <p:spPr bwMode="auto">
            <a:xfrm flipH="1">
              <a:off x="2055983" y="4703315"/>
              <a:ext cx="3175" cy="76200"/>
            </a:xfrm>
            <a:prstGeom prst="line">
              <a:avLst/>
            </a:prstGeom>
            <a:noFill/>
            <a:ln w="9525">
              <a:solidFill>
                <a:srgbClr val="808080"/>
              </a:solidFill>
              <a:round/>
              <a:headEnd/>
              <a:tailEnd/>
            </a:ln>
            <a:effectLst>
              <a:outerShdw dist="17961" dir="18900000" algn="ctr" rotWithShape="0">
                <a:srgbClr val="969696">
                  <a:alpha val="50000"/>
                </a:srgbClr>
              </a:outerShdw>
            </a:effectLst>
          </p:spPr>
          <p:txBody>
            <a:bodyPr/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9" name="Line 198"/>
            <p:cNvSpPr>
              <a:spLocks noChangeShapeType="1"/>
            </p:cNvSpPr>
            <p:nvPr/>
          </p:nvSpPr>
          <p:spPr bwMode="auto">
            <a:xfrm flipH="1">
              <a:off x="2065508" y="4701727"/>
              <a:ext cx="6350" cy="76200"/>
            </a:xfrm>
            <a:prstGeom prst="line">
              <a:avLst/>
            </a:prstGeom>
            <a:noFill/>
            <a:ln w="9525">
              <a:solidFill>
                <a:srgbClr val="808080"/>
              </a:solidFill>
              <a:round/>
              <a:headEnd/>
              <a:tailEnd/>
            </a:ln>
            <a:effectLst>
              <a:outerShdw dist="17961" dir="18900000" algn="ctr" rotWithShape="0">
                <a:srgbClr val="969696">
                  <a:alpha val="50000"/>
                </a:srgbClr>
              </a:outerShdw>
            </a:effectLst>
          </p:spPr>
          <p:txBody>
            <a:bodyPr/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30" name="Line 199"/>
            <p:cNvSpPr>
              <a:spLocks noChangeShapeType="1"/>
            </p:cNvSpPr>
            <p:nvPr/>
          </p:nvSpPr>
          <p:spPr bwMode="auto">
            <a:xfrm flipH="1">
              <a:off x="2076620" y="4698552"/>
              <a:ext cx="6350" cy="77788"/>
            </a:xfrm>
            <a:prstGeom prst="line">
              <a:avLst/>
            </a:prstGeom>
            <a:noFill/>
            <a:ln w="9525">
              <a:solidFill>
                <a:srgbClr val="808080"/>
              </a:solidFill>
              <a:round/>
              <a:headEnd/>
              <a:tailEnd/>
            </a:ln>
            <a:effectLst>
              <a:outerShdw dist="17961" dir="18900000" algn="ctr" rotWithShape="0">
                <a:srgbClr val="969696">
                  <a:alpha val="50000"/>
                </a:srgbClr>
              </a:outerShdw>
            </a:effectLst>
          </p:spPr>
          <p:txBody>
            <a:bodyPr/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31" name="Line 200"/>
            <p:cNvSpPr>
              <a:spLocks noChangeShapeType="1"/>
            </p:cNvSpPr>
            <p:nvPr/>
          </p:nvSpPr>
          <p:spPr bwMode="auto">
            <a:xfrm flipH="1">
              <a:off x="2087733" y="4698552"/>
              <a:ext cx="1587" cy="76200"/>
            </a:xfrm>
            <a:prstGeom prst="line">
              <a:avLst/>
            </a:prstGeom>
            <a:noFill/>
            <a:ln w="9525">
              <a:solidFill>
                <a:srgbClr val="808080"/>
              </a:solidFill>
              <a:round/>
              <a:headEnd/>
              <a:tailEnd/>
            </a:ln>
            <a:effectLst>
              <a:outerShdw dist="17961" dir="18900000" algn="ctr" rotWithShape="0">
                <a:srgbClr val="969696">
                  <a:alpha val="50000"/>
                </a:srgbClr>
              </a:outerShdw>
            </a:effectLst>
          </p:spPr>
          <p:txBody>
            <a:bodyPr/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32" name="Line 201"/>
            <p:cNvSpPr>
              <a:spLocks noChangeShapeType="1"/>
            </p:cNvSpPr>
            <p:nvPr/>
          </p:nvSpPr>
          <p:spPr bwMode="auto">
            <a:xfrm flipH="1">
              <a:off x="2097258" y="4692202"/>
              <a:ext cx="1587" cy="79375"/>
            </a:xfrm>
            <a:prstGeom prst="line">
              <a:avLst/>
            </a:prstGeom>
            <a:noFill/>
            <a:ln w="9525">
              <a:solidFill>
                <a:srgbClr val="808080"/>
              </a:solidFill>
              <a:round/>
              <a:headEnd/>
              <a:tailEnd/>
            </a:ln>
            <a:effectLst>
              <a:outerShdw dist="17961" dir="18900000" algn="ctr" rotWithShape="0">
                <a:srgbClr val="969696">
                  <a:alpha val="50000"/>
                </a:srgbClr>
              </a:outerShdw>
            </a:effectLst>
          </p:spPr>
          <p:txBody>
            <a:bodyPr/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33" name="Line 202"/>
            <p:cNvSpPr>
              <a:spLocks noChangeShapeType="1"/>
            </p:cNvSpPr>
            <p:nvPr/>
          </p:nvSpPr>
          <p:spPr bwMode="auto">
            <a:xfrm flipH="1">
              <a:off x="2106783" y="4692202"/>
              <a:ext cx="1587" cy="76200"/>
            </a:xfrm>
            <a:prstGeom prst="line">
              <a:avLst/>
            </a:prstGeom>
            <a:noFill/>
            <a:ln w="9525">
              <a:solidFill>
                <a:srgbClr val="808080"/>
              </a:solidFill>
              <a:round/>
              <a:headEnd/>
              <a:tailEnd/>
            </a:ln>
            <a:effectLst>
              <a:outerShdw dist="17961" dir="18900000" algn="ctr" rotWithShape="0">
                <a:srgbClr val="969696">
                  <a:alpha val="50000"/>
                </a:srgbClr>
              </a:outerShdw>
            </a:effectLst>
          </p:spPr>
          <p:txBody>
            <a:bodyPr/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34" name="Line 203"/>
            <p:cNvSpPr>
              <a:spLocks noChangeShapeType="1"/>
            </p:cNvSpPr>
            <p:nvPr/>
          </p:nvSpPr>
          <p:spPr bwMode="auto">
            <a:xfrm flipH="1">
              <a:off x="2117895" y="4690615"/>
              <a:ext cx="1588" cy="77787"/>
            </a:xfrm>
            <a:prstGeom prst="line">
              <a:avLst/>
            </a:prstGeom>
            <a:noFill/>
            <a:ln w="9525">
              <a:solidFill>
                <a:srgbClr val="808080"/>
              </a:solidFill>
              <a:round/>
              <a:headEnd/>
              <a:tailEnd/>
            </a:ln>
            <a:effectLst>
              <a:outerShdw dist="17961" dir="18900000" algn="ctr" rotWithShape="0">
                <a:srgbClr val="969696">
                  <a:alpha val="50000"/>
                </a:srgbClr>
              </a:outerShdw>
            </a:effectLst>
          </p:spPr>
          <p:txBody>
            <a:bodyPr/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35" name="Line 204"/>
            <p:cNvSpPr>
              <a:spLocks noChangeShapeType="1"/>
            </p:cNvSpPr>
            <p:nvPr/>
          </p:nvSpPr>
          <p:spPr bwMode="auto">
            <a:xfrm flipH="1">
              <a:off x="2071064" y="4731896"/>
              <a:ext cx="1587" cy="76200"/>
            </a:xfrm>
            <a:prstGeom prst="line">
              <a:avLst/>
            </a:prstGeom>
            <a:noFill/>
            <a:ln w="9525">
              <a:solidFill>
                <a:srgbClr val="808080"/>
              </a:solidFill>
              <a:round/>
              <a:headEnd/>
              <a:tailEnd/>
            </a:ln>
            <a:effectLst>
              <a:outerShdw dist="17961" dir="18900000" algn="ctr" rotWithShape="0">
                <a:srgbClr val="969696">
                  <a:alpha val="50000"/>
                </a:srgbClr>
              </a:outerShdw>
            </a:effectLst>
          </p:spPr>
          <p:txBody>
            <a:bodyPr/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36" name="Freeform 205"/>
            <p:cNvSpPr>
              <a:spLocks/>
            </p:cNvSpPr>
            <p:nvPr/>
          </p:nvSpPr>
          <p:spPr bwMode="auto">
            <a:xfrm>
              <a:off x="1878183" y="4738240"/>
              <a:ext cx="79375" cy="61912"/>
            </a:xfrm>
            <a:custGeom>
              <a:avLst/>
              <a:gdLst/>
              <a:ahLst/>
              <a:cxnLst>
                <a:cxn ang="0">
                  <a:pos x="2" y="33"/>
                </a:cxn>
                <a:cxn ang="0">
                  <a:pos x="0" y="138"/>
                </a:cxn>
                <a:cxn ang="0">
                  <a:pos x="186" y="104"/>
                </a:cxn>
                <a:cxn ang="0">
                  <a:pos x="186" y="0"/>
                </a:cxn>
                <a:cxn ang="0">
                  <a:pos x="2" y="33"/>
                </a:cxn>
              </a:cxnLst>
              <a:rect l="0" t="0" r="r" b="b"/>
              <a:pathLst>
                <a:path w="186" h="138">
                  <a:moveTo>
                    <a:pt x="2" y="33"/>
                  </a:moveTo>
                  <a:lnTo>
                    <a:pt x="0" y="138"/>
                  </a:lnTo>
                  <a:lnTo>
                    <a:pt x="186" y="104"/>
                  </a:lnTo>
                  <a:lnTo>
                    <a:pt x="186" y="0"/>
                  </a:lnTo>
                  <a:lnTo>
                    <a:pt x="2" y="33"/>
                  </a:lnTo>
                  <a:close/>
                </a:path>
              </a:pathLst>
            </a:custGeom>
            <a:gradFill rotWithShape="1">
              <a:gsLst>
                <a:gs pos="0">
                  <a:srgbClr val="969696"/>
                </a:gs>
                <a:gs pos="100000">
                  <a:srgbClr val="969696">
                    <a:gamma/>
                    <a:shade val="75686"/>
                    <a:invGamma/>
                  </a:srgbClr>
                </a:gs>
              </a:gsLst>
              <a:lin ang="0" scaled="1"/>
            </a:gradFill>
            <a:ln w="3175" cap="flat" cmpd="sng">
              <a:noFill/>
              <a:prstDash val="solid"/>
              <a:round/>
              <a:headEnd type="none" w="med" len="med"/>
              <a:tailEnd type="none" w="med" len="med"/>
            </a:ln>
            <a:effectLst>
              <a:prstShdw prst="shdw17" dist="17961" dir="13500000">
                <a:srgbClr val="969696">
                  <a:alpha val="50000"/>
                </a:srgbClr>
              </a:prstShdw>
            </a:effectLst>
          </p:spPr>
          <p:txBody>
            <a:bodyPr/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37" name="Line 206"/>
            <p:cNvSpPr>
              <a:spLocks noChangeShapeType="1"/>
            </p:cNvSpPr>
            <p:nvPr/>
          </p:nvSpPr>
          <p:spPr bwMode="auto">
            <a:xfrm flipH="1">
              <a:off x="1889295" y="4773165"/>
              <a:ext cx="0" cy="19050"/>
            </a:xfrm>
            <a:prstGeom prst="line">
              <a:avLst/>
            </a:prstGeom>
            <a:noFill/>
            <a:ln w="9525">
              <a:solidFill>
                <a:srgbClr val="3399FF">
                  <a:alpha val="55000"/>
                </a:srgbClr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38" name="Line 207"/>
            <p:cNvSpPr>
              <a:spLocks noChangeShapeType="1"/>
            </p:cNvSpPr>
            <p:nvPr/>
          </p:nvSpPr>
          <p:spPr bwMode="auto">
            <a:xfrm flipH="1">
              <a:off x="1951208" y="4758877"/>
              <a:ext cx="0" cy="19050"/>
            </a:xfrm>
            <a:prstGeom prst="line">
              <a:avLst/>
            </a:prstGeom>
            <a:noFill/>
            <a:ln w="9525">
              <a:solidFill>
                <a:srgbClr val="3399FF">
                  <a:alpha val="55000"/>
                </a:srgbClr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39" name="Line 208"/>
            <p:cNvSpPr>
              <a:spLocks noChangeShapeType="1"/>
            </p:cNvSpPr>
            <p:nvPr/>
          </p:nvSpPr>
          <p:spPr bwMode="auto">
            <a:xfrm flipH="1">
              <a:off x="1943270" y="4768402"/>
              <a:ext cx="0" cy="14288"/>
            </a:xfrm>
            <a:prstGeom prst="line">
              <a:avLst/>
            </a:prstGeom>
            <a:noFill/>
            <a:ln w="9525">
              <a:solidFill>
                <a:srgbClr val="3399FF">
                  <a:alpha val="55000"/>
                </a:srgbClr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40" name="Line 209"/>
            <p:cNvSpPr>
              <a:spLocks noChangeShapeType="1"/>
            </p:cNvSpPr>
            <p:nvPr/>
          </p:nvSpPr>
          <p:spPr bwMode="auto">
            <a:xfrm flipH="1">
              <a:off x="1898820" y="4781102"/>
              <a:ext cx="0" cy="12700"/>
            </a:xfrm>
            <a:prstGeom prst="line">
              <a:avLst/>
            </a:prstGeom>
            <a:noFill/>
            <a:ln w="9525">
              <a:solidFill>
                <a:srgbClr val="3399FF">
                  <a:alpha val="55000"/>
                </a:srgbClr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41" name="Line 210"/>
            <p:cNvSpPr>
              <a:spLocks noChangeShapeType="1"/>
            </p:cNvSpPr>
            <p:nvPr/>
          </p:nvSpPr>
          <p:spPr bwMode="auto">
            <a:xfrm flipV="1">
              <a:off x="1908345" y="4782690"/>
              <a:ext cx="25400" cy="6350"/>
            </a:xfrm>
            <a:prstGeom prst="line">
              <a:avLst/>
            </a:prstGeom>
            <a:noFill/>
            <a:ln w="9525">
              <a:solidFill>
                <a:srgbClr val="FFFF99">
                  <a:alpha val="45000"/>
                </a:srgbClr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42" name="Freeform 211"/>
            <p:cNvSpPr>
              <a:spLocks/>
            </p:cNvSpPr>
            <p:nvPr/>
          </p:nvSpPr>
          <p:spPr bwMode="auto">
            <a:xfrm>
              <a:off x="1714670" y="4752527"/>
              <a:ext cx="100013" cy="36513"/>
            </a:xfrm>
            <a:custGeom>
              <a:avLst/>
              <a:gdLst/>
              <a:ahLst/>
              <a:cxnLst>
                <a:cxn ang="0">
                  <a:pos x="0" y="20"/>
                </a:cxn>
                <a:cxn ang="0">
                  <a:pos x="1" y="38"/>
                </a:cxn>
                <a:cxn ang="0">
                  <a:pos x="116" y="19"/>
                </a:cxn>
                <a:cxn ang="0">
                  <a:pos x="116" y="0"/>
                </a:cxn>
                <a:cxn ang="0">
                  <a:pos x="0" y="20"/>
                </a:cxn>
              </a:cxnLst>
              <a:rect l="0" t="0" r="r" b="b"/>
              <a:pathLst>
                <a:path w="116" h="38">
                  <a:moveTo>
                    <a:pt x="0" y="20"/>
                  </a:moveTo>
                  <a:lnTo>
                    <a:pt x="1" y="38"/>
                  </a:lnTo>
                  <a:lnTo>
                    <a:pt x="116" y="19"/>
                  </a:lnTo>
                  <a:lnTo>
                    <a:pt x="116" y="0"/>
                  </a:lnTo>
                  <a:lnTo>
                    <a:pt x="0" y="20"/>
                  </a:lnTo>
                  <a:close/>
                </a:path>
              </a:pathLst>
            </a:custGeom>
            <a:gradFill rotWithShape="1">
              <a:gsLst>
                <a:gs pos="0">
                  <a:srgbClr val="C0C0C0">
                    <a:gamma/>
                    <a:tint val="60784"/>
                    <a:invGamma/>
                  </a:srgbClr>
                </a:gs>
                <a:gs pos="100000">
                  <a:srgbClr val="C0C0C0"/>
                </a:gs>
              </a:gsLst>
              <a:lin ang="0" scaled="1"/>
            </a:gradFill>
            <a:ln w="9525">
              <a:noFill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43" name="Line 212"/>
            <p:cNvSpPr>
              <a:spLocks noChangeShapeType="1"/>
            </p:cNvSpPr>
            <p:nvPr/>
          </p:nvSpPr>
          <p:spPr bwMode="auto">
            <a:xfrm flipV="1">
              <a:off x="1706733" y="4758877"/>
              <a:ext cx="112712" cy="22225"/>
            </a:xfrm>
            <a:prstGeom prst="line">
              <a:avLst/>
            </a:prstGeom>
            <a:noFill/>
            <a:ln w="3175">
              <a:solidFill>
                <a:srgbClr val="5F5F5F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grpSp>
          <p:nvGrpSpPr>
            <p:cNvPr id="44" name="Group 150"/>
            <p:cNvGrpSpPr>
              <a:grpSpLocks/>
            </p:cNvGrpSpPr>
            <p:nvPr/>
          </p:nvGrpSpPr>
          <p:grpSpPr bwMode="auto">
            <a:xfrm>
              <a:off x="1598783" y="4144515"/>
              <a:ext cx="328612" cy="369887"/>
              <a:chOff x="685" y="3115"/>
              <a:chExt cx="207" cy="233"/>
            </a:xfrm>
          </p:grpSpPr>
          <p:sp>
            <p:nvSpPr>
              <p:cNvPr id="57" name="Freeform 215"/>
              <p:cNvSpPr>
                <a:spLocks/>
              </p:cNvSpPr>
              <p:nvPr/>
            </p:nvSpPr>
            <p:spPr bwMode="auto">
              <a:xfrm flipH="1">
                <a:off x="686" y="3115"/>
                <a:ext cx="206" cy="30"/>
              </a:xfrm>
              <a:custGeom>
                <a:avLst/>
                <a:gdLst>
                  <a:gd name="T0" fmla="*/ 1205 w 1205"/>
                  <a:gd name="T1" fmla="*/ 151 h 178"/>
                  <a:gd name="T2" fmla="*/ 964 w 1205"/>
                  <a:gd name="T3" fmla="*/ 178 h 178"/>
                  <a:gd name="T4" fmla="*/ 0 w 1205"/>
                  <a:gd name="T5" fmla="*/ 0 h 178"/>
                  <a:gd name="T6" fmla="*/ 1205 w 1205"/>
                  <a:gd name="T7" fmla="*/ 151 h 178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1205"/>
                  <a:gd name="T13" fmla="*/ 0 h 178"/>
                  <a:gd name="T14" fmla="*/ 1205 w 1205"/>
                  <a:gd name="T15" fmla="*/ 178 h 178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1205" h="178">
                    <a:moveTo>
                      <a:pt x="1205" y="151"/>
                    </a:moveTo>
                    <a:lnTo>
                      <a:pt x="964" y="178"/>
                    </a:lnTo>
                    <a:lnTo>
                      <a:pt x="0" y="0"/>
                    </a:lnTo>
                    <a:lnTo>
                      <a:pt x="1205" y="151"/>
                    </a:lnTo>
                    <a:close/>
                  </a:path>
                </a:pathLst>
              </a:custGeom>
              <a:solidFill>
                <a:srgbClr val="EAEAEA"/>
              </a:solidFill>
              <a:ln w="9525">
                <a:solidFill>
                  <a:srgbClr val="969696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pPr>
                  <a:defRPr/>
                </a:pPr>
                <a:endParaRPr lang="ko-KR" altLang="en-US" kern="0">
                  <a:solidFill>
                    <a:sysClr val="windowText" lastClr="000000"/>
                  </a:solidFill>
                </a:endParaRPr>
              </a:p>
            </p:txBody>
          </p:sp>
          <p:sp>
            <p:nvSpPr>
              <p:cNvPr id="58" name="Freeform 216"/>
              <p:cNvSpPr>
                <a:spLocks/>
              </p:cNvSpPr>
              <p:nvPr/>
            </p:nvSpPr>
            <p:spPr bwMode="auto">
              <a:xfrm flipH="1">
                <a:off x="685" y="3141"/>
                <a:ext cx="69" cy="207"/>
              </a:xfrm>
              <a:custGeom>
                <a:avLst/>
                <a:gdLst>
                  <a:gd name="T0" fmla="*/ 405 w 405"/>
                  <a:gd name="T1" fmla="*/ 0 h 1241"/>
                  <a:gd name="T2" fmla="*/ 389 w 405"/>
                  <a:gd name="T3" fmla="*/ 1000 h 1241"/>
                  <a:gd name="T4" fmla="*/ 133 w 405"/>
                  <a:gd name="T5" fmla="*/ 1241 h 1241"/>
                  <a:gd name="T6" fmla="*/ 0 w 405"/>
                  <a:gd name="T7" fmla="*/ 13 h 1241"/>
                  <a:gd name="T8" fmla="*/ 189 w 405"/>
                  <a:gd name="T9" fmla="*/ 24 h 1241"/>
                  <a:gd name="T10" fmla="*/ 405 w 405"/>
                  <a:gd name="T11" fmla="*/ 0 h 1241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405"/>
                  <a:gd name="T19" fmla="*/ 0 h 1241"/>
                  <a:gd name="T20" fmla="*/ 405 w 405"/>
                  <a:gd name="T21" fmla="*/ 1241 h 1241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405" h="1241">
                    <a:moveTo>
                      <a:pt x="405" y="0"/>
                    </a:moveTo>
                    <a:lnTo>
                      <a:pt x="389" y="1000"/>
                    </a:lnTo>
                    <a:lnTo>
                      <a:pt x="133" y="1241"/>
                    </a:lnTo>
                    <a:lnTo>
                      <a:pt x="0" y="13"/>
                    </a:lnTo>
                    <a:lnTo>
                      <a:pt x="189" y="24"/>
                    </a:lnTo>
                    <a:lnTo>
                      <a:pt x="405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CCCCCC"/>
                  </a:gs>
                  <a:gs pos="100000">
                    <a:srgbClr val="969696"/>
                  </a:gs>
                </a:gsLst>
                <a:lin ang="0" scaled="1"/>
              </a:gradFill>
              <a:ln w="9525">
                <a:solidFill>
                  <a:srgbClr val="969696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pPr>
                  <a:defRPr/>
                </a:pPr>
                <a:endParaRPr lang="ko-KR" altLang="en-US" kern="0">
                  <a:solidFill>
                    <a:sysClr val="windowText" lastClr="000000"/>
                  </a:solidFill>
                </a:endParaRPr>
              </a:p>
            </p:txBody>
          </p:sp>
        </p:grpSp>
        <p:sp>
          <p:nvSpPr>
            <p:cNvPr id="45" name="Oval 217"/>
            <p:cNvSpPr>
              <a:spLocks noChangeArrowheads="1"/>
            </p:cNvSpPr>
            <p:nvPr/>
          </p:nvSpPr>
          <p:spPr bwMode="auto">
            <a:xfrm>
              <a:off x="1682920" y="4542977"/>
              <a:ext cx="298450" cy="93663"/>
            </a:xfrm>
            <a:prstGeom prst="ellipse">
              <a:avLst/>
            </a:prstGeom>
            <a:solidFill>
              <a:srgbClr val="969696"/>
            </a:solidFill>
            <a:ln w="9525">
              <a:solidFill>
                <a:srgbClr val="969696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46" name="Oval 218"/>
            <p:cNvSpPr>
              <a:spLocks noChangeArrowheads="1"/>
            </p:cNvSpPr>
            <p:nvPr/>
          </p:nvSpPr>
          <p:spPr bwMode="auto">
            <a:xfrm>
              <a:off x="1682920" y="4536627"/>
              <a:ext cx="298450" cy="92075"/>
            </a:xfrm>
            <a:prstGeom prst="ellipse">
              <a:avLst/>
            </a:prstGeom>
            <a:gradFill rotWithShape="1">
              <a:gsLst>
                <a:gs pos="0">
                  <a:srgbClr val="C0C0C0"/>
                </a:gs>
                <a:gs pos="100000">
                  <a:srgbClr val="EAEAEA"/>
                </a:gs>
              </a:gsLst>
              <a:lin ang="2700000" scaled="1"/>
            </a:gradFill>
            <a:ln w="9525">
              <a:solidFill>
                <a:srgbClr val="969696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47" name="Freeform 219"/>
            <p:cNvSpPr>
              <a:spLocks/>
            </p:cNvSpPr>
            <p:nvPr/>
          </p:nvSpPr>
          <p:spPr bwMode="auto">
            <a:xfrm flipH="1">
              <a:off x="1663870" y="4088952"/>
              <a:ext cx="436563" cy="511175"/>
            </a:xfrm>
            <a:custGeom>
              <a:avLst/>
              <a:gdLst>
                <a:gd name="T0" fmla="*/ 1602 w 1602"/>
                <a:gd name="T1" fmla="*/ 204 h 1734"/>
                <a:gd name="T2" fmla="*/ 5 w 1602"/>
                <a:gd name="T3" fmla="*/ 0 h 1734"/>
                <a:gd name="T4" fmla="*/ 0 w 1602"/>
                <a:gd name="T5" fmla="*/ 1488 h 1734"/>
                <a:gd name="T6" fmla="*/ 1597 w 1602"/>
                <a:gd name="T7" fmla="*/ 1734 h 1734"/>
                <a:gd name="T8" fmla="*/ 1602 w 1602"/>
                <a:gd name="T9" fmla="*/ 204 h 1734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602"/>
                <a:gd name="T16" fmla="*/ 0 h 1734"/>
                <a:gd name="T17" fmla="*/ 1602 w 1602"/>
                <a:gd name="T18" fmla="*/ 1734 h 1734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602" h="1734">
                  <a:moveTo>
                    <a:pt x="1602" y="204"/>
                  </a:moveTo>
                  <a:lnTo>
                    <a:pt x="5" y="0"/>
                  </a:lnTo>
                  <a:lnTo>
                    <a:pt x="0" y="1488"/>
                  </a:lnTo>
                  <a:lnTo>
                    <a:pt x="1597" y="1734"/>
                  </a:lnTo>
                  <a:lnTo>
                    <a:pt x="1602" y="204"/>
                  </a:lnTo>
                  <a:close/>
                </a:path>
              </a:pathLst>
            </a:custGeom>
            <a:gradFill rotWithShape="1">
              <a:gsLst>
                <a:gs pos="0">
                  <a:srgbClr val="FFFFFF"/>
                </a:gs>
                <a:gs pos="100000">
                  <a:srgbClr val="DDDDDD"/>
                </a:gs>
              </a:gsLst>
              <a:lin ang="5400000" scaled="1"/>
            </a:gradFill>
            <a:ln w="9525">
              <a:solidFill>
                <a:srgbClr val="969696"/>
              </a:solidFill>
              <a:round/>
              <a:headEnd/>
              <a:tailEnd/>
            </a:ln>
          </p:spPr>
          <p:txBody>
            <a:bodyPr/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48" name="Freeform 220"/>
            <p:cNvSpPr>
              <a:spLocks/>
            </p:cNvSpPr>
            <p:nvPr/>
          </p:nvSpPr>
          <p:spPr bwMode="auto">
            <a:xfrm flipH="1">
              <a:off x="1722608" y="4503290"/>
              <a:ext cx="358775" cy="96837"/>
            </a:xfrm>
            <a:custGeom>
              <a:avLst/>
              <a:gdLst>
                <a:gd name="T0" fmla="*/ 1327 w 1330"/>
                <a:gd name="T1" fmla="*/ 200 h 330"/>
                <a:gd name="T2" fmla="*/ 0 w 1330"/>
                <a:gd name="T3" fmla="*/ 0 h 330"/>
                <a:gd name="T4" fmla="*/ 0 w 1330"/>
                <a:gd name="T5" fmla="*/ 115 h 330"/>
                <a:gd name="T6" fmla="*/ 1330 w 1330"/>
                <a:gd name="T7" fmla="*/ 330 h 330"/>
                <a:gd name="T8" fmla="*/ 1327 w 1330"/>
                <a:gd name="T9" fmla="*/ 200 h 33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330"/>
                <a:gd name="T16" fmla="*/ 0 h 330"/>
                <a:gd name="T17" fmla="*/ 1330 w 1330"/>
                <a:gd name="T18" fmla="*/ 330 h 33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330" h="330">
                  <a:moveTo>
                    <a:pt x="1327" y="200"/>
                  </a:moveTo>
                  <a:lnTo>
                    <a:pt x="0" y="0"/>
                  </a:lnTo>
                  <a:lnTo>
                    <a:pt x="0" y="115"/>
                  </a:lnTo>
                  <a:lnTo>
                    <a:pt x="1330" y="330"/>
                  </a:lnTo>
                  <a:lnTo>
                    <a:pt x="1327" y="200"/>
                  </a:lnTo>
                  <a:close/>
                </a:path>
              </a:pathLst>
            </a:custGeom>
            <a:gradFill rotWithShape="1">
              <a:gsLst>
                <a:gs pos="0">
                  <a:srgbClr val="C0C0C0"/>
                </a:gs>
                <a:gs pos="50000">
                  <a:srgbClr val="FFFFFF"/>
                </a:gs>
                <a:gs pos="100000">
                  <a:srgbClr val="C0C0C0"/>
                </a:gs>
              </a:gsLst>
              <a:lin ang="5400000" scaled="1"/>
            </a:gradFill>
            <a:ln w="9525">
              <a:solidFill>
                <a:srgbClr val="969696"/>
              </a:solidFill>
              <a:round/>
              <a:headEnd/>
              <a:tailEnd/>
            </a:ln>
          </p:spPr>
          <p:txBody>
            <a:bodyPr/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49" name="Freeform 221"/>
            <p:cNvSpPr>
              <a:spLocks/>
            </p:cNvSpPr>
            <p:nvPr/>
          </p:nvSpPr>
          <p:spPr bwMode="auto">
            <a:xfrm flipH="1">
              <a:off x="1651170" y="4147690"/>
              <a:ext cx="15875" cy="452437"/>
            </a:xfrm>
            <a:custGeom>
              <a:avLst/>
              <a:gdLst>
                <a:gd name="T0" fmla="*/ 4 w 56"/>
                <a:gd name="T1" fmla="*/ 16 h 1536"/>
                <a:gd name="T2" fmla="*/ 56 w 56"/>
                <a:gd name="T3" fmla="*/ 0 h 1536"/>
                <a:gd name="T4" fmla="*/ 46 w 56"/>
                <a:gd name="T5" fmla="*/ 1513 h 1536"/>
                <a:gd name="T6" fmla="*/ 0 w 56"/>
                <a:gd name="T7" fmla="*/ 1536 h 1536"/>
                <a:gd name="T8" fmla="*/ 4 w 56"/>
                <a:gd name="T9" fmla="*/ 16 h 153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56"/>
                <a:gd name="T16" fmla="*/ 0 h 1536"/>
                <a:gd name="T17" fmla="*/ 56 w 56"/>
                <a:gd name="T18" fmla="*/ 1536 h 1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56" h="1536">
                  <a:moveTo>
                    <a:pt x="4" y="16"/>
                  </a:moveTo>
                  <a:lnTo>
                    <a:pt x="56" y="0"/>
                  </a:lnTo>
                  <a:lnTo>
                    <a:pt x="46" y="1513"/>
                  </a:lnTo>
                  <a:lnTo>
                    <a:pt x="0" y="1536"/>
                  </a:lnTo>
                  <a:lnTo>
                    <a:pt x="4" y="16"/>
                  </a:lnTo>
                  <a:close/>
                </a:path>
              </a:pathLst>
            </a:custGeom>
            <a:gradFill rotWithShape="1">
              <a:gsLst>
                <a:gs pos="0">
                  <a:srgbClr val="777777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rgbClr val="969696"/>
              </a:solidFill>
              <a:round/>
              <a:headEnd/>
              <a:tailEnd/>
            </a:ln>
          </p:spPr>
          <p:txBody>
            <a:bodyPr/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50" name="Oval 222"/>
            <p:cNvSpPr>
              <a:spLocks noChangeArrowheads="1"/>
            </p:cNvSpPr>
            <p:nvPr/>
          </p:nvSpPr>
          <p:spPr bwMode="auto">
            <a:xfrm>
              <a:off x="2049633" y="4511227"/>
              <a:ext cx="12700" cy="26988"/>
            </a:xfrm>
            <a:prstGeom prst="ellipse">
              <a:avLst/>
            </a:prstGeom>
            <a:solidFill>
              <a:srgbClr val="777777"/>
            </a:solidFill>
            <a:ln w="9525">
              <a:solidFill>
                <a:srgbClr val="969696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51" name="Oval 223"/>
            <p:cNvSpPr>
              <a:spLocks noChangeArrowheads="1"/>
            </p:cNvSpPr>
            <p:nvPr/>
          </p:nvSpPr>
          <p:spPr bwMode="auto">
            <a:xfrm>
              <a:off x="2025820" y="4517577"/>
              <a:ext cx="11113" cy="22225"/>
            </a:xfrm>
            <a:prstGeom prst="ellipse">
              <a:avLst/>
            </a:prstGeom>
            <a:solidFill>
              <a:srgbClr val="C0C0C0"/>
            </a:solidFill>
            <a:ln w="9525">
              <a:solidFill>
                <a:srgbClr val="969696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52" name="Oval 224"/>
            <p:cNvSpPr>
              <a:spLocks noChangeArrowheads="1"/>
            </p:cNvSpPr>
            <p:nvPr/>
          </p:nvSpPr>
          <p:spPr bwMode="auto">
            <a:xfrm>
              <a:off x="1943270" y="4538215"/>
              <a:ext cx="14288" cy="15875"/>
            </a:xfrm>
            <a:prstGeom prst="ellipse">
              <a:avLst/>
            </a:prstGeom>
            <a:solidFill>
              <a:srgbClr val="C0C0C0"/>
            </a:solidFill>
            <a:ln w="9525">
              <a:solidFill>
                <a:srgbClr val="969696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53" name="Oval 225"/>
            <p:cNvSpPr>
              <a:spLocks noChangeArrowheads="1"/>
            </p:cNvSpPr>
            <p:nvPr/>
          </p:nvSpPr>
          <p:spPr bwMode="auto">
            <a:xfrm>
              <a:off x="1917870" y="4542977"/>
              <a:ext cx="12700" cy="17463"/>
            </a:xfrm>
            <a:prstGeom prst="ellipse">
              <a:avLst/>
            </a:prstGeom>
            <a:solidFill>
              <a:srgbClr val="C0C0C0"/>
            </a:solidFill>
            <a:ln w="9525">
              <a:solidFill>
                <a:srgbClr val="969696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54" name="Oval 226"/>
            <p:cNvSpPr>
              <a:spLocks noChangeArrowheads="1"/>
            </p:cNvSpPr>
            <p:nvPr/>
          </p:nvSpPr>
          <p:spPr bwMode="auto">
            <a:xfrm>
              <a:off x="1889295" y="4547740"/>
              <a:ext cx="14288" cy="15875"/>
            </a:xfrm>
            <a:prstGeom prst="ellipse">
              <a:avLst/>
            </a:prstGeom>
            <a:solidFill>
              <a:srgbClr val="C0C0C0"/>
            </a:solidFill>
            <a:ln w="9525">
              <a:solidFill>
                <a:srgbClr val="969696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55" name="Freeform 227"/>
            <p:cNvSpPr>
              <a:spLocks/>
            </p:cNvSpPr>
            <p:nvPr/>
          </p:nvSpPr>
          <p:spPr bwMode="auto">
            <a:xfrm flipH="1">
              <a:off x="1705145" y="4139752"/>
              <a:ext cx="361950" cy="401638"/>
            </a:xfrm>
            <a:custGeom>
              <a:avLst/>
              <a:gdLst>
                <a:gd name="T0" fmla="*/ 1330 w 1345"/>
                <a:gd name="T1" fmla="*/ 167 h 1366"/>
                <a:gd name="T2" fmla="*/ 0 w 1345"/>
                <a:gd name="T3" fmla="*/ 0 h 1366"/>
                <a:gd name="T4" fmla="*/ 0 w 1345"/>
                <a:gd name="T5" fmla="*/ 1157 h 1366"/>
                <a:gd name="T6" fmla="*/ 1345 w 1345"/>
                <a:gd name="T7" fmla="*/ 1366 h 1366"/>
                <a:gd name="T8" fmla="*/ 1330 w 1345"/>
                <a:gd name="T9" fmla="*/ 167 h 136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345"/>
                <a:gd name="T16" fmla="*/ 0 h 1366"/>
                <a:gd name="T17" fmla="*/ 1345 w 1345"/>
                <a:gd name="T18" fmla="*/ 1366 h 136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345" h="1366">
                  <a:moveTo>
                    <a:pt x="1330" y="167"/>
                  </a:moveTo>
                  <a:lnTo>
                    <a:pt x="0" y="0"/>
                  </a:lnTo>
                  <a:lnTo>
                    <a:pt x="0" y="1157"/>
                  </a:lnTo>
                  <a:lnTo>
                    <a:pt x="1345" y="1366"/>
                  </a:lnTo>
                  <a:lnTo>
                    <a:pt x="1330" y="167"/>
                  </a:lnTo>
                  <a:close/>
                </a:path>
              </a:pathLst>
            </a:custGeom>
            <a:gradFill rotWithShape="1">
              <a:gsLst>
                <a:gs pos="0">
                  <a:srgbClr val="C0C0C0"/>
                </a:gs>
                <a:gs pos="100000">
                  <a:srgbClr val="4D4D4D"/>
                </a:gs>
              </a:gsLst>
              <a:lin ang="5400000" scaled="1"/>
            </a:gradFill>
            <a:ln w="9525">
              <a:solidFill>
                <a:srgbClr val="969696"/>
              </a:solidFill>
              <a:round/>
              <a:headEnd/>
              <a:tailEnd/>
            </a:ln>
          </p:spPr>
          <p:txBody>
            <a:bodyPr/>
            <a:lstStyle/>
            <a:p>
              <a:pPr>
                <a:defRPr/>
              </a:pPr>
              <a:endParaRPr lang="ko-KR" altLang="en-US" kern="0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56" name="Freeform 228"/>
            <p:cNvSpPr>
              <a:spLocks/>
            </p:cNvSpPr>
            <p:nvPr/>
          </p:nvSpPr>
          <p:spPr bwMode="auto">
            <a:xfrm flipH="1">
              <a:off x="1651170" y="4087365"/>
              <a:ext cx="447675" cy="63500"/>
            </a:xfrm>
            <a:custGeom>
              <a:avLst/>
              <a:gdLst>
                <a:gd name="T0" fmla="*/ 0 w 1660"/>
                <a:gd name="T1" fmla="*/ 10 h 214"/>
                <a:gd name="T2" fmla="*/ 68 w 1660"/>
                <a:gd name="T3" fmla="*/ 0 h 214"/>
                <a:gd name="T4" fmla="*/ 1660 w 1660"/>
                <a:gd name="T5" fmla="*/ 199 h 214"/>
                <a:gd name="T6" fmla="*/ 1613 w 1660"/>
                <a:gd name="T7" fmla="*/ 214 h 214"/>
                <a:gd name="T8" fmla="*/ 0 w 1660"/>
                <a:gd name="T9" fmla="*/ 10 h 214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660"/>
                <a:gd name="T16" fmla="*/ 0 h 214"/>
                <a:gd name="T17" fmla="*/ 1660 w 1660"/>
                <a:gd name="T18" fmla="*/ 214 h 214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660" h="214">
                  <a:moveTo>
                    <a:pt x="0" y="10"/>
                  </a:moveTo>
                  <a:lnTo>
                    <a:pt x="68" y="0"/>
                  </a:lnTo>
                  <a:lnTo>
                    <a:pt x="1660" y="199"/>
                  </a:lnTo>
                  <a:lnTo>
                    <a:pt x="1613" y="214"/>
                  </a:lnTo>
                  <a:lnTo>
                    <a:pt x="0" y="10"/>
                  </a:lnTo>
                  <a:close/>
                </a:path>
              </a:pathLst>
            </a:custGeom>
            <a:noFill/>
            <a:ln w="9525">
              <a:solidFill>
                <a:srgbClr val="969696"/>
              </a:solidFill>
              <a:round/>
              <a:headEnd/>
              <a:tailEnd/>
            </a:ln>
          </p:spPr>
          <p:txBody>
            <a:bodyPr/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</p:grpSp>
      <p:pic>
        <p:nvPicPr>
          <p:cNvPr id="59" name="Picture 2" descr="C:\Users\Toshiba\AppData\Local\Microsoft\Windows\Temporary Internet Files\Content.IE5\TBE21NJN\MC900434845[1]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3096021" y="2680592"/>
            <a:ext cx="1366509" cy="130007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0" name="TextBox 59"/>
          <p:cNvSpPr txBox="1"/>
          <p:nvPr/>
        </p:nvSpPr>
        <p:spPr>
          <a:xfrm>
            <a:off x="3253040" y="3961565"/>
            <a:ext cx="123944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송신호스트 </a:t>
            </a:r>
          </a:p>
        </p:txBody>
      </p:sp>
      <p:sp>
        <p:nvSpPr>
          <p:cNvPr id="61" name="오른쪽 화살표 60"/>
          <p:cNvSpPr/>
          <p:nvPr/>
        </p:nvSpPr>
        <p:spPr>
          <a:xfrm>
            <a:off x="5329959" y="1384082"/>
            <a:ext cx="2847885" cy="651161"/>
          </a:xfrm>
          <a:prstGeom prst="rightArrow">
            <a:avLst>
              <a:gd name="adj1" fmla="val 50000"/>
              <a:gd name="adj2" fmla="val 86095"/>
            </a:avLst>
          </a:prstGeom>
          <a:solidFill>
            <a:schemeClr val="bg1">
              <a:lumMod val="85000"/>
            </a:schemeClr>
          </a:solidFill>
          <a:ln cap="sq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TextBox 61"/>
          <p:cNvSpPr txBox="1"/>
          <p:nvPr/>
        </p:nvSpPr>
        <p:spPr>
          <a:xfrm>
            <a:off x="6305284" y="2239358"/>
            <a:ext cx="24147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1500 </a:t>
            </a:r>
            <a:r>
              <a:rPr lang="ko-KR" altLang="en-US" sz="160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바이트</a:t>
            </a:r>
            <a:r>
              <a:rPr lang="en-US" altLang="ko-KR" sz="16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 </a:t>
            </a:r>
            <a:endParaRPr lang="ko-KR" altLang="en-US" sz="1600" dirty="0">
              <a:latin typeface="Times New Roman" panose="02020603050405020304" pitchFamily="18" charset="0"/>
              <a:ea typeface="함초롬바탕" panose="02030504000101010101" pitchFamily="18" charset="-127"/>
              <a:cs typeface="Times New Roman" panose="02020603050405020304" pitchFamily="18" charset="0"/>
            </a:endParaRPr>
          </a:p>
        </p:txBody>
      </p:sp>
      <p:sp>
        <p:nvSpPr>
          <p:cNvPr id="65" name="오른쪽 화살표 64"/>
          <p:cNvSpPr/>
          <p:nvPr/>
        </p:nvSpPr>
        <p:spPr>
          <a:xfrm rot="10800000">
            <a:off x="5267258" y="3728354"/>
            <a:ext cx="2882575" cy="603308"/>
          </a:xfrm>
          <a:prstGeom prst="rightArrow">
            <a:avLst>
              <a:gd name="adj1" fmla="val 50000"/>
              <a:gd name="adj2" fmla="val 86095"/>
            </a:avLst>
          </a:prstGeom>
          <a:noFill/>
          <a:ln cap="sq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8" name="TextBox 67"/>
          <p:cNvSpPr txBox="1"/>
          <p:nvPr/>
        </p:nvSpPr>
        <p:spPr>
          <a:xfrm>
            <a:off x="9445063" y="2596592"/>
            <a:ext cx="123944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수신호스트 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800541" y="3873801"/>
            <a:ext cx="246034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5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   Window Size = 1000</a:t>
            </a:r>
            <a:endParaRPr lang="ko-KR" altLang="en-US" sz="1500" dirty="0">
              <a:latin typeface="Times New Roman" panose="02020603050405020304" pitchFamily="18" charset="0"/>
              <a:ea typeface="함초롬바탕" panose="02030504000101010101" pitchFamily="18" charset="-127"/>
              <a:cs typeface="Times New Roman" panose="02020603050405020304" pitchFamily="18" charset="0"/>
            </a:endParaRPr>
          </a:p>
        </p:txBody>
      </p:sp>
      <p:sp>
        <p:nvSpPr>
          <p:cNvPr id="74" name="오른쪽 화살표 73"/>
          <p:cNvSpPr/>
          <p:nvPr/>
        </p:nvSpPr>
        <p:spPr>
          <a:xfrm>
            <a:off x="5337088" y="2103368"/>
            <a:ext cx="2852713" cy="651161"/>
          </a:xfrm>
          <a:prstGeom prst="rightArrow">
            <a:avLst>
              <a:gd name="adj1" fmla="val 50000"/>
              <a:gd name="adj2" fmla="val 86095"/>
            </a:avLst>
          </a:prstGeom>
          <a:solidFill>
            <a:schemeClr val="bg1">
              <a:lumMod val="85000"/>
            </a:schemeClr>
          </a:solidFill>
          <a:ln cap="sq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8" name="오른쪽 화살표 77"/>
          <p:cNvSpPr/>
          <p:nvPr/>
        </p:nvSpPr>
        <p:spPr>
          <a:xfrm rot="10800000">
            <a:off x="5329959" y="5439994"/>
            <a:ext cx="2800707" cy="593573"/>
          </a:xfrm>
          <a:prstGeom prst="rightArrow">
            <a:avLst>
              <a:gd name="adj1" fmla="val 50000"/>
              <a:gd name="adj2" fmla="val 86095"/>
            </a:avLst>
          </a:prstGeom>
          <a:noFill/>
          <a:ln cap="sq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8" name="오른쪽 화살표 107"/>
          <p:cNvSpPr/>
          <p:nvPr/>
        </p:nvSpPr>
        <p:spPr>
          <a:xfrm rot="10800000">
            <a:off x="5258065" y="734207"/>
            <a:ext cx="2891770" cy="593573"/>
          </a:xfrm>
          <a:prstGeom prst="rightArrow">
            <a:avLst>
              <a:gd name="adj1" fmla="val 50000"/>
              <a:gd name="adj2" fmla="val 86095"/>
            </a:avLst>
          </a:prstGeom>
          <a:noFill/>
          <a:ln cap="sq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9" name="TextBox 108"/>
          <p:cNvSpPr txBox="1"/>
          <p:nvPr/>
        </p:nvSpPr>
        <p:spPr>
          <a:xfrm>
            <a:off x="5847645" y="871666"/>
            <a:ext cx="213452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Window Size = 3000 </a:t>
            </a:r>
            <a:endParaRPr lang="ko-KR" altLang="en-US" sz="1600" dirty="0">
              <a:latin typeface="Times New Roman" panose="02020603050405020304" pitchFamily="18" charset="0"/>
              <a:ea typeface="함초롬바탕" panose="02030504000101010101" pitchFamily="18" charset="-127"/>
              <a:cs typeface="Times New Roman" panose="02020603050405020304" pitchFamily="18" charset="0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34EBFEF3-B7B5-A550-243C-3EB6A3530B51}"/>
              </a:ext>
            </a:extLst>
          </p:cNvPr>
          <p:cNvSpPr txBox="1">
            <a:spLocks/>
          </p:cNvSpPr>
          <p:nvPr/>
        </p:nvSpPr>
        <p:spPr bwMode="auto">
          <a:xfrm>
            <a:off x="645167" y="566498"/>
            <a:ext cx="7280275" cy="4810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84406" tIns="42203" rIns="84406" bIns="42203" numCol="1" rtlCol="0" anchor="t" anchorCtr="0" compatLnSpc="1">
            <a:prstTxWarp prst="textNoShape">
              <a:avLst/>
            </a:prstTxWarp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28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❶ </a:t>
            </a:r>
            <a:r>
              <a:rPr lang="ko-KR" altLang="en-US" sz="2800" b="1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트래픽 </a:t>
            </a:r>
            <a:r>
              <a:rPr lang="ko-KR" altLang="en-US" sz="2800" b="1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흐름제어 </a:t>
            </a:r>
            <a:endParaRPr lang="ko-KR" altLang="en-US" sz="2800" b="1" dirty="0">
              <a:ea typeface="함초롬바탕" panose="02030504000101010101"/>
            </a:endParaRPr>
          </a:p>
        </p:txBody>
      </p:sp>
      <p:sp>
        <p:nvSpPr>
          <p:cNvPr id="82" name="직사각형 81"/>
          <p:cNvSpPr/>
          <p:nvPr/>
        </p:nvSpPr>
        <p:spPr>
          <a:xfrm>
            <a:off x="3696348" y="2090036"/>
            <a:ext cx="803409" cy="39750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4" dirty="0">
                <a:latin typeface="Times New Roman" panose="02020603050405020304" pitchFamily="18" charset="0"/>
                <a:cs typeface="Times New Roman" panose="02020603050405020304" pitchFamily="18" charset="0"/>
              </a:rPr>
              <a:t>1400</a:t>
            </a:r>
            <a:endParaRPr lang="ko-KR" altLang="en-US" sz="1504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3" name="직사각형 82"/>
          <p:cNvSpPr/>
          <p:nvPr/>
        </p:nvSpPr>
        <p:spPr>
          <a:xfrm>
            <a:off x="2802734" y="2090036"/>
            <a:ext cx="803409" cy="397508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4" dirty="0">
                <a:latin typeface="Times New Roman" panose="02020603050405020304" pitchFamily="18" charset="0"/>
                <a:cs typeface="Times New Roman" panose="02020603050405020304" pitchFamily="18" charset="0"/>
              </a:rPr>
              <a:t>1400</a:t>
            </a:r>
            <a:endParaRPr lang="ko-KR" altLang="en-US" sz="1504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4" name="직사각형 83"/>
          <p:cNvSpPr/>
          <p:nvPr/>
        </p:nvSpPr>
        <p:spPr>
          <a:xfrm>
            <a:off x="1909120" y="2090036"/>
            <a:ext cx="803409" cy="397508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4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1000</a:t>
            </a:r>
            <a:endParaRPr lang="ko-KR" altLang="en-US" sz="1504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5" name="TextBox 84"/>
          <p:cNvSpPr txBox="1"/>
          <p:nvPr/>
        </p:nvSpPr>
        <p:spPr>
          <a:xfrm>
            <a:off x="3732953" y="1814921"/>
            <a:ext cx="763351" cy="2723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17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SN=5000</a:t>
            </a:r>
            <a:endParaRPr lang="ko-KR" altLang="en-US" sz="117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6" name="TextBox 85"/>
          <p:cNvSpPr txBox="1"/>
          <p:nvPr/>
        </p:nvSpPr>
        <p:spPr>
          <a:xfrm>
            <a:off x="2856167" y="1814277"/>
            <a:ext cx="763351" cy="2723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17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SN=6400</a:t>
            </a:r>
            <a:endParaRPr lang="ko-KR" altLang="en-US" sz="117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7" name="TextBox 86"/>
          <p:cNvSpPr txBox="1"/>
          <p:nvPr/>
        </p:nvSpPr>
        <p:spPr>
          <a:xfrm>
            <a:off x="1959696" y="1815453"/>
            <a:ext cx="763351" cy="2723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17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SN=7800</a:t>
            </a:r>
            <a:endParaRPr lang="ko-KR" altLang="en-US" sz="117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8" name="직사각형 87"/>
          <p:cNvSpPr/>
          <p:nvPr/>
        </p:nvSpPr>
        <p:spPr>
          <a:xfrm>
            <a:off x="979753" y="2091107"/>
            <a:ext cx="803409" cy="397508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4" dirty="0">
                <a:latin typeface="Times New Roman" panose="02020603050405020304" pitchFamily="18" charset="0"/>
                <a:cs typeface="Times New Roman" panose="02020603050405020304" pitchFamily="18" charset="0"/>
              </a:rPr>
              <a:t>800</a:t>
            </a:r>
            <a:endParaRPr lang="ko-KR" altLang="en-US" sz="1504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9" name="TextBox 88"/>
          <p:cNvSpPr txBox="1"/>
          <p:nvPr/>
        </p:nvSpPr>
        <p:spPr>
          <a:xfrm>
            <a:off x="1030329" y="1816524"/>
            <a:ext cx="763351" cy="2723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17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SN=8800</a:t>
            </a:r>
            <a:endParaRPr lang="ko-KR" altLang="en-US" sz="117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1" name="TextBox 60"/>
          <p:cNvSpPr txBox="1">
            <a:spLocks noChangeArrowheads="1"/>
          </p:cNvSpPr>
          <p:nvPr/>
        </p:nvSpPr>
        <p:spPr bwMode="auto">
          <a:xfrm>
            <a:off x="5362620" y="1543644"/>
            <a:ext cx="2390398" cy="3196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1pPr>
            <a:lvl2pPr marL="742950" indent="-285750"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2pPr>
            <a:lvl3pPr marL="1143000" indent="-228600"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3pPr>
            <a:lvl4pPr marL="1600200" indent="-228600"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4pPr>
            <a:lvl5pPr marL="2057400" indent="-228600"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9pPr>
          </a:lstStyle>
          <a:p>
            <a:r>
              <a:rPr lang="en-US" altLang="ko-KR" sz="1477" dirty="0">
                <a:latin typeface="Times New Roman" panose="02020603050405020304" pitchFamily="18" charset="0"/>
                <a:cs typeface="Times New Roman" panose="02020603050405020304" pitchFamily="18" charset="0"/>
              </a:rPr>
              <a:t>SN=</a:t>
            </a:r>
            <a:r>
              <a:rPr lang="en-US" altLang="ko-KR" sz="1477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5000 (</a:t>
            </a:r>
            <a:r>
              <a:rPr lang="en-US" altLang="ko-KR" sz="1477" dirty="0">
                <a:solidFill>
                  <a:schemeClr val="accent2"/>
                </a:solidFill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Data Size : 1400</a:t>
            </a:r>
            <a:r>
              <a:rPr lang="en-US" altLang="ko-KR" sz="1477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)</a:t>
            </a:r>
            <a:r>
              <a:rPr lang="ko-KR" altLang="en-US" sz="1477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 </a:t>
            </a:r>
          </a:p>
        </p:txBody>
      </p:sp>
      <p:sp>
        <p:nvSpPr>
          <p:cNvPr id="92" name="TextBox 60"/>
          <p:cNvSpPr txBox="1">
            <a:spLocks noChangeArrowheads="1"/>
          </p:cNvSpPr>
          <p:nvPr/>
        </p:nvSpPr>
        <p:spPr bwMode="auto">
          <a:xfrm>
            <a:off x="5362620" y="2256316"/>
            <a:ext cx="2390398" cy="3196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1pPr>
            <a:lvl2pPr marL="742950" indent="-285750"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2pPr>
            <a:lvl3pPr marL="1143000" indent="-228600"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3pPr>
            <a:lvl4pPr marL="1600200" indent="-228600"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4pPr>
            <a:lvl5pPr marL="2057400" indent="-228600"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9pPr>
          </a:lstStyle>
          <a:p>
            <a:r>
              <a:rPr lang="en-US" altLang="ko-KR" sz="1477" dirty="0">
                <a:latin typeface="Times New Roman" panose="02020603050405020304" pitchFamily="18" charset="0"/>
                <a:cs typeface="Times New Roman" panose="02020603050405020304" pitchFamily="18" charset="0"/>
              </a:rPr>
              <a:t>SN=</a:t>
            </a:r>
            <a:r>
              <a:rPr lang="en-US" altLang="ko-KR" sz="1477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5000 (</a:t>
            </a:r>
            <a:r>
              <a:rPr lang="en-US" altLang="ko-KR" sz="1477" dirty="0">
                <a:solidFill>
                  <a:schemeClr val="accent2"/>
                </a:solidFill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Data Size : 1400</a:t>
            </a:r>
            <a:r>
              <a:rPr lang="en-US" altLang="ko-KR" sz="1477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)</a:t>
            </a:r>
            <a:r>
              <a:rPr lang="ko-KR" altLang="en-US" sz="1477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 </a:t>
            </a:r>
          </a:p>
        </p:txBody>
      </p:sp>
      <p:sp>
        <p:nvSpPr>
          <p:cNvPr id="93" name="오른쪽 화살표 92"/>
          <p:cNvSpPr/>
          <p:nvPr/>
        </p:nvSpPr>
        <p:spPr>
          <a:xfrm rot="10800000">
            <a:off x="5258064" y="2958167"/>
            <a:ext cx="2891770" cy="580292"/>
          </a:xfrm>
          <a:prstGeom prst="rightArrow">
            <a:avLst>
              <a:gd name="adj1" fmla="val 50000"/>
              <a:gd name="adj2" fmla="val 86095"/>
            </a:avLst>
          </a:prstGeom>
          <a:noFill/>
          <a:ln cap="sq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886"/>
          </a:p>
        </p:txBody>
      </p:sp>
      <p:sp>
        <p:nvSpPr>
          <p:cNvPr id="94" name="TextBox 75"/>
          <p:cNvSpPr txBox="1">
            <a:spLocks noChangeArrowheads="1"/>
          </p:cNvSpPr>
          <p:nvPr/>
        </p:nvSpPr>
        <p:spPr bwMode="auto">
          <a:xfrm>
            <a:off x="6291372" y="3116430"/>
            <a:ext cx="1087157" cy="3196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1pPr>
            <a:lvl2pPr marL="742950" indent="-285750"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2pPr>
            <a:lvl3pPr marL="1143000" indent="-228600"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3pPr>
            <a:lvl4pPr marL="1600200" indent="-228600"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4pPr>
            <a:lvl5pPr marL="2057400" indent="-228600"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9pPr>
          </a:lstStyle>
          <a:p>
            <a:r>
              <a:rPr lang="en-US" altLang="ko-KR" sz="1477" dirty="0">
                <a:solidFill>
                  <a:schemeClr val="tx1">
                    <a:lumMod val="85000"/>
                    <a:lumOff val="15000"/>
                  </a:schemeClr>
                </a:solidFill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AN= </a:t>
            </a:r>
            <a:r>
              <a:rPr lang="en-US" altLang="ko-KR" sz="1477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7800 </a:t>
            </a:r>
            <a:r>
              <a:rPr lang="ko-KR" altLang="en-US" sz="1477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 </a:t>
            </a:r>
            <a:endParaRPr lang="ko-KR" altLang="en-US" sz="1477" dirty="0">
              <a:latin typeface="Times New Roman" panose="02020603050405020304" pitchFamily="18" charset="0"/>
              <a:ea typeface="함초롬바탕" panose="02030504000101010101" pitchFamily="18" charset="-127"/>
              <a:cs typeface="Times New Roman" panose="02020603050405020304" pitchFamily="18" charset="0"/>
            </a:endParaRPr>
          </a:p>
        </p:txBody>
      </p:sp>
      <p:sp>
        <p:nvSpPr>
          <p:cNvPr id="95" name="오른쪽 화살표 94"/>
          <p:cNvSpPr/>
          <p:nvPr/>
        </p:nvSpPr>
        <p:spPr>
          <a:xfrm>
            <a:off x="5337088" y="4566896"/>
            <a:ext cx="2847885" cy="651161"/>
          </a:xfrm>
          <a:prstGeom prst="rightArrow">
            <a:avLst>
              <a:gd name="adj1" fmla="val 50000"/>
              <a:gd name="adj2" fmla="val 86095"/>
            </a:avLst>
          </a:prstGeom>
          <a:solidFill>
            <a:schemeClr val="bg1">
              <a:lumMod val="85000"/>
            </a:schemeClr>
          </a:solidFill>
          <a:ln cap="sq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6" name="TextBox 60"/>
          <p:cNvSpPr txBox="1">
            <a:spLocks noChangeArrowheads="1"/>
          </p:cNvSpPr>
          <p:nvPr/>
        </p:nvSpPr>
        <p:spPr bwMode="auto">
          <a:xfrm>
            <a:off x="5369749" y="4726458"/>
            <a:ext cx="2390398" cy="3196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1pPr>
            <a:lvl2pPr marL="742950" indent="-285750"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2pPr>
            <a:lvl3pPr marL="1143000" indent="-228600"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3pPr>
            <a:lvl4pPr marL="1600200" indent="-228600"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4pPr>
            <a:lvl5pPr marL="2057400" indent="-228600"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9pPr>
          </a:lstStyle>
          <a:p>
            <a:r>
              <a:rPr lang="en-US" altLang="ko-KR" sz="1477" dirty="0">
                <a:latin typeface="Times New Roman" panose="02020603050405020304" pitchFamily="18" charset="0"/>
                <a:cs typeface="Times New Roman" panose="02020603050405020304" pitchFamily="18" charset="0"/>
              </a:rPr>
              <a:t>SN=</a:t>
            </a:r>
            <a:r>
              <a:rPr lang="en-US" altLang="ko-KR" sz="1477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7800 (</a:t>
            </a:r>
            <a:r>
              <a:rPr lang="en-US" altLang="ko-KR" sz="1477" dirty="0">
                <a:solidFill>
                  <a:schemeClr val="accent2"/>
                </a:solidFill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Data Size : 1000</a:t>
            </a:r>
            <a:r>
              <a:rPr lang="en-US" altLang="ko-KR" sz="1477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)</a:t>
            </a:r>
            <a:r>
              <a:rPr lang="ko-KR" altLang="en-US" sz="1477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 </a:t>
            </a:r>
          </a:p>
        </p:txBody>
      </p:sp>
      <p:sp>
        <p:nvSpPr>
          <p:cNvPr id="97" name="TextBox 75"/>
          <p:cNvSpPr txBox="1">
            <a:spLocks noChangeArrowheads="1"/>
          </p:cNvSpPr>
          <p:nvPr/>
        </p:nvSpPr>
        <p:spPr bwMode="auto">
          <a:xfrm>
            <a:off x="6307543" y="5576961"/>
            <a:ext cx="942887" cy="3196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1pPr>
            <a:lvl2pPr marL="742950" indent="-285750"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2pPr>
            <a:lvl3pPr marL="1143000" indent="-228600"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3pPr>
            <a:lvl4pPr marL="1600200" indent="-228600"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4pPr>
            <a:lvl5pPr marL="2057400" indent="-228600"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9pPr>
          </a:lstStyle>
          <a:p>
            <a:r>
              <a:rPr lang="en-US" altLang="ko-KR" sz="1477" dirty="0">
                <a:solidFill>
                  <a:schemeClr val="tx1">
                    <a:lumMod val="85000"/>
                    <a:lumOff val="15000"/>
                  </a:schemeClr>
                </a:solidFill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AN=8800</a:t>
            </a:r>
            <a:endParaRPr lang="ko-KR" altLang="en-US" sz="1477" dirty="0">
              <a:latin typeface="Times New Roman" panose="02020603050405020304" pitchFamily="18" charset="0"/>
              <a:ea typeface="함초롬바탕" panose="02030504000101010101" pitchFamily="18" charset="-127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7851209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>
          <a:xfrm>
            <a:off x="9131930" y="6381352"/>
            <a:ext cx="2743200" cy="365125"/>
          </a:xfrm>
        </p:spPr>
        <p:txBody>
          <a:bodyPr/>
          <a:lstStyle/>
          <a:p>
            <a:fld id="{B1F5DBBF-35D1-4D56-BF8F-CD0D3754FCBA}" type="slidenum">
              <a:rPr lang="ko-KR" altLang="en-US" smtClean="0"/>
              <a:pPr/>
              <a:t>26</a:t>
            </a:fld>
            <a:endParaRPr lang="en-US" altLang="ko-KR"/>
          </a:p>
        </p:txBody>
      </p:sp>
      <p:grpSp>
        <p:nvGrpSpPr>
          <p:cNvPr id="6" name="그룹 5"/>
          <p:cNvGrpSpPr/>
          <p:nvPr/>
        </p:nvGrpSpPr>
        <p:grpSpPr>
          <a:xfrm flipH="1">
            <a:off x="9335596" y="3213077"/>
            <a:ext cx="941018" cy="1020399"/>
            <a:chOff x="1533695" y="4087365"/>
            <a:chExt cx="838200" cy="1007923"/>
          </a:xfrm>
        </p:grpSpPr>
        <p:sp>
          <p:nvSpPr>
            <p:cNvPr id="7" name="Freeform 174"/>
            <p:cNvSpPr>
              <a:spLocks/>
            </p:cNvSpPr>
            <p:nvPr/>
          </p:nvSpPr>
          <p:spPr bwMode="auto">
            <a:xfrm rot="355818">
              <a:off x="2175045" y="4754115"/>
              <a:ext cx="74613" cy="52387"/>
            </a:xfrm>
            <a:custGeom>
              <a:avLst/>
              <a:gdLst>
                <a:gd name="T0" fmla="*/ 1224 w 1224"/>
                <a:gd name="T1" fmla="*/ 755 h 755"/>
                <a:gd name="T2" fmla="*/ 1112 w 1224"/>
                <a:gd name="T3" fmla="*/ 716 h 755"/>
                <a:gd name="T4" fmla="*/ 1051 w 1224"/>
                <a:gd name="T5" fmla="*/ 693 h 755"/>
                <a:gd name="T6" fmla="*/ 1006 w 1224"/>
                <a:gd name="T7" fmla="*/ 671 h 755"/>
                <a:gd name="T8" fmla="*/ 984 w 1224"/>
                <a:gd name="T9" fmla="*/ 660 h 755"/>
                <a:gd name="T10" fmla="*/ 939 w 1224"/>
                <a:gd name="T11" fmla="*/ 626 h 755"/>
                <a:gd name="T12" fmla="*/ 894 w 1224"/>
                <a:gd name="T13" fmla="*/ 548 h 755"/>
                <a:gd name="T14" fmla="*/ 889 w 1224"/>
                <a:gd name="T15" fmla="*/ 531 h 755"/>
                <a:gd name="T16" fmla="*/ 850 w 1224"/>
                <a:gd name="T17" fmla="*/ 509 h 755"/>
                <a:gd name="T18" fmla="*/ 799 w 1224"/>
                <a:gd name="T19" fmla="*/ 481 h 755"/>
                <a:gd name="T20" fmla="*/ 704 w 1224"/>
                <a:gd name="T21" fmla="*/ 453 h 755"/>
                <a:gd name="T22" fmla="*/ 419 w 1224"/>
                <a:gd name="T23" fmla="*/ 442 h 755"/>
                <a:gd name="T24" fmla="*/ 330 w 1224"/>
                <a:gd name="T25" fmla="*/ 408 h 755"/>
                <a:gd name="T26" fmla="*/ 212 w 1224"/>
                <a:gd name="T27" fmla="*/ 279 h 755"/>
                <a:gd name="T28" fmla="*/ 145 w 1224"/>
                <a:gd name="T29" fmla="*/ 134 h 755"/>
                <a:gd name="T30" fmla="*/ 78 w 1224"/>
                <a:gd name="T31" fmla="*/ 39 h 755"/>
                <a:gd name="T32" fmla="*/ 0 w 1224"/>
                <a:gd name="T33" fmla="*/ 0 h 755"/>
                <a:gd name="T34" fmla="*/ 0 60000 65536"/>
                <a:gd name="T35" fmla="*/ 0 60000 65536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w 1224"/>
                <a:gd name="T52" fmla="*/ 0 h 755"/>
                <a:gd name="T53" fmla="*/ 1224 w 1224"/>
                <a:gd name="T54" fmla="*/ 755 h 755"/>
              </a:gdLst>
              <a:ahLst/>
              <a:cxnLst>
                <a:cxn ang="T34">
                  <a:pos x="T0" y="T1"/>
                </a:cxn>
                <a:cxn ang="T35">
                  <a:pos x="T2" y="T3"/>
                </a:cxn>
                <a:cxn ang="T36">
                  <a:pos x="T4" y="T5"/>
                </a:cxn>
                <a:cxn ang="T37">
                  <a:pos x="T6" y="T7"/>
                </a:cxn>
                <a:cxn ang="T38">
                  <a:pos x="T8" y="T9"/>
                </a:cxn>
                <a:cxn ang="T39">
                  <a:pos x="T10" y="T11"/>
                </a:cxn>
                <a:cxn ang="T40">
                  <a:pos x="T12" y="T13"/>
                </a:cxn>
                <a:cxn ang="T41">
                  <a:pos x="T14" y="T15"/>
                </a:cxn>
                <a:cxn ang="T42">
                  <a:pos x="T16" y="T17"/>
                </a:cxn>
                <a:cxn ang="T43">
                  <a:pos x="T18" y="T19"/>
                </a:cxn>
                <a:cxn ang="T44">
                  <a:pos x="T20" y="T21"/>
                </a:cxn>
                <a:cxn ang="T45">
                  <a:pos x="T22" y="T23"/>
                </a:cxn>
                <a:cxn ang="T46">
                  <a:pos x="T24" y="T25"/>
                </a:cxn>
                <a:cxn ang="T47">
                  <a:pos x="T26" y="T27"/>
                </a:cxn>
                <a:cxn ang="T48">
                  <a:pos x="T28" y="T29"/>
                </a:cxn>
                <a:cxn ang="T49">
                  <a:pos x="T30" y="T31"/>
                </a:cxn>
                <a:cxn ang="T50">
                  <a:pos x="T32" y="T33"/>
                </a:cxn>
              </a:cxnLst>
              <a:rect l="T51" t="T52" r="T53" b="T54"/>
              <a:pathLst>
                <a:path w="1224" h="755">
                  <a:moveTo>
                    <a:pt x="1224" y="755"/>
                  </a:moveTo>
                  <a:cubicBezTo>
                    <a:pt x="1190" y="729"/>
                    <a:pt x="1154" y="724"/>
                    <a:pt x="1112" y="716"/>
                  </a:cubicBezTo>
                  <a:cubicBezTo>
                    <a:pt x="1091" y="705"/>
                    <a:pt x="1072" y="702"/>
                    <a:pt x="1051" y="693"/>
                  </a:cubicBezTo>
                  <a:cubicBezTo>
                    <a:pt x="1036" y="686"/>
                    <a:pt x="1021" y="678"/>
                    <a:pt x="1006" y="671"/>
                  </a:cubicBezTo>
                  <a:cubicBezTo>
                    <a:pt x="999" y="667"/>
                    <a:pt x="984" y="660"/>
                    <a:pt x="984" y="660"/>
                  </a:cubicBezTo>
                  <a:cubicBezTo>
                    <a:pt x="971" y="646"/>
                    <a:pt x="939" y="626"/>
                    <a:pt x="939" y="626"/>
                  </a:cubicBezTo>
                  <a:cubicBezTo>
                    <a:pt x="923" y="602"/>
                    <a:pt x="906" y="575"/>
                    <a:pt x="894" y="548"/>
                  </a:cubicBezTo>
                  <a:cubicBezTo>
                    <a:pt x="892" y="543"/>
                    <a:pt x="893" y="536"/>
                    <a:pt x="889" y="531"/>
                  </a:cubicBezTo>
                  <a:cubicBezTo>
                    <a:pt x="884" y="524"/>
                    <a:pt x="855" y="512"/>
                    <a:pt x="850" y="509"/>
                  </a:cubicBezTo>
                  <a:cubicBezTo>
                    <a:pt x="802" y="480"/>
                    <a:pt x="833" y="491"/>
                    <a:pt x="799" y="481"/>
                  </a:cubicBezTo>
                  <a:cubicBezTo>
                    <a:pt x="764" y="457"/>
                    <a:pt x="751" y="457"/>
                    <a:pt x="704" y="453"/>
                  </a:cubicBezTo>
                  <a:cubicBezTo>
                    <a:pt x="606" y="457"/>
                    <a:pt x="515" y="459"/>
                    <a:pt x="419" y="442"/>
                  </a:cubicBezTo>
                  <a:cubicBezTo>
                    <a:pt x="391" y="426"/>
                    <a:pt x="360" y="419"/>
                    <a:pt x="330" y="408"/>
                  </a:cubicBezTo>
                  <a:cubicBezTo>
                    <a:pt x="287" y="368"/>
                    <a:pt x="245" y="328"/>
                    <a:pt x="212" y="279"/>
                  </a:cubicBezTo>
                  <a:cubicBezTo>
                    <a:pt x="183" y="235"/>
                    <a:pt x="168" y="181"/>
                    <a:pt x="145" y="134"/>
                  </a:cubicBezTo>
                  <a:cubicBezTo>
                    <a:pt x="128" y="100"/>
                    <a:pt x="99" y="71"/>
                    <a:pt x="78" y="39"/>
                  </a:cubicBezTo>
                  <a:cubicBezTo>
                    <a:pt x="70" y="27"/>
                    <a:pt x="15" y="7"/>
                    <a:pt x="0" y="0"/>
                  </a:cubicBezTo>
                </a:path>
              </a:pathLst>
            </a:custGeom>
            <a:noFill/>
            <a:ln w="12700">
              <a:solidFill>
                <a:srgbClr val="969696"/>
              </a:solidFill>
              <a:round/>
              <a:headEnd/>
              <a:tailEnd/>
            </a:ln>
          </p:spPr>
          <p:txBody>
            <a:bodyPr/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8" name="Freeform 175"/>
            <p:cNvSpPr>
              <a:spLocks/>
            </p:cNvSpPr>
            <p:nvPr/>
          </p:nvSpPr>
          <p:spPr bwMode="auto">
            <a:xfrm rot="355818" flipH="1">
              <a:off x="2235370" y="4801740"/>
              <a:ext cx="136525" cy="82550"/>
            </a:xfrm>
            <a:custGeom>
              <a:avLst/>
              <a:gdLst>
                <a:gd name="T0" fmla="*/ 886 w 971"/>
                <a:gd name="T1" fmla="*/ 33 h 550"/>
                <a:gd name="T2" fmla="*/ 937 w 971"/>
                <a:gd name="T3" fmla="*/ 70 h 550"/>
                <a:gd name="T4" fmla="*/ 971 w 971"/>
                <a:gd name="T5" fmla="*/ 130 h 550"/>
                <a:gd name="T6" fmla="*/ 967 w 971"/>
                <a:gd name="T7" fmla="*/ 218 h 550"/>
                <a:gd name="T8" fmla="*/ 882 w 971"/>
                <a:gd name="T9" fmla="*/ 261 h 550"/>
                <a:gd name="T10" fmla="*/ 791 w 971"/>
                <a:gd name="T11" fmla="*/ 294 h 550"/>
                <a:gd name="T12" fmla="*/ 665 w 971"/>
                <a:gd name="T13" fmla="*/ 382 h 550"/>
                <a:gd name="T14" fmla="*/ 519 w 971"/>
                <a:gd name="T15" fmla="*/ 522 h 550"/>
                <a:gd name="T16" fmla="*/ 397 w 971"/>
                <a:gd name="T17" fmla="*/ 542 h 550"/>
                <a:gd name="T18" fmla="*/ 298 w 971"/>
                <a:gd name="T19" fmla="*/ 550 h 550"/>
                <a:gd name="T20" fmla="*/ 155 w 971"/>
                <a:gd name="T21" fmla="*/ 522 h 550"/>
                <a:gd name="T22" fmla="*/ 34 w 971"/>
                <a:gd name="T23" fmla="*/ 459 h 550"/>
                <a:gd name="T24" fmla="*/ 0 w 971"/>
                <a:gd name="T25" fmla="*/ 393 h 550"/>
                <a:gd name="T26" fmla="*/ 11 w 971"/>
                <a:gd name="T27" fmla="*/ 315 h 550"/>
                <a:gd name="T28" fmla="*/ 63 w 971"/>
                <a:gd name="T29" fmla="*/ 210 h 550"/>
                <a:gd name="T30" fmla="*/ 142 w 971"/>
                <a:gd name="T31" fmla="*/ 147 h 550"/>
                <a:gd name="T32" fmla="*/ 246 w 971"/>
                <a:gd name="T33" fmla="*/ 89 h 550"/>
                <a:gd name="T34" fmla="*/ 445 w 971"/>
                <a:gd name="T35" fmla="*/ 21 h 550"/>
                <a:gd name="T36" fmla="*/ 634 w 971"/>
                <a:gd name="T37" fmla="*/ 0 h 550"/>
                <a:gd name="T38" fmla="*/ 794 w 971"/>
                <a:gd name="T39" fmla="*/ 13 h 550"/>
                <a:gd name="T40" fmla="*/ 886 w 971"/>
                <a:gd name="T41" fmla="*/ 33 h 550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60000 65536"/>
                <a:gd name="T55" fmla="*/ 0 60000 65536"/>
                <a:gd name="T56" fmla="*/ 0 60000 65536"/>
                <a:gd name="T57" fmla="*/ 0 60000 65536"/>
                <a:gd name="T58" fmla="*/ 0 60000 65536"/>
                <a:gd name="T59" fmla="*/ 0 60000 65536"/>
                <a:gd name="T60" fmla="*/ 0 60000 65536"/>
                <a:gd name="T61" fmla="*/ 0 60000 65536"/>
                <a:gd name="T62" fmla="*/ 0 60000 65536"/>
                <a:gd name="T63" fmla="*/ 0 w 971"/>
                <a:gd name="T64" fmla="*/ 0 h 550"/>
                <a:gd name="T65" fmla="*/ 971 w 971"/>
                <a:gd name="T66" fmla="*/ 550 h 550"/>
              </a:gdLst>
              <a:ahLst/>
              <a:cxnLst>
                <a:cxn ang="T42">
                  <a:pos x="T0" y="T1"/>
                </a:cxn>
                <a:cxn ang="T43">
                  <a:pos x="T2" y="T3"/>
                </a:cxn>
                <a:cxn ang="T44">
                  <a:pos x="T4" y="T5"/>
                </a:cxn>
                <a:cxn ang="T45">
                  <a:pos x="T6" y="T7"/>
                </a:cxn>
                <a:cxn ang="T46">
                  <a:pos x="T8" y="T9"/>
                </a:cxn>
                <a:cxn ang="T47">
                  <a:pos x="T10" y="T11"/>
                </a:cxn>
                <a:cxn ang="T48">
                  <a:pos x="T12" y="T13"/>
                </a:cxn>
                <a:cxn ang="T49">
                  <a:pos x="T14" y="T15"/>
                </a:cxn>
                <a:cxn ang="T50">
                  <a:pos x="T16" y="T17"/>
                </a:cxn>
                <a:cxn ang="T51">
                  <a:pos x="T18" y="T19"/>
                </a:cxn>
                <a:cxn ang="T52">
                  <a:pos x="T20" y="T21"/>
                </a:cxn>
                <a:cxn ang="T53">
                  <a:pos x="T22" y="T23"/>
                </a:cxn>
                <a:cxn ang="T54">
                  <a:pos x="T24" y="T25"/>
                </a:cxn>
                <a:cxn ang="T55">
                  <a:pos x="T26" y="T27"/>
                </a:cxn>
                <a:cxn ang="T56">
                  <a:pos x="T28" y="T29"/>
                </a:cxn>
                <a:cxn ang="T57">
                  <a:pos x="T30" y="T31"/>
                </a:cxn>
                <a:cxn ang="T58">
                  <a:pos x="T32" y="T33"/>
                </a:cxn>
                <a:cxn ang="T59">
                  <a:pos x="T34" y="T35"/>
                </a:cxn>
                <a:cxn ang="T60">
                  <a:pos x="T36" y="T37"/>
                </a:cxn>
                <a:cxn ang="T61">
                  <a:pos x="T38" y="T39"/>
                </a:cxn>
                <a:cxn ang="T62">
                  <a:pos x="T40" y="T41"/>
                </a:cxn>
              </a:cxnLst>
              <a:rect l="T63" t="T64" r="T65" b="T66"/>
              <a:pathLst>
                <a:path w="971" h="550">
                  <a:moveTo>
                    <a:pt x="886" y="33"/>
                  </a:moveTo>
                  <a:lnTo>
                    <a:pt x="937" y="70"/>
                  </a:lnTo>
                  <a:lnTo>
                    <a:pt x="971" y="130"/>
                  </a:lnTo>
                  <a:lnTo>
                    <a:pt x="967" y="218"/>
                  </a:lnTo>
                  <a:lnTo>
                    <a:pt x="882" y="261"/>
                  </a:lnTo>
                  <a:lnTo>
                    <a:pt x="791" y="294"/>
                  </a:lnTo>
                  <a:lnTo>
                    <a:pt x="665" y="382"/>
                  </a:lnTo>
                  <a:lnTo>
                    <a:pt x="519" y="522"/>
                  </a:lnTo>
                  <a:lnTo>
                    <a:pt x="397" y="542"/>
                  </a:lnTo>
                  <a:lnTo>
                    <a:pt x="298" y="550"/>
                  </a:lnTo>
                  <a:lnTo>
                    <a:pt x="155" y="522"/>
                  </a:lnTo>
                  <a:lnTo>
                    <a:pt x="34" y="459"/>
                  </a:lnTo>
                  <a:lnTo>
                    <a:pt x="0" y="393"/>
                  </a:lnTo>
                  <a:lnTo>
                    <a:pt x="11" y="315"/>
                  </a:lnTo>
                  <a:lnTo>
                    <a:pt x="63" y="210"/>
                  </a:lnTo>
                  <a:lnTo>
                    <a:pt x="142" y="147"/>
                  </a:lnTo>
                  <a:lnTo>
                    <a:pt x="246" y="89"/>
                  </a:lnTo>
                  <a:lnTo>
                    <a:pt x="445" y="21"/>
                  </a:lnTo>
                  <a:lnTo>
                    <a:pt x="634" y="0"/>
                  </a:lnTo>
                  <a:lnTo>
                    <a:pt x="794" y="13"/>
                  </a:lnTo>
                  <a:lnTo>
                    <a:pt x="886" y="33"/>
                  </a:lnTo>
                  <a:close/>
                </a:path>
              </a:pathLst>
            </a:custGeom>
            <a:gradFill rotWithShape="1">
              <a:gsLst>
                <a:gs pos="0">
                  <a:srgbClr val="EAEAEA"/>
                </a:gs>
                <a:gs pos="50000">
                  <a:srgbClr val="FFFFFF"/>
                </a:gs>
                <a:gs pos="100000">
                  <a:srgbClr val="EAEAEA"/>
                </a:gs>
              </a:gsLst>
              <a:lin ang="2700000" scaled="1"/>
            </a:gradFill>
            <a:ln w="9525">
              <a:solidFill>
                <a:srgbClr val="808080"/>
              </a:solidFill>
              <a:round/>
              <a:headEnd/>
              <a:tailEnd/>
            </a:ln>
          </p:spPr>
          <p:txBody>
            <a:bodyPr/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9" name="Freeform 176"/>
            <p:cNvSpPr>
              <a:spLocks/>
            </p:cNvSpPr>
            <p:nvPr/>
          </p:nvSpPr>
          <p:spPr bwMode="auto">
            <a:xfrm rot="355818">
              <a:off x="2229020" y="4830315"/>
              <a:ext cx="134938" cy="58737"/>
            </a:xfrm>
            <a:custGeom>
              <a:avLst/>
              <a:gdLst>
                <a:gd name="T0" fmla="*/ 0 w 1432"/>
                <a:gd name="T1" fmla="*/ 0 h 526"/>
                <a:gd name="T2" fmla="*/ 56 w 1432"/>
                <a:gd name="T3" fmla="*/ 118 h 526"/>
                <a:gd name="T4" fmla="*/ 319 w 1432"/>
                <a:gd name="T5" fmla="*/ 302 h 526"/>
                <a:gd name="T6" fmla="*/ 604 w 1432"/>
                <a:gd name="T7" fmla="*/ 448 h 526"/>
                <a:gd name="T8" fmla="*/ 867 w 1432"/>
                <a:gd name="T9" fmla="*/ 526 h 526"/>
                <a:gd name="T10" fmla="*/ 1091 w 1432"/>
                <a:gd name="T11" fmla="*/ 504 h 526"/>
                <a:gd name="T12" fmla="*/ 1270 w 1432"/>
                <a:gd name="T13" fmla="*/ 448 h 526"/>
                <a:gd name="T14" fmla="*/ 1432 w 1432"/>
                <a:gd name="T15" fmla="*/ 353 h 526"/>
                <a:gd name="T16" fmla="*/ 1253 w 1432"/>
                <a:gd name="T17" fmla="*/ 431 h 526"/>
                <a:gd name="T18" fmla="*/ 1108 w 1432"/>
                <a:gd name="T19" fmla="*/ 470 h 526"/>
                <a:gd name="T20" fmla="*/ 951 w 1432"/>
                <a:gd name="T21" fmla="*/ 470 h 526"/>
                <a:gd name="T22" fmla="*/ 789 w 1432"/>
                <a:gd name="T23" fmla="*/ 453 h 526"/>
                <a:gd name="T24" fmla="*/ 699 w 1432"/>
                <a:gd name="T25" fmla="*/ 420 h 526"/>
                <a:gd name="T26" fmla="*/ 560 w 1432"/>
                <a:gd name="T27" fmla="*/ 330 h 526"/>
                <a:gd name="T28" fmla="*/ 437 w 1432"/>
                <a:gd name="T29" fmla="*/ 213 h 526"/>
                <a:gd name="T30" fmla="*/ 274 w 1432"/>
                <a:gd name="T31" fmla="*/ 129 h 526"/>
                <a:gd name="T32" fmla="*/ 140 w 1432"/>
                <a:gd name="T33" fmla="*/ 73 h 526"/>
                <a:gd name="T34" fmla="*/ 0 w 1432"/>
                <a:gd name="T35" fmla="*/ 0 h 526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w 1432"/>
                <a:gd name="T55" fmla="*/ 0 h 526"/>
                <a:gd name="T56" fmla="*/ 1432 w 1432"/>
                <a:gd name="T57" fmla="*/ 526 h 526"/>
              </a:gdLst>
              <a:ahLst/>
              <a:cxnLst>
                <a:cxn ang="T36">
                  <a:pos x="T0" y="T1"/>
                </a:cxn>
                <a:cxn ang="T37">
                  <a:pos x="T2" y="T3"/>
                </a:cxn>
                <a:cxn ang="T38">
                  <a:pos x="T4" y="T5"/>
                </a:cxn>
                <a:cxn ang="T39">
                  <a:pos x="T6" y="T7"/>
                </a:cxn>
                <a:cxn ang="T40">
                  <a:pos x="T8" y="T9"/>
                </a:cxn>
                <a:cxn ang="T41">
                  <a:pos x="T10" y="T11"/>
                </a:cxn>
                <a:cxn ang="T42">
                  <a:pos x="T12" y="T13"/>
                </a:cxn>
                <a:cxn ang="T43">
                  <a:pos x="T14" y="T15"/>
                </a:cxn>
                <a:cxn ang="T44">
                  <a:pos x="T16" y="T17"/>
                </a:cxn>
                <a:cxn ang="T45">
                  <a:pos x="T18" y="T19"/>
                </a:cxn>
                <a:cxn ang="T46">
                  <a:pos x="T20" y="T21"/>
                </a:cxn>
                <a:cxn ang="T47">
                  <a:pos x="T22" y="T23"/>
                </a:cxn>
                <a:cxn ang="T48">
                  <a:pos x="T24" y="T25"/>
                </a:cxn>
                <a:cxn ang="T49">
                  <a:pos x="T26" y="T27"/>
                </a:cxn>
                <a:cxn ang="T50">
                  <a:pos x="T28" y="T29"/>
                </a:cxn>
                <a:cxn ang="T51">
                  <a:pos x="T30" y="T31"/>
                </a:cxn>
                <a:cxn ang="T52">
                  <a:pos x="T32" y="T33"/>
                </a:cxn>
                <a:cxn ang="T53">
                  <a:pos x="T34" y="T35"/>
                </a:cxn>
              </a:cxnLst>
              <a:rect l="T54" t="T55" r="T56" b="T57"/>
              <a:pathLst>
                <a:path w="1432" h="526">
                  <a:moveTo>
                    <a:pt x="0" y="0"/>
                  </a:moveTo>
                  <a:lnTo>
                    <a:pt x="56" y="118"/>
                  </a:lnTo>
                  <a:lnTo>
                    <a:pt x="319" y="302"/>
                  </a:lnTo>
                  <a:lnTo>
                    <a:pt x="604" y="448"/>
                  </a:lnTo>
                  <a:lnTo>
                    <a:pt x="867" y="526"/>
                  </a:lnTo>
                  <a:lnTo>
                    <a:pt x="1091" y="504"/>
                  </a:lnTo>
                  <a:lnTo>
                    <a:pt x="1270" y="448"/>
                  </a:lnTo>
                  <a:lnTo>
                    <a:pt x="1432" y="353"/>
                  </a:lnTo>
                  <a:lnTo>
                    <a:pt x="1253" y="431"/>
                  </a:lnTo>
                  <a:lnTo>
                    <a:pt x="1108" y="470"/>
                  </a:lnTo>
                  <a:lnTo>
                    <a:pt x="951" y="470"/>
                  </a:lnTo>
                  <a:lnTo>
                    <a:pt x="789" y="453"/>
                  </a:lnTo>
                  <a:lnTo>
                    <a:pt x="699" y="420"/>
                  </a:lnTo>
                  <a:lnTo>
                    <a:pt x="560" y="330"/>
                  </a:lnTo>
                  <a:lnTo>
                    <a:pt x="437" y="213"/>
                  </a:lnTo>
                  <a:lnTo>
                    <a:pt x="274" y="129"/>
                  </a:lnTo>
                  <a:lnTo>
                    <a:pt x="140" y="73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969696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rgbClr val="808080"/>
              </a:solidFill>
              <a:round/>
              <a:headEnd/>
              <a:tailEnd/>
            </a:ln>
          </p:spPr>
          <p:txBody>
            <a:bodyPr/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10" name="Freeform 177"/>
            <p:cNvSpPr>
              <a:spLocks/>
            </p:cNvSpPr>
            <p:nvPr/>
          </p:nvSpPr>
          <p:spPr bwMode="auto">
            <a:xfrm rot="355818" flipH="1">
              <a:off x="2262358" y="4796977"/>
              <a:ext cx="31750" cy="39688"/>
            </a:xfrm>
            <a:custGeom>
              <a:avLst/>
              <a:gdLst>
                <a:gd name="T0" fmla="*/ 229 w 229"/>
                <a:gd name="T1" fmla="*/ 261 h 261"/>
                <a:gd name="T2" fmla="*/ 115 w 229"/>
                <a:gd name="T3" fmla="*/ 57 h 261"/>
                <a:gd name="T4" fmla="*/ 0 w 229"/>
                <a:gd name="T5" fmla="*/ 0 h 261"/>
                <a:gd name="T6" fmla="*/ 0 60000 65536"/>
                <a:gd name="T7" fmla="*/ 0 60000 65536"/>
                <a:gd name="T8" fmla="*/ 0 60000 65536"/>
                <a:gd name="T9" fmla="*/ 0 w 229"/>
                <a:gd name="T10" fmla="*/ 0 h 261"/>
                <a:gd name="T11" fmla="*/ 229 w 229"/>
                <a:gd name="T12" fmla="*/ 261 h 261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229" h="261">
                  <a:moveTo>
                    <a:pt x="229" y="261"/>
                  </a:moveTo>
                  <a:lnTo>
                    <a:pt x="115" y="57"/>
                  </a:lnTo>
                  <a:lnTo>
                    <a:pt x="0" y="0"/>
                  </a:lnTo>
                </a:path>
              </a:pathLst>
            </a:custGeom>
            <a:noFill/>
            <a:ln w="19050">
              <a:solidFill>
                <a:srgbClr val="B2B2B2"/>
              </a:solidFill>
              <a:round/>
              <a:headEnd/>
              <a:tailEnd/>
            </a:ln>
          </p:spPr>
          <p:txBody>
            <a:bodyPr/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11" name="Freeform 178"/>
            <p:cNvSpPr>
              <a:spLocks/>
            </p:cNvSpPr>
            <p:nvPr/>
          </p:nvSpPr>
          <p:spPr bwMode="auto">
            <a:xfrm rot="355818">
              <a:off x="2248070" y="4795390"/>
              <a:ext cx="42863" cy="7937"/>
            </a:xfrm>
            <a:custGeom>
              <a:avLst/>
              <a:gdLst>
                <a:gd name="T0" fmla="*/ 0 w 560"/>
                <a:gd name="T1" fmla="*/ 79 h 79"/>
                <a:gd name="T2" fmla="*/ 246 w 560"/>
                <a:gd name="T3" fmla="*/ 26 h 79"/>
                <a:gd name="T4" fmla="*/ 408 w 560"/>
                <a:gd name="T5" fmla="*/ 0 h 79"/>
                <a:gd name="T6" fmla="*/ 560 w 560"/>
                <a:gd name="T7" fmla="*/ 26 h 79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560"/>
                <a:gd name="T13" fmla="*/ 0 h 79"/>
                <a:gd name="T14" fmla="*/ 560 w 560"/>
                <a:gd name="T15" fmla="*/ 79 h 79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560" h="79">
                  <a:moveTo>
                    <a:pt x="0" y="79"/>
                  </a:moveTo>
                  <a:lnTo>
                    <a:pt x="246" y="26"/>
                  </a:lnTo>
                  <a:lnTo>
                    <a:pt x="408" y="0"/>
                  </a:lnTo>
                  <a:lnTo>
                    <a:pt x="560" y="26"/>
                  </a:lnTo>
                </a:path>
              </a:pathLst>
            </a:custGeom>
            <a:noFill/>
            <a:ln w="9525">
              <a:solidFill>
                <a:srgbClr val="969696"/>
              </a:solidFill>
              <a:round/>
              <a:headEnd/>
              <a:tailEnd/>
            </a:ln>
          </p:spPr>
          <p:txBody>
            <a:bodyPr/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12" name="Oval 179"/>
            <p:cNvSpPr>
              <a:spLocks noChangeArrowheads="1"/>
            </p:cNvSpPr>
            <p:nvPr/>
          </p:nvSpPr>
          <p:spPr bwMode="auto">
            <a:xfrm rot="21219751">
              <a:off x="2267120" y="4792215"/>
              <a:ext cx="19050" cy="9525"/>
            </a:xfrm>
            <a:prstGeom prst="ellipse">
              <a:avLst/>
            </a:prstGeom>
            <a:solidFill>
              <a:srgbClr val="969696"/>
            </a:solidFill>
            <a:ln w="9525">
              <a:solidFill>
                <a:srgbClr val="969696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13" name="Freeform 180"/>
            <p:cNvSpPr>
              <a:spLocks/>
            </p:cNvSpPr>
            <p:nvPr/>
          </p:nvSpPr>
          <p:spPr bwMode="auto">
            <a:xfrm rot="355818">
              <a:off x="2238545" y="4798565"/>
              <a:ext cx="36513" cy="33337"/>
            </a:xfrm>
            <a:custGeom>
              <a:avLst/>
              <a:gdLst>
                <a:gd name="T0" fmla="*/ 98 w 482"/>
                <a:gd name="T1" fmla="*/ 36 h 367"/>
                <a:gd name="T2" fmla="*/ 320 w 482"/>
                <a:gd name="T3" fmla="*/ 0 h 367"/>
                <a:gd name="T4" fmla="*/ 367 w 482"/>
                <a:gd name="T5" fmla="*/ 26 h 367"/>
                <a:gd name="T6" fmla="*/ 445 w 482"/>
                <a:gd name="T7" fmla="*/ 26 h 367"/>
                <a:gd name="T8" fmla="*/ 482 w 482"/>
                <a:gd name="T9" fmla="*/ 42 h 367"/>
                <a:gd name="T10" fmla="*/ 278 w 482"/>
                <a:gd name="T11" fmla="*/ 367 h 367"/>
                <a:gd name="T12" fmla="*/ 5 w 482"/>
                <a:gd name="T13" fmla="*/ 262 h 367"/>
                <a:gd name="T14" fmla="*/ 0 w 482"/>
                <a:gd name="T15" fmla="*/ 157 h 367"/>
                <a:gd name="T16" fmla="*/ 42 w 482"/>
                <a:gd name="T17" fmla="*/ 74 h 367"/>
                <a:gd name="T18" fmla="*/ 98 w 482"/>
                <a:gd name="T19" fmla="*/ 36 h 367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w 482"/>
                <a:gd name="T31" fmla="*/ 0 h 367"/>
                <a:gd name="T32" fmla="*/ 482 w 482"/>
                <a:gd name="T33" fmla="*/ 367 h 367"/>
              </a:gdLst>
              <a:ahLst/>
              <a:cxnLst>
                <a:cxn ang="T20">
                  <a:pos x="T0" y="T1"/>
                </a:cxn>
                <a:cxn ang="T21">
                  <a:pos x="T2" y="T3"/>
                </a:cxn>
                <a:cxn ang="T22">
                  <a:pos x="T4" y="T5"/>
                </a:cxn>
                <a:cxn ang="T23">
                  <a:pos x="T6" y="T7"/>
                </a:cxn>
                <a:cxn ang="T24">
                  <a:pos x="T8" y="T9"/>
                </a:cxn>
                <a:cxn ang="T25">
                  <a:pos x="T10" y="T11"/>
                </a:cxn>
                <a:cxn ang="T26">
                  <a:pos x="T12" y="T13"/>
                </a:cxn>
                <a:cxn ang="T27">
                  <a:pos x="T14" y="T15"/>
                </a:cxn>
                <a:cxn ang="T28">
                  <a:pos x="T16" y="T17"/>
                </a:cxn>
                <a:cxn ang="T29">
                  <a:pos x="T18" y="T19"/>
                </a:cxn>
              </a:cxnLst>
              <a:rect l="T30" t="T31" r="T32" b="T33"/>
              <a:pathLst>
                <a:path w="482" h="367">
                  <a:moveTo>
                    <a:pt x="98" y="36"/>
                  </a:moveTo>
                  <a:lnTo>
                    <a:pt x="320" y="0"/>
                  </a:lnTo>
                  <a:lnTo>
                    <a:pt x="367" y="26"/>
                  </a:lnTo>
                  <a:lnTo>
                    <a:pt x="445" y="26"/>
                  </a:lnTo>
                  <a:lnTo>
                    <a:pt x="482" y="42"/>
                  </a:lnTo>
                  <a:lnTo>
                    <a:pt x="278" y="367"/>
                  </a:lnTo>
                  <a:lnTo>
                    <a:pt x="5" y="262"/>
                  </a:lnTo>
                  <a:lnTo>
                    <a:pt x="0" y="157"/>
                  </a:lnTo>
                  <a:lnTo>
                    <a:pt x="42" y="74"/>
                  </a:lnTo>
                  <a:lnTo>
                    <a:pt x="98" y="36"/>
                  </a:lnTo>
                  <a:close/>
                </a:path>
              </a:pathLst>
            </a:custGeom>
            <a:noFill/>
            <a:ln w="9525">
              <a:solidFill>
                <a:srgbClr val="969696"/>
              </a:solidFill>
              <a:round/>
              <a:headEnd/>
              <a:tailEnd/>
            </a:ln>
          </p:spPr>
          <p:txBody>
            <a:bodyPr/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14" name="Freeform 182"/>
            <p:cNvSpPr>
              <a:spLocks/>
            </p:cNvSpPr>
            <p:nvPr/>
          </p:nvSpPr>
          <p:spPr bwMode="auto">
            <a:xfrm flipH="1">
              <a:off x="1786661" y="4766953"/>
              <a:ext cx="164547" cy="328335"/>
            </a:xfrm>
            <a:custGeom>
              <a:avLst/>
              <a:gdLst>
                <a:gd name="T0" fmla="*/ 933 w 933"/>
                <a:gd name="T1" fmla="*/ 135 h 352"/>
                <a:gd name="T2" fmla="*/ 932 w 933"/>
                <a:gd name="T3" fmla="*/ 171 h 352"/>
                <a:gd name="T4" fmla="*/ 762 w 933"/>
                <a:gd name="T5" fmla="*/ 352 h 352"/>
                <a:gd name="T6" fmla="*/ 4 w 933"/>
                <a:gd name="T7" fmla="*/ 195 h 352"/>
                <a:gd name="T8" fmla="*/ 0 w 933"/>
                <a:gd name="T9" fmla="*/ 148 h 352"/>
                <a:gd name="T10" fmla="*/ 244 w 933"/>
                <a:gd name="T11" fmla="*/ 0 h 352"/>
                <a:gd name="T12" fmla="*/ 933 w 933"/>
                <a:gd name="T13" fmla="*/ 135 h 352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933"/>
                <a:gd name="T22" fmla="*/ 0 h 352"/>
                <a:gd name="T23" fmla="*/ 933 w 933"/>
                <a:gd name="T24" fmla="*/ 352 h 352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933" h="352">
                  <a:moveTo>
                    <a:pt x="933" y="135"/>
                  </a:moveTo>
                  <a:lnTo>
                    <a:pt x="932" y="171"/>
                  </a:lnTo>
                  <a:lnTo>
                    <a:pt x="762" y="352"/>
                  </a:lnTo>
                  <a:lnTo>
                    <a:pt x="4" y="195"/>
                  </a:lnTo>
                  <a:lnTo>
                    <a:pt x="0" y="148"/>
                  </a:lnTo>
                  <a:lnTo>
                    <a:pt x="244" y="0"/>
                  </a:lnTo>
                  <a:lnTo>
                    <a:pt x="933" y="135"/>
                  </a:lnTo>
                  <a:close/>
                </a:path>
              </a:pathLst>
            </a:custGeom>
            <a:gradFill rotWithShape="0">
              <a:gsLst>
                <a:gs pos="0">
                  <a:srgbClr val="DDDDDD"/>
                </a:gs>
                <a:gs pos="100000">
                  <a:srgbClr val="F3F3F3"/>
                </a:gs>
              </a:gsLst>
              <a:lin ang="0" scaled="1"/>
            </a:gradFill>
            <a:ln w="6350">
              <a:solidFill>
                <a:srgbClr val="B2B2B2"/>
              </a:solidFill>
              <a:round/>
              <a:headEnd/>
              <a:tailEnd/>
            </a:ln>
          </p:spPr>
          <p:txBody>
            <a:bodyPr wrap="none" tIns="27432" bIns="27432" anchor="ctr">
              <a:spAutoFit/>
            </a:bodyPr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15" name="Freeform 183"/>
            <p:cNvSpPr>
              <a:spLocks/>
            </p:cNvSpPr>
            <p:nvPr/>
          </p:nvSpPr>
          <p:spPr bwMode="auto">
            <a:xfrm flipH="1">
              <a:off x="1800948" y="4752666"/>
              <a:ext cx="164547" cy="328335"/>
            </a:xfrm>
            <a:custGeom>
              <a:avLst/>
              <a:gdLst>
                <a:gd name="T0" fmla="*/ 895 w 895"/>
                <a:gd name="T1" fmla="*/ 133 h 294"/>
                <a:gd name="T2" fmla="*/ 232 w 895"/>
                <a:gd name="T3" fmla="*/ 0 h 294"/>
                <a:gd name="T4" fmla="*/ 0 w 895"/>
                <a:gd name="T5" fmla="*/ 143 h 294"/>
                <a:gd name="T6" fmla="*/ 739 w 895"/>
                <a:gd name="T7" fmla="*/ 294 h 294"/>
                <a:gd name="T8" fmla="*/ 895 w 895"/>
                <a:gd name="T9" fmla="*/ 133 h 294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895"/>
                <a:gd name="T16" fmla="*/ 0 h 294"/>
                <a:gd name="T17" fmla="*/ 895 w 895"/>
                <a:gd name="T18" fmla="*/ 294 h 294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895" h="294">
                  <a:moveTo>
                    <a:pt x="895" y="133"/>
                  </a:moveTo>
                  <a:lnTo>
                    <a:pt x="232" y="0"/>
                  </a:lnTo>
                  <a:lnTo>
                    <a:pt x="0" y="143"/>
                  </a:lnTo>
                  <a:lnTo>
                    <a:pt x="739" y="294"/>
                  </a:lnTo>
                  <a:lnTo>
                    <a:pt x="895" y="133"/>
                  </a:lnTo>
                  <a:close/>
                </a:path>
              </a:pathLst>
            </a:custGeom>
            <a:solidFill>
              <a:srgbClr val="FFFFFF"/>
            </a:solidFill>
            <a:ln w="3175">
              <a:solidFill>
                <a:srgbClr val="B2B2B2"/>
              </a:solidFill>
              <a:round/>
              <a:headEnd/>
              <a:tailEnd/>
            </a:ln>
          </p:spPr>
          <p:txBody>
            <a:bodyPr wrap="none" tIns="27432" bIns="27432" anchor="ctr">
              <a:spAutoFit/>
            </a:bodyPr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16" name="Freeform 184"/>
            <p:cNvSpPr>
              <a:spLocks/>
            </p:cNvSpPr>
            <p:nvPr/>
          </p:nvSpPr>
          <p:spPr bwMode="auto">
            <a:xfrm flipH="1">
              <a:off x="1798808" y="4828727"/>
              <a:ext cx="344487" cy="84138"/>
            </a:xfrm>
            <a:custGeom>
              <a:avLst/>
              <a:gdLst>
                <a:gd name="T0" fmla="*/ 0 w 531"/>
                <a:gd name="T1" fmla="*/ 15 h 118"/>
                <a:gd name="T2" fmla="*/ 508 w 531"/>
                <a:gd name="T3" fmla="*/ 118 h 118"/>
                <a:gd name="T4" fmla="*/ 531 w 531"/>
                <a:gd name="T5" fmla="*/ 103 h 118"/>
                <a:gd name="T6" fmla="*/ 23 w 531"/>
                <a:gd name="T7" fmla="*/ 0 h 118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531"/>
                <a:gd name="T13" fmla="*/ 0 h 118"/>
                <a:gd name="T14" fmla="*/ 531 w 531"/>
                <a:gd name="T15" fmla="*/ 118 h 118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531" h="118">
                  <a:moveTo>
                    <a:pt x="0" y="15"/>
                  </a:moveTo>
                  <a:lnTo>
                    <a:pt x="508" y="118"/>
                  </a:lnTo>
                  <a:lnTo>
                    <a:pt x="531" y="103"/>
                  </a:lnTo>
                  <a:lnTo>
                    <a:pt x="23" y="0"/>
                  </a:lnTo>
                </a:path>
              </a:pathLst>
            </a:custGeom>
            <a:solidFill>
              <a:srgbClr val="DDDDDD"/>
            </a:solidFill>
            <a:ln w="12700" cap="rnd">
              <a:solidFill>
                <a:srgbClr val="EAEAEA"/>
              </a:solidFill>
              <a:round/>
              <a:headEnd/>
              <a:tailEnd/>
            </a:ln>
          </p:spPr>
          <p:txBody>
            <a:bodyPr/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17" name="Freeform 185"/>
            <p:cNvSpPr>
              <a:spLocks/>
            </p:cNvSpPr>
            <p:nvPr/>
          </p:nvSpPr>
          <p:spPr bwMode="auto">
            <a:xfrm flipH="1">
              <a:off x="1886120" y="4850952"/>
              <a:ext cx="355600" cy="112713"/>
            </a:xfrm>
            <a:custGeom>
              <a:avLst/>
              <a:gdLst>
                <a:gd name="T0" fmla="*/ 0 w 548"/>
                <a:gd name="T1" fmla="*/ 74 h 159"/>
                <a:gd name="T2" fmla="*/ 31 w 548"/>
                <a:gd name="T3" fmla="*/ 78 h 159"/>
                <a:gd name="T4" fmla="*/ 57 w 548"/>
                <a:gd name="T5" fmla="*/ 66 h 159"/>
                <a:gd name="T6" fmla="*/ 76 w 548"/>
                <a:gd name="T7" fmla="*/ 71 h 159"/>
                <a:gd name="T8" fmla="*/ 58 w 548"/>
                <a:gd name="T9" fmla="*/ 81 h 159"/>
                <a:gd name="T10" fmla="*/ 451 w 548"/>
                <a:gd name="T11" fmla="*/ 159 h 159"/>
                <a:gd name="T12" fmla="*/ 548 w 548"/>
                <a:gd name="T13" fmla="*/ 84 h 159"/>
                <a:gd name="T14" fmla="*/ 130 w 548"/>
                <a:gd name="T15" fmla="*/ 0 h 159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548"/>
                <a:gd name="T25" fmla="*/ 0 h 159"/>
                <a:gd name="T26" fmla="*/ 548 w 548"/>
                <a:gd name="T27" fmla="*/ 159 h 159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548" h="159">
                  <a:moveTo>
                    <a:pt x="0" y="74"/>
                  </a:moveTo>
                  <a:lnTo>
                    <a:pt x="31" y="78"/>
                  </a:lnTo>
                  <a:lnTo>
                    <a:pt x="57" y="66"/>
                  </a:lnTo>
                  <a:lnTo>
                    <a:pt x="76" y="71"/>
                  </a:lnTo>
                  <a:lnTo>
                    <a:pt x="58" y="81"/>
                  </a:lnTo>
                  <a:lnTo>
                    <a:pt x="451" y="159"/>
                  </a:lnTo>
                  <a:lnTo>
                    <a:pt x="548" y="84"/>
                  </a:lnTo>
                  <a:lnTo>
                    <a:pt x="130" y="0"/>
                  </a:lnTo>
                </a:path>
              </a:pathLst>
            </a:custGeom>
            <a:solidFill>
              <a:srgbClr val="DDDDDD"/>
            </a:solidFill>
            <a:ln w="12700" cap="rnd">
              <a:solidFill>
                <a:srgbClr val="EAEAEA"/>
              </a:solidFill>
              <a:round/>
              <a:headEnd/>
              <a:tailEnd/>
            </a:ln>
          </p:spPr>
          <p:txBody>
            <a:bodyPr/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18" name="Freeform 186"/>
            <p:cNvSpPr>
              <a:spLocks/>
            </p:cNvSpPr>
            <p:nvPr/>
          </p:nvSpPr>
          <p:spPr bwMode="auto">
            <a:xfrm flipH="1">
              <a:off x="1819445" y="4914452"/>
              <a:ext cx="90488" cy="49213"/>
            </a:xfrm>
            <a:custGeom>
              <a:avLst/>
              <a:gdLst>
                <a:gd name="T0" fmla="*/ 73 w 140"/>
                <a:gd name="T1" fmla="*/ 0 h 70"/>
                <a:gd name="T2" fmla="*/ 140 w 140"/>
                <a:gd name="T3" fmla="*/ 11 h 70"/>
                <a:gd name="T4" fmla="*/ 75 w 140"/>
                <a:gd name="T5" fmla="*/ 70 h 70"/>
                <a:gd name="T6" fmla="*/ 0 w 140"/>
                <a:gd name="T7" fmla="*/ 56 h 70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140"/>
                <a:gd name="T13" fmla="*/ 0 h 70"/>
                <a:gd name="T14" fmla="*/ 140 w 140"/>
                <a:gd name="T15" fmla="*/ 70 h 70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140" h="70">
                  <a:moveTo>
                    <a:pt x="73" y="0"/>
                  </a:moveTo>
                  <a:lnTo>
                    <a:pt x="140" y="11"/>
                  </a:lnTo>
                  <a:lnTo>
                    <a:pt x="75" y="70"/>
                  </a:lnTo>
                  <a:lnTo>
                    <a:pt x="0" y="56"/>
                  </a:lnTo>
                </a:path>
              </a:pathLst>
            </a:custGeom>
            <a:solidFill>
              <a:srgbClr val="DDDDDD"/>
            </a:solidFill>
            <a:ln w="12700" cap="rnd">
              <a:solidFill>
                <a:srgbClr val="EAEAEA"/>
              </a:solidFill>
              <a:round/>
              <a:headEnd/>
              <a:tailEnd/>
            </a:ln>
          </p:spPr>
          <p:txBody>
            <a:bodyPr/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19" name="Freeform 187"/>
            <p:cNvSpPr>
              <a:spLocks/>
            </p:cNvSpPr>
            <p:nvPr/>
          </p:nvSpPr>
          <p:spPr bwMode="auto">
            <a:xfrm flipH="1">
              <a:off x="1754358" y="4925565"/>
              <a:ext cx="107950" cy="71437"/>
            </a:xfrm>
            <a:custGeom>
              <a:avLst/>
              <a:gdLst>
                <a:gd name="T0" fmla="*/ 87 w 167"/>
                <a:gd name="T1" fmla="*/ 0 h 101"/>
                <a:gd name="T2" fmla="*/ 167 w 167"/>
                <a:gd name="T3" fmla="*/ 15 h 101"/>
                <a:gd name="T4" fmla="*/ 81 w 167"/>
                <a:gd name="T5" fmla="*/ 101 h 101"/>
                <a:gd name="T6" fmla="*/ 0 w 167"/>
                <a:gd name="T7" fmla="*/ 83 h 101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167"/>
                <a:gd name="T13" fmla="*/ 0 h 101"/>
                <a:gd name="T14" fmla="*/ 167 w 167"/>
                <a:gd name="T15" fmla="*/ 101 h 101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167" h="101">
                  <a:moveTo>
                    <a:pt x="87" y="0"/>
                  </a:moveTo>
                  <a:lnTo>
                    <a:pt x="167" y="15"/>
                  </a:lnTo>
                  <a:lnTo>
                    <a:pt x="81" y="101"/>
                  </a:lnTo>
                  <a:lnTo>
                    <a:pt x="0" y="83"/>
                  </a:lnTo>
                </a:path>
              </a:pathLst>
            </a:custGeom>
            <a:solidFill>
              <a:srgbClr val="DDDDDD"/>
            </a:solidFill>
            <a:ln w="12700" cap="rnd">
              <a:solidFill>
                <a:srgbClr val="EAEAEA"/>
              </a:solidFill>
              <a:round/>
              <a:headEnd/>
              <a:tailEnd/>
            </a:ln>
          </p:spPr>
          <p:txBody>
            <a:bodyPr/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0" name="Freeform 189"/>
            <p:cNvSpPr>
              <a:spLocks noChangeAspect="1"/>
            </p:cNvSpPr>
            <p:nvPr/>
          </p:nvSpPr>
          <p:spPr bwMode="auto">
            <a:xfrm>
              <a:off x="1533695" y="4523927"/>
              <a:ext cx="144463" cy="354013"/>
            </a:xfrm>
            <a:custGeom>
              <a:avLst/>
              <a:gdLst/>
              <a:ahLst/>
              <a:cxnLst>
                <a:cxn ang="0">
                  <a:pos x="169" y="246"/>
                </a:cxn>
                <a:cxn ang="0">
                  <a:pos x="1" y="0"/>
                </a:cxn>
                <a:cxn ang="0">
                  <a:pos x="0" y="123"/>
                </a:cxn>
                <a:cxn ang="0">
                  <a:pos x="165" y="377"/>
                </a:cxn>
              </a:cxnLst>
              <a:rect l="0" t="0" r="r" b="b"/>
              <a:pathLst>
                <a:path w="169" h="377">
                  <a:moveTo>
                    <a:pt x="169" y="246"/>
                  </a:moveTo>
                  <a:lnTo>
                    <a:pt x="1" y="0"/>
                  </a:lnTo>
                  <a:lnTo>
                    <a:pt x="0" y="123"/>
                  </a:lnTo>
                  <a:lnTo>
                    <a:pt x="165" y="377"/>
                  </a:lnTo>
                </a:path>
              </a:pathLst>
            </a:custGeom>
            <a:gradFill rotWithShape="1">
              <a:gsLst>
                <a:gs pos="0">
                  <a:srgbClr val="EAEAEA"/>
                </a:gs>
                <a:gs pos="100000">
                  <a:srgbClr val="EAEAEA">
                    <a:gamma/>
                    <a:tint val="60784"/>
                    <a:invGamma/>
                  </a:srgbClr>
                </a:gs>
              </a:gsLst>
              <a:lin ang="0" scaled="1"/>
            </a:gradFill>
            <a:ln w="6350" cap="rnd" cmpd="sng">
              <a:solidFill>
                <a:srgbClr val="969696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1" name="Freeform 190"/>
            <p:cNvSpPr>
              <a:spLocks noChangeAspect="1"/>
            </p:cNvSpPr>
            <p:nvPr/>
          </p:nvSpPr>
          <p:spPr bwMode="auto">
            <a:xfrm>
              <a:off x="1536870" y="4465190"/>
              <a:ext cx="619125" cy="288925"/>
            </a:xfrm>
            <a:custGeom>
              <a:avLst/>
              <a:gdLst/>
              <a:ahLst/>
              <a:cxnLst>
                <a:cxn ang="0">
                  <a:pos x="166" y="310"/>
                </a:cxn>
                <a:cxn ang="0">
                  <a:pos x="718" y="211"/>
                </a:cxn>
                <a:cxn ang="0">
                  <a:pos x="444" y="0"/>
                </a:cxn>
                <a:cxn ang="0">
                  <a:pos x="0" y="64"/>
                </a:cxn>
                <a:cxn ang="0">
                  <a:pos x="166" y="310"/>
                </a:cxn>
              </a:cxnLst>
              <a:rect l="0" t="0" r="r" b="b"/>
              <a:pathLst>
                <a:path w="718" h="310">
                  <a:moveTo>
                    <a:pt x="166" y="310"/>
                  </a:moveTo>
                  <a:lnTo>
                    <a:pt x="718" y="211"/>
                  </a:lnTo>
                  <a:lnTo>
                    <a:pt x="444" y="0"/>
                  </a:lnTo>
                  <a:lnTo>
                    <a:pt x="0" y="64"/>
                  </a:lnTo>
                  <a:lnTo>
                    <a:pt x="166" y="310"/>
                  </a:lnTo>
                  <a:close/>
                </a:path>
              </a:pathLst>
            </a:custGeom>
            <a:solidFill>
              <a:srgbClr val="FFFFFF"/>
            </a:solidFill>
            <a:ln w="6350" cap="rnd" cmpd="sng">
              <a:solidFill>
                <a:srgbClr val="969696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2" name="Freeform 191"/>
            <p:cNvSpPr>
              <a:spLocks/>
            </p:cNvSpPr>
            <p:nvPr/>
          </p:nvSpPr>
          <p:spPr bwMode="auto">
            <a:xfrm>
              <a:off x="1671808" y="4660452"/>
              <a:ext cx="477837" cy="214313"/>
            </a:xfrm>
            <a:custGeom>
              <a:avLst/>
              <a:gdLst/>
              <a:ahLst/>
              <a:cxnLst>
                <a:cxn ang="0">
                  <a:pos x="6" y="99"/>
                </a:cxn>
                <a:cxn ang="0">
                  <a:pos x="557" y="0"/>
                </a:cxn>
                <a:cxn ang="0">
                  <a:pos x="549" y="121"/>
                </a:cxn>
                <a:cxn ang="0">
                  <a:pos x="0" y="228"/>
                </a:cxn>
                <a:cxn ang="0">
                  <a:pos x="6" y="99"/>
                </a:cxn>
              </a:cxnLst>
              <a:rect l="0" t="0" r="r" b="b"/>
              <a:pathLst>
                <a:path w="557" h="228">
                  <a:moveTo>
                    <a:pt x="6" y="99"/>
                  </a:moveTo>
                  <a:lnTo>
                    <a:pt x="557" y="0"/>
                  </a:lnTo>
                  <a:lnTo>
                    <a:pt x="549" y="121"/>
                  </a:lnTo>
                  <a:lnTo>
                    <a:pt x="0" y="228"/>
                  </a:lnTo>
                  <a:lnTo>
                    <a:pt x="6" y="99"/>
                  </a:lnTo>
                  <a:close/>
                </a:path>
              </a:pathLst>
            </a:custGeom>
            <a:gradFill rotWithShape="1">
              <a:gsLst>
                <a:gs pos="0">
                  <a:srgbClr val="EAEAEA"/>
                </a:gs>
                <a:gs pos="50000">
                  <a:srgbClr val="EAEAEA">
                    <a:gamma/>
                    <a:tint val="0"/>
                    <a:invGamma/>
                  </a:srgbClr>
                </a:gs>
                <a:gs pos="100000">
                  <a:srgbClr val="EAEAEA"/>
                </a:gs>
              </a:gsLst>
              <a:lin ang="0" scaled="1"/>
            </a:gradFill>
            <a:ln w="9525">
              <a:solidFill>
                <a:srgbClr val="969696"/>
              </a:solidFill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3" name="Freeform 192"/>
            <p:cNvSpPr>
              <a:spLocks/>
            </p:cNvSpPr>
            <p:nvPr/>
          </p:nvSpPr>
          <p:spPr bwMode="auto">
            <a:xfrm>
              <a:off x="1690858" y="4789040"/>
              <a:ext cx="144462" cy="60325"/>
            </a:xfrm>
            <a:custGeom>
              <a:avLst/>
              <a:gdLst/>
              <a:ahLst/>
              <a:cxnLst>
                <a:cxn ang="0">
                  <a:pos x="0" y="32"/>
                </a:cxn>
                <a:cxn ang="0">
                  <a:pos x="0" y="63"/>
                </a:cxn>
                <a:cxn ang="0">
                  <a:pos x="164" y="33"/>
                </a:cxn>
                <a:cxn ang="0">
                  <a:pos x="167" y="0"/>
                </a:cxn>
                <a:cxn ang="0">
                  <a:pos x="0" y="32"/>
                </a:cxn>
              </a:cxnLst>
              <a:rect l="0" t="0" r="r" b="b"/>
              <a:pathLst>
                <a:path w="167" h="63">
                  <a:moveTo>
                    <a:pt x="0" y="32"/>
                  </a:moveTo>
                  <a:lnTo>
                    <a:pt x="0" y="63"/>
                  </a:lnTo>
                  <a:lnTo>
                    <a:pt x="164" y="33"/>
                  </a:lnTo>
                  <a:lnTo>
                    <a:pt x="167" y="0"/>
                  </a:lnTo>
                  <a:lnTo>
                    <a:pt x="0" y="32"/>
                  </a:lnTo>
                  <a:close/>
                </a:path>
              </a:pathLst>
            </a:custGeom>
            <a:gradFill rotWithShape="1">
              <a:gsLst>
                <a:gs pos="0">
                  <a:srgbClr val="C0C0C0">
                    <a:gamma/>
                    <a:tint val="60784"/>
                    <a:invGamma/>
                  </a:srgbClr>
                </a:gs>
                <a:gs pos="100000">
                  <a:srgbClr val="C0C0C0"/>
                </a:gs>
              </a:gsLst>
              <a:lin ang="0" scaled="1"/>
            </a:gradFill>
            <a:ln w="9525">
              <a:noFill/>
              <a:round/>
              <a:headEnd type="none" w="med" len="med"/>
              <a:tailEnd type="none" w="med" len="med"/>
            </a:ln>
            <a:effectLst>
              <a:prstShdw prst="shdw17" dist="17961" dir="13500000">
                <a:srgbClr val="969696"/>
              </a:prstShdw>
            </a:effectLst>
          </p:spPr>
          <p:txBody>
            <a:bodyPr/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4" name="Oval 193"/>
            <p:cNvSpPr>
              <a:spLocks noChangeArrowheads="1"/>
            </p:cNvSpPr>
            <p:nvPr/>
          </p:nvSpPr>
          <p:spPr bwMode="auto">
            <a:xfrm>
              <a:off x="1809920" y="4796977"/>
              <a:ext cx="15875" cy="20638"/>
            </a:xfrm>
            <a:prstGeom prst="ellipse">
              <a:avLst/>
            </a:prstGeom>
            <a:solidFill>
              <a:srgbClr val="969696"/>
            </a:solidFill>
            <a:ln w="9525">
              <a:solidFill>
                <a:srgbClr val="969696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5" name="Line 194"/>
            <p:cNvSpPr>
              <a:spLocks noChangeShapeType="1"/>
            </p:cNvSpPr>
            <p:nvPr/>
          </p:nvSpPr>
          <p:spPr bwMode="auto">
            <a:xfrm flipH="1">
              <a:off x="2032170" y="4706490"/>
              <a:ext cx="3175" cy="76200"/>
            </a:xfrm>
            <a:prstGeom prst="line">
              <a:avLst/>
            </a:prstGeom>
            <a:noFill/>
            <a:ln w="9525">
              <a:solidFill>
                <a:srgbClr val="808080"/>
              </a:solidFill>
              <a:round/>
              <a:headEnd/>
              <a:tailEnd/>
            </a:ln>
            <a:effectLst>
              <a:outerShdw dist="17961" dir="18900000" algn="ctr" rotWithShape="0">
                <a:srgbClr val="969696">
                  <a:alpha val="50000"/>
                </a:srgbClr>
              </a:outerShdw>
            </a:effectLst>
          </p:spPr>
          <p:txBody>
            <a:bodyPr/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6" name="Line 195"/>
            <p:cNvSpPr>
              <a:spLocks noChangeShapeType="1"/>
            </p:cNvSpPr>
            <p:nvPr/>
          </p:nvSpPr>
          <p:spPr bwMode="auto">
            <a:xfrm flipH="1">
              <a:off x="2021058" y="4708077"/>
              <a:ext cx="1587" cy="80963"/>
            </a:xfrm>
            <a:prstGeom prst="line">
              <a:avLst/>
            </a:prstGeom>
            <a:noFill/>
            <a:ln w="9525">
              <a:solidFill>
                <a:srgbClr val="808080"/>
              </a:solidFill>
              <a:round/>
              <a:headEnd/>
              <a:tailEnd/>
            </a:ln>
            <a:effectLst>
              <a:outerShdw dist="17961" dir="18900000" algn="ctr" rotWithShape="0">
                <a:srgbClr val="969696">
                  <a:alpha val="50000"/>
                </a:srgbClr>
              </a:outerShdw>
            </a:effectLst>
          </p:spPr>
          <p:txBody>
            <a:bodyPr/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7" name="Line 196"/>
            <p:cNvSpPr>
              <a:spLocks noChangeShapeType="1"/>
            </p:cNvSpPr>
            <p:nvPr/>
          </p:nvSpPr>
          <p:spPr bwMode="auto">
            <a:xfrm flipH="1">
              <a:off x="2044870" y="4704902"/>
              <a:ext cx="4763" cy="76200"/>
            </a:xfrm>
            <a:prstGeom prst="line">
              <a:avLst/>
            </a:prstGeom>
            <a:noFill/>
            <a:ln w="9525">
              <a:solidFill>
                <a:srgbClr val="808080"/>
              </a:solidFill>
              <a:round/>
              <a:headEnd/>
              <a:tailEnd/>
            </a:ln>
            <a:effectLst>
              <a:outerShdw dist="17961" dir="18900000" algn="ctr" rotWithShape="0">
                <a:srgbClr val="969696">
                  <a:alpha val="50000"/>
                </a:srgbClr>
              </a:outerShdw>
            </a:effectLst>
          </p:spPr>
          <p:txBody>
            <a:bodyPr/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8" name="Line 197"/>
            <p:cNvSpPr>
              <a:spLocks noChangeShapeType="1"/>
            </p:cNvSpPr>
            <p:nvPr/>
          </p:nvSpPr>
          <p:spPr bwMode="auto">
            <a:xfrm flipH="1">
              <a:off x="2055983" y="4703315"/>
              <a:ext cx="3175" cy="76200"/>
            </a:xfrm>
            <a:prstGeom prst="line">
              <a:avLst/>
            </a:prstGeom>
            <a:noFill/>
            <a:ln w="9525">
              <a:solidFill>
                <a:srgbClr val="808080"/>
              </a:solidFill>
              <a:round/>
              <a:headEnd/>
              <a:tailEnd/>
            </a:ln>
            <a:effectLst>
              <a:outerShdw dist="17961" dir="18900000" algn="ctr" rotWithShape="0">
                <a:srgbClr val="969696">
                  <a:alpha val="50000"/>
                </a:srgbClr>
              </a:outerShdw>
            </a:effectLst>
          </p:spPr>
          <p:txBody>
            <a:bodyPr/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9" name="Line 198"/>
            <p:cNvSpPr>
              <a:spLocks noChangeShapeType="1"/>
            </p:cNvSpPr>
            <p:nvPr/>
          </p:nvSpPr>
          <p:spPr bwMode="auto">
            <a:xfrm flipH="1">
              <a:off x="2065508" y="4701727"/>
              <a:ext cx="6350" cy="76200"/>
            </a:xfrm>
            <a:prstGeom prst="line">
              <a:avLst/>
            </a:prstGeom>
            <a:noFill/>
            <a:ln w="9525">
              <a:solidFill>
                <a:srgbClr val="808080"/>
              </a:solidFill>
              <a:round/>
              <a:headEnd/>
              <a:tailEnd/>
            </a:ln>
            <a:effectLst>
              <a:outerShdw dist="17961" dir="18900000" algn="ctr" rotWithShape="0">
                <a:srgbClr val="969696">
                  <a:alpha val="50000"/>
                </a:srgbClr>
              </a:outerShdw>
            </a:effectLst>
          </p:spPr>
          <p:txBody>
            <a:bodyPr/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30" name="Line 199"/>
            <p:cNvSpPr>
              <a:spLocks noChangeShapeType="1"/>
            </p:cNvSpPr>
            <p:nvPr/>
          </p:nvSpPr>
          <p:spPr bwMode="auto">
            <a:xfrm flipH="1">
              <a:off x="2076620" y="4698552"/>
              <a:ext cx="6350" cy="77788"/>
            </a:xfrm>
            <a:prstGeom prst="line">
              <a:avLst/>
            </a:prstGeom>
            <a:noFill/>
            <a:ln w="9525">
              <a:solidFill>
                <a:srgbClr val="808080"/>
              </a:solidFill>
              <a:round/>
              <a:headEnd/>
              <a:tailEnd/>
            </a:ln>
            <a:effectLst>
              <a:outerShdw dist="17961" dir="18900000" algn="ctr" rotWithShape="0">
                <a:srgbClr val="969696">
                  <a:alpha val="50000"/>
                </a:srgbClr>
              </a:outerShdw>
            </a:effectLst>
          </p:spPr>
          <p:txBody>
            <a:bodyPr/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31" name="Line 200"/>
            <p:cNvSpPr>
              <a:spLocks noChangeShapeType="1"/>
            </p:cNvSpPr>
            <p:nvPr/>
          </p:nvSpPr>
          <p:spPr bwMode="auto">
            <a:xfrm flipH="1">
              <a:off x="2087733" y="4698552"/>
              <a:ext cx="1587" cy="76200"/>
            </a:xfrm>
            <a:prstGeom prst="line">
              <a:avLst/>
            </a:prstGeom>
            <a:noFill/>
            <a:ln w="9525">
              <a:solidFill>
                <a:srgbClr val="808080"/>
              </a:solidFill>
              <a:round/>
              <a:headEnd/>
              <a:tailEnd/>
            </a:ln>
            <a:effectLst>
              <a:outerShdw dist="17961" dir="18900000" algn="ctr" rotWithShape="0">
                <a:srgbClr val="969696">
                  <a:alpha val="50000"/>
                </a:srgbClr>
              </a:outerShdw>
            </a:effectLst>
          </p:spPr>
          <p:txBody>
            <a:bodyPr/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32" name="Line 201"/>
            <p:cNvSpPr>
              <a:spLocks noChangeShapeType="1"/>
            </p:cNvSpPr>
            <p:nvPr/>
          </p:nvSpPr>
          <p:spPr bwMode="auto">
            <a:xfrm flipH="1">
              <a:off x="2097258" y="4692202"/>
              <a:ext cx="1587" cy="79375"/>
            </a:xfrm>
            <a:prstGeom prst="line">
              <a:avLst/>
            </a:prstGeom>
            <a:noFill/>
            <a:ln w="9525">
              <a:solidFill>
                <a:srgbClr val="808080"/>
              </a:solidFill>
              <a:round/>
              <a:headEnd/>
              <a:tailEnd/>
            </a:ln>
            <a:effectLst>
              <a:outerShdw dist="17961" dir="18900000" algn="ctr" rotWithShape="0">
                <a:srgbClr val="969696">
                  <a:alpha val="50000"/>
                </a:srgbClr>
              </a:outerShdw>
            </a:effectLst>
          </p:spPr>
          <p:txBody>
            <a:bodyPr/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33" name="Line 202"/>
            <p:cNvSpPr>
              <a:spLocks noChangeShapeType="1"/>
            </p:cNvSpPr>
            <p:nvPr/>
          </p:nvSpPr>
          <p:spPr bwMode="auto">
            <a:xfrm flipH="1">
              <a:off x="2106783" y="4692202"/>
              <a:ext cx="1587" cy="76200"/>
            </a:xfrm>
            <a:prstGeom prst="line">
              <a:avLst/>
            </a:prstGeom>
            <a:noFill/>
            <a:ln w="9525">
              <a:solidFill>
                <a:srgbClr val="808080"/>
              </a:solidFill>
              <a:round/>
              <a:headEnd/>
              <a:tailEnd/>
            </a:ln>
            <a:effectLst>
              <a:outerShdw dist="17961" dir="18900000" algn="ctr" rotWithShape="0">
                <a:srgbClr val="969696">
                  <a:alpha val="50000"/>
                </a:srgbClr>
              </a:outerShdw>
            </a:effectLst>
          </p:spPr>
          <p:txBody>
            <a:bodyPr/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34" name="Line 203"/>
            <p:cNvSpPr>
              <a:spLocks noChangeShapeType="1"/>
            </p:cNvSpPr>
            <p:nvPr/>
          </p:nvSpPr>
          <p:spPr bwMode="auto">
            <a:xfrm flipH="1">
              <a:off x="2117895" y="4690615"/>
              <a:ext cx="1588" cy="77787"/>
            </a:xfrm>
            <a:prstGeom prst="line">
              <a:avLst/>
            </a:prstGeom>
            <a:noFill/>
            <a:ln w="9525">
              <a:solidFill>
                <a:srgbClr val="808080"/>
              </a:solidFill>
              <a:round/>
              <a:headEnd/>
              <a:tailEnd/>
            </a:ln>
            <a:effectLst>
              <a:outerShdw dist="17961" dir="18900000" algn="ctr" rotWithShape="0">
                <a:srgbClr val="969696">
                  <a:alpha val="50000"/>
                </a:srgbClr>
              </a:outerShdw>
            </a:effectLst>
          </p:spPr>
          <p:txBody>
            <a:bodyPr/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35" name="Line 204"/>
            <p:cNvSpPr>
              <a:spLocks noChangeShapeType="1"/>
            </p:cNvSpPr>
            <p:nvPr/>
          </p:nvSpPr>
          <p:spPr bwMode="auto">
            <a:xfrm flipH="1">
              <a:off x="2071064" y="4731896"/>
              <a:ext cx="1587" cy="76200"/>
            </a:xfrm>
            <a:prstGeom prst="line">
              <a:avLst/>
            </a:prstGeom>
            <a:noFill/>
            <a:ln w="9525">
              <a:solidFill>
                <a:srgbClr val="808080"/>
              </a:solidFill>
              <a:round/>
              <a:headEnd/>
              <a:tailEnd/>
            </a:ln>
            <a:effectLst>
              <a:outerShdw dist="17961" dir="18900000" algn="ctr" rotWithShape="0">
                <a:srgbClr val="969696">
                  <a:alpha val="50000"/>
                </a:srgbClr>
              </a:outerShdw>
            </a:effectLst>
          </p:spPr>
          <p:txBody>
            <a:bodyPr/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36" name="Freeform 205"/>
            <p:cNvSpPr>
              <a:spLocks/>
            </p:cNvSpPr>
            <p:nvPr/>
          </p:nvSpPr>
          <p:spPr bwMode="auto">
            <a:xfrm>
              <a:off x="1878183" y="4738240"/>
              <a:ext cx="79375" cy="61912"/>
            </a:xfrm>
            <a:custGeom>
              <a:avLst/>
              <a:gdLst/>
              <a:ahLst/>
              <a:cxnLst>
                <a:cxn ang="0">
                  <a:pos x="2" y="33"/>
                </a:cxn>
                <a:cxn ang="0">
                  <a:pos x="0" y="138"/>
                </a:cxn>
                <a:cxn ang="0">
                  <a:pos x="186" y="104"/>
                </a:cxn>
                <a:cxn ang="0">
                  <a:pos x="186" y="0"/>
                </a:cxn>
                <a:cxn ang="0">
                  <a:pos x="2" y="33"/>
                </a:cxn>
              </a:cxnLst>
              <a:rect l="0" t="0" r="r" b="b"/>
              <a:pathLst>
                <a:path w="186" h="138">
                  <a:moveTo>
                    <a:pt x="2" y="33"/>
                  </a:moveTo>
                  <a:lnTo>
                    <a:pt x="0" y="138"/>
                  </a:lnTo>
                  <a:lnTo>
                    <a:pt x="186" y="104"/>
                  </a:lnTo>
                  <a:lnTo>
                    <a:pt x="186" y="0"/>
                  </a:lnTo>
                  <a:lnTo>
                    <a:pt x="2" y="33"/>
                  </a:lnTo>
                  <a:close/>
                </a:path>
              </a:pathLst>
            </a:custGeom>
            <a:gradFill rotWithShape="1">
              <a:gsLst>
                <a:gs pos="0">
                  <a:srgbClr val="969696"/>
                </a:gs>
                <a:gs pos="100000">
                  <a:srgbClr val="969696">
                    <a:gamma/>
                    <a:shade val="75686"/>
                    <a:invGamma/>
                  </a:srgbClr>
                </a:gs>
              </a:gsLst>
              <a:lin ang="0" scaled="1"/>
            </a:gradFill>
            <a:ln w="3175" cap="flat" cmpd="sng">
              <a:noFill/>
              <a:prstDash val="solid"/>
              <a:round/>
              <a:headEnd type="none" w="med" len="med"/>
              <a:tailEnd type="none" w="med" len="med"/>
            </a:ln>
            <a:effectLst>
              <a:prstShdw prst="shdw17" dist="17961" dir="13500000">
                <a:srgbClr val="969696">
                  <a:alpha val="50000"/>
                </a:srgbClr>
              </a:prstShdw>
            </a:effectLst>
          </p:spPr>
          <p:txBody>
            <a:bodyPr/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37" name="Line 206"/>
            <p:cNvSpPr>
              <a:spLocks noChangeShapeType="1"/>
            </p:cNvSpPr>
            <p:nvPr/>
          </p:nvSpPr>
          <p:spPr bwMode="auto">
            <a:xfrm flipH="1">
              <a:off x="1889295" y="4773165"/>
              <a:ext cx="0" cy="19050"/>
            </a:xfrm>
            <a:prstGeom prst="line">
              <a:avLst/>
            </a:prstGeom>
            <a:noFill/>
            <a:ln w="9525">
              <a:solidFill>
                <a:srgbClr val="3399FF">
                  <a:alpha val="55000"/>
                </a:srgbClr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38" name="Line 207"/>
            <p:cNvSpPr>
              <a:spLocks noChangeShapeType="1"/>
            </p:cNvSpPr>
            <p:nvPr/>
          </p:nvSpPr>
          <p:spPr bwMode="auto">
            <a:xfrm flipH="1">
              <a:off x="1951208" y="4758877"/>
              <a:ext cx="0" cy="19050"/>
            </a:xfrm>
            <a:prstGeom prst="line">
              <a:avLst/>
            </a:prstGeom>
            <a:noFill/>
            <a:ln w="9525">
              <a:solidFill>
                <a:srgbClr val="3399FF">
                  <a:alpha val="55000"/>
                </a:srgbClr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39" name="Line 208"/>
            <p:cNvSpPr>
              <a:spLocks noChangeShapeType="1"/>
            </p:cNvSpPr>
            <p:nvPr/>
          </p:nvSpPr>
          <p:spPr bwMode="auto">
            <a:xfrm flipH="1">
              <a:off x="1943270" y="4768402"/>
              <a:ext cx="0" cy="14288"/>
            </a:xfrm>
            <a:prstGeom prst="line">
              <a:avLst/>
            </a:prstGeom>
            <a:noFill/>
            <a:ln w="9525">
              <a:solidFill>
                <a:srgbClr val="3399FF">
                  <a:alpha val="55000"/>
                </a:srgbClr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40" name="Line 209"/>
            <p:cNvSpPr>
              <a:spLocks noChangeShapeType="1"/>
            </p:cNvSpPr>
            <p:nvPr/>
          </p:nvSpPr>
          <p:spPr bwMode="auto">
            <a:xfrm flipH="1">
              <a:off x="1898820" y="4781102"/>
              <a:ext cx="0" cy="12700"/>
            </a:xfrm>
            <a:prstGeom prst="line">
              <a:avLst/>
            </a:prstGeom>
            <a:noFill/>
            <a:ln w="9525">
              <a:solidFill>
                <a:srgbClr val="3399FF">
                  <a:alpha val="55000"/>
                </a:srgbClr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41" name="Line 210"/>
            <p:cNvSpPr>
              <a:spLocks noChangeShapeType="1"/>
            </p:cNvSpPr>
            <p:nvPr/>
          </p:nvSpPr>
          <p:spPr bwMode="auto">
            <a:xfrm flipV="1">
              <a:off x="1908345" y="4782690"/>
              <a:ext cx="25400" cy="6350"/>
            </a:xfrm>
            <a:prstGeom prst="line">
              <a:avLst/>
            </a:prstGeom>
            <a:noFill/>
            <a:ln w="9525">
              <a:solidFill>
                <a:srgbClr val="FFFF99">
                  <a:alpha val="45000"/>
                </a:srgbClr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42" name="Freeform 211"/>
            <p:cNvSpPr>
              <a:spLocks/>
            </p:cNvSpPr>
            <p:nvPr/>
          </p:nvSpPr>
          <p:spPr bwMode="auto">
            <a:xfrm>
              <a:off x="1714670" y="4752527"/>
              <a:ext cx="100013" cy="36513"/>
            </a:xfrm>
            <a:custGeom>
              <a:avLst/>
              <a:gdLst/>
              <a:ahLst/>
              <a:cxnLst>
                <a:cxn ang="0">
                  <a:pos x="0" y="20"/>
                </a:cxn>
                <a:cxn ang="0">
                  <a:pos x="1" y="38"/>
                </a:cxn>
                <a:cxn ang="0">
                  <a:pos x="116" y="19"/>
                </a:cxn>
                <a:cxn ang="0">
                  <a:pos x="116" y="0"/>
                </a:cxn>
                <a:cxn ang="0">
                  <a:pos x="0" y="20"/>
                </a:cxn>
              </a:cxnLst>
              <a:rect l="0" t="0" r="r" b="b"/>
              <a:pathLst>
                <a:path w="116" h="38">
                  <a:moveTo>
                    <a:pt x="0" y="20"/>
                  </a:moveTo>
                  <a:lnTo>
                    <a:pt x="1" y="38"/>
                  </a:lnTo>
                  <a:lnTo>
                    <a:pt x="116" y="19"/>
                  </a:lnTo>
                  <a:lnTo>
                    <a:pt x="116" y="0"/>
                  </a:lnTo>
                  <a:lnTo>
                    <a:pt x="0" y="20"/>
                  </a:lnTo>
                  <a:close/>
                </a:path>
              </a:pathLst>
            </a:custGeom>
            <a:gradFill rotWithShape="1">
              <a:gsLst>
                <a:gs pos="0">
                  <a:srgbClr val="C0C0C0">
                    <a:gamma/>
                    <a:tint val="60784"/>
                    <a:invGamma/>
                  </a:srgbClr>
                </a:gs>
                <a:gs pos="100000">
                  <a:srgbClr val="C0C0C0"/>
                </a:gs>
              </a:gsLst>
              <a:lin ang="0" scaled="1"/>
            </a:gradFill>
            <a:ln w="9525">
              <a:noFill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43" name="Line 212"/>
            <p:cNvSpPr>
              <a:spLocks noChangeShapeType="1"/>
            </p:cNvSpPr>
            <p:nvPr/>
          </p:nvSpPr>
          <p:spPr bwMode="auto">
            <a:xfrm flipV="1">
              <a:off x="1706733" y="4758877"/>
              <a:ext cx="112712" cy="22225"/>
            </a:xfrm>
            <a:prstGeom prst="line">
              <a:avLst/>
            </a:prstGeom>
            <a:noFill/>
            <a:ln w="3175">
              <a:solidFill>
                <a:srgbClr val="5F5F5F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grpSp>
          <p:nvGrpSpPr>
            <p:cNvPr id="44" name="Group 150"/>
            <p:cNvGrpSpPr>
              <a:grpSpLocks/>
            </p:cNvGrpSpPr>
            <p:nvPr/>
          </p:nvGrpSpPr>
          <p:grpSpPr bwMode="auto">
            <a:xfrm>
              <a:off x="1598783" y="4144515"/>
              <a:ext cx="328612" cy="369887"/>
              <a:chOff x="685" y="3115"/>
              <a:chExt cx="207" cy="233"/>
            </a:xfrm>
          </p:grpSpPr>
          <p:sp>
            <p:nvSpPr>
              <p:cNvPr id="57" name="Freeform 215"/>
              <p:cNvSpPr>
                <a:spLocks/>
              </p:cNvSpPr>
              <p:nvPr/>
            </p:nvSpPr>
            <p:spPr bwMode="auto">
              <a:xfrm flipH="1">
                <a:off x="686" y="3115"/>
                <a:ext cx="206" cy="30"/>
              </a:xfrm>
              <a:custGeom>
                <a:avLst/>
                <a:gdLst>
                  <a:gd name="T0" fmla="*/ 1205 w 1205"/>
                  <a:gd name="T1" fmla="*/ 151 h 178"/>
                  <a:gd name="T2" fmla="*/ 964 w 1205"/>
                  <a:gd name="T3" fmla="*/ 178 h 178"/>
                  <a:gd name="T4" fmla="*/ 0 w 1205"/>
                  <a:gd name="T5" fmla="*/ 0 h 178"/>
                  <a:gd name="T6" fmla="*/ 1205 w 1205"/>
                  <a:gd name="T7" fmla="*/ 151 h 178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1205"/>
                  <a:gd name="T13" fmla="*/ 0 h 178"/>
                  <a:gd name="T14" fmla="*/ 1205 w 1205"/>
                  <a:gd name="T15" fmla="*/ 178 h 178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1205" h="178">
                    <a:moveTo>
                      <a:pt x="1205" y="151"/>
                    </a:moveTo>
                    <a:lnTo>
                      <a:pt x="964" y="178"/>
                    </a:lnTo>
                    <a:lnTo>
                      <a:pt x="0" y="0"/>
                    </a:lnTo>
                    <a:lnTo>
                      <a:pt x="1205" y="151"/>
                    </a:lnTo>
                    <a:close/>
                  </a:path>
                </a:pathLst>
              </a:custGeom>
              <a:solidFill>
                <a:srgbClr val="EAEAEA"/>
              </a:solidFill>
              <a:ln w="9525">
                <a:solidFill>
                  <a:srgbClr val="969696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pPr>
                  <a:defRPr/>
                </a:pPr>
                <a:endParaRPr lang="ko-KR" altLang="en-US" kern="0">
                  <a:solidFill>
                    <a:sysClr val="windowText" lastClr="000000"/>
                  </a:solidFill>
                </a:endParaRPr>
              </a:p>
            </p:txBody>
          </p:sp>
          <p:sp>
            <p:nvSpPr>
              <p:cNvPr id="58" name="Freeform 216"/>
              <p:cNvSpPr>
                <a:spLocks/>
              </p:cNvSpPr>
              <p:nvPr/>
            </p:nvSpPr>
            <p:spPr bwMode="auto">
              <a:xfrm flipH="1">
                <a:off x="685" y="3141"/>
                <a:ext cx="69" cy="207"/>
              </a:xfrm>
              <a:custGeom>
                <a:avLst/>
                <a:gdLst>
                  <a:gd name="T0" fmla="*/ 405 w 405"/>
                  <a:gd name="T1" fmla="*/ 0 h 1241"/>
                  <a:gd name="T2" fmla="*/ 389 w 405"/>
                  <a:gd name="T3" fmla="*/ 1000 h 1241"/>
                  <a:gd name="T4" fmla="*/ 133 w 405"/>
                  <a:gd name="T5" fmla="*/ 1241 h 1241"/>
                  <a:gd name="T6" fmla="*/ 0 w 405"/>
                  <a:gd name="T7" fmla="*/ 13 h 1241"/>
                  <a:gd name="T8" fmla="*/ 189 w 405"/>
                  <a:gd name="T9" fmla="*/ 24 h 1241"/>
                  <a:gd name="T10" fmla="*/ 405 w 405"/>
                  <a:gd name="T11" fmla="*/ 0 h 1241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405"/>
                  <a:gd name="T19" fmla="*/ 0 h 1241"/>
                  <a:gd name="T20" fmla="*/ 405 w 405"/>
                  <a:gd name="T21" fmla="*/ 1241 h 1241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405" h="1241">
                    <a:moveTo>
                      <a:pt x="405" y="0"/>
                    </a:moveTo>
                    <a:lnTo>
                      <a:pt x="389" y="1000"/>
                    </a:lnTo>
                    <a:lnTo>
                      <a:pt x="133" y="1241"/>
                    </a:lnTo>
                    <a:lnTo>
                      <a:pt x="0" y="13"/>
                    </a:lnTo>
                    <a:lnTo>
                      <a:pt x="189" y="24"/>
                    </a:lnTo>
                    <a:lnTo>
                      <a:pt x="405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CCCCCC"/>
                  </a:gs>
                  <a:gs pos="100000">
                    <a:srgbClr val="969696"/>
                  </a:gs>
                </a:gsLst>
                <a:lin ang="0" scaled="1"/>
              </a:gradFill>
              <a:ln w="9525">
                <a:solidFill>
                  <a:srgbClr val="969696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pPr>
                  <a:defRPr/>
                </a:pPr>
                <a:endParaRPr lang="ko-KR" altLang="en-US" kern="0">
                  <a:solidFill>
                    <a:sysClr val="windowText" lastClr="000000"/>
                  </a:solidFill>
                </a:endParaRPr>
              </a:p>
            </p:txBody>
          </p:sp>
        </p:grpSp>
        <p:sp>
          <p:nvSpPr>
            <p:cNvPr id="45" name="Oval 217"/>
            <p:cNvSpPr>
              <a:spLocks noChangeArrowheads="1"/>
            </p:cNvSpPr>
            <p:nvPr/>
          </p:nvSpPr>
          <p:spPr bwMode="auto">
            <a:xfrm>
              <a:off x="1682920" y="4542977"/>
              <a:ext cx="298450" cy="93663"/>
            </a:xfrm>
            <a:prstGeom prst="ellipse">
              <a:avLst/>
            </a:prstGeom>
            <a:solidFill>
              <a:srgbClr val="969696"/>
            </a:solidFill>
            <a:ln w="9525">
              <a:solidFill>
                <a:srgbClr val="969696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46" name="Oval 218"/>
            <p:cNvSpPr>
              <a:spLocks noChangeArrowheads="1"/>
            </p:cNvSpPr>
            <p:nvPr/>
          </p:nvSpPr>
          <p:spPr bwMode="auto">
            <a:xfrm>
              <a:off x="1682920" y="4536627"/>
              <a:ext cx="298450" cy="92075"/>
            </a:xfrm>
            <a:prstGeom prst="ellipse">
              <a:avLst/>
            </a:prstGeom>
            <a:gradFill rotWithShape="1">
              <a:gsLst>
                <a:gs pos="0">
                  <a:srgbClr val="C0C0C0"/>
                </a:gs>
                <a:gs pos="100000">
                  <a:srgbClr val="EAEAEA"/>
                </a:gs>
              </a:gsLst>
              <a:lin ang="2700000" scaled="1"/>
            </a:gradFill>
            <a:ln w="9525">
              <a:solidFill>
                <a:srgbClr val="969696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47" name="Freeform 219"/>
            <p:cNvSpPr>
              <a:spLocks/>
            </p:cNvSpPr>
            <p:nvPr/>
          </p:nvSpPr>
          <p:spPr bwMode="auto">
            <a:xfrm flipH="1">
              <a:off x="1663870" y="4088952"/>
              <a:ext cx="436563" cy="511175"/>
            </a:xfrm>
            <a:custGeom>
              <a:avLst/>
              <a:gdLst>
                <a:gd name="T0" fmla="*/ 1602 w 1602"/>
                <a:gd name="T1" fmla="*/ 204 h 1734"/>
                <a:gd name="T2" fmla="*/ 5 w 1602"/>
                <a:gd name="T3" fmla="*/ 0 h 1734"/>
                <a:gd name="T4" fmla="*/ 0 w 1602"/>
                <a:gd name="T5" fmla="*/ 1488 h 1734"/>
                <a:gd name="T6" fmla="*/ 1597 w 1602"/>
                <a:gd name="T7" fmla="*/ 1734 h 1734"/>
                <a:gd name="T8" fmla="*/ 1602 w 1602"/>
                <a:gd name="T9" fmla="*/ 204 h 1734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602"/>
                <a:gd name="T16" fmla="*/ 0 h 1734"/>
                <a:gd name="T17" fmla="*/ 1602 w 1602"/>
                <a:gd name="T18" fmla="*/ 1734 h 1734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602" h="1734">
                  <a:moveTo>
                    <a:pt x="1602" y="204"/>
                  </a:moveTo>
                  <a:lnTo>
                    <a:pt x="5" y="0"/>
                  </a:lnTo>
                  <a:lnTo>
                    <a:pt x="0" y="1488"/>
                  </a:lnTo>
                  <a:lnTo>
                    <a:pt x="1597" y="1734"/>
                  </a:lnTo>
                  <a:lnTo>
                    <a:pt x="1602" y="204"/>
                  </a:lnTo>
                  <a:close/>
                </a:path>
              </a:pathLst>
            </a:custGeom>
            <a:gradFill rotWithShape="1">
              <a:gsLst>
                <a:gs pos="0">
                  <a:srgbClr val="FFFFFF"/>
                </a:gs>
                <a:gs pos="100000">
                  <a:srgbClr val="DDDDDD"/>
                </a:gs>
              </a:gsLst>
              <a:lin ang="5400000" scaled="1"/>
            </a:gradFill>
            <a:ln w="9525">
              <a:solidFill>
                <a:srgbClr val="969696"/>
              </a:solidFill>
              <a:round/>
              <a:headEnd/>
              <a:tailEnd/>
            </a:ln>
          </p:spPr>
          <p:txBody>
            <a:bodyPr/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48" name="Freeform 220"/>
            <p:cNvSpPr>
              <a:spLocks/>
            </p:cNvSpPr>
            <p:nvPr/>
          </p:nvSpPr>
          <p:spPr bwMode="auto">
            <a:xfrm flipH="1">
              <a:off x="1722608" y="4503290"/>
              <a:ext cx="358775" cy="96837"/>
            </a:xfrm>
            <a:custGeom>
              <a:avLst/>
              <a:gdLst>
                <a:gd name="T0" fmla="*/ 1327 w 1330"/>
                <a:gd name="T1" fmla="*/ 200 h 330"/>
                <a:gd name="T2" fmla="*/ 0 w 1330"/>
                <a:gd name="T3" fmla="*/ 0 h 330"/>
                <a:gd name="T4" fmla="*/ 0 w 1330"/>
                <a:gd name="T5" fmla="*/ 115 h 330"/>
                <a:gd name="T6" fmla="*/ 1330 w 1330"/>
                <a:gd name="T7" fmla="*/ 330 h 330"/>
                <a:gd name="T8" fmla="*/ 1327 w 1330"/>
                <a:gd name="T9" fmla="*/ 200 h 33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330"/>
                <a:gd name="T16" fmla="*/ 0 h 330"/>
                <a:gd name="T17" fmla="*/ 1330 w 1330"/>
                <a:gd name="T18" fmla="*/ 330 h 33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330" h="330">
                  <a:moveTo>
                    <a:pt x="1327" y="200"/>
                  </a:moveTo>
                  <a:lnTo>
                    <a:pt x="0" y="0"/>
                  </a:lnTo>
                  <a:lnTo>
                    <a:pt x="0" y="115"/>
                  </a:lnTo>
                  <a:lnTo>
                    <a:pt x="1330" y="330"/>
                  </a:lnTo>
                  <a:lnTo>
                    <a:pt x="1327" y="200"/>
                  </a:lnTo>
                  <a:close/>
                </a:path>
              </a:pathLst>
            </a:custGeom>
            <a:gradFill rotWithShape="1">
              <a:gsLst>
                <a:gs pos="0">
                  <a:srgbClr val="C0C0C0"/>
                </a:gs>
                <a:gs pos="50000">
                  <a:srgbClr val="FFFFFF"/>
                </a:gs>
                <a:gs pos="100000">
                  <a:srgbClr val="C0C0C0"/>
                </a:gs>
              </a:gsLst>
              <a:lin ang="5400000" scaled="1"/>
            </a:gradFill>
            <a:ln w="9525">
              <a:solidFill>
                <a:srgbClr val="969696"/>
              </a:solidFill>
              <a:round/>
              <a:headEnd/>
              <a:tailEnd/>
            </a:ln>
          </p:spPr>
          <p:txBody>
            <a:bodyPr/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49" name="Freeform 221"/>
            <p:cNvSpPr>
              <a:spLocks/>
            </p:cNvSpPr>
            <p:nvPr/>
          </p:nvSpPr>
          <p:spPr bwMode="auto">
            <a:xfrm flipH="1">
              <a:off x="1651170" y="4147690"/>
              <a:ext cx="15875" cy="452437"/>
            </a:xfrm>
            <a:custGeom>
              <a:avLst/>
              <a:gdLst>
                <a:gd name="T0" fmla="*/ 4 w 56"/>
                <a:gd name="T1" fmla="*/ 16 h 1536"/>
                <a:gd name="T2" fmla="*/ 56 w 56"/>
                <a:gd name="T3" fmla="*/ 0 h 1536"/>
                <a:gd name="T4" fmla="*/ 46 w 56"/>
                <a:gd name="T5" fmla="*/ 1513 h 1536"/>
                <a:gd name="T6" fmla="*/ 0 w 56"/>
                <a:gd name="T7" fmla="*/ 1536 h 1536"/>
                <a:gd name="T8" fmla="*/ 4 w 56"/>
                <a:gd name="T9" fmla="*/ 16 h 153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56"/>
                <a:gd name="T16" fmla="*/ 0 h 1536"/>
                <a:gd name="T17" fmla="*/ 56 w 56"/>
                <a:gd name="T18" fmla="*/ 1536 h 1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56" h="1536">
                  <a:moveTo>
                    <a:pt x="4" y="16"/>
                  </a:moveTo>
                  <a:lnTo>
                    <a:pt x="56" y="0"/>
                  </a:lnTo>
                  <a:lnTo>
                    <a:pt x="46" y="1513"/>
                  </a:lnTo>
                  <a:lnTo>
                    <a:pt x="0" y="1536"/>
                  </a:lnTo>
                  <a:lnTo>
                    <a:pt x="4" y="16"/>
                  </a:lnTo>
                  <a:close/>
                </a:path>
              </a:pathLst>
            </a:custGeom>
            <a:gradFill rotWithShape="1">
              <a:gsLst>
                <a:gs pos="0">
                  <a:srgbClr val="777777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rgbClr val="969696"/>
              </a:solidFill>
              <a:round/>
              <a:headEnd/>
              <a:tailEnd/>
            </a:ln>
          </p:spPr>
          <p:txBody>
            <a:bodyPr/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50" name="Oval 222"/>
            <p:cNvSpPr>
              <a:spLocks noChangeArrowheads="1"/>
            </p:cNvSpPr>
            <p:nvPr/>
          </p:nvSpPr>
          <p:spPr bwMode="auto">
            <a:xfrm>
              <a:off x="2049633" y="4511227"/>
              <a:ext cx="12700" cy="26988"/>
            </a:xfrm>
            <a:prstGeom prst="ellipse">
              <a:avLst/>
            </a:prstGeom>
            <a:solidFill>
              <a:srgbClr val="777777"/>
            </a:solidFill>
            <a:ln w="9525">
              <a:solidFill>
                <a:srgbClr val="969696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51" name="Oval 223"/>
            <p:cNvSpPr>
              <a:spLocks noChangeArrowheads="1"/>
            </p:cNvSpPr>
            <p:nvPr/>
          </p:nvSpPr>
          <p:spPr bwMode="auto">
            <a:xfrm>
              <a:off x="2025820" y="4517577"/>
              <a:ext cx="11113" cy="22225"/>
            </a:xfrm>
            <a:prstGeom prst="ellipse">
              <a:avLst/>
            </a:prstGeom>
            <a:solidFill>
              <a:srgbClr val="C0C0C0"/>
            </a:solidFill>
            <a:ln w="9525">
              <a:solidFill>
                <a:srgbClr val="969696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52" name="Oval 224"/>
            <p:cNvSpPr>
              <a:spLocks noChangeArrowheads="1"/>
            </p:cNvSpPr>
            <p:nvPr/>
          </p:nvSpPr>
          <p:spPr bwMode="auto">
            <a:xfrm>
              <a:off x="1943270" y="4538215"/>
              <a:ext cx="14288" cy="15875"/>
            </a:xfrm>
            <a:prstGeom prst="ellipse">
              <a:avLst/>
            </a:prstGeom>
            <a:solidFill>
              <a:srgbClr val="C0C0C0"/>
            </a:solidFill>
            <a:ln w="9525">
              <a:solidFill>
                <a:srgbClr val="969696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53" name="Oval 225"/>
            <p:cNvSpPr>
              <a:spLocks noChangeArrowheads="1"/>
            </p:cNvSpPr>
            <p:nvPr/>
          </p:nvSpPr>
          <p:spPr bwMode="auto">
            <a:xfrm>
              <a:off x="1917870" y="4542977"/>
              <a:ext cx="12700" cy="17463"/>
            </a:xfrm>
            <a:prstGeom prst="ellipse">
              <a:avLst/>
            </a:prstGeom>
            <a:solidFill>
              <a:srgbClr val="C0C0C0"/>
            </a:solidFill>
            <a:ln w="9525">
              <a:solidFill>
                <a:srgbClr val="969696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54" name="Oval 226"/>
            <p:cNvSpPr>
              <a:spLocks noChangeArrowheads="1"/>
            </p:cNvSpPr>
            <p:nvPr/>
          </p:nvSpPr>
          <p:spPr bwMode="auto">
            <a:xfrm>
              <a:off x="1889295" y="4547740"/>
              <a:ext cx="14288" cy="15875"/>
            </a:xfrm>
            <a:prstGeom prst="ellipse">
              <a:avLst/>
            </a:prstGeom>
            <a:solidFill>
              <a:srgbClr val="C0C0C0"/>
            </a:solidFill>
            <a:ln w="9525">
              <a:solidFill>
                <a:srgbClr val="969696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55" name="Freeform 227"/>
            <p:cNvSpPr>
              <a:spLocks/>
            </p:cNvSpPr>
            <p:nvPr/>
          </p:nvSpPr>
          <p:spPr bwMode="auto">
            <a:xfrm flipH="1">
              <a:off x="1705145" y="4139752"/>
              <a:ext cx="361950" cy="401638"/>
            </a:xfrm>
            <a:custGeom>
              <a:avLst/>
              <a:gdLst>
                <a:gd name="T0" fmla="*/ 1330 w 1345"/>
                <a:gd name="T1" fmla="*/ 167 h 1366"/>
                <a:gd name="T2" fmla="*/ 0 w 1345"/>
                <a:gd name="T3" fmla="*/ 0 h 1366"/>
                <a:gd name="T4" fmla="*/ 0 w 1345"/>
                <a:gd name="T5" fmla="*/ 1157 h 1366"/>
                <a:gd name="T6" fmla="*/ 1345 w 1345"/>
                <a:gd name="T7" fmla="*/ 1366 h 1366"/>
                <a:gd name="T8" fmla="*/ 1330 w 1345"/>
                <a:gd name="T9" fmla="*/ 167 h 136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345"/>
                <a:gd name="T16" fmla="*/ 0 h 1366"/>
                <a:gd name="T17" fmla="*/ 1345 w 1345"/>
                <a:gd name="T18" fmla="*/ 1366 h 136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345" h="1366">
                  <a:moveTo>
                    <a:pt x="1330" y="167"/>
                  </a:moveTo>
                  <a:lnTo>
                    <a:pt x="0" y="0"/>
                  </a:lnTo>
                  <a:lnTo>
                    <a:pt x="0" y="1157"/>
                  </a:lnTo>
                  <a:lnTo>
                    <a:pt x="1345" y="1366"/>
                  </a:lnTo>
                  <a:lnTo>
                    <a:pt x="1330" y="167"/>
                  </a:lnTo>
                  <a:close/>
                </a:path>
              </a:pathLst>
            </a:custGeom>
            <a:gradFill rotWithShape="1">
              <a:gsLst>
                <a:gs pos="0">
                  <a:srgbClr val="C0C0C0"/>
                </a:gs>
                <a:gs pos="100000">
                  <a:srgbClr val="4D4D4D"/>
                </a:gs>
              </a:gsLst>
              <a:lin ang="5400000" scaled="1"/>
            </a:gradFill>
            <a:ln w="9525">
              <a:solidFill>
                <a:srgbClr val="969696"/>
              </a:solidFill>
              <a:round/>
              <a:headEnd/>
              <a:tailEnd/>
            </a:ln>
          </p:spPr>
          <p:txBody>
            <a:bodyPr/>
            <a:lstStyle/>
            <a:p>
              <a:pPr>
                <a:defRPr/>
              </a:pPr>
              <a:endParaRPr lang="ko-KR" altLang="en-US" kern="0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56" name="Freeform 228"/>
            <p:cNvSpPr>
              <a:spLocks/>
            </p:cNvSpPr>
            <p:nvPr/>
          </p:nvSpPr>
          <p:spPr bwMode="auto">
            <a:xfrm flipH="1">
              <a:off x="1651170" y="4087365"/>
              <a:ext cx="447675" cy="63500"/>
            </a:xfrm>
            <a:custGeom>
              <a:avLst/>
              <a:gdLst>
                <a:gd name="T0" fmla="*/ 0 w 1660"/>
                <a:gd name="T1" fmla="*/ 10 h 214"/>
                <a:gd name="T2" fmla="*/ 68 w 1660"/>
                <a:gd name="T3" fmla="*/ 0 h 214"/>
                <a:gd name="T4" fmla="*/ 1660 w 1660"/>
                <a:gd name="T5" fmla="*/ 199 h 214"/>
                <a:gd name="T6" fmla="*/ 1613 w 1660"/>
                <a:gd name="T7" fmla="*/ 214 h 214"/>
                <a:gd name="T8" fmla="*/ 0 w 1660"/>
                <a:gd name="T9" fmla="*/ 10 h 214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660"/>
                <a:gd name="T16" fmla="*/ 0 h 214"/>
                <a:gd name="T17" fmla="*/ 1660 w 1660"/>
                <a:gd name="T18" fmla="*/ 214 h 214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660" h="214">
                  <a:moveTo>
                    <a:pt x="0" y="10"/>
                  </a:moveTo>
                  <a:lnTo>
                    <a:pt x="68" y="0"/>
                  </a:lnTo>
                  <a:lnTo>
                    <a:pt x="1660" y="199"/>
                  </a:lnTo>
                  <a:lnTo>
                    <a:pt x="1613" y="214"/>
                  </a:lnTo>
                  <a:lnTo>
                    <a:pt x="0" y="10"/>
                  </a:lnTo>
                  <a:close/>
                </a:path>
              </a:pathLst>
            </a:custGeom>
            <a:noFill/>
            <a:ln w="9525">
              <a:solidFill>
                <a:srgbClr val="969696"/>
              </a:solidFill>
              <a:round/>
              <a:headEnd/>
              <a:tailEnd/>
            </a:ln>
          </p:spPr>
          <p:txBody>
            <a:bodyPr/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</p:grpSp>
      <p:pic>
        <p:nvPicPr>
          <p:cNvPr id="59" name="Picture 2" descr="C:\Users\Toshiba\AppData\Local\Microsoft\Windows\Temporary Internet Files\Content.IE5\TBE21NJN\MC900434845[1]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2997241" y="2858139"/>
            <a:ext cx="1366509" cy="130007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0" name="TextBox 59"/>
          <p:cNvSpPr txBox="1"/>
          <p:nvPr/>
        </p:nvSpPr>
        <p:spPr>
          <a:xfrm>
            <a:off x="3210270" y="4303657"/>
            <a:ext cx="123944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송신호스트 </a:t>
            </a:r>
          </a:p>
        </p:txBody>
      </p:sp>
      <p:sp>
        <p:nvSpPr>
          <p:cNvPr id="61" name="오른쪽 화살표 60"/>
          <p:cNvSpPr/>
          <p:nvPr/>
        </p:nvSpPr>
        <p:spPr>
          <a:xfrm>
            <a:off x="5378949" y="899627"/>
            <a:ext cx="2847885" cy="651161"/>
          </a:xfrm>
          <a:prstGeom prst="rightArrow">
            <a:avLst>
              <a:gd name="adj1" fmla="val 50000"/>
              <a:gd name="adj2" fmla="val 86095"/>
            </a:avLst>
          </a:prstGeom>
          <a:solidFill>
            <a:schemeClr val="bg1">
              <a:lumMod val="85000"/>
            </a:schemeClr>
          </a:solidFill>
          <a:ln cap="sq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8" name="TextBox 67"/>
          <p:cNvSpPr txBox="1"/>
          <p:nvPr/>
        </p:nvSpPr>
        <p:spPr>
          <a:xfrm>
            <a:off x="9420252" y="4334454"/>
            <a:ext cx="123944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수신호스트 </a:t>
            </a:r>
          </a:p>
        </p:txBody>
      </p:sp>
      <p:sp>
        <p:nvSpPr>
          <p:cNvPr id="108" name="오른쪽 화살표 107"/>
          <p:cNvSpPr/>
          <p:nvPr/>
        </p:nvSpPr>
        <p:spPr>
          <a:xfrm rot="10800000">
            <a:off x="5307055" y="249752"/>
            <a:ext cx="2891770" cy="593573"/>
          </a:xfrm>
          <a:prstGeom prst="rightArrow">
            <a:avLst>
              <a:gd name="adj1" fmla="val 50000"/>
              <a:gd name="adj2" fmla="val 86095"/>
            </a:avLst>
          </a:prstGeom>
          <a:noFill/>
          <a:ln cap="sq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9" name="TextBox 108"/>
          <p:cNvSpPr txBox="1"/>
          <p:nvPr/>
        </p:nvSpPr>
        <p:spPr>
          <a:xfrm>
            <a:off x="5896635" y="387211"/>
            <a:ext cx="213452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Window Size = 1500 </a:t>
            </a:r>
            <a:endParaRPr lang="ko-KR" altLang="en-US" sz="1600" dirty="0">
              <a:latin typeface="Times New Roman" panose="02020603050405020304" pitchFamily="18" charset="0"/>
              <a:ea typeface="함초롬바탕" panose="02030504000101010101" pitchFamily="18" charset="-127"/>
              <a:cs typeface="Times New Roman" panose="02020603050405020304" pitchFamily="18" charset="0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34EBFEF3-B7B5-A550-243C-3EB6A3530B51}"/>
              </a:ext>
            </a:extLst>
          </p:cNvPr>
          <p:cNvSpPr txBox="1">
            <a:spLocks/>
          </p:cNvSpPr>
          <p:nvPr/>
        </p:nvSpPr>
        <p:spPr bwMode="auto">
          <a:xfrm>
            <a:off x="645167" y="566498"/>
            <a:ext cx="7280275" cy="4810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84406" tIns="42203" rIns="84406" bIns="42203" numCol="1" rtlCol="0" anchor="t" anchorCtr="0" compatLnSpc="1">
            <a:prstTxWarp prst="textNoShape">
              <a:avLst/>
            </a:prstTxWarp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sz="2800" b="1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❷ </a:t>
            </a:r>
            <a:r>
              <a:rPr lang="ko-KR" altLang="en-US" sz="2800" b="1" dirty="0" err="1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트래픽</a:t>
            </a:r>
            <a:r>
              <a:rPr lang="ko-KR" altLang="en-US" sz="2800" b="1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 흐름제어 </a:t>
            </a:r>
            <a:endParaRPr lang="ko-KR" altLang="en-US" sz="2800" b="1" dirty="0">
              <a:ea typeface="함초롬바탕" panose="02030504000101010101"/>
            </a:endParaRPr>
          </a:p>
        </p:txBody>
      </p:sp>
      <p:sp>
        <p:nvSpPr>
          <p:cNvPr id="82" name="직사각형 81"/>
          <p:cNvSpPr/>
          <p:nvPr/>
        </p:nvSpPr>
        <p:spPr>
          <a:xfrm>
            <a:off x="3829991" y="2278923"/>
            <a:ext cx="803409" cy="397508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4" dirty="0">
                <a:latin typeface="Times New Roman" panose="02020603050405020304" pitchFamily="18" charset="0"/>
                <a:cs typeface="Times New Roman" panose="02020603050405020304" pitchFamily="18" charset="0"/>
              </a:rPr>
              <a:t>1400</a:t>
            </a:r>
            <a:endParaRPr lang="ko-KR" altLang="en-US" sz="1504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3" name="직사각형 82"/>
          <p:cNvSpPr/>
          <p:nvPr/>
        </p:nvSpPr>
        <p:spPr>
          <a:xfrm>
            <a:off x="2965685" y="2275976"/>
            <a:ext cx="803409" cy="397508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4" dirty="0">
                <a:latin typeface="Times New Roman" panose="02020603050405020304" pitchFamily="18" charset="0"/>
                <a:cs typeface="Times New Roman" panose="02020603050405020304" pitchFamily="18" charset="0"/>
              </a:rPr>
              <a:t>1400</a:t>
            </a:r>
            <a:endParaRPr lang="ko-KR" altLang="en-US" sz="1504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4" name="직사각형 83"/>
          <p:cNvSpPr/>
          <p:nvPr/>
        </p:nvSpPr>
        <p:spPr>
          <a:xfrm>
            <a:off x="2072071" y="2275976"/>
            <a:ext cx="803409" cy="397508"/>
          </a:xfrm>
          <a:prstGeom prst="rect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4" dirty="0">
                <a:latin typeface="Times New Roman" panose="02020603050405020304" pitchFamily="18" charset="0"/>
                <a:cs typeface="Times New Roman" panose="02020603050405020304" pitchFamily="18" charset="0"/>
              </a:rPr>
              <a:t>1400</a:t>
            </a:r>
            <a:endParaRPr lang="ko-KR" altLang="en-US" sz="1504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5" name="TextBox 84"/>
          <p:cNvSpPr txBox="1"/>
          <p:nvPr/>
        </p:nvSpPr>
        <p:spPr>
          <a:xfrm>
            <a:off x="3866596" y="2003808"/>
            <a:ext cx="763351" cy="2723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17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SN=3000</a:t>
            </a:r>
            <a:endParaRPr lang="ko-KR" altLang="en-US" sz="117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6" name="TextBox 85"/>
          <p:cNvSpPr txBox="1"/>
          <p:nvPr/>
        </p:nvSpPr>
        <p:spPr>
          <a:xfrm>
            <a:off x="3019118" y="2000217"/>
            <a:ext cx="763351" cy="2723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17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SN=4400</a:t>
            </a:r>
            <a:endParaRPr lang="ko-KR" altLang="en-US" sz="117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7" name="TextBox 86"/>
          <p:cNvSpPr txBox="1"/>
          <p:nvPr/>
        </p:nvSpPr>
        <p:spPr>
          <a:xfrm>
            <a:off x="2122647" y="2001393"/>
            <a:ext cx="763351" cy="2723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17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SN=5800</a:t>
            </a:r>
            <a:endParaRPr lang="ko-KR" altLang="en-US" sz="117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8" name="직사각형 87"/>
          <p:cNvSpPr/>
          <p:nvPr/>
        </p:nvSpPr>
        <p:spPr>
          <a:xfrm>
            <a:off x="244488" y="2275976"/>
            <a:ext cx="803409" cy="397508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4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1000</a:t>
            </a:r>
            <a:endParaRPr lang="ko-KR" altLang="en-US" sz="1504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9" name="TextBox 88"/>
          <p:cNvSpPr txBox="1"/>
          <p:nvPr/>
        </p:nvSpPr>
        <p:spPr>
          <a:xfrm>
            <a:off x="295064" y="2001393"/>
            <a:ext cx="763351" cy="2723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17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SN=8600</a:t>
            </a:r>
            <a:endParaRPr lang="ko-KR" altLang="en-US" sz="117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1" name="TextBox 60"/>
          <p:cNvSpPr txBox="1">
            <a:spLocks noChangeArrowheads="1"/>
          </p:cNvSpPr>
          <p:nvPr/>
        </p:nvSpPr>
        <p:spPr bwMode="auto">
          <a:xfrm>
            <a:off x="5411610" y="1059189"/>
            <a:ext cx="2390398" cy="3196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1pPr>
            <a:lvl2pPr marL="742950" indent="-285750"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2pPr>
            <a:lvl3pPr marL="1143000" indent="-228600"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3pPr>
            <a:lvl4pPr marL="1600200" indent="-228600"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4pPr>
            <a:lvl5pPr marL="2057400" indent="-228600"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9pPr>
          </a:lstStyle>
          <a:p>
            <a:r>
              <a:rPr lang="en-US" altLang="ko-KR" sz="1477" dirty="0">
                <a:latin typeface="Times New Roman" panose="02020603050405020304" pitchFamily="18" charset="0"/>
                <a:cs typeface="Times New Roman" panose="02020603050405020304" pitchFamily="18" charset="0"/>
              </a:rPr>
              <a:t>SN=</a:t>
            </a:r>
            <a:r>
              <a:rPr lang="en-US" altLang="ko-KR" sz="1477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3000 (</a:t>
            </a:r>
            <a:r>
              <a:rPr lang="en-US" altLang="ko-KR" sz="1477" dirty="0">
                <a:solidFill>
                  <a:schemeClr val="accent2"/>
                </a:solidFill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Data Size : 1400</a:t>
            </a:r>
            <a:r>
              <a:rPr lang="en-US" altLang="ko-KR" sz="1477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)</a:t>
            </a:r>
            <a:r>
              <a:rPr lang="ko-KR" altLang="en-US" sz="1477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 </a:t>
            </a:r>
          </a:p>
        </p:txBody>
      </p:sp>
      <p:sp>
        <p:nvSpPr>
          <p:cNvPr id="93" name="오른쪽 화살표 92"/>
          <p:cNvSpPr/>
          <p:nvPr/>
        </p:nvSpPr>
        <p:spPr>
          <a:xfrm rot="10800000">
            <a:off x="5386078" y="1506671"/>
            <a:ext cx="2891770" cy="580292"/>
          </a:xfrm>
          <a:prstGeom prst="rightArrow">
            <a:avLst>
              <a:gd name="adj1" fmla="val 50000"/>
              <a:gd name="adj2" fmla="val 86095"/>
            </a:avLst>
          </a:prstGeom>
          <a:noFill/>
          <a:ln cap="sq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886"/>
          </a:p>
        </p:txBody>
      </p:sp>
      <p:sp>
        <p:nvSpPr>
          <p:cNvPr id="94" name="TextBox 75"/>
          <p:cNvSpPr txBox="1">
            <a:spLocks noChangeArrowheads="1"/>
          </p:cNvSpPr>
          <p:nvPr/>
        </p:nvSpPr>
        <p:spPr bwMode="auto">
          <a:xfrm>
            <a:off x="6419386" y="1664934"/>
            <a:ext cx="1087157" cy="3196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1pPr>
            <a:lvl2pPr marL="742950" indent="-285750"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2pPr>
            <a:lvl3pPr marL="1143000" indent="-228600"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3pPr>
            <a:lvl4pPr marL="1600200" indent="-228600"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4pPr>
            <a:lvl5pPr marL="2057400" indent="-228600"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9pPr>
          </a:lstStyle>
          <a:p>
            <a:r>
              <a:rPr lang="en-US" altLang="ko-KR" sz="1477" dirty="0">
                <a:solidFill>
                  <a:schemeClr val="tx1">
                    <a:lumMod val="85000"/>
                    <a:lumOff val="15000"/>
                  </a:schemeClr>
                </a:solidFill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AN= </a:t>
            </a:r>
            <a:r>
              <a:rPr lang="en-US" altLang="ko-KR" sz="1477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4400 </a:t>
            </a:r>
            <a:r>
              <a:rPr lang="ko-KR" altLang="en-US" sz="1477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 </a:t>
            </a:r>
            <a:endParaRPr lang="ko-KR" altLang="en-US" sz="1477" dirty="0">
              <a:latin typeface="Times New Roman" panose="02020603050405020304" pitchFamily="18" charset="0"/>
              <a:ea typeface="함초롬바탕" panose="02030504000101010101" pitchFamily="18" charset="-127"/>
              <a:cs typeface="Times New Roman" panose="02020603050405020304" pitchFamily="18" charset="0"/>
            </a:endParaRPr>
          </a:p>
        </p:txBody>
      </p:sp>
      <p:sp>
        <p:nvSpPr>
          <p:cNvPr id="90" name="직사각형 89"/>
          <p:cNvSpPr/>
          <p:nvPr/>
        </p:nvSpPr>
        <p:spPr>
          <a:xfrm>
            <a:off x="1197247" y="2272599"/>
            <a:ext cx="803409" cy="397508"/>
          </a:xfrm>
          <a:prstGeom prst="rect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4" dirty="0">
                <a:latin typeface="Times New Roman" panose="02020603050405020304" pitchFamily="18" charset="0"/>
                <a:cs typeface="Times New Roman" panose="02020603050405020304" pitchFamily="18" charset="0"/>
              </a:rPr>
              <a:t>1400</a:t>
            </a:r>
            <a:endParaRPr lang="ko-KR" altLang="en-US" sz="1504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8" name="TextBox 97"/>
          <p:cNvSpPr txBox="1"/>
          <p:nvPr/>
        </p:nvSpPr>
        <p:spPr>
          <a:xfrm>
            <a:off x="1247823" y="1998016"/>
            <a:ext cx="763351" cy="2723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17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SN=7200</a:t>
            </a:r>
            <a:endParaRPr lang="ko-KR" altLang="en-US" sz="117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9" name="오른쪽 화살표 98"/>
          <p:cNvSpPr/>
          <p:nvPr/>
        </p:nvSpPr>
        <p:spPr>
          <a:xfrm rot="10800000">
            <a:off x="5278694" y="2190372"/>
            <a:ext cx="2993622" cy="593573"/>
          </a:xfrm>
          <a:prstGeom prst="rightArrow">
            <a:avLst>
              <a:gd name="adj1" fmla="val 50000"/>
              <a:gd name="adj2" fmla="val 86095"/>
            </a:avLst>
          </a:prstGeom>
          <a:noFill/>
          <a:ln cap="sq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0" name="TextBox 99"/>
          <p:cNvSpPr txBox="1"/>
          <p:nvPr/>
        </p:nvSpPr>
        <p:spPr>
          <a:xfrm>
            <a:off x="5868274" y="2327832"/>
            <a:ext cx="213452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Window Size = 5000 </a:t>
            </a:r>
            <a:endParaRPr lang="ko-KR" altLang="en-US" sz="1600" dirty="0">
              <a:latin typeface="Times New Roman" panose="02020603050405020304" pitchFamily="18" charset="0"/>
              <a:ea typeface="함초롬바탕" panose="02030504000101010101" pitchFamily="18" charset="-127"/>
              <a:cs typeface="Times New Roman" panose="02020603050405020304" pitchFamily="18" charset="0"/>
            </a:endParaRPr>
          </a:p>
        </p:txBody>
      </p:sp>
      <p:sp>
        <p:nvSpPr>
          <p:cNvPr id="101" name="오른쪽 화살표 100"/>
          <p:cNvSpPr/>
          <p:nvPr/>
        </p:nvSpPr>
        <p:spPr>
          <a:xfrm>
            <a:off x="5388824" y="2775105"/>
            <a:ext cx="2847885" cy="651161"/>
          </a:xfrm>
          <a:prstGeom prst="rightArrow">
            <a:avLst>
              <a:gd name="adj1" fmla="val 50000"/>
              <a:gd name="adj2" fmla="val 86095"/>
            </a:avLst>
          </a:prstGeom>
          <a:solidFill>
            <a:schemeClr val="bg1">
              <a:lumMod val="85000"/>
            </a:schemeClr>
          </a:solidFill>
          <a:ln cap="sq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2" name="TextBox 60"/>
          <p:cNvSpPr txBox="1">
            <a:spLocks noChangeArrowheads="1"/>
          </p:cNvSpPr>
          <p:nvPr/>
        </p:nvSpPr>
        <p:spPr bwMode="auto">
          <a:xfrm>
            <a:off x="5421485" y="2934667"/>
            <a:ext cx="2390398" cy="3196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1pPr>
            <a:lvl2pPr marL="742950" indent="-285750"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2pPr>
            <a:lvl3pPr marL="1143000" indent="-228600"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3pPr>
            <a:lvl4pPr marL="1600200" indent="-228600"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4pPr>
            <a:lvl5pPr marL="2057400" indent="-228600"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9pPr>
          </a:lstStyle>
          <a:p>
            <a:r>
              <a:rPr lang="en-US" altLang="ko-KR" sz="1477" dirty="0">
                <a:latin typeface="Times New Roman" panose="02020603050405020304" pitchFamily="18" charset="0"/>
                <a:cs typeface="Times New Roman" panose="02020603050405020304" pitchFamily="18" charset="0"/>
              </a:rPr>
              <a:t>SN=</a:t>
            </a:r>
            <a:r>
              <a:rPr lang="en-US" altLang="ko-KR" sz="1477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4400 (</a:t>
            </a:r>
            <a:r>
              <a:rPr lang="en-US" altLang="ko-KR" sz="1477" dirty="0">
                <a:solidFill>
                  <a:schemeClr val="accent2"/>
                </a:solidFill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Data Size : 1400</a:t>
            </a:r>
            <a:r>
              <a:rPr lang="en-US" altLang="ko-KR" sz="1477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)</a:t>
            </a:r>
            <a:r>
              <a:rPr lang="ko-KR" altLang="en-US" sz="1477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 </a:t>
            </a:r>
          </a:p>
        </p:txBody>
      </p:sp>
      <p:sp>
        <p:nvSpPr>
          <p:cNvPr id="103" name="오른쪽 화살표 102"/>
          <p:cNvSpPr/>
          <p:nvPr/>
        </p:nvSpPr>
        <p:spPr>
          <a:xfrm>
            <a:off x="5390160" y="3499203"/>
            <a:ext cx="1804361" cy="651161"/>
          </a:xfrm>
          <a:prstGeom prst="rightArrow">
            <a:avLst>
              <a:gd name="adj1" fmla="val 50000"/>
              <a:gd name="adj2" fmla="val 86095"/>
            </a:avLst>
          </a:prstGeom>
          <a:solidFill>
            <a:schemeClr val="bg1">
              <a:lumMod val="85000"/>
            </a:schemeClr>
          </a:solidFill>
          <a:ln cap="sq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4" name="TextBox 60"/>
          <p:cNvSpPr txBox="1">
            <a:spLocks noChangeArrowheads="1"/>
          </p:cNvSpPr>
          <p:nvPr/>
        </p:nvSpPr>
        <p:spPr bwMode="auto">
          <a:xfrm>
            <a:off x="5422821" y="3658765"/>
            <a:ext cx="912429" cy="3196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1pPr>
            <a:lvl2pPr marL="742950" indent="-285750"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2pPr>
            <a:lvl3pPr marL="1143000" indent="-228600"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3pPr>
            <a:lvl4pPr marL="1600200" indent="-228600"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4pPr>
            <a:lvl5pPr marL="2057400" indent="-228600"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9pPr>
          </a:lstStyle>
          <a:p>
            <a:r>
              <a:rPr lang="en-US" altLang="ko-KR" sz="1477" dirty="0">
                <a:latin typeface="Times New Roman" panose="02020603050405020304" pitchFamily="18" charset="0"/>
                <a:cs typeface="Times New Roman" panose="02020603050405020304" pitchFamily="18" charset="0"/>
              </a:rPr>
              <a:t>SN=</a:t>
            </a:r>
            <a:r>
              <a:rPr lang="en-US" altLang="ko-KR" sz="1477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5800</a:t>
            </a:r>
            <a:endParaRPr lang="ko-KR" altLang="en-US" sz="1477" dirty="0">
              <a:latin typeface="Times New Roman" panose="02020603050405020304" pitchFamily="18" charset="0"/>
              <a:ea typeface="함초롬바탕" panose="02030504000101010101" pitchFamily="18" charset="-127"/>
              <a:cs typeface="Times New Roman" panose="02020603050405020304" pitchFamily="18" charset="0"/>
            </a:endParaRPr>
          </a:p>
        </p:txBody>
      </p:sp>
      <p:sp>
        <p:nvSpPr>
          <p:cNvPr id="105" name="오른쪽 화살표 104"/>
          <p:cNvSpPr/>
          <p:nvPr/>
        </p:nvSpPr>
        <p:spPr>
          <a:xfrm>
            <a:off x="5361486" y="4227004"/>
            <a:ext cx="2847885" cy="651161"/>
          </a:xfrm>
          <a:prstGeom prst="rightArrow">
            <a:avLst>
              <a:gd name="adj1" fmla="val 50000"/>
              <a:gd name="adj2" fmla="val 86095"/>
            </a:avLst>
          </a:prstGeom>
          <a:solidFill>
            <a:schemeClr val="bg1">
              <a:lumMod val="85000"/>
            </a:schemeClr>
          </a:solidFill>
          <a:ln cap="sq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6" name="TextBox 60"/>
          <p:cNvSpPr txBox="1">
            <a:spLocks noChangeArrowheads="1"/>
          </p:cNvSpPr>
          <p:nvPr/>
        </p:nvSpPr>
        <p:spPr bwMode="auto">
          <a:xfrm>
            <a:off x="5394147" y="4386566"/>
            <a:ext cx="2390398" cy="3196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1pPr>
            <a:lvl2pPr marL="742950" indent="-285750"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2pPr>
            <a:lvl3pPr marL="1143000" indent="-228600"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3pPr>
            <a:lvl4pPr marL="1600200" indent="-228600"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4pPr>
            <a:lvl5pPr marL="2057400" indent="-228600"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9pPr>
          </a:lstStyle>
          <a:p>
            <a:r>
              <a:rPr lang="en-US" altLang="ko-KR" sz="1477" dirty="0">
                <a:latin typeface="Times New Roman" panose="02020603050405020304" pitchFamily="18" charset="0"/>
                <a:cs typeface="Times New Roman" panose="02020603050405020304" pitchFamily="18" charset="0"/>
              </a:rPr>
              <a:t>SN=</a:t>
            </a:r>
            <a:r>
              <a:rPr lang="en-US" altLang="ko-KR" sz="1477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7200 (</a:t>
            </a:r>
            <a:r>
              <a:rPr lang="en-US" altLang="ko-KR" sz="1477" dirty="0">
                <a:solidFill>
                  <a:schemeClr val="accent2"/>
                </a:solidFill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Data Size : 1400</a:t>
            </a:r>
            <a:r>
              <a:rPr lang="en-US" altLang="ko-KR" sz="1477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)</a:t>
            </a:r>
            <a:r>
              <a:rPr lang="ko-KR" altLang="en-US" sz="1477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 </a:t>
            </a:r>
          </a:p>
        </p:txBody>
      </p:sp>
      <p:sp>
        <p:nvSpPr>
          <p:cNvPr id="107" name="폭발 1 106"/>
          <p:cNvSpPr/>
          <p:nvPr/>
        </p:nvSpPr>
        <p:spPr>
          <a:xfrm>
            <a:off x="6906400" y="3480187"/>
            <a:ext cx="1011106" cy="750161"/>
          </a:xfrm>
          <a:prstGeom prst="irregularSeal1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0" name="직사각형 109"/>
          <p:cNvSpPr/>
          <p:nvPr/>
        </p:nvSpPr>
        <p:spPr>
          <a:xfrm>
            <a:off x="10515130" y="2674583"/>
            <a:ext cx="803409" cy="397508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4" dirty="0">
                <a:latin typeface="Times New Roman" panose="02020603050405020304" pitchFamily="18" charset="0"/>
                <a:cs typeface="Times New Roman" panose="02020603050405020304" pitchFamily="18" charset="0"/>
              </a:rPr>
              <a:t>1400</a:t>
            </a:r>
            <a:endParaRPr lang="ko-KR" altLang="en-US" sz="1504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1" name="TextBox 110"/>
          <p:cNvSpPr txBox="1"/>
          <p:nvPr/>
        </p:nvSpPr>
        <p:spPr>
          <a:xfrm>
            <a:off x="10568563" y="2398824"/>
            <a:ext cx="763351" cy="2723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17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SN=4400</a:t>
            </a:r>
            <a:endParaRPr lang="ko-KR" altLang="en-US" sz="117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2" name="직사각형 111"/>
          <p:cNvSpPr/>
          <p:nvPr/>
        </p:nvSpPr>
        <p:spPr>
          <a:xfrm>
            <a:off x="8646712" y="2701368"/>
            <a:ext cx="803409" cy="397508"/>
          </a:xfrm>
          <a:prstGeom prst="rect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4" dirty="0">
                <a:latin typeface="Times New Roman" panose="02020603050405020304" pitchFamily="18" charset="0"/>
                <a:cs typeface="Times New Roman" panose="02020603050405020304" pitchFamily="18" charset="0"/>
              </a:rPr>
              <a:t>1400</a:t>
            </a:r>
            <a:endParaRPr lang="ko-KR" altLang="en-US" sz="1504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3" name="TextBox 112"/>
          <p:cNvSpPr txBox="1"/>
          <p:nvPr/>
        </p:nvSpPr>
        <p:spPr>
          <a:xfrm>
            <a:off x="8697288" y="2426785"/>
            <a:ext cx="763351" cy="2723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17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SN=7200</a:t>
            </a:r>
            <a:endParaRPr lang="ko-KR" altLang="en-US" sz="117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4" name="직사각형 113"/>
          <p:cNvSpPr/>
          <p:nvPr/>
        </p:nvSpPr>
        <p:spPr>
          <a:xfrm>
            <a:off x="9599833" y="2693154"/>
            <a:ext cx="803409" cy="397508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504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5" name="오른쪽 화살표 114"/>
          <p:cNvSpPr/>
          <p:nvPr/>
        </p:nvSpPr>
        <p:spPr>
          <a:xfrm rot="10800000">
            <a:off x="5278694" y="4862423"/>
            <a:ext cx="2891770" cy="580292"/>
          </a:xfrm>
          <a:prstGeom prst="rightArrow">
            <a:avLst>
              <a:gd name="adj1" fmla="val 50000"/>
              <a:gd name="adj2" fmla="val 86095"/>
            </a:avLst>
          </a:prstGeom>
          <a:noFill/>
          <a:ln cap="sq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886"/>
          </a:p>
        </p:txBody>
      </p:sp>
      <p:sp>
        <p:nvSpPr>
          <p:cNvPr id="116" name="TextBox 75"/>
          <p:cNvSpPr txBox="1">
            <a:spLocks noChangeArrowheads="1"/>
          </p:cNvSpPr>
          <p:nvPr/>
        </p:nvSpPr>
        <p:spPr bwMode="auto">
          <a:xfrm>
            <a:off x="6312002" y="5020686"/>
            <a:ext cx="1223412" cy="3196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1pPr>
            <a:lvl2pPr marL="742950" indent="-285750"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2pPr>
            <a:lvl3pPr marL="1143000" indent="-228600"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3pPr>
            <a:lvl4pPr marL="1600200" indent="-228600"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4pPr>
            <a:lvl5pPr marL="2057400" indent="-228600"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9pPr>
          </a:lstStyle>
          <a:p>
            <a:r>
              <a:rPr lang="en-US" altLang="ko-KR" sz="1477" b="1" dirty="0">
                <a:solidFill>
                  <a:srgbClr val="FF0000"/>
                </a:solidFill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NAK= 5800 </a:t>
            </a:r>
            <a:r>
              <a:rPr lang="ko-KR" altLang="en-US" sz="1477" b="1">
                <a:solidFill>
                  <a:srgbClr val="FF0000"/>
                </a:solidFill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 </a:t>
            </a:r>
            <a:endParaRPr lang="ko-KR" altLang="en-US" sz="1477" b="1" dirty="0">
              <a:solidFill>
                <a:srgbClr val="FF0000"/>
              </a:solidFill>
              <a:latin typeface="Times New Roman" panose="02020603050405020304" pitchFamily="18" charset="0"/>
              <a:ea typeface="함초롬바탕" panose="02030504000101010101" pitchFamily="18" charset="-127"/>
              <a:cs typeface="Times New Roman" panose="02020603050405020304" pitchFamily="18" charset="0"/>
            </a:endParaRPr>
          </a:p>
        </p:txBody>
      </p:sp>
      <p:sp>
        <p:nvSpPr>
          <p:cNvPr id="117" name="오른쪽 화살표 116"/>
          <p:cNvSpPr/>
          <p:nvPr/>
        </p:nvSpPr>
        <p:spPr>
          <a:xfrm>
            <a:off x="5382096" y="5503006"/>
            <a:ext cx="2847885" cy="651161"/>
          </a:xfrm>
          <a:prstGeom prst="rightArrow">
            <a:avLst>
              <a:gd name="adj1" fmla="val 50000"/>
              <a:gd name="adj2" fmla="val 86095"/>
            </a:avLst>
          </a:prstGeom>
          <a:solidFill>
            <a:schemeClr val="bg1">
              <a:lumMod val="85000"/>
            </a:schemeClr>
          </a:solidFill>
          <a:ln cap="sq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8" name="TextBox 60"/>
          <p:cNvSpPr txBox="1">
            <a:spLocks noChangeArrowheads="1"/>
          </p:cNvSpPr>
          <p:nvPr/>
        </p:nvSpPr>
        <p:spPr bwMode="auto">
          <a:xfrm>
            <a:off x="5414757" y="5662568"/>
            <a:ext cx="2390398" cy="3196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1pPr>
            <a:lvl2pPr marL="742950" indent="-285750"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2pPr>
            <a:lvl3pPr marL="1143000" indent="-228600"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3pPr>
            <a:lvl4pPr marL="1600200" indent="-228600"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4pPr>
            <a:lvl5pPr marL="2057400" indent="-228600"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9pPr>
          </a:lstStyle>
          <a:p>
            <a:r>
              <a:rPr lang="en-US" altLang="ko-KR" sz="1477" dirty="0">
                <a:latin typeface="Times New Roman" panose="02020603050405020304" pitchFamily="18" charset="0"/>
                <a:cs typeface="Times New Roman" panose="02020603050405020304" pitchFamily="18" charset="0"/>
              </a:rPr>
              <a:t>SN=</a:t>
            </a:r>
            <a:r>
              <a:rPr lang="en-US" altLang="ko-KR" sz="1477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5800 (</a:t>
            </a:r>
            <a:r>
              <a:rPr lang="en-US" altLang="ko-KR" sz="1477" dirty="0">
                <a:solidFill>
                  <a:schemeClr val="accent2"/>
                </a:solidFill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Data Size : 1400</a:t>
            </a:r>
            <a:r>
              <a:rPr lang="en-US" altLang="ko-KR" sz="1477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)</a:t>
            </a:r>
            <a:r>
              <a:rPr lang="ko-KR" altLang="en-US" sz="1477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 </a:t>
            </a:r>
          </a:p>
        </p:txBody>
      </p:sp>
      <p:sp>
        <p:nvSpPr>
          <p:cNvPr id="119" name="오른쪽 화살표 118"/>
          <p:cNvSpPr/>
          <p:nvPr/>
        </p:nvSpPr>
        <p:spPr>
          <a:xfrm rot="10800000">
            <a:off x="5307055" y="6166185"/>
            <a:ext cx="2891770" cy="580292"/>
          </a:xfrm>
          <a:prstGeom prst="rightArrow">
            <a:avLst>
              <a:gd name="adj1" fmla="val 50000"/>
              <a:gd name="adj2" fmla="val 86095"/>
            </a:avLst>
          </a:prstGeom>
          <a:noFill/>
          <a:ln cap="sq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886"/>
          </a:p>
        </p:txBody>
      </p:sp>
      <p:sp>
        <p:nvSpPr>
          <p:cNvPr id="120" name="TextBox 75"/>
          <p:cNvSpPr txBox="1">
            <a:spLocks noChangeArrowheads="1"/>
          </p:cNvSpPr>
          <p:nvPr/>
        </p:nvSpPr>
        <p:spPr bwMode="auto">
          <a:xfrm>
            <a:off x="6340363" y="6324448"/>
            <a:ext cx="1087157" cy="3196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1pPr>
            <a:lvl2pPr marL="742950" indent="-285750"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2pPr>
            <a:lvl3pPr marL="1143000" indent="-228600"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3pPr>
            <a:lvl4pPr marL="1600200" indent="-228600"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4pPr>
            <a:lvl5pPr marL="2057400" indent="-228600"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2"/>
                </a:solidFill>
                <a:latin typeface="다음_SemiBold" pitchFamily="2" charset="-127"/>
                <a:ea typeface="다음_SemiBold" pitchFamily="2" charset="-127"/>
              </a:defRPr>
            </a:lvl9pPr>
          </a:lstStyle>
          <a:p>
            <a:r>
              <a:rPr lang="en-US" altLang="ko-KR" sz="1477" dirty="0">
                <a:solidFill>
                  <a:schemeClr val="tx1">
                    <a:lumMod val="85000"/>
                    <a:lumOff val="15000"/>
                  </a:schemeClr>
                </a:solidFill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AN= </a:t>
            </a:r>
            <a:r>
              <a:rPr lang="en-US" altLang="ko-KR" sz="1477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7200 </a:t>
            </a:r>
            <a:r>
              <a:rPr lang="ko-KR" altLang="en-US" sz="1477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 </a:t>
            </a:r>
            <a:endParaRPr lang="ko-KR" altLang="en-US" sz="1477" dirty="0">
              <a:latin typeface="Times New Roman" panose="02020603050405020304" pitchFamily="18" charset="0"/>
              <a:ea typeface="함초롬바탕" panose="02030504000101010101" pitchFamily="18" charset="-127"/>
              <a:cs typeface="Times New Roman" panose="02020603050405020304" pitchFamily="18" charset="0"/>
            </a:endParaRPr>
          </a:p>
        </p:txBody>
      </p:sp>
      <p:sp>
        <p:nvSpPr>
          <p:cNvPr id="121" name="TextBox 120"/>
          <p:cNvSpPr txBox="1"/>
          <p:nvPr/>
        </p:nvSpPr>
        <p:spPr>
          <a:xfrm>
            <a:off x="9574136" y="2416684"/>
            <a:ext cx="763351" cy="2723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17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SN=????</a:t>
            </a:r>
            <a:endParaRPr lang="ko-KR" altLang="en-US" sz="117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2319300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F5DBBF-35D1-4D56-BF8F-CD0D3754FCBA}" type="slidenum">
              <a:rPr lang="ko-KR" altLang="en-US" smtClean="0"/>
              <a:pPr/>
              <a:t>27</a:t>
            </a:fld>
            <a:endParaRPr lang="en-US" altLang="ko-KR"/>
          </a:p>
        </p:txBody>
      </p:sp>
      <p:grpSp>
        <p:nvGrpSpPr>
          <p:cNvPr id="6" name="그룹 5"/>
          <p:cNvGrpSpPr/>
          <p:nvPr/>
        </p:nvGrpSpPr>
        <p:grpSpPr>
          <a:xfrm flipH="1">
            <a:off x="8454469" y="2447488"/>
            <a:ext cx="941018" cy="1020399"/>
            <a:chOff x="1533695" y="4087365"/>
            <a:chExt cx="838200" cy="1007923"/>
          </a:xfrm>
        </p:grpSpPr>
        <p:sp>
          <p:nvSpPr>
            <p:cNvPr id="7" name="Freeform 174"/>
            <p:cNvSpPr>
              <a:spLocks/>
            </p:cNvSpPr>
            <p:nvPr/>
          </p:nvSpPr>
          <p:spPr bwMode="auto">
            <a:xfrm rot="355818">
              <a:off x="2175045" y="4754115"/>
              <a:ext cx="74613" cy="52387"/>
            </a:xfrm>
            <a:custGeom>
              <a:avLst/>
              <a:gdLst>
                <a:gd name="T0" fmla="*/ 1224 w 1224"/>
                <a:gd name="T1" fmla="*/ 755 h 755"/>
                <a:gd name="T2" fmla="*/ 1112 w 1224"/>
                <a:gd name="T3" fmla="*/ 716 h 755"/>
                <a:gd name="T4" fmla="*/ 1051 w 1224"/>
                <a:gd name="T5" fmla="*/ 693 h 755"/>
                <a:gd name="T6" fmla="*/ 1006 w 1224"/>
                <a:gd name="T7" fmla="*/ 671 h 755"/>
                <a:gd name="T8" fmla="*/ 984 w 1224"/>
                <a:gd name="T9" fmla="*/ 660 h 755"/>
                <a:gd name="T10" fmla="*/ 939 w 1224"/>
                <a:gd name="T11" fmla="*/ 626 h 755"/>
                <a:gd name="T12" fmla="*/ 894 w 1224"/>
                <a:gd name="T13" fmla="*/ 548 h 755"/>
                <a:gd name="T14" fmla="*/ 889 w 1224"/>
                <a:gd name="T15" fmla="*/ 531 h 755"/>
                <a:gd name="T16" fmla="*/ 850 w 1224"/>
                <a:gd name="T17" fmla="*/ 509 h 755"/>
                <a:gd name="T18" fmla="*/ 799 w 1224"/>
                <a:gd name="T19" fmla="*/ 481 h 755"/>
                <a:gd name="T20" fmla="*/ 704 w 1224"/>
                <a:gd name="T21" fmla="*/ 453 h 755"/>
                <a:gd name="T22" fmla="*/ 419 w 1224"/>
                <a:gd name="T23" fmla="*/ 442 h 755"/>
                <a:gd name="T24" fmla="*/ 330 w 1224"/>
                <a:gd name="T25" fmla="*/ 408 h 755"/>
                <a:gd name="T26" fmla="*/ 212 w 1224"/>
                <a:gd name="T27" fmla="*/ 279 h 755"/>
                <a:gd name="T28" fmla="*/ 145 w 1224"/>
                <a:gd name="T29" fmla="*/ 134 h 755"/>
                <a:gd name="T30" fmla="*/ 78 w 1224"/>
                <a:gd name="T31" fmla="*/ 39 h 755"/>
                <a:gd name="T32" fmla="*/ 0 w 1224"/>
                <a:gd name="T33" fmla="*/ 0 h 755"/>
                <a:gd name="T34" fmla="*/ 0 60000 65536"/>
                <a:gd name="T35" fmla="*/ 0 60000 65536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w 1224"/>
                <a:gd name="T52" fmla="*/ 0 h 755"/>
                <a:gd name="T53" fmla="*/ 1224 w 1224"/>
                <a:gd name="T54" fmla="*/ 755 h 755"/>
              </a:gdLst>
              <a:ahLst/>
              <a:cxnLst>
                <a:cxn ang="T34">
                  <a:pos x="T0" y="T1"/>
                </a:cxn>
                <a:cxn ang="T35">
                  <a:pos x="T2" y="T3"/>
                </a:cxn>
                <a:cxn ang="T36">
                  <a:pos x="T4" y="T5"/>
                </a:cxn>
                <a:cxn ang="T37">
                  <a:pos x="T6" y="T7"/>
                </a:cxn>
                <a:cxn ang="T38">
                  <a:pos x="T8" y="T9"/>
                </a:cxn>
                <a:cxn ang="T39">
                  <a:pos x="T10" y="T11"/>
                </a:cxn>
                <a:cxn ang="T40">
                  <a:pos x="T12" y="T13"/>
                </a:cxn>
                <a:cxn ang="T41">
                  <a:pos x="T14" y="T15"/>
                </a:cxn>
                <a:cxn ang="T42">
                  <a:pos x="T16" y="T17"/>
                </a:cxn>
                <a:cxn ang="T43">
                  <a:pos x="T18" y="T19"/>
                </a:cxn>
                <a:cxn ang="T44">
                  <a:pos x="T20" y="T21"/>
                </a:cxn>
                <a:cxn ang="T45">
                  <a:pos x="T22" y="T23"/>
                </a:cxn>
                <a:cxn ang="T46">
                  <a:pos x="T24" y="T25"/>
                </a:cxn>
                <a:cxn ang="T47">
                  <a:pos x="T26" y="T27"/>
                </a:cxn>
                <a:cxn ang="T48">
                  <a:pos x="T28" y="T29"/>
                </a:cxn>
                <a:cxn ang="T49">
                  <a:pos x="T30" y="T31"/>
                </a:cxn>
                <a:cxn ang="T50">
                  <a:pos x="T32" y="T33"/>
                </a:cxn>
              </a:cxnLst>
              <a:rect l="T51" t="T52" r="T53" b="T54"/>
              <a:pathLst>
                <a:path w="1224" h="755">
                  <a:moveTo>
                    <a:pt x="1224" y="755"/>
                  </a:moveTo>
                  <a:cubicBezTo>
                    <a:pt x="1190" y="729"/>
                    <a:pt x="1154" y="724"/>
                    <a:pt x="1112" y="716"/>
                  </a:cubicBezTo>
                  <a:cubicBezTo>
                    <a:pt x="1091" y="705"/>
                    <a:pt x="1072" y="702"/>
                    <a:pt x="1051" y="693"/>
                  </a:cubicBezTo>
                  <a:cubicBezTo>
                    <a:pt x="1036" y="686"/>
                    <a:pt x="1021" y="678"/>
                    <a:pt x="1006" y="671"/>
                  </a:cubicBezTo>
                  <a:cubicBezTo>
                    <a:pt x="999" y="667"/>
                    <a:pt x="984" y="660"/>
                    <a:pt x="984" y="660"/>
                  </a:cubicBezTo>
                  <a:cubicBezTo>
                    <a:pt x="971" y="646"/>
                    <a:pt x="939" y="626"/>
                    <a:pt x="939" y="626"/>
                  </a:cubicBezTo>
                  <a:cubicBezTo>
                    <a:pt x="923" y="602"/>
                    <a:pt x="906" y="575"/>
                    <a:pt x="894" y="548"/>
                  </a:cubicBezTo>
                  <a:cubicBezTo>
                    <a:pt x="892" y="543"/>
                    <a:pt x="893" y="536"/>
                    <a:pt x="889" y="531"/>
                  </a:cubicBezTo>
                  <a:cubicBezTo>
                    <a:pt x="884" y="524"/>
                    <a:pt x="855" y="512"/>
                    <a:pt x="850" y="509"/>
                  </a:cubicBezTo>
                  <a:cubicBezTo>
                    <a:pt x="802" y="480"/>
                    <a:pt x="833" y="491"/>
                    <a:pt x="799" y="481"/>
                  </a:cubicBezTo>
                  <a:cubicBezTo>
                    <a:pt x="764" y="457"/>
                    <a:pt x="751" y="457"/>
                    <a:pt x="704" y="453"/>
                  </a:cubicBezTo>
                  <a:cubicBezTo>
                    <a:pt x="606" y="457"/>
                    <a:pt x="515" y="459"/>
                    <a:pt x="419" y="442"/>
                  </a:cubicBezTo>
                  <a:cubicBezTo>
                    <a:pt x="391" y="426"/>
                    <a:pt x="360" y="419"/>
                    <a:pt x="330" y="408"/>
                  </a:cubicBezTo>
                  <a:cubicBezTo>
                    <a:pt x="287" y="368"/>
                    <a:pt x="245" y="328"/>
                    <a:pt x="212" y="279"/>
                  </a:cubicBezTo>
                  <a:cubicBezTo>
                    <a:pt x="183" y="235"/>
                    <a:pt x="168" y="181"/>
                    <a:pt x="145" y="134"/>
                  </a:cubicBezTo>
                  <a:cubicBezTo>
                    <a:pt x="128" y="100"/>
                    <a:pt x="99" y="71"/>
                    <a:pt x="78" y="39"/>
                  </a:cubicBezTo>
                  <a:cubicBezTo>
                    <a:pt x="70" y="27"/>
                    <a:pt x="15" y="7"/>
                    <a:pt x="0" y="0"/>
                  </a:cubicBezTo>
                </a:path>
              </a:pathLst>
            </a:custGeom>
            <a:noFill/>
            <a:ln w="12700">
              <a:solidFill>
                <a:srgbClr val="969696"/>
              </a:solidFill>
              <a:round/>
              <a:headEnd/>
              <a:tailEnd/>
            </a:ln>
          </p:spPr>
          <p:txBody>
            <a:bodyPr/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8" name="Freeform 175"/>
            <p:cNvSpPr>
              <a:spLocks/>
            </p:cNvSpPr>
            <p:nvPr/>
          </p:nvSpPr>
          <p:spPr bwMode="auto">
            <a:xfrm rot="355818" flipH="1">
              <a:off x="2235370" y="4801740"/>
              <a:ext cx="136525" cy="82550"/>
            </a:xfrm>
            <a:custGeom>
              <a:avLst/>
              <a:gdLst>
                <a:gd name="T0" fmla="*/ 886 w 971"/>
                <a:gd name="T1" fmla="*/ 33 h 550"/>
                <a:gd name="T2" fmla="*/ 937 w 971"/>
                <a:gd name="T3" fmla="*/ 70 h 550"/>
                <a:gd name="T4" fmla="*/ 971 w 971"/>
                <a:gd name="T5" fmla="*/ 130 h 550"/>
                <a:gd name="T6" fmla="*/ 967 w 971"/>
                <a:gd name="T7" fmla="*/ 218 h 550"/>
                <a:gd name="T8" fmla="*/ 882 w 971"/>
                <a:gd name="T9" fmla="*/ 261 h 550"/>
                <a:gd name="T10" fmla="*/ 791 w 971"/>
                <a:gd name="T11" fmla="*/ 294 h 550"/>
                <a:gd name="T12" fmla="*/ 665 w 971"/>
                <a:gd name="T13" fmla="*/ 382 h 550"/>
                <a:gd name="T14" fmla="*/ 519 w 971"/>
                <a:gd name="T15" fmla="*/ 522 h 550"/>
                <a:gd name="T16" fmla="*/ 397 w 971"/>
                <a:gd name="T17" fmla="*/ 542 h 550"/>
                <a:gd name="T18" fmla="*/ 298 w 971"/>
                <a:gd name="T19" fmla="*/ 550 h 550"/>
                <a:gd name="T20" fmla="*/ 155 w 971"/>
                <a:gd name="T21" fmla="*/ 522 h 550"/>
                <a:gd name="T22" fmla="*/ 34 w 971"/>
                <a:gd name="T23" fmla="*/ 459 h 550"/>
                <a:gd name="T24" fmla="*/ 0 w 971"/>
                <a:gd name="T25" fmla="*/ 393 h 550"/>
                <a:gd name="T26" fmla="*/ 11 w 971"/>
                <a:gd name="T27" fmla="*/ 315 h 550"/>
                <a:gd name="T28" fmla="*/ 63 w 971"/>
                <a:gd name="T29" fmla="*/ 210 h 550"/>
                <a:gd name="T30" fmla="*/ 142 w 971"/>
                <a:gd name="T31" fmla="*/ 147 h 550"/>
                <a:gd name="T32" fmla="*/ 246 w 971"/>
                <a:gd name="T33" fmla="*/ 89 h 550"/>
                <a:gd name="T34" fmla="*/ 445 w 971"/>
                <a:gd name="T35" fmla="*/ 21 h 550"/>
                <a:gd name="T36" fmla="*/ 634 w 971"/>
                <a:gd name="T37" fmla="*/ 0 h 550"/>
                <a:gd name="T38" fmla="*/ 794 w 971"/>
                <a:gd name="T39" fmla="*/ 13 h 550"/>
                <a:gd name="T40" fmla="*/ 886 w 971"/>
                <a:gd name="T41" fmla="*/ 33 h 550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60000 65536"/>
                <a:gd name="T55" fmla="*/ 0 60000 65536"/>
                <a:gd name="T56" fmla="*/ 0 60000 65536"/>
                <a:gd name="T57" fmla="*/ 0 60000 65536"/>
                <a:gd name="T58" fmla="*/ 0 60000 65536"/>
                <a:gd name="T59" fmla="*/ 0 60000 65536"/>
                <a:gd name="T60" fmla="*/ 0 60000 65536"/>
                <a:gd name="T61" fmla="*/ 0 60000 65536"/>
                <a:gd name="T62" fmla="*/ 0 60000 65536"/>
                <a:gd name="T63" fmla="*/ 0 w 971"/>
                <a:gd name="T64" fmla="*/ 0 h 550"/>
                <a:gd name="T65" fmla="*/ 971 w 971"/>
                <a:gd name="T66" fmla="*/ 550 h 550"/>
              </a:gdLst>
              <a:ahLst/>
              <a:cxnLst>
                <a:cxn ang="T42">
                  <a:pos x="T0" y="T1"/>
                </a:cxn>
                <a:cxn ang="T43">
                  <a:pos x="T2" y="T3"/>
                </a:cxn>
                <a:cxn ang="T44">
                  <a:pos x="T4" y="T5"/>
                </a:cxn>
                <a:cxn ang="T45">
                  <a:pos x="T6" y="T7"/>
                </a:cxn>
                <a:cxn ang="T46">
                  <a:pos x="T8" y="T9"/>
                </a:cxn>
                <a:cxn ang="T47">
                  <a:pos x="T10" y="T11"/>
                </a:cxn>
                <a:cxn ang="T48">
                  <a:pos x="T12" y="T13"/>
                </a:cxn>
                <a:cxn ang="T49">
                  <a:pos x="T14" y="T15"/>
                </a:cxn>
                <a:cxn ang="T50">
                  <a:pos x="T16" y="T17"/>
                </a:cxn>
                <a:cxn ang="T51">
                  <a:pos x="T18" y="T19"/>
                </a:cxn>
                <a:cxn ang="T52">
                  <a:pos x="T20" y="T21"/>
                </a:cxn>
                <a:cxn ang="T53">
                  <a:pos x="T22" y="T23"/>
                </a:cxn>
                <a:cxn ang="T54">
                  <a:pos x="T24" y="T25"/>
                </a:cxn>
                <a:cxn ang="T55">
                  <a:pos x="T26" y="T27"/>
                </a:cxn>
                <a:cxn ang="T56">
                  <a:pos x="T28" y="T29"/>
                </a:cxn>
                <a:cxn ang="T57">
                  <a:pos x="T30" y="T31"/>
                </a:cxn>
                <a:cxn ang="T58">
                  <a:pos x="T32" y="T33"/>
                </a:cxn>
                <a:cxn ang="T59">
                  <a:pos x="T34" y="T35"/>
                </a:cxn>
                <a:cxn ang="T60">
                  <a:pos x="T36" y="T37"/>
                </a:cxn>
                <a:cxn ang="T61">
                  <a:pos x="T38" y="T39"/>
                </a:cxn>
                <a:cxn ang="T62">
                  <a:pos x="T40" y="T41"/>
                </a:cxn>
              </a:cxnLst>
              <a:rect l="T63" t="T64" r="T65" b="T66"/>
              <a:pathLst>
                <a:path w="971" h="550">
                  <a:moveTo>
                    <a:pt x="886" y="33"/>
                  </a:moveTo>
                  <a:lnTo>
                    <a:pt x="937" y="70"/>
                  </a:lnTo>
                  <a:lnTo>
                    <a:pt x="971" y="130"/>
                  </a:lnTo>
                  <a:lnTo>
                    <a:pt x="967" y="218"/>
                  </a:lnTo>
                  <a:lnTo>
                    <a:pt x="882" y="261"/>
                  </a:lnTo>
                  <a:lnTo>
                    <a:pt x="791" y="294"/>
                  </a:lnTo>
                  <a:lnTo>
                    <a:pt x="665" y="382"/>
                  </a:lnTo>
                  <a:lnTo>
                    <a:pt x="519" y="522"/>
                  </a:lnTo>
                  <a:lnTo>
                    <a:pt x="397" y="542"/>
                  </a:lnTo>
                  <a:lnTo>
                    <a:pt x="298" y="550"/>
                  </a:lnTo>
                  <a:lnTo>
                    <a:pt x="155" y="522"/>
                  </a:lnTo>
                  <a:lnTo>
                    <a:pt x="34" y="459"/>
                  </a:lnTo>
                  <a:lnTo>
                    <a:pt x="0" y="393"/>
                  </a:lnTo>
                  <a:lnTo>
                    <a:pt x="11" y="315"/>
                  </a:lnTo>
                  <a:lnTo>
                    <a:pt x="63" y="210"/>
                  </a:lnTo>
                  <a:lnTo>
                    <a:pt x="142" y="147"/>
                  </a:lnTo>
                  <a:lnTo>
                    <a:pt x="246" y="89"/>
                  </a:lnTo>
                  <a:lnTo>
                    <a:pt x="445" y="21"/>
                  </a:lnTo>
                  <a:lnTo>
                    <a:pt x="634" y="0"/>
                  </a:lnTo>
                  <a:lnTo>
                    <a:pt x="794" y="13"/>
                  </a:lnTo>
                  <a:lnTo>
                    <a:pt x="886" y="33"/>
                  </a:lnTo>
                  <a:close/>
                </a:path>
              </a:pathLst>
            </a:custGeom>
            <a:gradFill rotWithShape="1">
              <a:gsLst>
                <a:gs pos="0">
                  <a:srgbClr val="EAEAEA"/>
                </a:gs>
                <a:gs pos="50000">
                  <a:srgbClr val="FFFFFF"/>
                </a:gs>
                <a:gs pos="100000">
                  <a:srgbClr val="EAEAEA"/>
                </a:gs>
              </a:gsLst>
              <a:lin ang="2700000" scaled="1"/>
            </a:gradFill>
            <a:ln w="9525">
              <a:solidFill>
                <a:srgbClr val="808080"/>
              </a:solidFill>
              <a:round/>
              <a:headEnd/>
              <a:tailEnd/>
            </a:ln>
          </p:spPr>
          <p:txBody>
            <a:bodyPr/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9" name="Freeform 176"/>
            <p:cNvSpPr>
              <a:spLocks/>
            </p:cNvSpPr>
            <p:nvPr/>
          </p:nvSpPr>
          <p:spPr bwMode="auto">
            <a:xfrm rot="355818">
              <a:off x="2229020" y="4830315"/>
              <a:ext cx="134938" cy="58737"/>
            </a:xfrm>
            <a:custGeom>
              <a:avLst/>
              <a:gdLst>
                <a:gd name="T0" fmla="*/ 0 w 1432"/>
                <a:gd name="T1" fmla="*/ 0 h 526"/>
                <a:gd name="T2" fmla="*/ 56 w 1432"/>
                <a:gd name="T3" fmla="*/ 118 h 526"/>
                <a:gd name="T4" fmla="*/ 319 w 1432"/>
                <a:gd name="T5" fmla="*/ 302 h 526"/>
                <a:gd name="T6" fmla="*/ 604 w 1432"/>
                <a:gd name="T7" fmla="*/ 448 h 526"/>
                <a:gd name="T8" fmla="*/ 867 w 1432"/>
                <a:gd name="T9" fmla="*/ 526 h 526"/>
                <a:gd name="T10" fmla="*/ 1091 w 1432"/>
                <a:gd name="T11" fmla="*/ 504 h 526"/>
                <a:gd name="T12" fmla="*/ 1270 w 1432"/>
                <a:gd name="T13" fmla="*/ 448 h 526"/>
                <a:gd name="T14" fmla="*/ 1432 w 1432"/>
                <a:gd name="T15" fmla="*/ 353 h 526"/>
                <a:gd name="T16" fmla="*/ 1253 w 1432"/>
                <a:gd name="T17" fmla="*/ 431 h 526"/>
                <a:gd name="T18" fmla="*/ 1108 w 1432"/>
                <a:gd name="T19" fmla="*/ 470 h 526"/>
                <a:gd name="T20" fmla="*/ 951 w 1432"/>
                <a:gd name="T21" fmla="*/ 470 h 526"/>
                <a:gd name="T22" fmla="*/ 789 w 1432"/>
                <a:gd name="T23" fmla="*/ 453 h 526"/>
                <a:gd name="T24" fmla="*/ 699 w 1432"/>
                <a:gd name="T25" fmla="*/ 420 h 526"/>
                <a:gd name="T26" fmla="*/ 560 w 1432"/>
                <a:gd name="T27" fmla="*/ 330 h 526"/>
                <a:gd name="T28" fmla="*/ 437 w 1432"/>
                <a:gd name="T29" fmla="*/ 213 h 526"/>
                <a:gd name="T30" fmla="*/ 274 w 1432"/>
                <a:gd name="T31" fmla="*/ 129 h 526"/>
                <a:gd name="T32" fmla="*/ 140 w 1432"/>
                <a:gd name="T33" fmla="*/ 73 h 526"/>
                <a:gd name="T34" fmla="*/ 0 w 1432"/>
                <a:gd name="T35" fmla="*/ 0 h 526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w 1432"/>
                <a:gd name="T55" fmla="*/ 0 h 526"/>
                <a:gd name="T56" fmla="*/ 1432 w 1432"/>
                <a:gd name="T57" fmla="*/ 526 h 526"/>
              </a:gdLst>
              <a:ahLst/>
              <a:cxnLst>
                <a:cxn ang="T36">
                  <a:pos x="T0" y="T1"/>
                </a:cxn>
                <a:cxn ang="T37">
                  <a:pos x="T2" y="T3"/>
                </a:cxn>
                <a:cxn ang="T38">
                  <a:pos x="T4" y="T5"/>
                </a:cxn>
                <a:cxn ang="T39">
                  <a:pos x="T6" y="T7"/>
                </a:cxn>
                <a:cxn ang="T40">
                  <a:pos x="T8" y="T9"/>
                </a:cxn>
                <a:cxn ang="T41">
                  <a:pos x="T10" y="T11"/>
                </a:cxn>
                <a:cxn ang="T42">
                  <a:pos x="T12" y="T13"/>
                </a:cxn>
                <a:cxn ang="T43">
                  <a:pos x="T14" y="T15"/>
                </a:cxn>
                <a:cxn ang="T44">
                  <a:pos x="T16" y="T17"/>
                </a:cxn>
                <a:cxn ang="T45">
                  <a:pos x="T18" y="T19"/>
                </a:cxn>
                <a:cxn ang="T46">
                  <a:pos x="T20" y="T21"/>
                </a:cxn>
                <a:cxn ang="T47">
                  <a:pos x="T22" y="T23"/>
                </a:cxn>
                <a:cxn ang="T48">
                  <a:pos x="T24" y="T25"/>
                </a:cxn>
                <a:cxn ang="T49">
                  <a:pos x="T26" y="T27"/>
                </a:cxn>
                <a:cxn ang="T50">
                  <a:pos x="T28" y="T29"/>
                </a:cxn>
                <a:cxn ang="T51">
                  <a:pos x="T30" y="T31"/>
                </a:cxn>
                <a:cxn ang="T52">
                  <a:pos x="T32" y="T33"/>
                </a:cxn>
                <a:cxn ang="T53">
                  <a:pos x="T34" y="T35"/>
                </a:cxn>
              </a:cxnLst>
              <a:rect l="T54" t="T55" r="T56" b="T57"/>
              <a:pathLst>
                <a:path w="1432" h="526">
                  <a:moveTo>
                    <a:pt x="0" y="0"/>
                  </a:moveTo>
                  <a:lnTo>
                    <a:pt x="56" y="118"/>
                  </a:lnTo>
                  <a:lnTo>
                    <a:pt x="319" y="302"/>
                  </a:lnTo>
                  <a:lnTo>
                    <a:pt x="604" y="448"/>
                  </a:lnTo>
                  <a:lnTo>
                    <a:pt x="867" y="526"/>
                  </a:lnTo>
                  <a:lnTo>
                    <a:pt x="1091" y="504"/>
                  </a:lnTo>
                  <a:lnTo>
                    <a:pt x="1270" y="448"/>
                  </a:lnTo>
                  <a:lnTo>
                    <a:pt x="1432" y="353"/>
                  </a:lnTo>
                  <a:lnTo>
                    <a:pt x="1253" y="431"/>
                  </a:lnTo>
                  <a:lnTo>
                    <a:pt x="1108" y="470"/>
                  </a:lnTo>
                  <a:lnTo>
                    <a:pt x="951" y="470"/>
                  </a:lnTo>
                  <a:lnTo>
                    <a:pt x="789" y="453"/>
                  </a:lnTo>
                  <a:lnTo>
                    <a:pt x="699" y="420"/>
                  </a:lnTo>
                  <a:lnTo>
                    <a:pt x="560" y="330"/>
                  </a:lnTo>
                  <a:lnTo>
                    <a:pt x="437" y="213"/>
                  </a:lnTo>
                  <a:lnTo>
                    <a:pt x="274" y="129"/>
                  </a:lnTo>
                  <a:lnTo>
                    <a:pt x="140" y="73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969696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rgbClr val="808080"/>
              </a:solidFill>
              <a:round/>
              <a:headEnd/>
              <a:tailEnd/>
            </a:ln>
          </p:spPr>
          <p:txBody>
            <a:bodyPr/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10" name="Freeform 177"/>
            <p:cNvSpPr>
              <a:spLocks/>
            </p:cNvSpPr>
            <p:nvPr/>
          </p:nvSpPr>
          <p:spPr bwMode="auto">
            <a:xfrm rot="355818" flipH="1">
              <a:off x="2262358" y="4796977"/>
              <a:ext cx="31750" cy="39688"/>
            </a:xfrm>
            <a:custGeom>
              <a:avLst/>
              <a:gdLst>
                <a:gd name="T0" fmla="*/ 229 w 229"/>
                <a:gd name="T1" fmla="*/ 261 h 261"/>
                <a:gd name="T2" fmla="*/ 115 w 229"/>
                <a:gd name="T3" fmla="*/ 57 h 261"/>
                <a:gd name="T4" fmla="*/ 0 w 229"/>
                <a:gd name="T5" fmla="*/ 0 h 261"/>
                <a:gd name="T6" fmla="*/ 0 60000 65536"/>
                <a:gd name="T7" fmla="*/ 0 60000 65536"/>
                <a:gd name="T8" fmla="*/ 0 60000 65536"/>
                <a:gd name="T9" fmla="*/ 0 w 229"/>
                <a:gd name="T10" fmla="*/ 0 h 261"/>
                <a:gd name="T11" fmla="*/ 229 w 229"/>
                <a:gd name="T12" fmla="*/ 261 h 261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229" h="261">
                  <a:moveTo>
                    <a:pt x="229" y="261"/>
                  </a:moveTo>
                  <a:lnTo>
                    <a:pt x="115" y="57"/>
                  </a:lnTo>
                  <a:lnTo>
                    <a:pt x="0" y="0"/>
                  </a:lnTo>
                </a:path>
              </a:pathLst>
            </a:custGeom>
            <a:noFill/>
            <a:ln w="19050">
              <a:solidFill>
                <a:srgbClr val="B2B2B2"/>
              </a:solidFill>
              <a:round/>
              <a:headEnd/>
              <a:tailEnd/>
            </a:ln>
          </p:spPr>
          <p:txBody>
            <a:bodyPr/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11" name="Freeform 178"/>
            <p:cNvSpPr>
              <a:spLocks/>
            </p:cNvSpPr>
            <p:nvPr/>
          </p:nvSpPr>
          <p:spPr bwMode="auto">
            <a:xfrm rot="355818">
              <a:off x="2248070" y="4795390"/>
              <a:ext cx="42863" cy="7937"/>
            </a:xfrm>
            <a:custGeom>
              <a:avLst/>
              <a:gdLst>
                <a:gd name="T0" fmla="*/ 0 w 560"/>
                <a:gd name="T1" fmla="*/ 79 h 79"/>
                <a:gd name="T2" fmla="*/ 246 w 560"/>
                <a:gd name="T3" fmla="*/ 26 h 79"/>
                <a:gd name="T4" fmla="*/ 408 w 560"/>
                <a:gd name="T5" fmla="*/ 0 h 79"/>
                <a:gd name="T6" fmla="*/ 560 w 560"/>
                <a:gd name="T7" fmla="*/ 26 h 79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560"/>
                <a:gd name="T13" fmla="*/ 0 h 79"/>
                <a:gd name="T14" fmla="*/ 560 w 560"/>
                <a:gd name="T15" fmla="*/ 79 h 79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560" h="79">
                  <a:moveTo>
                    <a:pt x="0" y="79"/>
                  </a:moveTo>
                  <a:lnTo>
                    <a:pt x="246" y="26"/>
                  </a:lnTo>
                  <a:lnTo>
                    <a:pt x="408" y="0"/>
                  </a:lnTo>
                  <a:lnTo>
                    <a:pt x="560" y="26"/>
                  </a:lnTo>
                </a:path>
              </a:pathLst>
            </a:custGeom>
            <a:noFill/>
            <a:ln w="9525">
              <a:solidFill>
                <a:srgbClr val="969696"/>
              </a:solidFill>
              <a:round/>
              <a:headEnd/>
              <a:tailEnd/>
            </a:ln>
          </p:spPr>
          <p:txBody>
            <a:bodyPr/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12" name="Oval 179"/>
            <p:cNvSpPr>
              <a:spLocks noChangeArrowheads="1"/>
            </p:cNvSpPr>
            <p:nvPr/>
          </p:nvSpPr>
          <p:spPr bwMode="auto">
            <a:xfrm rot="21219751">
              <a:off x="2267120" y="4792215"/>
              <a:ext cx="19050" cy="9525"/>
            </a:xfrm>
            <a:prstGeom prst="ellipse">
              <a:avLst/>
            </a:prstGeom>
            <a:solidFill>
              <a:srgbClr val="969696"/>
            </a:solidFill>
            <a:ln w="9525">
              <a:solidFill>
                <a:srgbClr val="969696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13" name="Freeform 180"/>
            <p:cNvSpPr>
              <a:spLocks/>
            </p:cNvSpPr>
            <p:nvPr/>
          </p:nvSpPr>
          <p:spPr bwMode="auto">
            <a:xfrm rot="355818">
              <a:off x="2238545" y="4798565"/>
              <a:ext cx="36513" cy="33337"/>
            </a:xfrm>
            <a:custGeom>
              <a:avLst/>
              <a:gdLst>
                <a:gd name="T0" fmla="*/ 98 w 482"/>
                <a:gd name="T1" fmla="*/ 36 h 367"/>
                <a:gd name="T2" fmla="*/ 320 w 482"/>
                <a:gd name="T3" fmla="*/ 0 h 367"/>
                <a:gd name="T4" fmla="*/ 367 w 482"/>
                <a:gd name="T5" fmla="*/ 26 h 367"/>
                <a:gd name="T6" fmla="*/ 445 w 482"/>
                <a:gd name="T7" fmla="*/ 26 h 367"/>
                <a:gd name="T8" fmla="*/ 482 w 482"/>
                <a:gd name="T9" fmla="*/ 42 h 367"/>
                <a:gd name="T10" fmla="*/ 278 w 482"/>
                <a:gd name="T11" fmla="*/ 367 h 367"/>
                <a:gd name="T12" fmla="*/ 5 w 482"/>
                <a:gd name="T13" fmla="*/ 262 h 367"/>
                <a:gd name="T14" fmla="*/ 0 w 482"/>
                <a:gd name="T15" fmla="*/ 157 h 367"/>
                <a:gd name="T16" fmla="*/ 42 w 482"/>
                <a:gd name="T17" fmla="*/ 74 h 367"/>
                <a:gd name="T18" fmla="*/ 98 w 482"/>
                <a:gd name="T19" fmla="*/ 36 h 367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w 482"/>
                <a:gd name="T31" fmla="*/ 0 h 367"/>
                <a:gd name="T32" fmla="*/ 482 w 482"/>
                <a:gd name="T33" fmla="*/ 367 h 367"/>
              </a:gdLst>
              <a:ahLst/>
              <a:cxnLst>
                <a:cxn ang="T20">
                  <a:pos x="T0" y="T1"/>
                </a:cxn>
                <a:cxn ang="T21">
                  <a:pos x="T2" y="T3"/>
                </a:cxn>
                <a:cxn ang="T22">
                  <a:pos x="T4" y="T5"/>
                </a:cxn>
                <a:cxn ang="T23">
                  <a:pos x="T6" y="T7"/>
                </a:cxn>
                <a:cxn ang="T24">
                  <a:pos x="T8" y="T9"/>
                </a:cxn>
                <a:cxn ang="T25">
                  <a:pos x="T10" y="T11"/>
                </a:cxn>
                <a:cxn ang="T26">
                  <a:pos x="T12" y="T13"/>
                </a:cxn>
                <a:cxn ang="T27">
                  <a:pos x="T14" y="T15"/>
                </a:cxn>
                <a:cxn ang="T28">
                  <a:pos x="T16" y="T17"/>
                </a:cxn>
                <a:cxn ang="T29">
                  <a:pos x="T18" y="T19"/>
                </a:cxn>
              </a:cxnLst>
              <a:rect l="T30" t="T31" r="T32" b="T33"/>
              <a:pathLst>
                <a:path w="482" h="367">
                  <a:moveTo>
                    <a:pt x="98" y="36"/>
                  </a:moveTo>
                  <a:lnTo>
                    <a:pt x="320" y="0"/>
                  </a:lnTo>
                  <a:lnTo>
                    <a:pt x="367" y="26"/>
                  </a:lnTo>
                  <a:lnTo>
                    <a:pt x="445" y="26"/>
                  </a:lnTo>
                  <a:lnTo>
                    <a:pt x="482" y="42"/>
                  </a:lnTo>
                  <a:lnTo>
                    <a:pt x="278" y="367"/>
                  </a:lnTo>
                  <a:lnTo>
                    <a:pt x="5" y="262"/>
                  </a:lnTo>
                  <a:lnTo>
                    <a:pt x="0" y="157"/>
                  </a:lnTo>
                  <a:lnTo>
                    <a:pt x="42" y="74"/>
                  </a:lnTo>
                  <a:lnTo>
                    <a:pt x="98" y="36"/>
                  </a:lnTo>
                  <a:close/>
                </a:path>
              </a:pathLst>
            </a:custGeom>
            <a:noFill/>
            <a:ln w="9525">
              <a:solidFill>
                <a:srgbClr val="969696"/>
              </a:solidFill>
              <a:round/>
              <a:headEnd/>
              <a:tailEnd/>
            </a:ln>
          </p:spPr>
          <p:txBody>
            <a:bodyPr/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14" name="Freeform 182"/>
            <p:cNvSpPr>
              <a:spLocks/>
            </p:cNvSpPr>
            <p:nvPr/>
          </p:nvSpPr>
          <p:spPr bwMode="auto">
            <a:xfrm flipH="1">
              <a:off x="1786661" y="4766953"/>
              <a:ext cx="164547" cy="328335"/>
            </a:xfrm>
            <a:custGeom>
              <a:avLst/>
              <a:gdLst>
                <a:gd name="T0" fmla="*/ 933 w 933"/>
                <a:gd name="T1" fmla="*/ 135 h 352"/>
                <a:gd name="T2" fmla="*/ 932 w 933"/>
                <a:gd name="T3" fmla="*/ 171 h 352"/>
                <a:gd name="T4" fmla="*/ 762 w 933"/>
                <a:gd name="T5" fmla="*/ 352 h 352"/>
                <a:gd name="T6" fmla="*/ 4 w 933"/>
                <a:gd name="T7" fmla="*/ 195 h 352"/>
                <a:gd name="T8" fmla="*/ 0 w 933"/>
                <a:gd name="T9" fmla="*/ 148 h 352"/>
                <a:gd name="T10" fmla="*/ 244 w 933"/>
                <a:gd name="T11" fmla="*/ 0 h 352"/>
                <a:gd name="T12" fmla="*/ 933 w 933"/>
                <a:gd name="T13" fmla="*/ 135 h 352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933"/>
                <a:gd name="T22" fmla="*/ 0 h 352"/>
                <a:gd name="T23" fmla="*/ 933 w 933"/>
                <a:gd name="T24" fmla="*/ 352 h 352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933" h="352">
                  <a:moveTo>
                    <a:pt x="933" y="135"/>
                  </a:moveTo>
                  <a:lnTo>
                    <a:pt x="932" y="171"/>
                  </a:lnTo>
                  <a:lnTo>
                    <a:pt x="762" y="352"/>
                  </a:lnTo>
                  <a:lnTo>
                    <a:pt x="4" y="195"/>
                  </a:lnTo>
                  <a:lnTo>
                    <a:pt x="0" y="148"/>
                  </a:lnTo>
                  <a:lnTo>
                    <a:pt x="244" y="0"/>
                  </a:lnTo>
                  <a:lnTo>
                    <a:pt x="933" y="135"/>
                  </a:lnTo>
                  <a:close/>
                </a:path>
              </a:pathLst>
            </a:custGeom>
            <a:gradFill rotWithShape="0">
              <a:gsLst>
                <a:gs pos="0">
                  <a:srgbClr val="DDDDDD"/>
                </a:gs>
                <a:gs pos="100000">
                  <a:srgbClr val="F3F3F3"/>
                </a:gs>
              </a:gsLst>
              <a:lin ang="0" scaled="1"/>
            </a:gradFill>
            <a:ln w="6350">
              <a:solidFill>
                <a:srgbClr val="B2B2B2"/>
              </a:solidFill>
              <a:round/>
              <a:headEnd/>
              <a:tailEnd/>
            </a:ln>
          </p:spPr>
          <p:txBody>
            <a:bodyPr wrap="none" tIns="27432" bIns="27432" anchor="ctr">
              <a:spAutoFit/>
            </a:bodyPr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15" name="Freeform 183"/>
            <p:cNvSpPr>
              <a:spLocks/>
            </p:cNvSpPr>
            <p:nvPr/>
          </p:nvSpPr>
          <p:spPr bwMode="auto">
            <a:xfrm flipH="1">
              <a:off x="1800948" y="4752666"/>
              <a:ext cx="164547" cy="328335"/>
            </a:xfrm>
            <a:custGeom>
              <a:avLst/>
              <a:gdLst>
                <a:gd name="T0" fmla="*/ 895 w 895"/>
                <a:gd name="T1" fmla="*/ 133 h 294"/>
                <a:gd name="T2" fmla="*/ 232 w 895"/>
                <a:gd name="T3" fmla="*/ 0 h 294"/>
                <a:gd name="T4" fmla="*/ 0 w 895"/>
                <a:gd name="T5" fmla="*/ 143 h 294"/>
                <a:gd name="T6" fmla="*/ 739 w 895"/>
                <a:gd name="T7" fmla="*/ 294 h 294"/>
                <a:gd name="T8" fmla="*/ 895 w 895"/>
                <a:gd name="T9" fmla="*/ 133 h 294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895"/>
                <a:gd name="T16" fmla="*/ 0 h 294"/>
                <a:gd name="T17" fmla="*/ 895 w 895"/>
                <a:gd name="T18" fmla="*/ 294 h 294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895" h="294">
                  <a:moveTo>
                    <a:pt x="895" y="133"/>
                  </a:moveTo>
                  <a:lnTo>
                    <a:pt x="232" y="0"/>
                  </a:lnTo>
                  <a:lnTo>
                    <a:pt x="0" y="143"/>
                  </a:lnTo>
                  <a:lnTo>
                    <a:pt x="739" y="294"/>
                  </a:lnTo>
                  <a:lnTo>
                    <a:pt x="895" y="133"/>
                  </a:lnTo>
                  <a:close/>
                </a:path>
              </a:pathLst>
            </a:custGeom>
            <a:solidFill>
              <a:srgbClr val="FFFFFF"/>
            </a:solidFill>
            <a:ln w="3175">
              <a:solidFill>
                <a:srgbClr val="B2B2B2"/>
              </a:solidFill>
              <a:round/>
              <a:headEnd/>
              <a:tailEnd/>
            </a:ln>
          </p:spPr>
          <p:txBody>
            <a:bodyPr wrap="none" tIns="27432" bIns="27432" anchor="ctr">
              <a:spAutoFit/>
            </a:bodyPr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16" name="Freeform 184"/>
            <p:cNvSpPr>
              <a:spLocks/>
            </p:cNvSpPr>
            <p:nvPr/>
          </p:nvSpPr>
          <p:spPr bwMode="auto">
            <a:xfrm flipH="1">
              <a:off x="1798808" y="4828727"/>
              <a:ext cx="344487" cy="84138"/>
            </a:xfrm>
            <a:custGeom>
              <a:avLst/>
              <a:gdLst>
                <a:gd name="T0" fmla="*/ 0 w 531"/>
                <a:gd name="T1" fmla="*/ 15 h 118"/>
                <a:gd name="T2" fmla="*/ 508 w 531"/>
                <a:gd name="T3" fmla="*/ 118 h 118"/>
                <a:gd name="T4" fmla="*/ 531 w 531"/>
                <a:gd name="T5" fmla="*/ 103 h 118"/>
                <a:gd name="T6" fmla="*/ 23 w 531"/>
                <a:gd name="T7" fmla="*/ 0 h 118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531"/>
                <a:gd name="T13" fmla="*/ 0 h 118"/>
                <a:gd name="T14" fmla="*/ 531 w 531"/>
                <a:gd name="T15" fmla="*/ 118 h 118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531" h="118">
                  <a:moveTo>
                    <a:pt x="0" y="15"/>
                  </a:moveTo>
                  <a:lnTo>
                    <a:pt x="508" y="118"/>
                  </a:lnTo>
                  <a:lnTo>
                    <a:pt x="531" y="103"/>
                  </a:lnTo>
                  <a:lnTo>
                    <a:pt x="23" y="0"/>
                  </a:lnTo>
                </a:path>
              </a:pathLst>
            </a:custGeom>
            <a:solidFill>
              <a:srgbClr val="DDDDDD"/>
            </a:solidFill>
            <a:ln w="12700" cap="rnd">
              <a:solidFill>
                <a:srgbClr val="EAEAEA"/>
              </a:solidFill>
              <a:round/>
              <a:headEnd/>
              <a:tailEnd/>
            </a:ln>
          </p:spPr>
          <p:txBody>
            <a:bodyPr/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17" name="Freeform 185"/>
            <p:cNvSpPr>
              <a:spLocks/>
            </p:cNvSpPr>
            <p:nvPr/>
          </p:nvSpPr>
          <p:spPr bwMode="auto">
            <a:xfrm flipH="1">
              <a:off x="1886120" y="4850952"/>
              <a:ext cx="355600" cy="112713"/>
            </a:xfrm>
            <a:custGeom>
              <a:avLst/>
              <a:gdLst>
                <a:gd name="T0" fmla="*/ 0 w 548"/>
                <a:gd name="T1" fmla="*/ 74 h 159"/>
                <a:gd name="T2" fmla="*/ 31 w 548"/>
                <a:gd name="T3" fmla="*/ 78 h 159"/>
                <a:gd name="T4" fmla="*/ 57 w 548"/>
                <a:gd name="T5" fmla="*/ 66 h 159"/>
                <a:gd name="T6" fmla="*/ 76 w 548"/>
                <a:gd name="T7" fmla="*/ 71 h 159"/>
                <a:gd name="T8" fmla="*/ 58 w 548"/>
                <a:gd name="T9" fmla="*/ 81 h 159"/>
                <a:gd name="T10" fmla="*/ 451 w 548"/>
                <a:gd name="T11" fmla="*/ 159 h 159"/>
                <a:gd name="T12" fmla="*/ 548 w 548"/>
                <a:gd name="T13" fmla="*/ 84 h 159"/>
                <a:gd name="T14" fmla="*/ 130 w 548"/>
                <a:gd name="T15" fmla="*/ 0 h 159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548"/>
                <a:gd name="T25" fmla="*/ 0 h 159"/>
                <a:gd name="T26" fmla="*/ 548 w 548"/>
                <a:gd name="T27" fmla="*/ 159 h 159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548" h="159">
                  <a:moveTo>
                    <a:pt x="0" y="74"/>
                  </a:moveTo>
                  <a:lnTo>
                    <a:pt x="31" y="78"/>
                  </a:lnTo>
                  <a:lnTo>
                    <a:pt x="57" y="66"/>
                  </a:lnTo>
                  <a:lnTo>
                    <a:pt x="76" y="71"/>
                  </a:lnTo>
                  <a:lnTo>
                    <a:pt x="58" y="81"/>
                  </a:lnTo>
                  <a:lnTo>
                    <a:pt x="451" y="159"/>
                  </a:lnTo>
                  <a:lnTo>
                    <a:pt x="548" y="84"/>
                  </a:lnTo>
                  <a:lnTo>
                    <a:pt x="130" y="0"/>
                  </a:lnTo>
                </a:path>
              </a:pathLst>
            </a:custGeom>
            <a:solidFill>
              <a:srgbClr val="DDDDDD"/>
            </a:solidFill>
            <a:ln w="12700" cap="rnd">
              <a:solidFill>
                <a:srgbClr val="EAEAEA"/>
              </a:solidFill>
              <a:round/>
              <a:headEnd/>
              <a:tailEnd/>
            </a:ln>
          </p:spPr>
          <p:txBody>
            <a:bodyPr/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18" name="Freeform 186"/>
            <p:cNvSpPr>
              <a:spLocks/>
            </p:cNvSpPr>
            <p:nvPr/>
          </p:nvSpPr>
          <p:spPr bwMode="auto">
            <a:xfrm flipH="1">
              <a:off x="1819445" y="4914452"/>
              <a:ext cx="90488" cy="49213"/>
            </a:xfrm>
            <a:custGeom>
              <a:avLst/>
              <a:gdLst>
                <a:gd name="T0" fmla="*/ 73 w 140"/>
                <a:gd name="T1" fmla="*/ 0 h 70"/>
                <a:gd name="T2" fmla="*/ 140 w 140"/>
                <a:gd name="T3" fmla="*/ 11 h 70"/>
                <a:gd name="T4" fmla="*/ 75 w 140"/>
                <a:gd name="T5" fmla="*/ 70 h 70"/>
                <a:gd name="T6" fmla="*/ 0 w 140"/>
                <a:gd name="T7" fmla="*/ 56 h 70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140"/>
                <a:gd name="T13" fmla="*/ 0 h 70"/>
                <a:gd name="T14" fmla="*/ 140 w 140"/>
                <a:gd name="T15" fmla="*/ 70 h 70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140" h="70">
                  <a:moveTo>
                    <a:pt x="73" y="0"/>
                  </a:moveTo>
                  <a:lnTo>
                    <a:pt x="140" y="11"/>
                  </a:lnTo>
                  <a:lnTo>
                    <a:pt x="75" y="70"/>
                  </a:lnTo>
                  <a:lnTo>
                    <a:pt x="0" y="56"/>
                  </a:lnTo>
                </a:path>
              </a:pathLst>
            </a:custGeom>
            <a:solidFill>
              <a:srgbClr val="DDDDDD"/>
            </a:solidFill>
            <a:ln w="12700" cap="rnd">
              <a:solidFill>
                <a:srgbClr val="EAEAEA"/>
              </a:solidFill>
              <a:round/>
              <a:headEnd/>
              <a:tailEnd/>
            </a:ln>
          </p:spPr>
          <p:txBody>
            <a:bodyPr/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19" name="Freeform 187"/>
            <p:cNvSpPr>
              <a:spLocks/>
            </p:cNvSpPr>
            <p:nvPr/>
          </p:nvSpPr>
          <p:spPr bwMode="auto">
            <a:xfrm flipH="1">
              <a:off x="1754358" y="4925565"/>
              <a:ext cx="107950" cy="71437"/>
            </a:xfrm>
            <a:custGeom>
              <a:avLst/>
              <a:gdLst>
                <a:gd name="T0" fmla="*/ 87 w 167"/>
                <a:gd name="T1" fmla="*/ 0 h 101"/>
                <a:gd name="T2" fmla="*/ 167 w 167"/>
                <a:gd name="T3" fmla="*/ 15 h 101"/>
                <a:gd name="T4" fmla="*/ 81 w 167"/>
                <a:gd name="T5" fmla="*/ 101 h 101"/>
                <a:gd name="T6" fmla="*/ 0 w 167"/>
                <a:gd name="T7" fmla="*/ 83 h 101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167"/>
                <a:gd name="T13" fmla="*/ 0 h 101"/>
                <a:gd name="T14" fmla="*/ 167 w 167"/>
                <a:gd name="T15" fmla="*/ 101 h 101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167" h="101">
                  <a:moveTo>
                    <a:pt x="87" y="0"/>
                  </a:moveTo>
                  <a:lnTo>
                    <a:pt x="167" y="15"/>
                  </a:lnTo>
                  <a:lnTo>
                    <a:pt x="81" y="101"/>
                  </a:lnTo>
                  <a:lnTo>
                    <a:pt x="0" y="83"/>
                  </a:lnTo>
                </a:path>
              </a:pathLst>
            </a:custGeom>
            <a:solidFill>
              <a:srgbClr val="DDDDDD"/>
            </a:solidFill>
            <a:ln w="12700" cap="rnd">
              <a:solidFill>
                <a:srgbClr val="EAEAEA"/>
              </a:solidFill>
              <a:round/>
              <a:headEnd/>
              <a:tailEnd/>
            </a:ln>
          </p:spPr>
          <p:txBody>
            <a:bodyPr/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0" name="Freeform 189"/>
            <p:cNvSpPr>
              <a:spLocks noChangeAspect="1"/>
            </p:cNvSpPr>
            <p:nvPr/>
          </p:nvSpPr>
          <p:spPr bwMode="auto">
            <a:xfrm>
              <a:off x="1533695" y="4523927"/>
              <a:ext cx="144463" cy="354013"/>
            </a:xfrm>
            <a:custGeom>
              <a:avLst/>
              <a:gdLst/>
              <a:ahLst/>
              <a:cxnLst>
                <a:cxn ang="0">
                  <a:pos x="169" y="246"/>
                </a:cxn>
                <a:cxn ang="0">
                  <a:pos x="1" y="0"/>
                </a:cxn>
                <a:cxn ang="0">
                  <a:pos x="0" y="123"/>
                </a:cxn>
                <a:cxn ang="0">
                  <a:pos x="165" y="377"/>
                </a:cxn>
              </a:cxnLst>
              <a:rect l="0" t="0" r="r" b="b"/>
              <a:pathLst>
                <a:path w="169" h="377">
                  <a:moveTo>
                    <a:pt x="169" y="246"/>
                  </a:moveTo>
                  <a:lnTo>
                    <a:pt x="1" y="0"/>
                  </a:lnTo>
                  <a:lnTo>
                    <a:pt x="0" y="123"/>
                  </a:lnTo>
                  <a:lnTo>
                    <a:pt x="165" y="377"/>
                  </a:lnTo>
                </a:path>
              </a:pathLst>
            </a:custGeom>
            <a:gradFill rotWithShape="1">
              <a:gsLst>
                <a:gs pos="0">
                  <a:srgbClr val="EAEAEA"/>
                </a:gs>
                <a:gs pos="100000">
                  <a:srgbClr val="EAEAEA">
                    <a:gamma/>
                    <a:tint val="60784"/>
                    <a:invGamma/>
                  </a:srgbClr>
                </a:gs>
              </a:gsLst>
              <a:lin ang="0" scaled="1"/>
            </a:gradFill>
            <a:ln w="6350" cap="rnd" cmpd="sng">
              <a:solidFill>
                <a:srgbClr val="969696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1" name="Freeform 190"/>
            <p:cNvSpPr>
              <a:spLocks noChangeAspect="1"/>
            </p:cNvSpPr>
            <p:nvPr/>
          </p:nvSpPr>
          <p:spPr bwMode="auto">
            <a:xfrm>
              <a:off x="1536870" y="4465190"/>
              <a:ext cx="619125" cy="288925"/>
            </a:xfrm>
            <a:custGeom>
              <a:avLst/>
              <a:gdLst/>
              <a:ahLst/>
              <a:cxnLst>
                <a:cxn ang="0">
                  <a:pos x="166" y="310"/>
                </a:cxn>
                <a:cxn ang="0">
                  <a:pos x="718" y="211"/>
                </a:cxn>
                <a:cxn ang="0">
                  <a:pos x="444" y="0"/>
                </a:cxn>
                <a:cxn ang="0">
                  <a:pos x="0" y="64"/>
                </a:cxn>
                <a:cxn ang="0">
                  <a:pos x="166" y="310"/>
                </a:cxn>
              </a:cxnLst>
              <a:rect l="0" t="0" r="r" b="b"/>
              <a:pathLst>
                <a:path w="718" h="310">
                  <a:moveTo>
                    <a:pt x="166" y="310"/>
                  </a:moveTo>
                  <a:lnTo>
                    <a:pt x="718" y="211"/>
                  </a:lnTo>
                  <a:lnTo>
                    <a:pt x="444" y="0"/>
                  </a:lnTo>
                  <a:lnTo>
                    <a:pt x="0" y="64"/>
                  </a:lnTo>
                  <a:lnTo>
                    <a:pt x="166" y="310"/>
                  </a:lnTo>
                  <a:close/>
                </a:path>
              </a:pathLst>
            </a:custGeom>
            <a:solidFill>
              <a:srgbClr val="FFFFFF"/>
            </a:solidFill>
            <a:ln w="6350" cap="rnd" cmpd="sng">
              <a:solidFill>
                <a:srgbClr val="969696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2" name="Freeform 191"/>
            <p:cNvSpPr>
              <a:spLocks/>
            </p:cNvSpPr>
            <p:nvPr/>
          </p:nvSpPr>
          <p:spPr bwMode="auto">
            <a:xfrm>
              <a:off x="1671808" y="4660452"/>
              <a:ext cx="477837" cy="214313"/>
            </a:xfrm>
            <a:custGeom>
              <a:avLst/>
              <a:gdLst/>
              <a:ahLst/>
              <a:cxnLst>
                <a:cxn ang="0">
                  <a:pos x="6" y="99"/>
                </a:cxn>
                <a:cxn ang="0">
                  <a:pos x="557" y="0"/>
                </a:cxn>
                <a:cxn ang="0">
                  <a:pos x="549" y="121"/>
                </a:cxn>
                <a:cxn ang="0">
                  <a:pos x="0" y="228"/>
                </a:cxn>
                <a:cxn ang="0">
                  <a:pos x="6" y="99"/>
                </a:cxn>
              </a:cxnLst>
              <a:rect l="0" t="0" r="r" b="b"/>
              <a:pathLst>
                <a:path w="557" h="228">
                  <a:moveTo>
                    <a:pt x="6" y="99"/>
                  </a:moveTo>
                  <a:lnTo>
                    <a:pt x="557" y="0"/>
                  </a:lnTo>
                  <a:lnTo>
                    <a:pt x="549" y="121"/>
                  </a:lnTo>
                  <a:lnTo>
                    <a:pt x="0" y="228"/>
                  </a:lnTo>
                  <a:lnTo>
                    <a:pt x="6" y="99"/>
                  </a:lnTo>
                  <a:close/>
                </a:path>
              </a:pathLst>
            </a:custGeom>
            <a:gradFill rotWithShape="1">
              <a:gsLst>
                <a:gs pos="0">
                  <a:srgbClr val="EAEAEA"/>
                </a:gs>
                <a:gs pos="50000">
                  <a:srgbClr val="EAEAEA">
                    <a:gamma/>
                    <a:tint val="0"/>
                    <a:invGamma/>
                  </a:srgbClr>
                </a:gs>
                <a:gs pos="100000">
                  <a:srgbClr val="EAEAEA"/>
                </a:gs>
              </a:gsLst>
              <a:lin ang="0" scaled="1"/>
            </a:gradFill>
            <a:ln w="9525">
              <a:solidFill>
                <a:srgbClr val="969696"/>
              </a:solidFill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3" name="Freeform 192"/>
            <p:cNvSpPr>
              <a:spLocks/>
            </p:cNvSpPr>
            <p:nvPr/>
          </p:nvSpPr>
          <p:spPr bwMode="auto">
            <a:xfrm>
              <a:off x="1690858" y="4789040"/>
              <a:ext cx="144462" cy="60325"/>
            </a:xfrm>
            <a:custGeom>
              <a:avLst/>
              <a:gdLst/>
              <a:ahLst/>
              <a:cxnLst>
                <a:cxn ang="0">
                  <a:pos x="0" y="32"/>
                </a:cxn>
                <a:cxn ang="0">
                  <a:pos x="0" y="63"/>
                </a:cxn>
                <a:cxn ang="0">
                  <a:pos x="164" y="33"/>
                </a:cxn>
                <a:cxn ang="0">
                  <a:pos x="167" y="0"/>
                </a:cxn>
                <a:cxn ang="0">
                  <a:pos x="0" y="32"/>
                </a:cxn>
              </a:cxnLst>
              <a:rect l="0" t="0" r="r" b="b"/>
              <a:pathLst>
                <a:path w="167" h="63">
                  <a:moveTo>
                    <a:pt x="0" y="32"/>
                  </a:moveTo>
                  <a:lnTo>
                    <a:pt x="0" y="63"/>
                  </a:lnTo>
                  <a:lnTo>
                    <a:pt x="164" y="33"/>
                  </a:lnTo>
                  <a:lnTo>
                    <a:pt x="167" y="0"/>
                  </a:lnTo>
                  <a:lnTo>
                    <a:pt x="0" y="32"/>
                  </a:lnTo>
                  <a:close/>
                </a:path>
              </a:pathLst>
            </a:custGeom>
            <a:gradFill rotWithShape="1">
              <a:gsLst>
                <a:gs pos="0">
                  <a:srgbClr val="C0C0C0">
                    <a:gamma/>
                    <a:tint val="60784"/>
                    <a:invGamma/>
                  </a:srgbClr>
                </a:gs>
                <a:gs pos="100000">
                  <a:srgbClr val="C0C0C0"/>
                </a:gs>
              </a:gsLst>
              <a:lin ang="0" scaled="1"/>
            </a:gradFill>
            <a:ln w="9525">
              <a:noFill/>
              <a:round/>
              <a:headEnd type="none" w="med" len="med"/>
              <a:tailEnd type="none" w="med" len="med"/>
            </a:ln>
            <a:effectLst>
              <a:prstShdw prst="shdw17" dist="17961" dir="13500000">
                <a:srgbClr val="969696"/>
              </a:prstShdw>
            </a:effectLst>
          </p:spPr>
          <p:txBody>
            <a:bodyPr/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4" name="Oval 193"/>
            <p:cNvSpPr>
              <a:spLocks noChangeArrowheads="1"/>
            </p:cNvSpPr>
            <p:nvPr/>
          </p:nvSpPr>
          <p:spPr bwMode="auto">
            <a:xfrm>
              <a:off x="1809920" y="4796977"/>
              <a:ext cx="15875" cy="20638"/>
            </a:xfrm>
            <a:prstGeom prst="ellipse">
              <a:avLst/>
            </a:prstGeom>
            <a:solidFill>
              <a:srgbClr val="969696"/>
            </a:solidFill>
            <a:ln w="9525">
              <a:solidFill>
                <a:srgbClr val="969696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5" name="Line 194"/>
            <p:cNvSpPr>
              <a:spLocks noChangeShapeType="1"/>
            </p:cNvSpPr>
            <p:nvPr/>
          </p:nvSpPr>
          <p:spPr bwMode="auto">
            <a:xfrm flipH="1">
              <a:off x="2032170" y="4706490"/>
              <a:ext cx="3175" cy="76200"/>
            </a:xfrm>
            <a:prstGeom prst="line">
              <a:avLst/>
            </a:prstGeom>
            <a:noFill/>
            <a:ln w="9525">
              <a:solidFill>
                <a:srgbClr val="808080"/>
              </a:solidFill>
              <a:round/>
              <a:headEnd/>
              <a:tailEnd/>
            </a:ln>
            <a:effectLst>
              <a:outerShdw dist="17961" dir="18900000" algn="ctr" rotWithShape="0">
                <a:srgbClr val="969696">
                  <a:alpha val="50000"/>
                </a:srgbClr>
              </a:outerShdw>
            </a:effectLst>
          </p:spPr>
          <p:txBody>
            <a:bodyPr/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6" name="Line 195"/>
            <p:cNvSpPr>
              <a:spLocks noChangeShapeType="1"/>
            </p:cNvSpPr>
            <p:nvPr/>
          </p:nvSpPr>
          <p:spPr bwMode="auto">
            <a:xfrm flipH="1">
              <a:off x="2021058" y="4708077"/>
              <a:ext cx="1587" cy="80963"/>
            </a:xfrm>
            <a:prstGeom prst="line">
              <a:avLst/>
            </a:prstGeom>
            <a:noFill/>
            <a:ln w="9525">
              <a:solidFill>
                <a:srgbClr val="808080"/>
              </a:solidFill>
              <a:round/>
              <a:headEnd/>
              <a:tailEnd/>
            </a:ln>
            <a:effectLst>
              <a:outerShdw dist="17961" dir="18900000" algn="ctr" rotWithShape="0">
                <a:srgbClr val="969696">
                  <a:alpha val="50000"/>
                </a:srgbClr>
              </a:outerShdw>
            </a:effectLst>
          </p:spPr>
          <p:txBody>
            <a:bodyPr/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7" name="Line 196"/>
            <p:cNvSpPr>
              <a:spLocks noChangeShapeType="1"/>
            </p:cNvSpPr>
            <p:nvPr/>
          </p:nvSpPr>
          <p:spPr bwMode="auto">
            <a:xfrm flipH="1">
              <a:off x="2044870" y="4704902"/>
              <a:ext cx="4763" cy="76200"/>
            </a:xfrm>
            <a:prstGeom prst="line">
              <a:avLst/>
            </a:prstGeom>
            <a:noFill/>
            <a:ln w="9525">
              <a:solidFill>
                <a:srgbClr val="808080"/>
              </a:solidFill>
              <a:round/>
              <a:headEnd/>
              <a:tailEnd/>
            </a:ln>
            <a:effectLst>
              <a:outerShdw dist="17961" dir="18900000" algn="ctr" rotWithShape="0">
                <a:srgbClr val="969696">
                  <a:alpha val="50000"/>
                </a:srgbClr>
              </a:outerShdw>
            </a:effectLst>
          </p:spPr>
          <p:txBody>
            <a:bodyPr/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8" name="Line 197"/>
            <p:cNvSpPr>
              <a:spLocks noChangeShapeType="1"/>
            </p:cNvSpPr>
            <p:nvPr/>
          </p:nvSpPr>
          <p:spPr bwMode="auto">
            <a:xfrm flipH="1">
              <a:off x="2055983" y="4703315"/>
              <a:ext cx="3175" cy="76200"/>
            </a:xfrm>
            <a:prstGeom prst="line">
              <a:avLst/>
            </a:prstGeom>
            <a:noFill/>
            <a:ln w="9525">
              <a:solidFill>
                <a:srgbClr val="808080"/>
              </a:solidFill>
              <a:round/>
              <a:headEnd/>
              <a:tailEnd/>
            </a:ln>
            <a:effectLst>
              <a:outerShdw dist="17961" dir="18900000" algn="ctr" rotWithShape="0">
                <a:srgbClr val="969696">
                  <a:alpha val="50000"/>
                </a:srgbClr>
              </a:outerShdw>
            </a:effectLst>
          </p:spPr>
          <p:txBody>
            <a:bodyPr/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9" name="Line 198"/>
            <p:cNvSpPr>
              <a:spLocks noChangeShapeType="1"/>
            </p:cNvSpPr>
            <p:nvPr/>
          </p:nvSpPr>
          <p:spPr bwMode="auto">
            <a:xfrm flipH="1">
              <a:off x="2065508" y="4701727"/>
              <a:ext cx="6350" cy="76200"/>
            </a:xfrm>
            <a:prstGeom prst="line">
              <a:avLst/>
            </a:prstGeom>
            <a:noFill/>
            <a:ln w="9525">
              <a:solidFill>
                <a:srgbClr val="808080"/>
              </a:solidFill>
              <a:round/>
              <a:headEnd/>
              <a:tailEnd/>
            </a:ln>
            <a:effectLst>
              <a:outerShdw dist="17961" dir="18900000" algn="ctr" rotWithShape="0">
                <a:srgbClr val="969696">
                  <a:alpha val="50000"/>
                </a:srgbClr>
              </a:outerShdw>
            </a:effectLst>
          </p:spPr>
          <p:txBody>
            <a:bodyPr/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30" name="Line 199"/>
            <p:cNvSpPr>
              <a:spLocks noChangeShapeType="1"/>
            </p:cNvSpPr>
            <p:nvPr/>
          </p:nvSpPr>
          <p:spPr bwMode="auto">
            <a:xfrm flipH="1">
              <a:off x="2076620" y="4698552"/>
              <a:ext cx="6350" cy="77788"/>
            </a:xfrm>
            <a:prstGeom prst="line">
              <a:avLst/>
            </a:prstGeom>
            <a:noFill/>
            <a:ln w="9525">
              <a:solidFill>
                <a:srgbClr val="808080"/>
              </a:solidFill>
              <a:round/>
              <a:headEnd/>
              <a:tailEnd/>
            </a:ln>
            <a:effectLst>
              <a:outerShdw dist="17961" dir="18900000" algn="ctr" rotWithShape="0">
                <a:srgbClr val="969696">
                  <a:alpha val="50000"/>
                </a:srgbClr>
              </a:outerShdw>
            </a:effectLst>
          </p:spPr>
          <p:txBody>
            <a:bodyPr/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31" name="Line 200"/>
            <p:cNvSpPr>
              <a:spLocks noChangeShapeType="1"/>
            </p:cNvSpPr>
            <p:nvPr/>
          </p:nvSpPr>
          <p:spPr bwMode="auto">
            <a:xfrm flipH="1">
              <a:off x="2087733" y="4698552"/>
              <a:ext cx="1587" cy="76200"/>
            </a:xfrm>
            <a:prstGeom prst="line">
              <a:avLst/>
            </a:prstGeom>
            <a:noFill/>
            <a:ln w="9525">
              <a:solidFill>
                <a:srgbClr val="808080"/>
              </a:solidFill>
              <a:round/>
              <a:headEnd/>
              <a:tailEnd/>
            </a:ln>
            <a:effectLst>
              <a:outerShdw dist="17961" dir="18900000" algn="ctr" rotWithShape="0">
                <a:srgbClr val="969696">
                  <a:alpha val="50000"/>
                </a:srgbClr>
              </a:outerShdw>
            </a:effectLst>
          </p:spPr>
          <p:txBody>
            <a:bodyPr/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32" name="Line 201"/>
            <p:cNvSpPr>
              <a:spLocks noChangeShapeType="1"/>
            </p:cNvSpPr>
            <p:nvPr/>
          </p:nvSpPr>
          <p:spPr bwMode="auto">
            <a:xfrm flipH="1">
              <a:off x="2097258" y="4692202"/>
              <a:ext cx="1587" cy="79375"/>
            </a:xfrm>
            <a:prstGeom prst="line">
              <a:avLst/>
            </a:prstGeom>
            <a:noFill/>
            <a:ln w="9525">
              <a:solidFill>
                <a:srgbClr val="808080"/>
              </a:solidFill>
              <a:round/>
              <a:headEnd/>
              <a:tailEnd/>
            </a:ln>
            <a:effectLst>
              <a:outerShdw dist="17961" dir="18900000" algn="ctr" rotWithShape="0">
                <a:srgbClr val="969696">
                  <a:alpha val="50000"/>
                </a:srgbClr>
              </a:outerShdw>
            </a:effectLst>
          </p:spPr>
          <p:txBody>
            <a:bodyPr/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33" name="Line 202"/>
            <p:cNvSpPr>
              <a:spLocks noChangeShapeType="1"/>
            </p:cNvSpPr>
            <p:nvPr/>
          </p:nvSpPr>
          <p:spPr bwMode="auto">
            <a:xfrm flipH="1">
              <a:off x="2106783" y="4692202"/>
              <a:ext cx="1587" cy="76200"/>
            </a:xfrm>
            <a:prstGeom prst="line">
              <a:avLst/>
            </a:prstGeom>
            <a:noFill/>
            <a:ln w="9525">
              <a:solidFill>
                <a:srgbClr val="808080"/>
              </a:solidFill>
              <a:round/>
              <a:headEnd/>
              <a:tailEnd/>
            </a:ln>
            <a:effectLst>
              <a:outerShdw dist="17961" dir="18900000" algn="ctr" rotWithShape="0">
                <a:srgbClr val="969696">
                  <a:alpha val="50000"/>
                </a:srgbClr>
              </a:outerShdw>
            </a:effectLst>
          </p:spPr>
          <p:txBody>
            <a:bodyPr/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34" name="Line 203"/>
            <p:cNvSpPr>
              <a:spLocks noChangeShapeType="1"/>
            </p:cNvSpPr>
            <p:nvPr/>
          </p:nvSpPr>
          <p:spPr bwMode="auto">
            <a:xfrm flipH="1">
              <a:off x="2117895" y="4690615"/>
              <a:ext cx="1588" cy="77787"/>
            </a:xfrm>
            <a:prstGeom prst="line">
              <a:avLst/>
            </a:prstGeom>
            <a:noFill/>
            <a:ln w="9525">
              <a:solidFill>
                <a:srgbClr val="808080"/>
              </a:solidFill>
              <a:round/>
              <a:headEnd/>
              <a:tailEnd/>
            </a:ln>
            <a:effectLst>
              <a:outerShdw dist="17961" dir="18900000" algn="ctr" rotWithShape="0">
                <a:srgbClr val="969696">
                  <a:alpha val="50000"/>
                </a:srgbClr>
              </a:outerShdw>
            </a:effectLst>
          </p:spPr>
          <p:txBody>
            <a:bodyPr/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35" name="Line 204"/>
            <p:cNvSpPr>
              <a:spLocks noChangeShapeType="1"/>
            </p:cNvSpPr>
            <p:nvPr/>
          </p:nvSpPr>
          <p:spPr bwMode="auto">
            <a:xfrm flipH="1">
              <a:off x="2071064" y="4731896"/>
              <a:ext cx="1587" cy="76200"/>
            </a:xfrm>
            <a:prstGeom prst="line">
              <a:avLst/>
            </a:prstGeom>
            <a:noFill/>
            <a:ln w="9525">
              <a:solidFill>
                <a:srgbClr val="808080"/>
              </a:solidFill>
              <a:round/>
              <a:headEnd/>
              <a:tailEnd/>
            </a:ln>
            <a:effectLst>
              <a:outerShdw dist="17961" dir="18900000" algn="ctr" rotWithShape="0">
                <a:srgbClr val="969696">
                  <a:alpha val="50000"/>
                </a:srgbClr>
              </a:outerShdw>
            </a:effectLst>
          </p:spPr>
          <p:txBody>
            <a:bodyPr/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36" name="Freeform 205"/>
            <p:cNvSpPr>
              <a:spLocks/>
            </p:cNvSpPr>
            <p:nvPr/>
          </p:nvSpPr>
          <p:spPr bwMode="auto">
            <a:xfrm>
              <a:off x="1878183" y="4738240"/>
              <a:ext cx="79375" cy="61912"/>
            </a:xfrm>
            <a:custGeom>
              <a:avLst/>
              <a:gdLst/>
              <a:ahLst/>
              <a:cxnLst>
                <a:cxn ang="0">
                  <a:pos x="2" y="33"/>
                </a:cxn>
                <a:cxn ang="0">
                  <a:pos x="0" y="138"/>
                </a:cxn>
                <a:cxn ang="0">
                  <a:pos x="186" y="104"/>
                </a:cxn>
                <a:cxn ang="0">
                  <a:pos x="186" y="0"/>
                </a:cxn>
                <a:cxn ang="0">
                  <a:pos x="2" y="33"/>
                </a:cxn>
              </a:cxnLst>
              <a:rect l="0" t="0" r="r" b="b"/>
              <a:pathLst>
                <a:path w="186" h="138">
                  <a:moveTo>
                    <a:pt x="2" y="33"/>
                  </a:moveTo>
                  <a:lnTo>
                    <a:pt x="0" y="138"/>
                  </a:lnTo>
                  <a:lnTo>
                    <a:pt x="186" y="104"/>
                  </a:lnTo>
                  <a:lnTo>
                    <a:pt x="186" y="0"/>
                  </a:lnTo>
                  <a:lnTo>
                    <a:pt x="2" y="33"/>
                  </a:lnTo>
                  <a:close/>
                </a:path>
              </a:pathLst>
            </a:custGeom>
            <a:gradFill rotWithShape="1">
              <a:gsLst>
                <a:gs pos="0">
                  <a:srgbClr val="969696"/>
                </a:gs>
                <a:gs pos="100000">
                  <a:srgbClr val="969696">
                    <a:gamma/>
                    <a:shade val="75686"/>
                    <a:invGamma/>
                  </a:srgbClr>
                </a:gs>
              </a:gsLst>
              <a:lin ang="0" scaled="1"/>
            </a:gradFill>
            <a:ln w="3175" cap="flat" cmpd="sng">
              <a:noFill/>
              <a:prstDash val="solid"/>
              <a:round/>
              <a:headEnd type="none" w="med" len="med"/>
              <a:tailEnd type="none" w="med" len="med"/>
            </a:ln>
            <a:effectLst>
              <a:prstShdw prst="shdw17" dist="17961" dir="13500000">
                <a:srgbClr val="969696">
                  <a:alpha val="50000"/>
                </a:srgbClr>
              </a:prstShdw>
            </a:effectLst>
          </p:spPr>
          <p:txBody>
            <a:bodyPr/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37" name="Line 206"/>
            <p:cNvSpPr>
              <a:spLocks noChangeShapeType="1"/>
            </p:cNvSpPr>
            <p:nvPr/>
          </p:nvSpPr>
          <p:spPr bwMode="auto">
            <a:xfrm flipH="1">
              <a:off x="1889295" y="4773165"/>
              <a:ext cx="0" cy="19050"/>
            </a:xfrm>
            <a:prstGeom prst="line">
              <a:avLst/>
            </a:prstGeom>
            <a:noFill/>
            <a:ln w="9525">
              <a:solidFill>
                <a:srgbClr val="3399FF">
                  <a:alpha val="55000"/>
                </a:srgbClr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38" name="Line 207"/>
            <p:cNvSpPr>
              <a:spLocks noChangeShapeType="1"/>
            </p:cNvSpPr>
            <p:nvPr/>
          </p:nvSpPr>
          <p:spPr bwMode="auto">
            <a:xfrm flipH="1">
              <a:off x="1951208" y="4758877"/>
              <a:ext cx="0" cy="19050"/>
            </a:xfrm>
            <a:prstGeom prst="line">
              <a:avLst/>
            </a:prstGeom>
            <a:noFill/>
            <a:ln w="9525">
              <a:solidFill>
                <a:srgbClr val="3399FF">
                  <a:alpha val="55000"/>
                </a:srgbClr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39" name="Line 208"/>
            <p:cNvSpPr>
              <a:spLocks noChangeShapeType="1"/>
            </p:cNvSpPr>
            <p:nvPr/>
          </p:nvSpPr>
          <p:spPr bwMode="auto">
            <a:xfrm flipH="1">
              <a:off x="1943270" y="4768402"/>
              <a:ext cx="0" cy="14288"/>
            </a:xfrm>
            <a:prstGeom prst="line">
              <a:avLst/>
            </a:prstGeom>
            <a:noFill/>
            <a:ln w="9525">
              <a:solidFill>
                <a:srgbClr val="3399FF">
                  <a:alpha val="55000"/>
                </a:srgbClr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40" name="Line 209"/>
            <p:cNvSpPr>
              <a:spLocks noChangeShapeType="1"/>
            </p:cNvSpPr>
            <p:nvPr/>
          </p:nvSpPr>
          <p:spPr bwMode="auto">
            <a:xfrm flipH="1">
              <a:off x="1898820" y="4781102"/>
              <a:ext cx="0" cy="12700"/>
            </a:xfrm>
            <a:prstGeom prst="line">
              <a:avLst/>
            </a:prstGeom>
            <a:noFill/>
            <a:ln w="9525">
              <a:solidFill>
                <a:srgbClr val="3399FF">
                  <a:alpha val="55000"/>
                </a:srgbClr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41" name="Line 210"/>
            <p:cNvSpPr>
              <a:spLocks noChangeShapeType="1"/>
            </p:cNvSpPr>
            <p:nvPr/>
          </p:nvSpPr>
          <p:spPr bwMode="auto">
            <a:xfrm flipV="1">
              <a:off x="1908345" y="4782690"/>
              <a:ext cx="25400" cy="6350"/>
            </a:xfrm>
            <a:prstGeom prst="line">
              <a:avLst/>
            </a:prstGeom>
            <a:noFill/>
            <a:ln w="9525">
              <a:solidFill>
                <a:srgbClr val="FFFF99">
                  <a:alpha val="45000"/>
                </a:srgbClr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42" name="Freeform 211"/>
            <p:cNvSpPr>
              <a:spLocks/>
            </p:cNvSpPr>
            <p:nvPr/>
          </p:nvSpPr>
          <p:spPr bwMode="auto">
            <a:xfrm>
              <a:off x="1714670" y="4752527"/>
              <a:ext cx="100013" cy="36513"/>
            </a:xfrm>
            <a:custGeom>
              <a:avLst/>
              <a:gdLst/>
              <a:ahLst/>
              <a:cxnLst>
                <a:cxn ang="0">
                  <a:pos x="0" y="20"/>
                </a:cxn>
                <a:cxn ang="0">
                  <a:pos x="1" y="38"/>
                </a:cxn>
                <a:cxn ang="0">
                  <a:pos x="116" y="19"/>
                </a:cxn>
                <a:cxn ang="0">
                  <a:pos x="116" y="0"/>
                </a:cxn>
                <a:cxn ang="0">
                  <a:pos x="0" y="20"/>
                </a:cxn>
              </a:cxnLst>
              <a:rect l="0" t="0" r="r" b="b"/>
              <a:pathLst>
                <a:path w="116" h="38">
                  <a:moveTo>
                    <a:pt x="0" y="20"/>
                  </a:moveTo>
                  <a:lnTo>
                    <a:pt x="1" y="38"/>
                  </a:lnTo>
                  <a:lnTo>
                    <a:pt x="116" y="19"/>
                  </a:lnTo>
                  <a:lnTo>
                    <a:pt x="116" y="0"/>
                  </a:lnTo>
                  <a:lnTo>
                    <a:pt x="0" y="20"/>
                  </a:lnTo>
                  <a:close/>
                </a:path>
              </a:pathLst>
            </a:custGeom>
            <a:gradFill rotWithShape="1">
              <a:gsLst>
                <a:gs pos="0">
                  <a:srgbClr val="C0C0C0">
                    <a:gamma/>
                    <a:tint val="60784"/>
                    <a:invGamma/>
                  </a:srgbClr>
                </a:gs>
                <a:gs pos="100000">
                  <a:srgbClr val="C0C0C0"/>
                </a:gs>
              </a:gsLst>
              <a:lin ang="0" scaled="1"/>
            </a:gradFill>
            <a:ln w="9525">
              <a:noFill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43" name="Line 212"/>
            <p:cNvSpPr>
              <a:spLocks noChangeShapeType="1"/>
            </p:cNvSpPr>
            <p:nvPr/>
          </p:nvSpPr>
          <p:spPr bwMode="auto">
            <a:xfrm flipV="1">
              <a:off x="1706733" y="4758877"/>
              <a:ext cx="112712" cy="22225"/>
            </a:xfrm>
            <a:prstGeom prst="line">
              <a:avLst/>
            </a:prstGeom>
            <a:noFill/>
            <a:ln w="3175">
              <a:solidFill>
                <a:srgbClr val="5F5F5F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grpSp>
          <p:nvGrpSpPr>
            <p:cNvPr id="44" name="Group 150"/>
            <p:cNvGrpSpPr>
              <a:grpSpLocks/>
            </p:cNvGrpSpPr>
            <p:nvPr/>
          </p:nvGrpSpPr>
          <p:grpSpPr bwMode="auto">
            <a:xfrm>
              <a:off x="1598783" y="4144515"/>
              <a:ext cx="328612" cy="369887"/>
              <a:chOff x="685" y="3115"/>
              <a:chExt cx="207" cy="233"/>
            </a:xfrm>
          </p:grpSpPr>
          <p:sp>
            <p:nvSpPr>
              <p:cNvPr id="57" name="Freeform 215"/>
              <p:cNvSpPr>
                <a:spLocks/>
              </p:cNvSpPr>
              <p:nvPr/>
            </p:nvSpPr>
            <p:spPr bwMode="auto">
              <a:xfrm flipH="1">
                <a:off x="686" y="3115"/>
                <a:ext cx="206" cy="30"/>
              </a:xfrm>
              <a:custGeom>
                <a:avLst/>
                <a:gdLst>
                  <a:gd name="T0" fmla="*/ 1205 w 1205"/>
                  <a:gd name="T1" fmla="*/ 151 h 178"/>
                  <a:gd name="T2" fmla="*/ 964 w 1205"/>
                  <a:gd name="T3" fmla="*/ 178 h 178"/>
                  <a:gd name="T4" fmla="*/ 0 w 1205"/>
                  <a:gd name="T5" fmla="*/ 0 h 178"/>
                  <a:gd name="T6" fmla="*/ 1205 w 1205"/>
                  <a:gd name="T7" fmla="*/ 151 h 178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1205"/>
                  <a:gd name="T13" fmla="*/ 0 h 178"/>
                  <a:gd name="T14" fmla="*/ 1205 w 1205"/>
                  <a:gd name="T15" fmla="*/ 178 h 178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1205" h="178">
                    <a:moveTo>
                      <a:pt x="1205" y="151"/>
                    </a:moveTo>
                    <a:lnTo>
                      <a:pt x="964" y="178"/>
                    </a:lnTo>
                    <a:lnTo>
                      <a:pt x="0" y="0"/>
                    </a:lnTo>
                    <a:lnTo>
                      <a:pt x="1205" y="151"/>
                    </a:lnTo>
                    <a:close/>
                  </a:path>
                </a:pathLst>
              </a:custGeom>
              <a:solidFill>
                <a:srgbClr val="EAEAEA"/>
              </a:solidFill>
              <a:ln w="9525">
                <a:solidFill>
                  <a:srgbClr val="969696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pPr>
                  <a:defRPr/>
                </a:pPr>
                <a:endParaRPr lang="ko-KR" altLang="en-US" kern="0">
                  <a:solidFill>
                    <a:sysClr val="windowText" lastClr="000000"/>
                  </a:solidFill>
                </a:endParaRPr>
              </a:p>
            </p:txBody>
          </p:sp>
          <p:sp>
            <p:nvSpPr>
              <p:cNvPr id="58" name="Freeform 216"/>
              <p:cNvSpPr>
                <a:spLocks/>
              </p:cNvSpPr>
              <p:nvPr/>
            </p:nvSpPr>
            <p:spPr bwMode="auto">
              <a:xfrm flipH="1">
                <a:off x="685" y="3141"/>
                <a:ext cx="69" cy="207"/>
              </a:xfrm>
              <a:custGeom>
                <a:avLst/>
                <a:gdLst>
                  <a:gd name="T0" fmla="*/ 405 w 405"/>
                  <a:gd name="T1" fmla="*/ 0 h 1241"/>
                  <a:gd name="T2" fmla="*/ 389 w 405"/>
                  <a:gd name="T3" fmla="*/ 1000 h 1241"/>
                  <a:gd name="T4" fmla="*/ 133 w 405"/>
                  <a:gd name="T5" fmla="*/ 1241 h 1241"/>
                  <a:gd name="T6" fmla="*/ 0 w 405"/>
                  <a:gd name="T7" fmla="*/ 13 h 1241"/>
                  <a:gd name="T8" fmla="*/ 189 w 405"/>
                  <a:gd name="T9" fmla="*/ 24 h 1241"/>
                  <a:gd name="T10" fmla="*/ 405 w 405"/>
                  <a:gd name="T11" fmla="*/ 0 h 1241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405"/>
                  <a:gd name="T19" fmla="*/ 0 h 1241"/>
                  <a:gd name="T20" fmla="*/ 405 w 405"/>
                  <a:gd name="T21" fmla="*/ 1241 h 1241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405" h="1241">
                    <a:moveTo>
                      <a:pt x="405" y="0"/>
                    </a:moveTo>
                    <a:lnTo>
                      <a:pt x="389" y="1000"/>
                    </a:lnTo>
                    <a:lnTo>
                      <a:pt x="133" y="1241"/>
                    </a:lnTo>
                    <a:lnTo>
                      <a:pt x="0" y="13"/>
                    </a:lnTo>
                    <a:lnTo>
                      <a:pt x="189" y="24"/>
                    </a:lnTo>
                    <a:lnTo>
                      <a:pt x="405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CCCCCC"/>
                  </a:gs>
                  <a:gs pos="100000">
                    <a:srgbClr val="969696"/>
                  </a:gs>
                </a:gsLst>
                <a:lin ang="0" scaled="1"/>
              </a:gradFill>
              <a:ln w="9525">
                <a:solidFill>
                  <a:srgbClr val="969696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pPr>
                  <a:defRPr/>
                </a:pPr>
                <a:endParaRPr lang="ko-KR" altLang="en-US" kern="0">
                  <a:solidFill>
                    <a:sysClr val="windowText" lastClr="000000"/>
                  </a:solidFill>
                </a:endParaRPr>
              </a:p>
            </p:txBody>
          </p:sp>
        </p:grpSp>
        <p:sp>
          <p:nvSpPr>
            <p:cNvPr id="45" name="Oval 217"/>
            <p:cNvSpPr>
              <a:spLocks noChangeArrowheads="1"/>
            </p:cNvSpPr>
            <p:nvPr/>
          </p:nvSpPr>
          <p:spPr bwMode="auto">
            <a:xfrm>
              <a:off x="1682920" y="4542977"/>
              <a:ext cx="298450" cy="93663"/>
            </a:xfrm>
            <a:prstGeom prst="ellipse">
              <a:avLst/>
            </a:prstGeom>
            <a:solidFill>
              <a:srgbClr val="969696"/>
            </a:solidFill>
            <a:ln w="9525">
              <a:solidFill>
                <a:srgbClr val="969696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46" name="Oval 218"/>
            <p:cNvSpPr>
              <a:spLocks noChangeArrowheads="1"/>
            </p:cNvSpPr>
            <p:nvPr/>
          </p:nvSpPr>
          <p:spPr bwMode="auto">
            <a:xfrm>
              <a:off x="1682920" y="4536627"/>
              <a:ext cx="298450" cy="92075"/>
            </a:xfrm>
            <a:prstGeom prst="ellipse">
              <a:avLst/>
            </a:prstGeom>
            <a:gradFill rotWithShape="1">
              <a:gsLst>
                <a:gs pos="0">
                  <a:srgbClr val="C0C0C0"/>
                </a:gs>
                <a:gs pos="100000">
                  <a:srgbClr val="EAEAEA"/>
                </a:gs>
              </a:gsLst>
              <a:lin ang="2700000" scaled="1"/>
            </a:gradFill>
            <a:ln w="9525">
              <a:solidFill>
                <a:srgbClr val="969696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47" name="Freeform 219"/>
            <p:cNvSpPr>
              <a:spLocks/>
            </p:cNvSpPr>
            <p:nvPr/>
          </p:nvSpPr>
          <p:spPr bwMode="auto">
            <a:xfrm flipH="1">
              <a:off x="1663870" y="4088952"/>
              <a:ext cx="436563" cy="511175"/>
            </a:xfrm>
            <a:custGeom>
              <a:avLst/>
              <a:gdLst>
                <a:gd name="T0" fmla="*/ 1602 w 1602"/>
                <a:gd name="T1" fmla="*/ 204 h 1734"/>
                <a:gd name="T2" fmla="*/ 5 w 1602"/>
                <a:gd name="T3" fmla="*/ 0 h 1734"/>
                <a:gd name="T4" fmla="*/ 0 w 1602"/>
                <a:gd name="T5" fmla="*/ 1488 h 1734"/>
                <a:gd name="T6" fmla="*/ 1597 w 1602"/>
                <a:gd name="T7" fmla="*/ 1734 h 1734"/>
                <a:gd name="T8" fmla="*/ 1602 w 1602"/>
                <a:gd name="T9" fmla="*/ 204 h 1734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602"/>
                <a:gd name="T16" fmla="*/ 0 h 1734"/>
                <a:gd name="T17" fmla="*/ 1602 w 1602"/>
                <a:gd name="T18" fmla="*/ 1734 h 1734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602" h="1734">
                  <a:moveTo>
                    <a:pt x="1602" y="204"/>
                  </a:moveTo>
                  <a:lnTo>
                    <a:pt x="5" y="0"/>
                  </a:lnTo>
                  <a:lnTo>
                    <a:pt x="0" y="1488"/>
                  </a:lnTo>
                  <a:lnTo>
                    <a:pt x="1597" y="1734"/>
                  </a:lnTo>
                  <a:lnTo>
                    <a:pt x="1602" y="204"/>
                  </a:lnTo>
                  <a:close/>
                </a:path>
              </a:pathLst>
            </a:custGeom>
            <a:gradFill rotWithShape="1">
              <a:gsLst>
                <a:gs pos="0">
                  <a:srgbClr val="FFFFFF"/>
                </a:gs>
                <a:gs pos="100000">
                  <a:srgbClr val="DDDDDD"/>
                </a:gs>
              </a:gsLst>
              <a:lin ang="5400000" scaled="1"/>
            </a:gradFill>
            <a:ln w="9525">
              <a:solidFill>
                <a:srgbClr val="969696"/>
              </a:solidFill>
              <a:round/>
              <a:headEnd/>
              <a:tailEnd/>
            </a:ln>
          </p:spPr>
          <p:txBody>
            <a:bodyPr/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48" name="Freeform 220"/>
            <p:cNvSpPr>
              <a:spLocks/>
            </p:cNvSpPr>
            <p:nvPr/>
          </p:nvSpPr>
          <p:spPr bwMode="auto">
            <a:xfrm flipH="1">
              <a:off x="1722608" y="4503290"/>
              <a:ext cx="358775" cy="96837"/>
            </a:xfrm>
            <a:custGeom>
              <a:avLst/>
              <a:gdLst>
                <a:gd name="T0" fmla="*/ 1327 w 1330"/>
                <a:gd name="T1" fmla="*/ 200 h 330"/>
                <a:gd name="T2" fmla="*/ 0 w 1330"/>
                <a:gd name="T3" fmla="*/ 0 h 330"/>
                <a:gd name="T4" fmla="*/ 0 w 1330"/>
                <a:gd name="T5" fmla="*/ 115 h 330"/>
                <a:gd name="T6" fmla="*/ 1330 w 1330"/>
                <a:gd name="T7" fmla="*/ 330 h 330"/>
                <a:gd name="T8" fmla="*/ 1327 w 1330"/>
                <a:gd name="T9" fmla="*/ 200 h 33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330"/>
                <a:gd name="T16" fmla="*/ 0 h 330"/>
                <a:gd name="T17" fmla="*/ 1330 w 1330"/>
                <a:gd name="T18" fmla="*/ 330 h 33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330" h="330">
                  <a:moveTo>
                    <a:pt x="1327" y="200"/>
                  </a:moveTo>
                  <a:lnTo>
                    <a:pt x="0" y="0"/>
                  </a:lnTo>
                  <a:lnTo>
                    <a:pt x="0" y="115"/>
                  </a:lnTo>
                  <a:lnTo>
                    <a:pt x="1330" y="330"/>
                  </a:lnTo>
                  <a:lnTo>
                    <a:pt x="1327" y="200"/>
                  </a:lnTo>
                  <a:close/>
                </a:path>
              </a:pathLst>
            </a:custGeom>
            <a:gradFill rotWithShape="1">
              <a:gsLst>
                <a:gs pos="0">
                  <a:srgbClr val="C0C0C0"/>
                </a:gs>
                <a:gs pos="50000">
                  <a:srgbClr val="FFFFFF"/>
                </a:gs>
                <a:gs pos="100000">
                  <a:srgbClr val="C0C0C0"/>
                </a:gs>
              </a:gsLst>
              <a:lin ang="5400000" scaled="1"/>
            </a:gradFill>
            <a:ln w="9525">
              <a:solidFill>
                <a:srgbClr val="969696"/>
              </a:solidFill>
              <a:round/>
              <a:headEnd/>
              <a:tailEnd/>
            </a:ln>
          </p:spPr>
          <p:txBody>
            <a:bodyPr/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49" name="Freeform 221"/>
            <p:cNvSpPr>
              <a:spLocks/>
            </p:cNvSpPr>
            <p:nvPr/>
          </p:nvSpPr>
          <p:spPr bwMode="auto">
            <a:xfrm flipH="1">
              <a:off x="1651170" y="4147690"/>
              <a:ext cx="15875" cy="452437"/>
            </a:xfrm>
            <a:custGeom>
              <a:avLst/>
              <a:gdLst>
                <a:gd name="T0" fmla="*/ 4 w 56"/>
                <a:gd name="T1" fmla="*/ 16 h 1536"/>
                <a:gd name="T2" fmla="*/ 56 w 56"/>
                <a:gd name="T3" fmla="*/ 0 h 1536"/>
                <a:gd name="T4" fmla="*/ 46 w 56"/>
                <a:gd name="T5" fmla="*/ 1513 h 1536"/>
                <a:gd name="T6" fmla="*/ 0 w 56"/>
                <a:gd name="T7" fmla="*/ 1536 h 1536"/>
                <a:gd name="T8" fmla="*/ 4 w 56"/>
                <a:gd name="T9" fmla="*/ 16 h 153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56"/>
                <a:gd name="T16" fmla="*/ 0 h 1536"/>
                <a:gd name="T17" fmla="*/ 56 w 56"/>
                <a:gd name="T18" fmla="*/ 1536 h 1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56" h="1536">
                  <a:moveTo>
                    <a:pt x="4" y="16"/>
                  </a:moveTo>
                  <a:lnTo>
                    <a:pt x="56" y="0"/>
                  </a:lnTo>
                  <a:lnTo>
                    <a:pt x="46" y="1513"/>
                  </a:lnTo>
                  <a:lnTo>
                    <a:pt x="0" y="1536"/>
                  </a:lnTo>
                  <a:lnTo>
                    <a:pt x="4" y="16"/>
                  </a:lnTo>
                  <a:close/>
                </a:path>
              </a:pathLst>
            </a:custGeom>
            <a:gradFill rotWithShape="1">
              <a:gsLst>
                <a:gs pos="0">
                  <a:srgbClr val="777777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rgbClr val="969696"/>
              </a:solidFill>
              <a:round/>
              <a:headEnd/>
              <a:tailEnd/>
            </a:ln>
          </p:spPr>
          <p:txBody>
            <a:bodyPr/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50" name="Oval 222"/>
            <p:cNvSpPr>
              <a:spLocks noChangeArrowheads="1"/>
            </p:cNvSpPr>
            <p:nvPr/>
          </p:nvSpPr>
          <p:spPr bwMode="auto">
            <a:xfrm>
              <a:off x="2049633" y="4511227"/>
              <a:ext cx="12700" cy="26988"/>
            </a:xfrm>
            <a:prstGeom prst="ellipse">
              <a:avLst/>
            </a:prstGeom>
            <a:solidFill>
              <a:srgbClr val="777777"/>
            </a:solidFill>
            <a:ln w="9525">
              <a:solidFill>
                <a:srgbClr val="969696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51" name="Oval 223"/>
            <p:cNvSpPr>
              <a:spLocks noChangeArrowheads="1"/>
            </p:cNvSpPr>
            <p:nvPr/>
          </p:nvSpPr>
          <p:spPr bwMode="auto">
            <a:xfrm>
              <a:off x="2025820" y="4517577"/>
              <a:ext cx="11113" cy="22225"/>
            </a:xfrm>
            <a:prstGeom prst="ellipse">
              <a:avLst/>
            </a:prstGeom>
            <a:solidFill>
              <a:srgbClr val="C0C0C0"/>
            </a:solidFill>
            <a:ln w="9525">
              <a:solidFill>
                <a:srgbClr val="969696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52" name="Oval 224"/>
            <p:cNvSpPr>
              <a:spLocks noChangeArrowheads="1"/>
            </p:cNvSpPr>
            <p:nvPr/>
          </p:nvSpPr>
          <p:spPr bwMode="auto">
            <a:xfrm>
              <a:off x="1943270" y="4538215"/>
              <a:ext cx="14288" cy="15875"/>
            </a:xfrm>
            <a:prstGeom prst="ellipse">
              <a:avLst/>
            </a:prstGeom>
            <a:solidFill>
              <a:srgbClr val="C0C0C0"/>
            </a:solidFill>
            <a:ln w="9525">
              <a:solidFill>
                <a:srgbClr val="969696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53" name="Oval 225"/>
            <p:cNvSpPr>
              <a:spLocks noChangeArrowheads="1"/>
            </p:cNvSpPr>
            <p:nvPr/>
          </p:nvSpPr>
          <p:spPr bwMode="auto">
            <a:xfrm>
              <a:off x="1917870" y="4542977"/>
              <a:ext cx="12700" cy="17463"/>
            </a:xfrm>
            <a:prstGeom prst="ellipse">
              <a:avLst/>
            </a:prstGeom>
            <a:solidFill>
              <a:srgbClr val="C0C0C0"/>
            </a:solidFill>
            <a:ln w="9525">
              <a:solidFill>
                <a:srgbClr val="969696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54" name="Oval 226"/>
            <p:cNvSpPr>
              <a:spLocks noChangeArrowheads="1"/>
            </p:cNvSpPr>
            <p:nvPr/>
          </p:nvSpPr>
          <p:spPr bwMode="auto">
            <a:xfrm>
              <a:off x="1889295" y="4547740"/>
              <a:ext cx="14288" cy="15875"/>
            </a:xfrm>
            <a:prstGeom prst="ellipse">
              <a:avLst/>
            </a:prstGeom>
            <a:solidFill>
              <a:srgbClr val="C0C0C0"/>
            </a:solidFill>
            <a:ln w="9525">
              <a:solidFill>
                <a:srgbClr val="969696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55" name="Freeform 227"/>
            <p:cNvSpPr>
              <a:spLocks/>
            </p:cNvSpPr>
            <p:nvPr/>
          </p:nvSpPr>
          <p:spPr bwMode="auto">
            <a:xfrm flipH="1">
              <a:off x="1705145" y="4139752"/>
              <a:ext cx="361950" cy="401638"/>
            </a:xfrm>
            <a:custGeom>
              <a:avLst/>
              <a:gdLst>
                <a:gd name="T0" fmla="*/ 1330 w 1345"/>
                <a:gd name="T1" fmla="*/ 167 h 1366"/>
                <a:gd name="T2" fmla="*/ 0 w 1345"/>
                <a:gd name="T3" fmla="*/ 0 h 1366"/>
                <a:gd name="T4" fmla="*/ 0 w 1345"/>
                <a:gd name="T5" fmla="*/ 1157 h 1366"/>
                <a:gd name="T6" fmla="*/ 1345 w 1345"/>
                <a:gd name="T7" fmla="*/ 1366 h 1366"/>
                <a:gd name="T8" fmla="*/ 1330 w 1345"/>
                <a:gd name="T9" fmla="*/ 167 h 136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345"/>
                <a:gd name="T16" fmla="*/ 0 h 1366"/>
                <a:gd name="T17" fmla="*/ 1345 w 1345"/>
                <a:gd name="T18" fmla="*/ 1366 h 136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345" h="1366">
                  <a:moveTo>
                    <a:pt x="1330" y="167"/>
                  </a:moveTo>
                  <a:lnTo>
                    <a:pt x="0" y="0"/>
                  </a:lnTo>
                  <a:lnTo>
                    <a:pt x="0" y="1157"/>
                  </a:lnTo>
                  <a:lnTo>
                    <a:pt x="1345" y="1366"/>
                  </a:lnTo>
                  <a:lnTo>
                    <a:pt x="1330" y="167"/>
                  </a:lnTo>
                  <a:close/>
                </a:path>
              </a:pathLst>
            </a:custGeom>
            <a:gradFill rotWithShape="1">
              <a:gsLst>
                <a:gs pos="0">
                  <a:srgbClr val="C0C0C0"/>
                </a:gs>
                <a:gs pos="100000">
                  <a:srgbClr val="4D4D4D"/>
                </a:gs>
              </a:gsLst>
              <a:lin ang="5400000" scaled="1"/>
            </a:gradFill>
            <a:ln w="9525">
              <a:solidFill>
                <a:srgbClr val="969696"/>
              </a:solidFill>
              <a:round/>
              <a:headEnd/>
              <a:tailEnd/>
            </a:ln>
          </p:spPr>
          <p:txBody>
            <a:bodyPr/>
            <a:lstStyle/>
            <a:p>
              <a:pPr>
                <a:defRPr/>
              </a:pPr>
              <a:endParaRPr lang="ko-KR" altLang="en-US" kern="0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56" name="Freeform 228"/>
            <p:cNvSpPr>
              <a:spLocks/>
            </p:cNvSpPr>
            <p:nvPr/>
          </p:nvSpPr>
          <p:spPr bwMode="auto">
            <a:xfrm flipH="1">
              <a:off x="1651170" y="4087365"/>
              <a:ext cx="447675" cy="63500"/>
            </a:xfrm>
            <a:custGeom>
              <a:avLst/>
              <a:gdLst>
                <a:gd name="T0" fmla="*/ 0 w 1660"/>
                <a:gd name="T1" fmla="*/ 10 h 214"/>
                <a:gd name="T2" fmla="*/ 68 w 1660"/>
                <a:gd name="T3" fmla="*/ 0 h 214"/>
                <a:gd name="T4" fmla="*/ 1660 w 1660"/>
                <a:gd name="T5" fmla="*/ 199 h 214"/>
                <a:gd name="T6" fmla="*/ 1613 w 1660"/>
                <a:gd name="T7" fmla="*/ 214 h 214"/>
                <a:gd name="T8" fmla="*/ 0 w 1660"/>
                <a:gd name="T9" fmla="*/ 10 h 214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660"/>
                <a:gd name="T16" fmla="*/ 0 h 214"/>
                <a:gd name="T17" fmla="*/ 1660 w 1660"/>
                <a:gd name="T18" fmla="*/ 214 h 214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660" h="214">
                  <a:moveTo>
                    <a:pt x="0" y="10"/>
                  </a:moveTo>
                  <a:lnTo>
                    <a:pt x="68" y="0"/>
                  </a:lnTo>
                  <a:lnTo>
                    <a:pt x="1660" y="199"/>
                  </a:lnTo>
                  <a:lnTo>
                    <a:pt x="1613" y="214"/>
                  </a:lnTo>
                  <a:lnTo>
                    <a:pt x="0" y="10"/>
                  </a:lnTo>
                  <a:close/>
                </a:path>
              </a:pathLst>
            </a:custGeom>
            <a:noFill/>
            <a:ln w="9525">
              <a:solidFill>
                <a:srgbClr val="969696"/>
              </a:solidFill>
              <a:round/>
              <a:headEnd/>
              <a:tailEnd/>
            </a:ln>
          </p:spPr>
          <p:txBody>
            <a:bodyPr/>
            <a:lstStyle/>
            <a:p>
              <a:pPr>
                <a:defRPr/>
              </a:pPr>
              <a:endParaRPr lang="ko-KR" altLang="en-US" kern="0">
                <a:solidFill>
                  <a:sysClr val="windowText" lastClr="000000"/>
                </a:solidFill>
              </a:endParaRPr>
            </a:p>
          </p:txBody>
        </p:sp>
      </p:grpSp>
      <p:pic>
        <p:nvPicPr>
          <p:cNvPr id="59" name="Picture 2" descr="C:\Users\Toshiba\AppData\Local\Microsoft\Windows\Temporary Internet Files\Content.IE5\TBE21NJN\MC900434845[1]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1980890" y="2167816"/>
            <a:ext cx="1366509" cy="130007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0" name="TextBox 59"/>
          <p:cNvSpPr txBox="1"/>
          <p:nvPr/>
        </p:nvSpPr>
        <p:spPr>
          <a:xfrm>
            <a:off x="2173548" y="3528141"/>
            <a:ext cx="123944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송신호스트 </a:t>
            </a:r>
          </a:p>
        </p:txBody>
      </p:sp>
      <p:sp>
        <p:nvSpPr>
          <p:cNvPr id="61" name="오른쪽 화살표 60"/>
          <p:cNvSpPr/>
          <p:nvPr/>
        </p:nvSpPr>
        <p:spPr>
          <a:xfrm>
            <a:off x="4584412" y="1293197"/>
            <a:ext cx="2913590" cy="651161"/>
          </a:xfrm>
          <a:prstGeom prst="rightArrow">
            <a:avLst>
              <a:gd name="adj1" fmla="val 50000"/>
              <a:gd name="adj2" fmla="val 86095"/>
            </a:avLst>
          </a:prstGeom>
          <a:solidFill>
            <a:schemeClr val="bg1">
              <a:lumMod val="85000"/>
            </a:schemeClr>
          </a:solidFill>
          <a:ln cap="sq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TextBox 61"/>
          <p:cNvSpPr txBox="1"/>
          <p:nvPr/>
        </p:nvSpPr>
        <p:spPr>
          <a:xfrm>
            <a:off x="5071207" y="1468352"/>
            <a:ext cx="24147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1400 </a:t>
            </a:r>
            <a:r>
              <a:rPr lang="ko-KR" altLang="en-US" sz="160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바이트</a:t>
            </a:r>
            <a:r>
              <a:rPr lang="en-US" altLang="ko-KR" sz="16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 </a:t>
            </a:r>
            <a:endParaRPr lang="ko-KR" altLang="en-US" sz="1600" dirty="0">
              <a:latin typeface="Times New Roman" panose="02020603050405020304" pitchFamily="18" charset="0"/>
              <a:ea typeface="함초롬바탕" panose="02030504000101010101" pitchFamily="18" charset="-127"/>
              <a:cs typeface="Times New Roman" panose="02020603050405020304" pitchFamily="18" charset="0"/>
            </a:endParaRPr>
          </a:p>
        </p:txBody>
      </p:sp>
      <p:sp>
        <p:nvSpPr>
          <p:cNvPr id="65" name="오른쪽 화살표 64"/>
          <p:cNvSpPr/>
          <p:nvPr/>
        </p:nvSpPr>
        <p:spPr>
          <a:xfrm rot="10800000">
            <a:off x="4437885" y="2719136"/>
            <a:ext cx="3081561" cy="593573"/>
          </a:xfrm>
          <a:prstGeom prst="rightArrow">
            <a:avLst>
              <a:gd name="adj1" fmla="val 50000"/>
              <a:gd name="adj2" fmla="val 86095"/>
            </a:avLst>
          </a:prstGeom>
          <a:solidFill>
            <a:srgbClr val="FF0000"/>
          </a:solidFill>
          <a:ln cap="sq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 dirty="0"/>
          </a:p>
        </p:txBody>
      </p:sp>
      <p:sp>
        <p:nvSpPr>
          <p:cNvPr id="68" name="TextBox 67"/>
          <p:cNvSpPr txBox="1"/>
          <p:nvPr/>
        </p:nvSpPr>
        <p:spPr>
          <a:xfrm>
            <a:off x="8465657" y="3494828"/>
            <a:ext cx="123944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수신호스트 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596453" y="2846231"/>
            <a:ext cx="30580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        Window size : 0 </a:t>
            </a:r>
            <a:r>
              <a:rPr lang="ko-KR" altLang="en-US" sz="160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바이트</a:t>
            </a:r>
            <a:endParaRPr lang="ko-KR" altLang="en-US" sz="1600" dirty="0">
              <a:latin typeface="Times New Roman" panose="02020603050405020304" pitchFamily="18" charset="0"/>
              <a:ea typeface="함초롬바탕" panose="02030504000101010101" pitchFamily="18" charset="-127"/>
              <a:cs typeface="Times New Roman" panose="02020603050405020304" pitchFamily="18" charset="0"/>
            </a:endParaRPr>
          </a:p>
        </p:txBody>
      </p:sp>
      <p:sp>
        <p:nvSpPr>
          <p:cNvPr id="74" name="오른쪽 화살표 73"/>
          <p:cNvSpPr/>
          <p:nvPr/>
        </p:nvSpPr>
        <p:spPr>
          <a:xfrm>
            <a:off x="4596453" y="2001237"/>
            <a:ext cx="2922994" cy="651161"/>
          </a:xfrm>
          <a:prstGeom prst="rightArrow">
            <a:avLst>
              <a:gd name="adj1" fmla="val 50000"/>
              <a:gd name="adj2" fmla="val 86095"/>
            </a:avLst>
          </a:prstGeom>
          <a:solidFill>
            <a:schemeClr val="bg1">
              <a:lumMod val="85000"/>
            </a:schemeClr>
          </a:solidFill>
          <a:ln cap="sq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5" name="TextBox 74"/>
          <p:cNvSpPr txBox="1"/>
          <p:nvPr/>
        </p:nvSpPr>
        <p:spPr>
          <a:xfrm>
            <a:off x="5083248" y="2176391"/>
            <a:ext cx="2420366" cy="3477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1000 </a:t>
            </a:r>
            <a:r>
              <a:rPr lang="ko-KR" altLang="en-US" sz="160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바이트</a:t>
            </a:r>
            <a:r>
              <a:rPr lang="en-US" altLang="ko-KR" sz="16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 </a:t>
            </a:r>
            <a:endParaRPr lang="ko-KR" altLang="en-US" sz="1600" dirty="0">
              <a:latin typeface="Times New Roman" panose="02020603050405020304" pitchFamily="18" charset="0"/>
              <a:ea typeface="함초롬바탕" panose="02030504000101010101" pitchFamily="18" charset="-127"/>
              <a:cs typeface="Times New Roman" panose="02020603050405020304" pitchFamily="18" charset="0"/>
            </a:endParaRPr>
          </a:p>
        </p:txBody>
      </p:sp>
      <p:sp>
        <p:nvSpPr>
          <p:cNvPr id="76" name="오른쪽 화살표 75"/>
          <p:cNvSpPr/>
          <p:nvPr/>
        </p:nvSpPr>
        <p:spPr>
          <a:xfrm>
            <a:off x="4617898" y="3424852"/>
            <a:ext cx="2940619" cy="651161"/>
          </a:xfrm>
          <a:prstGeom prst="rightArrow">
            <a:avLst>
              <a:gd name="adj1" fmla="val 50000"/>
              <a:gd name="adj2" fmla="val 86095"/>
            </a:avLst>
          </a:prstGeom>
          <a:solidFill>
            <a:srgbClr val="FFC000"/>
          </a:solidFill>
          <a:ln cap="sq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7" name="TextBox 76"/>
          <p:cNvSpPr txBox="1"/>
          <p:nvPr/>
        </p:nvSpPr>
        <p:spPr>
          <a:xfrm>
            <a:off x="5104693" y="3600007"/>
            <a:ext cx="24147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Keep Alive</a:t>
            </a:r>
            <a:endParaRPr lang="ko-KR" altLang="en-US" sz="1600" dirty="0">
              <a:latin typeface="Times New Roman" panose="02020603050405020304" pitchFamily="18" charset="0"/>
              <a:ea typeface="함초롬바탕" panose="02030504000101010101" pitchFamily="18" charset="-127"/>
              <a:cs typeface="Times New Roman" panose="02020603050405020304" pitchFamily="18" charset="0"/>
            </a:endParaRPr>
          </a:p>
        </p:txBody>
      </p:sp>
      <p:sp>
        <p:nvSpPr>
          <p:cNvPr id="108" name="오른쪽 화살표 107"/>
          <p:cNvSpPr/>
          <p:nvPr/>
        </p:nvSpPr>
        <p:spPr>
          <a:xfrm rot="10800000">
            <a:off x="4448955" y="4141848"/>
            <a:ext cx="3109562" cy="593573"/>
          </a:xfrm>
          <a:prstGeom prst="rightArrow">
            <a:avLst>
              <a:gd name="adj1" fmla="val 50000"/>
              <a:gd name="adj2" fmla="val 86095"/>
            </a:avLst>
          </a:prstGeom>
          <a:noFill/>
          <a:ln cap="sq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 dirty="0"/>
          </a:p>
        </p:txBody>
      </p:sp>
      <p:sp>
        <p:nvSpPr>
          <p:cNvPr id="109" name="TextBox 108"/>
          <p:cNvSpPr txBox="1"/>
          <p:nvPr/>
        </p:nvSpPr>
        <p:spPr>
          <a:xfrm>
            <a:off x="4500491" y="4273664"/>
            <a:ext cx="30580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        Window size : 1000 </a:t>
            </a:r>
            <a:r>
              <a:rPr lang="ko-KR" altLang="en-US" sz="160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바이트</a:t>
            </a:r>
            <a:endParaRPr lang="ko-KR" altLang="en-US" sz="1600" dirty="0">
              <a:latin typeface="Times New Roman" panose="02020603050405020304" pitchFamily="18" charset="0"/>
              <a:ea typeface="함초롬바탕" panose="02030504000101010101" pitchFamily="18" charset="-127"/>
              <a:cs typeface="Times New Roman" panose="02020603050405020304" pitchFamily="18" charset="0"/>
            </a:endParaRPr>
          </a:p>
        </p:txBody>
      </p:sp>
      <p:sp>
        <p:nvSpPr>
          <p:cNvPr id="110" name="오른쪽 화살표 109"/>
          <p:cNvSpPr/>
          <p:nvPr/>
        </p:nvSpPr>
        <p:spPr>
          <a:xfrm>
            <a:off x="4584412" y="4867239"/>
            <a:ext cx="2974105" cy="651161"/>
          </a:xfrm>
          <a:prstGeom prst="rightArrow">
            <a:avLst>
              <a:gd name="adj1" fmla="val 50000"/>
              <a:gd name="adj2" fmla="val 86095"/>
            </a:avLst>
          </a:prstGeom>
          <a:solidFill>
            <a:schemeClr val="bg1">
              <a:lumMod val="85000"/>
            </a:schemeClr>
          </a:solidFill>
          <a:ln cap="sq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1" name="TextBox 110"/>
          <p:cNvSpPr txBox="1"/>
          <p:nvPr/>
        </p:nvSpPr>
        <p:spPr>
          <a:xfrm>
            <a:off x="5071207" y="5042394"/>
            <a:ext cx="24147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800  </a:t>
            </a:r>
            <a:r>
              <a:rPr lang="ko-KR" altLang="en-US" sz="160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바이트</a:t>
            </a:r>
            <a:r>
              <a:rPr lang="en-US" altLang="ko-KR" sz="16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 </a:t>
            </a:r>
            <a:endParaRPr lang="ko-KR" altLang="en-US" sz="1600" dirty="0">
              <a:latin typeface="Times New Roman" panose="02020603050405020304" pitchFamily="18" charset="0"/>
              <a:ea typeface="함초롬바탕" panose="02030504000101010101" pitchFamily="18" charset="-127"/>
              <a:cs typeface="Times New Roman" panose="02020603050405020304" pitchFamily="18" charset="0"/>
            </a:endParaRPr>
          </a:p>
        </p:txBody>
      </p:sp>
      <p:sp>
        <p:nvSpPr>
          <p:cNvPr id="112" name="제목 1">
            <a:extLst>
              <a:ext uri="{FF2B5EF4-FFF2-40B4-BE49-F238E27FC236}">
                <a16:creationId xmlns:a16="http://schemas.microsoft.com/office/drawing/2014/main" id="{34EBFEF3-B7B5-A550-243C-3EB6A3530B51}"/>
              </a:ext>
            </a:extLst>
          </p:cNvPr>
          <p:cNvSpPr txBox="1">
            <a:spLocks/>
          </p:cNvSpPr>
          <p:nvPr/>
        </p:nvSpPr>
        <p:spPr bwMode="auto">
          <a:xfrm>
            <a:off x="646185" y="583563"/>
            <a:ext cx="7280275" cy="4810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84406" tIns="42203" rIns="84406" bIns="42203" numCol="1" rtlCol="0" anchor="t" anchorCtr="0" compatLnSpc="1">
            <a:prstTxWarp prst="textNoShape">
              <a:avLst/>
            </a:prstTxWarp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sz="2800" b="1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❷ </a:t>
            </a:r>
            <a:r>
              <a:rPr lang="ko-KR" altLang="en-US" sz="2800" b="1" dirty="0" err="1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트래픽</a:t>
            </a:r>
            <a:r>
              <a:rPr lang="ko-KR" altLang="en-US" sz="2800" b="1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 흐름제어 </a:t>
            </a:r>
            <a:endParaRPr lang="ko-KR" altLang="en-US" sz="2800" b="1" dirty="0">
              <a:ea typeface="함초롬바탕" panose="02030504000101010101"/>
            </a:endParaRPr>
          </a:p>
        </p:txBody>
      </p:sp>
      <p:sp>
        <p:nvSpPr>
          <p:cNvPr id="113" name="오른쪽 화살표 112"/>
          <p:cNvSpPr/>
          <p:nvPr/>
        </p:nvSpPr>
        <p:spPr>
          <a:xfrm>
            <a:off x="4584412" y="5556103"/>
            <a:ext cx="2974105" cy="651161"/>
          </a:xfrm>
          <a:prstGeom prst="rightArrow">
            <a:avLst>
              <a:gd name="adj1" fmla="val 50000"/>
              <a:gd name="adj2" fmla="val 86095"/>
            </a:avLst>
          </a:prstGeom>
          <a:solidFill>
            <a:schemeClr val="bg1">
              <a:lumMod val="85000"/>
            </a:schemeClr>
          </a:solidFill>
          <a:ln cap="sq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4" name="TextBox 113"/>
          <p:cNvSpPr txBox="1"/>
          <p:nvPr/>
        </p:nvSpPr>
        <p:spPr>
          <a:xfrm>
            <a:off x="5071207" y="5731258"/>
            <a:ext cx="24147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200  </a:t>
            </a:r>
            <a:r>
              <a:rPr lang="ko-KR" altLang="en-US" sz="160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바이트</a:t>
            </a:r>
            <a:r>
              <a:rPr lang="en-US" altLang="ko-KR" sz="16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 </a:t>
            </a:r>
            <a:endParaRPr lang="ko-KR" altLang="en-US" sz="1600" dirty="0">
              <a:latin typeface="Times New Roman" panose="02020603050405020304" pitchFamily="18" charset="0"/>
              <a:ea typeface="함초롬바탕" panose="02030504000101010101" pitchFamily="18" charset="-127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4784086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AEA8501C-8E9F-891A-63CB-F383C980A1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00E85C-9068-46D2-A14A-A9DCCDE0C986}" type="slidenum">
              <a:rPr lang="ko-KR" altLang="en-US" smtClean="0"/>
              <a:t>28</a:t>
            </a:fld>
            <a:endParaRPr lang="ko-KR" altLang="en-US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0C72CC93-E8F5-2348-935A-7BA09E4F665A}"/>
              </a:ext>
            </a:extLst>
          </p:cNvPr>
          <p:cNvSpPr txBox="1">
            <a:spLocks/>
          </p:cNvSpPr>
          <p:nvPr/>
        </p:nvSpPr>
        <p:spPr>
          <a:xfrm>
            <a:off x="838200" y="1764308"/>
            <a:ext cx="10515600" cy="701675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ko-KR" altLang="en-US" sz="3200" b="1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서비스 활성화 여부 점검 </a:t>
            </a:r>
          </a:p>
        </p:txBody>
      </p:sp>
    </p:spTree>
    <p:extLst>
      <p:ext uri="{BB962C8B-B14F-4D97-AF65-F5344CB8AC3E}">
        <p14:creationId xmlns:p14="http://schemas.microsoft.com/office/powerpoint/2010/main" val="89321155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슬라이드 번호 개체 틀 1">
            <a:extLst>
              <a:ext uri="{FF2B5EF4-FFF2-40B4-BE49-F238E27FC236}">
                <a16:creationId xmlns:a16="http://schemas.microsoft.com/office/drawing/2014/main" id="{FE590BB5-83E9-8ACA-820C-BBB01BF65B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406641" y="6340214"/>
            <a:ext cx="2057400" cy="273844"/>
          </a:xfrm>
        </p:spPr>
        <p:txBody>
          <a:bodyPr/>
          <a:lstStyle/>
          <a:p>
            <a:fld id="{2434E38A-D9C7-4AEC-90C8-6E4E399073F9}" type="slidenum">
              <a:rPr lang="ko-KR" altLang="en-US" smtClean="0"/>
              <a:pPr/>
              <a:t>29</a:t>
            </a:fld>
            <a:endParaRPr lang="ko-KR" altLang="en-US"/>
          </a:p>
        </p:txBody>
      </p: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A0F39654-9415-E19F-EB25-EF0FEE30B7F5}"/>
              </a:ext>
            </a:extLst>
          </p:cNvPr>
          <p:cNvCxnSpPr>
            <a:cxnSpLocks/>
          </p:cNvCxnSpPr>
          <p:nvPr/>
        </p:nvCxnSpPr>
        <p:spPr>
          <a:xfrm>
            <a:off x="1126988" y="1928925"/>
            <a:ext cx="6890" cy="2961719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06F91A12-2166-99D7-CCAF-5C732162EC07}"/>
              </a:ext>
            </a:extLst>
          </p:cNvPr>
          <p:cNvCxnSpPr/>
          <p:nvPr/>
        </p:nvCxnSpPr>
        <p:spPr>
          <a:xfrm>
            <a:off x="3313975" y="1975832"/>
            <a:ext cx="11459" cy="2898094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72FE436F-5FD4-FE5C-3D83-F28745172680}"/>
              </a:ext>
            </a:extLst>
          </p:cNvPr>
          <p:cNvCxnSpPr>
            <a:cxnSpLocks/>
          </p:cNvCxnSpPr>
          <p:nvPr/>
        </p:nvCxnSpPr>
        <p:spPr>
          <a:xfrm>
            <a:off x="1166629" y="2337135"/>
            <a:ext cx="2144885" cy="53435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DBDE5775-B1C1-6124-22F0-95F868DEAE1D}"/>
              </a:ext>
            </a:extLst>
          </p:cNvPr>
          <p:cNvSpPr txBox="1"/>
          <p:nvPr/>
        </p:nvSpPr>
        <p:spPr>
          <a:xfrm rot="712479">
            <a:off x="1923674" y="2273781"/>
            <a:ext cx="64472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SYN</a:t>
            </a:r>
            <a:endParaRPr lang="ko-KR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85150E90-4BC3-E956-0691-EBDC99A3E4C4}"/>
              </a:ext>
            </a:extLst>
          </p:cNvPr>
          <p:cNvCxnSpPr>
            <a:cxnSpLocks/>
          </p:cNvCxnSpPr>
          <p:nvPr/>
        </p:nvCxnSpPr>
        <p:spPr>
          <a:xfrm flipH="1">
            <a:off x="1140908" y="3164401"/>
            <a:ext cx="2190877" cy="63455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0D99EEDA-DDA2-69FF-60D0-85A1E10A0D9F}"/>
              </a:ext>
            </a:extLst>
          </p:cNvPr>
          <p:cNvSpPr txBox="1"/>
          <p:nvPr/>
        </p:nvSpPr>
        <p:spPr>
          <a:xfrm rot="20350221">
            <a:off x="1748885" y="3121601"/>
            <a:ext cx="112229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ACK/SYN</a:t>
            </a:r>
            <a:endParaRPr lang="ko-KR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83D5B7AC-B83E-E38A-9D6E-3A1E01A2496C}"/>
              </a:ext>
            </a:extLst>
          </p:cNvPr>
          <p:cNvCxnSpPr>
            <a:cxnSpLocks/>
          </p:cNvCxnSpPr>
          <p:nvPr/>
        </p:nvCxnSpPr>
        <p:spPr>
          <a:xfrm>
            <a:off x="1127402" y="4121638"/>
            <a:ext cx="2165156" cy="48331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23BEEB91-E0D6-0B5B-B65B-6786ABE19562}"/>
              </a:ext>
            </a:extLst>
          </p:cNvPr>
          <p:cNvSpPr txBox="1"/>
          <p:nvPr/>
        </p:nvSpPr>
        <p:spPr>
          <a:xfrm rot="712479">
            <a:off x="2102051" y="4085082"/>
            <a:ext cx="61587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ACK</a:t>
            </a:r>
            <a:endParaRPr lang="ko-KR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120ABA1-FFA3-B6F2-5D97-D796FC00BEAF}"/>
              </a:ext>
            </a:extLst>
          </p:cNvPr>
          <p:cNvSpPr txBox="1"/>
          <p:nvPr/>
        </p:nvSpPr>
        <p:spPr>
          <a:xfrm>
            <a:off x="1308474" y="5064205"/>
            <a:ext cx="20233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&lt;&lt;</a:t>
            </a:r>
            <a:r>
              <a:rPr lang="ko-KR" altLang="en-US" sz="140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열린 포트인 경우 </a:t>
            </a:r>
            <a:r>
              <a:rPr lang="en-US" altLang="ko-KR" sz="14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&gt;&gt; </a:t>
            </a:r>
            <a:endParaRPr lang="ko-KR" altLang="en-US" sz="1400">
              <a:latin typeface="함초롬바탕" panose="02030504000101010101" pitchFamily="18" charset="-127"/>
              <a:ea typeface="함초롬바탕" panose="02030504000101010101" pitchFamily="18" charset="-127"/>
              <a:cs typeface="함초롬바탕" panose="02030504000101010101" pitchFamily="18" charset="-127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165BDFE-C2F0-93D9-12FB-4E8608043338}"/>
              </a:ext>
            </a:extLst>
          </p:cNvPr>
          <p:cNvSpPr txBox="1"/>
          <p:nvPr/>
        </p:nvSpPr>
        <p:spPr>
          <a:xfrm>
            <a:off x="8032113" y="5046858"/>
            <a:ext cx="32464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&lt;&lt;</a:t>
            </a:r>
            <a:r>
              <a:rPr lang="ko-KR" altLang="en-US" sz="140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차단정책으로 차단되어 있는 경우</a:t>
            </a:r>
            <a:r>
              <a:rPr lang="en-US" altLang="ko-KR" sz="14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&gt;&gt; </a:t>
            </a:r>
            <a:endParaRPr lang="ko-KR" altLang="en-US" sz="1400">
              <a:latin typeface="함초롬바탕" panose="02030504000101010101" pitchFamily="18" charset="-127"/>
              <a:ea typeface="함초롬바탕" panose="02030504000101010101" pitchFamily="18" charset="-127"/>
              <a:cs typeface="함초롬바탕" panose="02030504000101010101" pitchFamily="18" charset="-127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165BDFE-C2F0-93D9-12FB-4E8608043338}"/>
              </a:ext>
            </a:extLst>
          </p:cNvPr>
          <p:cNvSpPr txBox="1"/>
          <p:nvPr/>
        </p:nvSpPr>
        <p:spPr>
          <a:xfrm>
            <a:off x="5103674" y="5012654"/>
            <a:ext cx="20233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&lt;&lt;</a:t>
            </a:r>
            <a:r>
              <a:rPr lang="ko-KR" altLang="en-US" sz="140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닫힌 포트인 경우 </a:t>
            </a:r>
            <a:r>
              <a:rPr lang="en-US" altLang="ko-KR" sz="14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&gt;&gt; </a:t>
            </a:r>
            <a:endParaRPr lang="ko-KR" altLang="en-US" sz="1400">
              <a:latin typeface="함초롬바탕" panose="02030504000101010101" pitchFamily="18" charset="-127"/>
              <a:ea typeface="함초롬바탕" panose="02030504000101010101" pitchFamily="18" charset="-127"/>
              <a:cs typeface="함초롬바탕" panose="02030504000101010101" pitchFamily="18" charset="-127"/>
            </a:endParaRPr>
          </a:p>
        </p:txBody>
      </p: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E135A1B6-06CE-8ADC-D858-C86F32EBCFDC}"/>
              </a:ext>
            </a:extLst>
          </p:cNvPr>
          <p:cNvCxnSpPr>
            <a:cxnSpLocks/>
          </p:cNvCxnSpPr>
          <p:nvPr/>
        </p:nvCxnSpPr>
        <p:spPr>
          <a:xfrm>
            <a:off x="4946683" y="2050935"/>
            <a:ext cx="6890" cy="2961719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8D4ED4AE-EE08-E30C-C045-A255F90D1BF0}"/>
              </a:ext>
            </a:extLst>
          </p:cNvPr>
          <p:cNvCxnSpPr/>
          <p:nvPr/>
        </p:nvCxnSpPr>
        <p:spPr>
          <a:xfrm>
            <a:off x="7133670" y="2097842"/>
            <a:ext cx="11459" cy="2898094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F9BE6A54-A615-C1E5-5FFA-EB7144DC8C31}"/>
              </a:ext>
            </a:extLst>
          </p:cNvPr>
          <p:cNvCxnSpPr>
            <a:cxnSpLocks/>
          </p:cNvCxnSpPr>
          <p:nvPr/>
        </p:nvCxnSpPr>
        <p:spPr>
          <a:xfrm>
            <a:off x="4986324" y="2459145"/>
            <a:ext cx="2144885" cy="53435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E1FA253C-587B-0AA1-5A68-CC5F4A1141BA}"/>
              </a:ext>
            </a:extLst>
          </p:cNvPr>
          <p:cNvSpPr txBox="1"/>
          <p:nvPr/>
        </p:nvSpPr>
        <p:spPr>
          <a:xfrm rot="712479">
            <a:off x="5743369" y="2395791"/>
            <a:ext cx="64472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SYN</a:t>
            </a:r>
            <a:endParaRPr lang="ko-KR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0" name="직선 화살표 연결선 39">
            <a:extLst>
              <a:ext uri="{FF2B5EF4-FFF2-40B4-BE49-F238E27FC236}">
                <a16:creationId xmlns:a16="http://schemas.microsoft.com/office/drawing/2014/main" id="{B0718661-9C99-3E49-5E36-71C4FA28854B}"/>
              </a:ext>
            </a:extLst>
          </p:cNvPr>
          <p:cNvCxnSpPr>
            <a:cxnSpLocks/>
          </p:cNvCxnSpPr>
          <p:nvPr/>
        </p:nvCxnSpPr>
        <p:spPr>
          <a:xfrm flipH="1">
            <a:off x="4960603" y="3286411"/>
            <a:ext cx="2190877" cy="63455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05FDFC02-C820-262E-6FE7-63831C8939F6}"/>
              </a:ext>
            </a:extLst>
          </p:cNvPr>
          <p:cNvSpPr txBox="1"/>
          <p:nvPr/>
        </p:nvSpPr>
        <p:spPr>
          <a:xfrm rot="20568575">
            <a:off x="5605385" y="3243611"/>
            <a:ext cx="104868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RST/ACK</a:t>
            </a:r>
            <a:endParaRPr lang="ko-KR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4" name="직선 연결선 43">
            <a:extLst>
              <a:ext uri="{FF2B5EF4-FFF2-40B4-BE49-F238E27FC236}">
                <a16:creationId xmlns:a16="http://schemas.microsoft.com/office/drawing/2014/main" id="{568FDE29-16F3-D9F9-EBAB-2CBDE06975C6}"/>
              </a:ext>
            </a:extLst>
          </p:cNvPr>
          <p:cNvCxnSpPr>
            <a:cxnSpLocks/>
          </p:cNvCxnSpPr>
          <p:nvPr/>
        </p:nvCxnSpPr>
        <p:spPr>
          <a:xfrm>
            <a:off x="8477824" y="1955218"/>
            <a:ext cx="6890" cy="2961719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직선 연결선 44">
            <a:extLst>
              <a:ext uri="{FF2B5EF4-FFF2-40B4-BE49-F238E27FC236}">
                <a16:creationId xmlns:a16="http://schemas.microsoft.com/office/drawing/2014/main" id="{F2CB7C78-BCFD-CC2C-C30C-1A03049A6664}"/>
              </a:ext>
            </a:extLst>
          </p:cNvPr>
          <p:cNvCxnSpPr/>
          <p:nvPr/>
        </p:nvCxnSpPr>
        <p:spPr>
          <a:xfrm>
            <a:off x="10664811" y="2002125"/>
            <a:ext cx="11459" cy="2898094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34E07D0A-287E-F4E5-4DC9-3BB82760ED8E}"/>
              </a:ext>
            </a:extLst>
          </p:cNvPr>
          <p:cNvCxnSpPr>
            <a:cxnSpLocks/>
          </p:cNvCxnSpPr>
          <p:nvPr/>
        </p:nvCxnSpPr>
        <p:spPr>
          <a:xfrm>
            <a:off x="8517465" y="2363428"/>
            <a:ext cx="2144885" cy="53435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940B07E2-09EE-4DCD-9D4E-58DC07610E78}"/>
              </a:ext>
            </a:extLst>
          </p:cNvPr>
          <p:cNvSpPr txBox="1"/>
          <p:nvPr/>
        </p:nvSpPr>
        <p:spPr>
          <a:xfrm rot="712479">
            <a:off x="9274510" y="2300074"/>
            <a:ext cx="64472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SYN</a:t>
            </a:r>
            <a:endParaRPr lang="ko-KR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8" name="직선 화살표 연결선 47">
            <a:extLst>
              <a:ext uri="{FF2B5EF4-FFF2-40B4-BE49-F238E27FC236}">
                <a16:creationId xmlns:a16="http://schemas.microsoft.com/office/drawing/2014/main" id="{D43A6A34-32FC-C7C2-BD6C-682BC30301F1}"/>
              </a:ext>
            </a:extLst>
          </p:cNvPr>
          <p:cNvCxnSpPr>
            <a:cxnSpLocks/>
          </p:cNvCxnSpPr>
          <p:nvPr/>
        </p:nvCxnSpPr>
        <p:spPr>
          <a:xfrm flipH="1">
            <a:off x="8491744" y="3190694"/>
            <a:ext cx="2190877" cy="63455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07C5EF18-70BD-0569-625B-D5DD8AA745B9}"/>
              </a:ext>
            </a:extLst>
          </p:cNvPr>
          <p:cNvSpPr txBox="1"/>
          <p:nvPr/>
        </p:nvSpPr>
        <p:spPr>
          <a:xfrm rot="20568575">
            <a:off x="9136526" y="3147894"/>
            <a:ext cx="104868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RST/ACK</a:t>
            </a:r>
            <a:endParaRPr lang="ko-KR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0" name="제목 1">
            <a:extLst>
              <a:ext uri="{FF2B5EF4-FFF2-40B4-BE49-F238E27FC236}">
                <a16:creationId xmlns:a16="http://schemas.microsoft.com/office/drawing/2014/main" id="{DEC73F52-7498-6069-EE04-78D67BD6390E}"/>
              </a:ext>
            </a:extLst>
          </p:cNvPr>
          <p:cNvSpPr txBox="1">
            <a:spLocks/>
          </p:cNvSpPr>
          <p:nvPr/>
        </p:nvSpPr>
        <p:spPr>
          <a:xfrm>
            <a:off x="762915" y="616444"/>
            <a:ext cx="10515600" cy="701675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sz="2400" b="1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서비스 활성화 여부 점검 </a:t>
            </a:r>
          </a:p>
        </p:txBody>
      </p:sp>
    </p:spTree>
    <p:extLst>
      <p:ext uri="{BB962C8B-B14F-4D97-AF65-F5344CB8AC3E}">
        <p14:creationId xmlns:p14="http://schemas.microsoft.com/office/powerpoint/2010/main" val="132077449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ACA3FA40-8841-D72C-4AFC-BB6016EE87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00E85C-9068-46D2-A14A-A9DCCDE0C986}" type="slidenum">
              <a:rPr lang="ko-KR" altLang="en-US" smtClean="0"/>
              <a:t>30</a:t>
            </a:fld>
            <a:endParaRPr lang="ko-KR" altLang="en-US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EF0AD306-72D6-6613-CD61-5FC0DA8BD4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941" y="1058261"/>
            <a:ext cx="10859513" cy="4741478"/>
          </a:xfrm>
          <a:prstGeom prst="rect">
            <a:avLst/>
          </a:prstGeom>
        </p:spPr>
      </p:pic>
      <p:sp>
        <p:nvSpPr>
          <p:cNvPr id="5" name="제목 1">
            <a:extLst>
              <a:ext uri="{FF2B5EF4-FFF2-40B4-BE49-F238E27FC236}">
                <a16:creationId xmlns:a16="http://schemas.microsoft.com/office/drawing/2014/main" id="{C8BA13E6-3B07-3374-2C94-B2B32A842DC4}"/>
              </a:ext>
            </a:extLst>
          </p:cNvPr>
          <p:cNvSpPr txBox="1">
            <a:spLocks/>
          </p:cNvSpPr>
          <p:nvPr/>
        </p:nvSpPr>
        <p:spPr>
          <a:xfrm>
            <a:off x="787941" y="356586"/>
            <a:ext cx="10515600" cy="701675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sz="2400" b="1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서비스 활성화 여부 점검 </a:t>
            </a:r>
          </a:p>
        </p:txBody>
      </p:sp>
    </p:spTree>
    <p:extLst>
      <p:ext uri="{BB962C8B-B14F-4D97-AF65-F5344CB8AC3E}">
        <p14:creationId xmlns:p14="http://schemas.microsoft.com/office/powerpoint/2010/main" val="384942010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BD61C2F1-AA15-4960-F498-075DD2D7C8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54437"/>
            <a:ext cx="12192000" cy="1759415"/>
          </a:xfrm>
          <a:prstGeom prst="rect">
            <a:avLst/>
          </a:prstGeom>
        </p:spPr>
      </p:pic>
      <p:sp>
        <p:nvSpPr>
          <p:cNvPr id="16" name="직사각형 15">
            <a:extLst>
              <a:ext uri="{FF2B5EF4-FFF2-40B4-BE49-F238E27FC236}">
                <a16:creationId xmlns:a16="http://schemas.microsoft.com/office/drawing/2014/main" id="{EEAC4894-2FC6-A0DC-1B06-4559761530F8}"/>
              </a:ext>
            </a:extLst>
          </p:cNvPr>
          <p:cNvSpPr/>
          <p:nvPr/>
        </p:nvSpPr>
        <p:spPr>
          <a:xfrm>
            <a:off x="5729591" y="1896894"/>
            <a:ext cx="4815192" cy="716959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4FCEB89B-E306-9B4A-241A-189F60846646}"/>
              </a:ext>
            </a:extLst>
          </p:cNvPr>
          <p:cNvCxnSpPr>
            <a:cxnSpLocks/>
          </p:cNvCxnSpPr>
          <p:nvPr/>
        </p:nvCxnSpPr>
        <p:spPr>
          <a:xfrm>
            <a:off x="9194503" y="3489651"/>
            <a:ext cx="24541" cy="244318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581D0582-7968-BFE9-37C2-B7FBA0D0BFC0}"/>
              </a:ext>
            </a:extLst>
          </p:cNvPr>
          <p:cNvCxnSpPr>
            <a:cxnSpLocks/>
          </p:cNvCxnSpPr>
          <p:nvPr/>
        </p:nvCxnSpPr>
        <p:spPr>
          <a:xfrm>
            <a:off x="11338116" y="3507974"/>
            <a:ext cx="21754" cy="242486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24">
            <a:extLst>
              <a:ext uri="{FF2B5EF4-FFF2-40B4-BE49-F238E27FC236}">
                <a16:creationId xmlns:a16="http://schemas.microsoft.com/office/drawing/2014/main" id="{8A58B494-5812-1502-CF4F-E1B07FD03B7B}"/>
              </a:ext>
            </a:extLst>
          </p:cNvPr>
          <p:cNvSpPr txBox="1"/>
          <p:nvPr/>
        </p:nvSpPr>
        <p:spPr>
          <a:xfrm>
            <a:off x="8392995" y="3221776"/>
            <a:ext cx="112723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192.168.1.72</a:t>
            </a:r>
          </a:p>
        </p:txBody>
      </p:sp>
      <p:sp>
        <p:nvSpPr>
          <p:cNvPr id="7" name="TextBox 25">
            <a:extLst>
              <a:ext uri="{FF2B5EF4-FFF2-40B4-BE49-F238E27FC236}">
                <a16:creationId xmlns:a16="http://schemas.microsoft.com/office/drawing/2014/main" id="{C3D674CD-96DF-1A29-AD17-21F093CE7C62}"/>
              </a:ext>
            </a:extLst>
          </p:cNvPr>
          <p:cNvSpPr txBox="1"/>
          <p:nvPr/>
        </p:nvSpPr>
        <p:spPr>
          <a:xfrm>
            <a:off x="10798283" y="3250556"/>
            <a:ext cx="112723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192.168.1.66</a:t>
            </a:r>
            <a:endParaRPr lang="ko-KR" altLang="en-US" sz="1400" dirty="0">
              <a:latin typeface="함초롬바탕" panose="02030604000101010101" pitchFamily="18" charset="-127"/>
              <a:ea typeface="함초롬바탕" panose="02030604000101010101" pitchFamily="18" charset="-127"/>
              <a:cs typeface="함초롬바탕" panose="02030604000101010101" pitchFamily="18" charset="-127"/>
            </a:endParaRPr>
          </a:p>
        </p:txBody>
      </p: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EF4E00AD-8C7B-C9F2-C948-5FF33AD133BD}"/>
              </a:ext>
            </a:extLst>
          </p:cNvPr>
          <p:cNvCxnSpPr>
            <a:cxnSpLocks/>
          </p:cNvCxnSpPr>
          <p:nvPr/>
        </p:nvCxnSpPr>
        <p:spPr>
          <a:xfrm>
            <a:off x="9183301" y="3666149"/>
            <a:ext cx="2143485" cy="20825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BD1D0664-076A-AA51-C6EB-8B65B3990461}"/>
              </a:ext>
            </a:extLst>
          </p:cNvPr>
          <p:cNvSpPr txBox="1"/>
          <p:nvPr/>
        </p:nvSpPr>
        <p:spPr>
          <a:xfrm rot="271128">
            <a:off x="9983174" y="3522243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SYN</a:t>
            </a:r>
            <a:endParaRPr lang="ko-KR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96EC2FC3-B48F-C641-AAC2-9F2C2BC94C95}"/>
              </a:ext>
            </a:extLst>
          </p:cNvPr>
          <p:cNvCxnSpPr>
            <a:cxnSpLocks/>
          </p:cNvCxnSpPr>
          <p:nvPr/>
        </p:nvCxnSpPr>
        <p:spPr>
          <a:xfrm>
            <a:off x="9197379" y="4238996"/>
            <a:ext cx="2143485" cy="20825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87488A12-AD8B-F0E4-8F33-D888895BE6BD}"/>
              </a:ext>
            </a:extLst>
          </p:cNvPr>
          <p:cNvSpPr txBox="1"/>
          <p:nvPr/>
        </p:nvSpPr>
        <p:spPr>
          <a:xfrm rot="271128">
            <a:off x="9502049" y="4090259"/>
            <a:ext cx="163487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[TCP </a:t>
            </a:r>
            <a:r>
              <a:rPr lang="en-US" altLang="ko-KR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Retrans</a:t>
            </a:r>
            <a:r>
              <a:rPr lang="en-US" altLang="ko-K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] ACK</a:t>
            </a:r>
            <a:endParaRPr lang="ko-KR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오른쪽 대괄호 24">
            <a:extLst>
              <a:ext uri="{FF2B5EF4-FFF2-40B4-BE49-F238E27FC236}">
                <a16:creationId xmlns:a16="http://schemas.microsoft.com/office/drawing/2014/main" id="{4DA01068-8E75-955D-093E-CFC8535EF8E8}"/>
              </a:ext>
            </a:extLst>
          </p:cNvPr>
          <p:cNvSpPr/>
          <p:nvPr/>
        </p:nvSpPr>
        <p:spPr>
          <a:xfrm flipH="1">
            <a:off x="8891673" y="3666149"/>
            <a:ext cx="317173" cy="572847"/>
          </a:xfrm>
          <a:prstGeom prst="rightBracket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8E14C49-2F64-9003-8DE2-511B0D2026DB}"/>
              </a:ext>
            </a:extLst>
          </p:cNvPr>
          <p:cNvSpPr txBox="1"/>
          <p:nvPr/>
        </p:nvSpPr>
        <p:spPr>
          <a:xfrm>
            <a:off x="8245344" y="3768432"/>
            <a:ext cx="64633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2.291</a:t>
            </a:r>
            <a:endParaRPr lang="ko-KR" altLang="en-US" sz="16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6" name="직선 화살표 연결선 35">
            <a:extLst>
              <a:ext uri="{FF2B5EF4-FFF2-40B4-BE49-F238E27FC236}">
                <a16:creationId xmlns:a16="http://schemas.microsoft.com/office/drawing/2014/main" id="{A0F6154F-F9F4-6F59-4F7B-875A2971E324}"/>
              </a:ext>
            </a:extLst>
          </p:cNvPr>
          <p:cNvCxnSpPr>
            <a:cxnSpLocks/>
          </p:cNvCxnSpPr>
          <p:nvPr/>
        </p:nvCxnSpPr>
        <p:spPr>
          <a:xfrm>
            <a:off x="9231380" y="5262073"/>
            <a:ext cx="2143485" cy="20825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9E430943-C0EB-790E-A57D-64C160434E77}"/>
              </a:ext>
            </a:extLst>
          </p:cNvPr>
          <p:cNvSpPr txBox="1"/>
          <p:nvPr/>
        </p:nvSpPr>
        <p:spPr>
          <a:xfrm rot="271128">
            <a:off x="9536050" y="5113336"/>
            <a:ext cx="163487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[TCP </a:t>
            </a:r>
            <a:r>
              <a:rPr lang="en-US" altLang="ko-KR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Retrans</a:t>
            </a:r>
            <a:r>
              <a:rPr lang="en-US" altLang="ko-K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] ACK</a:t>
            </a:r>
            <a:endParaRPr lang="ko-KR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AE17DE7-3AFF-48E8-7CB6-3A019609AFBE}"/>
              </a:ext>
            </a:extLst>
          </p:cNvPr>
          <p:cNvSpPr txBox="1"/>
          <p:nvPr/>
        </p:nvSpPr>
        <p:spPr>
          <a:xfrm>
            <a:off x="8245342" y="4596080"/>
            <a:ext cx="64633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6.000</a:t>
            </a:r>
            <a:endParaRPr lang="ko-KR" altLang="en-US" sz="16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9" name="오른쪽 대괄호 38">
            <a:extLst>
              <a:ext uri="{FF2B5EF4-FFF2-40B4-BE49-F238E27FC236}">
                <a16:creationId xmlns:a16="http://schemas.microsoft.com/office/drawing/2014/main" id="{4E53C7E0-804B-9CC5-5A85-57F69E447684}"/>
              </a:ext>
            </a:extLst>
          </p:cNvPr>
          <p:cNvSpPr/>
          <p:nvPr/>
        </p:nvSpPr>
        <p:spPr>
          <a:xfrm flipH="1">
            <a:off x="8871658" y="4268642"/>
            <a:ext cx="336056" cy="993431"/>
          </a:xfrm>
          <a:prstGeom prst="rightBracket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9E0EF10-1C1C-9F8F-CCD8-F1A3EF950A10}"/>
              </a:ext>
            </a:extLst>
          </p:cNvPr>
          <p:cNvSpPr txBox="1"/>
          <p:nvPr/>
        </p:nvSpPr>
        <p:spPr>
          <a:xfrm>
            <a:off x="315775" y="4934634"/>
            <a:ext cx="7660166" cy="134229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pPr marL="285750" indent="-111125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4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  <a:sym typeface="Wingdings" panose="05000000000000000000" pitchFamily="2" charset="2"/>
              </a:rPr>
              <a:t>SYN </a:t>
            </a:r>
            <a:r>
              <a:rPr lang="ko-KR" altLang="en-US" sz="14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  <a:sym typeface="Wingdings" panose="05000000000000000000" pitchFamily="2" charset="2"/>
              </a:rPr>
              <a:t>패킷에 대한 </a:t>
            </a:r>
            <a:r>
              <a:rPr lang="en-US" altLang="ko-KR" sz="14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  <a:sym typeface="Wingdings" panose="05000000000000000000" pitchFamily="2" charset="2"/>
              </a:rPr>
              <a:t>SYN/ACK </a:t>
            </a:r>
            <a:r>
              <a:rPr lang="ko-KR" altLang="en-US" sz="14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  <a:sym typeface="Wingdings" panose="05000000000000000000" pitchFamily="2" charset="2"/>
              </a:rPr>
              <a:t>응답을 받지 못할 경우 </a:t>
            </a:r>
            <a:endParaRPr lang="en-US" altLang="ko-KR" sz="1400" dirty="0">
              <a:latin typeface="함초롬바탕" panose="02030604000101010101" pitchFamily="18" charset="-127"/>
              <a:ea typeface="함초롬바탕" panose="02030604000101010101" pitchFamily="18" charset="-127"/>
              <a:cs typeface="함초롬바탕" panose="02030604000101010101" pitchFamily="18" charset="-127"/>
              <a:sym typeface="Wingdings" panose="05000000000000000000" pitchFamily="2" charset="2"/>
            </a:endParaRPr>
          </a:p>
          <a:p>
            <a:pPr marL="174625">
              <a:lnSpc>
                <a:spcPct val="150000"/>
              </a:lnSpc>
            </a:pPr>
            <a:r>
              <a:rPr lang="en-US" altLang="ko-KR" sz="14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  <a:sym typeface="Wingdings" panose="05000000000000000000" pitchFamily="2" charset="2"/>
              </a:rPr>
              <a:t>   - </a:t>
            </a:r>
            <a:r>
              <a:rPr lang="ko-KR" altLang="en-US" sz="14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  <a:sym typeface="Wingdings" panose="05000000000000000000" pitchFamily="2" charset="2"/>
              </a:rPr>
              <a:t>클라이언트 측에서 </a:t>
            </a:r>
            <a:r>
              <a:rPr lang="en-US" altLang="ko-KR" sz="14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  <a:sym typeface="Wingdings" panose="05000000000000000000" pitchFamily="2" charset="2"/>
              </a:rPr>
              <a:t>SYN/ACK</a:t>
            </a:r>
            <a:r>
              <a:rPr lang="ko-KR" altLang="en-US" sz="14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  <a:sym typeface="Wingdings" panose="05000000000000000000" pitchFamily="2" charset="2"/>
              </a:rPr>
              <a:t>를 볼 수 없다면 </a:t>
            </a:r>
            <a:r>
              <a:rPr lang="ko-KR" altLang="en-US" sz="1400" dirty="0" err="1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  <a:sym typeface="Wingdings" panose="05000000000000000000" pitchFamily="2" charset="2"/>
              </a:rPr>
              <a:t>서버쪽에서</a:t>
            </a:r>
            <a:r>
              <a:rPr lang="ko-KR" altLang="en-US" sz="14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  <a:sym typeface="Wingdings" panose="05000000000000000000" pitchFamily="2" charset="2"/>
              </a:rPr>
              <a:t> </a:t>
            </a:r>
            <a:r>
              <a:rPr lang="en-US" altLang="ko-KR" sz="14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  <a:sym typeface="Wingdings" panose="05000000000000000000" pitchFamily="2" charset="2"/>
              </a:rPr>
              <a:t>SYN/ACK</a:t>
            </a:r>
            <a:r>
              <a:rPr lang="ko-KR" altLang="en-US" sz="14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  <a:sym typeface="Wingdings" panose="05000000000000000000" pitchFamily="2" charset="2"/>
              </a:rPr>
              <a:t>를 보냈는지를 확인</a:t>
            </a:r>
            <a:endParaRPr lang="en-US" altLang="ko-KR" sz="1400" dirty="0">
              <a:latin typeface="함초롬바탕" panose="02030604000101010101" pitchFamily="18" charset="-127"/>
              <a:ea typeface="함초롬바탕" panose="02030604000101010101" pitchFamily="18" charset="-127"/>
              <a:cs typeface="함초롬바탕" panose="02030604000101010101" pitchFamily="18" charset="-127"/>
              <a:sym typeface="Wingdings" panose="05000000000000000000" pitchFamily="2" charset="2"/>
            </a:endParaRPr>
          </a:p>
          <a:p>
            <a:pPr marL="174625">
              <a:lnSpc>
                <a:spcPct val="150000"/>
              </a:lnSpc>
            </a:pPr>
            <a:r>
              <a:rPr lang="en-US" altLang="ko-KR" sz="14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  <a:sym typeface="Wingdings" panose="05000000000000000000" pitchFamily="2" charset="2"/>
              </a:rPr>
              <a:t>   - SYN/ACK</a:t>
            </a:r>
            <a:r>
              <a:rPr lang="ko-KR" altLang="en-US" sz="14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  <a:sym typeface="Wingdings" panose="05000000000000000000" pitchFamily="2" charset="2"/>
              </a:rPr>
              <a:t>가 </a:t>
            </a:r>
            <a:r>
              <a:rPr lang="ko-KR" altLang="en-US" sz="1400" dirty="0" err="1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  <a:sym typeface="Wingdings" panose="05000000000000000000" pitchFamily="2" charset="2"/>
              </a:rPr>
              <a:t>서버쪽에서</a:t>
            </a:r>
            <a:r>
              <a:rPr lang="ko-KR" altLang="en-US" sz="14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  <a:sym typeface="Wingdings" panose="05000000000000000000" pitchFamily="2" charset="2"/>
              </a:rPr>
              <a:t> 보내졌다면 경로 상 장치들 중에서 패킷을 폐기한 것임</a:t>
            </a:r>
            <a:endParaRPr lang="en-US" altLang="ko-KR" sz="1400" dirty="0">
              <a:latin typeface="함초롬바탕" panose="02030604000101010101" pitchFamily="18" charset="-127"/>
              <a:ea typeface="함초롬바탕" panose="02030604000101010101" pitchFamily="18" charset="-127"/>
              <a:cs typeface="함초롬바탕" panose="02030604000101010101" pitchFamily="18" charset="-127"/>
              <a:sym typeface="Wingdings" panose="05000000000000000000" pitchFamily="2" charset="2"/>
            </a:endParaRPr>
          </a:p>
          <a:p>
            <a:pPr marL="174625">
              <a:lnSpc>
                <a:spcPct val="150000"/>
              </a:lnSpc>
            </a:pPr>
            <a:r>
              <a:rPr lang="en-US" altLang="ko-KR" sz="14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  <a:sym typeface="Wingdings" panose="05000000000000000000" pitchFamily="2" charset="2"/>
              </a:rPr>
              <a:t>   - </a:t>
            </a:r>
            <a:r>
              <a:rPr lang="ko-KR" altLang="en-US" sz="14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  <a:sym typeface="Wingdings" panose="05000000000000000000" pitchFamily="2" charset="2"/>
              </a:rPr>
              <a:t>폐기 지점을 찾을 때까지 캡처 지점을 클라이언트에 가까운 쪽으로 이동하면서 점검 </a:t>
            </a:r>
            <a:endParaRPr lang="ko-KR" altLang="en-US" sz="1400" dirty="0">
              <a:latin typeface="함초롬바탕" panose="02030604000101010101" pitchFamily="18" charset="-127"/>
              <a:ea typeface="함초롬바탕" panose="02030604000101010101" pitchFamily="18" charset="-127"/>
              <a:cs typeface="함초롬바탕" panose="02030604000101010101" pitchFamily="18" charset="-127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9FEE233-4AC3-C4BD-77F8-1CEC09832EDC}"/>
              </a:ext>
            </a:extLst>
          </p:cNvPr>
          <p:cNvSpPr txBox="1"/>
          <p:nvPr/>
        </p:nvSpPr>
        <p:spPr>
          <a:xfrm>
            <a:off x="304506" y="3056446"/>
            <a:ext cx="7660166" cy="166545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pPr marL="285750" indent="-111125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400" b="1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  <a:sym typeface="Wingdings" panose="05000000000000000000" pitchFamily="2" charset="2"/>
              </a:rPr>
              <a:t>서버가 </a:t>
            </a:r>
            <a:r>
              <a:rPr lang="en-US" altLang="ko-KR" sz="1400" b="1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  <a:sym typeface="Wingdings" panose="05000000000000000000" pitchFamily="2" charset="2"/>
              </a:rPr>
              <a:t>TCP</a:t>
            </a:r>
            <a:r>
              <a:rPr lang="ko-KR" altLang="en-US" sz="1400" b="1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  <a:sym typeface="Wingdings" panose="05000000000000000000" pitchFamily="2" charset="2"/>
              </a:rPr>
              <a:t> 연결시도에 응답하지 않는 경우 </a:t>
            </a:r>
            <a:endParaRPr lang="en-US" altLang="ko-KR" sz="1400" b="1" dirty="0">
              <a:latin typeface="함초롬바탕" panose="02030604000101010101" pitchFamily="18" charset="-127"/>
              <a:ea typeface="함초롬바탕" panose="02030604000101010101" pitchFamily="18" charset="-127"/>
              <a:cs typeface="함초롬바탕" panose="02030604000101010101" pitchFamily="18" charset="-127"/>
              <a:sym typeface="Wingdings" panose="05000000000000000000" pitchFamily="2" charset="2"/>
            </a:endParaRPr>
          </a:p>
          <a:p>
            <a:pPr marL="174625">
              <a:lnSpc>
                <a:spcPct val="150000"/>
              </a:lnSpc>
            </a:pPr>
            <a:r>
              <a:rPr lang="en-US" altLang="ko-KR" sz="14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  <a:sym typeface="Wingdings" panose="05000000000000000000" pitchFamily="2" charset="2"/>
              </a:rPr>
              <a:t>   - SYN</a:t>
            </a:r>
            <a:r>
              <a:rPr lang="ko-KR" altLang="en-US" sz="14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  <a:sym typeface="Wingdings" panose="05000000000000000000" pitchFamily="2" charset="2"/>
              </a:rPr>
              <a:t>가 서버에 도착하지 않은 경우</a:t>
            </a:r>
            <a:endParaRPr lang="en-US" altLang="ko-KR" sz="1400" dirty="0">
              <a:latin typeface="함초롬바탕" panose="02030604000101010101" pitchFamily="18" charset="-127"/>
              <a:ea typeface="함초롬바탕" panose="02030604000101010101" pitchFamily="18" charset="-127"/>
              <a:cs typeface="함초롬바탕" panose="02030604000101010101" pitchFamily="18" charset="-127"/>
              <a:sym typeface="Wingdings" panose="05000000000000000000" pitchFamily="2" charset="2"/>
            </a:endParaRPr>
          </a:p>
          <a:p>
            <a:pPr marL="174625">
              <a:lnSpc>
                <a:spcPct val="150000"/>
              </a:lnSpc>
            </a:pPr>
            <a:r>
              <a:rPr lang="en-US" altLang="ko-KR" sz="14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  <a:sym typeface="Wingdings" panose="05000000000000000000" pitchFamily="2" charset="2"/>
              </a:rPr>
              <a:t>   - </a:t>
            </a:r>
            <a:r>
              <a:rPr lang="ko-KR" altLang="en-US" sz="14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  <a:sym typeface="Wingdings" panose="05000000000000000000" pitchFamily="2" charset="2"/>
              </a:rPr>
              <a:t>방화벽이 </a:t>
            </a:r>
            <a:r>
              <a:rPr lang="en-US" altLang="ko-KR" sz="14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  <a:sym typeface="Wingdings" panose="05000000000000000000" pitchFamily="2" charset="2"/>
              </a:rPr>
              <a:t>SYN </a:t>
            </a:r>
            <a:r>
              <a:rPr lang="ko-KR" altLang="en-US" sz="14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  <a:sym typeface="Wingdings" panose="05000000000000000000" pitchFamily="2" charset="2"/>
              </a:rPr>
              <a:t>패킷을 폐기할 경우 </a:t>
            </a:r>
            <a:endParaRPr lang="en-US" altLang="ko-KR" sz="1400" dirty="0">
              <a:latin typeface="함초롬바탕" panose="02030604000101010101" pitchFamily="18" charset="-127"/>
              <a:ea typeface="함초롬바탕" panose="02030604000101010101" pitchFamily="18" charset="-127"/>
              <a:cs typeface="함초롬바탕" panose="02030604000101010101" pitchFamily="18" charset="-127"/>
              <a:sym typeface="Wingdings" panose="05000000000000000000" pitchFamily="2" charset="2"/>
            </a:endParaRPr>
          </a:p>
          <a:p>
            <a:pPr marL="174625">
              <a:lnSpc>
                <a:spcPct val="150000"/>
              </a:lnSpc>
            </a:pPr>
            <a:r>
              <a:rPr lang="en-US" altLang="ko-KR" sz="14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  <a:sym typeface="Wingdings" panose="05000000000000000000" pitchFamily="2" charset="2"/>
              </a:rPr>
              <a:t>   - </a:t>
            </a:r>
            <a:r>
              <a:rPr lang="ko-KR" altLang="en-US" sz="14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  <a:sym typeface="Wingdings" panose="05000000000000000000" pitchFamily="2" charset="2"/>
              </a:rPr>
              <a:t>서버 방화벽이 포트 접근을 차단한 경우 </a:t>
            </a:r>
            <a:endParaRPr lang="en-US" altLang="ko-KR" sz="1400" dirty="0">
              <a:latin typeface="함초롬바탕" panose="02030604000101010101" pitchFamily="18" charset="-127"/>
              <a:ea typeface="함초롬바탕" panose="02030604000101010101" pitchFamily="18" charset="-127"/>
              <a:cs typeface="함초롬바탕" panose="02030604000101010101" pitchFamily="18" charset="-127"/>
              <a:sym typeface="Wingdings" panose="05000000000000000000" pitchFamily="2" charset="2"/>
            </a:endParaRPr>
          </a:p>
          <a:p>
            <a:pPr marL="174625">
              <a:lnSpc>
                <a:spcPct val="150000"/>
              </a:lnSpc>
            </a:pPr>
            <a:r>
              <a:rPr lang="en-US" altLang="ko-KR" sz="14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  <a:sym typeface="Wingdings" panose="05000000000000000000" pitchFamily="2" charset="2"/>
              </a:rPr>
              <a:t>   - SYN/ACK</a:t>
            </a:r>
            <a:r>
              <a:rPr lang="ko-KR" altLang="en-US" sz="14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  <a:sym typeface="Wingdings" panose="05000000000000000000" pitchFamily="2" charset="2"/>
              </a:rPr>
              <a:t> 가</a:t>
            </a:r>
            <a:r>
              <a:rPr lang="en-US" altLang="ko-KR" sz="14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  <a:sym typeface="Wingdings" panose="05000000000000000000" pitchFamily="2" charset="2"/>
              </a:rPr>
              <a:t> </a:t>
            </a:r>
            <a:r>
              <a:rPr lang="ko-KR" altLang="en-US" sz="14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  <a:sym typeface="Wingdings" panose="05000000000000000000" pitchFamily="2" charset="2"/>
              </a:rPr>
              <a:t>클라이언트에 </a:t>
            </a:r>
            <a:r>
              <a:rPr lang="ko-KR" altLang="en-US" sz="1400" dirty="0" err="1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  <a:sym typeface="Wingdings" panose="05000000000000000000" pitchFamily="2" charset="2"/>
              </a:rPr>
              <a:t>도당하지</a:t>
            </a:r>
            <a:r>
              <a:rPr lang="ko-KR" altLang="en-US" sz="14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  <a:sym typeface="Wingdings" panose="05000000000000000000" pitchFamily="2" charset="2"/>
              </a:rPr>
              <a:t> 않은 경우 </a:t>
            </a:r>
            <a:endParaRPr lang="ko-KR" altLang="en-US" sz="1400" dirty="0">
              <a:latin typeface="함초롬바탕" panose="02030604000101010101" pitchFamily="18" charset="-127"/>
              <a:ea typeface="함초롬바탕" panose="02030604000101010101" pitchFamily="18" charset="-127"/>
              <a:cs typeface="함초롬바탕" panose="02030604000101010101" pitchFamily="18" charset="-127"/>
            </a:endParaRPr>
          </a:p>
        </p:txBody>
      </p:sp>
      <p:sp>
        <p:nvSpPr>
          <p:cNvPr id="46" name="제목 1">
            <a:extLst>
              <a:ext uri="{FF2B5EF4-FFF2-40B4-BE49-F238E27FC236}">
                <a16:creationId xmlns:a16="http://schemas.microsoft.com/office/drawing/2014/main" id="{727E2660-DC98-B333-161E-A22575247E3C}"/>
              </a:ext>
            </a:extLst>
          </p:cNvPr>
          <p:cNvSpPr txBox="1">
            <a:spLocks/>
          </p:cNvSpPr>
          <p:nvPr/>
        </p:nvSpPr>
        <p:spPr>
          <a:xfrm>
            <a:off x="98898" y="152762"/>
            <a:ext cx="10515600" cy="701675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sz="3200" b="1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서버 응답 부재 </a:t>
            </a:r>
          </a:p>
        </p:txBody>
      </p:sp>
    </p:spTree>
    <p:extLst>
      <p:ext uri="{BB962C8B-B14F-4D97-AF65-F5344CB8AC3E}">
        <p14:creationId xmlns:p14="http://schemas.microsoft.com/office/powerpoint/2010/main" val="363746847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A3216367-028D-880C-CF03-5214039C59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00E85C-9068-46D2-A14A-A9DCCDE0C986}" type="slidenum">
              <a:rPr lang="ko-KR" altLang="en-US" smtClean="0"/>
              <a:t>32</a:t>
            </a:fld>
            <a:endParaRPr lang="ko-KR" altLang="en-US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BD61C2F1-AA15-4960-F498-075DD2D7C8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54438"/>
            <a:ext cx="12192000" cy="1759415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6B102427-865E-9687-2DD8-EAB356DE00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940963"/>
            <a:ext cx="12192000" cy="1569431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E2015245-AF71-0857-2B46-CBC31DADDD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4989188"/>
            <a:ext cx="12192000" cy="1732287"/>
          </a:xfrm>
          <a:prstGeom prst="rect">
            <a:avLst/>
          </a:prstGeom>
        </p:spPr>
      </p:pic>
      <p:sp>
        <p:nvSpPr>
          <p:cNvPr id="16" name="직사각형 15">
            <a:extLst>
              <a:ext uri="{FF2B5EF4-FFF2-40B4-BE49-F238E27FC236}">
                <a16:creationId xmlns:a16="http://schemas.microsoft.com/office/drawing/2014/main" id="{EEAC4894-2FC6-A0DC-1B06-4559761530F8}"/>
              </a:ext>
            </a:extLst>
          </p:cNvPr>
          <p:cNvSpPr/>
          <p:nvPr/>
        </p:nvSpPr>
        <p:spPr>
          <a:xfrm>
            <a:off x="5729591" y="1896894"/>
            <a:ext cx="4815192" cy="716959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A6017357-69AD-2A49-0B13-44790FF195C7}"/>
              </a:ext>
            </a:extLst>
          </p:cNvPr>
          <p:cNvSpPr/>
          <p:nvPr/>
        </p:nvSpPr>
        <p:spPr>
          <a:xfrm>
            <a:off x="5729591" y="4032833"/>
            <a:ext cx="5321030" cy="477562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18CAFAA9-3D75-7B46-71CC-D19ACC2AB33F}"/>
              </a:ext>
            </a:extLst>
          </p:cNvPr>
          <p:cNvSpPr/>
          <p:nvPr/>
        </p:nvSpPr>
        <p:spPr>
          <a:xfrm>
            <a:off x="5729590" y="6076065"/>
            <a:ext cx="6462409" cy="645409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제목 1">
            <a:extLst>
              <a:ext uri="{FF2B5EF4-FFF2-40B4-BE49-F238E27FC236}">
                <a16:creationId xmlns:a16="http://schemas.microsoft.com/office/drawing/2014/main" id="{186031F9-DA76-8AE9-B4EC-895F36D0F002}"/>
              </a:ext>
            </a:extLst>
          </p:cNvPr>
          <p:cNvSpPr txBox="1">
            <a:spLocks/>
          </p:cNvSpPr>
          <p:nvPr/>
        </p:nvSpPr>
        <p:spPr>
          <a:xfrm>
            <a:off x="98898" y="152762"/>
            <a:ext cx="10515600" cy="701675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sz="3200" b="1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서버 응답 부재 </a:t>
            </a:r>
          </a:p>
        </p:txBody>
      </p:sp>
    </p:spTree>
    <p:extLst>
      <p:ext uri="{BB962C8B-B14F-4D97-AF65-F5344CB8AC3E}">
        <p14:creationId xmlns:p14="http://schemas.microsoft.com/office/powerpoint/2010/main" val="179656954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56650B5C-4113-9C24-7EA5-1246A8CBA4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349902" y="6438741"/>
            <a:ext cx="2743200" cy="365125"/>
          </a:xfrm>
        </p:spPr>
        <p:txBody>
          <a:bodyPr/>
          <a:lstStyle/>
          <a:p>
            <a:fld id="{F100E85C-9068-46D2-A14A-A9DCCDE0C986}" type="slidenum">
              <a:rPr lang="ko-KR" altLang="en-US" smtClean="0"/>
              <a:t>33</a:t>
            </a:fld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D1046543-C340-7071-FB56-A1F3CC535E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728" y="1270856"/>
            <a:ext cx="7845997" cy="2560272"/>
          </a:xfrm>
          <a:prstGeom prst="rect">
            <a:avLst/>
          </a:prstGeom>
        </p:spPr>
      </p:pic>
      <p:sp>
        <p:nvSpPr>
          <p:cNvPr id="9" name="제목 1">
            <a:extLst>
              <a:ext uri="{FF2B5EF4-FFF2-40B4-BE49-F238E27FC236}">
                <a16:creationId xmlns:a16="http://schemas.microsoft.com/office/drawing/2014/main" id="{F76707A9-0B6B-0E65-7D18-CCA12BE68B68}"/>
              </a:ext>
            </a:extLst>
          </p:cNvPr>
          <p:cNvSpPr txBox="1">
            <a:spLocks/>
          </p:cNvSpPr>
          <p:nvPr/>
        </p:nvSpPr>
        <p:spPr>
          <a:xfrm>
            <a:off x="205902" y="462962"/>
            <a:ext cx="10515600" cy="701675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sz="3200" b="1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서비스 요청 무응답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5F4D0F2-59CC-59C5-4E3C-45C285073699}"/>
              </a:ext>
            </a:extLst>
          </p:cNvPr>
          <p:cNvSpPr txBox="1"/>
          <p:nvPr/>
        </p:nvSpPr>
        <p:spPr>
          <a:xfrm>
            <a:off x="239728" y="4458424"/>
            <a:ext cx="7600766" cy="166872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pPr marL="285750" indent="-111125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4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서버의 </a:t>
            </a:r>
            <a:r>
              <a:rPr lang="en-US" altLang="ko-KR" sz="14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HTTP </a:t>
            </a:r>
            <a:r>
              <a:rPr lang="ko-KR" altLang="en-US" sz="14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포트도 열려 있고</a:t>
            </a:r>
            <a:r>
              <a:rPr lang="en-US" altLang="ko-KR" sz="14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, TCP</a:t>
            </a:r>
            <a:r>
              <a:rPr lang="ko-KR" altLang="en-US" sz="14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도 정상적으로 운영이 되고 있으나 </a:t>
            </a:r>
            <a:r>
              <a:rPr lang="en-US" altLang="ko-KR" sz="14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HTTP </a:t>
            </a:r>
            <a:r>
              <a:rPr lang="ko-KR" altLang="en-US" sz="14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데이터</a:t>
            </a:r>
            <a:r>
              <a:rPr lang="en-US" altLang="ko-KR" sz="14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 </a:t>
            </a:r>
            <a:r>
              <a:rPr lang="ko-KR" altLang="en-US" sz="14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전송이 안되고 있음</a:t>
            </a:r>
            <a:endParaRPr lang="en-US" altLang="ko-KR" sz="1400" dirty="0">
              <a:latin typeface="함초롬바탕" panose="02030604000101010101" pitchFamily="18" charset="-127"/>
              <a:ea typeface="함초롬바탕" panose="02030604000101010101" pitchFamily="18" charset="-127"/>
              <a:cs typeface="함초롬바탕" panose="02030604000101010101" pitchFamily="18" charset="-127"/>
            </a:endParaRPr>
          </a:p>
          <a:p>
            <a:pPr marL="285750" indent="-111125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4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동일한 패턴이 </a:t>
            </a:r>
            <a:r>
              <a:rPr lang="ko-KR" altLang="en-US" sz="1400" dirty="0" err="1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스트림별로</a:t>
            </a:r>
            <a:r>
              <a:rPr lang="ko-KR" altLang="en-US" sz="14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 지속적어로 진행되면 네트워크 상의 결합이나 서버의 서비스</a:t>
            </a:r>
            <a:endParaRPr lang="en-US" altLang="ko-KR" sz="1400" dirty="0">
              <a:latin typeface="함초롬바탕" panose="02030604000101010101" pitchFamily="18" charset="-127"/>
              <a:ea typeface="함초롬바탕" panose="02030604000101010101" pitchFamily="18" charset="-127"/>
              <a:cs typeface="함초롬바탕" panose="02030604000101010101" pitchFamily="18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4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     실행의 일회성 문제가 아님</a:t>
            </a:r>
            <a:endParaRPr lang="en-US" altLang="ko-KR" sz="1400" dirty="0">
              <a:latin typeface="함초롬바탕" panose="02030604000101010101" pitchFamily="18" charset="-127"/>
              <a:ea typeface="함초롬바탕" panose="02030604000101010101" pitchFamily="18" charset="-127"/>
              <a:cs typeface="함초롬바탕" panose="02030604000101010101" pitchFamily="18" charset="-127"/>
            </a:endParaRPr>
          </a:p>
          <a:p>
            <a:pPr marL="285750" indent="-111125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4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서버 측 애플리케이션의 문제로 판단 가능  </a:t>
            </a:r>
            <a:r>
              <a:rPr lang="en-US" altLang="ko-KR" sz="14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  <a:sym typeface="Wingdings" panose="05000000000000000000" pitchFamily="2" charset="2"/>
              </a:rPr>
              <a:t> </a:t>
            </a:r>
            <a:r>
              <a:rPr lang="en-US" altLang="ko-KR" sz="1400" dirty="0">
                <a:latin typeface="Times New Roman" panose="02020603050405020304" pitchFamily="18" charset="0"/>
                <a:ea typeface="함초롬바탕" panose="02030604000101010101" pitchFamily="18" charset="-127"/>
                <a:cs typeface="Times New Roman" panose="02020603050405020304" pitchFamily="18" charset="0"/>
                <a:sym typeface="Wingdings" panose="05000000000000000000" pitchFamily="2" charset="2"/>
              </a:rPr>
              <a:t>Application </a:t>
            </a:r>
            <a:r>
              <a:rPr lang="ko-KR" altLang="en-US" sz="14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  <a:sym typeface="Wingdings" panose="05000000000000000000" pitchFamily="2" charset="2"/>
              </a:rPr>
              <a:t>문제로 판단 가능 </a:t>
            </a:r>
            <a:endParaRPr lang="ko-KR" altLang="en-US" sz="1400" dirty="0">
              <a:latin typeface="함초롬바탕" panose="02030604000101010101" pitchFamily="18" charset="-127"/>
              <a:ea typeface="함초롬바탕" panose="02030604000101010101" pitchFamily="18" charset="-127"/>
              <a:cs typeface="함초롬바탕" panose="02030604000101010101" pitchFamily="18" charset="-127"/>
            </a:endParaRPr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32ED7B45-21B4-0B37-9385-AF46730EF593}"/>
              </a:ext>
            </a:extLst>
          </p:cNvPr>
          <p:cNvCxnSpPr>
            <a:cxnSpLocks/>
          </p:cNvCxnSpPr>
          <p:nvPr/>
        </p:nvCxnSpPr>
        <p:spPr>
          <a:xfrm>
            <a:off x="9165318" y="1249843"/>
            <a:ext cx="18636" cy="388287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18331306-F444-28F9-EF72-1836F31E81A1}"/>
              </a:ext>
            </a:extLst>
          </p:cNvPr>
          <p:cNvCxnSpPr>
            <a:cxnSpLocks/>
          </p:cNvCxnSpPr>
          <p:nvPr/>
        </p:nvCxnSpPr>
        <p:spPr>
          <a:xfrm>
            <a:off x="11308931" y="1268166"/>
            <a:ext cx="17230" cy="386455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24">
            <a:extLst>
              <a:ext uri="{FF2B5EF4-FFF2-40B4-BE49-F238E27FC236}">
                <a16:creationId xmlns:a16="http://schemas.microsoft.com/office/drawing/2014/main" id="{742BEBD5-EF79-7D01-0589-14841B087848}"/>
              </a:ext>
            </a:extLst>
          </p:cNvPr>
          <p:cNvSpPr txBox="1"/>
          <p:nvPr/>
        </p:nvSpPr>
        <p:spPr>
          <a:xfrm>
            <a:off x="8363810" y="981968"/>
            <a:ext cx="112723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24.6.173.220</a:t>
            </a:r>
          </a:p>
        </p:txBody>
      </p:sp>
      <p:sp>
        <p:nvSpPr>
          <p:cNvPr id="14" name="TextBox 25">
            <a:extLst>
              <a:ext uri="{FF2B5EF4-FFF2-40B4-BE49-F238E27FC236}">
                <a16:creationId xmlns:a16="http://schemas.microsoft.com/office/drawing/2014/main" id="{CCCD89EE-74DC-E703-AF55-BE1E49BB4723}"/>
              </a:ext>
            </a:extLst>
          </p:cNvPr>
          <p:cNvSpPr txBox="1"/>
          <p:nvPr/>
        </p:nvSpPr>
        <p:spPr>
          <a:xfrm>
            <a:off x="10769098" y="1010748"/>
            <a:ext cx="12170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50.62.146.230</a:t>
            </a:r>
            <a:endParaRPr lang="ko-KR" altLang="en-US" sz="1400" dirty="0">
              <a:latin typeface="함초롬바탕" panose="02030604000101010101" pitchFamily="18" charset="-127"/>
              <a:ea typeface="함초롬바탕" panose="02030604000101010101" pitchFamily="18" charset="-127"/>
              <a:cs typeface="함초롬바탕" panose="02030604000101010101" pitchFamily="18" charset="-127"/>
            </a:endParaRP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C67F6F7E-5467-8EAA-EDD5-4944CC574BF0}"/>
              </a:ext>
            </a:extLst>
          </p:cNvPr>
          <p:cNvCxnSpPr>
            <a:cxnSpLocks/>
          </p:cNvCxnSpPr>
          <p:nvPr/>
        </p:nvCxnSpPr>
        <p:spPr>
          <a:xfrm>
            <a:off x="9154116" y="1426341"/>
            <a:ext cx="2143485" cy="20825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4562D278-1E31-C14E-ED8B-C6033AC20226}"/>
              </a:ext>
            </a:extLst>
          </p:cNvPr>
          <p:cNvSpPr txBox="1"/>
          <p:nvPr/>
        </p:nvSpPr>
        <p:spPr>
          <a:xfrm rot="271128">
            <a:off x="9953989" y="1282435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SYN</a:t>
            </a:r>
            <a:endParaRPr lang="ko-KR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FC73509E-2E89-D484-ED11-1C2ABED3A029}"/>
              </a:ext>
            </a:extLst>
          </p:cNvPr>
          <p:cNvCxnSpPr>
            <a:cxnSpLocks/>
          </p:cNvCxnSpPr>
          <p:nvPr/>
        </p:nvCxnSpPr>
        <p:spPr>
          <a:xfrm flipH="1">
            <a:off x="9160894" y="1829597"/>
            <a:ext cx="2119330" cy="12818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774F457D-E019-EF9E-7D10-470CA73AC964}"/>
              </a:ext>
            </a:extLst>
          </p:cNvPr>
          <p:cNvSpPr txBox="1"/>
          <p:nvPr/>
        </p:nvSpPr>
        <p:spPr>
          <a:xfrm rot="21414474">
            <a:off x="9675031" y="1653034"/>
            <a:ext cx="99257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SYN/ACK</a:t>
            </a:r>
            <a:endParaRPr lang="ko-KR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FC6816CD-50D5-805F-09E4-CF83D68E862B}"/>
              </a:ext>
            </a:extLst>
          </p:cNvPr>
          <p:cNvCxnSpPr>
            <a:cxnSpLocks/>
          </p:cNvCxnSpPr>
          <p:nvPr/>
        </p:nvCxnSpPr>
        <p:spPr>
          <a:xfrm>
            <a:off x="9149564" y="2125508"/>
            <a:ext cx="2143485" cy="20825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663A01FB-68D2-1892-FFDD-B56E7543CB9D}"/>
              </a:ext>
            </a:extLst>
          </p:cNvPr>
          <p:cNvSpPr txBox="1"/>
          <p:nvPr/>
        </p:nvSpPr>
        <p:spPr>
          <a:xfrm rot="271128">
            <a:off x="10007067" y="1978295"/>
            <a:ext cx="58381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ACK</a:t>
            </a:r>
            <a:endParaRPr lang="ko-KR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7305AF17-BD69-4B4C-EE91-4D6C6BCE453F}"/>
              </a:ext>
            </a:extLst>
          </p:cNvPr>
          <p:cNvCxnSpPr>
            <a:cxnSpLocks/>
          </p:cNvCxnSpPr>
          <p:nvPr/>
        </p:nvCxnSpPr>
        <p:spPr>
          <a:xfrm>
            <a:off x="9178530" y="2490390"/>
            <a:ext cx="2143485" cy="20825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BCC5A37A-66FC-6361-FEBA-C022DF3CD590}"/>
              </a:ext>
            </a:extLst>
          </p:cNvPr>
          <p:cNvSpPr txBox="1"/>
          <p:nvPr/>
        </p:nvSpPr>
        <p:spPr>
          <a:xfrm rot="271128">
            <a:off x="9730952" y="2306095"/>
            <a:ext cx="101797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HTTP GET</a:t>
            </a:r>
            <a:endParaRPr lang="ko-KR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DA7BE446-6FEF-CDAD-CD07-AD25281B9F87}"/>
              </a:ext>
            </a:extLst>
          </p:cNvPr>
          <p:cNvCxnSpPr/>
          <p:nvPr/>
        </p:nvCxnSpPr>
        <p:spPr>
          <a:xfrm flipH="1">
            <a:off x="9179662" y="2832130"/>
            <a:ext cx="2132155" cy="19455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EAB6A8D6-2AD7-6B60-D0BE-9A499EB0C42D}"/>
              </a:ext>
            </a:extLst>
          </p:cNvPr>
          <p:cNvSpPr txBox="1"/>
          <p:nvPr/>
        </p:nvSpPr>
        <p:spPr>
          <a:xfrm rot="21307504">
            <a:off x="9951198" y="2678242"/>
            <a:ext cx="58381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400" b="1" dirty="0">
                <a:solidFill>
                  <a:srgbClr val="00B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ACK</a:t>
            </a:r>
            <a:endParaRPr lang="ko-KR" altLang="en-US" sz="1400" b="1" dirty="0">
              <a:solidFill>
                <a:srgbClr val="00B05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B6897CF4-2A60-E266-5F08-BAC5C1257048}"/>
              </a:ext>
            </a:extLst>
          </p:cNvPr>
          <p:cNvCxnSpPr>
            <a:cxnSpLocks/>
          </p:cNvCxnSpPr>
          <p:nvPr/>
        </p:nvCxnSpPr>
        <p:spPr>
          <a:xfrm>
            <a:off x="9177336" y="3571020"/>
            <a:ext cx="2143485" cy="20825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오른쪽 대괄호 37">
            <a:extLst>
              <a:ext uri="{FF2B5EF4-FFF2-40B4-BE49-F238E27FC236}">
                <a16:creationId xmlns:a16="http://schemas.microsoft.com/office/drawing/2014/main" id="{F230B6C0-0620-50D1-359B-87B2B600F1E9}"/>
              </a:ext>
            </a:extLst>
          </p:cNvPr>
          <p:cNvSpPr/>
          <p:nvPr/>
        </p:nvSpPr>
        <p:spPr>
          <a:xfrm flipH="1">
            <a:off x="8927425" y="3010270"/>
            <a:ext cx="245487" cy="544170"/>
          </a:xfrm>
          <a:prstGeom prst="rightBracket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5BAC7B8-33F8-851C-DEF9-C1DD7AC53D49}"/>
              </a:ext>
            </a:extLst>
          </p:cNvPr>
          <p:cNvSpPr txBox="1"/>
          <p:nvPr/>
        </p:nvSpPr>
        <p:spPr>
          <a:xfrm>
            <a:off x="8261227" y="3075918"/>
            <a:ext cx="64633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7.631</a:t>
            </a:r>
            <a:endParaRPr lang="ko-KR" altLang="en-US" sz="16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B90638F-294C-6E48-3428-7EDDC5DB023E}"/>
              </a:ext>
            </a:extLst>
          </p:cNvPr>
          <p:cNvSpPr txBox="1"/>
          <p:nvPr/>
        </p:nvSpPr>
        <p:spPr>
          <a:xfrm rot="271128">
            <a:off x="9978835" y="3371981"/>
            <a:ext cx="49404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FIN</a:t>
            </a:r>
            <a:endParaRPr lang="ko-KR" altLang="en-US" sz="14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3885E37D-323E-501F-1E2F-182AD91FDD64}"/>
              </a:ext>
            </a:extLst>
          </p:cNvPr>
          <p:cNvCxnSpPr>
            <a:cxnSpLocks/>
          </p:cNvCxnSpPr>
          <p:nvPr/>
        </p:nvCxnSpPr>
        <p:spPr>
          <a:xfrm flipH="1">
            <a:off x="9184924" y="3917561"/>
            <a:ext cx="2119330" cy="12818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21A8060B-42E5-2F87-9846-BBE6B164584D}"/>
              </a:ext>
            </a:extLst>
          </p:cNvPr>
          <p:cNvSpPr txBox="1"/>
          <p:nvPr/>
        </p:nvSpPr>
        <p:spPr>
          <a:xfrm rot="21307504">
            <a:off x="9624723" y="3761234"/>
            <a:ext cx="58381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400" b="1" dirty="0">
                <a:solidFill>
                  <a:srgbClr val="00B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ACK</a:t>
            </a:r>
            <a:endParaRPr lang="ko-KR" altLang="en-US" sz="1400" b="1" dirty="0">
              <a:solidFill>
                <a:srgbClr val="00B05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5" name="오른쪽 대괄호 44">
            <a:extLst>
              <a:ext uri="{FF2B5EF4-FFF2-40B4-BE49-F238E27FC236}">
                <a16:creationId xmlns:a16="http://schemas.microsoft.com/office/drawing/2014/main" id="{6535B39D-C61D-9906-CFA9-32FD3A58C723}"/>
              </a:ext>
            </a:extLst>
          </p:cNvPr>
          <p:cNvSpPr/>
          <p:nvPr/>
        </p:nvSpPr>
        <p:spPr>
          <a:xfrm flipH="1">
            <a:off x="8936804" y="4051526"/>
            <a:ext cx="236107" cy="630766"/>
          </a:xfrm>
          <a:prstGeom prst="rightBracket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9590E70-B931-94CE-F62F-854A4CCBF7CB}"/>
              </a:ext>
            </a:extLst>
          </p:cNvPr>
          <p:cNvSpPr txBox="1"/>
          <p:nvPr/>
        </p:nvSpPr>
        <p:spPr>
          <a:xfrm>
            <a:off x="8082657" y="4055959"/>
            <a:ext cx="84016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119.995</a:t>
            </a:r>
            <a:endParaRPr lang="ko-KR" altLang="en-US" sz="16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E5F63996-2BBC-F984-3511-4AAAAD8FE546}"/>
              </a:ext>
            </a:extLst>
          </p:cNvPr>
          <p:cNvCxnSpPr>
            <a:cxnSpLocks/>
          </p:cNvCxnSpPr>
          <p:nvPr/>
        </p:nvCxnSpPr>
        <p:spPr>
          <a:xfrm>
            <a:off x="9157505" y="4678026"/>
            <a:ext cx="2143485" cy="20825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70CC9A57-063F-A4B7-EF8F-C125BA529C16}"/>
              </a:ext>
            </a:extLst>
          </p:cNvPr>
          <p:cNvSpPr txBox="1"/>
          <p:nvPr/>
        </p:nvSpPr>
        <p:spPr>
          <a:xfrm rot="271128">
            <a:off x="9938967" y="4478987"/>
            <a:ext cx="53412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RST</a:t>
            </a:r>
            <a:endParaRPr lang="ko-KR" altLang="en-US" sz="14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527672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56650B5C-4113-9C24-7EA5-1246A8CBA4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349902" y="6438741"/>
            <a:ext cx="2743200" cy="365125"/>
          </a:xfrm>
        </p:spPr>
        <p:txBody>
          <a:bodyPr/>
          <a:lstStyle/>
          <a:p>
            <a:fld id="{F100E85C-9068-46D2-A14A-A9DCCDE0C986}" type="slidenum">
              <a:rPr lang="ko-KR" altLang="en-US" smtClean="0"/>
              <a:t>34</a:t>
            </a:fld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D1046543-C340-7071-FB56-A1F3CC535E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91001"/>
            <a:ext cx="12192000" cy="2737999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12BB7406-1E4A-A3CE-95D7-7CA66E0CC0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282109"/>
            <a:ext cx="12192000" cy="2575891"/>
          </a:xfrm>
          <a:prstGeom prst="rect">
            <a:avLst/>
          </a:prstGeom>
        </p:spPr>
      </p:pic>
      <p:sp>
        <p:nvSpPr>
          <p:cNvPr id="9" name="제목 1">
            <a:extLst>
              <a:ext uri="{FF2B5EF4-FFF2-40B4-BE49-F238E27FC236}">
                <a16:creationId xmlns:a16="http://schemas.microsoft.com/office/drawing/2014/main" id="{F76707A9-0B6B-0E65-7D18-CCA12BE68B68}"/>
              </a:ext>
            </a:extLst>
          </p:cNvPr>
          <p:cNvSpPr txBox="1">
            <a:spLocks/>
          </p:cNvSpPr>
          <p:nvPr/>
        </p:nvSpPr>
        <p:spPr>
          <a:xfrm>
            <a:off x="98898" y="152762"/>
            <a:ext cx="10515600" cy="701675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sz="3200" b="1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서비스 요청 무응답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5F4D0F2-59CC-59C5-4E3C-45C285073699}"/>
              </a:ext>
            </a:extLst>
          </p:cNvPr>
          <p:cNvSpPr txBox="1"/>
          <p:nvPr/>
        </p:nvSpPr>
        <p:spPr>
          <a:xfrm>
            <a:off x="621617" y="3581644"/>
            <a:ext cx="955421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서버의 </a:t>
            </a:r>
            <a:r>
              <a:rPr lang="en-US" altLang="ko-KR" sz="16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HTTP </a:t>
            </a:r>
            <a:r>
              <a:rPr lang="ko-KR" altLang="en-US" sz="16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포트도 열려 있고</a:t>
            </a:r>
            <a:r>
              <a:rPr lang="en-US" altLang="ko-KR" sz="16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, TCP</a:t>
            </a:r>
            <a:r>
              <a:rPr lang="ko-KR" altLang="en-US" sz="16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도 정상적으로 운영이 되고 있으나 </a:t>
            </a:r>
            <a:r>
              <a:rPr lang="en-US" altLang="ko-KR" sz="16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HTTP </a:t>
            </a:r>
            <a:r>
              <a:rPr lang="ko-KR" altLang="en-US" sz="16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데이터</a:t>
            </a:r>
            <a:r>
              <a:rPr lang="en-US" altLang="ko-KR" sz="16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 </a:t>
            </a:r>
            <a:r>
              <a:rPr lang="ko-KR" altLang="en-US" sz="16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전송이 안되고 있음 </a:t>
            </a:r>
            <a:endParaRPr lang="en-US" altLang="ko-KR" sz="1600" dirty="0">
              <a:latin typeface="함초롬바탕" panose="02030604000101010101" pitchFamily="18" charset="-127"/>
              <a:ea typeface="함초롬바탕" panose="02030604000101010101" pitchFamily="18" charset="-127"/>
              <a:cs typeface="함초롬바탕" panose="02030604000101010101" pitchFamily="18" charset="-127"/>
            </a:endParaRPr>
          </a:p>
          <a:p>
            <a:pPr marL="285750" indent="-285750">
              <a:buFont typeface="Wingdings" panose="05000000000000000000" pitchFamily="2" charset="2"/>
              <a:buChar char="è"/>
            </a:pPr>
            <a:r>
              <a:rPr lang="en-US" altLang="ko-KR" sz="1600" dirty="0">
                <a:latin typeface="Times New Roman" panose="02020603050405020304" pitchFamily="18" charset="0"/>
                <a:ea typeface="함초롬바탕" panose="02030604000101010101" pitchFamily="18" charset="-127"/>
                <a:cs typeface="Times New Roman" panose="02020603050405020304" pitchFamily="18" charset="0"/>
                <a:sym typeface="Wingdings" panose="05000000000000000000" pitchFamily="2" charset="2"/>
              </a:rPr>
              <a:t>Application </a:t>
            </a:r>
            <a:r>
              <a:rPr lang="ko-KR" altLang="en-US" sz="16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  <a:sym typeface="Wingdings" panose="05000000000000000000" pitchFamily="2" charset="2"/>
              </a:rPr>
              <a:t>문제로 판단 가능 </a:t>
            </a:r>
            <a:endParaRPr lang="ko-KR" altLang="en-US" sz="1600" dirty="0">
              <a:latin typeface="함초롬바탕" panose="02030604000101010101" pitchFamily="18" charset="-127"/>
              <a:ea typeface="함초롬바탕" panose="02030604000101010101" pitchFamily="18" charset="-127"/>
              <a:cs typeface="함초롬바탕" panose="02030604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8163984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AEA8501C-8E9F-891A-63CB-F383C980A1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00E85C-9068-46D2-A14A-A9DCCDE0C986}" type="slidenum">
              <a:rPr lang="ko-KR" altLang="en-US" smtClean="0"/>
              <a:t>35</a:t>
            </a:fld>
            <a:endParaRPr lang="ko-KR" altLang="en-US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0C72CC93-E8F5-2348-935A-7BA09E4F665A}"/>
              </a:ext>
            </a:extLst>
          </p:cNvPr>
          <p:cNvSpPr txBox="1">
            <a:spLocks/>
          </p:cNvSpPr>
          <p:nvPr/>
        </p:nvSpPr>
        <p:spPr>
          <a:xfrm>
            <a:off x="838200" y="1764308"/>
            <a:ext cx="10515600" cy="701675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ko-KR" altLang="en-US" sz="3200" b="1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높은 지연의 근원지 탐색 </a:t>
            </a:r>
          </a:p>
        </p:txBody>
      </p:sp>
    </p:spTree>
    <p:extLst>
      <p:ext uri="{BB962C8B-B14F-4D97-AF65-F5344CB8AC3E}">
        <p14:creationId xmlns:p14="http://schemas.microsoft.com/office/powerpoint/2010/main" val="310581092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8200" y="549950"/>
            <a:ext cx="10515600" cy="701675"/>
          </a:xfrm>
        </p:spPr>
        <p:txBody>
          <a:bodyPr>
            <a:normAutofit/>
          </a:bodyPr>
          <a:lstStyle/>
          <a:p>
            <a:r>
              <a:rPr lang="ko-KR" altLang="en-US" sz="3200" b="1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높은 지연의 근원지 탐색 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44739" y="1566451"/>
            <a:ext cx="10722429" cy="5043261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ko-KR" altLang="en-US" sz="18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패킷 손실이 지연을 야기하지 않을 수 있음 </a:t>
            </a:r>
            <a:endParaRPr lang="en-US" altLang="ko-KR" sz="1800" dirty="0">
              <a:latin typeface="함초롬바탕" panose="02030604000101010101" pitchFamily="18" charset="-127"/>
              <a:ea typeface="함초롬바탕" panose="02030604000101010101" pitchFamily="18" charset="-127"/>
              <a:cs typeface="함초롬바탕" panose="02030604000101010101" pitchFamily="18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8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두 호스트 간 통신이 느린 경우에도 </a:t>
            </a:r>
            <a:r>
              <a:rPr lang="en-US" altLang="ko-KR" sz="1800" dirty="0">
                <a:latin typeface="Times New Roman" panose="02020603050405020304" pitchFamily="18" charset="0"/>
                <a:ea typeface="함초롬바탕" panose="02030604000101010101" pitchFamily="18" charset="-127"/>
                <a:cs typeface="Times New Roman" panose="02020603050405020304" pitchFamily="18" charset="0"/>
              </a:rPr>
              <a:t>TCP</a:t>
            </a:r>
            <a:r>
              <a:rPr lang="en-US" altLang="ko-KR" sz="18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 </a:t>
            </a:r>
            <a:r>
              <a:rPr lang="ko-KR" altLang="en-US" sz="18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재전송이나 중복 </a:t>
            </a:r>
            <a:r>
              <a:rPr lang="en-US" altLang="ko-KR" sz="1800" dirty="0">
                <a:latin typeface="Times New Roman" panose="02020603050405020304" pitchFamily="18" charset="0"/>
                <a:ea typeface="함초롬바탕" panose="02030604000101010101" pitchFamily="18" charset="-127"/>
                <a:cs typeface="Times New Roman" panose="02020603050405020304" pitchFamily="18" charset="0"/>
              </a:rPr>
              <a:t>ACK</a:t>
            </a:r>
            <a:r>
              <a:rPr lang="ko-KR" altLang="en-US" sz="1800" dirty="0">
                <a:latin typeface="Times New Roman" panose="02020603050405020304" pitchFamily="18" charset="0"/>
                <a:ea typeface="함초롬바탕" panose="02030604000101010101" pitchFamily="18" charset="-127"/>
                <a:cs typeface="Times New Roman" panose="02020603050405020304" pitchFamily="18" charset="0"/>
              </a:rPr>
              <a:t> </a:t>
            </a:r>
            <a:r>
              <a:rPr lang="ko-KR" altLang="en-US" sz="18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증상이 없을 수 있음</a:t>
            </a:r>
            <a:endParaRPr lang="en-US" altLang="ko-KR" sz="1800" dirty="0">
              <a:latin typeface="함초롬바탕" panose="02030604000101010101" pitchFamily="18" charset="-127"/>
              <a:ea typeface="함초롬바탕" panose="02030604000101010101" pitchFamily="18" charset="-127"/>
              <a:cs typeface="함초롬바탕" panose="02030604000101010101" pitchFamily="18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8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높은 지연의 근원지를 찾기 위한 가장 효과적인 방법 </a:t>
            </a:r>
            <a:endParaRPr lang="en-US" altLang="ko-KR" sz="1800" dirty="0">
              <a:latin typeface="함초롬바탕" panose="02030604000101010101" pitchFamily="18" charset="-127"/>
              <a:ea typeface="함초롬바탕" panose="02030604000101010101" pitchFamily="18" charset="-127"/>
              <a:cs typeface="함초롬바탕" panose="02030604000101010101" pitchFamily="18" charset="-127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18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    - </a:t>
            </a:r>
            <a:r>
              <a:rPr lang="ko-KR" altLang="en-US" sz="18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초기의 </a:t>
            </a:r>
            <a:r>
              <a:rPr lang="en-US" altLang="ko-KR" sz="1800" dirty="0">
                <a:latin typeface="Times New Roman" panose="02020603050405020304" pitchFamily="18" charset="0"/>
                <a:ea typeface="함초롬바탕" panose="02030604000101010101" pitchFamily="18" charset="-127"/>
                <a:cs typeface="Times New Roman" panose="02020603050405020304" pitchFamily="18" charset="0"/>
              </a:rPr>
              <a:t>3WHS</a:t>
            </a:r>
            <a:r>
              <a:rPr lang="ko-KR" altLang="en-US" sz="18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와 이후 과정에서 최초의 패킷 쌍을 찾는 것</a:t>
            </a:r>
            <a:endParaRPr lang="en-US" altLang="ko-KR" sz="1800" dirty="0">
              <a:latin typeface="함초롬바탕" panose="02030604000101010101" pitchFamily="18" charset="-127"/>
              <a:ea typeface="함초롬바탕" panose="02030604000101010101" pitchFamily="18" charset="-127"/>
              <a:cs typeface="함초롬바탕" panose="02030604000101010101" pitchFamily="18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800" b="1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높은 지연 상황과 비교를 위해 정상적인 통신에 대한 기준이 필요  </a:t>
            </a:r>
            <a:endParaRPr lang="en-US" altLang="ko-KR" sz="1800" b="1" dirty="0">
              <a:latin typeface="함초롬바탕" panose="02030604000101010101" pitchFamily="18" charset="-127"/>
              <a:ea typeface="함초롬바탕" panose="02030604000101010101" pitchFamily="18" charset="-127"/>
              <a:cs typeface="함초롬바탕" panose="02030604000101010101" pitchFamily="18" charset="-127"/>
            </a:endParaRPr>
          </a:p>
          <a:p>
            <a:pPr marL="0" indent="0">
              <a:lnSpc>
                <a:spcPct val="150000"/>
              </a:lnSpc>
              <a:buNone/>
            </a:pPr>
            <a:endParaRPr lang="ko-KR" altLang="en-US" sz="1800" dirty="0">
              <a:latin typeface="함초롬바탕" panose="02030604000101010101" pitchFamily="18" charset="-127"/>
              <a:ea typeface="함초롬바탕" panose="02030604000101010101" pitchFamily="18" charset="-127"/>
              <a:cs typeface="함초롬바탕" panose="02030604000101010101" pitchFamily="18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00E85C-9068-46D2-A14A-A9DCCDE0C986}" type="slidenum">
              <a:rPr lang="ko-KR" altLang="en-US" smtClean="0"/>
              <a:t>36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5889236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9DA06BCA-9173-A75D-0439-2C31B43F64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222817" y="6386079"/>
            <a:ext cx="2743200" cy="365125"/>
          </a:xfrm>
        </p:spPr>
        <p:txBody>
          <a:bodyPr/>
          <a:lstStyle/>
          <a:p>
            <a:pPr algn="l"/>
            <a:fld id="{F100E85C-9068-46D2-A14A-A9DCCDE0C986}" type="slidenum">
              <a:rPr lang="ko-KR" altLang="en-US" smtClean="0"/>
              <a:pPr algn="l"/>
              <a:t>37</a:t>
            </a:fld>
            <a:endParaRPr lang="ko-KR" altLang="en-US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1FB6641-0C1A-19EB-53EA-4EB7C3587776}"/>
              </a:ext>
            </a:extLst>
          </p:cNvPr>
          <p:cNvSpPr txBox="1">
            <a:spLocks/>
          </p:cNvSpPr>
          <p:nvPr/>
        </p:nvSpPr>
        <p:spPr>
          <a:xfrm>
            <a:off x="502288" y="457396"/>
            <a:ext cx="10515600" cy="701675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sz="2600" b="1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❶ 정상적인 통신 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62C18A0-3A4D-114B-68BA-01A388838CB6}"/>
              </a:ext>
            </a:extLst>
          </p:cNvPr>
          <p:cNvSpPr txBox="1"/>
          <p:nvPr/>
        </p:nvSpPr>
        <p:spPr>
          <a:xfrm>
            <a:off x="502288" y="4616622"/>
            <a:ext cx="5423280" cy="338554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ko-KR" altLang="en-US" sz="1600" b="1" dirty="0">
                <a:latin typeface="Times New Roman" panose="02020603050405020304" pitchFamily="18" charset="0"/>
                <a:ea typeface="함초롬바탕" panose="02030604000101010101" pitchFamily="18" charset="-127"/>
                <a:cs typeface="Times New Roman" panose="02020603050405020304" pitchFamily="18" charset="0"/>
              </a:rPr>
              <a:t>전체 프로세스가 </a:t>
            </a:r>
            <a:r>
              <a:rPr lang="en-US" altLang="ko-KR" sz="1600" b="1" dirty="0">
                <a:latin typeface="Times New Roman" panose="02020603050405020304" pitchFamily="18" charset="0"/>
                <a:ea typeface="함초롬바탕" panose="02030604000101010101" pitchFamily="18" charset="-127"/>
                <a:cs typeface="Times New Roman" panose="02020603050405020304" pitchFamily="18" charset="0"/>
              </a:rPr>
              <a:t>0.1</a:t>
            </a:r>
            <a:r>
              <a:rPr lang="ko-KR" altLang="en-US" sz="1600" b="1" dirty="0">
                <a:latin typeface="Times New Roman" panose="02020603050405020304" pitchFamily="18" charset="0"/>
                <a:ea typeface="함초롬바탕" panose="02030604000101010101" pitchFamily="18" charset="-127"/>
                <a:cs typeface="Times New Roman" panose="02020603050405020304" pitchFamily="18" charset="0"/>
              </a:rPr>
              <a:t>초가 채 걸리지 않을 정도로 속도가 빠름 </a:t>
            </a:r>
            <a:endParaRPr lang="ko-KR" altLang="en-US" sz="1600" b="1" dirty="0">
              <a:latin typeface="함초롬바탕" panose="02030604000101010101" pitchFamily="18" charset="-127"/>
              <a:ea typeface="함초롬바탕" panose="02030604000101010101" pitchFamily="18" charset="-127"/>
              <a:cs typeface="함초롬바탕" panose="02030604000101010101" pitchFamily="18" charset="-127"/>
            </a:endParaRP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2F945731-BBA7-2E35-9FC0-22BD43CCA3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987" y="1494909"/>
            <a:ext cx="11820025" cy="2649169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E7A67E88-4EAD-DF1B-EDE9-19B140BAEE83}"/>
              </a:ext>
            </a:extLst>
          </p:cNvPr>
          <p:cNvSpPr txBox="1"/>
          <p:nvPr/>
        </p:nvSpPr>
        <p:spPr>
          <a:xfrm>
            <a:off x="4603262" y="808233"/>
            <a:ext cx="7402750" cy="458074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View &gt; Time Display Format &gt; Second since Previous Displayed Packet </a:t>
            </a:r>
            <a:endParaRPr lang="ko-KR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BAD176AC-4903-B681-AF7A-7FA65E8DF405}"/>
              </a:ext>
            </a:extLst>
          </p:cNvPr>
          <p:cNvSpPr/>
          <p:nvPr/>
        </p:nvSpPr>
        <p:spPr>
          <a:xfrm>
            <a:off x="650835" y="2786884"/>
            <a:ext cx="837498" cy="1357193"/>
          </a:xfrm>
          <a:prstGeom prst="rect">
            <a:avLst/>
          </a:prstGeom>
          <a:noFill/>
          <a:ln w="28575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6F2ADDEB-DA83-E875-CBAA-87C174F7ED6A}"/>
              </a:ext>
            </a:extLst>
          </p:cNvPr>
          <p:cNvCxnSpPr/>
          <p:nvPr/>
        </p:nvCxnSpPr>
        <p:spPr>
          <a:xfrm>
            <a:off x="1313234" y="4144077"/>
            <a:ext cx="107004" cy="4725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4246668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그림 14">
            <a:extLst>
              <a:ext uri="{FF2B5EF4-FFF2-40B4-BE49-F238E27FC236}">
                <a16:creationId xmlns:a16="http://schemas.microsoft.com/office/drawing/2014/main" id="{DFECCB9B-9F4C-5029-5488-A1ED47B4E6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7190" y="870496"/>
            <a:ext cx="11775018" cy="2677066"/>
          </a:xfrm>
          <a:prstGeom prst="rect">
            <a:avLst/>
          </a:prstGeom>
        </p:spPr>
      </p:pic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9DA06BCA-9173-A75D-0439-2C31B43F64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222817" y="6386079"/>
            <a:ext cx="2743200" cy="365125"/>
          </a:xfrm>
        </p:spPr>
        <p:txBody>
          <a:bodyPr/>
          <a:lstStyle/>
          <a:p>
            <a:pPr algn="l"/>
            <a:fld id="{F100E85C-9068-46D2-A14A-A9DCCDE0C986}" type="slidenum">
              <a:rPr lang="ko-KR" altLang="en-US" smtClean="0"/>
              <a:pPr algn="l"/>
              <a:t>38</a:t>
            </a:fld>
            <a:endParaRPr lang="ko-KR" altLang="en-US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1FB6641-0C1A-19EB-53EA-4EB7C3587776}"/>
              </a:ext>
            </a:extLst>
          </p:cNvPr>
          <p:cNvSpPr txBox="1">
            <a:spLocks/>
          </p:cNvSpPr>
          <p:nvPr/>
        </p:nvSpPr>
        <p:spPr>
          <a:xfrm>
            <a:off x="327190" y="308511"/>
            <a:ext cx="10515600" cy="701675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sz="2600" b="1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❷ 속도가 느린 통신</a:t>
            </a:r>
            <a:r>
              <a:rPr lang="en-US" altLang="ko-KR" sz="2600" b="1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(</a:t>
            </a:r>
            <a:r>
              <a:rPr lang="ko-KR" altLang="en-US" sz="2600" b="1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호스트 간의 유선 지연</a:t>
            </a:r>
            <a:r>
              <a:rPr lang="en-US" altLang="ko-KR" sz="2600" b="1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) </a:t>
            </a:r>
            <a:endParaRPr lang="ko-KR" altLang="en-US" sz="2600" b="1" dirty="0">
              <a:latin typeface="함초롬바탕" panose="02030604000101010101" pitchFamily="18" charset="-127"/>
              <a:ea typeface="함초롬바탕" panose="02030604000101010101" pitchFamily="18" charset="-127"/>
              <a:cs typeface="함초롬바탕" panose="02030604000101010101" pitchFamily="18" charset="-127"/>
            </a:endParaRP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AA04EBE3-BE80-1B0C-D23D-894CAE7B3B40}"/>
              </a:ext>
            </a:extLst>
          </p:cNvPr>
          <p:cNvCxnSpPr>
            <a:cxnSpLocks/>
          </p:cNvCxnSpPr>
          <p:nvPr/>
        </p:nvCxnSpPr>
        <p:spPr>
          <a:xfrm>
            <a:off x="7938211" y="4135915"/>
            <a:ext cx="10263" cy="257073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A388AA7E-DACF-A5FF-7AF4-145F37588FBC}"/>
              </a:ext>
            </a:extLst>
          </p:cNvPr>
          <p:cNvCxnSpPr>
            <a:cxnSpLocks/>
          </p:cNvCxnSpPr>
          <p:nvPr/>
        </p:nvCxnSpPr>
        <p:spPr>
          <a:xfrm flipH="1">
            <a:off x="10069585" y="4113731"/>
            <a:ext cx="2384" cy="246394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24">
            <a:extLst>
              <a:ext uri="{FF2B5EF4-FFF2-40B4-BE49-F238E27FC236}">
                <a16:creationId xmlns:a16="http://schemas.microsoft.com/office/drawing/2014/main" id="{8874FE2D-0137-3663-5A37-6F11BE4B723B}"/>
              </a:ext>
            </a:extLst>
          </p:cNvPr>
          <p:cNvSpPr txBox="1"/>
          <p:nvPr/>
        </p:nvSpPr>
        <p:spPr>
          <a:xfrm>
            <a:off x="6981382" y="3828138"/>
            <a:ext cx="12170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172.16.16.128</a:t>
            </a:r>
          </a:p>
        </p:txBody>
      </p:sp>
      <p:sp>
        <p:nvSpPr>
          <p:cNvPr id="9" name="TextBox 25">
            <a:extLst>
              <a:ext uri="{FF2B5EF4-FFF2-40B4-BE49-F238E27FC236}">
                <a16:creationId xmlns:a16="http://schemas.microsoft.com/office/drawing/2014/main" id="{8D1916C6-0C19-8F34-0C09-753212066306}"/>
              </a:ext>
            </a:extLst>
          </p:cNvPr>
          <p:cNvSpPr txBox="1"/>
          <p:nvPr/>
        </p:nvSpPr>
        <p:spPr>
          <a:xfrm>
            <a:off x="9543584" y="3867747"/>
            <a:ext cx="12170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74.125.95.104</a:t>
            </a:r>
            <a:endParaRPr lang="ko-KR" altLang="en-US" sz="1400" dirty="0">
              <a:latin typeface="함초롬바탕" panose="02030604000101010101" pitchFamily="18" charset="-127"/>
              <a:ea typeface="함초롬바탕" panose="02030604000101010101" pitchFamily="18" charset="-127"/>
              <a:cs typeface="함초롬바탕" panose="02030604000101010101" pitchFamily="18" charset="-127"/>
            </a:endParaRPr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C2BF8DD5-15BB-1A51-040C-7DC9FAF3B6D9}"/>
              </a:ext>
            </a:extLst>
          </p:cNvPr>
          <p:cNvCxnSpPr>
            <a:cxnSpLocks/>
          </p:cNvCxnSpPr>
          <p:nvPr/>
        </p:nvCxnSpPr>
        <p:spPr>
          <a:xfrm>
            <a:off x="7917154" y="4271906"/>
            <a:ext cx="2143485" cy="20825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CF3F4F1A-76BA-D5B7-87FA-412883EB6C09}"/>
              </a:ext>
            </a:extLst>
          </p:cNvPr>
          <p:cNvSpPr txBox="1"/>
          <p:nvPr/>
        </p:nvSpPr>
        <p:spPr>
          <a:xfrm rot="271128">
            <a:off x="8717027" y="4128000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SYN</a:t>
            </a:r>
            <a:endParaRPr lang="ko-KR" altLang="en-US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C0CED432-675B-D774-BCB6-0576797F34F5}"/>
              </a:ext>
            </a:extLst>
          </p:cNvPr>
          <p:cNvCxnSpPr/>
          <p:nvPr/>
        </p:nvCxnSpPr>
        <p:spPr>
          <a:xfrm flipH="1">
            <a:off x="7928484" y="4944721"/>
            <a:ext cx="2132155" cy="19455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BF580D85-64A9-1E7F-64E8-6AC42AD8E466}"/>
              </a:ext>
            </a:extLst>
          </p:cNvPr>
          <p:cNvSpPr txBox="1"/>
          <p:nvPr/>
        </p:nvSpPr>
        <p:spPr>
          <a:xfrm rot="21307504">
            <a:off x="8437536" y="4733813"/>
            <a:ext cx="99257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SYN/ACK</a:t>
            </a:r>
            <a:endParaRPr lang="ko-KR" altLang="en-US" sz="14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374D52C0-A950-52A8-63B3-33714AE580ED}"/>
              </a:ext>
            </a:extLst>
          </p:cNvPr>
          <p:cNvCxnSpPr>
            <a:cxnSpLocks/>
          </p:cNvCxnSpPr>
          <p:nvPr/>
        </p:nvCxnSpPr>
        <p:spPr>
          <a:xfrm>
            <a:off x="7958202" y="5277765"/>
            <a:ext cx="2143485" cy="20825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BAD176AC-4903-B681-AF7A-7FA65E8DF405}"/>
              </a:ext>
            </a:extLst>
          </p:cNvPr>
          <p:cNvSpPr/>
          <p:nvPr/>
        </p:nvSpPr>
        <p:spPr>
          <a:xfrm>
            <a:off x="746284" y="2411070"/>
            <a:ext cx="837498" cy="155643"/>
          </a:xfrm>
          <a:prstGeom prst="rect">
            <a:avLst/>
          </a:prstGeom>
          <a:noFill/>
          <a:ln w="28575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BE736D96-7198-D32F-4CBD-91DE220EA93B}"/>
              </a:ext>
            </a:extLst>
          </p:cNvPr>
          <p:cNvSpPr/>
          <p:nvPr/>
        </p:nvSpPr>
        <p:spPr>
          <a:xfrm>
            <a:off x="756919" y="3113469"/>
            <a:ext cx="837498" cy="155643"/>
          </a:xfrm>
          <a:prstGeom prst="rect">
            <a:avLst/>
          </a:prstGeom>
          <a:noFill/>
          <a:ln w="28575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오른쪽 대괄호 30">
            <a:extLst>
              <a:ext uri="{FF2B5EF4-FFF2-40B4-BE49-F238E27FC236}">
                <a16:creationId xmlns:a16="http://schemas.microsoft.com/office/drawing/2014/main" id="{3E477E52-5349-FBAB-1833-775E5B1797C8}"/>
              </a:ext>
            </a:extLst>
          </p:cNvPr>
          <p:cNvSpPr/>
          <p:nvPr/>
        </p:nvSpPr>
        <p:spPr>
          <a:xfrm>
            <a:off x="10091424" y="4480160"/>
            <a:ext cx="261219" cy="446172"/>
          </a:xfrm>
          <a:prstGeom prst="rightBracket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800BE42-B484-FFB7-2702-33102485A3C5}"/>
              </a:ext>
            </a:extLst>
          </p:cNvPr>
          <p:cNvSpPr txBox="1"/>
          <p:nvPr/>
        </p:nvSpPr>
        <p:spPr>
          <a:xfrm rot="271128">
            <a:off x="8746982" y="5110963"/>
            <a:ext cx="58381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ACK</a:t>
            </a:r>
            <a:endParaRPr lang="ko-KR" altLang="en-US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3" name="직선 화살표 연결선 32">
            <a:extLst>
              <a:ext uri="{FF2B5EF4-FFF2-40B4-BE49-F238E27FC236}">
                <a16:creationId xmlns:a16="http://schemas.microsoft.com/office/drawing/2014/main" id="{7434A582-0E4B-C7E2-FBCB-4FA5D9FFFC19}"/>
              </a:ext>
            </a:extLst>
          </p:cNvPr>
          <p:cNvCxnSpPr>
            <a:cxnSpLocks/>
          </p:cNvCxnSpPr>
          <p:nvPr/>
        </p:nvCxnSpPr>
        <p:spPr>
          <a:xfrm>
            <a:off x="7947939" y="5579751"/>
            <a:ext cx="2143485" cy="20825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F8429A72-9320-875C-FB71-3D6B9A2E256A}"/>
              </a:ext>
            </a:extLst>
          </p:cNvPr>
          <p:cNvSpPr txBox="1"/>
          <p:nvPr/>
        </p:nvSpPr>
        <p:spPr>
          <a:xfrm rot="271128">
            <a:off x="8444648" y="5423179"/>
            <a:ext cx="10885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HTTP GET</a:t>
            </a:r>
            <a:endParaRPr lang="ko-KR" altLang="en-US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027C105C-7E58-A6ED-0F5A-E197D398AC90}"/>
              </a:ext>
            </a:extLst>
          </p:cNvPr>
          <p:cNvCxnSpPr/>
          <p:nvPr/>
        </p:nvCxnSpPr>
        <p:spPr>
          <a:xfrm flipH="1">
            <a:off x="7917975" y="6164706"/>
            <a:ext cx="2132155" cy="19455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오른쪽 대괄호 36">
            <a:extLst>
              <a:ext uri="{FF2B5EF4-FFF2-40B4-BE49-F238E27FC236}">
                <a16:creationId xmlns:a16="http://schemas.microsoft.com/office/drawing/2014/main" id="{D559FE4D-A96F-6F67-75F0-AE0267B27C9F}"/>
              </a:ext>
            </a:extLst>
          </p:cNvPr>
          <p:cNvSpPr/>
          <p:nvPr/>
        </p:nvSpPr>
        <p:spPr>
          <a:xfrm>
            <a:off x="10080094" y="5773358"/>
            <a:ext cx="267781" cy="391348"/>
          </a:xfrm>
          <a:prstGeom prst="rightBracket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77CD88F-146C-B974-BDE2-23C302BC8AB4}"/>
              </a:ext>
            </a:extLst>
          </p:cNvPr>
          <p:cNvSpPr txBox="1"/>
          <p:nvPr/>
        </p:nvSpPr>
        <p:spPr>
          <a:xfrm rot="21307504">
            <a:off x="8762475" y="5971281"/>
            <a:ext cx="58381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ACK</a:t>
            </a:r>
            <a:endParaRPr lang="ko-KR" altLang="en-US" sz="14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32C1BBA-6B8F-DAA5-6A09-967DC19CBC88}"/>
              </a:ext>
            </a:extLst>
          </p:cNvPr>
          <p:cNvSpPr txBox="1"/>
          <p:nvPr/>
        </p:nvSpPr>
        <p:spPr>
          <a:xfrm>
            <a:off x="10372098" y="4522917"/>
            <a:ext cx="64633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0.878</a:t>
            </a:r>
            <a:endParaRPr lang="ko-KR" altLang="en-US" sz="16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0690C79-2B14-19BD-9CB5-BE51EE8197A4}"/>
              </a:ext>
            </a:extLst>
          </p:cNvPr>
          <p:cNvSpPr txBox="1"/>
          <p:nvPr/>
        </p:nvSpPr>
        <p:spPr>
          <a:xfrm>
            <a:off x="10372098" y="5826152"/>
            <a:ext cx="64633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1.155</a:t>
            </a:r>
            <a:endParaRPr lang="ko-KR" altLang="en-US" sz="16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1" name="직선 연결선 40">
            <a:extLst>
              <a:ext uri="{FF2B5EF4-FFF2-40B4-BE49-F238E27FC236}">
                <a16:creationId xmlns:a16="http://schemas.microsoft.com/office/drawing/2014/main" id="{94A3117A-8940-3CBC-21E2-860EDA4555D8}"/>
              </a:ext>
            </a:extLst>
          </p:cNvPr>
          <p:cNvCxnSpPr>
            <a:cxnSpLocks/>
          </p:cNvCxnSpPr>
          <p:nvPr/>
        </p:nvCxnSpPr>
        <p:spPr>
          <a:xfrm>
            <a:off x="2340441" y="4095408"/>
            <a:ext cx="10263" cy="257073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직선 연결선 41">
            <a:extLst>
              <a:ext uri="{FF2B5EF4-FFF2-40B4-BE49-F238E27FC236}">
                <a16:creationId xmlns:a16="http://schemas.microsoft.com/office/drawing/2014/main" id="{73EB9D5E-3B1D-615C-E87D-71A8F3501F87}"/>
              </a:ext>
            </a:extLst>
          </p:cNvPr>
          <p:cNvCxnSpPr>
            <a:cxnSpLocks/>
          </p:cNvCxnSpPr>
          <p:nvPr/>
        </p:nvCxnSpPr>
        <p:spPr>
          <a:xfrm flipH="1">
            <a:off x="4481670" y="4113731"/>
            <a:ext cx="2384" cy="246394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24">
            <a:extLst>
              <a:ext uri="{FF2B5EF4-FFF2-40B4-BE49-F238E27FC236}">
                <a16:creationId xmlns:a16="http://schemas.microsoft.com/office/drawing/2014/main" id="{0A1CA7CD-D6E5-3BDB-DA37-D5E3659F9518}"/>
              </a:ext>
            </a:extLst>
          </p:cNvPr>
          <p:cNvSpPr txBox="1"/>
          <p:nvPr/>
        </p:nvSpPr>
        <p:spPr>
          <a:xfrm>
            <a:off x="1393467" y="3828138"/>
            <a:ext cx="12170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172.16.16.128</a:t>
            </a:r>
          </a:p>
        </p:txBody>
      </p:sp>
      <p:sp>
        <p:nvSpPr>
          <p:cNvPr id="44" name="TextBox 25">
            <a:extLst>
              <a:ext uri="{FF2B5EF4-FFF2-40B4-BE49-F238E27FC236}">
                <a16:creationId xmlns:a16="http://schemas.microsoft.com/office/drawing/2014/main" id="{6D5F7433-6062-C095-E725-B2AD979EA4A5}"/>
              </a:ext>
            </a:extLst>
          </p:cNvPr>
          <p:cNvSpPr txBox="1"/>
          <p:nvPr/>
        </p:nvSpPr>
        <p:spPr>
          <a:xfrm>
            <a:off x="3944221" y="3856313"/>
            <a:ext cx="12170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74.125.95.104</a:t>
            </a:r>
            <a:endParaRPr lang="ko-KR" altLang="en-US" sz="1400" dirty="0">
              <a:latin typeface="함초롬바탕" panose="02030604000101010101" pitchFamily="18" charset="-127"/>
              <a:ea typeface="함초롬바탕" panose="02030604000101010101" pitchFamily="18" charset="-127"/>
              <a:cs typeface="함초롬바탕" panose="02030604000101010101" pitchFamily="18" charset="-127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3961D692-C228-7FA4-C4D4-2A2B183BABBE}"/>
              </a:ext>
            </a:extLst>
          </p:cNvPr>
          <p:cNvCxnSpPr>
            <a:cxnSpLocks/>
          </p:cNvCxnSpPr>
          <p:nvPr/>
        </p:nvCxnSpPr>
        <p:spPr>
          <a:xfrm>
            <a:off x="2329239" y="4271906"/>
            <a:ext cx="2143485" cy="20825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D0E1BB12-349E-5FC6-32BF-7BF4AA589B7B}"/>
              </a:ext>
            </a:extLst>
          </p:cNvPr>
          <p:cNvSpPr txBox="1"/>
          <p:nvPr/>
        </p:nvSpPr>
        <p:spPr>
          <a:xfrm rot="271128">
            <a:off x="3129112" y="4128000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SYN</a:t>
            </a:r>
            <a:endParaRPr lang="ko-KR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DF70BF87-9984-F212-A27F-956430870D44}"/>
              </a:ext>
            </a:extLst>
          </p:cNvPr>
          <p:cNvCxnSpPr/>
          <p:nvPr/>
        </p:nvCxnSpPr>
        <p:spPr>
          <a:xfrm flipH="1">
            <a:off x="2330060" y="4767279"/>
            <a:ext cx="2132155" cy="19455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4E2C52C4-800C-7E82-40C5-FFF45F4D44D2}"/>
              </a:ext>
            </a:extLst>
          </p:cNvPr>
          <p:cNvSpPr txBox="1"/>
          <p:nvPr/>
        </p:nvSpPr>
        <p:spPr>
          <a:xfrm rot="21307504">
            <a:off x="2870736" y="4549034"/>
            <a:ext cx="992579" cy="307777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SYN/ACK</a:t>
            </a:r>
            <a:endParaRPr lang="ko-KR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9" name="직선 화살표 연결선 48">
            <a:extLst>
              <a:ext uri="{FF2B5EF4-FFF2-40B4-BE49-F238E27FC236}">
                <a16:creationId xmlns:a16="http://schemas.microsoft.com/office/drawing/2014/main" id="{F0CB80C3-96B0-1B76-0775-70CEE0295EB0}"/>
              </a:ext>
            </a:extLst>
          </p:cNvPr>
          <p:cNvCxnSpPr>
            <a:cxnSpLocks/>
          </p:cNvCxnSpPr>
          <p:nvPr/>
        </p:nvCxnSpPr>
        <p:spPr>
          <a:xfrm>
            <a:off x="2330966" y="5111351"/>
            <a:ext cx="2143485" cy="20825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오른쪽 대괄호 49">
            <a:extLst>
              <a:ext uri="{FF2B5EF4-FFF2-40B4-BE49-F238E27FC236}">
                <a16:creationId xmlns:a16="http://schemas.microsoft.com/office/drawing/2014/main" id="{297113DA-3425-3DD2-F8FC-8D7597E99086}"/>
              </a:ext>
            </a:extLst>
          </p:cNvPr>
          <p:cNvSpPr/>
          <p:nvPr/>
        </p:nvSpPr>
        <p:spPr>
          <a:xfrm>
            <a:off x="4503509" y="4480160"/>
            <a:ext cx="272549" cy="301849"/>
          </a:xfrm>
          <a:prstGeom prst="rightBracket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C842100-1008-4C08-ECC6-8F1129F9804D}"/>
              </a:ext>
            </a:extLst>
          </p:cNvPr>
          <p:cNvSpPr txBox="1"/>
          <p:nvPr/>
        </p:nvSpPr>
        <p:spPr>
          <a:xfrm rot="271128">
            <a:off x="3186741" y="4973559"/>
            <a:ext cx="58381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ACK</a:t>
            </a:r>
            <a:endParaRPr lang="ko-KR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52" name="직선 화살표 연결선 51">
            <a:extLst>
              <a:ext uri="{FF2B5EF4-FFF2-40B4-BE49-F238E27FC236}">
                <a16:creationId xmlns:a16="http://schemas.microsoft.com/office/drawing/2014/main" id="{F73BDEA9-73C7-206A-1BC6-8665265BB280}"/>
              </a:ext>
            </a:extLst>
          </p:cNvPr>
          <p:cNvCxnSpPr>
            <a:cxnSpLocks/>
          </p:cNvCxnSpPr>
          <p:nvPr/>
        </p:nvCxnSpPr>
        <p:spPr>
          <a:xfrm>
            <a:off x="2347885" y="5335591"/>
            <a:ext cx="2143485" cy="20825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C94F5B73-DAA1-9B83-CB93-037547713437}"/>
              </a:ext>
            </a:extLst>
          </p:cNvPr>
          <p:cNvSpPr txBox="1"/>
          <p:nvPr/>
        </p:nvSpPr>
        <p:spPr>
          <a:xfrm rot="271128">
            <a:off x="2940222" y="5208040"/>
            <a:ext cx="101797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HTTP GET</a:t>
            </a:r>
            <a:endParaRPr lang="ko-KR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F55D19E0-23DB-03B3-31AA-5EDE2A7DB4A3}"/>
              </a:ext>
            </a:extLst>
          </p:cNvPr>
          <p:cNvCxnSpPr/>
          <p:nvPr/>
        </p:nvCxnSpPr>
        <p:spPr>
          <a:xfrm flipH="1">
            <a:off x="2358190" y="5811816"/>
            <a:ext cx="2132155" cy="19455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오른쪽 대괄호 54">
            <a:extLst>
              <a:ext uri="{FF2B5EF4-FFF2-40B4-BE49-F238E27FC236}">
                <a16:creationId xmlns:a16="http://schemas.microsoft.com/office/drawing/2014/main" id="{FE5F9B56-2AF6-F0C6-C2C5-AECB8FBF428A}"/>
              </a:ext>
            </a:extLst>
          </p:cNvPr>
          <p:cNvSpPr/>
          <p:nvPr/>
        </p:nvSpPr>
        <p:spPr>
          <a:xfrm>
            <a:off x="4488578" y="5533067"/>
            <a:ext cx="247403" cy="287930"/>
          </a:xfrm>
          <a:prstGeom prst="rightBracket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5A4BAC91-615B-9E80-C569-02B920917F9D}"/>
              </a:ext>
            </a:extLst>
          </p:cNvPr>
          <p:cNvSpPr txBox="1"/>
          <p:nvPr/>
        </p:nvSpPr>
        <p:spPr>
          <a:xfrm rot="21307504">
            <a:off x="3204128" y="5626620"/>
            <a:ext cx="583814" cy="307777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ACK</a:t>
            </a:r>
            <a:endParaRPr lang="ko-KR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DE11771-9AE5-E6FB-F4D3-8761A3F7A24D}"/>
              </a:ext>
            </a:extLst>
          </p:cNvPr>
          <p:cNvSpPr txBox="1"/>
          <p:nvPr/>
        </p:nvSpPr>
        <p:spPr>
          <a:xfrm>
            <a:off x="4784183" y="4522917"/>
            <a:ext cx="64633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0.030</a:t>
            </a:r>
            <a:endParaRPr lang="ko-KR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567C06E-4141-465B-2850-727C77C63667}"/>
              </a:ext>
            </a:extLst>
          </p:cNvPr>
          <p:cNvSpPr txBox="1"/>
          <p:nvPr/>
        </p:nvSpPr>
        <p:spPr>
          <a:xfrm>
            <a:off x="4817799" y="5664651"/>
            <a:ext cx="64633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0.048</a:t>
            </a:r>
            <a:endParaRPr lang="ko-KR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44ECCCC-7BCE-E50E-A1A0-6CAA3475B78A}"/>
              </a:ext>
            </a:extLst>
          </p:cNvPr>
          <p:cNvSpPr txBox="1"/>
          <p:nvPr/>
        </p:nvSpPr>
        <p:spPr>
          <a:xfrm>
            <a:off x="4513772" y="6305082"/>
            <a:ext cx="103425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[</a:t>
            </a:r>
            <a:r>
              <a:rPr lang="ko-KR" altLang="en-US" sz="16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정상 시</a:t>
            </a:r>
            <a:r>
              <a:rPr lang="en-US" altLang="ko-KR" sz="16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] </a:t>
            </a:r>
            <a:endParaRPr lang="ko-KR" altLang="en-US" sz="1600" dirty="0">
              <a:latin typeface="함초롬바탕" panose="02030604000101010101" pitchFamily="18" charset="-127"/>
              <a:ea typeface="함초롬바탕" panose="02030604000101010101" pitchFamily="18" charset="-127"/>
              <a:cs typeface="함초롬바탕" panose="02030604000101010101" pitchFamily="18" charset="-127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31B98C7-A3EA-304D-6628-818034EA8025}"/>
              </a:ext>
            </a:extLst>
          </p:cNvPr>
          <p:cNvSpPr txBox="1"/>
          <p:nvPr/>
        </p:nvSpPr>
        <p:spPr>
          <a:xfrm>
            <a:off x="10067185" y="6333045"/>
            <a:ext cx="149271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[</a:t>
            </a:r>
            <a:r>
              <a:rPr lang="ko-KR" altLang="en-US" sz="16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지연 발생 시</a:t>
            </a:r>
            <a:r>
              <a:rPr lang="en-US" altLang="ko-KR" sz="16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] </a:t>
            </a:r>
            <a:endParaRPr lang="ko-KR" altLang="en-US" sz="1600" dirty="0">
              <a:latin typeface="함초롬바탕" panose="02030604000101010101" pitchFamily="18" charset="-127"/>
              <a:ea typeface="함초롬바탕" panose="02030604000101010101" pitchFamily="18" charset="-127"/>
              <a:cs typeface="함초롬바탕" panose="02030604000101010101" pitchFamily="18" charset="-127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FF94565D-CA4F-ED6B-B641-3901351E565B}"/>
              </a:ext>
            </a:extLst>
          </p:cNvPr>
          <p:cNvSpPr txBox="1"/>
          <p:nvPr/>
        </p:nvSpPr>
        <p:spPr>
          <a:xfrm>
            <a:off x="2178238" y="1541351"/>
            <a:ext cx="3531736" cy="338554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ko-KR" altLang="en-US" sz="1600" b="1" dirty="0">
                <a:latin typeface="Times New Roman" panose="02020603050405020304" pitchFamily="18" charset="0"/>
                <a:ea typeface="함초롬바탕" panose="02030604000101010101" pitchFamily="18" charset="-127"/>
                <a:cs typeface="Times New Roman" panose="02020603050405020304" pitchFamily="18" charset="0"/>
              </a:rPr>
              <a:t>패킷 </a:t>
            </a:r>
            <a:r>
              <a:rPr lang="en-US" altLang="ko-KR" sz="1600" b="1" dirty="0">
                <a:latin typeface="Times New Roman" panose="02020603050405020304" pitchFamily="18" charset="0"/>
                <a:ea typeface="함초롬바탕" panose="02030604000101010101" pitchFamily="18" charset="-127"/>
                <a:cs typeface="Times New Roman" panose="02020603050405020304" pitchFamily="18" charset="0"/>
              </a:rPr>
              <a:t>2</a:t>
            </a:r>
            <a:r>
              <a:rPr lang="ko-KR" altLang="en-US" sz="1600" b="1" dirty="0">
                <a:latin typeface="Times New Roman" panose="02020603050405020304" pitchFamily="18" charset="0"/>
                <a:ea typeface="함초롬바탕" panose="02030604000101010101" pitchFamily="18" charset="-127"/>
                <a:cs typeface="Times New Roman" panose="02020603050405020304" pitchFamily="18" charset="0"/>
              </a:rPr>
              <a:t>와 </a:t>
            </a:r>
            <a:r>
              <a:rPr lang="en-US" altLang="ko-KR" sz="1600" b="1" dirty="0">
                <a:latin typeface="Times New Roman" panose="02020603050405020304" pitchFamily="18" charset="0"/>
                <a:ea typeface="함초롬바탕" panose="02030604000101010101" pitchFamily="18" charset="-127"/>
                <a:cs typeface="Times New Roman" panose="02020603050405020304" pitchFamily="18" charset="0"/>
              </a:rPr>
              <a:t>5</a:t>
            </a:r>
            <a:r>
              <a:rPr lang="ko-KR" altLang="en-US" sz="1600" b="1" dirty="0">
                <a:latin typeface="Times New Roman" panose="02020603050405020304" pitchFamily="18" charset="0"/>
                <a:ea typeface="함초롬바탕" panose="02030604000101010101" pitchFamily="18" charset="-127"/>
                <a:cs typeface="Times New Roman" panose="02020603050405020304" pitchFamily="18" charset="0"/>
              </a:rPr>
              <a:t>는 높은 지연 시간을 보여줌 </a:t>
            </a:r>
            <a:endParaRPr lang="ko-KR" altLang="en-US" sz="1600" b="1" dirty="0">
              <a:latin typeface="함초롬바탕" panose="02030604000101010101" pitchFamily="18" charset="-127"/>
              <a:ea typeface="함초롬바탕" panose="02030604000101010101" pitchFamily="18" charset="-127"/>
              <a:cs typeface="함초롬바탕" panose="02030604000101010101" pitchFamily="18" charset="-127"/>
            </a:endParaRPr>
          </a:p>
        </p:txBody>
      </p:sp>
      <p:cxnSp>
        <p:nvCxnSpPr>
          <p:cNvPr id="64" name="직선 화살표 연결선 63">
            <a:extLst>
              <a:ext uri="{FF2B5EF4-FFF2-40B4-BE49-F238E27FC236}">
                <a16:creationId xmlns:a16="http://schemas.microsoft.com/office/drawing/2014/main" id="{D6DC12BE-3222-97BE-63F3-E6BE7050AD6D}"/>
              </a:ext>
            </a:extLst>
          </p:cNvPr>
          <p:cNvCxnSpPr/>
          <p:nvPr/>
        </p:nvCxnSpPr>
        <p:spPr>
          <a:xfrm flipH="1">
            <a:off x="1594417" y="1892550"/>
            <a:ext cx="594306" cy="49197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직선 화살표 연결선 65">
            <a:extLst>
              <a:ext uri="{FF2B5EF4-FFF2-40B4-BE49-F238E27FC236}">
                <a16:creationId xmlns:a16="http://schemas.microsoft.com/office/drawing/2014/main" id="{94E0F7B7-6569-2AD7-EE98-FD16EA53991C}"/>
              </a:ext>
            </a:extLst>
          </p:cNvPr>
          <p:cNvCxnSpPr/>
          <p:nvPr/>
        </p:nvCxnSpPr>
        <p:spPr>
          <a:xfrm flipH="1">
            <a:off x="1583782" y="1879905"/>
            <a:ext cx="766173" cy="123356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오른쪽 대괄호 67">
            <a:extLst>
              <a:ext uri="{FF2B5EF4-FFF2-40B4-BE49-F238E27FC236}">
                <a16:creationId xmlns:a16="http://schemas.microsoft.com/office/drawing/2014/main" id="{CC8BA465-733D-D40D-67CB-E631D24ED97E}"/>
              </a:ext>
            </a:extLst>
          </p:cNvPr>
          <p:cNvSpPr/>
          <p:nvPr/>
        </p:nvSpPr>
        <p:spPr>
          <a:xfrm flipH="1">
            <a:off x="2120030" y="4971810"/>
            <a:ext cx="237891" cy="111366"/>
          </a:xfrm>
          <a:prstGeom prst="rightBracket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0" name="오른쪽 대괄호 69">
            <a:extLst>
              <a:ext uri="{FF2B5EF4-FFF2-40B4-BE49-F238E27FC236}">
                <a16:creationId xmlns:a16="http://schemas.microsoft.com/office/drawing/2014/main" id="{1FF7C8EC-4248-3B0D-DF8A-3904363457E5}"/>
              </a:ext>
            </a:extLst>
          </p:cNvPr>
          <p:cNvSpPr/>
          <p:nvPr/>
        </p:nvSpPr>
        <p:spPr>
          <a:xfrm flipH="1">
            <a:off x="2109994" y="5137585"/>
            <a:ext cx="237891" cy="111366"/>
          </a:xfrm>
          <a:prstGeom prst="rightBracket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6949149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그림 28">
            <a:extLst>
              <a:ext uri="{FF2B5EF4-FFF2-40B4-BE49-F238E27FC236}">
                <a16:creationId xmlns:a16="http://schemas.microsoft.com/office/drawing/2014/main" id="{D0AB57CE-4CCA-4BFC-BB4F-B292D75E62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3172" y="1248046"/>
            <a:ext cx="7727656" cy="2302154"/>
          </a:xfrm>
          <a:prstGeom prst="rect">
            <a:avLst/>
          </a:prstGeom>
        </p:spPr>
      </p:pic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BD33D76-EC6E-8C13-DF3A-3846DF9D0F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04444" y="6405876"/>
            <a:ext cx="2743200" cy="365125"/>
          </a:xfrm>
        </p:spPr>
        <p:txBody>
          <a:bodyPr/>
          <a:lstStyle/>
          <a:p>
            <a:pPr algn="l"/>
            <a:fld id="{7B2209E9-2AE8-42A0-AB53-D13299BB30AF}" type="slidenum">
              <a:rPr lang="ko-KR" altLang="en-US" smtClean="0"/>
              <a:pPr algn="l"/>
              <a:t>39</a:t>
            </a:fld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8C3834-B353-90D3-D329-78A7D8AA2EBD}"/>
              </a:ext>
            </a:extLst>
          </p:cNvPr>
          <p:cNvSpPr/>
          <p:nvPr/>
        </p:nvSpPr>
        <p:spPr>
          <a:xfrm>
            <a:off x="2524988" y="2768598"/>
            <a:ext cx="957704" cy="340956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내용 개체 틀 5">
            <a:extLst>
              <a:ext uri="{FF2B5EF4-FFF2-40B4-BE49-F238E27FC236}">
                <a16:creationId xmlns:a16="http://schemas.microsoft.com/office/drawing/2014/main" id="{B58DF0CB-2D3E-20FF-FA22-F91429593BE3}"/>
              </a:ext>
            </a:extLst>
          </p:cNvPr>
          <p:cNvSpPr txBox="1">
            <a:spLocks/>
          </p:cNvSpPr>
          <p:nvPr/>
        </p:nvSpPr>
        <p:spPr>
          <a:xfrm>
            <a:off x="6238506" y="465142"/>
            <a:ext cx="4896114" cy="793010"/>
          </a:xfrm>
          <a:prstGeom prst="rect">
            <a:avLst/>
          </a:prstGeom>
          <a:solidFill>
            <a:schemeClr val="accent4"/>
          </a:solidFill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141288">
              <a:lnSpc>
                <a:spcPct val="100000"/>
              </a:lnSpc>
            </a:pPr>
            <a:r>
              <a:rPr lang="en-US" altLang="ko-KR" sz="1500" b="1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 </a:t>
            </a:r>
            <a:r>
              <a:rPr lang="en-US" altLang="ko-KR" sz="1500" b="1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ACK</a:t>
            </a:r>
            <a:r>
              <a:rPr lang="ko-KR" altLang="en-US" sz="1500" b="1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에서 </a:t>
            </a:r>
            <a:r>
              <a:rPr lang="en-US" altLang="ko-KR" sz="1500" b="1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GET</a:t>
            </a:r>
            <a:r>
              <a:rPr lang="ko-KR" altLang="en-US" sz="1500" b="1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으로 전환이 신속하게 이뤄지지 않음</a:t>
            </a:r>
            <a:endParaRPr lang="en-US" altLang="ko-KR" sz="1500" b="1" dirty="0">
              <a:latin typeface="함초롬바탕" panose="02030504000101010101" pitchFamily="18" charset="-127"/>
              <a:ea typeface="함초롬바탕" panose="02030504000101010101" pitchFamily="18" charset="-127"/>
              <a:cs typeface="함초롬바탕" panose="02030504000101010101" pitchFamily="18" charset="-127"/>
            </a:endParaRPr>
          </a:p>
          <a:p>
            <a:pPr indent="-141288">
              <a:lnSpc>
                <a:spcPct val="100000"/>
              </a:lnSpc>
            </a:pPr>
            <a:r>
              <a:rPr lang="en-US" altLang="ko-KR" sz="1500" b="1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 GET</a:t>
            </a:r>
            <a:r>
              <a:rPr lang="ko-KR" altLang="en-US" sz="1500" b="1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패킷의 생성과 전송은 응용계층까지의 처리가 필요 </a:t>
            </a:r>
          </a:p>
        </p:txBody>
      </p:sp>
      <p:sp>
        <p:nvSpPr>
          <p:cNvPr id="30" name="제목 1">
            <a:extLst>
              <a:ext uri="{FF2B5EF4-FFF2-40B4-BE49-F238E27FC236}">
                <a16:creationId xmlns:a16="http://schemas.microsoft.com/office/drawing/2014/main" id="{D3A446E5-96F9-3FC7-DD99-028E3D0BE11F}"/>
              </a:ext>
            </a:extLst>
          </p:cNvPr>
          <p:cNvSpPr txBox="1">
            <a:spLocks/>
          </p:cNvSpPr>
          <p:nvPr/>
        </p:nvSpPr>
        <p:spPr>
          <a:xfrm>
            <a:off x="482833" y="552295"/>
            <a:ext cx="10515600" cy="701675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sz="2600" b="1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❸ 속도가 느린 통신</a:t>
            </a:r>
            <a:r>
              <a:rPr lang="en-US" altLang="ko-KR" sz="2600" b="1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(</a:t>
            </a:r>
            <a:r>
              <a:rPr lang="ko-KR" altLang="en-US" sz="2600" b="1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클라이언트 지연</a:t>
            </a:r>
            <a:r>
              <a:rPr lang="en-US" altLang="ko-KR" sz="2600" b="1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) </a:t>
            </a:r>
            <a:endParaRPr lang="ko-KR" altLang="en-US" sz="2600" b="1" dirty="0">
              <a:latin typeface="함초롬바탕" panose="02030604000101010101" pitchFamily="18" charset="-127"/>
              <a:ea typeface="함초롬바탕" panose="02030604000101010101" pitchFamily="18" charset="-127"/>
              <a:cs typeface="함초롬바탕" panose="02030604000101010101" pitchFamily="18" charset="-127"/>
            </a:endParaRPr>
          </a:p>
        </p:txBody>
      </p:sp>
      <p:cxnSp>
        <p:nvCxnSpPr>
          <p:cNvPr id="55" name="직선 연결선 54">
            <a:extLst>
              <a:ext uri="{FF2B5EF4-FFF2-40B4-BE49-F238E27FC236}">
                <a16:creationId xmlns:a16="http://schemas.microsoft.com/office/drawing/2014/main" id="{F4D347EB-CC87-1CDC-C332-6814C1E89D8D}"/>
              </a:ext>
            </a:extLst>
          </p:cNvPr>
          <p:cNvCxnSpPr>
            <a:cxnSpLocks/>
          </p:cNvCxnSpPr>
          <p:nvPr/>
        </p:nvCxnSpPr>
        <p:spPr>
          <a:xfrm>
            <a:off x="7412766" y="4112275"/>
            <a:ext cx="10263" cy="257073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167AFED1-7750-665B-C04E-71434F78059A}"/>
              </a:ext>
            </a:extLst>
          </p:cNvPr>
          <p:cNvCxnSpPr>
            <a:cxnSpLocks/>
          </p:cNvCxnSpPr>
          <p:nvPr/>
        </p:nvCxnSpPr>
        <p:spPr>
          <a:xfrm flipH="1">
            <a:off x="9553995" y="4130598"/>
            <a:ext cx="2384" cy="246394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Box 24">
            <a:extLst>
              <a:ext uri="{FF2B5EF4-FFF2-40B4-BE49-F238E27FC236}">
                <a16:creationId xmlns:a16="http://schemas.microsoft.com/office/drawing/2014/main" id="{52606130-A9A7-B70D-B5DE-0AE10659AC4E}"/>
              </a:ext>
            </a:extLst>
          </p:cNvPr>
          <p:cNvSpPr txBox="1"/>
          <p:nvPr/>
        </p:nvSpPr>
        <p:spPr>
          <a:xfrm>
            <a:off x="6465792" y="3845005"/>
            <a:ext cx="12170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172.16.16.128</a:t>
            </a:r>
          </a:p>
        </p:txBody>
      </p:sp>
      <p:sp>
        <p:nvSpPr>
          <p:cNvPr id="58" name="TextBox 25">
            <a:extLst>
              <a:ext uri="{FF2B5EF4-FFF2-40B4-BE49-F238E27FC236}">
                <a16:creationId xmlns:a16="http://schemas.microsoft.com/office/drawing/2014/main" id="{DEF8D1A1-9FF6-41CD-CEEB-D2BE2FCC42CB}"/>
              </a:ext>
            </a:extLst>
          </p:cNvPr>
          <p:cNvSpPr txBox="1"/>
          <p:nvPr/>
        </p:nvSpPr>
        <p:spPr>
          <a:xfrm>
            <a:off x="9016546" y="3873180"/>
            <a:ext cx="12170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74.125.95.104</a:t>
            </a:r>
            <a:endParaRPr lang="ko-KR" altLang="en-US" sz="1400" dirty="0">
              <a:latin typeface="함초롬바탕" panose="02030604000101010101" pitchFamily="18" charset="-127"/>
              <a:ea typeface="함초롬바탕" panose="02030604000101010101" pitchFamily="18" charset="-127"/>
              <a:cs typeface="함초롬바탕" panose="02030604000101010101" pitchFamily="18" charset="-127"/>
            </a:endParaRPr>
          </a:p>
        </p:txBody>
      </p:sp>
      <p:cxnSp>
        <p:nvCxnSpPr>
          <p:cNvPr id="59" name="직선 화살표 연결선 58">
            <a:extLst>
              <a:ext uri="{FF2B5EF4-FFF2-40B4-BE49-F238E27FC236}">
                <a16:creationId xmlns:a16="http://schemas.microsoft.com/office/drawing/2014/main" id="{62D8D9B7-F031-AAAA-DEDB-844F3CFF0DCD}"/>
              </a:ext>
            </a:extLst>
          </p:cNvPr>
          <p:cNvCxnSpPr>
            <a:cxnSpLocks/>
          </p:cNvCxnSpPr>
          <p:nvPr/>
        </p:nvCxnSpPr>
        <p:spPr>
          <a:xfrm>
            <a:off x="7401564" y="4288773"/>
            <a:ext cx="2143485" cy="20825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D14002C6-4C29-BCF3-6440-89ED71A2C97B}"/>
              </a:ext>
            </a:extLst>
          </p:cNvPr>
          <p:cNvSpPr txBox="1"/>
          <p:nvPr/>
        </p:nvSpPr>
        <p:spPr>
          <a:xfrm rot="271128">
            <a:off x="8201437" y="4144867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SYN</a:t>
            </a:r>
            <a:endParaRPr lang="ko-KR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61" name="직선 화살표 연결선 60">
            <a:extLst>
              <a:ext uri="{FF2B5EF4-FFF2-40B4-BE49-F238E27FC236}">
                <a16:creationId xmlns:a16="http://schemas.microsoft.com/office/drawing/2014/main" id="{2B0013A0-0428-C883-DFA2-D4A77E1884B6}"/>
              </a:ext>
            </a:extLst>
          </p:cNvPr>
          <p:cNvCxnSpPr>
            <a:cxnSpLocks/>
          </p:cNvCxnSpPr>
          <p:nvPr/>
        </p:nvCxnSpPr>
        <p:spPr>
          <a:xfrm flipH="1">
            <a:off x="7441473" y="4761927"/>
            <a:ext cx="2119330" cy="12818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395A25F3-19CA-CCE0-DF83-AF5C57DF51F6}"/>
              </a:ext>
            </a:extLst>
          </p:cNvPr>
          <p:cNvSpPr txBox="1"/>
          <p:nvPr/>
        </p:nvSpPr>
        <p:spPr>
          <a:xfrm rot="21414474">
            <a:off x="7955610" y="4585364"/>
            <a:ext cx="99257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SYN/ACK</a:t>
            </a:r>
            <a:endParaRPr lang="ko-KR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63" name="직선 화살표 연결선 62">
            <a:extLst>
              <a:ext uri="{FF2B5EF4-FFF2-40B4-BE49-F238E27FC236}">
                <a16:creationId xmlns:a16="http://schemas.microsoft.com/office/drawing/2014/main" id="{630D22B5-D2AE-1E66-3D7A-24D260CE9884}"/>
              </a:ext>
            </a:extLst>
          </p:cNvPr>
          <p:cNvCxnSpPr>
            <a:cxnSpLocks/>
          </p:cNvCxnSpPr>
          <p:nvPr/>
        </p:nvCxnSpPr>
        <p:spPr>
          <a:xfrm>
            <a:off x="7401563" y="5137639"/>
            <a:ext cx="2143485" cy="20825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오른쪽 대괄호 63">
            <a:extLst>
              <a:ext uri="{FF2B5EF4-FFF2-40B4-BE49-F238E27FC236}">
                <a16:creationId xmlns:a16="http://schemas.microsoft.com/office/drawing/2014/main" id="{8B4CA214-8DD5-5631-6315-AF83F5E3D5E0}"/>
              </a:ext>
            </a:extLst>
          </p:cNvPr>
          <p:cNvSpPr/>
          <p:nvPr/>
        </p:nvSpPr>
        <p:spPr>
          <a:xfrm>
            <a:off x="9575834" y="4497028"/>
            <a:ext cx="276973" cy="257204"/>
          </a:xfrm>
          <a:prstGeom prst="rightBracket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53D7EBD-02C0-FA5A-38CC-E67A279C3186}"/>
              </a:ext>
            </a:extLst>
          </p:cNvPr>
          <p:cNvSpPr txBox="1"/>
          <p:nvPr/>
        </p:nvSpPr>
        <p:spPr>
          <a:xfrm rot="271128">
            <a:off x="8259066" y="4990426"/>
            <a:ext cx="58381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ACK</a:t>
            </a:r>
            <a:endParaRPr lang="ko-KR" altLang="en-US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66" name="직선 화살표 연결선 65">
            <a:extLst>
              <a:ext uri="{FF2B5EF4-FFF2-40B4-BE49-F238E27FC236}">
                <a16:creationId xmlns:a16="http://schemas.microsoft.com/office/drawing/2014/main" id="{931A0E60-9984-DBB7-B69F-4BD3E966FF47}"/>
              </a:ext>
            </a:extLst>
          </p:cNvPr>
          <p:cNvCxnSpPr>
            <a:cxnSpLocks/>
          </p:cNvCxnSpPr>
          <p:nvPr/>
        </p:nvCxnSpPr>
        <p:spPr>
          <a:xfrm>
            <a:off x="7442612" y="5615049"/>
            <a:ext cx="2143485" cy="20825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TextBox 66">
            <a:extLst>
              <a:ext uri="{FF2B5EF4-FFF2-40B4-BE49-F238E27FC236}">
                <a16:creationId xmlns:a16="http://schemas.microsoft.com/office/drawing/2014/main" id="{D0D32795-6F0B-4599-5103-F650BD19159E}"/>
              </a:ext>
            </a:extLst>
          </p:cNvPr>
          <p:cNvSpPr txBox="1"/>
          <p:nvPr/>
        </p:nvSpPr>
        <p:spPr>
          <a:xfrm rot="271128">
            <a:off x="7909496" y="5465484"/>
            <a:ext cx="10885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HTTP GET</a:t>
            </a:r>
            <a:endParaRPr lang="ko-KR" altLang="en-US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68" name="직선 화살표 연결선 67">
            <a:extLst>
              <a:ext uri="{FF2B5EF4-FFF2-40B4-BE49-F238E27FC236}">
                <a16:creationId xmlns:a16="http://schemas.microsoft.com/office/drawing/2014/main" id="{62AC5400-D72D-E620-0819-C5264A351182}"/>
              </a:ext>
            </a:extLst>
          </p:cNvPr>
          <p:cNvCxnSpPr/>
          <p:nvPr/>
        </p:nvCxnSpPr>
        <p:spPr>
          <a:xfrm flipH="1">
            <a:off x="7422435" y="6141453"/>
            <a:ext cx="2132155" cy="19455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오른쪽 대괄호 68">
            <a:extLst>
              <a:ext uri="{FF2B5EF4-FFF2-40B4-BE49-F238E27FC236}">
                <a16:creationId xmlns:a16="http://schemas.microsoft.com/office/drawing/2014/main" id="{926D5CE8-87A8-A56C-86CC-0A1AF477667D}"/>
              </a:ext>
            </a:extLst>
          </p:cNvPr>
          <p:cNvSpPr/>
          <p:nvPr/>
        </p:nvSpPr>
        <p:spPr>
          <a:xfrm>
            <a:off x="9590618" y="5831549"/>
            <a:ext cx="247403" cy="287930"/>
          </a:xfrm>
          <a:prstGeom prst="rightBracket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4D3B63AE-4390-DDA8-FC1B-D4954F43C324}"/>
              </a:ext>
            </a:extLst>
          </p:cNvPr>
          <p:cNvSpPr txBox="1"/>
          <p:nvPr/>
        </p:nvSpPr>
        <p:spPr>
          <a:xfrm rot="21307504">
            <a:off x="8280993" y="5906702"/>
            <a:ext cx="58381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ACK</a:t>
            </a:r>
            <a:endParaRPr lang="ko-KR" altLang="en-US" sz="14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2C5BF45D-35AB-AE2A-8A8B-78C8FFD681C5}"/>
              </a:ext>
            </a:extLst>
          </p:cNvPr>
          <p:cNvSpPr txBox="1"/>
          <p:nvPr/>
        </p:nvSpPr>
        <p:spPr>
          <a:xfrm>
            <a:off x="9867838" y="4510326"/>
            <a:ext cx="64633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0.023</a:t>
            </a:r>
            <a:endParaRPr lang="ko-KR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A93810C4-7698-5369-3C17-3E8EFD223432}"/>
              </a:ext>
            </a:extLst>
          </p:cNvPr>
          <p:cNvSpPr txBox="1"/>
          <p:nvPr/>
        </p:nvSpPr>
        <p:spPr>
          <a:xfrm>
            <a:off x="9894565" y="5806237"/>
            <a:ext cx="64633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0.046</a:t>
            </a:r>
            <a:endParaRPr lang="ko-KR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C746216C-BE53-DE18-31FB-200DCE5B429F}"/>
              </a:ext>
            </a:extLst>
          </p:cNvPr>
          <p:cNvSpPr txBox="1"/>
          <p:nvPr/>
        </p:nvSpPr>
        <p:spPr>
          <a:xfrm>
            <a:off x="9586097" y="6321949"/>
            <a:ext cx="123303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[</a:t>
            </a:r>
            <a:r>
              <a:rPr lang="ko-KR" altLang="en-US" sz="16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비정상 시</a:t>
            </a:r>
            <a:r>
              <a:rPr lang="en-US" altLang="ko-KR" sz="16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] </a:t>
            </a:r>
            <a:endParaRPr lang="ko-KR" altLang="en-US" sz="1600" dirty="0">
              <a:latin typeface="함초롬바탕" panose="02030604000101010101" pitchFamily="18" charset="-127"/>
              <a:ea typeface="함초롬바탕" panose="02030604000101010101" pitchFamily="18" charset="-127"/>
              <a:cs typeface="함초롬바탕" panose="02030604000101010101" pitchFamily="18" charset="-127"/>
            </a:endParaRPr>
          </a:p>
        </p:txBody>
      </p:sp>
      <p:cxnSp>
        <p:nvCxnSpPr>
          <p:cNvPr id="74" name="직선 연결선 73">
            <a:extLst>
              <a:ext uri="{FF2B5EF4-FFF2-40B4-BE49-F238E27FC236}">
                <a16:creationId xmlns:a16="http://schemas.microsoft.com/office/drawing/2014/main" id="{12836AE0-3FC9-0A15-1319-2C220DB6D807}"/>
              </a:ext>
            </a:extLst>
          </p:cNvPr>
          <p:cNvCxnSpPr>
            <a:cxnSpLocks/>
          </p:cNvCxnSpPr>
          <p:nvPr/>
        </p:nvCxnSpPr>
        <p:spPr>
          <a:xfrm>
            <a:off x="2311258" y="4112275"/>
            <a:ext cx="10263" cy="257073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직선 연결선 74">
            <a:extLst>
              <a:ext uri="{FF2B5EF4-FFF2-40B4-BE49-F238E27FC236}">
                <a16:creationId xmlns:a16="http://schemas.microsoft.com/office/drawing/2014/main" id="{8D0919BD-BF47-0DF7-C5F8-6AB0981562FB}"/>
              </a:ext>
            </a:extLst>
          </p:cNvPr>
          <p:cNvCxnSpPr>
            <a:cxnSpLocks/>
          </p:cNvCxnSpPr>
          <p:nvPr/>
        </p:nvCxnSpPr>
        <p:spPr>
          <a:xfrm flipH="1">
            <a:off x="4452487" y="4130598"/>
            <a:ext cx="2384" cy="246394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TextBox 24">
            <a:extLst>
              <a:ext uri="{FF2B5EF4-FFF2-40B4-BE49-F238E27FC236}">
                <a16:creationId xmlns:a16="http://schemas.microsoft.com/office/drawing/2014/main" id="{DE7AA772-B661-2173-6AA6-356E7246F4B7}"/>
              </a:ext>
            </a:extLst>
          </p:cNvPr>
          <p:cNvSpPr txBox="1"/>
          <p:nvPr/>
        </p:nvSpPr>
        <p:spPr>
          <a:xfrm>
            <a:off x="1364284" y="3845005"/>
            <a:ext cx="12170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172.16.16.128</a:t>
            </a:r>
          </a:p>
        </p:txBody>
      </p:sp>
      <p:sp>
        <p:nvSpPr>
          <p:cNvPr id="77" name="TextBox 25">
            <a:extLst>
              <a:ext uri="{FF2B5EF4-FFF2-40B4-BE49-F238E27FC236}">
                <a16:creationId xmlns:a16="http://schemas.microsoft.com/office/drawing/2014/main" id="{A46E7C96-328D-56EE-9117-EDF824A107EC}"/>
              </a:ext>
            </a:extLst>
          </p:cNvPr>
          <p:cNvSpPr txBox="1"/>
          <p:nvPr/>
        </p:nvSpPr>
        <p:spPr>
          <a:xfrm>
            <a:off x="3915038" y="3873180"/>
            <a:ext cx="12170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74.125.95.104</a:t>
            </a:r>
            <a:endParaRPr lang="ko-KR" altLang="en-US" sz="1400" dirty="0">
              <a:latin typeface="함초롬바탕" panose="02030604000101010101" pitchFamily="18" charset="-127"/>
              <a:ea typeface="함초롬바탕" panose="02030604000101010101" pitchFamily="18" charset="-127"/>
              <a:cs typeface="함초롬바탕" panose="02030604000101010101" pitchFamily="18" charset="-127"/>
            </a:endParaRPr>
          </a:p>
        </p:txBody>
      </p:sp>
      <p:cxnSp>
        <p:nvCxnSpPr>
          <p:cNvPr id="78" name="직선 화살표 연결선 77">
            <a:extLst>
              <a:ext uri="{FF2B5EF4-FFF2-40B4-BE49-F238E27FC236}">
                <a16:creationId xmlns:a16="http://schemas.microsoft.com/office/drawing/2014/main" id="{C1FF8F07-0C35-E2E7-AD08-AB0A31691B1A}"/>
              </a:ext>
            </a:extLst>
          </p:cNvPr>
          <p:cNvCxnSpPr>
            <a:cxnSpLocks/>
          </p:cNvCxnSpPr>
          <p:nvPr/>
        </p:nvCxnSpPr>
        <p:spPr>
          <a:xfrm>
            <a:off x="2300056" y="4288773"/>
            <a:ext cx="2143485" cy="20825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TextBox 78">
            <a:extLst>
              <a:ext uri="{FF2B5EF4-FFF2-40B4-BE49-F238E27FC236}">
                <a16:creationId xmlns:a16="http://schemas.microsoft.com/office/drawing/2014/main" id="{A48F0679-F4C5-B8CF-E738-C9938FE90820}"/>
              </a:ext>
            </a:extLst>
          </p:cNvPr>
          <p:cNvSpPr txBox="1"/>
          <p:nvPr/>
        </p:nvSpPr>
        <p:spPr>
          <a:xfrm rot="271128">
            <a:off x="3099929" y="4144867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SYN</a:t>
            </a:r>
            <a:endParaRPr lang="ko-KR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80" name="직선 화살표 연결선 79">
            <a:extLst>
              <a:ext uri="{FF2B5EF4-FFF2-40B4-BE49-F238E27FC236}">
                <a16:creationId xmlns:a16="http://schemas.microsoft.com/office/drawing/2014/main" id="{72219FFB-74B1-E1F1-C467-89A3BBB8EED1}"/>
              </a:ext>
            </a:extLst>
          </p:cNvPr>
          <p:cNvCxnSpPr/>
          <p:nvPr/>
        </p:nvCxnSpPr>
        <p:spPr>
          <a:xfrm flipH="1">
            <a:off x="2300877" y="4784146"/>
            <a:ext cx="2132155" cy="19455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TextBox 80">
            <a:extLst>
              <a:ext uri="{FF2B5EF4-FFF2-40B4-BE49-F238E27FC236}">
                <a16:creationId xmlns:a16="http://schemas.microsoft.com/office/drawing/2014/main" id="{A21DA6FD-FCA0-996F-808C-58476E260690}"/>
              </a:ext>
            </a:extLst>
          </p:cNvPr>
          <p:cNvSpPr txBox="1"/>
          <p:nvPr/>
        </p:nvSpPr>
        <p:spPr>
          <a:xfrm rot="21307504">
            <a:off x="2841553" y="4565901"/>
            <a:ext cx="992579" cy="307777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SYN/ACK</a:t>
            </a:r>
            <a:endParaRPr lang="ko-KR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102851FE-58E0-915A-293E-AB3FF21FC44A}"/>
              </a:ext>
            </a:extLst>
          </p:cNvPr>
          <p:cNvCxnSpPr>
            <a:cxnSpLocks/>
          </p:cNvCxnSpPr>
          <p:nvPr/>
        </p:nvCxnSpPr>
        <p:spPr>
          <a:xfrm>
            <a:off x="2301783" y="5128218"/>
            <a:ext cx="2143485" cy="20825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오른쪽 대괄호 82">
            <a:extLst>
              <a:ext uri="{FF2B5EF4-FFF2-40B4-BE49-F238E27FC236}">
                <a16:creationId xmlns:a16="http://schemas.microsoft.com/office/drawing/2014/main" id="{95277042-3D20-88E6-D886-7E1220C1B562}"/>
              </a:ext>
            </a:extLst>
          </p:cNvPr>
          <p:cNvSpPr/>
          <p:nvPr/>
        </p:nvSpPr>
        <p:spPr>
          <a:xfrm>
            <a:off x="4474326" y="4497027"/>
            <a:ext cx="272549" cy="301849"/>
          </a:xfrm>
          <a:prstGeom prst="rightBracket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F5F49318-2669-E08D-AA0E-9C0C97F95423}"/>
              </a:ext>
            </a:extLst>
          </p:cNvPr>
          <p:cNvSpPr txBox="1"/>
          <p:nvPr/>
        </p:nvSpPr>
        <p:spPr>
          <a:xfrm rot="271128">
            <a:off x="3157558" y="4990426"/>
            <a:ext cx="58381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ACK</a:t>
            </a:r>
            <a:endParaRPr lang="ko-KR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85" name="직선 화살표 연결선 84">
            <a:extLst>
              <a:ext uri="{FF2B5EF4-FFF2-40B4-BE49-F238E27FC236}">
                <a16:creationId xmlns:a16="http://schemas.microsoft.com/office/drawing/2014/main" id="{B9C5E8D2-1921-EE93-4BF3-0E52A2EA399F}"/>
              </a:ext>
            </a:extLst>
          </p:cNvPr>
          <p:cNvCxnSpPr>
            <a:cxnSpLocks/>
          </p:cNvCxnSpPr>
          <p:nvPr/>
        </p:nvCxnSpPr>
        <p:spPr>
          <a:xfrm>
            <a:off x="2318702" y="5352458"/>
            <a:ext cx="2143485" cy="20825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TextBox 85">
            <a:extLst>
              <a:ext uri="{FF2B5EF4-FFF2-40B4-BE49-F238E27FC236}">
                <a16:creationId xmlns:a16="http://schemas.microsoft.com/office/drawing/2014/main" id="{754D401C-4131-2D25-ED95-730998D2815D}"/>
              </a:ext>
            </a:extLst>
          </p:cNvPr>
          <p:cNvSpPr txBox="1"/>
          <p:nvPr/>
        </p:nvSpPr>
        <p:spPr>
          <a:xfrm rot="271128">
            <a:off x="2911039" y="5224907"/>
            <a:ext cx="101797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HTTP GET</a:t>
            </a:r>
            <a:endParaRPr lang="ko-KR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87" name="직선 화살표 연결선 86">
            <a:extLst>
              <a:ext uri="{FF2B5EF4-FFF2-40B4-BE49-F238E27FC236}">
                <a16:creationId xmlns:a16="http://schemas.microsoft.com/office/drawing/2014/main" id="{591CE1A9-78EC-463A-4760-2B441B4CC3DA}"/>
              </a:ext>
            </a:extLst>
          </p:cNvPr>
          <p:cNvCxnSpPr/>
          <p:nvPr/>
        </p:nvCxnSpPr>
        <p:spPr>
          <a:xfrm flipH="1">
            <a:off x="2329007" y="5828683"/>
            <a:ext cx="2132155" cy="19455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오른쪽 대괄호 87">
            <a:extLst>
              <a:ext uri="{FF2B5EF4-FFF2-40B4-BE49-F238E27FC236}">
                <a16:creationId xmlns:a16="http://schemas.microsoft.com/office/drawing/2014/main" id="{DCF0FD61-E343-1AF8-B19C-3219781F038C}"/>
              </a:ext>
            </a:extLst>
          </p:cNvPr>
          <p:cNvSpPr/>
          <p:nvPr/>
        </p:nvSpPr>
        <p:spPr>
          <a:xfrm>
            <a:off x="4459395" y="5549934"/>
            <a:ext cx="247403" cy="287930"/>
          </a:xfrm>
          <a:prstGeom prst="rightBracket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09861FEA-E2C8-629A-1FF4-70C9EDFF47E2}"/>
              </a:ext>
            </a:extLst>
          </p:cNvPr>
          <p:cNvSpPr txBox="1"/>
          <p:nvPr/>
        </p:nvSpPr>
        <p:spPr>
          <a:xfrm rot="21307504">
            <a:off x="3174945" y="5643487"/>
            <a:ext cx="583814" cy="307777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ACK</a:t>
            </a:r>
            <a:endParaRPr lang="ko-KR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B9FE9A34-9FDF-C151-0889-9495079DB21D}"/>
              </a:ext>
            </a:extLst>
          </p:cNvPr>
          <p:cNvSpPr txBox="1"/>
          <p:nvPr/>
        </p:nvSpPr>
        <p:spPr>
          <a:xfrm>
            <a:off x="4755000" y="4539784"/>
            <a:ext cx="64633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0.030</a:t>
            </a:r>
            <a:endParaRPr lang="ko-KR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C169EC4F-6E7A-F7DD-E906-6BD6D709D2CD}"/>
              </a:ext>
            </a:extLst>
          </p:cNvPr>
          <p:cNvSpPr txBox="1"/>
          <p:nvPr/>
        </p:nvSpPr>
        <p:spPr>
          <a:xfrm>
            <a:off x="4761805" y="5516516"/>
            <a:ext cx="64633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0.048</a:t>
            </a:r>
            <a:endParaRPr lang="ko-KR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5B860D20-BE66-666D-3CD8-20827172E79F}"/>
              </a:ext>
            </a:extLst>
          </p:cNvPr>
          <p:cNvSpPr txBox="1"/>
          <p:nvPr/>
        </p:nvSpPr>
        <p:spPr>
          <a:xfrm>
            <a:off x="4484589" y="6321949"/>
            <a:ext cx="103425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[</a:t>
            </a:r>
            <a:r>
              <a:rPr lang="ko-KR" altLang="en-US" sz="16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정상 시</a:t>
            </a:r>
            <a:r>
              <a:rPr lang="en-US" altLang="ko-KR" sz="16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] </a:t>
            </a:r>
            <a:endParaRPr lang="ko-KR" altLang="en-US" sz="1600" dirty="0">
              <a:latin typeface="함초롬바탕" panose="02030604000101010101" pitchFamily="18" charset="-127"/>
              <a:ea typeface="함초롬바탕" panose="02030604000101010101" pitchFamily="18" charset="-127"/>
              <a:cs typeface="함초롬바탕" panose="02030604000101010101" pitchFamily="18" charset="-127"/>
            </a:endParaRPr>
          </a:p>
        </p:txBody>
      </p:sp>
      <p:sp>
        <p:nvSpPr>
          <p:cNvPr id="93" name="오른쪽 대괄호 92">
            <a:extLst>
              <a:ext uri="{FF2B5EF4-FFF2-40B4-BE49-F238E27FC236}">
                <a16:creationId xmlns:a16="http://schemas.microsoft.com/office/drawing/2014/main" id="{130CD3CA-440A-ED04-92C6-150F726ED8D8}"/>
              </a:ext>
            </a:extLst>
          </p:cNvPr>
          <p:cNvSpPr/>
          <p:nvPr/>
        </p:nvSpPr>
        <p:spPr>
          <a:xfrm flipH="1">
            <a:off x="2090847" y="4988677"/>
            <a:ext cx="237891" cy="111366"/>
          </a:xfrm>
          <a:prstGeom prst="rightBracket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4" name="오른쪽 대괄호 93">
            <a:extLst>
              <a:ext uri="{FF2B5EF4-FFF2-40B4-BE49-F238E27FC236}">
                <a16:creationId xmlns:a16="http://schemas.microsoft.com/office/drawing/2014/main" id="{E981B43D-116D-676D-5928-4E5CD9175FDA}"/>
              </a:ext>
            </a:extLst>
          </p:cNvPr>
          <p:cNvSpPr/>
          <p:nvPr/>
        </p:nvSpPr>
        <p:spPr>
          <a:xfrm flipH="1">
            <a:off x="2080811" y="5154452"/>
            <a:ext cx="237891" cy="111366"/>
          </a:xfrm>
          <a:prstGeom prst="rightBracket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5" name="오른쪽 대괄호 94">
            <a:extLst>
              <a:ext uri="{FF2B5EF4-FFF2-40B4-BE49-F238E27FC236}">
                <a16:creationId xmlns:a16="http://schemas.microsoft.com/office/drawing/2014/main" id="{1B405601-6BC1-517B-7F86-6B9F9F5DCC31}"/>
              </a:ext>
            </a:extLst>
          </p:cNvPr>
          <p:cNvSpPr/>
          <p:nvPr/>
        </p:nvSpPr>
        <p:spPr>
          <a:xfrm flipH="1">
            <a:off x="2091116" y="4988677"/>
            <a:ext cx="237891" cy="111366"/>
          </a:xfrm>
          <a:prstGeom prst="rightBracket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6" name="오른쪽 대괄호 95">
            <a:extLst>
              <a:ext uri="{FF2B5EF4-FFF2-40B4-BE49-F238E27FC236}">
                <a16:creationId xmlns:a16="http://schemas.microsoft.com/office/drawing/2014/main" id="{178FC29F-1100-5C54-D8B6-AB6D7501C2A5}"/>
              </a:ext>
            </a:extLst>
          </p:cNvPr>
          <p:cNvSpPr/>
          <p:nvPr/>
        </p:nvSpPr>
        <p:spPr>
          <a:xfrm flipH="1">
            <a:off x="7174875" y="5139213"/>
            <a:ext cx="196308" cy="410721"/>
          </a:xfrm>
          <a:prstGeom prst="rightBracket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99367F7E-15CF-C105-D8BE-D616852DB6AB}"/>
              </a:ext>
            </a:extLst>
          </p:cNvPr>
          <p:cNvSpPr txBox="1"/>
          <p:nvPr/>
        </p:nvSpPr>
        <p:spPr>
          <a:xfrm>
            <a:off x="6573570" y="5185284"/>
            <a:ext cx="64633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1.345</a:t>
            </a:r>
            <a:endParaRPr lang="ko-KR" altLang="en-US" sz="16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DF558876-5CE9-BBC1-E9A1-33A64F375B6A}"/>
              </a:ext>
            </a:extLst>
          </p:cNvPr>
          <p:cNvSpPr txBox="1"/>
          <p:nvPr/>
        </p:nvSpPr>
        <p:spPr>
          <a:xfrm>
            <a:off x="1408460" y="5044360"/>
            <a:ext cx="64633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0.000</a:t>
            </a:r>
            <a:endParaRPr lang="ko-KR" altLang="en-US" sz="16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5FE270CF-B21C-0F29-6F19-320F45630B00}"/>
              </a:ext>
            </a:extLst>
          </p:cNvPr>
          <p:cNvSpPr txBox="1"/>
          <p:nvPr/>
        </p:nvSpPr>
        <p:spPr>
          <a:xfrm>
            <a:off x="1426829" y="4851508"/>
            <a:ext cx="64633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0.000</a:t>
            </a:r>
            <a:endParaRPr lang="ko-KR" altLang="en-US" sz="16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0" name="오른쪽 대괄호 99">
            <a:extLst>
              <a:ext uri="{FF2B5EF4-FFF2-40B4-BE49-F238E27FC236}">
                <a16:creationId xmlns:a16="http://schemas.microsoft.com/office/drawing/2014/main" id="{9910B9AF-6B7D-E2D1-1285-67CF0DDDB071}"/>
              </a:ext>
            </a:extLst>
          </p:cNvPr>
          <p:cNvSpPr/>
          <p:nvPr/>
        </p:nvSpPr>
        <p:spPr>
          <a:xfrm flipH="1">
            <a:off x="7174874" y="4915297"/>
            <a:ext cx="245174" cy="161171"/>
          </a:xfrm>
          <a:prstGeom prst="rightBracket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D508B3CB-B371-C9B3-5ED4-1560994219A7}"/>
              </a:ext>
            </a:extLst>
          </p:cNvPr>
          <p:cNvSpPr txBox="1"/>
          <p:nvPr/>
        </p:nvSpPr>
        <p:spPr>
          <a:xfrm>
            <a:off x="6562874" y="4820609"/>
            <a:ext cx="64633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0.014</a:t>
            </a:r>
            <a:endParaRPr lang="ko-KR" altLang="en-US" sz="16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04" name="직선 화살표 연결선 103">
            <a:extLst>
              <a:ext uri="{FF2B5EF4-FFF2-40B4-BE49-F238E27FC236}">
                <a16:creationId xmlns:a16="http://schemas.microsoft.com/office/drawing/2014/main" id="{473B2D9D-E569-50AE-5D57-FFDC67EFE5D8}"/>
              </a:ext>
            </a:extLst>
          </p:cNvPr>
          <p:cNvCxnSpPr>
            <a:cxnSpLocks/>
          </p:cNvCxnSpPr>
          <p:nvPr/>
        </p:nvCxnSpPr>
        <p:spPr>
          <a:xfrm flipH="1">
            <a:off x="3332609" y="1298066"/>
            <a:ext cx="3911369" cy="14705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직선 화살표 연결선 105">
            <a:extLst>
              <a:ext uri="{FF2B5EF4-FFF2-40B4-BE49-F238E27FC236}">
                <a16:creationId xmlns:a16="http://schemas.microsoft.com/office/drawing/2014/main" id="{DC0C7E10-03DE-3500-E475-DF8EC4D658CA}"/>
              </a:ext>
            </a:extLst>
          </p:cNvPr>
          <p:cNvCxnSpPr/>
          <p:nvPr/>
        </p:nvCxnSpPr>
        <p:spPr>
          <a:xfrm flipH="1">
            <a:off x="2310329" y="6238729"/>
            <a:ext cx="2132155" cy="19455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TextBox 106">
            <a:extLst>
              <a:ext uri="{FF2B5EF4-FFF2-40B4-BE49-F238E27FC236}">
                <a16:creationId xmlns:a16="http://schemas.microsoft.com/office/drawing/2014/main" id="{34E4AEA0-75CA-37B3-ADBE-B91A794F8F2A}"/>
              </a:ext>
            </a:extLst>
          </p:cNvPr>
          <p:cNvSpPr txBox="1"/>
          <p:nvPr/>
        </p:nvSpPr>
        <p:spPr>
          <a:xfrm rot="21307504">
            <a:off x="3189576" y="6073849"/>
            <a:ext cx="631904" cy="307777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HTTP</a:t>
            </a:r>
            <a:endParaRPr lang="ko-KR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8" name="오른쪽 대괄호 107">
            <a:extLst>
              <a:ext uri="{FF2B5EF4-FFF2-40B4-BE49-F238E27FC236}">
                <a16:creationId xmlns:a16="http://schemas.microsoft.com/office/drawing/2014/main" id="{4267C147-2D92-87EF-4B77-E8770D15EF86}"/>
              </a:ext>
            </a:extLst>
          </p:cNvPr>
          <p:cNvSpPr/>
          <p:nvPr/>
        </p:nvSpPr>
        <p:spPr>
          <a:xfrm>
            <a:off x="4496610" y="5891375"/>
            <a:ext cx="272549" cy="301848"/>
          </a:xfrm>
          <a:prstGeom prst="rightBracket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7AB4732D-E9D5-D2DA-4B30-DE6B964082A2}"/>
              </a:ext>
            </a:extLst>
          </p:cNvPr>
          <p:cNvSpPr txBox="1"/>
          <p:nvPr/>
        </p:nvSpPr>
        <p:spPr>
          <a:xfrm>
            <a:off x="4743075" y="5889183"/>
            <a:ext cx="64633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0.016</a:t>
            </a:r>
            <a:endParaRPr lang="ko-KR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9322767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AE961421-3DEC-E89B-850A-483D4BE28C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1446" y="1084878"/>
            <a:ext cx="8065812" cy="2544885"/>
          </a:xfrm>
          <a:prstGeom prst="rect">
            <a:avLst/>
          </a:prstGeom>
        </p:spPr>
      </p:pic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BD33D76-EC6E-8C13-DF3A-3846DF9D0F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04444" y="6405876"/>
            <a:ext cx="2743200" cy="365125"/>
          </a:xfrm>
        </p:spPr>
        <p:txBody>
          <a:bodyPr/>
          <a:lstStyle/>
          <a:p>
            <a:pPr algn="l"/>
            <a:fld id="{7B2209E9-2AE8-42A0-AB53-D13299BB30AF}" type="slidenum">
              <a:rPr lang="ko-KR" altLang="en-US" smtClean="0"/>
              <a:pPr algn="l"/>
              <a:t>40</a:t>
            </a:fld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8C3834-B353-90D3-D329-78A7D8AA2EBD}"/>
              </a:ext>
            </a:extLst>
          </p:cNvPr>
          <p:cNvSpPr/>
          <p:nvPr/>
        </p:nvSpPr>
        <p:spPr>
          <a:xfrm>
            <a:off x="2794885" y="3157668"/>
            <a:ext cx="860063" cy="456093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내용 개체 틀 5">
            <a:extLst>
              <a:ext uri="{FF2B5EF4-FFF2-40B4-BE49-F238E27FC236}">
                <a16:creationId xmlns:a16="http://schemas.microsoft.com/office/drawing/2014/main" id="{B58DF0CB-2D3E-20FF-FA22-F91429593BE3}"/>
              </a:ext>
            </a:extLst>
          </p:cNvPr>
          <p:cNvSpPr txBox="1">
            <a:spLocks/>
          </p:cNvSpPr>
          <p:nvPr/>
        </p:nvSpPr>
        <p:spPr>
          <a:xfrm>
            <a:off x="6238505" y="465142"/>
            <a:ext cx="5470661" cy="793010"/>
          </a:xfrm>
          <a:prstGeom prst="rect">
            <a:avLst/>
          </a:prstGeom>
          <a:solidFill>
            <a:schemeClr val="accent4"/>
          </a:solidFill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141288">
              <a:lnSpc>
                <a:spcPct val="100000"/>
              </a:lnSpc>
            </a:pPr>
            <a:r>
              <a:rPr lang="en-US" altLang="ko-KR" sz="1500" b="1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 </a:t>
            </a:r>
            <a:r>
              <a:rPr lang="en-US" altLang="ko-KR" sz="1500" b="1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ACK</a:t>
            </a:r>
            <a:r>
              <a:rPr lang="ko-KR" altLang="en-US" sz="1500" b="1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를 보내고 바로 서버는 데이터를 보내야 함 </a:t>
            </a:r>
            <a:endParaRPr lang="en-US" altLang="ko-KR" sz="1500" b="1" dirty="0">
              <a:latin typeface="함초롬바탕" panose="02030504000101010101" pitchFamily="18" charset="-127"/>
              <a:ea typeface="함초롬바탕" panose="02030504000101010101" pitchFamily="18" charset="-127"/>
              <a:cs typeface="함초롬바탕" panose="02030504000101010101" pitchFamily="18" charset="-127"/>
            </a:endParaRPr>
          </a:p>
          <a:p>
            <a:pPr indent="-141288">
              <a:lnSpc>
                <a:spcPct val="100000"/>
              </a:lnSpc>
            </a:pPr>
            <a:r>
              <a:rPr lang="en-US" altLang="ko-KR" sz="1500" b="1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 </a:t>
            </a:r>
            <a:r>
              <a:rPr lang="ko-KR" altLang="en-US" sz="1500" b="1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서버가 적절한 시간 내에 데이터를 처리하지 못했음을 나타냄</a:t>
            </a:r>
            <a:endParaRPr lang="ko-KR" altLang="en-US" sz="1500" b="1" dirty="0">
              <a:latin typeface="함초롬바탕" panose="02030504000101010101" pitchFamily="18" charset="-127"/>
              <a:ea typeface="함초롬바탕" panose="02030504000101010101" pitchFamily="18" charset="-127"/>
              <a:cs typeface="함초롬바탕" panose="02030504000101010101" pitchFamily="18" charset="-127"/>
            </a:endParaRPr>
          </a:p>
        </p:txBody>
      </p:sp>
      <p:sp>
        <p:nvSpPr>
          <p:cNvPr id="30" name="제목 1">
            <a:extLst>
              <a:ext uri="{FF2B5EF4-FFF2-40B4-BE49-F238E27FC236}">
                <a16:creationId xmlns:a16="http://schemas.microsoft.com/office/drawing/2014/main" id="{D3A446E5-96F9-3FC7-DD99-028E3D0BE11F}"/>
              </a:ext>
            </a:extLst>
          </p:cNvPr>
          <p:cNvSpPr txBox="1">
            <a:spLocks/>
          </p:cNvSpPr>
          <p:nvPr/>
        </p:nvSpPr>
        <p:spPr>
          <a:xfrm>
            <a:off x="695696" y="347709"/>
            <a:ext cx="10515600" cy="701675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sz="2600" b="1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❹ 속도가 느린 통신</a:t>
            </a:r>
            <a:r>
              <a:rPr lang="en-US" altLang="ko-KR" sz="2600" b="1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(</a:t>
            </a:r>
            <a:r>
              <a:rPr lang="ko-KR" altLang="en-US" sz="2600" b="1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서버 지연</a:t>
            </a:r>
            <a:r>
              <a:rPr lang="en-US" altLang="ko-KR" sz="2600" b="1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) </a:t>
            </a:r>
            <a:endParaRPr lang="ko-KR" altLang="en-US" sz="2600" b="1" dirty="0">
              <a:latin typeface="함초롬바탕" panose="02030604000101010101" pitchFamily="18" charset="-127"/>
              <a:ea typeface="함초롬바탕" panose="02030604000101010101" pitchFamily="18" charset="-127"/>
              <a:cs typeface="함초롬바탕" panose="02030604000101010101" pitchFamily="18" charset="-127"/>
            </a:endParaRPr>
          </a:p>
        </p:txBody>
      </p:sp>
      <p:cxnSp>
        <p:nvCxnSpPr>
          <p:cNvPr id="55" name="직선 연결선 54">
            <a:extLst>
              <a:ext uri="{FF2B5EF4-FFF2-40B4-BE49-F238E27FC236}">
                <a16:creationId xmlns:a16="http://schemas.microsoft.com/office/drawing/2014/main" id="{F4D347EB-CC87-1CDC-C332-6814C1E89D8D}"/>
              </a:ext>
            </a:extLst>
          </p:cNvPr>
          <p:cNvCxnSpPr>
            <a:cxnSpLocks/>
          </p:cNvCxnSpPr>
          <p:nvPr/>
        </p:nvCxnSpPr>
        <p:spPr>
          <a:xfrm>
            <a:off x="7412766" y="4112275"/>
            <a:ext cx="10263" cy="257073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167AFED1-7750-665B-C04E-71434F78059A}"/>
              </a:ext>
            </a:extLst>
          </p:cNvPr>
          <p:cNvCxnSpPr>
            <a:cxnSpLocks/>
          </p:cNvCxnSpPr>
          <p:nvPr/>
        </p:nvCxnSpPr>
        <p:spPr>
          <a:xfrm flipH="1">
            <a:off x="9553995" y="4130598"/>
            <a:ext cx="2384" cy="246394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Box 24">
            <a:extLst>
              <a:ext uri="{FF2B5EF4-FFF2-40B4-BE49-F238E27FC236}">
                <a16:creationId xmlns:a16="http://schemas.microsoft.com/office/drawing/2014/main" id="{52606130-A9A7-B70D-B5DE-0AE10659AC4E}"/>
              </a:ext>
            </a:extLst>
          </p:cNvPr>
          <p:cNvSpPr txBox="1"/>
          <p:nvPr/>
        </p:nvSpPr>
        <p:spPr>
          <a:xfrm>
            <a:off x="6465792" y="3845005"/>
            <a:ext cx="12170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172.16.16.128</a:t>
            </a:r>
          </a:p>
        </p:txBody>
      </p:sp>
      <p:sp>
        <p:nvSpPr>
          <p:cNvPr id="58" name="TextBox 25">
            <a:extLst>
              <a:ext uri="{FF2B5EF4-FFF2-40B4-BE49-F238E27FC236}">
                <a16:creationId xmlns:a16="http://schemas.microsoft.com/office/drawing/2014/main" id="{DEF8D1A1-9FF6-41CD-CEEB-D2BE2FCC42CB}"/>
              </a:ext>
            </a:extLst>
          </p:cNvPr>
          <p:cNvSpPr txBox="1"/>
          <p:nvPr/>
        </p:nvSpPr>
        <p:spPr>
          <a:xfrm>
            <a:off x="9016546" y="3873180"/>
            <a:ext cx="12170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74.125.95.104</a:t>
            </a:r>
            <a:endParaRPr lang="ko-KR" altLang="en-US" sz="1400" dirty="0">
              <a:latin typeface="함초롬바탕" panose="02030604000101010101" pitchFamily="18" charset="-127"/>
              <a:ea typeface="함초롬바탕" panose="02030604000101010101" pitchFamily="18" charset="-127"/>
              <a:cs typeface="함초롬바탕" panose="02030604000101010101" pitchFamily="18" charset="-127"/>
            </a:endParaRPr>
          </a:p>
        </p:txBody>
      </p:sp>
      <p:cxnSp>
        <p:nvCxnSpPr>
          <p:cNvPr id="59" name="직선 화살표 연결선 58">
            <a:extLst>
              <a:ext uri="{FF2B5EF4-FFF2-40B4-BE49-F238E27FC236}">
                <a16:creationId xmlns:a16="http://schemas.microsoft.com/office/drawing/2014/main" id="{62D8D9B7-F031-AAAA-DEDB-844F3CFF0DCD}"/>
              </a:ext>
            </a:extLst>
          </p:cNvPr>
          <p:cNvCxnSpPr>
            <a:cxnSpLocks/>
          </p:cNvCxnSpPr>
          <p:nvPr/>
        </p:nvCxnSpPr>
        <p:spPr>
          <a:xfrm>
            <a:off x="7401564" y="4288773"/>
            <a:ext cx="2143485" cy="20825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D14002C6-4C29-BCF3-6440-89ED71A2C97B}"/>
              </a:ext>
            </a:extLst>
          </p:cNvPr>
          <p:cNvSpPr txBox="1"/>
          <p:nvPr/>
        </p:nvSpPr>
        <p:spPr>
          <a:xfrm rot="271128">
            <a:off x="8201437" y="4144867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SYN</a:t>
            </a:r>
            <a:endParaRPr lang="ko-KR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61" name="직선 화살표 연결선 60">
            <a:extLst>
              <a:ext uri="{FF2B5EF4-FFF2-40B4-BE49-F238E27FC236}">
                <a16:creationId xmlns:a16="http://schemas.microsoft.com/office/drawing/2014/main" id="{2B0013A0-0428-C883-DFA2-D4A77E1884B6}"/>
              </a:ext>
            </a:extLst>
          </p:cNvPr>
          <p:cNvCxnSpPr>
            <a:cxnSpLocks/>
          </p:cNvCxnSpPr>
          <p:nvPr/>
        </p:nvCxnSpPr>
        <p:spPr>
          <a:xfrm flipH="1">
            <a:off x="7441473" y="4761927"/>
            <a:ext cx="2119330" cy="12818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395A25F3-19CA-CCE0-DF83-AF5C57DF51F6}"/>
              </a:ext>
            </a:extLst>
          </p:cNvPr>
          <p:cNvSpPr txBox="1"/>
          <p:nvPr/>
        </p:nvSpPr>
        <p:spPr>
          <a:xfrm rot="21414474">
            <a:off x="7955610" y="4585364"/>
            <a:ext cx="99257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SYN/ACK</a:t>
            </a:r>
            <a:endParaRPr lang="ko-KR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63" name="직선 화살표 연결선 62">
            <a:extLst>
              <a:ext uri="{FF2B5EF4-FFF2-40B4-BE49-F238E27FC236}">
                <a16:creationId xmlns:a16="http://schemas.microsoft.com/office/drawing/2014/main" id="{630D22B5-D2AE-1E66-3D7A-24D260CE9884}"/>
              </a:ext>
            </a:extLst>
          </p:cNvPr>
          <p:cNvCxnSpPr>
            <a:cxnSpLocks/>
          </p:cNvCxnSpPr>
          <p:nvPr/>
        </p:nvCxnSpPr>
        <p:spPr>
          <a:xfrm>
            <a:off x="7401563" y="5137639"/>
            <a:ext cx="2143485" cy="20825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오른쪽 대괄호 63">
            <a:extLst>
              <a:ext uri="{FF2B5EF4-FFF2-40B4-BE49-F238E27FC236}">
                <a16:creationId xmlns:a16="http://schemas.microsoft.com/office/drawing/2014/main" id="{8B4CA214-8DD5-5631-6315-AF83F5E3D5E0}"/>
              </a:ext>
            </a:extLst>
          </p:cNvPr>
          <p:cNvSpPr/>
          <p:nvPr/>
        </p:nvSpPr>
        <p:spPr>
          <a:xfrm>
            <a:off x="9575834" y="4497028"/>
            <a:ext cx="276973" cy="257204"/>
          </a:xfrm>
          <a:prstGeom prst="rightBracket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53D7EBD-02C0-FA5A-38CC-E67A279C3186}"/>
              </a:ext>
            </a:extLst>
          </p:cNvPr>
          <p:cNvSpPr txBox="1"/>
          <p:nvPr/>
        </p:nvSpPr>
        <p:spPr>
          <a:xfrm rot="271128">
            <a:off x="8259066" y="4990426"/>
            <a:ext cx="58381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ACK</a:t>
            </a:r>
            <a:endParaRPr lang="ko-KR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66" name="직선 화살표 연결선 65">
            <a:extLst>
              <a:ext uri="{FF2B5EF4-FFF2-40B4-BE49-F238E27FC236}">
                <a16:creationId xmlns:a16="http://schemas.microsoft.com/office/drawing/2014/main" id="{931A0E60-9984-DBB7-B69F-4BD3E966FF47}"/>
              </a:ext>
            </a:extLst>
          </p:cNvPr>
          <p:cNvCxnSpPr>
            <a:cxnSpLocks/>
          </p:cNvCxnSpPr>
          <p:nvPr/>
        </p:nvCxnSpPr>
        <p:spPr>
          <a:xfrm>
            <a:off x="7442612" y="5431458"/>
            <a:ext cx="2143485" cy="20825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TextBox 66">
            <a:extLst>
              <a:ext uri="{FF2B5EF4-FFF2-40B4-BE49-F238E27FC236}">
                <a16:creationId xmlns:a16="http://schemas.microsoft.com/office/drawing/2014/main" id="{D0D32795-6F0B-4599-5103-F650BD19159E}"/>
              </a:ext>
            </a:extLst>
          </p:cNvPr>
          <p:cNvSpPr txBox="1"/>
          <p:nvPr/>
        </p:nvSpPr>
        <p:spPr>
          <a:xfrm rot="271128">
            <a:off x="7975052" y="5259282"/>
            <a:ext cx="101797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HTTP GET</a:t>
            </a:r>
            <a:endParaRPr lang="ko-KR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68" name="직선 화살표 연결선 67">
            <a:extLst>
              <a:ext uri="{FF2B5EF4-FFF2-40B4-BE49-F238E27FC236}">
                <a16:creationId xmlns:a16="http://schemas.microsoft.com/office/drawing/2014/main" id="{62AC5400-D72D-E620-0819-C5264A351182}"/>
              </a:ext>
            </a:extLst>
          </p:cNvPr>
          <p:cNvCxnSpPr/>
          <p:nvPr/>
        </p:nvCxnSpPr>
        <p:spPr>
          <a:xfrm flipH="1">
            <a:off x="7408342" y="5925959"/>
            <a:ext cx="2132155" cy="19455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오른쪽 대괄호 68">
            <a:extLst>
              <a:ext uri="{FF2B5EF4-FFF2-40B4-BE49-F238E27FC236}">
                <a16:creationId xmlns:a16="http://schemas.microsoft.com/office/drawing/2014/main" id="{926D5CE8-87A8-A56C-86CC-0A1AF477667D}"/>
              </a:ext>
            </a:extLst>
          </p:cNvPr>
          <p:cNvSpPr/>
          <p:nvPr/>
        </p:nvSpPr>
        <p:spPr>
          <a:xfrm>
            <a:off x="9589445" y="5644549"/>
            <a:ext cx="247403" cy="287930"/>
          </a:xfrm>
          <a:prstGeom prst="rightBracket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4D3B63AE-4390-DDA8-FC1B-D4954F43C324}"/>
              </a:ext>
            </a:extLst>
          </p:cNvPr>
          <p:cNvSpPr txBox="1"/>
          <p:nvPr/>
        </p:nvSpPr>
        <p:spPr>
          <a:xfrm rot="21307504">
            <a:off x="8240180" y="5741819"/>
            <a:ext cx="58381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ACK</a:t>
            </a:r>
            <a:endParaRPr lang="ko-KR" altLang="en-US" sz="14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2C5BF45D-35AB-AE2A-8A8B-78C8FFD681C5}"/>
              </a:ext>
            </a:extLst>
          </p:cNvPr>
          <p:cNvSpPr txBox="1"/>
          <p:nvPr/>
        </p:nvSpPr>
        <p:spPr>
          <a:xfrm>
            <a:off x="9867838" y="4510326"/>
            <a:ext cx="64633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0.018</a:t>
            </a:r>
            <a:endParaRPr lang="ko-KR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A93810C4-7698-5369-3C17-3E8EFD223432}"/>
              </a:ext>
            </a:extLst>
          </p:cNvPr>
          <p:cNvSpPr txBox="1"/>
          <p:nvPr/>
        </p:nvSpPr>
        <p:spPr>
          <a:xfrm>
            <a:off x="9813360" y="5619237"/>
            <a:ext cx="64633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0.047</a:t>
            </a:r>
            <a:endParaRPr lang="ko-KR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74" name="직선 연결선 73">
            <a:extLst>
              <a:ext uri="{FF2B5EF4-FFF2-40B4-BE49-F238E27FC236}">
                <a16:creationId xmlns:a16="http://schemas.microsoft.com/office/drawing/2014/main" id="{12836AE0-3FC9-0A15-1319-2C220DB6D807}"/>
              </a:ext>
            </a:extLst>
          </p:cNvPr>
          <p:cNvCxnSpPr>
            <a:cxnSpLocks/>
          </p:cNvCxnSpPr>
          <p:nvPr/>
        </p:nvCxnSpPr>
        <p:spPr>
          <a:xfrm>
            <a:off x="2311258" y="4112275"/>
            <a:ext cx="10263" cy="257073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직선 연결선 74">
            <a:extLst>
              <a:ext uri="{FF2B5EF4-FFF2-40B4-BE49-F238E27FC236}">
                <a16:creationId xmlns:a16="http://schemas.microsoft.com/office/drawing/2014/main" id="{8D0919BD-BF47-0DF7-C5F8-6AB0981562FB}"/>
              </a:ext>
            </a:extLst>
          </p:cNvPr>
          <p:cNvCxnSpPr>
            <a:cxnSpLocks/>
          </p:cNvCxnSpPr>
          <p:nvPr/>
        </p:nvCxnSpPr>
        <p:spPr>
          <a:xfrm flipH="1">
            <a:off x="4452487" y="4130598"/>
            <a:ext cx="2384" cy="246394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TextBox 24">
            <a:extLst>
              <a:ext uri="{FF2B5EF4-FFF2-40B4-BE49-F238E27FC236}">
                <a16:creationId xmlns:a16="http://schemas.microsoft.com/office/drawing/2014/main" id="{DE7AA772-B661-2173-6AA6-356E7246F4B7}"/>
              </a:ext>
            </a:extLst>
          </p:cNvPr>
          <p:cNvSpPr txBox="1"/>
          <p:nvPr/>
        </p:nvSpPr>
        <p:spPr>
          <a:xfrm>
            <a:off x="1364284" y="3845005"/>
            <a:ext cx="12170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172.16.16.128</a:t>
            </a:r>
          </a:p>
        </p:txBody>
      </p:sp>
      <p:sp>
        <p:nvSpPr>
          <p:cNvPr id="77" name="TextBox 25">
            <a:extLst>
              <a:ext uri="{FF2B5EF4-FFF2-40B4-BE49-F238E27FC236}">
                <a16:creationId xmlns:a16="http://schemas.microsoft.com/office/drawing/2014/main" id="{A46E7C96-328D-56EE-9117-EDF824A107EC}"/>
              </a:ext>
            </a:extLst>
          </p:cNvPr>
          <p:cNvSpPr txBox="1"/>
          <p:nvPr/>
        </p:nvSpPr>
        <p:spPr>
          <a:xfrm>
            <a:off x="3915038" y="3873180"/>
            <a:ext cx="12170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74.125.95.104</a:t>
            </a:r>
            <a:endParaRPr lang="ko-KR" altLang="en-US" sz="1400" dirty="0">
              <a:latin typeface="함초롬바탕" panose="02030604000101010101" pitchFamily="18" charset="-127"/>
              <a:ea typeface="함초롬바탕" panose="02030604000101010101" pitchFamily="18" charset="-127"/>
              <a:cs typeface="함초롬바탕" panose="02030604000101010101" pitchFamily="18" charset="-127"/>
            </a:endParaRPr>
          </a:p>
        </p:txBody>
      </p:sp>
      <p:cxnSp>
        <p:nvCxnSpPr>
          <p:cNvPr id="78" name="직선 화살표 연결선 77">
            <a:extLst>
              <a:ext uri="{FF2B5EF4-FFF2-40B4-BE49-F238E27FC236}">
                <a16:creationId xmlns:a16="http://schemas.microsoft.com/office/drawing/2014/main" id="{C1FF8F07-0C35-E2E7-AD08-AB0A31691B1A}"/>
              </a:ext>
            </a:extLst>
          </p:cNvPr>
          <p:cNvCxnSpPr>
            <a:cxnSpLocks/>
          </p:cNvCxnSpPr>
          <p:nvPr/>
        </p:nvCxnSpPr>
        <p:spPr>
          <a:xfrm>
            <a:off x="2300056" y="4288773"/>
            <a:ext cx="2143485" cy="20825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TextBox 78">
            <a:extLst>
              <a:ext uri="{FF2B5EF4-FFF2-40B4-BE49-F238E27FC236}">
                <a16:creationId xmlns:a16="http://schemas.microsoft.com/office/drawing/2014/main" id="{A48F0679-F4C5-B8CF-E738-C9938FE90820}"/>
              </a:ext>
            </a:extLst>
          </p:cNvPr>
          <p:cNvSpPr txBox="1"/>
          <p:nvPr/>
        </p:nvSpPr>
        <p:spPr>
          <a:xfrm rot="271128">
            <a:off x="3099929" y="4144867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SYN</a:t>
            </a:r>
            <a:endParaRPr lang="ko-KR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80" name="직선 화살표 연결선 79">
            <a:extLst>
              <a:ext uri="{FF2B5EF4-FFF2-40B4-BE49-F238E27FC236}">
                <a16:creationId xmlns:a16="http://schemas.microsoft.com/office/drawing/2014/main" id="{72219FFB-74B1-E1F1-C467-89A3BBB8EED1}"/>
              </a:ext>
            </a:extLst>
          </p:cNvPr>
          <p:cNvCxnSpPr/>
          <p:nvPr/>
        </p:nvCxnSpPr>
        <p:spPr>
          <a:xfrm flipH="1">
            <a:off x="2300877" y="4784146"/>
            <a:ext cx="2132155" cy="19455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TextBox 80">
            <a:extLst>
              <a:ext uri="{FF2B5EF4-FFF2-40B4-BE49-F238E27FC236}">
                <a16:creationId xmlns:a16="http://schemas.microsoft.com/office/drawing/2014/main" id="{A21DA6FD-FCA0-996F-808C-58476E260690}"/>
              </a:ext>
            </a:extLst>
          </p:cNvPr>
          <p:cNvSpPr txBox="1"/>
          <p:nvPr/>
        </p:nvSpPr>
        <p:spPr>
          <a:xfrm rot="21307504">
            <a:off x="2841553" y="4565901"/>
            <a:ext cx="992579" cy="307777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SYN/ACK</a:t>
            </a:r>
            <a:endParaRPr lang="ko-KR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102851FE-58E0-915A-293E-AB3FF21FC44A}"/>
              </a:ext>
            </a:extLst>
          </p:cNvPr>
          <p:cNvCxnSpPr>
            <a:cxnSpLocks/>
          </p:cNvCxnSpPr>
          <p:nvPr/>
        </p:nvCxnSpPr>
        <p:spPr>
          <a:xfrm>
            <a:off x="2301783" y="5128218"/>
            <a:ext cx="2143485" cy="20825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오른쪽 대괄호 82">
            <a:extLst>
              <a:ext uri="{FF2B5EF4-FFF2-40B4-BE49-F238E27FC236}">
                <a16:creationId xmlns:a16="http://schemas.microsoft.com/office/drawing/2014/main" id="{95277042-3D20-88E6-D886-7E1220C1B562}"/>
              </a:ext>
            </a:extLst>
          </p:cNvPr>
          <p:cNvSpPr/>
          <p:nvPr/>
        </p:nvSpPr>
        <p:spPr>
          <a:xfrm>
            <a:off x="4474326" y="4497027"/>
            <a:ext cx="272549" cy="301849"/>
          </a:xfrm>
          <a:prstGeom prst="rightBracket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F5F49318-2669-E08D-AA0E-9C0C97F95423}"/>
              </a:ext>
            </a:extLst>
          </p:cNvPr>
          <p:cNvSpPr txBox="1"/>
          <p:nvPr/>
        </p:nvSpPr>
        <p:spPr>
          <a:xfrm rot="271128">
            <a:off x="3157558" y="4990426"/>
            <a:ext cx="58381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ACK</a:t>
            </a:r>
            <a:endParaRPr lang="ko-KR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85" name="직선 화살표 연결선 84">
            <a:extLst>
              <a:ext uri="{FF2B5EF4-FFF2-40B4-BE49-F238E27FC236}">
                <a16:creationId xmlns:a16="http://schemas.microsoft.com/office/drawing/2014/main" id="{B9C5E8D2-1921-EE93-4BF3-0E52A2EA399F}"/>
              </a:ext>
            </a:extLst>
          </p:cNvPr>
          <p:cNvCxnSpPr>
            <a:cxnSpLocks/>
          </p:cNvCxnSpPr>
          <p:nvPr/>
        </p:nvCxnSpPr>
        <p:spPr>
          <a:xfrm>
            <a:off x="2318702" y="5352458"/>
            <a:ext cx="2143485" cy="20825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TextBox 85">
            <a:extLst>
              <a:ext uri="{FF2B5EF4-FFF2-40B4-BE49-F238E27FC236}">
                <a16:creationId xmlns:a16="http://schemas.microsoft.com/office/drawing/2014/main" id="{754D401C-4131-2D25-ED95-730998D2815D}"/>
              </a:ext>
            </a:extLst>
          </p:cNvPr>
          <p:cNvSpPr txBox="1"/>
          <p:nvPr/>
        </p:nvSpPr>
        <p:spPr>
          <a:xfrm rot="271128">
            <a:off x="2911039" y="5224907"/>
            <a:ext cx="101797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HTTP GET</a:t>
            </a:r>
            <a:endParaRPr lang="ko-KR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87" name="직선 화살표 연결선 86">
            <a:extLst>
              <a:ext uri="{FF2B5EF4-FFF2-40B4-BE49-F238E27FC236}">
                <a16:creationId xmlns:a16="http://schemas.microsoft.com/office/drawing/2014/main" id="{591CE1A9-78EC-463A-4760-2B441B4CC3DA}"/>
              </a:ext>
            </a:extLst>
          </p:cNvPr>
          <p:cNvCxnSpPr/>
          <p:nvPr/>
        </p:nvCxnSpPr>
        <p:spPr>
          <a:xfrm flipH="1">
            <a:off x="2329007" y="5828683"/>
            <a:ext cx="2132155" cy="19455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오른쪽 대괄호 87">
            <a:extLst>
              <a:ext uri="{FF2B5EF4-FFF2-40B4-BE49-F238E27FC236}">
                <a16:creationId xmlns:a16="http://schemas.microsoft.com/office/drawing/2014/main" id="{DCF0FD61-E343-1AF8-B19C-3219781F038C}"/>
              </a:ext>
            </a:extLst>
          </p:cNvPr>
          <p:cNvSpPr/>
          <p:nvPr/>
        </p:nvSpPr>
        <p:spPr>
          <a:xfrm>
            <a:off x="4459395" y="5549934"/>
            <a:ext cx="247403" cy="287930"/>
          </a:xfrm>
          <a:prstGeom prst="rightBracket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09861FEA-E2C8-629A-1FF4-70C9EDFF47E2}"/>
              </a:ext>
            </a:extLst>
          </p:cNvPr>
          <p:cNvSpPr txBox="1"/>
          <p:nvPr/>
        </p:nvSpPr>
        <p:spPr>
          <a:xfrm rot="21307504">
            <a:off x="3174945" y="5643487"/>
            <a:ext cx="583814" cy="307777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ACK</a:t>
            </a:r>
            <a:endParaRPr lang="ko-KR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B9FE9A34-9FDF-C151-0889-9495079DB21D}"/>
              </a:ext>
            </a:extLst>
          </p:cNvPr>
          <p:cNvSpPr txBox="1"/>
          <p:nvPr/>
        </p:nvSpPr>
        <p:spPr>
          <a:xfrm>
            <a:off x="4755000" y="4539784"/>
            <a:ext cx="64633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0.030</a:t>
            </a:r>
            <a:endParaRPr lang="ko-KR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C169EC4F-6E7A-F7DD-E906-6BD6D709D2CD}"/>
              </a:ext>
            </a:extLst>
          </p:cNvPr>
          <p:cNvSpPr txBox="1"/>
          <p:nvPr/>
        </p:nvSpPr>
        <p:spPr>
          <a:xfrm>
            <a:off x="4761805" y="5516516"/>
            <a:ext cx="64633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0.048</a:t>
            </a:r>
            <a:endParaRPr lang="ko-KR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5B860D20-BE66-666D-3CD8-20827172E79F}"/>
              </a:ext>
            </a:extLst>
          </p:cNvPr>
          <p:cNvSpPr txBox="1"/>
          <p:nvPr/>
        </p:nvSpPr>
        <p:spPr>
          <a:xfrm>
            <a:off x="4484589" y="6321949"/>
            <a:ext cx="103425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[</a:t>
            </a:r>
            <a:r>
              <a:rPr lang="ko-KR" altLang="en-US" sz="16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정상 시</a:t>
            </a:r>
            <a:r>
              <a:rPr lang="en-US" altLang="ko-KR" sz="16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] </a:t>
            </a:r>
            <a:endParaRPr lang="ko-KR" altLang="en-US" sz="1600" dirty="0">
              <a:latin typeface="함초롬바탕" panose="02030604000101010101" pitchFamily="18" charset="-127"/>
              <a:ea typeface="함초롬바탕" panose="02030604000101010101" pitchFamily="18" charset="-127"/>
              <a:cs typeface="함초롬바탕" panose="02030604000101010101" pitchFamily="18" charset="-127"/>
            </a:endParaRPr>
          </a:p>
        </p:txBody>
      </p:sp>
      <p:sp>
        <p:nvSpPr>
          <p:cNvPr id="93" name="오른쪽 대괄호 92">
            <a:extLst>
              <a:ext uri="{FF2B5EF4-FFF2-40B4-BE49-F238E27FC236}">
                <a16:creationId xmlns:a16="http://schemas.microsoft.com/office/drawing/2014/main" id="{130CD3CA-440A-ED04-92C6-150F726ED8D8}"/>
              </a:ext>
            </a:extLst>
          </p:cNvPr>
          <p:cNvSpPr/>
          <p:nvPr/>
        </p:nvSpPr>
        <p:spPr>
          <a:xfrm flipH="1">
            <a:off x="2090847" y="4988677"/>
            <a:ext cx="237891" cy="111366"/>
          </a:xfrm>
          <a:prstGeom prst="rightBracket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4" name="오른쪽 대괄호 93">
            <a:extLst>
              <a:ext uri="{FF2B5EF4-FFF2-40B4-BE49-F238E27FC236}">
                <a16:creationId xmlns:a16="http://schemas.microsoft.com/office/drawing/2014/main" id="{E981B43D-116D-676D-5928-4E5CD9175FDA}"/>
              </a:ext>
            </a:extLst>
          </p:cNvPr>
          <p:cNvSpPr/>
          <p:nvPr/>
        </p:nvSpPr>
        <p:spPr>
          <a:xfrm flipH="1">
            <a:off x="2080811" y="5154452"/>
            <a:ext cx="237891" cy="111366"/>
          </a:xfrm>
          <a:prstGeom prst="rightBracket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5" name="오른쪽 대괄호 94">
            <a:extLst>
              <a:ext uri="{FF2B5EF4-FFF2-40B4-BE49-F238E27FC236}">
                <a16:creationId xmlns:a16="http://schemas.microsoft.com/office/drawing/2014/main" id="{1B405601-6BC1-517B-7F86-6B9F9F5DCC31}"/>
              </a:ext>
            </a:extLst>
          </p:cNvPr>
          <p:cNvSpPr/>
          <p:nvPr/>
        </p:nvSpPr>
        <p:spPr>
          <a:xfrm flipH="1">
            <a:off x="2091116" y="4988677"/>
            <a:ext cx="237891" cy="111366"/>
          </a:xfrm>
          <a:prstGeom prst="rightBracket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6" name="오른쪽 대괄호 95">
            <a:extLst>
              <a:ext uri="{FF2B5EF4-FFF2-40B4-BE49-F238E27FC236}">
                <a16:creationId xmlns:a16="http://schemas.microsoft.com/office/drawing/2014/main" id="{178FC29F-1100-5C54-D8B6-AB6D7501C2A5}"/>
              </a:ext>
            </a:extLst>
          </p:cNvPr>
          <p:cNvSpPr/>
          <p:nvPr/>
        </p:nvSpPr>
        <p:spPr>
          <a:xfrm flipH="1">
            <a:off x="7174875" y="5139213"/>
            <a:ext cx="203652" cy="213245"/>
          </a:xfrm>
          <a:prstGeom prst="rightBracket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99367F7E-15CF-C105-D8BE-D616852DB6AB}"/>
              </a:ext>
            </a:extLst>
          </p:cNvPr>
          <p:cNvSpPr txBox="1"/>
          <p:nvPr/>
        </p:nvSpPr>
        <p:spPr>
          <a:xfrm>
            <a:off x="6573570" y="5185284"/>
            <a:ext cx="64633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0.000</a:t>
            </a:r>
            <a:endParaRPr lang="ko-KR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DF558876-5CE9-BBC1-E9A1-33A64F375B6A}"/>
              </a:ext>
            </a:extLst>
          </p:cNvPr>
          <p:cNvSpPr txBox="1"/>
          <p:nvPr/>
        </p:nvSpPr>
        <p:spPr>
          <a:xfrm>
            <a:off x="1408460" y="5044360"/>
            <a:ext cx="64633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0.000</a:t>
            </a:r>
            <a:endParaRPr lang="ko-KR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5FE270CF-B21C-0F29-6F19-320F45630B00}"/>
              </a:ext>
            </a:extLst>
          </p:cNvPr>
          <p:cNvSpPr txBox="1"/>
          <p:nvPr/>
        </p:nvSpPr>
        <p:spPr>
          <a:xfrm>
            <a:off x="1426829" y="4851508"/>
            <a:ext cx="64633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0.000</a:t>
            </a:r>
            <a:endParaRPr lang="ko-KR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0" name="오른쪽 대괄호 99">
            <a:extLst>
              <a:ext uri="{FF2B5EF4-FFF2-40B4-BE49-F238E27FC236}">
                <a16:creationId xmlns:a16="http://schemas.microsoft.com/office/drawing/2014/main" id="{9910B9AF-6B7D-E2D1-1285-67CF0DDDB071}"/>
              </a:ext>
            </a:extLst>
          </p:cNvPr>
          <p:cNvSpPr/>
          <p:nvPr/>
        </p:nvSpPr>
        <p:spPr>
          <a:xfrm flipH="1">
            <a:off x="7174874" y="4915297"/>
            <a:ext cx="245174" cy="161171"/>
          </a:xfrm>
          <a:prstGeom prst="rightBracket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D508B3CB-B371-C9B3-5ED4-1560994219A7}"/>
              </a:ext>
            </a:extLst>
          </p:cNvPr>
          <p:cNvSpPr txBox="1"/>
          <p:nvPr/>
        </p:nvSpPr>
        <p:spPr>
          <a:xfrm>
            <a:off x="6562874" y="4820609"/>
            <a:ext cx="64633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0.016</a:t>
            </a:r>
            <a:endParaRPr lang="ko-KR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04" name="직선 화살표 연결선 103">
            <a:extLst>
              <a:ext uri="{FF2B5EF4-FFF2-40B4-BE49-F238E27FC236}">
                <a16:creationId xmlns:a16="http://schemas.microsoft.com/office/drawing/2014/main" id="{473B2D9D-E569-50AE-5D57-FFDC67EFE5D8}"/>
              </a:ext>
            </a:extLst>
          </p:cNvPr>
          <p:cNvCxnSpPr>
            <a:cxnSpLocks/>
          </p:cNvCxnSpPr>
          <p:nvPr/>
        </p:nvCxnSpPr>
        <p:spPr>
          <a:xfrm flipH="1">
            <a:off x="3654948" y="1298066"/>
            <a:ext cx="3589030" cy="185960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직선 화살표 연결선 3">
            <a:extLst>
              <a:ext uri="{FF2B5EF4-FFF2-40B4-BE49-F238E27FC236}">
                <a16:creationId xmlns:a16="http://schemas.microsoft.com/office/drawing/2014/main" id="{71AF2321-ED45-26C2-1BA9-B99E9FB8175D}"/>
              </a:ext>
            </a:extLst>
          </p:cNvPr>
          <p:cNvCxnSpPr/>
          <p:nvPr/>
        </p:nvCxnSpPr>
        <p:spPr>
          <a:xfrm flipH="1">
            <a:off x="7408342" y="6482721"/>
            <a:ext cx="2132155" cy="19455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오른쪽 대괄호 5">
            <a:extLst>
              <a:ext uri="{FF2B5EF4-FFF2-40B4-BE49-F238E27FC236}">
                <a16:creationId xmlns:a16="http://schemas.microsoft.com/office/drawing/2014/main" id="{19A381C9-E0E7-BA33-8E54-7AAFEFF9EB0E}"/>
              </a:ext>
            </a:extLst>
          </p:cNvPr>
          <p:cNvSpPr/>
          <p:nvPr/>
        </p:nvSpPr>
        <p:spPr>
          <a:xfrm>
            <a:off x="9569463" y="5964893"/>
            <a:ext cx="174596" cy="517827"/>
          </a:xfrm>
          <a:prstGeom prst="rightBracket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B82753A-6307-5004-69B6-130B294E7A34}"/>
              </a:ext>
            </a:extLst>
          </p:cNvPr>
          <p:cNvSpPr txBox="1"/>
          <p:nvPr/>
        </p:nvSpPr>
        <p:spPr>
          <a:xfrm>
            <a:off x="9783642" y="6054304"/>
            <a:ext cx="64633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0.982</a:t>
            </a:r>
            <a:endParaRPr lang="ko-KR" altLang="en-US" sz="16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8482958-1989-EF95-AA8B-16DEEBA54232}"/>
              </a:ext>
            </a:extLst>
          </p:cNvPr>
          <p:cNvSpPr txBox="1"/>
          <p:nvPr/>
        </p:nvSpPr>
        <p:spPr>
          <a:xfrm rot="21307504">
            <a:off x="8284509" y="6264367"/>
            <a:ext cx="67358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HTTP</a:t>
            </a:r>
            <a:endParaRPr lang="ko-KR" altLang="en-US" sz="14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E7875CEC-890E-5FA2-E9EA-1A72A042B027}"/>
              </a:ext>
            </a:extLst>
          </p:cNvPr>
          <p:cNvCxnSpPr/>
          <p:nvPr/>
        </p:nvCxnSpPr>
        <p:spPr>
          <a:xfrm flipH="1">
            <a:off x="2290169" y="6140669"/>
            <a:ext cx="2132155" cy="19455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803EBB1B-C58D-AF31-5184-D8DC84C3FE5F}"/>
              </a:ext>
            </a:extLst>
          </p:cNvPr>
          <p:cNvSpPr txBox="1"/>
          <p:nvPr/>
        </p:nvSpPr>
        <p:spPr>
          <a:xfrm rot="21307504">
            <a:off x="3189576" y="5957137"/>
            <a:ext cx="631904" cy="307777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HTTP</a:t>
            </a:r>
            <a:endParaRPr lang="ko-KR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오른쪽 대괄호 10">
            <a:extLst>
              <a:ext uri="{FF2B5EF4-FFF2-40B4-BE49-F238E27FC236}">
                <a16:creationId xmlns:a16="http://schemas.microsoft.com/office/drawing/2014/main" id="{E2AB12A0-C594-E474-02BC-8CC6E0707C4A}"/>
              </a:ext>
            </a:extLst>
          </p:cNvPr>
          <p:cNvSpPr/>
          <p:nvPr/>
        </p:nvSpPr>
        <p:spPr>
          <a:xfrm>
            <a:off x="4475909" y="5871977"/>
            <a:ext cx="248230" cy="268692"/>
          </a:xfrm>
          <a:prstGeom prst="rightBracket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8DE2DEB-AE17-B64F-C4DE-86380B76FE5D}"/>
              </a:ext>
            </a:extLst>
          </p:cNvPr>
          <p:cNvSpPr txBox="1"/>
          <p:nvPr/>
        </p:nvSpPr>
        <p:spPr>
          <a:xfrm>
            <a:off x="4743075" y="5889183"/>
            <a:ext cx="64633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0.016</a:t>
            </a:r>
            <a:endParaRPr lang="ko-KR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167815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8200" y="549950"/>
            <a:ext cx="10515600" cy="701675"/>
          </a:xfrm>
        </p:spPr>
        <p:txBody>
          <a:bodyPr>
            <a:normAutofit/>
          </a:bodyPr>
          <a:lstStyle/>
          <a:p>
            <a:r>
              <a:rPr lang="ko-KR" altLang="en-US" sz="3200" b="1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높은 지연의 근원지 탐색 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00E85C-9068-46D2-A14A-A9DCCDE0C986}" type="slidenum">
              <a:rPr lang="ko-KR" altLang="en-US" smtClean="0"/>
              <a:t>41</a:t>
            </a:fld>
            <a:endParaRPr lang="ko-KR" altLang="en-US"/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77CB6B47-8940-25AD-0A31-EFAE09EB4293}"/>
              </a:ext>
            </a:extLst>
          </p:cNvPr>
          <p:cNvGrpSpPr/>
          <p:nvPr/>
        </p:nvGrpSpPr>
        <p:grpSpPr>
          <a:xfrm>
            <a:off x="2395979" y="3074575"/>
            <a:ext cx="1015052" cy="1023754"/>
            <a:chOff x="1533695" y="4087365"/>
            <a:chExt cx="838200" cy="1011237"/>
          </a:xfrm>
        </p:grpSpPr>
        <p:sp>
          <p:nvSpPr>
            <p:cNvPr id="8" name="Freeform 174">
              <a:extLst>
                <a:ext uri="{FF2B5EF4-FFF2-40B4-BE49-F238E27FC236}">
                  <a16:creationId xmlns:a16="http://schemas.microsoft.com/office/drawing/2014/main" id="{CC4322F7-6E16-D5C4-653A-6DDE82EF9E4E}"/>
                </a:ext>
              </a:extLst>
            </p:cNvPr>
            <p:cNvSpPr>
              <a:spLocks/>
            </p:cNvSpPr>
            <p:nvPr/>
          </p:nvSpPr>
          <p:spPr bwMode="auto">
            <a:xfrm rot="355818">
              <a:off x="2175045" y="4754115"/>
              <a:ext cx="74613" cy="52387"/>
            </a:xfrm>
            <a:custGeom>
              <a:avLst/>
              <a:gdLst>
                <a:gd name="T0" fmla="*/ 1224 w 1224"/>
                <a:gd name="T1" fmla="*/ 755 h 755"/>
                <a:gd name="T2" fmla="*/ 1112 w 1224"/>
                <a:gd name="T3" fmla="*/ 716 h 755"/>
                <a:gd name="T4" fmla="*/ 1051 w 1224"/>
                <a:gd name="T5" fmla="*/ 693 h 755"/>
                <a:gd name="T6" fmla="*/ 1006 w 1224"/>
                <a:gd name="T7" fmla="*/ 671 h 755"/>
                <a:gd name="T8" fmla="*/ 984 w 1224"/>
                <a:gd name="T9" fmla="*/ 660 h 755"/>
                <a:gd name="T10" fmla="*/ 939 w 1224"/>
                <a:gd name="T11" fmla="*/ 626 h 755"/>
                <a:gd name="T12" fmla="*/ 894 w 1224"/>
                <a:gd name="T13" fmla="*/ 548 h 755"/>
                <a:gd name="T14" fmla="*/ 889 w 1224"/>
                <a:gd name="T15" fmla="*/ 531 h 755"/>
                <a:gd name="T16" fmla="*/ 850 w 1224"/>
                <a:gd name="T17" fmla="*/ 509 h 755"/>
                <a:gd name="T18" fmla="*/ 799 w 1224"/>
                <a:gd name="T19" fmla="*/ 481 h 755"/>
                <a:gd name="T20" fmla="*/ 704 w 1224"/>
                <a:gd name="T21" fmla="*/ 453 h 755"/>
                <a:gd name="T22" fmla="*/ 419 w 1224"/>
                <a:gd name="T23" fmla="*/ 442 h 755"/>
                <a:gd name="T24" fmla="*/ 330 w 1224"/>
                <a:gd name="T25" fmla="*/ 408 h 755"/>
                <a:gd name="T26" fmla="*/ 212 w 1224"/>
                <a:gd name="T27" fmla="*/ 279 h 755"/>
                <a:gd name="T28" fmla="*/ 145 w 1224"/>
                <a:gd name="T29" fmla="*/ 134 h 755"/>
                <a:gd name="T30" fmla="*/ 78 w 1224"/>
                <a:gd name="T31" fmla="*/ 39 h 755"/>
                <a:gd name="T32" fmla="*/ 0 w 1224"/>
                <a:gd name="T33" fmla="*/ 0 h 755"/>
                <a:gd name="T34" fmla="*/ 0 60000 65536"/>
                <a:gd name="T35" fmla="*/ 0 60000 65536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w 1224"/>
                <a:gd name="T52" fmla="*/ 0 h 755"/>
                <a:gd name="T53" fmla="*/ 1224 w 1224"/>
                <a:gd name="T54" fmla="*/ 755 h 755"/>
              </a:gdLst>
              <a:ahLst/>
              <a:cxnLst>
                <a:cxn ang="T34">
                  <a:pos x="T0" y="T1"/>
                </a:cxn>
                <a:cxn ang="T35">
                  <a:pos x="T2" y="T3"/>
                </a:cxn>
                <a:cxn ang="T36">
                  <a:pos x="T4" y="T5"/>
                </a:cxn>
                <a:cxn ang="T37">
                  <a:pos x="T6" y="T7"/>
                </a:cxn>
                <a:cxn ang="T38">
                  <a:pos x="T8" y="T9"/>
                </a:cxn>
                <a:cxn ang="T39">
                  <a:pos x="T10" y="T11"/>
                </a:cxn>
                <a:cxn ang="T40">
                  <a:pos x="T12" y="T13"/>
                </a:cxn>
                <a:cxn ang="T41">
                  <a:pos x="T14" y="T15"/>
                </a:cxn>
                <a:cxn ang="T42">
                  <a:pos x="T16" y="T17"/>
                </a:cxn>
                <a:cxn ang="T43">
                  <a:pos x="T18" y="T19"/>
                </a:cxn>
                <a:cxn ang="T44">
                  <a:pos x="T20" y="T21"/>
                </a:cxn>
                <a:cxn ang="T45">
                  <a:pos x="T22" y="T23"/>
                </a:cxn>
                <a:cxn ang="T46">
                  <a:pos x="T24" y="T25"/>
                </a:cxn>
                <a:cxn ang="T47">
                  <a:pos x="T26" y="T27"/>
                </a:cxn>
                <a:cxn ang="T48">
                  <a:pos x="T28" y="T29"/>
                </a:cxn>
                <a:cxn ang="T49">
                  <a:pos x="T30" y="T31"/>
                </a:cxn>
                <a:cxn ang="T50">
                  <a:pos x="T32" y="T33"/>
                </a:cxn>
              </a:cxnLst>
              <a:rect l="T51" t="T52" r="T53" b="T54"/>
              <a:pathLst>
                <a:path w="1224" h="755">
                  <a:moveTo>
                    <a:pt x="1224" y="755"/>
                  </a:moveTo>
                  <a:cubicBezTo>
                    <a:pt x="1190" y="729"/>
                    <a:pt x="1154" y="724"/>
                    <a:pt x="1112" y="716"/>
                  </a:cubicBezTo>
                  <a:cubicBezTo>
                    <a:pt x="1091" y="705"/>
                    <a:pt x="1072" y="702"/>
                    <a:pt x="1051" y="693"/>
                  </a:cubicBezTo>
                  <a:cubicBezTo>
                    <a:pt x="1036" y="686"/>
                    <a:pt x="1021" y="678"/>
                    <a:pt x="1006" y="671"/>
                  </a:cubicBezTo>
                  <a:cubicBezTo>
                    <a:pt x="999" y="667"/>
                    <a:pt x="984" y="660"/>
                    <a:pt x="984" y="660"/>
                  </a:cubicBezTo>
                  <a:cubicBezTo>
                    <a:pt x="971" y="646"/>
                    <a:pt x="939" y="626"/>
                    <a:pt x="939" y="626"/>
                  </a:cubicBezTo>
                  <a:cubicBezTo>
                    <a:pt x="923" y="602"/>
                    <a:pt x="906" y="575"/>
                    <a:pt x="894" y="548"/>
                  </a:cubicBezTo>
                  <a:cubicBezTo>
                    <a:pt x="892" y="543"/>
                    <a:pt x="893" y="536"/>
                    <a:pt x="889" y="531"/>
                  </a:cubicBezTo>
                  <a:cubicBezTo>
                    <a:pt x="884" y="524"/>
                    <a:pt x="855" y="512"/>
                    <a:pt x="850" y="509"/>
                  </a:cubicBezTo>
                  <a:cubicBezTo>
                    <a:pt x="802" y="480"/>
                    <a:pt x="833" y="491"/>
                    <a:pt x="799" y="481"/>
                  </a:cubicBezTo>
                  <a:cubicBezTo>
                    <a:pt x="764" y="457"/>
                    <a:pt x="751" y="457"/>
                    <a:pt x="704" y="453"/>
                  </a:cubicBezTo>
                  <a:cubicBezTo>
                    <a:pt x="606" y="457"/>
                    <a:pt x="515" y="459"/>
                    <a:pt x="419" y="442"/>
                  </a:cubicBezTo>
                  <a:cubicBezTo>
                    <a:pt x="391" y="426"/>
                    <a:pt x="360" y="419"/>
                    <a:pt x="330" y="408"/>
                  </a:cubicBezTo>
                  <a:cubicBezTo>
                    <a:pt x="287" y="368"/>
                    <a:pt x="245" y="328"/>
                    <a:pt x="212" y="279"/>
                  </a:cubicBezTo>
                  <a:cubicBezTo>
                    <a:pt x="183" y="235"/>
                    <a:pt x="168" y="181"/>
                    <a:pt x="145" y="134"/>
                  </a:cubicBezTo>
                  <a:cubicBezTo>
                    <a:pt x="128" y="100"/>
                    <a:pt x="99" y="71"/>
                    <a:pt x="78" y="39"/>
                  </a:cubicBezTo>
                  <a:cubicBezTo>
                    <a:pt x="70" y="27"/>
                    <a:pt x="15" y="7"/>
                    <a:pt x="0" y="0"/>
                  </a:cubicBezTo>
                </a:path>
              </a:pathLst>
            </a:custGeom>
            <a:noFill/>
            <a:ln w="12700">
              <a:solidFill>
                <a:srgbClr val="969696"/>
              </a:solidFill>
              <a:round/>
              <a:headEnd/>
              <a:tailEnd/>
            </a:ln>
          </p:spPr>
          <p:txBody>
            <a:bodyPr/>
            <a:lstStyle/>
            <a:p>
              <a:pPr eaLnBrk="1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lang="ko-KR" altLang="en-US" sz="1800" b="0" kern="0">
                <a:solidFill>
                  <a:sysClr val="windowText" lastClr="000000"/>
                </a:solidFill>
                <a:latin typeface="+mn-lt"/>
                <a:ea typeface="+mn-ea"/>
              </a:endParaRPr>
            </a:p>
          </p:txBody>
        </p:sp>
        <p:sp>
          <p:nvSpPr>
            <p:cNvPr id="9" name="Freeform 175">
              <a:extLst>
                <a:ext uri="{FF2B5EF4-FFF2-40B4-BE49-F238E27FC236}">
                  <a16:creationId xmlns:a16="http://schemas.microsoft.com/office/drawing/2014/main" id="{54E66F33-8335-16C9-156F-6369624472D3}"/>
                </a:ext>
              </a:extLst>
            </p:cNvPr>
            <p:cNvSpPr>
              <a:spLocks/>
            </p:cNvSpPr>
            <p:nvPr/>
          </p:nvSpPr>
          <p:spPr bwMode="auto">
            <a:xfrm rot="355818" flipH="1">
              <a:off x="2235370" y="4801740"/>
              <a:ext cx="136525" cy="82550"/>
            </a:xfrm>
            <a:custGeom>
              <a:avLst/>
              <a:gdLst>
                <a:gd name="T0" fmla="*/ 886 w 971"/>
                <a:gd name="T1" fmla="*/ 33 h 550"/>
                <a:gd name="T2" fmla="*/ 937 w 971"/>
                <a:gd name="T3" fmla="*/ 70 h 550"/>
                <a:gd name="T4" fmla="*/ 971 w 971"/>
                <a:gd name="T5" fmla="*/ 130 h 550"/>
                <a:gd name="T6" fmla="*/ 967 w 971"/>
                <a:gd name="T7" fmla="*/ 218 h 550"/>
                <a:gd name="T8" fmla="*/ 882 w 971"/>
                <a:gd name="T9" fmla="*/ 261 h 550"/>
                <a:gd name="T10" fmla="*/ 791 w 971"/>
                <a:gd name="T11" fmla="*/ 294 h 550"/>
                <a:gd name="T12" fmla="*/ 665 w 971"/>
                <a:gd name="T13" fmla="*/ 382 h 550"/>
                <a:gd name="T14" fmla="*/ 519 w 971"/>
                <a:gd name="T15" fmla="*/ 522 h 550"/>
                <a:gd name="T16" fmla="*/ 397 w 971"/>
                <a:gd name="T17" fmla="*/ 542 h 550"/>
                <a:gd name="T18" fmla="*/ 298 w 971"/>
                <a:gd name="T19" fmla="*/ 550 h 550"/>
                <a:gd name="T20" fmla="*/ 155 w 971"/>
                <a:gd name="T21" fmla="*/ 522 h 550"/>
                <a:gd name="T22" fmla="*/ 34 w 971"/>
                <a:gd name="T23" fmla="*/ 459 h 550"/>
                <a:gd name="T24" fmla="*/ 0 w 971"/>
                <a:gd name="T25" fmla="*/ 393 h 550"/>
                <a:gd name="T26" fmla="*/ 11 w 971"/>
                <a:gd name="T27" fmla="*/ 315 h 550"/>
                <a:gd name="T28" fmla="*/ 63 w 971"/>
                <a:gd name="T29" fmla="*/ 210 h 550"/>
                <a:gd name="T30" fmla="*/ 142 w 971"/>
                <a:gd name="T31" fmla="*/ 147 h 550"/>
                <a:gd name="T32" fmla="*/ 246 w 971"/>
                <a:gd name="T33" fmla="*/ 89 h 550"/>
                <a:gd name="T34" fmla="*/ 445 w 971"/>
                <a:gd name="T35" fmla="*/ 21 h 550"/>
                <a:gd name="T36" fmla="*/ 634 w 971"/>
                <a:gd name="T37" fmla="*/ 0 h 550"/>
                <a:gd name="T38" fmla="*/ 794 w 971"/>
                <a:gd name="T39" fmla="*/ 13 h 550"/>
                <a:gd name="T40" fmla="*/ 886 w 971"/>
                <a:gd name="T41" fmla="*/ 33 h 550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60000 65536"/>
                <a:gd name="T55" fmla="*/ 0 60000 65536"/>
                <a:gd name="T56" fmla="*/ 0 60000 65536"/>
                <a:gd name="T57" fmla="*/ 0 60000 65536"/>
                <a:gd name="T58" fmla="*/ 0 60000 65536"/>
                <a:gd name="T59" fmla="*/ 0 60000 65536"/>
                <a:gd name="T60" fmla="*/ 0 60000 65536"/>
                <a:gd name="T61" fmla="*/ 0 60000 65536"/>
                <a:gd name="T62" fmla="*/ 0 60000 65536"/>
                <a:gd name="T63" fmla="*/ 0 w 971"/>
                <a:gd name="T64" fmla="*/ 0 h 550"/>
                <a:gd name="T65" fmla="*/ 971 w 971"/>
                <a:gd name="T66" fmla="*/ 550 h 550"/>
              </a:gdLst>
              <a:ahLst/>
              <a:cxnLst>
                <a:cxn ang="T42">
                  <a:pos x="T0" y="T1"/>
                </a:cxn>
                <a:cxn ang="T43">
                  <a:pos x="T2" y="T3"/>
                </a:cxn>
                <a:cxn ang="T44">
                  <a:pos x="T4" y="T5"/>
                </a:cxn>
                <a:cxn ang="T45">
                  <a:pos x="T6" y="T7"/>
                </a:cxn>
                <a:cxn ang="T46">
                  <a:pos x="T8" y="T9"/>
                </a:cxn>
                <a:cxn ang="T47">
                  <a:pos x="T10" y="T11"/>
                </a:cxn>
                <a:cxn ang="T48">
                  <a:pos x="T12" y="T13"/>
                </a:cxn>
                <a:cxn ang="T49">
                  <a:pos x="T14" y="T15"/>
                </a:cxn>
                <a:cxn ang="T50">
                  <a:pos x="T16" y="T17"/>
                </a:cxn>
                <a:cxn ang="T51">
                  <a:pos x="T18" y="T19"/>
                </a:cxn>
                <a:cxn ang="T52">
                  <a:pos x="T20" y="T21"/>
                </a:cxn>
                <a:cxn ang="T53">
                  <a:pos x="T22" y="T23"/>
                </a:cxn>
                <a:cxn ang="T54">
                  <a:pos x="T24" y="T25"/>
                </a:cxn>
                <a:cxn ang="T55">
                  <a:pos x="T26" y="T27"/>
                </a:cxn>
                <a:cxn ang="T56">
                  <a:pos x="T28" y="T29"/>
                </a:cxn>
                <a:cxn ang="T57">
                  <a:pos x="T30" y="T31"/>
                </a:cxn>
                <a:cxn ang="T58">
                  <a:pos x="T32" y="T33"/>
                </a:cxn>
                <a:cxn ang="T59">
                  <a:pos x="T34" y="T35"/>
                </a:cxn>
                <a:cxn ang="T60">
                  <a:pos x="T36" y="T37"/>
                </a:cxn>
                <a:cxn ang="T61">
                  <a:pos x="T38" y="T39"/>
                </a:cxn>
                <a:cxn ang="T62">
                  <a:pos x="T40" y="T41"/>
                </a:cxn>
              </a:cxnLst>
              <a:rect l="T63" t="T64" r="T65" b="T66"/>
              <a:pathLst>
                <a:path w="971" h="550">
                  <a:moveTo>
                    <a:pt x="886" y="33"/>
                  </a:moveTo>
                  <a:lnTo>
                    <a:pt x="937" y="70"/>
                  </a:lnTo>
                  <a:lnTo>
                    <a:pt x="971" y="130"/>
                  </a:lnTo>
                  <a:lnTo>
                    <a:pt x="967" y="218"/>
                  </a:lnTo>
                  <a:lnTo>
                    <a:pt x="882" y="261"/>
                  </a:lnTo>
                  <a:lnTo>
                    <a:pt x="791" y="294"/>
                  </a:lnTo>
                  <a:lnTo>
                    <a:pt x="665" y="382"/>
                  </a:lnTo>
                  <a:lnTo>
                    <a:pt x="519" y="522"/>
                  </a:lnTo>
                  <a:lnTo>
                    <a:pt x="397" y="542"/>
                  </a:lnTo>
                  <a:lnTo>
                    <a:pt x="298" y="550"/>
                  </a:lnTo>
                  <a:lnTo>
                    <a:pt x="155" y="522"/>
                  </a:lnTo>
                  <a:lnTo>
                    <a:pt x="34" y="459"/>
                  </a:lnTo>
                  <a:lnTo>
                    <a:pt x="0" y="393"/>
                  </a:lnTo>
                  <a:lnTo>
                    <a:pt x="11" y="315"/>
                  </a:lnTo>
                  <a:lnTo>
                    <a:pt x="63" y="210"/>
                  </a:lnTo>
                  <a:lnTo>
                    <a:pt x="142" y="147"/>
                  </a:lnTo>
                  <a:lnTo>
                    <a:pt x="246" y="89"/>
                  </a:lnTo>
                  <a:lnTo>
                    <a:pt x="445" y="21"/>
                  </a:lnTo>
                  <a:lnTo>
                    <a:pt x="634" y="0"/>
                  </a:lnTo>
                  <a:lnTo>
                    <a:pt x="794" y="13"/>
                  </a:lnTo>
                  <a:lnTo>
                    <a:pt x="886" y="33"/>
                  </a:lnTo>
                  <a:close/>
                </a:path>
              </a:pathLst>
            </a:custGeom>
            <a:gradFill rotWithShape="1">
              <a:gsLst>
                <a:gs pos="0">
                  <a:srgbClr val="EAEAEA"/>
                </a:gs>
                <a:gs pos="50000">
                  <a:srgbClr val="FFFFFF"/>
                </a:gs>
                <a:gs pos="100000">
                  <a:srgbClr val="EAEAEA"/>
                </a:gs>
              </a:gsLst>
              <a:lin ang="2700000" scaled="1"/>
            </a:gradFill>
            <a:ln w="9525">
              <a:solidFill>
                <a:srgbClr val="808080"/>
              </a:solidFill>
              <a:round/>
              <a:headEnd/>
              <a:tailEnd/>
            </a:ln>
          </p:spPr>
          <p:txBody>
            <a:bodyPr/>
            <a:lstStyle/>
            <a:p>
              <a:pPr eaLnBrk="1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lang="ko-KR" altLang="en-US" sz="1800" b="0" kern="0">
                <a:solidFill>
                  <a:sysClr val="windowText" lastClr="000000"/>
                </a:solidFill>
                <a:latin typeface="+mn-lt"/>
                <a:ea typeface="+mn-ea"/>
              </a:endParaRPr>
            </a:p>
          </p:txBody>
        </p:sp>
        <p:sp>
          <p:nvSpPr>
            <p:cNvPr id="10" name="Freeform 176">
              <a:extLst>
                <a:ext uri="{FF2B5EF4-FFF2-40B4-BE49-F238E27FC236}">
                  <a16:creationId xmlns:a16="http://schemas.microsoft.com/office/drawing/2014/main" id="{4815A99E-1EAE-71E6-8F94-4209758A1F3C}"/>
                </a:ext>
              </a:extLst>
            </p:cNvPr>
            <p:cNvSpPr>
              <a:spLocks/>
            </p:cNvSpPr>
            <p:nvPr/>
          </p:nvSpPr>
          <p:spPr bwMode="auto">
            <a:xfrm rot="355818">
              <a:off x="2229020" y="4830315"/>
              <a:ext cx="134938" cy="58737"/>
            </a:xfrm>
            <a:custGeom>
              <a:avLst/>
              <a:gdLst>
                <a:gd name="T0" fmla="*/ 0 w 1432"/>
                <a:gd name="T1" fmla="*/ 0 h 526"/>
                <a:gd name="T2" fmla="*/ 56 w 1432"/>
                <a:gd name="T3" fmla="*/ 118 h 526"/>
                <a:gd name="T4" fmla="*/ 319 w 1432"/>
                <a:gd name="T5" fmla="*/ 302 h 526"/>
                <a:gd name="T6" fmla="*/ 604 w 1432"/>
                <a:gd name="T7" fmla="*/ 448 h 526"/>
                <a:gd name="T8" fmla="*/ 867 w 1432"/>
                <a:gd name="T9" fmla="*/ 526 h 526"/>
                <a:gd name="T10" fmla="*/ 1091 w 1432"/>
                <a:gd name="T11" fmla="*/ 504 h 526"/>
                <a:gd name="T12" fmla="*/ 1270 w 1432"/>
                <a:gd name="T13" fmla="*/ 448 h 526"/>
                <a:gd name="T14" fmla="*/ 1432 w 1432"/>
                <a:gd name="T15" fmla="*/ 353 h 526"/>
                <a:gd name="T16" fmla="*/ 1253 w 1432"/>
                <a:gd name="T17" fmla="*/ 431 h 526"/>
                <a:gd name="T18" fmla="*/ 1108 w 1432"/>
                <a:gd name="T19" fmla="*/ 470 h 526"/>
                <a:gd name="T20" fmla="*/ 951 w 1432"/>
                <a:gd name="T21" fmla="*/ 470 h 526"/>
                <a:gd name="T22" fmla="*/ 789 w 1432"/>
                <a:gd name="T23" fmla="*/ 453 h 526"/>
                <a:gd name="T24" fmla="*/ 699 w 1432"/>
                <a:gd name="T25" fmla="*/ 420 h 526"/>
                <a:gd name="T26" fmla="*/ 560 w 1432"/>
                <a:gd name="T27" fmla="*/ 330 h 526"/>
                <a:gd name="T28" fmla="*/ 437 w 1432"/>
                <a:gd name="T29" fmla="*/ 213 h 526"/>
                <a:gd name="T30" fmla="*/ 274 w 1432"/>
                <a:gd name="T31" fmla="*/ 129 h 526"/>
                <a:gd name="T32" fmla="*/ 140 w 1432"/>
                <a:gd name="T33" fmla="*/ 73 h 526"/>
                <a:gd name="T34" fmla="*/ 0 w 1432"/>
                <a:gd name="T35" fmla="*/ 0 h 526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w 1432"/>
                <a:gd name="T55" fmla="*/ 0 h 526"/>
                <a:gd name="T56" fmla="*/ 1432 w 1432"/>
                <a:gd name="T57" fmla="*/ 526 h 526"/>
              </a:gdLst>
              <a:ahLst/>
              <a:cxnLst>
                <a:cxn ang="T36">
                  <a:pos x="T0" y="T1"/>
                </a:cxn>
                <a:cxn ang="T37">
                  <a:pos x="T2" y="T3"/>
                </a:cxn>
                <a:cxn ang="T38">
                  <a:pos x="T4" y="T5"/>
                </a:cxn>
                <a:cxn ang="T39">
                  <a:pos x="T6" y="T7"/>
                </a:cxn>
                <a:cxn ang="T40">
                  <a:pos x="T8" y="T9"/>
                </a:cxn>
                <a:cxn ang="T41">
                  <a:pos x="T10" y="T11"/>
                </a:cxn>
                <a:cxn ang="T42">
                  <a:pos x="T12" y="T13"/>
                </a:cxn>
                <a:cxn ang="T43">
                  <a:pos x="T14" y="T15"/>
                </a:cxn>
                <a:cxn ang="T44">
                  <a:pos x="T16" y="T17"/>
                </a:cxn>
                <a:cxn ang="T45">
                  <a:pos x="T18" y="T19"/>
                </a:cxn>
                <a:cxn ang="T46">
                  <a:pos x="T20" y="T21"/>
                </a:cxn>
                <a:cxn ang="T47">
                  <a:pos x="T22" y="T23"/>
                </a:cxn>
                <a:cxn ang="T48">
                  <a:pos x="T24" y="T25"/>
                </a:cxn>
                <a:cxn ang="T49">
                  <a:pos x="T26" y="T27"/>
                </a:cxn>
                <a:cxn ang="T50">
                  <a:pos x="T28" y="T29"/>
                </a:cxn>
                <a:cxn ang="T51">
                  <a:pos x="T30" y="T31"/>
                </a:cxn>
                <a:cxn ang="T52">
                  <a:pos x="T32" y="T33"/>
                </a:cxn>
                <a:cxn ang="T53">
                  <a:pos x="T34" y="T35"/>
                </a:cxn>
              </a:cxnLst>
              <a:rect l="T54" t="T55" r="T56" b="T57"/>
              <a:pathLst>
                <a:path w="1432" h="526">
                  <a:moveTo>
                    <a:pt x="0" y="0"/>
                  </a:moveTo>
                  <a:lnTo>
                    <a:pt x="56" y="118"/>
                  </a:lnTo>
                  <a:lnTo>
                    <a:pt x="319" y="302"/>
                  </a:lnTo>
                  <a:lnTo>
                    <a:pt x="604" y="448"/>
                  </a:lnTo>
                  <a:lnTo>
                    <a:pt x="867" y="526"/>
                  </a:lnTo>
                  <a:lnTo>
                    <a:pt x="1091" y="504"/>
                  </a:lnTo>
                  <a:lnTo>
                    <a:pt x="1270" y="448"/>
                  </a:lnTo>
                  <a:lnTo>
                    <a:pt x="1432" y="353"/>
                  </a:lnTo>
                  <a:lnTo>
                    <a:pt x="1253" y="431"/>
                  </a:lnTo>
                  <a:lnTo>
                    <a:pt x="1108" y="470"/>
                  </a:lnTo>
                  <a:lnTo>
                    <a:pt x="951" y="470"/>
                  </a:lnTo>
                  <a:lnTo>
                    <a:pt x="789" y="453"/>
                  </a:lnTo>
                  <a:lnTo>
                    <a:pt x="699" y="420"/>
                  </a:lnTo>
                  <a:lnTo>
                    <a:pt x="560" y="330"/>
                  </a:lnTo>
                  <a:lnTo>
                    <a:pt x="437" y="213"/>
                  </a:lnTo>
                  <a:lnTo>
                    <a:pt x="274" y="129"/>
                  </a:lnTo>
                  <a:lnTo>
                    <a:pt x="140" y="73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969696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rgbClr val="808080"/>
              </a:solidFill>
              <a:round/>
              <a:headEnd/>
              <a:tailEnd/>
            </a:ln>
          </p:spPr>
          <p:txBody>
            <a:bodyPr/>
            <a:lstStyle/>
            <a:p>
              <a:pPr eaLnBrk="1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lang="ko-KR" altLang="en-US" sz="1800" b="0" kern="0">
                <a:solidFill>
                  <a:sysClr val="windowText" lastClr="000000"/>
                </a:solidFill>
                <a:latin typeface="+mn-lt"/>
                <a:ea typeface="+mn-ea"/>
              </a:endParaRPr>
            </a:p>
          </p:txBody>
        </p:sp>
        <p:sp>
          <p:nvSpPr>
            <p:cNvPr id="11" name="Freeform 177">
              <a:extLst>
                <a:ext uri="{FF2B5EF4-FFF2-40B4-BE49-F238E27FC236}">
                  <a16:creationId xmlns:a16="http://schemas.microsoft.com/office/drawing/2014/main" id="{D6EFAB6D-FC1A-434A-B3F0-D4609C1BFD8F}"/>
                </a:ext>
              </a:extLst>
            </p:cNvPr>
            <p:cNvSpPr>
              <a:spLocks/>
            </p:cNvSpPr>
            <p:nvPr/>
          </p:nvSpPr>
          <p:spPr bwMode="auto">
            <a:xfrm rot="355818" flipH="1">
              <a:off x="2262358" y="4796977"/>
              <a:ext cx="31750" cy="39688"/>
            </a:xfrm>
            <a:custGeom>
              <a:avLst/>
              <a:gdLst>
                <a:gd name="T0" fmla="*/ 229 w 229"/>
                <a:gd name="T1" fmla="*/ 261 h 261"/>
                <a:gd name="T2" fmla="*/ 115 w 229"/>
                <a:gd name="T3" fmla="*/ 57 h 261"/>
                <a:gd name="T4" fmla="*/ 0 w 229"/>
                <a:gd name="T5" fmla="*/ 0 h 261"/>
                <a:gd name="T6" fmla="*/ 0 60000 65536"/>
                <a:gd name="T7" fmla="*/ 0 60000 65536"/>
                <a:gd name="T8" fmla="*/ 0 60000 65536"/>
                <a:gd name="T9" fmla="*/ 0 w 229"/>
                <a:gd name="T10" fmla="*/ 0 h 261"/>
                <a:gd name="T11" fmla="*/ 229 w 229"/>
                <a:gd name="T12" fmla="*/ 261 h 261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229" h="261">
                  <a:moveTo>
                    <a:pt x="229" y="261"/>
                  </a:moveTo>
                  <a:lnTo>
                    <a:pt x="115" y="57"/>
                  </a:lnTo>
                  <a:lnTo>
                    <a:pt x="0" y="0"/>
                  </a:lnTo>
                </a:path>
              </a:pathLst>
            </a:custGeom>
            <a:noFill/>
            <a:ln w="19050">
              <a:solidFill>
                <a:srgbClr val="B2B2B2"/>
              </a:solidFill>
              <a:round/>
              <a:headEnd/>
              <a:tailEnd/>
            </a:ln>
          </p:spPr>
          <p:txBody>
            <a:bodyPr/>
            <a:lstStyle/>
            <a:p>
              <a:pPr eaLnBrk="1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lang="ko-KR" altLang="en-US" sz="1800" b="0" kern="0">
                <a:solidFill>
                  <a:sysClr val="windowText" lastClr="000000"/>
                </a:solidFill>
                <a:latin typeface="+mn-lt"/>
                <a:ea typeface="+mn-ea"/>
              </a:endParaRPr>
            </a:p>
          </p:txBody>
        </p:sp>
        <p:sp>
          <p:nvSpPr>
            <p:cNvPr id="12" name="Freeform 178">
              <a:extLst>
                <a:ext uri="{FF2B5EF4-FFF2-40B4-BE49-F238E27FC236}">
                  <a16:creationId xmlns:a16="http://schemas.microsoft.com/office/drawing/2014/main" id="{8B8906C3-0342-0409-6DC4-1A843CF12B69}"/>
                </a:ext>
              </a:extLst>
            </p:cNvPr>
            <p:cNvSpPr>
              <a:spLocks/>
            </p:cNvSpPr>
            <p:nvPr/>
          </p:nvSpPr>
          <p:spPr bwMode="auto">
            <a:xfrm rot="355818">
              <a:off x="2248070" y="4795390"/>
              <a:ext cx="42863" cy="7937"/>
            </a:xfrm>
            <a:custGeom>
              <a:avLst/>
              <a:gdLst>
                <a:gd name="T0" fmla="*/ 0 w 560"/>
                <a:gd name="T1" fmla="*/ 79 h 79"/>
                <a:gd name="T2" fmla="*/ 246 w 560"/>
                <a:gd name="T3" fmla="*/ 26 h 79"/>
                <a:gd name="T4" fmla="*/ 408 w 560"/>
                <a:gd name="T5" fmla="*/ 0 h 79"/>
                <a:gd name="T6" fmla="*/ 560 w 560"/>
                <a:gd name="T7" fmla="*/ 26 h 79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560"/>
                <a:gd name="T13" fmla="*/ 0 h 79"/>
                <a:gd name="T14" fmla="*/ 560 w 560"/>
                <a:gd name="T15" fmla="*/ 79 h 79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560" h="79">
                  <a:moveTo>
                    <a:pt x="0" y="79"/>
                  </a:moveTo>
                  <a:lnTo>
                    <a:pt x="246" y="26"/>
                  </a:lnTo>
                  <a:lnTo>
                    <a:pt x="408" y="0"/>
                  </a:lnTo>
                  <a:lnTo>
                    <a:pt x="560" y="26"/>
                  </a:lnTo>
                </a:path>
              </a:pathLst>
            </a:custGeom>
            <a:noFill/>
            <a:ln w="9525">
              <a:solidFill>
                <a:srgbClr val="969696"/>
              </a:solidFill>
              <a:round/>
              <a:headEnd/>
              <a:tailEnd/>
            </a:ln>
          </p:spPr>
          <p:txBody>
            <a:bodyPr/>
            <a:lstStyle/>
            <a:p>
              <a:pPr eaLnBrk="1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lang="ko-KR" altLang="en-US" sz="1800" b="0" kern="0">
                <a:solidFill>
                  <a:sysClr val="windowText" lastClr="000000"/>
                </a:solidFill>
                <a:latin typeface="+mn-lt"/>
                <a:ea typeface="+mn-ea"/>
              </a:endParaRPr>
            </a:p>
          </p:txBody>
        </p:sp>
        <p:sp>
          <p:nvSpPr>
            <p:cNvPr id="13" name="Oval 179">
              <a:extLst>
                <a:ext uri="{FF2B5EF4-FFF2-40B4-BE49-F238E27FC236}">
                  <a16:creationId xmlns:a16="http://schemas.microsoft.com/office/drawing/2014/main" id="{82060D36-9D38-6815-20D7-358AA55F94DA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21219751">
              <a:off x="2267120" y="4792215"/>
              <a:ext cx="19050" cy="9525"/>
            </a:xfrm>
            <a:prstGeom prst="ellipse">
              <a:avLst/>
            </a:prstGeom>
            <a:solidFill>
              <a:srgbClr val="969696"/>
            </a:solidFill>
            <a:ln w="9525">
              <a:solidFill>
                <a:srgbClr val="969696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eaLnBrk="1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lang="ko-KR" altLang="en-US" sz="1800" b="0" kern="0">
                <a:solidFill>
                  <a:sysClr val="windowText" lastClr="000000"/>
                </a:solidFill>
                <a:latin typeface="+mn-lt"/>
                <a:ea typeface="+mn-ea"/>
              </a:endParaRPr>
            </a:p>
          </p:txBody>
        </p:sp>
        <p:sp>
          <p:nvSpPr>
            <p:cNvPr id="14" name="Freeform 180">
              <a:extLst>
                <a:ext uri="{FF2B5EF4-FFF2-40B4-BE49-F238E27FC236}">
                  <a16:creationId xmlns:a16="http://schemas.microsoft.com/office/drawing/2014/main" id="{3037CBC9-D30B-032D-2F6A-9D770062930E}"/>
                </a:ext>
              </a:extLst>
            </p:cNvPr>
            <p:cNvSpPr>
              <a:spLocks/>
            </p:cNvSpPr>
            <p:nvPr/>
          </p:nvSpPr>
          <p:spPr bwMode="auto">
            <a:xfrm rot="355818">
              <a:off x="2238545" y="4798565"/>
              <a:ext cx="36513" cy="33337"/>
            </a:xfrm>
            <a:custGeom>
              <a:avLst/>
              <a:gdLst>
                <a:gd name="T0" fmla="*/ 98 w 482"/>
                <a:gd name="T1" fmla="*/ 36 h 367"/>
                <a:gd name="T2" fmla="*/ 320 w 482"/>
                <a:gd name="T3" fmla="*/ 0 h 367"/>
                <a:gd name="T4" fmla="*/ 367 w 482"/>
                <a:gd name="T5" fmla="*/ 26 h 367"/>
                <a:gd name="T6" fmla="*/ 445 w 482"/>
                <a:gd name="T7" fmla="*/ 26 h 367"/>
                <a:gd name="T8" fmla="*/ 482 w 482"/>
                <a:gd name="T9" fmla="*/ 42 h 367"/>
                <a:gd name="T10" fmla="*/ 278 w 482"/>
                <a:gd name="T11" fmla="*/ 367 h 367"/>
                <a:gd name="T12" fmla="*/ 5 w 482"/>
                <a:gd name="T13" fmla="*/ 262 h 367"/>
                <a:gd name="T14" fmla="*/ 0 w 482"/>
                <a:gd name="T15" fmla="*/ 157 h 367"/>
                <a:gd name="T16" fmla="*/ 42 w 482"/>
                <a:gd name="T17" fmla="*/ 74 h 367"/>
                <a:gd name="T18" fmla="*/ 98 w 482"/>
                <a:gd name="T19" fmla="*/ 36 h 367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w 482"/>
                <a:gd name="T31" fmla="*/ 0 h 367"/>
                <a:gd name="T32" fmla="*/ 482 w 482"/>
                <a:gd name="T33" fmla="*/ 367 h 367"/>
              </a:gdLst>
              <a:ahLst/>
              <a:cxnLst>
                <a:cxn ang="T20">
                  <a:pos x="T0" y="T1"/>
                </a:cxn>
                <a:cxn ang="T21">
                  <a:pos x="T2" y="T3"/>
                </a:cxn>
                <a:cxn ang="T22">
                  <a:pos x="T4" y="T5"/>
                </a:cxn>
                <a:cxn ang="T23">
                  <a:pos x="T6" y="T7"/>
                </a:cxn>
                <a:cxn ang="T24">
                  <a:pos x="T8" y="T9"/>
                </a:cxn>
                <a:cxn ang="T25">
                  <a:pos x="T10" y="T11"/>
                </a:cxn>
                <a:cxn ang="T26">
                  <a:pos x="T12" y="T13"/>
                </a:cxn>
                <a:cxn ang="T27">
                  <a:pos x="T14" y="T15"/>
                </a:cxn>
                <a:cxn ang="T28">
                  <a:pos x="T16" y="T17"/>
                </a:cxn>
                <a:cxn ang="T29">
                  <a:pos x="T18" y="T19"/>
                </a:cxn>
              </a:cxnLst>
              <a:rect l="T30" t="T31" r="T32" b="T33"/>
              <a:pathLst>
                <a:path w="482" h="367">
                  <a:moveTo>
                    <a:pt x="98" y="36"/>
                  </a:moveTo>
                  <a:lnTo>
                    <a:pt x="320" y="0"/>
                  </a:lnTo>
                  <a:lnTo>
                    <a:pt x="367" y="26"/>
                  </a:lnTo>
                  <a:lnTo>
                    <a:pt x="445" y="26"/>
                  </a:lnTo>
                  <a:lnTo>
                    <a:pt x="482" y="42"/>
                  </a:lnTo>
                  <a:lnTo>
                    <a:pt x="278" y="367"/>
                  </a:lnTo>
                  <a:lnTo>
                    <a:pt x="5" y="262"/>
                  </a:lnTo>
                  <a:lnTo>
                    <a:pt x="0" y="157"/>
                  </a:lnTo>
                  <a:lnTo>
                    <a:pt x="42" y="74"/>
                  </a:lnTo>
                  <a:lnTo>
                    <a:pt x="98" y="36"/>
                  </a:lnTo>
                  <a:close/>
                </a:path>
              </a:pathLst>
            </a:custGeom>
            <a:noFill/>
            <a:ln w="9525">
              <a:solidFill>
                <a:srgbClr val="969696"/>
              </a:solidFill>
              <a:round/>
              <a:headEnd/>
              <a:tailEnd/>
            </a:ln>
          </p:spPr>
          <p:txBody>
            <a:bodyPr/>
            <a:lstStyle/>
            <a:p>
              <a:pPr eaLnBrk="1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lang="ko-KR" altLang="en-US" sz="1800" b="0" kern="0">
                <a:solidFill>
                  <a:sysClr val="windowText" lastClr="000000"/>
                </a:solidFill>
                <a:latin typeface="+mn-lt"/>
                <a:ea typeface="+mn-ea"/>
              </a:endParaRPr>
            </a:p>
          </p:txBody>
        </p:sp>
        <p:sp>
          <p:nvSpPr>
            <p:cNvPr id="15" name="Freeform 182">
              <a:extLst>
                <a:ext uri="{FF2B5EF4-FFF2-40B4-BE49-F238E27FC236}">
                  <a16:creationId xmlns:a16="http://schemas.microsoft.com/office/drawing/2014/main" id="{5886759C-A906-DC65-72EE-53AF691A6B3F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1760708" y="4763640"/>
              <a:ext cx="190500" cy="334962"/>
            </a:xfrm>
            <a:custGeom>
              <a:avLst/>
              <a:gdLst>
                <a:gd name="T0" fmla="*/ 933 w 933"/>
                <a:gd name="T1" fmla="*/ 135 h 352"/>
                <a:gd name="T2" fmla="*/ 932 w 933"/>
                <a:gd name="T3" fmla="*/ 171 h 352"/>
                <a:gd name="T4" fmla="*/ 762 w 933"/>
                <a:gd name="T5" fmla="*/ 352 h 352"/>
                <a:gd name="T6" fmla="*/ 4 w 933"/>
                <a:gd name="T7" fmla="*/ 195 h 352"/>
                <a:gd name="T8" fmla="*/ 0 w 933"/>
                <a:gd name="T9" fmla="*/ 148 h 352"/>
                <a:gd name="T10" fmla="*/ 244 w 933"/>
                <a:gd name="T11" fmla="*/ 0 h 352"/>
                <a:gd name="T12" fmla="*/ 933 w 933"/>
                <a:gd name="T13" fmla="*/ 135 h 352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933"/>
                <a:gd name="T22" fmla="*/ 0 h 352"/>
                <a:gd name="T23" fmla="*/ 933 w 933"/>
                <a:gd name="T24" fmla="*/ 352 h 352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933" h="352">
                  <a:moveTo>
                    <a:pt x="933" y="135"/>
                  </a:moveTo>
                  <a:lnTo>
                    <a:pt x="932" y="171"/>
                  </a:lnTo>
                  <a:lnTo>
                    <a:pt x="762" y="352"/>
                  </a:lnTo>
                  <a:lnTo>
                    <a:pt x="4" y="195"/>
                  </a:lnTo>
                  <a:lnTo>
                    <a:pt x="0" y="148"/>
                  </a:lnTo>
                  <a:lnTo>
                    <a:pt x="244" y="0"/>
                  </a:lnTo>
                  <a:lnTo>
                    <a:pt x="933" y="135"/>
                  </a:lnTo>
                  <a:close/>
                </a:path>
              </a:pathLst>
            </a:custGeom>
            <a:gradFill rotWithShape="0">
              <a:gsLst>
                <a:gs pos="0">
                  <a:srgbClr val="DDDDDD"/>
                </a:gs>
                <a:gs pos="100000">
                  <a:srgbClr val="F3F3F3"/>
                </a:gs>
              </a:gsLst>
              <a:lin ang="0" scaled="1"/>
            </a:gradFill>
            <a:ln w="6350">
              <a:solidFill>
                <a:srgbClr val="B2B2B2"/>
              </a:solidFill>
              <a:round/>
              <a:headEnd/>
              <a:tailEnd/>
            </a:ln>
          </p:spPr>
          <p:txBody>
            <a:bodyPr wrap="none" tIns="27432" bIns="27432" anchor="ctr">
              <a:spAutoFit/>
            </a:bodyPr>
            <a:lstStyle/>
            <a:p>
              <a:pPr eaLnBrk="1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lang="ko-KR" altLang="en-US" sz="1800" b="0" kern="0">
                <a:solidFill>
                  <a:sysClr val="windowText" lastClr="000000"/>
                </a:solidFill>
                <a:latin typeface="+mn-lt"/>
                <a:ea typeface="+mn-ea"/>
              </a:endParaRPr>
            </a:p>
          </p:txBody>
        </p:sp>
        <p:sp>
          <p:nvSpPr>
            <p:cNvPr id="16" name="Freeform 183">
              <a:extLst>
                <a:ext uri="{FF2B5EF4-FFF2-40B4-BE49-F238E27FC236}">
                  <a16:creationId xmlns:a16="http://schemas.microsoft.com/office/drawing/2014/main" id="{67E25209-55FF-CCF3-FB51-38E7B5280936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1778170" y="4750940"/>
              <a:ext cx="187325" cy="331787"/>
            </a:xfrm>
            <a:custGeom>
              <a:avLst/>
              <a:gdLst>
                <a:gd name="T0" fmla="*/ 895 w 895"/>
                <a:gd name="T1" fmla="*/ 133 h 294"/>
                <a:gd name="T2" fmla="*/ 232 w 895"/>
                <a:gd name="T3" fmla="*/ 0 h 294"/>
                <a:gd name="T4" fmla="*/ 0 w 895"/>
                <a:gd name="T5" fmla="*/ 143 h 294"/>
                <a:gd name="T6" fmla="*/ 739 w 895"/>
                <a:gd name="T7" fmla="*/ 294 h 294"/>
                <a:gd name="T8" fmla="*/ 895 w 895"/>
                <a:gd name="T9" fmla="*/ 133 h 294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895"/>
                <a:gd name="T16" fmla="*/ 0 h 294"/>
                <a:gd name="T17" fmla="*/ 895 w 895"/>
                <a:gd name="T18" fmla="*/ 294 h 294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895" h="294">
                  <a:moveTo>
                    <a:pt x="895" y="133"/>
                  </a:moveTo>
                  <a:lnTo>
                    <a:pt x="232" y="0"/>
                  </a:lnTo>
                  <a:lnTo>
                    <a:pt x="0" y="143"/>
                  </a:lnTo>
                  <a:lnTo>
                    <a:pt x="739" y="294"/>
                  </a:lnTo>
                  <a:lnTo>
                    <a:pt x="895" y="133"/>
                  </a:lnTo>
                  <a:close/>
                </a:path>
              </a:pathLst>
            </a:custGeom>
            <a:solidFill>
              <a:srgbClr val="FFFFFF"/>
            </a:solidFill>
            <a:ln w="3175">
              <a:solidFill>
                <a:srgbClr val="B2B2B2"/>
              </a:solidFill>
              <a:round/>
              <a:headEnd/>
              <a:tailEnd/>
            </a:ln>
          </p:spPr>
          <p:txBody>
            <a:bodyPr wrap="none" tIns="27432" bIns="27432" anchor="ctr">
              <a:spAutoFit/>
            </a:bodyPr>
            <a:lstStyle/>
            <a:p>
              <a:pPr eaLnBrk="1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lang="ko-KR" altLang="en-US" sz="1800" b="0" kern="0">
                <a:solidFill>
                  <a:sysClr val="windowText" lastClr="000000"/>
                </a:solidFill>
                <a:latin typeface="+mn-lt"/>
                <a:ea typeface="+mn-ea"/>
              </a:endParaRPr>
            </a:p>
          </p:txBody>
        </p:sp>
        <p:sp>
          <p:nvSpPr>
            <p:cNvPr id="17" name="Freeform 184">
              <a:extLst>
                <a:ext uri="{FF2B5EF4-FFF2-40B4-BE49-F238E27FC236}">
                  <a16:creationId xmlns:a16="http://schemas.microsoft.com/office/drawing/2014/main" id="{A0827D39-345C-5F66-98B1-E710650B13D7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1798808" y="4828727"/>
              <a:ext cx="344487" cy="84138"/>
            </a:xfrm>
            <a:custGeom>
              <a:avLst/>
              <a:gdLst>
                <a:gd name="T0" fmla="*/ 0 w 531"/>
                <a:gd name="T1" fmla="*/ 15 h 118"/>
                <a:gd name="T2" fmla="*/ 508 w 531"/>
                <a:gd name="T3" fmla="*/ 118 h 118"/>
                <a:gd name="T4" fmla="*/ 531 w 531"/>
                <a:gd name="T5" fmla="*/ 103 h 118"/>
                <a:gd name="T6" fmla="*/ 23 w 531"/>
                <a:gd name="T7" fmla="*/ 0 h 118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531"/>
                <a:gd name="T13" fmla="*/ 0 h 118"/>
                <a:gd name="T14" fmla="*/ 531 w 531"/>
                <a:gd name="T15" fmla="*/ 118 h 118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531" h="118">
                  <a:moveTo>
                    <a:pt x="0" y="15"/>
                  </a:moveTo>
                  <a:lnTo>
                    <a:pt x="508" y="118"/>
                  </a:lnTo>
                  <a:lnTo>
                    <a:pt x="531" y="103"/>
                  </a:lnTo>
                  <a:lnTo>
                    <a:pt x="23" y="0"/>
                  </a:lnTo>
                </a:path>
              </a:pathLst>
            </a:custGeom>
            <a:solidFill>
              <a:srgbClr val="DDDDDD"/>
            </a:solidFill>
            <a:ln w="12700" cap="rnd">
              <a:solidFill>
                <a:srgbClr val="EAEAEA"/>
              </a:solidFill>
              <a:round/>
              <a:headEnd/>
              <a:tailEnd/>
            </a:ln>
          </p:spPr>
          <p:txBody>
            <a:bodyPr/>
            <a:lstStyle/>
            <a:p>
              <a:pPr eaLnBrk="1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lang="ko-KR" altLang="en-US" sz="1800" b="0" kern="0">
                <a:solidFill>
                  <a:sysClr val="windowText" lastClr="000000"/>
                </a:solidFill>
                <a:latin typeface="+mn-lt"/>
                <a:ea typeface="+mn-ea"/>
              </a:endParaRPr>
            </a:p>
          </p:txBody>
        </p:sp>
        <p:sp>
          <p:nvSpPr>
            <p:cNvPr id="18" name="Freeform 185">
              <a:extLst>
                <a:ext uri="{FF2B5EF4-FFF2-40B4-BE49-F238E27FC236}">
                  <a16:creationId xmlns:a16="http://schemas.microsoft.com/office/drawing/2014/main" id="{F25924A7-6C7C-F252-569F-1BD21F1A8580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1886120" y="4850952"/>
              <a:ext cx="355600" cy="112713"/>
            </a:xfrm>
            <a:custGeom>
              <a:avLst/>
              <a:gdLst>
                <a:gd name="T0" fmla="*/ 0 w 548"/>
                <a:gd name="T1" fmla="*/ 74 h 159"/>
                <a:gd name="T2" fmla="*/ 31 w 548"/>
                <a:gd name="T3" fmla="*/ 78 h 159"/>
                <a:gd name="T4" fmla="*/ 57 w 548"/>
                <a:gd name="T5" fmla="*/ 66 h 159"/>
                <a:gd name="T6" fmla="*/ 76 w 548"/>
                <a:gd name="T7" fmla="*/ 71 h 159"/>
                <a:gd name="T8" fmla="*/ 58 w 548"/>
                <a:gd name="T9" fmla="*/ 81 h 159"/>
                <a:gd name="T10" fmla="*/ 451 w 548"/>
                <a:gd name="T11" fmla="*/ 159 h 159"/>
                <a:gd name="T12" fmla="*/ 548 w 548"/>
                <a:gd name="T13" fmla="*/ 84 h 159"/>
                <a:gd name="T14" fmla="*/ 130 w 548"/>
                <a:gd name="T15" fmla="*/ 0 h 159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548"/>
                <a:gd name="T25" fmla="*/ 0 h 159"/>
                <a:gd name="T26" fmla="*/ 548 w 548"/>
                <a:gd name="T27" fmla="*/ 159 h 159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548" h="159">
                  <a:moveTo>
                    <a:pt x="0" y="74"/>
                  </a:moveTo>
                  <a:lnTo>
                    <a:pt x="31" y="78"/>
                  </a:lnTo>
                  <a:lnTo>
                    <a:pt x="57" y="66"/>
                  </a:lnTo>
                  <a:lnTo>
                    <a:pt x="76" y="71"/>
                  </a:lnTo>
                  <a:lnTo>
                    <a:pt x="58" y="81"/>
                  </a:lnTo>
                  <a:lnTo>
                    <a:pt x="451" y="159"/>
                  </a:lnTo>
                  <a:lnTo>
                    <a:pt x="548" y="84"/>
                  </a:lnTo>
                  <a:lnTo>
                    <a:pt x="130" y="0"/>
                  </a:lnTo>
                </a:path>
              </a:pathLst>
            </a:custGeom>
            <a:solidFill>
              <a:srgbClr val="DDDDDD"/>
            </a:solidFill>
            <a:ln w="12700" cap="rnd">
              <a:solidFill>
                <a:srgbClr val="EAEAEA"/>
              </a:solidFill>
              <a:round/>
              <a:headEnd/>
              <a:tailEnd/>
            </a:ln>
          </p:spPr>
          <p:txBody>
            <a:bodyPr/>
            <a:lstStyle/>
            <a:p>
              <a:pPr eaLnBrk="1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lang="ko-KR" altLang="en-US" sz="1800" b="0" kern="0">
                <a:solidFill>
                  <a:sysClr val="windowText" lastClr="000000"/>
                </a:solidFill>
                <a:latin typeface="+mn-lt"/>
                <a:ea typeface="+mn-ea"/>
              </a:endParaRPr>
            </a:p>
          </p:txBody>
        </p:sp>
        <p:sp>
          <p:nvSpPr>
            <p:cNvPr id="19" name="Freeform 186">
              <a:extLst>
                <a:ext uri="{FF2B5EF4-FFF2-40B4-BE49-F238E27FC236}">
                  <a16:creationId xmlns:a16="http://schemas.microsoft.com/office/drawing/2014/main" id="{B88E8F34-AC39-2D9D-E86E-FDB43452DC08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1819445" y="4914452"/>
              <a:ext cx="90488" cy="49213"/>
            </a:xfrm>
            <a:custGeom>
              <a:avLst/>
              <a:gdLst>
                <a:gd name="T0" fmla="*/ 73 w 140"/>
                <a:gd name="T1" fmla="*/ 0 h 70"/>
                <a:gd name="T2" fmla="*/ 140 w 140"/>
                <a:gd name="T3" fmla="*/ 11 h 70"/>
                <a:gd name="T4" fmla="*/ 75 w 140"/>
                <a:gd name="T5" fmla="*/ 70 h 70"/>
                <a:gd name="T6" fmla="*/ 0 w 140"/>
                <a:gd name="T7" fmla="*/ 56 h 70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140"/>
                <a:gd name="T13" fmla="*/ 0 h 70"/>
                <a:gd name="T14" fmla="*/ 140 w 140"/>
                <a:gd name="T15" fmla="*/ 70 h 70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140" h="70">
                  <a:moveTo>
                    <a:pt x="73" y="0"/>
                  </a:moveTo>
                  <a:lnTo>
                    <a:pt x="140" y="11"/>
                  </a:lnTo>
                  <a:lnTo>
                    <a:pt x="75" y="70"/>
                  </a:lnTo>
                  <a:lnTo>
                    <a:pt x="0" y="56"/>
                  </a:lnTo>
                </a:path>
              </a:pathLst>
            </a:custGeom>
            <a:solidFill>
              <a:srgbClr val="DDDDDD"/>
            </a:solidFill>
            <a:ln w="12700" cap="rnd">
              <a:solidFill>
                <a:srgbClr val="EAEAEA"/>
              </a:solidFill>
              <a:round/>
              <a:headEnd/>
              <a:tailEnd/>
            </a:ln>
          </p:spPr>
          <p:txBody>
            <a:bodyPr/>
            <a:lstStyle/>
            <a:p>
              <a:pPr eaLnBrk="1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lang="ko-KR" altLang="en-US" sz="1800" b="0" kern="0">
                <a:solidFill>
                  <a:sysClr val="windowText" lastClr="000000"/>
                </a:solidFill>
                <a:latin typeface="+mn-lt"/>
                <a:ea typeface="+mn-ea"/>
              </a:endParaRPr>
            </a:p>
          </p:txBody>
        </p:sp>
        <p:sp>
          <p:nvSpPr>
            <p:cNvPr id="20" name="Freeform 187">
              <a:extLst>
                <a:ext uri="{FF2B5EF4-FFF2-40B4-BE49-F238E27FC236}">
                  <a16:creationId xmlns:a16="http://schemas.microsoft.com/office/drawing/2014/main" id="{6BD13425-5BFA-92F0-AEFE-244CE75C1151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1754358" y="4925565"/>
              <a:ext cx="107950" cy="71437"/>
            </a:xfrm>
            <a:custGeom>
              <a:avLst/>
              <a:gdLst>
                <a:gd name="T0" fmla="*/ 87 w 167"/>
                <a:gd name="T1" fmla="*/ 0 h 101"/>
                <a:gd name="T2" fmla="*/ 167 w 167"/>
                <a:gd name="T3" fmla="*/ 15 h 101"/>
                <a:gd name="T4" fmla="*/ 81 w 167"/>
                <a:gd name="T5" fmla="*/ 101 h 101"/>
                <a:gd name="T6" fmla="*/ 0 w 167"/>
                <a:gd name="T7" fmla="*/ 83 h 101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167"/>
                <a:gd name="T13" fmla="*/ 0 h 101"/>
                <a:gd name="T14" fmla="*/ 167 w 167"/>
                <a:gd name="T15" fmla="*/ 101 h 101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167" h="101">
                  <a:moveTo>
                    <a:pt x="87" y="0"/>
                  </a:moveTo>
                  <a:lnTo>
                    <a:pt x="167" y="15"/>
                  </a:lnTo>
                  <a:lnTo>
                    <a:pt x="81" y="101"/>
                  </a:lnTo>
                  <a:lnTo>
                    <a:pt x="0" y="83"/>
                  </a:lnTo>
                </a:path>
              </a:pathLst>
            </a:custGeom>
            <a:solidFill>
              <a:srgbClr val="DDDDDD"/>
            </a:solidFill>
            <a:ln w="12700" cap="rnd">
              <a:solidFill>
                <a:srgbClr val="EAEAEA"/>
              </a:solidFill>
              <a:round/>
              <a:headEnd/>
              <a:tailEnd/>
            </a:ln>
          </p:spPr>
          <p:txBody>
            <a:bodyPr/>
            <a:lstStyle/>
            <a:p>
              <a:pPr eaLnBrk="1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lang="ko-KR" altLang="en-US" sz="1800" b="0" kern="0">
                <a:solidFill>
                  <a:sysClr val="windowText" lastClr="000000"/>
                </a:solidFill>
                <a:latin typeface="+mn-lt"/>
                <a:ea typeface="+mn-ea"/>
              </a:endParaRPr>
            </a:p>
          </p:txBody>
        </p:sp>
        <p:sp>
          <p:nvSpPr>
            <p:cNvPr id="21" name="Freeform 189">
              <a:extLst>
                <a:ext uri="{FF2B5EF4-FFF2-40B4-BE49-F238E27FC236}">
                  <a16:creationId xmlns:a16="http://schemas.microsoft.com/office/drawing/2014/main" id="{09B1C76A-191A-649B-7903-8BF2494CF8B2}"/>
                </a:ext>
              </a:extLst>
            </p:cNvPr>
            <p:cNvSpPr>
              <a:spLocks noChangeAspect="1"/>
            </p:cNvSpPr>
            <p:nvPr/>
          </p:nvSpPr>
          <p:spPr bwMode="auto">
            <a:xfrm>
              <a:off x="1533695" y="4523927"/>
              <a:ext cx="144463" cy="354013"/>
            </a:xfrm>
            <a:custGeom>
              <a:avLst/>
              <a:gdLst/>
              <a:ahLst/>
              <a:cxnLst>
                <a:cxn ang="0">
                  <a:pos x="169" y="246"/>
                </a:cxn>
                <a:cxn ang="0">
                  <a:pos x="1" y="0"/>
                </a:cxn>
                <a:cxn ang="0">
                  <a:pos x="0" y="123"/>
                </a:cxn>
                <a:cxn ang="0">
                  <a:pos x="165" y="377"/>
                </a:cxn>
              </a:cxnLst>
              <a:rect l="0" t="0" r="r" b="b"/>
              <a:pathLst>
                <a:path w="169" h="377">
                  <a:moveTo>
                    <a:pt x="169" y="246"/>
                  </a:moveTo>
                  <a:lnTo>
                    <a:pt x="1" y="0"/>
                  </a:lnTo>
                  <a:lnTo>
                    <a:pt x="0" y="123"/>
                  </a:lnTo>
                  <a:lnTo>
                    <a:pt x="165" y="377"/>
                  </a:lnTo>
                </a:path>
              </a:pathLst>
            </a:custGeom>
            <a:gradFill rotWithShape="1">
              <a:gsLst>
                <a:gs pos="0">
                  <a:srgbClr val="EAEAEA"/>
                </a:gs>
                <a:gs pos="100000">
                  <a:srgbClr val="EAEAEA">
                    <a:gamma/>
                    <a:tint val="60784"/>
                    <a:invGamma/>
                  </a:srgbClr>
                </a:gs>
              </a:gsLst>
              <a:lin ang="0" scaled="1"/>
            </a:gradFill>
            <a:ln w="6350" cap="rnd" cmpd="sng">
              <a:solidFill>
                <a:srgbClr val="969696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pPr eaLnBrk="1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lang="ko-KR" altLang="en-US" sz="1800" b="0" kern="0">
                <a:solidFill>
                  <a:sysClr val="windowText" lastClr="000000"/>
                </a:solidFill>
                <a:latin typeface="+mn-lt"/>
                <a:ea typeface="+mn-ea"/>
              </a:endParaRPr>
            </a:p>
          </p:txBody>
        </p:sp>
        <p:sp>
          <p:nvSpPr>
            <p:cNvPr id="22" name="Freeform 190">
              <a:extLst>
                <a:ext uri="{FF2B5EF4-FFF2-40B4-BE49-F238E27FC236}">
                  <a16:creationId xmlns:a16="http://schemas.microsoft.com/office/drawing/2014/main" id="{F7D890BE-3232-C72E-F8CA-961500F1186C}"/>
                </a:ext>
              </a:extLst>
            </p:cNvPr>
            <p:cNvSpPr>
              <a:spLocks noChangeAspect="1"/>
            </p:cNvSpPr>
            <p:nvPr/>
          </p:nvSpPr>
          <p:spPr bwMode="auto">
            <a:xfrm>
              <a:off x="1536870" y="4465190"/>
              <a:ext cx="619125" cy="288925"/>
            </a:xfrm>
            <a:custGeom>
              <a:avLst/>
              <a:gdLst/>
              <a:ahLst/>
              <a:cxnLst>
                <a:cxn ang="0">
                  <a:pos x="166" y="310"/>
                </a:cxn>
                <a:cxn ang="0">
                  <a:pos x="718" y="211"/>
                </a:cxn>
                <a:cxn ang="0">
                  <a:pos x="444" y="0"/>
                </a:cxn>
                <a:cxn ang="0">
                  <a:pos x="0" y="64"/>
                </a:cxn>
                <a:cxn ang="0">
                  <a:pos x="166" y="310"/>
                </a:cxn>
              </a:cxnLst>
              <a:rect l="0" t="0" r="r" b="b"/>
              <a:pathLst>
                <a:path w="718" h="310">
                  <a:moveTo>
                    <a:pt x="166" y="310"/>
                  </a:moveTo>
                  <a:lnTo>
                    <a:pt x="718" y="211"/>
                  </a:lnTo>
                  <a:lnTo>
                    <a:pt x="444" y="0"/>
                  </a:lnTo>
                  <a:lnTo>
                    <a:pt x="0" y="64"/>
                  </a:lnTo>
                  <a:lnTo>
                    <a:pt x="166" y="310"/>
                  </a:lnTo>
                  <a:close/>
                </a:path>
              </a:pathLst>
            </a:custGeom>
            <a:solidFill>
              <a:srgbClr val="FFFFFF"/>
            </a:solidFill>
            <a:ln w="6350" cap="rnd" cmpd="sng">
              <a:solidFill>
                <a:srgbClr val="969696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pPr eaLnBrk="1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lang="ko-KR" altLang="en-US" sz="1800" b="0" kern="0">
                <a:solidFill>
                  <a:sysClr val="windowText" lastClr="000000"/>
                </a:solidFill>
                <a:latin typeface="+mn-lt"/>
                <a:ea typeface="+mn-ea"/>
              </a:endParaRPr>
            </a:p>
          </p:txBody>
        </p:sp>
        <p:sp>
          <p:nvSpPr>
            <p:cNvPr id="23" name="Freeform 191">
              <a:extLst>
                <a:ext uri="{FF2B5EF4-FFF2-40B4-BE49-F238E27FC236}">
                  <a16:creationId xmlns:a16="http://schemas.microsoft.com/office/drawing/2014/main" id="{DCBBEC1C-3FA6-99F1-1820-0291B6E59FD4}"/>
                </a:ext>
              </a:extLst>
            </p:cNvPr>
            <p:cNvSpPr>
              <a:spLocks/>
            </p:cNvSpPr>
            <p:nvPr/>
          </p:nvSpPr>
          <p:spPr bwMode="auto">
            <a:xfrm>
              <a:off x="1671808" y="4660452"/>
              <a:ext cx="477837" cy="214313"/>
            </a:xfrm>
            <a:custGeom>
              <a:avLst/>
              <a:gdLst/>
              <a:ahLst/>
              <a:cxnLst>
                <a:cxn ang="0">
                  <a:pos x="6" y="99"/>
                </a:cxn>
                <a:cxn ang="0">
                  <a:pos x="557" y="0"/>
                </a:cxn>
                <a:cxn ang="0">
                  <a:pos x="549" y="121"/>
                </a:cxn>
                <a:cxn ang="0">
                  <a:pos x="0" y="228"/>
                </a:cxn>
                <a:cxn ang="0">
                  <a:pos x="6" y="99"/>
                </a:cxn>
              </a:cxnLst>
              <a:rect l="0" t="0" r="r" b="b"/>
              <a:pathLst>
                <a:path w="557" h="228">
                  <a:moveTo>
                    <a:pt x="6" y="99"/>
                  </a:moveTo>
                  <a:lnTo>
                    <a:pt x="557" y="0"/>
                  </a:lnTo>
                  <a:lnTo>
                    <a:pt x="549" y="121"/>
                  </a:lnTo>
                  <a:lnTo>
                    <a:pt x="0" y="228"/>
                  </a:lnTo>
                  <a:lnTo>
                    <a:pt x="6" y="99"/>
                  </a:lnTo>
                  <a:close/>
                </a:path>
              </a:pathLst>
            </a:custGeom>
            <a:gradFill rotWithShape="1">
              <a:gsLst>
                <a:gs pos="0">
                  <a:srgbClr val="EAEAEA"/>
                </a:gs>
                <a:gs pos="50000">
                  <a:srgbClr val="EAEAEA">
                    <a:gamma/>
                    <a:tint val="0"/>
                    <a:invGamma/>
                  </a:srgbClr>
                </a:gs>
                <a:gs pos="100000">
                  <a:srgbClr val="EAEAEA"/>
                </a:gs>
              </a:gsLst>
              <a:lin ang="0" scaled="1"/>
            </a:gradFill>
            <a:ln w="9525">
              <a:solidFill>
                <a:srgbClr val="969696"/>
              </a:solidFill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pPr eaLnBrk="1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lang="ko-KR" altLang="en-US" sz="1800" b="0" kern="0">
                <a:solidFill>
                  <a:sysClr val="windowText" lastClr="000000"/>
                </a:solidFill>
                <a:latin typeface="+mn-lt"/>
                <a:ea typeface="+mn-ea"/>
              </a:endParaRPr>
            </a:p>
          </p:txBody>
        </p:sp>
        <p:sp>
          <p:nvSpPr>
            <p:cNvPr id="24" name="Freeform 192">
              <a:extLst>
                <a:ext uri="{FF2B5EF4-FFF2-40B4-BE49-F238E27FC236}">
                  <a16:creationId xmlns:a16="http://schemas.microsoft.com/office/drawing/2014/main" id="{A42C6822-605E-E016-1756-535339930157}"/>
                </a:ext>
              </a:extLst>
            </p:cNvPr>
            <p:cNvSpPr>
              <a:spLocks/>
            </p:cNvSpPr>
            <p:nvPr/>
          </p:nvSpPr>
          <p:spPr bwMode="auto">
            <a:xfrm>
              <a:off x="1690858" y="4789040"/>
              <a:ext cx="144462" cy="60325"/>
            </a:xfrm>
            <a:custGeom>
              <a:avLst/>
              <a:gdLst/>
              <a:ahLst/>
              <a:cxnLst>
                <a:cxn ang="0">
                  <a:pos x="0" y="32"/>
                </a:cxn>
                <a:cxn ang="0">
                  <a:pos x="0" y="63"/>
                </a:cxn>
                <a:cxn ang="0">
                  <a:pos x="164" y="33"/>
                </a:cxn>
                <a:cxn ang="0">
                  <a:pos x="167" y="0"/>
                </a:cxn>
                <a:cxn ang="0">
                  <a:pos x="0" y="32"/>
                </a:cxn>
              </a:cxnLst>
              <a:rect l="0" t="0" r="r" b="b"/>
              <a:pathLst>
                <a:path w="167" h="63">
                  <a:moveTo>
                    <a:pt x="0" y="32"/>
                  </a:moveTo>
                  <a:lnTo>
                    <a:pt x="0" y="63"/>
                  </a:lnTo>
                  <a:lnTo>
                    <a:pt x="164" y="33"/>
                  </a:lnTo>
                  <a:lnTo>
                    <a:pt x="167" y="0"/>
                  </a:lnTo>
                  <a:lnTo>
                    <a:pt x="0" y="32"/>
                  </a:lnTo>
                  <a:close/>
                </a:path>
              </a:pathLst>
            </a:custGeom>
            <a:gradFill rotWithShape="1">
              <a:gsLst>
                <a:gs pos="0">
                  <a:srgbClr val="C0C0C0">
                    <a:gamma/>
                    <a:tint val="60784"/>
                    <a:invGamma/>
                  </a:srgbClr>
                </a:gs>
                <a:gs pos="100000">
                  <a:srgbClr val="C0C0C0"/>
                </a:gs>
              </a:gsLst>
              <a:lin ang="0" scaled="1"/>
            </a:gradFill>
            <a:ln w="9525">
              <a:noFill/>
              <a:round/>
              <a:headEnd type="none" w="med" len="med"/>
              <a:tailEnd type="none" w="med" len="med"/>
            </a:ln>
            <a:effectLst>
              <a:prstShdw prst="shdw17" dist="17961" dir="13500000">
                <a:srgbClr val="969696"/>
              </a:prstShdw>
            </a:effectLst>
          </p:spPr>
          <p:txBody>
            <a:bodyPr/>
            <a:lstStyle/>
            <a:p>
              <a:pPr eaLnBrk="1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lang="ko-KR" altLang="en-US" sz="1800" b="0" kern="0">
                <a:solidFill>
                  <a:sysClr val="windowText" lastClr="000000"/>
                </a:solidFill>
                <a:latin typeface="+mn-lt"/>
                <a:ea typeface="+mn-ea"/>
              </a:endParaRPr>
            </a:p>
          </p:txBody>
        </p:sp>
        <p:sp>
          <p:nvSpPr>
            <p:cNvPr id="25" name="Oval 193">
              <a:extLst>
                <a:ext uri="{FF2B5EF4-FFF2-40B4-BE49-F238E27FC236}">
                  <a16:creationId xmlns:a16="http://schemas.microsoft.com/office/drawing/2014/main" id="{EFF9D8B9-A224-5240-3A3F-7B798F5845A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09920" y="4796977"/>
              <a:ext cx="15875" cy="20638"/>
            </a:xfrm>
            <a:prstGeom prst="ellipse">
              <a:avLst/>
            </a:prstGeom>
            <a:solidFill>
              <a:srgbClr val="969696"/>
            </a:solidFill>
            <a:ln w="9525">
              <a:solidFill>
                <a:srgbClr val="969696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 eaLnBrk="1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lang="ko-KR" altLang="en-US" sz="1800" b="0" kern="0">
                <a:solidFill>
                  <a:sysClr val="windowText" lastClr="000000"/>
                </a:solidFill>
                <a:latin typeface="+mn-lt"/>
                <a:ea typeface="+mn-ea"/>
              </a:endParaRPr>
            </a:p>
          </p:txBody>
        </p:sp>
        <p:sp>
          <p:nvSpPr>
            <p:cNvPr id="26" name="Line 194">
              <a:extLst>
                <a:ext uri="{FF2B5EF4-FFF2-40B4-BE49-F238E27FC236}">
                  <a16:creationId xmlns:a16="http://schemas.microsoft.com/office/drawing/2014/main" id="{073E550B-BA6C-71D8-EAB4-D60C8E52F4EE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032170" y="4706490"/>
              <a:ext cx="3175" cy="76200"/>
            </a:xfrm>
            <a:prstGeom prst="line">
              <a:avLst/>
            </a:prstGeom>
            <a:noFill/>
            <a:ln w="9525">
              <a:solidFill>
                <a:srgbClr val="808080"/>
              </a:solidFill>
              <a:round/>
              <a:headEnd/>
              <a:tailEnd/>
            </a:ln>
            <a:effectLst>
              <a:outerShdw dist="17961" dir="18900000" algn="ctr" rotWithShape="0">
                <a:srgbClr val="969696">
                  <a:alpha val="50000"/>
                </a:srgbClr>
              </a:outerShdw>
            </a:effectLst>
          </p:spPr>
          <p:txBody>
            <a:bodyPr/>
            <a:lstStyle/>
            <a:p>
              <a:pPr eaLnBrk="1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lang="ko-KR" altLang="en-US" sz="1800" b="0" kern="0">
                <a:solidFill>
                  <a:sysClr val="windowText" lastClr="000000"/>
                </a:solidFill>
                <a:latin typeface="+mn-lt"/>
                <a:ea typeface="+mn-ea"/>
              </a:endParaRPr>
            </a:p>
          </p:txBody>
        </p:sp>
        <p:sp>
          <p:nvSpPr>
            <p:cNvPr id="27" name="Line 195">
              <a:extLst>
                <a:ext uri="{FF2B5EF4-FFF2-40B4-BE49-F238E27FC236}">
                  <a16:creationId xmlns:a16="http://schemas.microsoft.com/office/drawing/2014/main" id="{81755173-E296-CC00-1586-A107BEEBE9F8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021058" y="4708077"/>
              <a:ext cx="1587" cy="80963"/>
            </a:xfrm>
            <a:prstGeom prst="line">
              <a:avLst/>
            </a:prstGeom>
            <a:noFill/>
            <a:ln w="9525">
              <a:solidFill>
                <a:srgbClr val="808080"/>
              </a:solidFill>
              <a:round/>
              <a:headEnd/>
              <a:tailEnd/>
            </a:ln>
            <a:effectLst>
              <a:outerShdw dist="17961" dir="18900000" algn="ctr" rotWithShape="0">
                <a:srgbClr val="969696">
                  <a:alpha val="50000"/>
                </a:srgbClr>
              </a:outerShdw>
            </a:effectLst>
          </p:spPr>
          <p:txBody>
            <a:bodyPr/>
            <a:lstStyle/>
            <a:p>
              <a:pPr eaLnBrk="1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lang="ko-KR" altLang="en-US" sz="1800" b="0" kern="0">
                <a:solidFill>
                  <a:sysClr val="windowText" lastClr="000000"/>
                </a:solidFill>
                <a:latin typeface="+mn-lt"/>
                <a:ea typeface="+mn-ea"/>
              </a:endParaRPr>
            </a:p>
          </p:txBody>
        </p:sp>
        <p:sp>
          <p:nvSpPr>
            <p:cNvPr id="28" name="Line 196">
              <a:extLst>
                <a:ext uri="{FF2B5EF4-FFF2-40B4-BE49-F238E27FC236}">
                  <a16:creationId xmlns:a16="http://schemas.microsoft.com/office/drawing/2014/main" id="{C65D41DA-32E6-AF15-57C8-C0A7D43AA68D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044870" y="4704902"/>
              <a:ext cx="4763" cy="76200"/>
            </a:xfrm>
            <a:prstGeom prst="line">
              <a:avLst/>
            </a:prstGeom>
            <a:noFill/>
            <a:ln w="9525">
              <a:solidFill>
                <a:srgbClr val="808080"/>
              </a:solidFill>
              <a:round/>
              <a:headEnd/>
              <a:tailEnd/>
            </a:ln>
            <a:effectLst>
              <a:outerShdw dist="17961" dir="18900000" algn="ctr" rotWithShape="0">
                <a:srgbClr val="969696">
                  <a:alpha val="50000"/>
                </a:srgbClr>
              </a:outerShdw>
            </a:effectLst>
          </p:spPr>
          <p:txBody>
            <a:bodyPr/>
            <a:lstStyle/>
            <a:p>
              <a:pPr eaLnBrk="1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lang="ko-KR" altLang="en-US" sz="1800" b="0" kern="0">
                <a:solidFill>
                  <a:sysClr val="windowText" lastClr="000000"/>
                </a:solidFill>
                <a:latin typeface="+mn-lt"/>
                <a:ea typeface="+mn-ea"/>
              </a:endParaRPr>
            </a:p>
          </p:txBody>
        </p:sp>
        <p:sp>
          <p:nvSpPr>
            <p:cNvPr id="29" name="Line 197">
              <a:extLst>
                <a:ext uri="{FF2B5EF4-FFF2-40B4-BE49-F238E27FC236}">
                  <a16:creationId xmlns:a16="http://schemas.microsoft.com/office/drawing/2014/main" id="{AB568DF1-99BB-2CB3-27E0-21CDED70BE43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055983" y="4703315"/>
              <a:ext cx="3175" cy="76200"/>
            </a:xfrm>
            <a:prstGeom prst="line">
              <a:avLst/>
            </a:prstGeom>
            <a:noFill/>
            <a:ln w="9525">
              <a:solidFill>
                <a:srgbClr val="808080"/>
              </a:solidFill>
              <a:round/>
              <a:headEnd/>
              <a:tailEnd/>
            </a:ln>
            <a:effectLst>
              <a:outerShdw dist="17961" dir="18900000" algn="ctr" rotWithShape="0">
                <a:srgbClr val="969696">
                  <a:alpha val="50000"/>
                </a:srgbClr>
              </a:outerShdw>
            </a:effectLst>
          </p:spPr>
          <p:txBody>
            <a:bodyPr/>
            <a:lstStyle/>
            <a:p>
              <a:pPr eaLnBrk="1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lang="ko-KR" altLang="en-US" sz="1800" b="0" kern="0">
                <a:solidFill>
                  <a:sysClr val="windowText" lastClr="000000"/>
                </a:solidFill>
                <a:latin typeface="+mn-lt"/>
                <a:ea typeface="+mn-ea"/>
              </a:endParaRPr>
            </a:p>
          </p:txBody>
        </p:sp>
        <p:sp>
          <p:nvSpPr>
            <p:cNvPr id="30" name="Line 198">
              <a:extLst>
                <a:ext uri="{FF2B5EF4-FFF2-40B4-BE49-F238E27FC236}">
                  <a16:creationId xmlns:a16="http://schemas.microsoft.com/office/drawing/2014/main" id="{C733A48E-4091-21E0-18AD-716A925B3A5F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065508" y="4701727"/>
              <a:ext cx="6350" cy="76200"/>
            </a:xfrm>
            <a:prstGeom prst="line">
              <a:avLst/>
            </a:prstGeom>
            <a:noFill/>
            <a:ln w="9525">
              <a:solidFill>
                <a:srgbClr val="808080"/>
              </a:solidFill>
              <a:round/>
              <a:headEnd/>
              <a:tailEnd/>
            </a:ln>
            <a:effectLst>
              <a:outerShdw dist="17961" dir="18900000" algn="ctr" rotWithShape="0">
                <a:srgbClr val="969696">
                  <a:alpha val="50000"/>
                </a:srgbClr>
              </a:outerShdw>
            </a:effectLst>
          </p:spPr>
          <p:txBody>
            <a:bodyPr/>
            <a:lstStyle/>
            <a:p>
              <a:pPr eaLnBrk="1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lang="ko-KR" altLang="en-US" sz="1800" b="0" kern="0">
                <a:solidFill>
                  <a:sysClr val="windowText" lastClr="000000"/>
                </a:solidFill>
                <a:latin typeface="+mn-lt"/>
                <a:ea typeface="+mn-ea"/>
              </a:endParaRPr>
            </a:p>
          </p:txBody>
        </p:sp>
        <p:sp>
          <p:nvSpPr>
            <p:cNvPr id="31" name="Line 199">
              <a:extLst>
                <a:ext uri="{FF2B5EF4-FFF2-40B4-BE49-F238E27FC236}">
                  <a16:creationId xmlns:a16="http://schemas.microsoft.com/office/drawing/2014/main" id="{5CBBB59F-BCE3-8EF2-7AC3-6CA9CD748E8C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076620" y="4698552"/>
              <a:ext cx="6350" cy="77788"/>
            </a:xfrm>
            <a:prstGeom prst="line">
              <a:avLst/>
            </a:prstGeom>
            <a:noFill/>
            <a:ln w="9525">
              <a:solidFill>
                <a:srgbClr val="808080"/>
              </a:solidFill>
              <a:round/>
              <a:headEnd/>
              <a:tailEnd/>
            </a:ln>
            <a:effectLst>
              <a:outerShdw dist="17961" dir="18900000" algn="ctr" rotWithShape="0">
                <a:srgbClr val="969696">
                  <a:alpha val="50000"/>
                </a:srgbClr>
              </a:outerShdw>
            </a:effectLst>
          </p:spPr>
          <p:txBody>
            <a:bodyPr/>
            <a:lstStyle/>
            <a:p>
              <a:pPr eaLnBrk="1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lang="ko-KR" altLang="en-US" sz="1800" b="0" kern="0">
                <a:solidFill>
                  <a:sysClr val="windowText" lastClr="000000"/>
                </a:solidFill>
                <a:latin typeface="+mn-lt"/>
                <a:ea typeface="+mn-ea"/>
              </a:endParaRPr>
            </a:p>
          </p:txBody>
        </p:sp>
        <p:sp>
          <p:nvSpPr>
            <p:cNvPr id="32" name="Line 200">
              <a:extLst>
                <a:ext uri="{FF2B5EF4-FFF2-40B4-BE49-F238E27FC236}">
                  <a16:creationId xmlns:a16="http://schemas.microsoft.com/office/drawing/2014/main" id="{E10A9F24-25A5-9750-AF9F-7401C6C60C2E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087733" y="4698552"/>
              <a:ext cx="1587" cy="76200"/>
            </a:xfrm>
            <a:prstGeom prst="line">
              <a:avLst/>
            </a:prstGeom>
            <a:noFill/>
            <a:ln w="9525">
              <a:solidFill>
                <a:srgbClr val="808080"/>
              </a:solidFill>
              <a:round/>
              <a:headEnd/>
              <a:tailEnd/>
            </a:ln>
            <a:effectLst>
              <a:outerShdw dist="17961" dir="18900000" algn="ctr" rotWithShape="0">
                <a:srgbClr val="969696">
                  <a:alpha val="50000"/>
                </a:srgbClr>
              </a:outerShdw>
            </a:effectLst>
          </p:spPr>
          <p:txBody>
            <a:bodyPr/>
            <a:lstStyle/>
            <a:p>
              <a:pPr eaLnBrk="1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lang="ko-KR" altLang="en-US" sz="1800" b="0" kern="0">
                <a:solidFill>
                  <a:sysClr val="windowText" lastClr="000000"/>
                </a:solidFill>
                <a:latin typeface="+mn-lt"/>
                <a:ea typeface="+mn-ea"/>
              </a:endParaRPr>
            </a:p>
          </p:txBody>
        </p:sp>
        <p:sp>
          <p:nvSpPr>
            <p:cNvPr id="33" name="Line 201">
              <a:extLst>
                <a:ext uri="{FF2B5EF4-FFF2-40B4-BE49-F238E27FC236}">
                  <a16:creationId xmlns:a16="http://schemas.microsoft.com/office/drawing/2014/main" id="{35056328-F05D-9CB2-5C58-E533CE045E4D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097258" y="4692202"/>
              <a:ext cx="1587" cy="79375"/>
            </a:xfrm>
            <a:prstGeom prst="line">
              <a:avLst/>
            </a:prstGeom>
            <a:noFill/>
            <a:ln w="9525">
              <a:solidFill>
                <a:srgbClr val="808080"/>
              </a:solidFill>
              <a:round/>
              <a:headEnd/>
              <a:tailEnd/>
            </a:ln>
            <a:effectLst>
              <a:outerShdw dist="17961" dir="18900000" algn="ctr" rotWithShape="0">
                <a:srgbClr val="969696">
                  <a:alpha val="50000"/>
                </a:srgbClr>
              </a:outerShdw>
            </a:effectLst>
          </p:spPr>
          <p:txBody>
            <a:bodyPr/>
            <a:lstStyle/>
            <a:p>
              <a:pPr eaLnBrk="1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lang="ko-KR" altLang="en-US" sz="1800" b="0" kern="0">
                <a:solidFill>
                  <a:sysClr val="windowText" lastClr="000000"/>
                </a:solidFill>
                <a:latin typeface="+mn-lt"/>
                <a:ea typeface="+mn-ea"/>
              </a:endParaRPr>
            </a:p>
          </p:txBody>
        </p:sp>
        <p:sp>
          <p:nvSpPr>
            <p:cNvPr id="34" name="Line 202">
              <a:extLst>
                <a:ext uri="{FF2B5EF4-FFF2-40B4-BE49-F238E27FC236}">
                  <a16:creationId xmlns:a16="http://schemas.microsoft.com/office/drawing/2014/main" id="{B875D47C-2B17-1849-6513-E483A1603BC0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106783" y="4692202"/>
              <a:ext cx="1587" cy="76200"/>
            </a:xfrm>
            <a:prstGeom prst="line">
              <a:avLst/>
            </a:prstGeom>
            <a:noFill/>
            <a:ln w="9525">
              <a:solidFill>
                <a:srgbClr val="808080"/>
              </a:solidFill>
              <a:round/>
              <a:headEnd/>
              <a:tailEnd/>
            </a:ln>
            <a:effectLst>
              <a:outerShdw dist="17961" dir="18900000" algn="ctr" rotWithShape="0">
                <a:srgbClr val="969696">
                  <a:alpha val="50000"/>
                </a:srgbClr>
              </a:outerShdw>
            </a:effectLst>
          </p:spPr>
          <p:txBody>
            <a:bodyPr/>
            <a:lstStyle/>
            <a:p>
              <a:pPr eaLnBrk="1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lang="ko-KR" altLang="en-US" sz="1800" b="0" kern="0">
                <a:solidFill>
                  <a:sysClr val="windowText" lastClr="000000"/>
                </a:solidFill>
                <a:latin typeface="+mn-lt"/>
                <a:ea typeface="+mn-ea"/>
              </a:endParaRPr>
            </a:p>
          </p:txBody>
        </p:sp>
        <p:sp>
          <p:nvSpPr>
            <p:cNvPr id="35" name="Line 203">
              <a:extLst>
                <a:ext uri="{FF2B5EF4-FFF2-40B4-BE49-F238E27FC236}">
                  <a16:creationId xmlns:a16="http://schemas.microsoft.com/office/drawing/2014/main" id="{AC2205F0-762B-95A7-C4F8-EF8F5DCAB5E3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117895" y="4690615"/>
              <a:ext cx="1588" cy="77787"/>
            </a:xfrm>
            <a:prstGeom prst="line">
              <a:avLst/>
            </a:prstGeom>
            <a:noFill/>
            <a:ln w="9525">
              <a:solidFill>
                <a:srgbClr val="808080"/>
              </a:solidFill>
              <a:round/>
              <a:headEnd/>
              <a:tailEnd/>
            </a:ln>
            <a:effectLst>
              <a:outerShdw dist="17961" dir="18900000" algn="ctr" rotWithShape="0">
                <a:srgbClr val="969696">
                  <a:alpha val="50000"/>
                </a:srgbClr>
              </a:outerShdw>
            </a:effectLst>
          </p:spPr>
          <p:txBody>
            <a:bodyPr/>
            <a:lstStyle/>
            <a:p>
              <a:pPr eaLnBrk="1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lang="ko-KR" altLang="en-US" sz="1800" b="0" kern="0">
                <a:solidFill>
                  <a:sysClr val="windowText" lastClr="000000"/>
                </a:solidFill>
                <a:latin typeface="+mn-lt"/>
                <a:ea typeface="+mn-ea"/>
              </a:endParaRPr>
            </a:p>
          </p:txBody>
        </p:sp>
        <p:sp>
          <p:nvSpPr>
            <p:cNvPr id="36" name="Line 204">
              <a:extLst>
                <a:ext uri="{FF2B5EF4-FFF2-40B4-BE49-F238E27FC236}">
                  <a16:creationId xmlns:a16="http://schemas.microsoft.com/office/drawing/2014/main" id="{87836BF9-5911-61E8-B3A4-4F789F71C7C7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071064" y="4731896"/>
              <a:ext cx="1587" cy="76200"/>
            </a:xfrm>
            <a:prstGeom prst="line">
              <a:avLst/>
            </a:prstGeom>
            <a:noFill/>
            <a:ln w="9525">
              <a:solidFill>
                <a:srgbClr val="808080"/>
              </a:solidFill>
              <a:round/>
              <a:headEnd/>
              <a:tailEnd/>
            </a:ln>
            <a:effectLst>
              <a:outerShdw dist="17961" dir="18900000" algn="ctr" rotWithShape="0">
                <a:srgbClr val="969696">
                  <a:alpha val="50000"/>
                </a:srgbClr>
              </a:outerShdw>
            </a:effectLst>
          </p:spPr>
          <p:txBody>
            <a:bodyPr/>
            <a:lstStyle/>
            <a:p>
              <a:pPr eaLnBrk="1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lang="ko-KR" altLang="en-US" sz="1800" b="0" kern="0">
                <a:solidFill>
                  <a:sysClr val="windowText" lastClr="000000"/>
                </a:solidFill>
                <a:latin typeface="+mn-lt"/>
                <a:ea typeface="+mn-ea"/>
              </a:endParaRPr>
            </a:p>
          </p:txBody>
        </p:sp>
        <p:sp>
          <p:nvSpPr>
            <p:cNvPr id="37" name="Freeform 205">
              <a:extLst>
                <a:ext uri="{FF2B5EF4-FFF2-40B4-BE49-F238E27FC236}">
                  <a16:creationId xmlns:a16="http://schemas.microsoft.com/office/drawing/2014/main" id="{F1FCEB5B-266D-606F-D7F3-C4BEA0F37A7A}"/>
                </a:ext>
              </a:extLst>
            </p:cNvPr>
            <p:cNvSpPr>
              <a:spLocks/>
            </p:cNvSpPr>
            <p:nvPr/>
          </p:nvSpPr>
          <p:spPr bwMode="auto">
            <a:xfrm>
              <a:off x="1878183" y="4738240"/>
              <a:ext cx="79375" cy="61912"/>
            </a:xfrm>
            <a:custGeom>
              <a:avLst/>
              <a:gdLst/>
              <a:ahLst/>
              <a:cxnLst>
                <a:cxn ang="0">
                  <a:pos x="2" y="33"/>
                </a:cxn>
                <a:cxn ang="0">
                  <a:pos x="0" y="138"/>
                </a:cxn>
                <a:cxn ang="0">
                  <a:pos x="186" y="104"/>
                </a:cxn>
                <a:cxn ang="0">
                  <a:pos x="186" y="0"/>
                </a:cxn>
                <a:cxn ang="0">
                  <a:pos x="2" y="33"/>
                </a:cxn>
              </a:cxnLst>
              <a:rect l="0" t="0" r="r" b="b"/>
              <a:pathLst>
                <a:path w="186" h="138">
                  <a:moveTo>
                    <a:pt x="2" y="33"/>
                  </a:moveTo>
                  <a:lnTo>
                    <a:pt x="0" y="138"/>
                  </a:lnTo>
                  <a:lnTo>
                    <a:pt x="186" y="104"/>
                  </a:lnTo>
                  <a:lnTo>
                    <a:pt x="186" y="0"/>
                  </a:lnTo>
                  <a:lnTo>
                    <a:pt x="2" y="33"/>
                  </a:lnTo>
                  <a:close/>
                </a:path>
              </a:pathLst>
            </a:custGeom>
            <a:gradFill rotWithShape="1">
              <a:gsLst>
                <a:gs pos="0">
                  <a:srgbClr val="969696"/>
                </a:gs>
                <a:gs pos="100000">
                  <a:srgbClr val="969696">
                    <a:gamma/>
                    <a:shade val="75686"/>
                    <a:invGamma/>
                  </a:srgbClr>
                </a:gs>
              </a:gsLst>
              <a:lin ang="0" scaled="1"/>
            </a:gradFill>
            <a:ln w="3175" cap="flat" cmpd="sng">
              <a:noFill/>
              <a:prstDash val="solid"/>
              <a:round/>
              <a:headEnd type="none" w="med" len="med"/>
              <a:tailEnd type="none" w="med" len="med"/>
            </a:ln>
            <a:effectLst>
              <a:prstShdw prst="shdw17" dist="17961" dir="13500000">
                <a:srgbClr val="969696">
                  <a:alpha val="50000"/>
                </a:srgbClr>
              </a:prstShdw>
            </a:effectLst>
          </p:spPr>
          <p:txBody>
            <a:bodyPr/>
            <a:lstStyle/>
            <a:p>
              <a:pPr eaLnBrk="1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lang="ko-KR" altLang="en-US" sz="1800" b="0" kern="0">
                <a:solidFill>
                  <a:sysClr val="windowText" lastClr="000000"/>
                </a:solidFill>
                <a:latin typeface="+mn-lt"/>
                <a:ea typeface="+mn-ea"/>
              </a:endParaRPr>
            </a:p>
          </p:txBody>
        </p:sp>
        <p:sp>
          <p:nvSpPr>
            <p:cNvPr id="38" name="Line 206">
              <a:extLst>
                <a:ext uri="{FF2B5EF4-FFF2-40B4-BE49-F238E27FC236}">
                  <a16:creationId xmlns:a16="http://schemas.microsoft.com/office/drawing/2014/main" id="{5354CF05-0CE6-F139-155E-980B6DF5C131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889295" y="4773165"/>
              <a:ext cx="0" cy="19050"/>
            </a:xfrm>
            <a:prstGeom prst="line">
              <a:avLst/>
            </a:prstGeom>
            <a:noFill/>
            <a:ln w="9525">
              <a:solidFill>
                <a:srgbClr val="3399FF">
                  <a:alpha val="55000"/>
                </a:srgbClr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pPr eaLnBrk="1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lang="ko-KR" altLang="en-US" sz="1800" b="0" kern="0">
                <a:solidFill>
                  <a:sysClr val="windowText" lastClr="000000"/>
                </a:solidFill>
                <a:latin typeface="+mn-lt"/>
                <a:ea typeface="+mn-ea"/>
              </a:endParaRPr>
            </a:p>
          </p:txBody>
        </p:sp>
        <p:sp>
          <p:nvSpPr>
            <p:cNvPr id="39" name="Line 207">
              <a:extLst>
                <a:ext uri="{FF2B5EF4-FFF2-40B4-BE49-F238E27FC236}">
                  <a16:creationId xmlns:a16="http://schemas.microsoft.com/office/drawing/2014/main" id="{138BCC22-5C73-3A3B-5C2D-2E1851CC6D45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951208" y="4758877"/>
              <a:ext cx="0" cy="19050"/>
            </a:xfrm>
            <a:prstGeom prst="line">
              <a:avLst/>
            </a:prstGeom>
            <a:noFill/>
            <a:ln w="9525">
              <a:solidFill>
                <a:srgbClr val="3399FF">
                  <a:alpha val="55000"/>
                </a:srgbClr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pPr eaLnBrk="1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lang="ko-KR" altLang="en-US" sz="1800" b="0" kern="0">
                <a:solidFill>
                  <a:sysClr val="windowText" lastClr="000000"/>
                </a:solidFill>
                <a:latin typeface="+mn-lt"/>
                <a:ea typeface="+mn-ea"/>
              </a:endParaRPr>
            </a:p>
          </p:txBody>
        </p:sp>
        <p:sp>
          <p:nvSpPr>
            <p:cNvPr id="40" name="Line 208">
              <a:extLst>
                <a:ext uri="{FF2B5EF4-FFF2-40B4-BE49-F238E27FC236}">
                  <a16:creationId xmlns:a16="http://schemas.microsoft.com/office/drawing/2014/main" id="{513FEBD8-6080-B837-5D17-AE7DAE8CDECD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943270" y="4768402"/>
              <a:ext cx="0" cy="14288"/>
            </a:xfrm>
            <a:prstGeom prst="line">
              <a:avLst/>
            </a:prstGeom>
            <a:noFill/>
            <a:ln w="9525">
              <a:solidFill>
                <a:srgbClr val="3399FF">
                  <a:alpha val="55000"/>
                </a:srgbClr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pPr eaLnBrk="1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lang="ko-KR" altLang="en-US" sz="1800" b="0" kern="0">
                <a:solidFill>
                  <a:sysClr val="windowText" lastClr="000000"/>
                </a:solidFill>
                <a:latin typeface="+mn-lt"/>
                <a:ea typeface="+mn-ea"/>
              </a:endParaRPr>
            </a:p>
          </p:txBody>
        </p:sp>
        <p:sp>
          <p:nvSpPr>
            <p:cNvPr id="41" name="Line 209">
              <a:extLst>
                <a:ext uri="{FF2B5EF4-FFF2-40B4-BE49-F238E27FC236}">
                  <a16:creationId xmlns:a16="http://schemas.microsoft.com/office/drawing/2014/main" id="{169FF411-EB15-3CFD-89FB-BB3656459BB4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898820" y="4781102"/>
              <a:ext cx="0" cy="12700"/>
            </a:xfrm>
            <a:prstGeom prst="line">
              <a:avLst/>
            </a:prstGeom>
            <a:noFill/>
            <a:ln w="9525">
              <a:solidFill>
                <a:srgbClr val="3399FF">
                  <a:alpha val="55000"/>
                </a:srgbClr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pPr eaLnBrk="1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lang="ko-KR" altLang="en-US" sz="1800" b="0" kern="0">
                <a:solidFill>
                  <a:sysClr val="windowText" lastClr="000000"/>
                </a:solidFill>
                <a:latin typeface="+mn-lt"/>
                <a:ea typeface="+mn-ea"/>
              </a:endParaRPr>
            </a:p>
          </p:txBody>
        </p:sp>
        <p:sp>
          <p:nvSpPr>
            <p:cNvPr id="42" name="Line 210">
              <a:extLst>
                <a:ext uri="{FF2B5EF4-FFF2-40B4-BE49-F238E27FC236}">
                  <a16:creationId xmlns:a16="http://schemas.microsoft.com/office/drawing/2014/main" id="{8E3A77D1-182D-77FD-A40C-BD2B054397E7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908345" y="4782690"/>
              <a:ext cx="25400" cy="6350"/>
            </a:xfrm>
            <a:prstGeom prst="line">
              <a:avLst/>
            </a:prstGeom>
            <a:noFill/>
            <a:ln w="9525">
              <a:solidFill>
                <a:srgbClr val="FFFF99">
                  <a:alpha val="45000"/>
                </a:srgbClr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pPr eaLnBrk="1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lang="ko-KR" altLang="en-US" sz="1800" b="0" kern="0">
                <a:solidFill>
                  <a:sysClr val="windowText" lastClr="000000"/>
                </a:solidFill>
                <a:latin typeface="+mn-lt"/>
                <a:ea typeface="+mn-ea"/>
              </a:endParaRPr>
            </a:p>
          </p:txBody>
        </p:sp>
        <p:sp>
          <p:nvSpPr>
            <p:cNvPr id="43" name="Freeform 211">
              <a:extLst>
                <a:ext uri="{FF2B5EF4-FFF2-40B4-BE49-F238E27FC236}">
                  <a16:creationId xmlns:a16="http://schemas.microsoft.com/office/drawing/2014/main" id="{BF7E9D88-35BE-4550-B675-1C51E3D7CC7A}"/>
                </a:ext>
              </a:extLst>
            </p:cNvPr>
            <p:cNvSpPr>
              <a:spLocks/>
            </p:cNvSpPr>
            <p:nvPr/>
          </p:nvSpPr>
          <p:spPr bwMode="auto">
            <a:xfrm>
              <a:off x="1714670" y="4752527"/>
              <a:ext cx="100013" cy="36513"/>
            </a:xfrm>
            <a:custGeom>
              <a:avLst/>
              <a:gdLst/>
              <a:ahLst/>
              <a:cxnLst>
                <a:cxn ang="0">
                  <a:pos x="0" y="20"/>
                </a:cxn>
                <a:cxn ang="0">
                  <a:pos x="1" y="38"/>
                </a:cxn>
                <a:cxn ang="0">
                  <a:pos x="116" y="19"/>
                </a:cxn>
                <a:cxn ang="0">
                  <a:pos x="116" y="0"/>
                </a:cxn>
                <a:cxn ang="0">
                  <a:pos x="0" y="20"/>
                </a:cxn>
              </a:cxnLst>
              <a:rect l="0" t="0" r="r" b="b"/>
              <a:pathLst>
                <a:path w="116" h="38">
                  <a:moveTo>
                    <a:pt x="0" y="20"/>
                  </a:moveTo>
                  <a:lnTo>
                    <a:pt x="1" y="38"/>
                  </a:lnTo>
                  <a:lnTo>
                    <a:pt x="116" y="19"/>
                  </a:lnTo>
                  <a:lnTo>
                    <a:pt x="116" y="0"/>
                  </a:lnTo>
                  <a:lnTo>
                    <a:pt x="0" y="20"/>
                  </a:lnTo>
                  <a:close/>
                </a:path>
              </a:pathLst>
            </a:custGeom>
            <a:gradFill rotWithShape="1">
              <a:gsLst>
                <a:gs pos="0">
                  <a:srgbClr val="C0C0C0">
                    <a:gamma/>
                    <a:tint val="60784"/>
                    <a:invGamma/>
                  </a:srgbClr>
                </a:gs>
                <a:gs pos="100000">
                  <a:srgbClr val="C0C0C0"/>
                </a:gs>
              </a:gsLst>
              <a:lin ang="0" scaled="1"/>
            </a:gradFill>
            <a:ln w="9525">
              <a:noFill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pPr eaLnBrk="1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lang="ko-KR" altLang="en-US" sz="1800" b="0" kern="0">
                <a:solidFill>
                  <a:sysClr val="windowText" lastClr="000000"/>
                </a:solidFill>
                <a:latin typeface="+mn-lt"/>
                <a:ea typeface="+mn-ea"/>
              </a:endParaRPr>
            </a:p>
          </p:txBody>
        </p:sp>
        <p:sp>
          <p:nvSpPr>
            <p:cNvPr id="44" name="Line 212">
              <a:extLst>
                <a:ext uri="{FF2B5EF4-FFF2-40B4-BE49-F238E27FC236}">
                  <a16:creationId xmlns:a16="http://schemas.microsoft.com/office/drawing/2014/main" id="{9F0AAF2E-5ECB-E6D5-7CB5-DA2DAE65517E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706733" y="4758877"/>
              <a:ext cx="112712" cy="22225"/>
            </a:xfrm>
            <a:prstGeom prst="line">
              <a:avLst/>
            </a:prstGeom>
            <a:noFill/>
            <a:ln w="3175">
              <a:solidFill>
                <a:srgbClr val="5F5F5F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pPr eaLnBrk="1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lang="ko-KR" altLang="en-US" sz="1800" b="0" kern="0">
                <a:solidFill>
                  <a:sysClr val="windowText" lastClr="000000"/>
                </a:solidFill>
                <a:latin typeface="+mn-lt"/>
                <a:ea typeface="+mn-ea"/>
              </a:endParaRPr>
            </a:p>
          </p:txBody>
        </p:sp>
        <p:grpSp>
          <p:nvGrpSpPr>
            <p:cNvPr id="45" name="Group 150">
              <a:extLst>
                <a:ext uri="{FF2B5EF4-FFF2-40B4-BE49-F238E27FC236}">
                  <a16:creationId xmlns:a16="http://schemas.microsoft.com/office/drawing/2014/main" id="{47DBCAED-6110-799D-097A-6C8665F9AD6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598783" y="4144515"/>
              <a:ext cx="328612" cy="369887"/>
              <a:chOff x="685" y="3115"/>
              <a:chExt cx="207" cy="233"/>
            </a:xfrm>
          </p:grpSpPr>
          <p:sp>
            <p:nvSpPr>
              <p:cNvPr id="58" name="Freeform 215">
                <a:extLst>
                  <a:ext uri="{FF2B5EF4-FFF2-40B4-BE49-F238E27FC236}">
                    <a16:creationId xmlns:a16="http://schemas.microsoft.com/office/drawing/2014/main" id="{09952A3B-1D3C-FE05-0600-CFA5A87C4F15}"/>
                  </a:ext>
                </a:extLst>
              </p:cNvPr>
              <p:cNvSpPr>
                <a:spLocks/>
              </p:cNvSpPr>
              <p:nvPr/>
            </p:nvSpPr>
            <p:spPr bwMode="auto">
              <a:xfrm flipH="1">
                <a:off x="686" y="3115"/>
                <a:ext cx="206" cy="30"/>
              </a:xfrm>
              <a:custGeom>
                <a:avLst/>
                <a:gdLst>
                  <a:gd name="T0" fmla="*/ 1205 w 1205"/>
                  <a:gd name="T1" fmla="*/ 151 h 178"/>
                  <a:gd name="T2" fmla="*/ 964 w 1205"/>
                  <a:gd name="T3" fmla="*/ 178 h 178"/>
                  <a:gd name="T4" fmla="*/ 0 w 1205"/>
                  <a:gd name="T5" fmla="*/ 0 h 178"/>
                  <a:gd name="T6" fmla="*/ 1205 w 1205"/>
                  <a:gd name="T7" fmla="*/ 151 h 178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1205"/>
                  <a:gd name="T13" fmla="*/ 0 h 178"/>
                  <a:gd name="T14" fmla="*/ 1205 w 1205"/>
                  <a:gd name="T15" fmla="*/ 178 h 178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1205" h="178">
                    <a:moveTo>
                      <a:pt x="1205" y="151"/>
                    </a:moveTo>
                    <a:lnTo>
                      <a:pt x="964" y="178"/>
                    </a:lnTo>
                    <a:lnTo>
                      <a:pt x="0" y="0"/>
                    </a:lnTo>
                    <a:lnTo>
                      <a:pt x="1205" y="151"/>
                    </a:lnTo>
                    <a:close/>
                  </a:path>
                </a:pathLst>
              </a:custGeom>
              <a:solidFill>
                <a:srgbClr val="EAEAEA"/>
              </a:solidFill>
              <a:ln w="9525">
                <a:solidFill>
                  <a:srgbClr val="969696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pPr eaLnBrk="1" fontAlgn="auto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lang="ko-KR" altLang="en-US" sz="1800" b="0" kern="0">
                  <a:solidFill>
                    <a:sysClr val="windowText" lastClr="000000"/>
                  </a:solidFill>
                  <a:latin typeface="+mn-lt"/>
                  <a:ea typeface="+mn-ea"/>
                </a:endParaRPr>
              </a:p>
            </p:txBody>
          </p:sp>
          <p:sp>
            <p:nvSpPr>
              <p:cNvPr id="59" name="Freeform 216">
                <a:extLst>
                  <a:ext uri="{FF2B5EF4-FFF2-40B4-BE49-F238E27FC236}">
                    <a16:creationId xmlns:a16="http://schemas.microsoft.com/office/drawing/2014/main" id="{213013DB-CB8F-9DDD-2C18-EAA7E7A8E97A}"/>
                  </a:ext>
                </a:extLst>
              </p:cNvPr>
              <p:cNvSpPr>
                <a:spLocks/>
              </p:cNvSpPr>
              <p:nvPr/>
            </p:nvSpPr>
            <p:spPr bwMode="auto">
              <a:xfrm flipH="1">
                <a:off x="685" y="3141"/>
                <a:ext cx="69" cy="207"/>
              </a:xfrm>
              <a:custGeom>
                <a:avLst/>
                <a:gdLst>
                  <a:gd name="T0" fmla="*/ 405 w 405"/>
                  <a:gd name="T1" fmla="*/ 0 h 1241"/>
                  <a:gd name="T2" fmla="*/ 389 w 405"/>
                  <a:gd name="T3" fmla="*/ 1000 h 1241"/>
                  <a:gd name="T4" fmla="*/ 133 w 405"/>
                  <a:gd name="T5" fmla="*/ 1241 h 1241"/>
                  <a:gd name="T6" fmla="*/ 0 w 405"/>
                  <a:gd name="T7" fmla="*/ 13 h 1241"/>
                  <a:gd name="T8" fmla="*/ 189 w 405"/>
                  <a:gd name="T9" fmla="*/ 24 h 1241"/>
                  <a:gd name="T10" fmla="*/ 405 w 405"/>
                  <a:gd name="T11" fmla="*/ 0 h 1241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405"/>
                  <a:gd name="T19" fmla="*/ 0 h 1241"/>
                  <a:gd name="T20" fmla="*/ 405 w 405"/>
                  <a:gd name="T21" fmla="*/ 1241 h 1241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405" h="1241">
                    <a:moveTo>
                      <a:pt x="405" y="0"/>
                    </a:moveTo>
                    <a:lnTo>
                      <a:pt x="389" y="1000"/>
                    </a:lnTo>
                    <a:lnTo>
                      <a:pt x="133" y="1241"/>
                    </a:lnTo>
                    <a:lnTo>
                      <a:pt x="0" y="13"/>
                    </a:lnTo>
                    <a:lnTo>
                      <a:pt x="189" y="24"/>
                    </a:lnTo>
                    <a:lnTo>
                      <a:pt x="405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CCCCCC"/>
                  </a:gs>
                  <a:gs pos="100000">
                    <a:srgbClr val="969696"/>
                  </a:gs>
                </a:gsLst>
                <a:lin ang="0" scaled="1"/>
              </a:gradFill>
              <a:ln w="9525">
                <a:solidFill>
                  <a:srgbClr val="969696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pPr eaLnBrk="1" fontAlgn="auto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lang="ko-KR" altLang="en-US" sz="1800" b="0" kern="0">
                  <a:solidFill>
                    <a:sysClr val="windowText" lastClr="000000"/>
                  </a:solidFill>
                  <a:latin typeface="+mn-lt"/>
                  <a:ea typeface="+mn-ea"/>
                </a:endParaRPr>
              </a:p>
            </p:txBody>
          </p:sp>
        </p:grpSp>
        <p:sp>
          <p:nvSpPr>
            <p:cNvPr id="46" name="Oval 217">
              <a:extLst>
                <a:ext uri="{FF2B5EF4-FFF2-40B4-BE49-F238E27FC236}">
                  <a16:creationId xmlns:a16="http://schemas.microsoft.com/office/drawing/2014/main" id="{4C80ED14-3D4D-DA52-8556-3BB02679A24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682920" y="4542977"/>
              <a:ext cx="298450" cy="93663"/>
            </a:xfrm>
            <a:prstGeom prst="ellipse">
              <a:avLst/>
            </a:prstGeom>
            <a:solidFill>
              <a:srgbClr val="969696"/>
            </a:solidFill>
            <a:ln w="9525">
              <a:solidFill>
                <a:srgbClr val="969696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eaLnBrk="1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lang="ko-KR" altLang="en-US" sz="1800" b="0" kern="0">
                <a:solidFill>
                  <a:sysClr val="windowText" lastClr="000000"/>
                </a:solidFill>
                <a:latin typeface="+mn-lt"/>
                <a:ea typeface="+mn-ea"/>
              </a:endParaRPr>
            </a:p>
          </p:txBody>
        </p:sp>
        <p:sp>
          <p:nvSpPr>
            <p:cNvPr id="47" name="Oval 218">
              <a:extLst>
                <a:ext uri="{FF2B5EF4-FFF2-40B4-BE49-F238E27FC236}">
                  <a16:creationId xmlns:a16="http://schemas.microsoft.com/office/drawing/2014/main" id="{3B1E4B26-F125-C57B-805A-90B8EFFDC36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682920" y="4536627"/>
              <a:ext cx="298450" cy="92075"/>
            </a:xfrm>
            <a:prstGeom prst="ellipse">
              <a:avLst/>
            </a:prstGeom>
            <a:gradFill rotWithShape="1">
              <a:gsLst>
                <a:gs pos="0">
                  <a:srgbClr val="C0C0C0"/>
                </a:gs>
                <a:gs pos="100000">
                  <a:srgbClr val="EAEAEA"/>
                </a:gs>
              </a:gsLst>
              <a:lin ang="2700000" scaled="1"/>
            </a:gradFill>
            <a:ln w="9525">
              <a:solidFill>
                <a:srgbClr val="969696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eaLnBrk="1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lang="ko-KR" altLang="en-US" sz="1800" b="0" kern="0">
                <a:solidFill>
                  <a:sysClr val="windowText" lastClr="000000"/>
                </a:solidFill>
                <a:latin typeface="+mn-lt"/>
                <a:ea typeface="+mn-ea"/>
              </a:endParaRPr>
            </a:p>
          </p:txBody>
        </p:sp>
        <p:sp>
          <p:nvSpPr>
            <p:cNvPr id="48" name="Freeform 219">
              <a:extLst>
                <a:ext uri="{FF2B5EF4-FFF2-40B4-BE49-F238E27FC236}">
                  <a16:creationId xmlns:a16="http://schemas.microsoft.com/office/drawing/2014/main" id="{4FDEE1F1-B877-E5DD-32CC-96D3CF5D5EF6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1663870" y="4088952"/>
              <a:ext cx="436563" cy="511175"/>
            </a:xfrm>
            <a:custGeom>
              <a:avLst/>
              <a:gdLst>
                <a:gd name="T0" fmla="*/ 1602 w 1602"/>
                <a:gd name="T1" fmla="*/ 204 h 1734"/>
                <a:gd name="T2" fmla="*/ 5 w 1602"/>
                <a:gd name="T3" fmla="*/ 0 h 1734"/>
                <a:gd name="T4" fmla="*/ 0 w 1602"/>
                <a:gd name="T5" fmla="*/ 1488 h 1734"/>
                <a:gd name="T6" fmla="*/ 1597 w 1602"/>
                <a:gd name="T7" fmla="*/ 1734 h 1734"/>
                <a:gd name="T8" fmla="*/ 1602 w 1602"/>
                <a:gd name="T9" fmla="*/ 204 h 1734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602"/>
                <a:gd name="T16" fmla="*/ 0 h 1734"/>
                <a:gd name="T17" fmla="*/ 1602 w 1602"/>
                <a:gd name="T18" fmla="*/ 1734 h 1734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602" h="1734">
                  <a:moveTo>
                    <a:pt x="1602" y="204"/>
                  </a:moveTo>
                  <a:lnTo>
                    <a:pt x="5" y="0"/>
                  </a:lnTo>
                  <a:lnTo>
                    <a:pt x="0" y="1488"/>
                  </a:lnTo>
                  <a:lnTo>
                    <a:pt x="1597" y="1734"/>
                  </a:lnTo>
                  <a:lnTo>
                    <a:pt x="1602" y="204"/>
                  </a:lnTo>
                  <a:close/>
                </a:path>
              </a:pathLst>
            </a:custGeom>
            <a:gradFill rotWithShape="1">
              <a:gsLst>
                <a:gs pos="0">
                  <a:srgbClr val="FFFFFF"/>
                </a:gs>
                <a:gs pos="100000">
                  <a:srgbClr val="DDDDDD"/>
                </a:gs>
              </a:gsLst>
              <a:lin ang="5400000" scaled="1"/>
            </a:gradFill>
            <a:ln w="9525">
              <a:solidFill>
                <a:srgbClr val="969696"/>
              </a:solidFill>
              <a:round/>
              <a:headEnd/>
              <a:tailEnd/>
            </a:ln>
          </p:spPr>
          <p:txBody>
            <a:bodyPr/>
            <a:lstStyle/>
            <a:p>
              <a:pPr eaLnBrk="1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lang="ko-KR" altLang="en-US" sz="1800" b="0" kern="0">
                <a:solidFill>
                  <a:sysClr val="windowText" lastClr="000000"/>
                </a:solidFill>
                <a:latin typeface="+mn-lt"/>
                <a:ea typeface="+mn-ea"/>
              </a:endParaRPr>
            </a:p>
          </p:txBody>
        </p:sp>
        <p:sp>
          <p:nvSpPr>
            <p:cNvPr id="49" name="Freeform 220">
              <a:extLst>
                <a:ext uri="{FF2B5EF4-FFF2-40B4-BE49-F238E27FC236}">
                  <a16:creationId xmlns:a16="http://schemas.microsoft.com/office/drawing/2014/main" id="{DBCA423E-7F58-6E77-897C-3907C044EAB6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1722608" y="4503290"/>
              <a:ext cx="358775" cy="96837"/>
            </a:xfrm>
            <a:custGeom>
              <a:avLst/>
              <a:gdLst>
                <a:gd name="T0" fmla="*/ 1327 w 1330"/>
                <a:gd name="T1" fmla="*/ 200 h 330"/>
                <a:gd name="T2" fmla="*/ 0 w 1330"/>
                <a:gd name="T3" fmla="*/ 0 h 330"/>
                <a:gd name="T4" fmla="*/ 0 w 1330"/>
                <a:gd name="T5" fmla="*/ 115 h 330"/>
                <a:gd name="T6" fmla="*/ 1330 w 1330"/>
                <a:gd name="T7" fmla="*/ 330 h 330"/>
                <a:gd name="T8" fmla="*/ 1327 w 1330"/>
                <a:gd name="T9" fmla="*/ 200 h 33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330"/>
                <a:gd name="T16" fmla="*/ 0 h 330"/>
                <a:gd name="T17" fmla="*/ 1330 w 1330"/>
                <a:gd name="T18" fmla="*/ 330 h 33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330" h="330">
                  <a:moveTo>
                    <a:pt x="1327" y="200"/>
                  </a:moveTo>
                  <a:lnTo>
                    <a:pt x="0" y="0"/>
                  </a:lnTo>
                  <a:lnTo>
                    <a:pt x="0" y="115"/>
                  </a:lnTo>
                  <a:lnTo>
                    <a:pt x="1330" y="330"/>
                  </a:lnTo>
                  <a:lnTo>
                    <a:pt x="1327" y="200"/>
                  </a:lnTo>
                  <a:close/>
                </a:path>
              </a:pathLst>
            </a:custGeom>
            <a:gradFill rotWithShape="1">
              <a:gsLst>
                <a:gs pos="0">
                  <a:srgbClr val="C0C0C0"/>
                </a:gs>
                <a:gs pos="50000">
                  <a:srgbClr val="FFFFFF"/>
                </a:gs>
                <a:gs pos="100000">
                  <a:srgbClr val="C0C0C0"/>
                </a:gs>
              </a:gsLst>
              <a:lin ang="5400000" scaled="1"/>
            </a:gradFill>
            <a:ln w="9525">
              <a:solidFill>
                <a:srgbClr val="969696"/>
              </a:solidFill>
              <a:round/>
              <a:headEnd/>
              <a:tailEnd/>
            </a:ln>
          </p:spPr>
          <p:txBody>
            <a:bodyPr/>
            <a:lstStyle/>
            <a:p>
              <a:pPr eaLnBrk="1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lang="ko-KR" altLang="en-US" sz="1800" b="0" kern="0">
                <a:solidFill>
                  <a:sysClr val="windowText" lastClr="000000"/>
                </a:solidFill>
                <a:latin typeface="+mn-lt"/>
                <a:ea typeface="+mn-ea"/>
              </a:endParaRPr>
            </a:p>
          </p:txBody>
        </p:sp>
        <p:sp>
          <p:nvSpPr>
            <p:cNvPr id="50" name="Freeform 221">
              <a:extLst>
                <a:ext uri="{FF2B5EF4-FFF2-40B4-BE49-F238E27FC236}">
                  <a16:creationId xmlns:a16="http://schemas.microsoft.com/office/drawing/2014/main" id="{97A84B0E-AF9F-ACAB-C553-1582ABB6ED74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1651170" y="4147690"/>
              <a:ext cx="15875" cy="452437"/>
            </a:xfrm>
            <a:custGeom>
              <a:avLst/>
              <a:gdLst>
                <a:gd name="T0" fmla="*/ 4 w 56"/>
                <a:gd name="T1" fmla="*/ 16 h 1536"/>
                <a:gd name="T2" fmla="*/ 56 w 56"/>
                <a:gd name="T3" fmla="*/ 0 h 1536"/>
                <a:gd name="T4" fmla="*/ 46 w 56"/>
                <a:gd name="T5" fmla="*/ 1513 h 1536"/>
                <a:gd name="T6" fmla="*/ 0 w 56"/>
                <a:gd name="T7" fmla="*/ 1536 h 1536"/>
                <a:gd name="T8" fmla="*/ 4 w 56"/>
                <a:gd name="T9" fmla="*/ 16 h 153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56"/>
                <a:gd name="T16" fmla="*/ 0 h 1536"/>
                <a:gd name="T17" fmla="*/ 56 w 56"/>
                <a:gd name="T18" fmla="*/ 1536 h 1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56" h="1536">
                  <a:moveTo>
                    <a:pt x="4" y="16"/>
                  </a:moveTo>
                  <a:lnTo>
                    <a:pt x="56" y="0"/>
                  </a:lnTo>
                  <a:lnTo>
                    <a:pt x="46" y="1513"/>
                  </a:lnTo>
                  <a:lnTo>
                    <a:pt x="0" y="1536"/>
                  </a:lnTo>
                  <a:lnTo>
                    <a:pt x="4" y="16"/>
                  </a:lnTo>
                  <a:close/>
                </a:path>
              </a:pathLst>
            </a:custGeom>
            <a:gradFill rotWithShape="1">
              <a:gsLst>
                <a:gs pos="0">
                  <a:srgbClr val="777777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rgbClr val="969696"/>
              </a:solidFill>
              <a:round/>
              <a:headEnd/>
              <a:tailEnd/>
            </a:ln>
          </p:spPr>
          <p:txBody>
            <a:bodyPr/>
            <a:lstStyle/>
            <a:p>
              <a:pPr eaLnBrk="1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lang="ko-KR" altLang="en-US" sz="1800" b="0" kern="0">
                <a:solidFill>
                  <a:sysClr val="windowText" lastClr="000000"/>
                </a:solidFill>
                <a:latin typeface="+mn-lt"/>
                <a:ea typeface="+mn-ea"/>
              </a:endParaRPr>
            </a:p>
          </p:txBody>
        </p:sp>
        <p:sp>
          <p:nvSpPr>
            <p:cNvPr id="51" name="Oval 222">
              <a:extLst>
                <a:ext uri="{FF2B5EF4-FFF2-40B4-BE49-F238E27FC236}">
                  <a16:creationId xmlns:a16="http://schemas.microsoft.com/office/drawing/2014/main" id="{19AD9631-B7CA-EFDE-57B6-ED4B463F8EB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049633" y="4511227"/>
              <a:ext cx="12700" cy="26988"/>
            </a:xfrm>
            <a:prstGeom prst="ellipse">
              <a:avLst/>
            </a:prstGeom>
            <a:solidFill>
              <a:srgbClr val="777777"/>
            </a:solidFill>
            <a:ln w="9525">
              <a:solidFill>
                <a:srgbClr val="969696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eaLnBrk="1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lang="ko-KR" altLang="en-US" sz="1800" b="0" kern="0">
                <a:solidFill>
                  <a:sysClr val="windowText" lastClr="000000"/>
                </a:solidFill>
                <a:latin typeface="+mn-lt"/>
                <a:ea typeface="+mn-ea"/>
              </a:endParaRPr>
            </a:p>
          </p:txBody>
        </p:sp>
        <p:sp>
          <p:nvSpPr>
            <p:cNvPr id="52" name="Oval 223">
              <a:extLst>
                <a:ext uri="{FF2B5EF4-FFF2-40B4-BE49-F238E27FC236}">
                  <a16:creationId xmlns:a16="http://schemas.microsoft.com/office/drawing/2014/main" id="{91C89108-C651-4979-7DF9-0BFF7C116F0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025820" y="4517577"/>
              <a:ext cx="11113" cy="22225"/>
            </a:xfrm>
            <a:prstGeom prst="ellipse">
              <a:avLst/>
            </a:prstGeom>
            <a:solidFill>
              <a:srgbClr val="C0C0C0"/>
            </a:solidFill>
            <a:ln w="9525">
              <a:solidFill>
                <a:srgbClr val="969696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eaLnBrk="1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lang="ko-KR" altLang="en-US" sz="1800" b="0" kern="0">
                <a:solidFill>
                  <a:sysClr val="windowText" lastClr="000000"/>
                </a:solidFill>
                <a:latin typeface="+mn-lt"/>
                <a:ea typeface="+mn-ea"/>
              </a:endParaRPr>
            </a:p>
          </p:txBody>
        </p:sp>
        <p:sp>
          <p:nvSpPr>
            <p:cNvPr id="53" name="Oval 224">
              <a:extLst>
                <a:ext uri="{FF2B5EF4-FFF2-40B4-BE49-F238E27FC236}">
                  <a16:creationId xmlns:a16="http://schemas.microsoft.com/office/drawing/2014/main" id="{6B2EAC86-3118-1E72-34AD-26C3BF5A3C0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43270" y="4538215"/>
              <a:ext cx="14288" cy="15875"/>
            </a:xfrm>
            <a:prstGeom prst="ellipse">
              <a:avLst/>
            </a:prstGeom>
            <a:solidFill>
              <a:srgbClr val="C0C0C0"/>
            </a:solidFill>
            <a:ln w="9525">
              <a:solidFill>
                <a:srgbClr val="969696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eaLnBrk="1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lang="ko-KR" altLang="en-US" sz="1800" b="0" kern="0">
                <a:solidFill>
                  <a:sysClr val="windowText" lastClr="000000"/>
                </a:solidFill>
                <a:latin typeface="+mn-lt"/>
                <a:ea typeface="+mn-ea"/>
              </a:endParaRPr>
            </a:p>
          </p:txBody>
        </p:sp>
        <p:sp>
          <p:nvSpPr>
            <p:cNvPr id="54" name="Oval 225">
              <a:extLst>
                <a:ext uri="{FF2B5EF4-FFF2-40B4-BE49-F238E27FC236}">
                  <a16:creationId xmlns:a16="http://schemas.microsoft.com/office/drawing/2014/main" id="{E8E8CE5C-09F9-C2B6-1A6B-2CD431ED98B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17870" y="4542977"/>
              <a:ext cx="12700" cy="17463"/>
            </a:xfrm>
            <a:prstGeom prst="ellipse">
              <a:avLst/>
            </a:prstGeom>
            <a:solidFill>
              <a:srgbClr val="C0C0C0"/>
            </a:solidFill>
            <a:ln w="9525">
              <a:solidFill>
                <a:srgbClr val="969696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eaLnBrk="1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lang="ko-KR" altLang="en-US" sz="1800" b="0" kern="0">
                <a:solidFill>
                  <a:sysClr val="windowText" lastClr="000000"/>
                </a:solidFill>
                <a:latin typeface="+mn-lt"/>
                <a:ea typeface="+mn-ea"/>
              </a:endParaRPr>
            </a:p>
          </p:txBody>
        </p:sp>
        <p:sp>
          <p:nvSpPr>
            <p:cNvPr id="55" name="Oval 226">
              <a:extLst>
                <a:ext uri="{FF2B5EF4-FFF2-40B4-BE49-F238E27FC236}">
                  <a16:creationId xmlns:a16="http://schemas.microsoft.com/office/drawing/2014/main" id="{7A5C8C9C-34B2-968A-B76D-1275D51C8F5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89295" y="4547740"/>
              <a:ext cx="14288" cy="15875"/>
            </a:xfrm>
            <a:prstGeom prst="ellipse">
              <a:avLst/>
            </a:prstGeom>
            <a:solidFill>
              <a:srgbClr val="C0C0C0"/>
            </a:solidFill>
            <a:ln w="9525">
              <a:solidFill>
                <a:srgbClr val="969696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eaLnBrk="1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lang="ko-KR" altLang="en-US" sz="1800" b="0" kern="0">
                <a:solidFill>
                  <a:sysClr val="windowText" lastClr="000000"/>
                </a:solidFill>
                <a:latin typeface="+mn-lt"/>
                <a:ea typeface="+mn-ea"/>
              </a:endParaRPr>
            </a:p>
          </p:txBody>
        </p:sp>
        <p:sp>
          <p:nvSpPr>
            <p:cNvPr id="56" name="Freeform 227">
              <a:extLst>
                <a:ext uri="{FF2B5EF4-FFF2-40B4-BE49-F238E27FC236}">
                  <a16:creationId xmlns:a16="http://schemas.microsoft.com/office/drawing/2014/main" id="{C175DF95-7777-26B9-97CC-CEFA13A4294D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1705145" y="4139752"/>
              <a:ext cx="361950" cy="401638"/>
            </a:xfrm>
            <a:custGeom>
              <a:avLst/>
              <a:gdLst>
                <a:gd name="T0" fmla="*/ 1330 w 1345"/>
                <a:gd name="T1" fmla="*/ 167 h 1366"/>
                <a:gd name="T2" fmla="*/ 0 w 1345"/>
                <a:gd name="T3" fmla="*/ 0 h 1366"/>
                <a:gd name="T4" fmla="*/ 0 w 1345"/>
                <a:gd name="T5" fmla="*/ 1157 h 1366"/>
                <a:gd name="T6" fmla="*/ 1345 w 1345"/>
                <a:gd name="T7" fmla="*/ 1366 h 1366"/>
                <a:gd name="T8" fmla="*/ 1330 w 1345"/>
                <a:gd name="T9" fmla="*/ 167 h 136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345"/>
                <a:gd name="T16" fmla="*/ 0 h 1366"/>
                <a:gd name="T17" fmla="*/ 1345 w 1345"/>
                <a:gd name="T18" fmla="*/ 1366 h 136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345" h="1366">
                  <a:moveTo>
                    <a:pt x="1330" y="167"/>
                  </a:moveTo>
                  <a:lnTo>
                    <a:pt x="0" y="0"/>
                  </a:lnTo>
                  <a:lnTo>
                    <a:pt x="0" y="1157"/>
                  </a:lnTo>
                  <a:lnTo>
                    <a:pt x="1345" y="1366"/>
                  </a:lnTo>
                  <a:lnTo>
                    <a:pt x="1330" y="167"/>
                  </a:lnTo>
                  <a:close/>
                </a:path>
              </a:pathLst>
            </a:custGeom>
            <a:gradFill rotWithShape="1">
              <a:gsLst>
                <a:gs pos="0">
                  <a:srgbClr val="C0C0C0"/>
                </a:gs>
                <a:gs pos="100000">
                  <a:srgbClr val="4D4D4D"/>
                </a:gs>
              </a:gsLst>
              <a:lin ang="5400000" scaled="1"/>
            </a:gradFill>
            <a:ln w="9525">
              <a:solidFill>
                <a:srgbClr val="969696"/>
              </a:solidFill>
              <a:round/>
              <a:headEnd/>
              <a:tailEnd/>
            </a:ln>
          </p:spPr>
          <p:txBody>
            <a:bodyPr/>
            <a:lstStyle/>
            <a:p>
              <a:pPr eaLnBrk="1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lang="ko-KR" altLang="en-US" sz="1800" kern="0" dirty="0">
                <a:solidFill>
                  <a:sysClr val="windowText" lastClr="000000"/>
                </a:solidFill>
                <a:latin typeface="+mn-lt"/>
                <a:ea typeface="+mn-ea"/>
              </a:endParaRPr>
            </a:p>
          </p:txBody>
        </p:sp>
        <p:sp>
          <p:nvSpPr>
            <p:cNvPr id="57" name="Freeform 228">
              <a:extLst>
                <a:ext uri="{FF2B5EF4-FFF2-40B4-BE49-F238E27FC236}">
                  <a16:creationId xmlns:a16="http://schemas.microsoft.com/office/drawing/2014/main" id="{A77F8A37-D262-3496-5CDB-BA5D8106E5CB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1651170" y="4087365"/>
              <a:ext cx="447675" cy="63500"/>
            </a:xfrm>
            <a:custGeom>
              <a:avLst/>
              <a:gdLst>
                <a:gd name="T0" fmla="*/ 0 w 1660"/>
                <a:gd name="T1" fmla="*/ 10 h 214"/>
                <a:gd name="T2" fmla="*/ 68 w 1660"/>
                <a:gd name="T3" fmla="*/ 0 h 214"/>
                <a:gd name="T4" fmla="*/ 1660 w 1660"/>
                <a:gd name="T5" fmla="*/ 199 h 214"/>
                <a:gd name="T6" fmla="*/ 1613 w 1660"/>
                <a:gd name="T7" fmla="*/ 214 h 214"/>
                <a:gd name="T8" fmla="*/ 0 w 1660"/>
                <a:gd name="T9" fmla="*/ 10 h 214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660"/>
                <a:gd name="T16" fmla="*/ 0 h 214"/>
                <a:gd name="T17" fmla="*/ 1660 w 1660"/>
                <a:gd name="T18" fmla="*/ 214 h 214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660" h="214">
                  <a:moveTo>
                    <a:pt x="0" y="10"/>
                  </a:moveTo>
                  <a:lnTo>
                    <a:pt x="68" y="0"/>
                  </a:lnTo>
                  <a:lnTo>
                    <a:pt x="1660" y="199"/>
                  </a:lnTo>
                  <a:lnTo>
                    <a:pt x="1613" y="214"/>
                  </a:lnTo>
                  <a:lnTo>
                    <a:pt x="0" y="10"/>
                  </a:lnTo>
                  <a:close/>
                </a:path>
              </a:pathLst>
            </a:custGeom>
            <a:noFill/>
            <a:ln w="9525">
              <a:solidFill>
                <a:srgbClr val="969696"/>
              </a:solidFill>
              <a:round/>
              <a:headEnd/>
              <a:tailEnd/>
            </a:ln>
          </p:spPr>
          <p:txBody>
            <a:bodyPr/>
            <a:lstStyle/>
            <a:p>
              <a:pPr eaLnBrk="1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lang="ko-KR" altLang="en-US" sz="1800" b="0" kern="0">
                <a:solidFill>
                  <a:sysClr val="windowText" lastClr="000000"/>
                </a:solidFill>
                <a:latin typeface="+mn-lt"/>
                <a:ea typeface="+mn-ea"/>
              </a:endParaRPr>
            </a:p>
          </p:txBody>
        </p:sp>
      </p:grpSp>
      <p:pic>
        <p:nvPicPr>
          <p:cNvPr id="60" name="Picture 2" descr="C:\Users\Toshiba\AppData\Local\Microsoft\Windows\Temporary Internet Files\Content.IE5\TBE21NJN\MC900434845[1].png">
            <a:extLst>
              <a:ext uri="{FF2B5EF4-FFF2-40B4-BE49-F238E27FC236}">
                <a16:creationId xmlns:a16="http://schemas.microsoft.com/office/drawing/2014/main" id="{B720D360-E29C-0155-254F-E353B44ED0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22904" y="2675641"/>
            <a:ext cx="1759296" cy="150671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1" name="TextBox 60">
            <a:extLst>
              <a:ext uri="{FF2B5EF4-FFF2-40B4-BE49-F238E27FC236}">
                <a16:creationId xmlns:a16="http://schemas.microsoft.com/office/drawing/2014/main" id="{4494E95E-7E58-782C-4575-F26F11750BA9}"/>
              </a:ext>
            </a:extLst>
          </p:cNvPr>
          <p:cNvSpPr txBox="1"/>
          <p:nvPr/>
        </p:nvSpPr>
        <p:spPr>
          <a:xfrm>
            <a:off x="2171589" y="4101265"/>
            <a:ext cx="123944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클라이언트 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50C70B4B-CE89-F233-9481-F88BE42D8473}"/>
              </a:ext>
            </a:extLst>
          </p:cNvPr>
          <p:cNvSpPr txBox="1"/>
          <p:nvPr/>
        </p:nvSpPr>
        <p:spPr>
          <a:xfrm>
            <a:off x="8727760" y="4098329"/>
            <a:ext cx="58221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서버</a:t>
            </a:r>
          </a:p>
        </p:txBody>
      </p:sp>
      <p:cxnSp>
        <p:nvCxnSpPr>
          <p:cNvPr id="77" name="직선 연결선 76">
            <a:extLst>
              <a:ext uri="{FF2B5EF4-FFF2-40B4-BE49-F238E27FC236}">
                <a16:creationId xmlns:a16="http://schemas.microsoft.com/office/drawing/2014/main" id="{4EA9935A-8548-F687-6FF9-590515CE49BA}"/>
              </a:ext>
            </a:extLst>
          </p:cNvPr>
          <p:cNvCxnSpPr>
            <a:cxnSpLocks/>
          </p:cNvCxnSpPr>
          <p:nvPr/>
        </p:nvCxnSpPr>
        <p:spPr>
          <a:xfrm>
            <a:off x="3975239" y="1722253"/>
            <a:ext cx="0" cy="4231532"/>
          </a:xfrm>
          <a:prstGeom prst="line">
            <a:avLst/>
          </a:prstGeom>
          <a:ln w="571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직선 연결선 79">
            <a:extLst>
              <a:ext uri="{FF2B5EF4-FFF2-40B4-BE49-F238E27FC236}">
                <a16:creationId xmlns:a16="http://schemas.microsoft.com/office/drawing/2014/main" id="{0B04CE2A-FDDE-E068-3254-0159C796397F}"/>
              </a:ext>
            </a:extLst>
          </p:cNvPr>
          <p:cNvCxnSpPr>
            <a:cxnSpLocks/>
          </p:cNvCxnSpPr>
          <p:nvPr/>
        </p:nvCxnSpPr>
        <p:spPr>
          <a:xfrm>
            <a:off x="7545290" y="1697934"/>
            <a:ext cx="0" cy="4231532"/>
          </a:xfrm>
          <a:prstGeom prst="line">
            <a:avLst/>
          </a:prstGeom>
          <a:ln w="571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E3DC86DE-85CC-8F07-E0B2-1ECD93CAA816}"/>
              </a:ext>
            </a:extLst>
          </p:cNvPr>
          <p:cNvCxnSpPr/>
          <p:nvPr/>
        </p:nvCxnSpPr>
        <p:spPr>
          <a:xfrm>
            <a:off x="4212077" y="2120630"/>
            <a:ext cx="3035029" cy="0"/>
          </a:xfrm>
          <a:prstGeom prst="straightConnector1">
            <a:avLst/>
          </a:prstGeom>
          <a:ln w="60325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직선 화살표 연결선 82">
            <a:extLst>
              <a:ext uri="{FF2B5EF4-FFF2-40B4-BE49-F238E27FC236}">
                <a16:creationId xmlns:a16="http://schemas.microsoft.com/office/drawing/2014/main" id="{BAAA6D8F-A451-AF88-E21A-D3FA0C6B7AF4}"/>
              </a:ext>
            </a:extLst>
          </p:cNvPr>
          <p:cNvCxnSpPr/>
          <p:nvPr/>
        </p:nvCxnSpPr>
        <p:spPr>
          <a:xfrm>
            <a:off x="4238564" y="3418850"/>
            <a:ext cx="3035029" cy="0"/>
          </a:xfrm>
          <a:prstGeom prst="straightConnector1">
            <a:avLst/>
          </a:prstGeom>
          <a:ln w="60325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직선 화살표 연결선 83">
            <a:extLst>
              <a:ext uri="{FF2B5EF4-FFF2-40B4-BE49-F238E27FC236}">
                <a16:creationId xmlns:a16="http://schemas.microsoft.com/office/drawing/2014/main" id="{EE28A517-2B45-1486-DEA5-FD6D151233D6}"/>
              </a:ext>
            </a:extLst>
          </p:cNvPr>
          <p:cNvCxnSpPr/>
          <p:nvPr/>
        </p:nvCxnSpPr>
        <p:spPr>
          <a:xfrm>
            <a:off x="4212077" y="2747255"/>
            <a:ext cx="3035029" cy="0"/>
          </a:xfrm>
          <a:prstGeom prst="straightConnector1">
            <a:avLst/>
          </a:prstGeom>
          <a:ln w="60325">
            <a:solidFill>
              <a:srgbClr val="C00000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직선 화살표 연결선 84">
            <a:extLst>
              <a:ext uri="{FF2B5EF4-FFF2-40B4-BE49-F238E27FC236}">
                <a16:creationId xmlns:a16="http://schemas.microsoft.com/office/drawing/2014/main" id="{4D766A0E-030D-E5FC-0E67-3F38E9F2CA65}"/>
              </a:ext>
            </a:extLst>
          </p:cNvPr>
          <p:cNvCxnSpPr/>
          <p:nvPr/>
        </p:nvCxnSpPr>
        <p:spPr>
          <a:xfrm>
            <a:off x="4197185" y="4111510"/>
            <a:ext cx="3035029" cy="0"/>
          </a:xfrm>
          <a:prstGeom prst="straightConnector1">
            <a:avLst/>
          </a:prstGeom>
          <a:ln w="6032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직선 화살표 연결선 87">
            <a:extLst>
              <a:ext uri="{FF2B5EF4-FFF2-40B4-BE49-F238E27FC236}">
                <a16:creationId xmlns:a16="http://schemas.microsoft.com/office/drawing/2014/main" id="{960A2DB4-2EF8-DCD9-A246-A4E83DBCC9B4}"/>
              </a:ext>
            </a:extLst>
          </p:cNvPr>
          <p:cNvCxnSpPr/>
          <p:nvPr/>
        </p:nvCxnSpPr>
        <p:spPr>
          <a:xfrm>
            <a:off x="4197185" y="4854193"/>
            <a:ext cx="3035029" cy="0"/>
          </a:xfrm>
          <a:prstGeom prst="straightConnector1">
            <a:avLst/>
          </a:prstGeom>
          <a:ln w="60325">
            <a:solidFill>
              <a:srgbClr val="C00000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직선 화살표 연결선 88">
            <a:extLst>
              <a:ext uri="{FF2B5EF4-FFF2-40B4-BE49-F238E27FC236}">
                <a16:creationId xmlns:a16="http://schemas.microsoft.com/office/drawing/2014/main" id="{100DA846-66F3-B570-67DC-3F891EF29356}"/>
              </a:ext>
            </a:extLst>
          </p:cNvPr>
          <p:cNvCxnSpPr/>
          <p:nvPr/>
        </p:nvCxnSpPr>
        <p:spPr>
          <a:xfrm>
            <a:off x="4212077" y="5562211"/>
            <a:ext cx="3035029" cy="0"/>
          </a:xfrm>
          <a:prstGeom prst="straightConnector1">
            <a:avLst/>
          </a:prstGeom>
          <a:ln w="60325">
            <a:solidFill>
              <a:schemeClr val="accent1">
                <a:lumMod val="50000"/>
              </a:schemeClr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4A318E0D-7789-1473-7764-7FE4EA584FBE}"/>
              </a:ext>
            </a:extLst>
          </p:cNvPr>
          <p:cNvSpPr txBox="1"/>
          <p:nvPr/>
        </p:nvSpPr>
        <p:spPr>
          <a:xfrm>
            <a:off x="5262130" y="1756949"/>
            <a:ext cx="59343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SYN</a:t>
            </a:r>
            <a:endParaRPr lang="ko-KR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5827FCE2-C2E3-A152-88AE-4C5D4B6B801C}"/>
              </a:ext>
            </a:extLst>
          </p:cNvPr>
          <p:cNvSpPr txBox="1"/>
          <p:nvPr/>
        </p:nvSpPr>
        <p:spPr>
          <a:xfrm>
            <a:off x="5262130" y="2431550"/>
            <a:ext cx="133882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SYN/ACK </a:t>
            </a:r>
            <a:r>
              <a:rPr lang="en-US" altLang="ko-KR" sz="1600" dirty="0">
                <a:solidFill>
                  <a:srgbClr val="C00000"/>
                </a:solidFill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❶</a:t>
            </a:r>
            <a:endParaRPr lang="ko-KR" altLang="en-US" sz="1600" dirty="0">
              <a:solidFill>
                <a:srgbClr val="C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3A111657-F42F-AC92-65A9-FC7E1FC886D8}"/>
              </a:ext>
            </a:extLst>
          </p:cNvPr>
          <p:cNvSpPr txBox="1"/>
          <p:nvPr/>
        </p:nvSpPr>
        <p:spPr>
          <a:xfrm>
            <a:off x="5199296" y="3114108"/>
            <a:ext cx="65582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ACK</a:t>
            </a:r>
            <a:endParaRPr lang="ko-KR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452E9B12-59FC-899D-23C2-AC19788AD881}"/>
              </a:ext>
            </a:extLst>
          </p:cNvPr>
          <p:cNvSpPr txBox="1"/>
          <p:nvPr/>
        </p:nvSpPr>
        <p:spPr>
          <a:xfrm>
            <a:off x="5131978" y="3802618"/>
            <a:ext cx="167142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Request</a:t>
            </a:r>
            <a:r>
              <a:rPr lang="en-US" altLang="ko-KR" sz="1600" dirty="0">
                <a:solidFill>
                  <a:srgbClr val="FFC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sz="1600" dirty="0">
                <a:solidFill>
                  <a:srgbClr val="FFC000"/>
                </a:solidFill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❷</a:t>
            </a:r>
            <a:endParaRPr lang="ko-KR" altLang="en-US" sz="1600" dirty="0">
              <a:solidFill>
                <a:srgbClr val="FFC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523CB5A6-2853-FC08-3A07-909E92D73884}"/>
              </a:ext>
            </a:extLst>
          </p:cNvPr>
          <p:cNvSpPr txBox="1"/>
          <p:nvPr/>
        </p:nvSpPr>
        <p:spPr>
          <a:xfrm>
            <a:off x="5290732" y="4510680"/>
            <a:ext cx="90588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ACK </a:t>
            </a:r>
            <a:r>
              <a:rPr lang="en-US" altLang="ko-KR" sz="1600" dirty="0">
                <a:solidFill>
                  <a:srgbClr val="C00000"/>
                </a:solidFill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❶</a:t>
            </a:r>
            <a:endParaRPr lang="ko-KR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A0E82CD0-BF85-B7EF-F853-D1EFF225B32B}"/>
              </a:ext>
            </a:extLst>
          </p:cNvPr>
          <p:cNvSpPr txBox="1"/>
          <p:nvPr/>
        </p:nvSpPr>
        <p:spPr>
          <a:xfrm>
            <a:off x="5373115" y="5219706"/>
            <a:ext cx="95808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</a:t>
            </a:r>
            <a:r>
              <a:rPr lang="en-US" altLang="ko-KR" sz="1600" dirty="0">
                <a:solidFill>
                  <a:srgbClr val="0070C0"/>
                </a:solidFill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❸</a:t>
            </a:r>
            <a:endParaRPr lang="ko-KR" altLang="en-US" sz="1600" dirty="0">
              <a:solidFill>
                <a:srgbClr val="0070C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C5AEE33E-B720-1EFC-016D-DE068F2F2B5C}"/>
              </a:ext>
            </a:extLst>
          </p:cNvPr>
          <p:cNvSpPr txBox="1"/>
          <p:nvPr/>
        </p:nvSpPr>
        <p:spPr>
          <a:xfrm>
            <a:off x="8461198" y="4915280"/>
            <a:ext cx="2743200" cy="11524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b="1" dirty="0">
                <a:solidFill>
                  <a:srgbClr val="C00000"/>
                </a:solidFill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❶ </a:t>
            </a:r>
            <a:r>
              <a:rPr lang="ko-KR" altLang="en-US" sz="1600" b="1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유선 지연시간</a:t>
            </a:r>
            <a:endParaRPr lang="en-US" altLang="ko-KR" sz="1600" b="1" dirty="0">
              <a:latin typeface="함초롬바탕" panose="02030604000101010101" pitchFamily="18" charset="-127"/>
              <a:ea typeface="함초롬바탕" panose="02030604000101010101" pitchFamily="18" charset="-127"/>
              <a:cs typeface="함초롬바탕" panose="02030604000101010101" pitchFamily="18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600" b="1" dirty="0">
                <a:solidFill>
                  <a:srgbClr val="FFC000"/>
                </a:solidFill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❷ </a:t>
            </a:r>
            <a:r>
              <a:rPr lang="ko-KR" altLang="en-US" sz="1600" b="1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클라이언트 지연시간</a:t>
            </a:r>
            <a:endParaRPr lang="en-US" altLang="ko-KR" sz="1600" b="1" dirty="0">
              <a:latin typeface="함초롬바탕" panose="02030604000101010101" pitchFamily="18" charset="-127"/>
              <a:ea typeface="함초롬바탕" panose="02030604000101010101" pitchFamily="18" charset="-127"/>
              <a:cs typeface="함초롬바탕" panose="02030604000101010101" pitchFamily="18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600" b="1" dirty="0">
                <a:solidFill>
                  <a:srgbClr val="0070C0"/>
                </a:solidFill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❸ </a:t>
            </a:r>
            <a:r>
              <a:rPr lang="ko-KR" altLang="en-US" sz="1600" b="1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서버 지연시간</a:t>
            </a:r>
            <a:endParaRPr lang="ko-KR" altLang="en-US" sz="1600" b="1" dirty="0"/>
          </a:p>
        </p:txBody>
      </p:sp>
    </p:spTree>
    <p:extLst>
      <p:ext uri="{BB962C8B-B14F-4D97-AF65-F5344CB8AC3E}">
        <p14:creationId xmlns:p14="http://schemas.microsoft.com/office/powerpoint/2010/main" val="234287363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62100" y="1970088"/>
            <a:ext cx="9144000" cy="744537"/>
          </a:xfrm>
        </p:spPr>
        <p:txBody>
          <a:bodyPr>
            <a:normAutofit/>
          </a:bodyPr>
          <a:lstStyle/>
          <a:p>
            <a:r>
              <a:rPr lang="en-US" altLang="ko-KR" sz="4000" b="1" dirty="0">
                <a:latin typeface="Times New Roman" panose="02020603050405020304" pitchFamily="18" charset="0"/>
                <a:ea typeface="함초롬바탕" panose="02030604000101010101" pitchFamily="18" charset="-127"/>
                <a:cs typeface="Times New Roman" panose="02020603050405020304" pitchFamily="18" charset="0"/>
              </a:rPr>
              <a:t>Sliding window</a:t>
            </a:r>
            <a:endParaRPr lang="ko-KR" altLang="en-US" sz="4000" b="1" dirty="0">
              <a:latin typeface="Times New Roman" panose="02020603050405020304" pitchFamily="18" charset="0"/>
              <a:ea typeface="함초롬바탕" panose="02030604000101010101" pitchFamily="18" charset="-127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00E85C-9068-46D2-A14A-A9DCCDE0C986}" type="slidenum">
              <a:rPr lang="ko-KR" altLang="en-US" smtClean="0"/>
              <a:t>42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73432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F5DBBF-35D1-4D56-BF8F-CD0D3754FCBA}" type="slidenum">
              <a:rPr lang="ko-KR" altLang="en-US" smtClean="0"/>
              <a:pPr/>
              <a:t>43</a:t>
            </a:fld>
            <a:endParaRPr lang="en-US" altLang="ko-KR"/>
          </a:p>
        </p:txBody>
      </p:sp>
      <p:pic>
        <p:nvPicPr>
          <p:cNvPr id="59" name="Picture 2" descr="C:\Users\Toshiba\AppData\Local\Microsoft\Windows\Temporary Internet Files\Content.IE5\TBE21NJN\MC900434845[1]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7387929" y="2107379"/>
            <a:ext cx="2061767" cy="196152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aphicFrame>
        <p:nvGraphicFramePr>
          <p:cNvPr id="2" name="표 3">
            <a:extLst>
              <a:ext uri="{FF2B5EF4-FFF2-40B4-BE49-F238E27FC236}">
                <a16:creationId xmlns:a16="http://schemas.microsoft.com/office/drawing/2014/main" id="{75ED7E43-D406-8DCA-9371-2C3520D8EB1F}"/>
              </a:ext>
            </a:extLst>
          </p:cNvPr>
          <p:cNvGraphicFramePr>
            <a:graphicFrameLocks noGrp="1"/>
          </p:cNvGraphicFramePr>
          <p:nvPr/>
        </p:nvGraphicFramePr>
        <p:xfrm>
          <a:off x="5901661" y="2905263"/>
          <a:ext cx="1876340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268">
                  <a:extLst>
                    <a:ext uri="{9D8B030D-6E8A-4147-A177-3AD203B41FA5}">
                      <a16:colId xmlns:a16="http://schemas.microsoft.com/office/drawing/2014/main" val="3859464148"/>
                    </a:ext>
                  </a:extLst>
                </a:gridCol>
                <a:gridCol w="375268">
                  <a:extLst>
                    <a:ext uri="{9D8B030D-6E8A-4147-A177-3AD203B41FA5}">
                      <a16:colId xmlns:a16="http://schemas.microsoft.com/office/drawing/2014/main" val="4212172684"/>
                    </a:ext>
                  </a:extLst>
                </a:gridCol>
                <a:gridCol w="375268">
                  <a:extLst>
                    <a:ext uri="{9D8B030D-6E8A-4147-A177-3AD203B41FA5}">
                      <a16:colId xmlns:a16="http://schemas.microsoft.com/office/drawing/2014/main" val="1677731949"/>
                    </a:ext>
                  </a:extLst>
                </a:gridCol>
                <a:gridCol w="375268">
                  <a:extLst>
                    <a:ext uri="{9D8B030D-6E8A-4147-A177-3AD203B41FA5}">
                      <a16:colId xmlns:a16="http://schemas.microsoft.com/office/drawing/2014/main" val="1152686568"/>
                    </a:ext>
                  </a:extLst>
                </a:gridCol>
                <a:gridCol w="375268">
                  <a:extLst>
                    <a:ext uri="{9D8B030D-6E8A-4147-A177-3AD203B41FA5}">
                      <a16:colId xmlns:a16="http://schemas.microsoft.com/office/drawing/2014/main" val="2641371559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8145244"/>
                  </a:ext>
                </a:extLst>
              </a:tr>
            </a:tbl>
          </a:graphicData>
        </a:graphic>
      </p:graphicFrame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04EECE66-F0C7-81FF-5681-9732C1BF90AD}"/>
              </a:ext>
            </a:extLst>
          </p:cNvPr>
          <p:cNvGraphicFramePr>
            <a:graphicFrameLocks noGrp="1"/>
          </p:cNvGraphicFramePr>
          <p:nvPr/>
        </p:nvGraphicFramePr>
        <p:xfrm>
          <a:off x="9469534" y="2905263"/>
          <a:ext cx="1685065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7013">
                  <a:extLst>
                    <a:ext uri="{9D8B030D-6E8A-4147-A177-3AD203B41FA5}">
                      <a16:colId xmlns:a16="http://schemas.microsoft.com/office/drawing/2014/main" val="3859464148"/>
                    </a:ext>
                  </a:extLst>
                </a:gridCol>
                <a:gridCol w="337013">
                  <a:extLst>
                    <a:ext uri="{9D8B030D-6E8A-4147-A177-3AD203B41FA5}">
                      <a16:colId xmlns:a16="http://schemas.microsoft.com/office/drawing/2014/main" val="4212172684"/>
                    </a:ext>
                  </a:extLst>
                </a:gridCol>
                <a:gridCol w="337013">
                  <a:extLst>
                    <a:ext uri="{9D8B030D-6E8A-4147-A177-3AD203B41FA5}">
                      <a16:colId xmlns:a16="http://schemas.microsoft.com/office/drawing/2014/main" val="1677731949"/>
                    </a:ext>
                  </a:extLst>
                </a:gridCol>
                <a:gridCol w="337013">
                  <a:extLst>
                    <a:ext uri="{9D8B030D-6E8A-4147-A177-3AD203B41FA5}">
                      <a16:colId xmlns:a16="http://schemas.microsoft.com/office/drawing/2014/main" val="1152686568"/>
                    </a:ext>
                  </a:extLst>
                </a:gridCol>
                <a:gridCol w="337013">
                  <a:extLst>
                    <a:ext uri="{9D8B030D-6E8A-4147-A177-3AD203B41FA5}">
                      <a16:colId xmlns:a16="http://schemas.microsoft.com/office/drawing/2014/main" val="2641371559"/>
                    </a:ext>
                  </a:extLst>
                </a:gridCol>
              </a:tblGrid>
              <a:tr h="338554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2">
                        <a:lumMod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2">
                        <a:lumMod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2">
                        <a:lumMod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2">
                        <a:lumMod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2">
                        <a:lumMod val="1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8145244"/>
                  </a:ext>
                </a:extLst>
              </a:tr>
            </a:tbl>
          </a:graphicData>
        </a:graphic>
      </p:graphicFrame>
      <p:sp>
        <p:nvSpPr>
          <p:cNvPr id="5" name="화살표: 오른쪽 4">
            <a:extLst>
              <a:ext uri="{FF2B5EF4-FFF2-40B4-BE49-F238E27FC236}">
                <a16:creationId xmlns:a16="http://schemas.microsoft.com/office/drawing/2014/main" id="{F17DEF57-8816-F576-9EDF-E8B8AC0FE2E8}"/>
              </a:ext>
            </a:extLst>
          </p:cNvPr>
          <p:cNvSpPr/>
          <p:nvPr/>
        </p:nvSpPr>
        <p:spPr>
          <a:xfrm>
            <a:off x="5321242" y="2950409"/>
            <a:ext cx="476656" cy="275467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3" name="화살표: 오른쪽 62">
            <a:extLst>
              <a:ext uri="{FF2B5EF4-FFF2-40B4-BE49-F238E27FC236}">
                <a16:creationId xmlns:a16="http://schemas.microsoft.com/office/drawing/2014/main" id="{B9DADA9E-3CEB-B251-F345-8D52D4BA1D98}"/>
              </a:ext>
            </a:extLst>
          </p:cNvPr>
          <p:cNvSpPr/>
          <p:nvPr/>
        </p:nvSpPr>
        <p:spPr>
          <a:xfrm>
            <a:off x="11252506" y="2955273"/>
            <a:ext cx="476656" cy="275467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A8FB3007-ED66-F2B2-8423-0D260676792E}"/>
              </a:ext>
            </a:extLst>
          </p:cNvPr>
          <p:cNvSpPr txBox="1"/>
          <p:nvPr/>
        </p:nvSpPr>
        <p:spPr>
          <a:xfrm>
            <a:off x="6325070" y="2572772"/>
            <a:ext cx="120577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Input</a:t>
            </a:r>
            <a:r>
              <a:rPr lang="ko-KR" alt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Queue</a:t>
            </a:r>
            <a:endParaRPr lang="ko-KR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EEA539EA-2D75-BBEA-7B3B-4807E314189D}"/>
              </a:ext>
            </a:extLst>
          </p:cNvPr>
          <p:cNvSpPr txBox="1"/>
          <p:nvPr/>
        </p:nvSpPr>
        <p:spPr>
          <a:xfrm>
            <a:off x="9708802" y="2574592"/>
            <a:ext cx="134203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</a:t>
            </a:r>
            <a:r>
              <a:rPr lang="ko-KR" alt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Queue</a:t>
            </a:r>
            <a:endParaRPr lang="ko-KR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9" name="그림 78">
            <a:extLst>
              <a:ext uri="{FF2B5EF4-FFF2-40B4-BE49-F238E27FC236}">
                <a16:creationId xmlns:a16="http://schemas.microsoft.com/office/drawing/2014/main" id="{4C3E173A-A88F-84D9-5B5A-A296402D01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1692" y="104046"/>
            <a:ext cx="1948660" cy="2005370"/>
          </a:xfrm>
          <a:prstGeom prst="rect">
            <a:avLst/>
          </a:prstGeom>
        </p:spPr>
      </p:pic>
      <p:sp>
        <p:nvSpPr>
          <p:cNvPr id="84" name="TextBox 83">
            <a:extLst>
              <a:ext uri="{FF2B5EF4-FFF2-40B4-BE49-F238E27FC236}">
                <a16:creationId xmlns:a16="http://schemas.microsoft.com/office/drawing/2014/main" id="{1D1A1764-B21A-66F7-E890-FF4B4488CE58}"/>
              </a:ext>
            </a:extLst>
          </p:cNvPr>
          <p:cNvSpPr txBox="1"/>
          <p:nvPr/>
        </p:nvSpPr>
        <p:spPr>
          <a:xfrm>
            <a:off x="646185" y="3773259"/>
            <a:ext cx="10924160" cy="28787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b="1" dirty="0">
                <a:latin typeface="Times New Roman" panose="02020603050405020304" pitchFamily="18" charset="0"/>
                <a:ea typeface="함초롬바탕" panose="02030604000101010101" pitchFamily="18" charset="-127"/>
                <a:cs typeface="Times New Roman" panose="02020603050405020304" pitchFamily="18" charset="0"/>
              </a:rPr>
              <a:t>Output queue</a:t>
            </a:r>
            <a:r>
              <a:rPr lang="ko-KR" altLang="en-US" sz="1600" b="1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에서 </a:t>
            </a:r>
            <a:r>
              <a:rPr lang="en-US" altLang="ko-KR" sz="1600" b="1" dirty="0">
                <a:latin typeface="Times New Roman" panose="02020603050405020304" pitchFamily="18" charset="0"/>
                <a:ea typeface="함초롬바탕" panose="02030604000101010101" pitchFamily="18" charset="-127"/>
                <a:cs typeface="Times New Roman" panose="02020603050405020304" pitchFamily="18" charset="0"/>
              </a:rPr>
              <a:t>drop</a:t>
            </a:r>
            <a:r>
              <a:rPr lang="ko-KR" altLang="en-US" sz="1600" b="1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 발생 원인</a:t>
            </a:r>
            <a:endParaRPr lang="en-US" altLang="ko-KR" sz="1600" b="1" dirty="0">
              <a:latin typeface="함초롬바탕" panose="02030604000101010101" pitchFamily="18" charset="-127"/>
              <a:ea typeface="함초롬바탕" panose="02030604000101010101" pitchFamily="18" charset="-127"/>
              <a:cs typeface="함초롬바탕" panose="02030604000101010101" pitchFamily="18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 - </a:t>
            </a:r>
            <a:r>
              <a:rPr lang="ko-KR" altLang="en-US" sz="16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대역폭이 부족하면 </a:t>
            </a:r>
            <a:r>
              <a:rPr lang="en-US" altLang="ko-KR" sz="1600" dirty="0">
                <a:latin typeface="Times New Roman" panose="02020603050405020304" pitchFamily="18" charset="0"/>
                <a:ea typeface="함초롬바탕" panose="02030604000101010101" pitchFamily="18" charset="-127"/>
                <a:cs typeface="Times New Roman" panose="02020603050405020304" pitchFamily="18" charset="0"/>
              </a:rPr>
              <a:t>output queue</a:t>
            </a:r>
            <a:r>
              <a:rPr lang="ko-KR" altLang="en-US" sz="16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는 제때 비어지지 못하기 때문에 패킷들은</a:t>
            </a:r>
            <a:r>
              <a:rPr lang="ko-KR" altLang="en-US" sz="1600" dirty="0">
                <a:latin typeface="Times New Roman" panose="02020603050405020304" pitchFamily="18" charset="0"/>
                <a:ea typeface="함초롬바탕" panose="02030604000101010101" pitchFamily="18" charset="-127"/>
                <a:cs typeface="Times New Roman" panose="02020603050405020304" pitchFamily="18" charset="0"/>
              </a:rPr>
              <a:t> </a:t>
            </a:r>
            <a:r>
              <a:rPr lang="en-US" altLang="ko-KR" sz="1600" dirty="0">
                <a:latin typeface="Times New Roman" panose="02020603050405020304" pitchFamily="18" charset="0"/>
                <a:ea typeface="함초롬바탕" panose="02030604000101010101" pitchFamily="18" charset="-127"/>
                <a:cs typeface="Times New Roman" panose="02020603050405020304" pitchFamily="18" charset="0"/>
              </a:rPr>
              <a:t>queue</a:t>
            </a:r>
            <a:r>
              <a:rPr lang="ko-KR" altLang="en-US" sz="16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에 쌓이고</a:t>
            </a:r>
            <a:r>
              <a:rPr lang="en-US" altLang="ko-KR" sz="16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,  </a:t>
            </a:r>
            <a:r>
              <a:rPr lang="en-US" altLang="ko-KR" sz="1600" dirty="0">
                <a:latin typeface="Times New Roman" panose="02020603050405020304" pitchFamily="18" charset="0"/>
                <a:ea typeface="함초롬바탕" panose="02030604000101010101" pitchFamily="18" charset="-127"/>
                <a:cs typeface="Times New Roman" panose="02020603050405020304" pitchFamily="18" charset="0"/>
              </a:rPr>
              <a:t>queue</a:t>
            </a:r>
            <a:r>
              <a:rPr lang="ko-KR" altLang="en-US" sz="16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에 패킷이 차면 </a:t>
            </a:r>
            <a:endParaRPr lang="en-US" altLang="ko-KR" sz="1600" dirty="0">
              <a:latin typeface="함초롬바탕" panose="02030604000101010101" pitchFamily="18" charset="-127"/>
              <a:ea typeface="함초롬바탕" panose="02030604000101010101" pitchFamily="18" charset="-127"/>
              <a:cs typeface="함초롬바탕" panose="02030604000101010101" pitchFamily="18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    </a:t>
            </a:r>
            <a:r>
              <a:rPr lang="ko-KR" altLang="en-US" sz="16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쌓인 패킷들은 폐기 </a:t>
            </a:r>
            <a:endParaRPr lang="en-US" altLang="ko-KR" sz="1600" dirty="0">
              <a:latin typeface="함초롬바탕" panose="02030604000101010101" pitchFamily="18" charset="-127"/>
              <a:ea typeface="함초롬바탕" panose="02030604000101010101" pitchFamily="18" charset="-127"/>
              <a:cs typeface="함초롬바탕" panose="02030604000101010101" pitchFamily="18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 - </a:t>
            </a:r>
            <a:r>
              <a:rPr lang="ko-KR" altLang="en-US" sz="16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인터페이스에 연결된 대역폭이 부족 시 대역폭 업그레이드가 필요 </a:t>
            </a:r>
            <a:endParaRPr lang="en-US" altLang="ko-KR" sz="1600" dirty="0">
              <a:latin typeface="함초롬바탕" panose="02030604000101010101" pitchFamily="18" charset="-127"/>
              <a:ea typeface="함초롬바탕" panose="02030604000101010101" pitchFamily="18" charset="-127"/>
              <a:cs typeface="함초롬바탕" panose="02030604000101010101" pitchFamily="18" charset="-127"/>
            </a:endParaRPr>
          </a:p>
          <a:p>
            <a:endParaRPr lang="en-US" altLang="ko-KR" sz="1200" dirty="0">
              <a:latin typeface="함초롬바탕" panose="02030604000101010101" pitchFamily="18" charset="-127"/>
              <a:ea typeface="함초롬바탕" panose="02030604000101010101" pitchFamily="18" charset="-127"/>
              <a:cs typeface="함초롬바탕" panose="02030604000101010101" pitchFamily="18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600" b="1" dirty="0">
                <a:latin typeface="Times New Roman" panose="02020603050405020304" pitchFamily="18" charset="0"/>
                <a:ea typeface="함초롬바탕" panose="02030604000101010101" pitchFamily="18" charset="-127"/>
                <a:cs typeface="Times New Roman" panose="02020603050405020304" pitchFamily="18" charset="0"/>
              </a:rPr>
              <a:t>Input queue</a:t>
            </a:r>
            <a:r>
              <a:rPr lang="ko-KR" altLang="en-US" sz="1600" b="1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에서 </a:t>
            </a:r>
            <a:r>
              <a:rPr lang="en-US" altLang="ko-KR" sz="1600" b="1" dirty="0">
                <a:latin typeface="Times New Roman" panose="02020603050405020304" pitchFamily="18" charset="0"/>
                <a:ea typeface="함초롬바탕" panose="02030604000101010101" pitchFamily="18" charset="-127"/>
                <a:cs typeface="Times New Roman" panose="02020603050405020304" pitchFamily="18" charset="0"/>
              </a:rPr>
              <a:t>drop</a:t>
            </a:r>
            <a:r>
              <a:rPr lang="ko-KR" altLang="en-US" sz="1600" b="1" dirty="0">
                <a:latin typeface="Times New Roman" panose="02020603050405020304" pitchFamily="18" charset="0"/>
                <a:ea typeface="함초롬바탕" panose="02030604000101010101" pitchFamily="18" charset="-127"/>
                <a:cs typeface="Times New Roman" panose="02020603050405020304" pitchFamily="18" charset="0"/>
              </a:rPr>
              <a:t> </a:t>
            </a:r>
            <a:r>
              <a:rPr lang="ko-KR" altLang="en-US" sz="1600" b="1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발생 원인</a:t>
            </a:r>
            <a:r>
              <a:rPr lang="ko-KR" altLang="en-US" sz="16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 </a:t>
            </a:r>
            <a:endParaRPr lang="en-US" altLang="ko-KR" sz="1600" dirty="0">
              <a:latin typeface="함초롬바탕" panose="02030604000101010101" pitchFamily="18" charset="-127"/>
              <a:ea typeface="함초롬바탕" panose="02030604000101010101" pitchFamily="18" charset="-127"/>
              <a:cs typeface="함초롬바탕" panose="02030604000101010101" pitchFamily="18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 - </a:t>
            </a:r>
            <a:r>
              <a:rPr lang="en-US" altLang="ko-KR" sz="1600" dirty="0">
                <a:latin typeface="Times New Roman" panose="02020603050405020304" pitchFamily="18" charset="0"/>
                <a:ea typeface="함초롬바탕" panose="02030604000101010101" pitchFamily="18" charset="-127"/>
                <a:cs typeface="Times New Roman" panose="02020603050405020304" pitchFamily="18" charset="0"/>
              </a:rPr>
              <a:t>CPU</a:t>
            </a:r>
            <a:r>
              <a:rPr lang="ko-KR" altLang="en-US" sz="16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나 메모리 자원이 부족하면 </a:t>
            </a:r>
            <a:r>
              <a:rPr lang="en-US" altLang="ko-KR" sz="1600" dirty="0">
                <a:latin typeface="Times New Roman" panose="02020603050405020304" pitchFamily="18" charset="0"/>
                <a:ea typeface="함초롬바탕" panose="02030604000101010101" pitchFamily="18" charset="-127"/>
                <a:cs typeface="Times New Roman" panose="02020603050405020304" pitchFamily="18" charset="0"/>
              </a:rPr>
              <a:t>input</a:t>
            </a:r>
            <a:r>
              <a:rPr lang="ko-KR" altLang="en-US" sz="1600" dirty="0">
                <a:latin typeface="Times New Roman" panose="02020603050405020304" pitchFamily="18" charset="0"/>
                <a:ea typeface="함초롬바탕" panose="02030604000101010101" pitchFamily="18" charset="-127"/>
                <a:cs typeface="Times New Roman" panose="02020603050405020304" pitchFamily="18" charset="0"/>
              </a:rPr>
              <a:t> </a:t>
            </a:r>
            <a:r>
              <a:rPr lang="en-US" altLang="ko-KR" sz="1600" dirty="0">
                <a:latin typeface="Times New Roman" panose="02020603050405020304" pitchFamily="18" charset="0"/>
                <a:ea typeface="함초롬바탕" panose="02030604000101010101" pitchFamily="18" charset="-127"/>
                <a:cs typeface="Times New Roman" panose="02020603050405020304" pitchFamily="18" charset="0"/>
              </a:rPr>
              <a:t>queue</a:t>
            </a:r>
            <a:r>
              <a:rPr lang="ko-KR" altLang="en-US" sz="16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에서 제때 메모리로 옮겨지지 못하기 때문에 </a:t>
            </a:r>
            <a:r>
              <a:rPr lang="en-US" altLang="ko-KR" sz="1600" dirty="0">
                <a:latin typeface="Times New Roman" panose="02020603050405020304" pitchFamily="18" charset="0"/>
                <a:ea typeface="함초롬바탕" panose="02030604000101010101" pitchFamily="18" charset="-127"/>
                <a:cs typeface="Times New Roman" panose="02020603050405020304" pitchFamily="18" charset="0"/>
              </a:rPr>
              <a:t>drop</a:t>
            </a:r>
            <a:r>
              <a:rPr lang="en-US" altLang="ko-KR" sz="16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 </a:t>
            </a:r>
            <a:r>
              <a:rPr lang="ko-KR" altLang="en-US" sz="16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발생</a:t>
            </a:r>
            <a:endParaRPr lang="en-US" altLang="ko-KR" sz="1600" dirty="0">
              <a:latin typeface="함초롬바탕" panose="02030604000101010101" pitchFamily="18" charset="-127"/>
              <a:ea typeface="함초롬바탕" panose="02030604000101010101" pitchFamily="18" charset="-127"/>
              <a:cs typeface="함초롬바탕" panose="02030604000101010101" pitchFamily="18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 - </a:t>
            </a:r>
            <a:r>
              <a:rPr lang="ko-KR" altLang="en-US" sz="16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장비</a:t>
            </a:r>
            <a:r>
              <a:rPr lang="en-US" altLang="ko-KR" sz="16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(</a:t>
            </a:r>
            <a:r>
              <a:rPr lang="ko-KR" altLang="en-US" sz="16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메모리</a:t>
            </a:r>
            <a:r>
              <a:rPr lang="en-US" altLang="ko-KR" sz="16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, </a:t>
            </a:r>
            <a:r>
              <a:rPr lang="en-US" altLang="ko-KR" sz="1600" dirty="0">
                <a:latin typeface="Times New Roman" panose="02020603050405020304" pitchFamily="18" charset="0"/>
                <a:ea typeface="함초롬바탕" panose="02030604000101010101" pitchFamily="18" charset="-127"/>
                <a:cs typeface="Times New Roman" panose="02020603050405020304" pitchFamily="18" charset="0"/>
              </a:rPr>
              <a:t>CPU</a:t>
            </a:r>
            <a:r>
              <a:rPr lang="en-US" altLang="ko-KR" sz="16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) </a:t>
            </a:r>
            <a:r>
              <a:rPr lang="ko-KR" altLang="en-US" sz="16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성능의 업그레이드가 필요</a:t>
            </a:r>
          </a:p>
        </p:txBody>
      </p:sp>
      <p:sp>
        <p:nvSpPr>
          <p:cNvPr id="85" name="제목 1">
            <a:extLst>
              <a:ext uri="{FF2B5EF4-FFF2-40B4-BE49-F238E27FC236}">
                <a16:creationId xmlns:a16="http://schemas.microsoft.com/office/drawing/2014/main" id="{4F0EE037-9FAD-214B-059C-A440F5B95BC7}"/>
              </a:ext>
            </a:extLst>
          </p:cNvPr>
          <p:cNvSpPr txBox="1">
            <a:spLocks/>
          </p:cNvSpPr>
          <p:nvPr/>
        </p:nvSpPr>
        <p:spPr bwMode="auto">
          <a:xfrm>
            <a:off x="646185" y="583563"/>
            <a:ext cx="7280275" cy="4810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84406" tIns="42203" rIns="84406" bIns="42203" numCol="1" rtlCol="0" anchor="t" anchorCtr="0" compatLnSpc="1">
            <a:prstTxWarp prst="textNoShape">
              <a:avLst/>
            </a:prstTxWarp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sz="2800" b="1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네트워크 지연 발생 원인 </a:t>
            </a:r>
            <a:endParaRPr lang="ko-KR" altLang="en-US" sz="2800" b="1" dirty="0">
              <a:ea typeface="함초롬바탕" panose="02030504000101010101"/>
            </a:endParaRPr>
          </a:p>
        </p:txBody>
      </p:sp>
    </p:spTree>
    <p:extLst>
      <p:ext uri="{BB962C8B-B14F-4D97-AF65-F5344CB8AC3E}">
        <p14:creationId xmlns:p14="http://schemas.microsoft.com/office/powerpoint/2010/main" val="233897991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A22EA7-80FE-42C8-BCF2-09639A4FECEC}" type="slidenum">
              <a:rPr lang="ko-KR" altLang="en-US" smtClean="0"/>
              <a:t>44</a:t>
            </a:fld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4294967295"/>
          </p:nvPr>
        </p:nvSpPr>
        <p:spPr>
          <a:xfrm>
            <a:off x="646185" y="1442633"/>
            <a:ext cx="11090275" cy="3625477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ko-KR" altLang="en-US" sz="18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폐기된 패킷은 </a:t>
            </a:r>
            <a:r>
              <a:rPr lang="en-US" altLang="ko-KR" sz="1800" dirty="0">
                <a:latin typeface="Times New Roman" panose="02020603050405020304" pitchFamily="18" charset="0"/>
                <a:ea typeface="함초롬바탕" panose="02030604000101010101" pitchFamily="18" charset="-127"/>
                <a:cs typeface="Times New Roman" panose="02020603050405020304" pitchFamily="18" charset="0"/>
              </a:rPr>
              <a:t>TCP </a:t>
            </a:r>
            <a:r>
              <a:rPr lang="ko-KR" altLang="en-US" sz="18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재전송 메커니즘에 의해 재전송되는데</a:t>
            </a:r>
            <a:r>
              <a:rPr lang="en-US" altLang="ko-KR" sz="18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, </a:t>
            </a:r>
            <a:r>
              <a:rPr lang="ko-KR" altLang="en-US" sz="18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이 과정에서 전송속도가 길어 짐</a:t>
            </a:r>
            <a:endParaRPr lang="en-US" altLang="ko-KR" sz="1800" dirty="0">
              <a:latin typeface="함초롬바탕" panose="02030604000101010101" pitchFamily="18" charset="-127"/>
              <a:ea typeface="함초롬바탕" panose="02030604000101010101" pitchFamily="18" charset="-127"/>
              <a:cs typeface="함초롬바탕" panose="02030604000101010101" pitchFamily="18" charset="-127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sz="18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    </a:t>
            </a:r>
            <a:r>
              <a:rPr lang="en-US" altLang="ko-KR" sz="18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- </a:t>
            </a:r>
            <a:r>
              <a:rPr lang="ko-KR" altLang="en-US" sz="18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대역폭 부족이나 장비의 성능 부족은 패킷 폐기를 발생</a:t>
            </a:r>
            <a:endParaRPr lang="en-US" altLang="ko-KR" sz="1800" dirty="0">
              <a:latin typeface="함초롬바탕" panose="02030604000101010101" pitchFamily="18" charset="-127"/>
              <a:ea typeface="함초롬바탕" panose="02030604000101010101" pitchFamily="18" charset="-127"/>
              <a:cs typeface="함초롬바탕" panose="02030604000101010101" pitchFamily="18" charset="-127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sz="18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    </a:t>
            </a:r>
            <a:r>
              <a:rPr lang="en-US" altLang="ko-KR" sz="18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- </a:t>
            </a:r>
            <a:r>
              <a:rPr lang="ko-KR" altLang="en-US" sz="18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패킷 폐기는 패킷 지연을 발생시킴</a:t>
            </a:r>
            <a:endParaRPr lang="en-US" altLang="ko-KR" sz="1800" dirty="0">
              <a:latin typeface="함초롬바탕" panose="02030604000101010101" pitchFamily="18" charset="-127"/>
              <a:ea typeface="함초롬바탕" panose="02030604000101010101" pitchFamily="18" charset="-127"/>
              <a:cs typeface="함초롬바탕" panose="02030604000101010101" pitchFamily="18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8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패킷 지연은 응답시간을 길게 만들어 사용자의 불만 초래</a:t>
            </a:r>
            <a:endParaRPr lang="en-US" altLang="ko-KR" sz="1800" dirty="0">
              <a:latin typeface="함초롬바탕" panose="02030604000101010101" pitchFamily="18" charset="-127"/>
              <a:ea typeface="함초롬바탕" panose="02030604000101010101" pitchFamily="18" charset="-127"/>
              <a:cs typeface="함초롬바탕" panose="02030604000101010101" pitchFamily="18" charset="-127"/>
            </a:endParaRPr>
          </a:p>
          <a:p>
            <a:pPr marL="0" indent="0">
              <a:lnSpc>
                <a:spcPct val="150000"/>
              </a:lnSpc>
              <a:buNone/>
            </a:pPr>
            <a:endParaRPr lang="en-US" altLang="ko-KR" sz="1800" dirty="0">
              <a:latin typeface="함초롬바탕" panose="02030604000101010101" pitchFamily="18" charset="-127"/>
              <a:ea typeface="함초롬바탕" panose="02030604000101010101" pitchFamily="18" charset="-127"/>
              <a:cs typeface="함초롬바탕" panose="02030604000101010101" pitchFamily="18" charset="-127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sz="18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  </a:t>
            </a:r>
            <a:endParaRPr lang="en-US" altLang="ko-KR" sz="1800" dirty="0">
              <a:latin typeface="Times New Roman" panose="02020603050405020304" pitchFamily="18" charset="0"/>
              <a:ea typeface="함초롬바탕" panose="02030504000101010101" pitchFamily="18" charset="-127"/>
              <a:cs typeface="Times New Roman" panose="02020603050405020304" pitchFamily="18" charset="0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EF78F437-EAB7-C4FF-77C3-476B19A9FBA5}"/>
              </a:ext>
            </a:extLst>
          </p:cNvPr>
          <p:cNvSpPr txBox="1">
            <a:spLocks/>
          </p:cNvSpPr>
          <p:nvPr/>
        </p:nvSpPr>
        <p:spPr bwMode="auto">
          <a:xfrm>
            <a:off x="646185" y="583563"/>
            <a:ext cx="7280275" cy="4810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84406" tIns="42203" rIns="84406" bIns="42203" numCol="1" rtlCol="0" anchor="t" anchorCtr="0" compatLnSpc="1">
            <a:prstTxWarp prst="textNoShape">
              <a:avLst/>
            </a:prstTxWarp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sz="2800" b="1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네트워크 지연 발생 원인 </a:t>
            </a:r>
            <a:endParaRPr lang="ko-KR" altLang="en-US" sz="2800" b="1" dirty="0">
              <a:ea typeface="함초롬바탕" panose="02030504000101010101"/>
            </a:endParaRPr>
          </a:p>
        </p:txBody>
      </p:sp>
      <p:sp>
        <p:nvSpPr>
          <p:cNvPr id="5" name="화살표: 오른쪽 4">
            <a:extLst>
              <a:ext uri="{FF2B5EF4-FFF2-40B4-BE49-F238E27FC236}">
                <a16:creationId xmlns:a16="http://schemas.microsoft.com/office/drawing/2014/main" id="{AFE39FF6-291E-E923-E79E-C0EE1FEC5AED}"/>
              </a:ext>
            </a:extLst>
          </p:cNvPr>
          <p:cNvSpPr/>
          <p:nvPr/>
        </p:nvSpPr>
        <p:spPr>
          <a:xfrm>
            <a:off x="1990724" y="4342358"/>
            <a:ext cx="476656" cy="275467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54E1DC7C-CDE1-C2E6-CB5F-E7F1FF37A8D2}"/>
              </a:ext>
            </a:extLst>
          </p:cNvPr>
          <p:cNvSpPr txBox="1">
            <a:spLocks/>
          </p:cNvSpPr>
          <p:nvPr/>
        </p:nvSpPr>
        <p:spPr>
          <a:xfrm>
            <a:off x="2649537" y="4119728"/>
            <a:ext cx="7000301" cy="720725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ko-KR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Congestion Avoidance</a:t>
            </a:r>
            <a:r>
              <a:rPr lang="en-US" altLang="ko-KR" sz="2400" b="1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(</a:t>
            </a:r>
            <a:r>
              <a:rPr lang="ko-KR" altLang="en-US" sz="2400" b="1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혼잡 회피</a:t>
            </a:r>
            <a:r>
              <a:rPr lang="en-US" altLang="ko-KR" sz="2400" b="1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) </a:t>
            </a:r>
            <a:r>
              <a:rPr lang="ko-KR" altLang="en-US" sz="2400" b="1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메커니즘이 필요 </a:t>
            </a:r>
          </a:p>
        </p:txBody>
      </p:sp>
    </p:spTree>
    <p:extLst>
      <p:ext uri="{BB962C8B-B14F-4D97-AF65-F5344CB8AC3E}">
        <p14:creationId xmlns:p14="http://schemas.microsoft.com/office/powerpoint/2010/main" val="411478472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A22EA7-80FE-42C8-BCF2-09639A4FECEC}" type="slidenum">
              <a:rPr lang="ko-KR" altLang="en-US" smtClean="0"/>
              <a:t>45</a:t>
            </a:fld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idx="4294967295"/>
          </p:nvPr>
        </p:nvSpPr>
        <p:spPr>
          <a:xfrm>
            <a:off x="1468876" y="948531"/>
            <a:ext cx="6443663" cy="4960938"/>
          </a:xfrm>
        </p:spPr>
        <p:txBody>
          <a:bodyPr>
            <a:normAutofit/>
          </a:bodyPr>
          <a:lstStyle/>
          <a:p>
            <a:pPr>
              <a:lnSpc>
                <a:spcPct val="200000"/>
              </a:lnSpc>
            </a:pPr>
            <a:r>
              <a:rPr lang="ko-KR" altLang="en-US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혼잡 제어를 위한 </a:t>
            </a:r>
            <a:r>
              <a:rPr lang="en-US" altLang="ko-KR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4</a:t>
            </a:r>
            <a:r>
              <a:rPr lang="ko-KR" altLang="en-US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가지 알고리즘 </a:t>
            </a:r>
            <a:endParaRPr lang="en-US" altLang="ko-KR" dirty="0">
              <a:latin typeface="함초롬바탕" panose="02030504000101010101" pitchFamily="18" charset="-127"/>
              <a:ea typeface="함초롬바탕" panose="02030504000101010101" pitchFamily="18" charset="-127"/>
              <a:cs typeface="함초롬바탕" panose="02030504000101010101" pitchFamily="18" charset="-127"/>
            </a:endParaRPr>
          </a:p>
          <a:p>
            <a:pPr marL="0" indent="0">
              <a:lnSpc>
                <a:spcPct val="200000"/>
              </a:lnSpc>
              <a:buNone/>
            </a:pPr>
            <a:r>
              <a:rPr lang="ko-KR" alt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en-US" altLang="ko-KR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Slow start</a:t>
            </a:r>
            <a:r>
              <a:rPr lang="en-US" altLang="ko-KR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ko-KR" altLang="en-US" sz="1900" dirty="0" err="1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느린시작</a:t>
            </a:r>
            <a:r>
              <a:rPr lang="en-US" altLang="ko-KR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marL="0" indent="0">
              <a:lnSpc>
                <a:spcPct val="200000"/>
              </a:lnSpc>
              <a:buNone/>
            </a:pPr>
            <a:r>
              <a:rPr lang="en-US" altLang="ko-KR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- Congestion Avoidance</a:t>
            </a:r>
            <a:r>
              <a:rPr lang="en-US" altLang="ko-KR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ko-KR" altLang="en-US" sz="19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혼잡회피</a:t>
            </a:r>
            <a:r>
              <a:rPr lang="en-US" altLang="ko-KR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marL="0" indent="0">
              <a:lnSpc>
                <a:spcPct val="200000"/>
              </a:lnSpc>
              <a:buNone/>
            </a:pPr>
            <a:r>
              <a:rPr lang="en-US" altLang="ko-KR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- Fast Retransmission</a:t>
            </a:r>
            <a:r>
              <a:rPr lang="en-US" altLang="ko-KR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ko-KR" altLang="en-US" sz="19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빠른 재전송</a:t>
            </a:r>
            <a:r>
              <a:rPr lang="en-US" altLang="ko-KR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marL="0" indent="0">
              <a:lnSpc>
                <a:spcPct val="200000"/>
              </a:lnSpc>
              <a:buNone/>
            </a:pPr>
            <a:r>
              <a:rPr lang="en-US" altLang="ko-KR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- Fast Recovery</a:t>
            </a:r>
            <a:r>
              <a:rPr lang="en-US" altLang="ko-KR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ko-KR" altLang="en-US" sz="19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빠른 회복</a:t>
            </a:r>
            <a:r>
              <a:rPr lang="en-US" altLang="ko-KR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r>
              <a:rPr lang="ko-KR" alt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ko-KR" altLang="en-US" sz="19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오른쪽 대괄호 4"/>
          <p:cNvSpPr/>
          <p:nvPr/>
        </p:nvSpPr>
        <p:spPr>
          <a:xfrm>
            <a:off x="8368032" y="2304462"/>
            <a:ext cx="103239" cy="1060190"/>
          </a:xfrm>
          <a:prstGeom prst="rightBracket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오른쪽 대괄호 5"/>
          <p:cNvSpPr/>
          <p:nvPr/>
        </p:nvSpPr>
        <p:spPr>
          <a:xfrm>
            <a:off x="8368032" y="3864189"/>
            <a:ext cx="103239" cy="1172963"/>
          </a:xfrm>
          <a:prstGeom prst="rightBracket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/>
          <p:cNvSpPr txBox="1"/>
          <p:nvPr/>
        </p:nvSpPr>
        <p:spPr>
          <a:xfrm flipH="1">
            <a:off x="8618753" y="2826023"/>
            <a:ext cx="21222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 err="1">
                <a:solidFill>
                  <a:srgbClr val="FF0000"/>
                </a:solidFill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패킷</a:t>
            </a:r>
            <a:r>
              <a:rPr lang="ko-KR" altLang="en-US" b="1" dirty="0">
                <a:solidFill>
                  <a:srgbClr val="FF0000"/>
                </a:solidFill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 손실 전 </a:t>
            </a:r>
          </a:p>
        </p:txBody>
      </p:sp>
      <p:sp>
        <p:nvSpPr>
          <p:cNvPr id="8" name="TextBox 7"/>
          <p:cNvSpPr txBox="1"/>
          <p:nvPr/>
        </p:nvSpPr>
        <p:spPr>
          <a:xfrm flipH="1">
            <a:off x="8618753" y="4033483"/>
            <a:ext cx="21222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 err="1">
                <a:solidFill>
                  <a:srgbClr val="FF0000"/>
                </a:solidFill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패킷</a:t>
            </a:r>
            <a:r>
              <a:rPr lang="ko-KR" altLang="en-US" b="1" dirty="0">
                <a:solidFill>
                  <a:srgbClr val="FF0000"/>
                </a:solidFill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 손실 후  </a:t>
            </a:r>
          </a:p>
        </p:txBody>
      </p:sp>
    </p:spTree>
    <p:extLst>
      <p:ext uri="{BB962C8B-B14F-4D97-AF65-F5344CB8AC3E}">
        <p14:creationId xmlns:p14="http://schemas.microsoft.com/office/powerpoint/2010/main" val="159816213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A22EA7-80FE-42C8-BCF2-09639A4FECEC}" type="slidenum">
              <a:rPr lang="ko-KR" altLang="en-US" smtClean="0"/>
              <a:t>46</a:t>
            </a:fld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4294967295"/>
          </p:nvPr>
        </p:nvSpPr>
        <p:spPr>
          <a:xfrm>
            <a:off x="339725" y="547688"/>
            <a:ext cx="11852275" cy="5699125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altLang="ko-KR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Window size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0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   </a:t>
            </a:r>
            <a:r>
              <a:rPr lang="en-US" altLang="ko-KR" sz="20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⋅</a:t>
            </a:r>
            <a:r>
              <a:rPr lang="en-US" altLang="ko-KR" sz="20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 </a:t>
            </a:r>
            <a:r>
              <a:rPr lang="en-US" altLang="ko-KR" sz="20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ACK</a:t>
            </a:r>
            <a:r>
              <a:rPr lang="en-US" altLang="ko-KR" sz="20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 </a:t>
            </a:r>
            <a:r>
              <a:rPr lang="ko-KR" altLang="en-US" sz="200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응답 없이 보낼 수 있는 패킷의 수</a:t>
            </a:r>
            <a:endParaRPr lang="en-US" altLang="ko-KR" sz="2000" dirty="0">
              <a:latin typeface="함초롬바탕" panose="02030504000101010101" pitchFamily="18" charset="-127"/>
              <a:ea typeface="함초롬바탕" panose="02030504000101010101" pitchFamily="18" charset="-127"/>
              <a:cs typeface="함초롬바탕" panose="02030504000101010101" pitchFamily="18" charset="-127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0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   </a:t>
            </a:r>
            <a:r>
              <a:rPr lang="en-US" altLang="ko-KR" sz="20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⋅ </a:t>
            </a:r>
            <a:r>
              <a:rPr lang="en-US" altLang="ko-KR" sz="20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Window size </a:t>
            </a:r>
            <a:r>
              <a:rPr lang="ko-KR" altLang="en-US" sz="200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크기는 송신장치가 계산한 </a:t>
            </a:r>
            <a:r>
              <a:rPr lang="en-US" altLang="ko-KR" sz="20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CWND</a:t>
            </a:r>
            <a:r>
              <a:rPr lang="ko-KR" altLang="en-US" sz="200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와 수신 장치가 보낸 중에서 작은 값으로 선정</a:t>
            </a:r>
            <a:endParaRPr lang="en-US" altLang="ko-KR" sz="2000" dirty="0">
              <a:latin typeface="함초롬바탕" panose="02030504000101010101" pitchFamily="18" charset="-127"/>
              <a:ea typeface="함초롬바탕" panose="02030504000101010101" pitchFamily="18" charset="-127"/>
              <a:cs typeface="함초롬바탕" panose="02030504000101010101" pitchFamily="18" charset="-127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0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       </a:t>
            </a:r>
            <a:r>
              <a:rPr lang="en-US" altLang="ko-KR" sz="20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❶ </a:t>
            </a:r>
            <a:r>
              <a:rPr lang="en-US" altLang="ko-KR" sz="2000" dirty="0">
                <a:latin typeface="Times New Roman" panose="02020603050405020304" pitchFamily="18" charset="0"/>
                <a:ea typeface="함초롬바탕" panose="02030604000101010101" pitchFamily="18" charset="-127"/>
                <a:cs typeface="Times New Roman" panose="02020603050405020304" pitchFamily="18" charset="0"/>
              </a:rPr>
              <a:t>CWND </a:t>
            </a:r>
            <a:r>
              <a:rPr lang="en-US" altLang="ko-KR" sz="20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(</a:t>
            </a:r>
            <a:r>
              <a:rPr lang="en-US" altLang="ko-K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Congestion Window </a:t>
            </a:r>
            <a:r>
              <a:rPr lang="en-US" altLang="ko-KR" sz="20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)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0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           </a:t>
            </a:r>
            <a:r>
              <a:rPr lang="en-US" altLang="ko-KR" sz="20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  - </a:t>
            </a:r>
            <a:r>
              <a:rPr lang="ko-KR" altLang="en-US" sz="200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송신자의 네트워크 상태에 관한 값 </a:t>
            </a:r>
            <a:r>
              <a:rPr lang="en-US" altLang="ko-KR" sz="20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       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0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       ❷ </a:t>
            </a:r>
            <a:r>
              <a:rPr lang="en-US" altLang="ko-KR" sz="20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RWND(</a:t>
            </a:r>
            <a:r>
              <a:rPr lang="en-US" altLang="ko-K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Received Window or Advertised Window ) 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- </a:t>
            </a:r>
            <a:r>
              <a:rPr lang="ko-KR" altLang="en-US" sz="200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수신 장비의 상태에 값으로 수신 장치의 </a:t>
            </a:r>
            <a:r>
              <a:rPr lang="en-US" altLang="ko-KR" sz="20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windows size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0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  </a:t>
            </a:r>
            <a:r>
              <a:rPr lang="en-US" altLang="ko-KR" sz="20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⋅</a:t>
            </a:r>
            <a:r>
              <a:rPr lang="ko-KR" altLang="en-US" sz="200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큰 </a:t>
            </a:r>
            <a:r>
              <a:rPr lang="en-US" altLang="ko-KR" sz="2000" dirty="0">
                <a:latin typeface="Times New Roman" panose="02020603050405020304" pitchFamily="18" charset="0"/>
                <a:ea typeface="함초롬바탕" panose="02030604000101010101" pitchFamily="18" charset="-127"/>
                <a:cs typeface="Times New Roman" panose="02020603050405020304" pitchFamily="18" charset="0"/>
              </a:rPr>
              <a:t>RWND</a:t>
            </a:r>
            <a:r>
              <a:rPr lang="ko-KR" altLang="en-US" sz="200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를 보내도 서서히 증가하는</a:t>
            </a:r>
            <a:r>
              <a:rPr lang="ko-KR" altLang="en-US" sz="2000">
                <a:latin typeface="Times New Roman" panose="02020603050405020304" pitchFamily="18" charset="0"/>
                <a:ea typeface="함초롬바탕" panose="02030604000101010101" pitchFamily="18" charset="-127"/>
                <a:cs typeface="Times New Roman" panose="02020603050405020304" pitchFamily="18" charset="0"/>
              </a:rPr>
              <a:t> </a:t>
            </a:r>
            <a:r>
              <a:rPr lang="en-US" altLang="ko-KR" sz="2000" dirty="0">
                <a:latin typeface="Times New Roman" panose="02020603050405020304" pitchFamily="18" charset="0"/>
                <a:ea typeface="함초롬바탕" panose="02030604000101010101" pitchFamily="18" charset="-127"/>
                <a:cs typeface="Times New Roman" panose="02020603050405020304" pitchFamily="18" charset="0"/>
              </a:rPr>
              <a:t>CWND</a:t>
            </a:r>
            <a:r>
              <a:rPr lang="ko-KR" altLang="en-US" sz="200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의 특지 떄문에 보내재는 데이터 양이 느리게 증가함 </a:t>
            </a:r>
            <a:endParaRPr lang="en-US" altLang="ko-KR" sz="2000" dirty="0">
              <a:latin typeface="함초롬바탕" panose="02030604000101010101" pitchFamily="18" charset="-127"/>
              <a:ea typeface="함초롬바탕" panose="02030604000101010101" pitchFamily="18" charset="-127"/>
              <a:cs typeface="함초롬바탕" panose="02030604000101010101" pitchFamily="18" charset="-127"/>
            </a:endParaRPr>
          </a:p>
          <a:p>
            <a:pPr marL="177800" indent="0">
              <a:lnSpc>
                <a:spcPct val="150000"/>
              </a:lnSpc>
              <a:buNone/>
            </a:pPr>
            <a:r>
              <a:rPr lang="en-US" altLang="ko-KR" sz="21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 </a:t>
            </a:r>
            <a:r>
              <a:rPr lang="en-US" altLang="ko-KR" sz="2100" dirty="0">
                <a:latin typeface="Times New Roman" panose="02020603050405020304" pitchFamily="18" charset="0"/>
                <a:ea typeface="함초롬바탕" panose="02030604000101010101" pitchFamily="18" charset="-127"/>
                <a:cs typeface="Times New Roman" panose="02020603050405020304" pitchFamily="18" charset="0"/>
              </a:rPr>
              <a:t>⋅ Slow start </a:t>
            </a:r>
            <a:r>
              <a:rPr lang="en-US" altLang="ko-KR" sz="2000" dirty="0">
                <a:latin typeface="Times New Roman" panose="02020603050405020304" pitchFamily="18" charset="0"/>
                <a:ea typeface="함초롬바탕" panose="02030604000101010101" pitchFamily="18" charset="-127"/>
                <a:cs typeface="Times New Roman" panose="02020603050405020304" pitchFamily="18" charset="0"/>
              </a:rPr>
              <a:t>: CWND </a:t>
            </a:r>
            <a:r>
              <a:rPr lang="ko-KR" altLang="en-US" sz="200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크기 증가 기술 </a:t>
            </a:r>
            <a:endParaRPr lang="en-US" altLang="ko-KR" sz="2000" dirty="0">
              <a:latin typeface="Times New Roman" panose="02020603050405020304" pitchFamily="18" charset="0"/>
              <a:ea typeface="함초롬바탕" panose="02030504000101010101" pitchFamily="18" charset="-127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7533704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A22EA7-80FE-42C8-BCF2-09639A4FECEC}" type="slidenum">
              <a:rPr lang="ko-KR" altLang="en-US" smtClean="0"/>
              <a:t>47</a:t>
            </a:fld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4294967295"/>
          </p:nvPr>
        </p:nvSpPr>
        <p:spPr>
          <a:xfrm>
            <a:off x="1577975" y="1514475"/>
            <a:ext cx="10614025" cy="4732338"/>
          </a:xfrm>
        </p:spPr>
        <p:txBody>
          <a:bodyPr>
            <a:noAutofit/>
          </a:bodyPr>
          <a:lstStyle/>
          <a:p>
            <a:pPr>
              <a:lnSpc>
                <a:spcPct val="150000"/>
              </a:lnSpc>
            </a:pPr>
            <a:r>
              <a:rPr lang="en-US" altLang="ko-KR" sz="18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TCP</a:t>
            </a:r>
            <a:r>
              <a:rPr lang="ko-KR" altLang="en-US" sz="180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의 정상적인 상태에서의 동작 구현 알고리즘 </a:t>
            </a:r>
            <a:endParaRPr lang="en-US" altLang="ko-KR" sz="1800" dirty="0">
              <a:latin typeface="함초롬바탕" panose="02030504000101010101" pitchFamily="18" charset="-127"/>
              <a:ea typeface="함초롬바탕" panose="02030504000101010101" pitchFamily="18" charset="-127"/>
              <a:cs typeface="함초롬바탕" panose="02030504000101010101" pitchFamily="18" charset="-127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18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    -  </a:t>
            </a:r>
            <a:r>
              <a:rPr lang="en-US" altLang="ko-KR" sz="18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CWND</a:t>
            </a:r>
            <a:r>
              <a:rPr lang="en-US" altLang="ko-KR" sz="18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 </a:t>
            </a:r>
            <a:r>
              <a:rPr lang="ko-KR" altLang="en-US" sz="180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크기의 느린 증가를 </a:t>
            </a:r>
            <a:r>
              <a:rPr lang="en-US" altLang="ko-KR" sz="18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‘</a:t>
            </a:r>
            <a:r>
              <a:rPr lang="en-US" altLang="ko-KR" sz="18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slow start</a:t>
            </a:r>
            <a:r>
              <a:rPr lang="en-US" altLang="ko-KR" sz="18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’</a:t>
            </a:r>
            <a:r>
              <a:rPr lang="ko-KR" altLang="en-US" sz="180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라고 함</a:t>
            </a:r>
            <a:endParaRPr lang="en-US" altLang="ko-KR" sz="1800" dirty="0">
              <a:latin typeface="함초롬바탕" panose="02030504000101010101" pitchFamily="18" charset="-127"/>
              <a:ea typeface="함초롬바탕" panose="02030504000101010101" pitchFamily="18" charset="-127"/>
              <a:cs typeface="함초롬바탕" panose="02030504000101010101" pitchFamily="18" charset="-127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18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    -  </a:t>
            </a:r>
            <a:r>
              <a:rPr lang="en-US" altLang="ko-KR" sz="18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CWND </a:t>
            </a:r>
            <a:r>
              <a:rPr lang="ko-KR" altLang="en-US" sz="180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크기를 서서히 증가 시키는</a:t>
            </a:r>
            <a:r>
              <a:rPr lang="en-US" altLang="ko-KR" sz="18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 </a:t>
            </a:r>
            <a:r>
              <a:rPr lang="ko-KR" altLang="en-US" sz="180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것</a:t>
            </a:r>
            <a:endParaRPr lang="en-US" altLang="ko-KR" sz="1800" dirty="0">
              <a:latin typeface="함초롬바탕" panose="02030504000101010101" pitchFamily="18" charset="-127"/>
              <a:ea typeface="함초롬바탕" panose="02030504000101010101" pitchFamily="18" charset="-127"/>
              <a:cs typeface="함초롬바탕" panose="02030504000101010101" pitchFamily="18" charset="-127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18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    - </a:t>
            </a:r>
            <a:r>
              <a:rPr lang="en-US" altLang="ko-KR" sz="18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CWND </a:t>
            </a:r>
            <a:r>
              <a:rPr lang="ko-KR" altLang="en-US" sz="180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를 서서히 증가시키는 이유는 망이 전송 능력을 파악하기 위함 </a:t>
            </a:r>
            <a:endParaRPr lang="en-US" altLang="ko-KR" sz="1800" dirty="0">
              <a:latin typeface="함초롬바탕" panose="02030504000101010101" pitchFamily="18" charset="-127"/>
              <a:ea typeface="함초롬바탕" panose="02030504000101010101" pitchFamily="18" charset="-127"/>
              <a:cs typeface="함초롬바탕" panose="02030504000101010101" pitchFamily="18" charset="-127"/>
            </a:endParaRPr>
          </a:p>
          <a:p>
            <a:pPr marL="0" indent="0">
              <a:lnSpc>
                <a:spcPct val="100000"/>
              </a:lnSpc>
              <a:buNone/>
            </a:pPr>
            <a:endParaRPr lang="en-US" altLang="ko-KR" sz="1800" dirty="0">
              <a:latin typeface="함초롬바탕" panose="02030504000101010101" pitchFamily="18" charset="-127"/>
              <a:ea typeface="함초롬바탕" panose="02030504000101010101" pitchFamily="18" charset="-127"/>
              <a:cs typeface="함초롬바탕" panose="02030504000101010101" pitchFamily="18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8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Slow start</a:t>
            </a:r>
            <a:r>
              <a:rPr lang="ko-KR" altLang="en-US" sz="180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가 혼잡</a:t>
            </a:r>
            <a:r>
              <a:rPr lang="en-US" altLang="ko-KR" sz="18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(</a:t>
            </a:r>
            <a:r>
              <a:rPr lang="en-US" altLang="ko-KR" sz="18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congestion</a:t>
            </a:r>
            <a:r>
              <a:rPr lang="en-US" altLang="ko-KR" sz="18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)</a:t>
            </a:r>
            <a:r>
              <a:rPr lang="ko-KR" altLang="en-US" sz="180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 원인이 될 수 있음 </a:t>
            </a:r>
            <a:endParaRPr lang="en-US" altLang="ko-KR" sz="1800" dirty="0">
              <a:latin typeface="함초롬바탕" panose="02030504000101010101" pitchFamily="18" charset="-127"/>
              <a:ea typeface="함초롬바탕" panose="02030504000101010101" pitchFamily="18" charset="-127"/>
              <a:cs typeface="함초롬바탕" panose="02030504000101010101" pitchFamily="18" charset="-127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sz="18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   </a:t>
            </a:r>
            <a:r>
              <a:rPr lang="en-US" altLang="ko-KR" sz="18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- </a:t>
            </a:r>
            <a:r>
              <a:rPr lang="ko-KR" altLang="en-US" sz="180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송수신 </a:t>
            </a:r>
            <a:r>
              <a:rPr lang="ko-KR" altLang="en-US" sz="18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장치가 속도가 빠른 </a:t>
            </a:r>
            <a:r>
              <a:rPr lang="en-US" altLang="ko-KR" sz="18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LAN</a:t>
            </a:r>
            <a:r>
              <a:rPr lang="ko-KR" altLang="en-US" sz="180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으로 연결했다면 문제가 없음 </a:t>
            </a:r>
            <a:endParaRPr lang="en-US" altLang="ko-KR" sz="1800" dirty="0">
              <a:latin typeface="함초롬바탕" panose="02030504000101010101" pitchFamily="18" charset="-127"/>
              <a:ea typeface="함초롬바탕" panose="02030504000101010101" pitchFamily="18" charset="-127"/>
              <a:cs typeface="함초롬바탕" panose="02030504000101010101" pitchFamily="18" charset="-127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sz="18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   </a:t>
            </a:r>
            <a:r>
              <a:rPr lang="en-US" altLang="ko-KR" sz="18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- </a:t>
            </a:r>
            <a:r>
              <a:rPr lang="ko-KR" altLang="en-US" sz="180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느린 라우터와 같은 </a:t>
            </a:r>
            <a:r>
              <a:rPr lang="en-US" altLang="ko-KR" sz="18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WAN</a:t>
            </a:r>
            <a:r>
              <a:rPr lang="ko-KR" altLang="en-US" sz="180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으로 연결될 경우 혼잡 발생 </a:t>
            </a:r>
            <a:endParaRPr lang="en-US" altLang="ko-KR" sz="1800" dirty="0">
              <a:latin typeface="함초롬바탕" panose="02030504000101010101" pitchFamily="18" charset="-127"/>
              <a:ea typeface="함초롬바탕" panose="02030504000101010101" pitchFamily="18" charset="-127"/>
              <a:cs typeface="함초롬바탕" panose="02030504000101010101" pitchFamily="18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 idx="4294967295"/>
          </p:nvPr>
        </p:nvSpPr>
        <p:spPr>
          <a:xfrm>
            <a:off x="1060315" y="684213"/>
            <a:ext cx="7332663" cy="720725"/>
          </a:xfrm>
        </p:spPr>
        <p:txBody>
          <a:bodyPr>
            <a:noAutofit/>
          </a:bodyPr>
          <a:lstStyle/>
          <a:p>
            <a:r>
              <a:rPr lang="en-US" altLang="ko-KR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Slow Start </a:t>
            </a:r>
            <a:endParaRPr lang="ko-KR" altLang="en-US" sz="3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2684888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A22EA7-80FE-42C8-BCF2-09639A4FECEC}" type="slidenum">
              <a:rPr lang="ko-KR" altLang="en-US" smtClean="0"/>
              <a:t>48</a:t>
            </a:fld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4294967295"/>
          </p:nvPr>
        </p:nvSpPr>
        <p:spPr>
          <a:xfrm>
            <a:off x="1568450" y="1401763"/>
            <a:ext cx="10623550" cy="5319712"/>
          </a:xfrm>
        </p:spPr>
        <p:txBody>
          <a:bodyPr>
            <a:normAutofit/>
          </a:bodyPr>
          <a:lstStyle/>
          <a:p>
            <a:pPr>
              <a:lnSpc>
                <a:spcPct val="200000"/>
              </a:lnSpc>
            </a:pPr>
            <a:r>
              <a:rPr lang="en-US" altLang="ko-KR" sz="1800" b="1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TCP </a:t>
            </a:r>
            <a:r>
              <a:rPr lang="ko-KR" altLang="en-US" sz="1800" b="1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연결에 사용할 수 있는 전송 속도를 탐지하기 위한 것 </a:t>
            </a:r>
            <a:endParaRPr lang="en-US" altLang="ko-KR" sz="1800" b="1" dirty="0">
              <a:latin typeface="함초롬바탕" panose="02030504000101010101" pitchFamily="18" charset="-127"/>
              <a:ea typeface="함초롬바탕" panose="02030504000101010101" pitchFamily="18" charset="-127"/>
              <a:cs typeface="함초롬바탕" panose="02030504000101010101" pitchFamily="18" charset="-127"/>
            </a:endParaRPr>
          </a:p>
          <a:p>
            <a:pPr marL="0" indent="0">
              <a:lnSpc>
                <a:spcPct val="200000"/>
              </a:lnSpc>
              <a:buNone/>
            </a:pPr>
            <a:r>
              <a:rPr lang="en-US" altLang="ko-KR" sz="18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     - </a:t>
            </a:r>
            <a:r>
              <a:rPr lang="en-US" altLang="ko-KR" sz="18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TCP</a:t>
            </a:r>
            <a:r>
              <a:rPr lang="ko-KR" altLang="en-US" sz="180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는 물리적 링크의 데이터 전송속도를 알지 못함</a:t>
            </a:r>
            <a:endParaRPr lang="en-US" altLang="ko-KR" sz="1800" dirty="0">
              <a:latin typeface="함초롬바탕" panose="02030504000101010101" pitchFamily="18" charset="-127"/>
              <a:ea typeface="함초롬바탕" panose="02030504000101010101" pitchFamily="18" charset="-127"/>
              <a:cs typeface="함초롬바탕" panose="02030504000101010101" pitchFamily="18" charset="-127"/>
            </a:endParaRPr>
          </a:p>
          <a:p>
            <a:pPr marL="0" indent="0">
              <a:lnSpc>
                <a:spcPct val="200000"/>
              </a:lnSpc>
              <a:buNone/>
            </a:pPr>
            <a:r>
              <a:rPr lang="en-US" altLang="ko-KR" sz="18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     - </a:t>
            </a:r>
            <a:r>
              <a:rPr lang="en-US" altLang="ko-KR" sz="18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TCP</a:t>
            </a:r>
            <a:r>
              <a:rPr lang="ko-KR" altLang="en-US" sz="180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가 한꺼번에 많은 데이터를 전송할 경우 네트워크 장애 발생 </a:t>
            </a:r>
            <a:endParaRPr lang="en-US" altLang="ko-KR" sz="1800" dirty="0">
              <a:latin typeface="함초롬바탕" panose="02030504000101010101" pitchFamily="18" charset="-127"/>
              <a:ea typeface="함초롬바탕" panose="02030504000101010101" pitchFamily="18" charset="-127"/>
              <a:cs typeface="함초롬바탕" panose="02030504000101010101" pitchFamily="18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1800" b="1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적은 수의 세그먼트를 전송하다가 천천히 세그먼트 수를 증가</a:t>
            </a:r>
            <a:endParaRPr lang="en-US" altLang="ko-KR" sz="1800" b="1" dirty="0">
              <a:latin typeface="함초롬바탕" panose="02030504000101010101" pitchFamily="18" charset="-127"/>
              <a:ea typeface="함초롬바탕" panose="02030504000101010101" pitchFamily="18" charset="-127"/>
              <a:cs typeface="함초롬바탕" panose="02030504000101010101" pitchFamily="18" charset="-127"/>
            </a:endParaRPr>
          </a:p>
          <a:p>
            <a:pPr>
              <a:lnSpc>
                <a:spcPct val="200000"/>
              </a:lnSpc>
            </a:pPr>
            <a:r>
              <a:rPr lang="en-US" altLang="ko-KR" sz="18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Slow start</a:t>
            </a:r>
            <a:r>
              <a:rPr lang="ko-KR" altLang="en-US" sz="180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의 두 가지 파라미터 </a:t>
            </a:r>
            <a:endParaRPr lang="en-US" altLang="ko-KR" sz="1800" dirty="0">
              <a:latin typeface="함초롬바탕" panose="02030504000101010101" pitchFamily="18" charset="-127"/>
              <a:ea typeface="함초롬바탕" panose="02030504000101010101" pitchFamily="18" charset="-127"/>
              <a:cs typeface="함초롬바탕" panose="02030504000101010101" pitchFamily="18" charset="-127"/>
            </a:endParaRPr>
          </a:p>
          <a:p>
            <a:pPr marL="0" indent="0">
              <a:lnSpc>
                <a:spcPct val="200000"/>
              </a:lnSpc>
              <a:buNone/>
            </a:pPr>
            <a:r>
              <a:rPr lang="en-US" altLang="ko-KR" sz="18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     </a:t>
            </a:r>
            <a:r>
              <a:rPr lang="en-US" altLang="ko-KR" sz="18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- CWND(Congestion Window</a:t>
            </a:r>
            <a:r>
              <a:rPr lang="en-US" altLang="ko-KR" sz="18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, </a:t>
            </a:r>
            <a:r>
              <a:rPr lang="ko-KR" altLang="en-US" sz="180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혼잡 윈도우</a:t>
            </a:r>
            <a:r>
              <a:rPr lang="en-US" altLang="ko-KR" sz="18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)</a:t>
            </a:r>
          </a:p>
          <a:p>
            <a:pPr marL="0" indent="0">
              <a:lnSpc>
                <a:spcPct val="200000"/>
              </a:lnSpc>
              <a:buNone/>
            </a:pPr>
            <a:r>
              <a:rPr lang="en-US" altLang="ko-KR" sz="18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     </a:t>
            </a:r>
            <a:r>
              <a:rPr lang="en-US" altLang="ko-KR" sz="18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- SSTHRESH(Slow-Start </a:t>
            </a:r>
            <a:r>
              <a:rPr lang="en-US" altLang="ko-KR" sz="1800" dirty="0" err="1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Thresahhold</a:t>
            </a:r>
            <a:r>
              <a:rPr lang="en-US" altLang="ko-KR" sz="18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 Value</a:t>
            </a:r>
            <a:r>
              <a:rPr lang="en-US" altLang="ko-KR" sz="18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, </a:t>
            </a:r>
            <a:r>
              <a:rPr lang="ko-KR" altLang="en-US" sz="180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느린 시작임계값</a:t>
            </a:r>
            <a:r>
              <a:rPr lang="en-US" altLang="ko-KR" sz="18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) </a:t>
            </a:r>
          </a:p>
        </p:txBody>
      </p:sp>
      <p:sp>
        <p:nvSpPr>
          <p:cNvPr id="5" name="제목 1"/>
          <p:cNvSpPr txBox="1">
            <a:spLocks/>
          </p:cNvSpPr>
          <p:nvPr/>
        </p:nvSpPr>
        <p:spPr>
          <a:xfrm>
            <a:off x="971326" y="489464"/>
            <a:ext cx="7332663" cy="7207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Slow Start </a:t>
            </a:r>
            <a:endParaRPr lang="ko-KR" altLang="en-US" sz="3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0653795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A22EA7-80FE-42C8-BCF2-09639A4FECEC}" type="slidenum">
              <a:rPr lang="ko-KR" altLang="en-US" smtClean="0"/>
              <a:t>49</a:t>
            </a:fld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4294967295"/>
          </p:nvPr>
        </p:nvSpPr>
        <p:spPr>
          <a:xfrm>
            <a:off x="1401763" y="1797050"/>
            <a:ext cx="10790237" cy="4733925"/>
          </a:xfrm>
        </p:spPr>
        <p:txBody>
          <a:bodyPr>
            <a:normAutofit fontScale="85000" lnSpcReduction="10000"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000" b="1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❶ </a:t>
            </a:r>
            <a:r>
              <a:rPr lang="ko-KR" altLang="en-US" sz="2000" b="1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재전송 타이머를 보고 판단</a:t>
            </a:r>
            <a:endParaRPr lang="en-US" altLang="ko-KR" sz="2000" b="1" dirty="0">
              <a:latin typeface="함초롬바탕" panose="02030504000101010101" pitchFamily="18" charset="-127"/>
              <a:ea typeface="함초롬바탕" panose="02030504000101010101" pitchFamily="18" charset="-127"/>
              <a:cs typeface="함초롬바탕" panose="02030504000101010101" pitchFamily="18" charset="-127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19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    - </a:t>
            </a:r>
            <a:r>
              <a:rPr lang="ko-KR" altLang="en-US" sz="190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재전송 타이머 내에 </a:t>
            </a:r>
            <a:r>
              <a:rPr lang="en-US" altLang="ko-KR" sz="19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ACK</a:t>
            </a:r>
            <a:r>
              <a:rPr lang="ko-KR" altLang="en-US" sz="190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를 받지 못한 경우</a:t>
            </a:r>
            <a:r>
              <a:rPr lang="ko-KR" altLang="en-US" sz="190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 </a:t>
            </a:r>
            <a:r>
              <a:rPr lang="en-US" altLang="ko-KR" sz="19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CWND</a:t>
            </a:r>
            <a:r>
              <a:rPr lang="ko-KR" altLang="en-US" sz="190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는 </a:t>
            </a:r>
            <a:r>
              <a:rPr lang="en-US" altLang="ko-KR" sz="19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1</a:t>
            </a:r>
            <a:r>
              <a:rPr lang="ko-KR" altLang="en-US" sz="190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에서 다시 시작</a:t>
            </a:r>
            <a:endParaRPr lang="en-US" altLang="ko-KR" sz="1900" dirty="0">
              <a:latin typeface="함초롬바탕" panose="02030504000101010101" pitchFamily="18" charset="-127"/>
              <a:ea typeface="함초롬바탕" panose="02030504000101010101" pitchFamily="18" charset="-127"/>
              <a:cs typeface="함초롬바탕" panose="02030504000101010101" pitchFamily="18" charset="-127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19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    - </a:t>
            </a:r>
            <a:r>
              <a:rPr lang="en-US" altLang="ko-KR" sz="1900" dirty="0" err="1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sshthresh</a:t>
            </a:r>
            <a:r>
              <a:rPr lang="en-US" altLang="ko-KR" sz="19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 </a:t>
            </a:r>
            <a:r>
              <a:rPr lang="ko-KR" altLang="en-US" sz="190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값은 전송실패</a:t>
            </a:r>
            <a:r>
              <a:rPr lang="en-US" altLang="ko-KR" sz="19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(</a:t>
            </a:r>
            <a:r>
              <a:rPr lang="ko-KR" altLang="en-US" sz="190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재전송 발생</a:t>
            </a:r>
            <a:r>
              <a:rPr lang="en-US" altLang="ko-KR" sz="19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) </a:t>
            </a:r>
            <a:r>
              <a:rPr lang="ko-KR" altLang="en-US" sz="190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전의 반 </a:t>
            </a:r>
            <a:r>
              <a:rPr lang="en-US" altLang="ko-KR" sz="19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(</a:t>
            </a:r>
            <a:r>
              <a:rPr lang="en-US" altLang="ko-KR" sz="1900" dirty="0" err="1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sshthresh</a:t>
            </a:r>
            <a:r>
              <a:rPr lang="en-US" altLang="ko-KR" sz="19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=CWND/2</a:t>
            </a:r>
            <a:r>
              <a:rPr lang="en-US" altLang="ko-KR" sz="19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)</a:t>
            </a:r>
            <a:r>
              <a:rPr lang="ko-KR" altLang="en-US" sz="190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 </a:t>
            </a:r>
            <a:endParaRPr lang="en-US" altLang="ko-KR" sz="1900" dirty="0">
              <a:latin typeface="함초롬바탕" panose="02030504000101010101" pitchFamily="18" charset="-127"/>
              <a:ea typeface="함초롬바탕" panose="02030504000101010101" pitchFamily="18" charset="-127"/>
              <a:cs typeface="함초롬바탕" panose="02030504000101010101" pitchFamily="18" charset="-127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19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    - </a:t>
            </a:r>
            <a:r>
              <a:rPr lang="en-US" altLang="ko-KR" sz="1900" dirty="0" err="1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sshthresh</a:t>
            </a:r>
            <a:r>
              <a:rPr lang="ko-KR" altLang="en-US" sz="190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가</a:t>
            </a:r>
            <a:r>
              <a:rPr lang="en-US" altLang="ko-KR" sz="19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 </a:t>
            </a:r>
            <a:r>
              <a:rPr lang="ko-KR" altLang="en-US" sz="190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될 때까지 </a:t>
            </a:r>
            <a:r>
              <a:rPr lang="en-US" altLang="ko-KR" sz="19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2</a:t>
            </a:r>
            <a:r>
              <a:rPr lang="ko-KR" altLang="en-US" sz="190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배식 증가</a:t>
            </a:r>
            <a:r>
              <a:rPr lang="en-US" altLang="ko-KR" sz="19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,</a:t>
            </a:r>
            <a:r>
              <a:rPr lang="en-US" altLang="ko-KR" sz="19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 congestion </a:t>
            </a:r>
            <a:r>
              <a:rPr lang="ko-KR" altLang="en-US" sz="190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이후부터는 </a:t>
            </a:r>
            <a:r>
              <a:rPr lang="en-US" altLang="ko-KR" sz="19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1</a:t>
            </a:r>
            <a:r>
              <a:rPr lang="ko-KR" altLang="en-US" sz="190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씩 증가 </a:t>
            </a:r>
            <a:endParaRPr lang="en-US" altLang="ko-KR" sz="1900" dirty="0">
              <a:latin typeface="함초롬바탕" panose="02030504000101010101" pitchFamily="18" charset="-127"/>
              <a:ea typeface="함초롬바탕" panose="02030504000101010101" pitchFamily="18" charset="-127"/>
              <a:cs typeface="함초롬바탕" panose="02030504000101010101" pitchFamily="18" charset="-127"/>
            </a:endParaRPr>
          </a:p>
          <a:p>
            <a:pPr marL="0" indent="0">
              <a:lnSpc>
                <a:spcPct val="150000"/>
              </a:lnSpc>
              <a:buNone/>
            </a:pPr>
            <a:endParaRPr lang="en-US" altLang="ko-KR" sz="1900" dirty="0">
              <a:latin typeface="함초롬바탕" panose="02030504000101010101" pitchFamily="18" charset="-127"/>
              <a:ea typeface="함초롬바탕" panose="02030504000101010101" pitchFamily="18" charset="-127"/>
              <a:cs typeface="함초롬바탕" panose="02030504000101010101" pitchFamily="18" charset="-127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000" b="1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❷ </a:t>
            </a:r>
            <a:r>
              <a:rPr lang="en-US" altLang="ko-KR" sz="2000" b="1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3</a:t>
            </a:r>
            <a:r>
              <a:rPr lang="ko-KR" altLang="en-US" sz="2000" b="1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개의 동일한 </a:t>
            </a:r>
            <a:r>
              <a:rPr lang="en-US" altLang="ko-KR" sz="2000" b="1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ACK</a:t>
            </a:r>
            <a:r>
              <a:rPr lang="ko-KR" altLang="en-US" sz="2000" b="1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가 연속적으로 들어오는 것을 보고 판단</a:t>
            </a:r>
            <a:endParaRPr lang="en-US" altLang="ko-KR" sz="2000" b="1" dirty="0">
              <a:latin typeface="함초롬바탕" panose="02030504000101010101" pitchFamily="18" charset="-127"/>
              <a:ea typeface="함초롬바탕" panose="02030504000101010101" pitchFamily="18" charset="-127"/>
              <a:cs typeface="함초롬바탕" panose="02030504000101010101" pitchFamily="18" charset="-127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000" b="1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     * </a:t>
            </a:r>
            <a:r>
              <a:rPr lang="ko-KR" altLang="en-US" sz="200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한 패킷의 유실은 </a:t>
            </a:r>
            <a:r>
              <a:rPr lang="en-US" altLang="ko-KR" sz="20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congestion</a:t>
            </a:r>
            <a:r>
              <a:rPr lang="ko-KR" altLang="en-US" sz="200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이 심각하지 않음 문제로 판단 </a:t>
            </a:r>
            <a:endParaRPr lang="en-US" altLang="ko-KR" sz="2000" dirty="0">
              <a:latin typeface="함초롬바탕" panose="02030504000101010101" pitchFamily="18" charset="-127"/>
              <a:ea typeface="함초롬바탕" panose="02030504000101010101" pitchFamily="18" charset="-127"/>
              <a:cs typeface="함초롬바탕" panose="02030504000101010101" pitchFamily="18" charset="-127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000" b="1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    </a:t>
            </a:r>
            <a:r>
              <a:rPr lang="en-US" altLang="ko-KR" sz="20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- </a:t>
            </a:r>
            <a:r>
              <a:rPr lang="ko-KR" altLang="en-US" sz="200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빠른 복귀</a:t>
            </a:r>
            <a:r>
              <a:rPr lang="en-US" altLang="ko-KR" sz="20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(</a:t>
            </a:r>
            <a:r>
              <a:rPr lang="en-US" altLang="ko-KR" sz="20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fast recovery</a:t>
            </a:r>
            <a:r>
              <a:rPr lang="en-US" altLang="ko-KR" sz="20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)</a:t>
            </a:r>
            <a:r>
              <a:rPr lang="ko-KR" altLang="en-US" sz="200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 </a:t>
            </a:r>
            <a:r>
              <a:rPr lang="en-US" altLang="ko-KR" sz="20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: CWND</a:t>
            </a:r>
            <a:r>
              <a:rPr lang="ko-KR" altLang="en-US" sz="200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의 크기를 </a:t>
            </a:r>
            <a:r>
              <a:rPr lang="en-US" altLang="ko-KR" sz="20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1</a:t>
            </a:r>
            <a:r>
              <a:rPr lang="ko-KR" altLang="en-US" sz="200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로 줄이지 않고 반</a:t>
            </a:r>
            <a:r>
              <a:rPr lang="en-US" altLang="ko-KR" sz="20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(0.5)</a:t>
            </a:r>
            <a:r>
              <a:rPr lang="ko-KR" altLang="en-US" sz="200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으로 줄임</a:t>
            </a:r>
            <a:endParaRPr lang="en-US" altLang="ko-KR" sz="2000" dirty="0">
              <a:latin typeface="함초롬바탕" panose="02030504000101010101" pitchFamily="18" charset="-127"/>
              <a:ea typeface="함초롬바탕" panose="02030504000101010101" pitchFamily="18" charset="-127"/>
              <a:cs typeface="함초롬바탕" panose="02030504000101010101" pitchFamily="18" charset="-127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0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    - </a:t>
            </a:r>
            <a:r>
              <a:rPr lang="ko-KR" altLang="en-US" sz="200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빠른</a:t>
            </a:r>
            <a:r>
              <a:rPr lang="en-US" altLang="ko-KR" sz="20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 </a:t>
            </a:r>
            <a:r>
              <a:rPr lang="ko-KR" altLang="en-US" sz="200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재전송</a:t>
            </a:r>
            <a:r>
              <a:rPr lang="en-US" altLang="ko-KR" sz="20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(</a:t>
            </a:r>
            <a:r>
              <a:rPr lang="en-US" altLang="ko-KR" sz="2000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fast retransmission</a:t>
            </a:r>
            <a:r>
              <a:rPr lang="en-US" altLang="ko-KR" sz="20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) : 3</a:t>
            </a:r>
            <a:r>
              <a:rPr lang="ko-KR" altLang="en-US" sz="200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개의 동일한 </a:t>
            </a:r>
            <a:r>
              <a:rPr lang="en-US" altLang="ko-KR" sz="20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ACK</a:t>
            </a:r>
            <a:r>
              <a:rPr lang="ko-KR" altLang="en-US" sz="200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를 받은 경우 타임아웃만큼 기다리지 않고 즉시 재전송</a:t>
            </a:r>
            <a:endParaRPr lang="en-US" altLang="ko-KR" sz="2000" dirty="0">
              <a:latin typeface="함초롬바탕" panose="02030504000101010101" pitchFamily="18" charset="-127"/>
              <a:ea typeface="함초롬바탕" panose="02030504000101010101" pitchFamily="18" charset="-127"/>
              <a:cs typeface="함초롬바탕" panose="02030504000101010101" pitchFamily="18" charset="-127"/>
            </a:endParaRPr>
          </a:p>
        </p:txBody>
      </p:sp>
      <p:sp>
        <p:nvSpPr>
          <p:cNvPr id="5" name="제목 1"/>
          <p:cNvSpPr txBox="1">
            <a:spLocks/>
          </p:cNvSpPr>
          <p:nvPr/>
        </p:nvSpPr>
        <p:spPr>
          <a:xfrm>
            <a:off x="1085850" y="1077008"/>
            <a:ext cx="7332663" cy="7207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&lt;&lt; Congestion </a:t>
            </a:r>
            <a:r>
              <a:rPr lang="ko-KR" altLang="en-US" sz="220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확인 방법 </a:t>
            </a:r>
            <a:r>
              <a:rPr lang="en-US" altLang="ko-KR" sz="22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2</a:t>
            </a:r>
            <a:r>
              <a:rPr lang="ko-KR" altLang="en-US" sz="220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가지  </a:t>
            </a:r>
            <a:r>
              <a:rPr lang="en-US" altLang="ko-KR" sz="22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&gt;&gt;</a:t>
            </a:r>
            <a:endParaRPr lang="ko-KR" altLang="en-US" sz="2200">
              <a:latin typeface="함초롬바탕" panose="02030604000101010101" pitchFamily="18" charset="-127"/>
              <a:ea typeface="함초롬바탕" panose="02030604000101010101" pitchFamily="18" charset="-127"/>
              <a:cs typeface="함초롬바탕" panose="02030604000101010101" pitchFamily="18" charset="-127"/>
            </a:endParaRPr>
          </a:p>
        </p:txBody>
      </p:sp>
      <p:sp>
        <p:nvSpPr>
          <p:cNvPr id="6" name="제목 1"/>
          <p:cNvSpPr txBox="1">
            <a:spLocks/>
          </p:cNvSpPr>
          <p:nvPr/>
        </p:nvSpPr>
        <p:spPr>
          <a:xfrm>
            <a:off x="971326" y="356283"/>
            <a:ext cx="7332663" cy="7207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Slow Start </a:t>
            </a:r>
            <a:endParaRPr lang="ko-KR" altLang="en-US" sz="3600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3697632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>
          <a:xfrm>
            <a:off x="9169005" y="6379645"/>
            <a:ext cx="2743200" cy="365125"/>
          </a:xfrm>
        </p:spPr>
        <p:txBody>
          <a:bodyPr/>
          <a:lstStyle/>
          <a:p>
            <a:fld id="{B1F5DBBF-35D1-4D56-BF8F-CD0D3754FCBA}" type="slidenum">
              <a:rPr lang="ko-KR" altLang="en-US" smtClean="0"/>
              <a:pPr/>
              <a:t>50</a:t>
            </a:fld>
            <a:endParaRPr lang="en-US" altLang="ko-KR"/>
          </a:p>
        </p:txBody>
      </p:sp>
      <p:sp>
        <p:nvSpPr>
          <p:cNvPr id="3" name="직사각형 2"/>
          <p:cNvSpPr/>
          <p:nvPr/>
        </p:nvSpPr>
        <p:spPr>
          <a:xfrm>
            <a:off x="6169347" y="1816141"/>
            <a:ext cx="280221" cy="452146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자유형 6"/>
          <p:cNvSpPr/>
          <p:nvPr/>
        </p:nvSpPr>
        <p:spPr>
          <a:xfrm>
            <a:off x="1497837" y="1214950"/>
            <a:ext cx="9856255" cy="5168036"/>
          </a:xfrm>
          <a:custGeom>
            <a:avLst/>
            <a:gdLst>
              <a:gd name="connsiteX0" fmla="*/ 0 w 4365522"/>
              <a:gd name="connsiteY0" fmla="*/ 0 h 4336025"/>
              <a:gd name="connsiteX1" fmla="*/ 0 w 4365522"/>
              <a:gd name="connsiteY1" fmla="*/ 4336025 h 4336025"/>
              <a:gd name="connsiteX2" fmla="*/ 4365522 w 4365522"/>
              <a:gd name="connsiteY2" fmla="*/ 4321277 h 4336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365522" h="4336025">
                <a:moveTo>
                  <a:pt x="0" y="0"/>
                </a:moveTo>
                <a:lnTo>
                  <a:pt x="0" y="4336025"/>
                </a:lnTo>
                <a:lnTo>
                  <a:pt x="4365522" y="4321277"/>
                </a:lnTo>
              </a:path>
            </a:pathLst>
          </a:custGeom>
          <a:noFill/>
          <a:ln w="2540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자유형 24"/>
          <p:cNvSpPr/>
          <p:nvPr/>
        </p:nvSpPr>
        <p:spPr>
          <a:xfrm>
            <a:off x="1479360" y="1906079"/>
            <a:ext cx="4652321" cy="4469903"/>
          </a:xfrm>
          <a:custGeom>
            <a:avLst/>
            <a:gdLst>
              <a:gd name="connsiteX0" fmla="*/ 0 w 5265174"/>
              <a:gd name="connsiteY0" fmla="*/ 4911213 h 4911213"/>
              <a:gd name="connsiteX1" fmla="*/ 2477729 w 5265174"/>
              <a:gd name="connsiteY1" fmla="*/ 3937819 h 4911213"/>
              <a:gd name="connsiteX2" fmla="*/ 5265174 w 5265174"/>
              <a:gd name="connsiteY2" fmla="*/ 0 h 4911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265174" h="4911213">
                <a:moveTo>
                  <a:pt x="0" y="4911213"/>
                </a:moveTo>
                <a:cubicBezTo>
                  <a:pt x="800100" y="4833783"/>
                  <a:pt x="1600200" y="4756354"/>
                  <a:pt x="2477729" y="3937819"/>
                </a:cubicBezTo>
                <a:cubicBezTo>
                  <a:pt x="3355258" y="3119283"/>
                  <a:pt x="4310216" y="1559641"/>
                  <a:pt x="5265174" y="0"/>
                </a:cubicBezTo>
              </a:path>
            </a:pathLst>
          </a:custGeom>
          <a:noFill/>
          <a:ln w="444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TextBox 25"/>
          <p:cNvSpPr txBox="1"/>
          <p:nvPr/>
        </p:nvSpPr>
        <p:spPr>
          <a:xfrm>
            <a:off x="1508854" y="1280867"/>
            <a:ext cx="889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CWND</a:t>
            </a:r>
            <a:endParaRPr lang="ko-KR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" name="자유형 27"/>
          <p:cNvSpPr/>
          <p:nvPr/>
        </p:nvSpPr>
        <p:spPr>
          <a:xfrm>
            <a:off x="1475716" y="5653311"/>
            <a:ext cx="1979928" cy="693174"/>
          </a:xfrm>
          <a:custGeom>
            <a:avLst/>
            <a:gdLst>
              <a:gd name="connsiteX0" fmla="*/ 0 w 1725561"/>
              <a:gd name="connsiteY0" fmla="*/ 0 h 471948"/>
              <a:gd name="connsiteX1" fmla="*/ 1725561 w 1725561"/>
              <a:gd name="connsiteY1" fmla="*/ 0 h 471948"/>
              <a:gd name="connsiteX2" fmla="*/ 1725561 w 1725561"/>
              <a:gd name="connsiteY2" fmla="*/ 471948 h 4719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725561" h="471948">
                <a:moveTo>
                  <a:pt x="0" y="0"/>
                </a:moveTo>
                <a:lnTo>
                  <a:pt x="1725561" y="0"/>
                </a:lnTo>
                <a:lnTo>
                  <a:pt x="1725561" y="471948"/>
                </a:lnTo>
              </a:path>
            </a:pathLst>
          </a:custGeom>
          <a:noFill/>
          <a:ln w="635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자유형 28"/>
          <p:cNvSpPr/>
          <p:nvPr/>
        </p:nvSpPr>
        <p:spPr>
          <a:xfrm>
            <a:off x="1490464" y="5181363"/>
            <a:ext cx="2437128" cy="1179871"/>
          </a:xfrm>
          <a:custGeom>
            <a:avLst/>
            <a:gdLst>
              <a:gd name="connsiteX0" fmla="*/ 0 w 2477729"/>
              <a:gd name="connsiteY0" fmla="*/ 0 h 1179871"/>
              <a:gd name="connsiteX1" fmla="*/ 2477729 w 2477729"/>
              <a:gd name="connsiteY1" fmla="*/ 0 h 1179871"/>
              <a:gd name="connsiteX2" fmla="*/ 2462981 w 2477729"/>
              <a:gd name="connsiteY2" fmla="*/ 1179871 h 11798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477729" h="1179871">
                <a:moveTo>
                  <a:pt x="0" y="0"/>
                </a:moveTo>
                <a:lnTo>
                  <a:pt x="2477729" y="0"/>
                </a:lnTo>
                <a:lnTo>
                  <a:pt x="2462981" y="1179871"/>
                </a:lnTo>
              </a:path>
            </a:pathLst>
          </a:custGeom>
          <a:noFill/>
          <a:ln w="635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자유형 29"/>
          <p:cNvSpPr/>
          <p:nvPr/>
        </p:nvSpPr>
        <p:spPr>
          <a:xfrm>
            <a:off x="1468341" y="4443219"/>
            <a:ext cx="3034438" cy="1932763"/>
          </a:xfrm>
          <a:custGeom>
            <a:avLst/>
            <a:gdLst>
              <a:gd name="connsiteX0" fmla="*/ 0 w 2477729"/>
              <a:gd name="connsiteY0" fmla="*/ 0 h 1179871"/>
              <a:gd name="connsiteX1" fmla="*/ 2477729 w 2477729"/>
              <a:gd name="connsiteY1" fmla="*/ 0 h 1179871"/>
              <a:gd name="connsiteX2" fmla="*/ 2462981 w 2477729"/>
              <a:gd name="connsiteY2" fmla="*/ 1179871 h 11798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477729" h="1179871">
                <a:moveTo>
                  <a:pt x="0" y="0"/>
                </a:moveTo>
                <a:lnTo>
                  <a:pt x="2477729" y="0"/>
                </a:lnTo>
                <a:lnTo>
                  <a:pt x="2462981" y="1179871"/>
                </a:lnTo>
              </a:path>
            </a:pathLst>
          </a:custGeom>
          <a:noFill/>
          <a:ln w="635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자유형 30"/>
          <p:cNvSpPr/>
          <p:nvPr/>
        </p:nvSpPr>
        <p:spPr>
          <a:xfrm>
            <a:off x="1479360" y="3328784"/>
            <a:ext cx="3760839" cy="3047198"/>
          </a:xfrm>
          <a:custGeom>
            <a:avLst/>
            <a:gdLst>
              <a:gd name="connsiteX0" fmla="*/ 0 w 2477729"/>
              <a:gd name="connsiteY0" fmla="*/ 0 h 1179871"/>
              <a:gd name="connsiteX1" fmla="*/ 2477729 w 2477729"/>
              <a:gd name="connsiteY1" fmla="*/ 0 h 1179871"/>
              <a:gd name="connsiteX2" fmla="*/ 2462981 w 2477729"/>
              <a:gd name="connsiteY2" fmla="*/ 1179871 h 11798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477729" h="1179871">
                <a:moveTo>
                  <a:pt x="0" y="0"/>
                </a:moveTo>
                <a:lnTo>
                  <a:pt x="2477729" y="0"/>
                </a:lnTo>
                <a:lnTo>
                  <a:pt x="2462981" y="1179871"/>
                </a:lnTo>
              </a:path>
            </a:pathLst>
          </a:custGeom>
          <a:noFill/>
          <a:ln w="635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자유형 31"/>
          <p:cNvSpPr/>
          <p:nvPr/>
        </p:nvSpPr>
        <p:spPr>
          <a:xfrm>
            <a:off x="1508854" y="1868588"/>
            <a:ext cx="4660492" cy="4492646"/>
          </a:xfrm>
          <a:custGeom>
            <a:avLst/>
            <a:gdLst>
              <a:gd name="connsiteX0" fmla="*/ 0 w 2477729"/>
              <a:gd name="connsiteY0" fmla="*/ 0 h 1179871"/>
              <a:gd name="connsiteX1" fmla="*/ 2477729 w 2477729"/>
              <a:gd name="connsiteY1" fmla="*/ 0 h 1179871"/>
              <a:gd name="connsiteX2" fmla="*/ 2462981 w 2477729"/>
              <a:gd name="connsiteY2" fmla="*/ 1179871 h 11798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477729" h="1179871">
                <a:moveTo>
                  <a:pt x="0" y="0"/>
                </a:moveTo>
                <a:lnTo>
                  <a:pt x="2477729" y="0"/>
                </a:lnTo>
                <a:lnTo>
                  <a:pt x="2462981" y="1179871"/>
                </a:lnTo>
              </a:path>
            </a:pathLst>
          </a:custGeom>
          <a:noFill/>
          <a:ln w="635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타원 32"/>
          <p:cNvSpPr/>
          <p:nvPr/>
        </p:nvSpPr>
        <p:spPr>
          <a:xfrm>
            <a:off x="3393004" y="5623814"/>
            <a:ext cx="125279" cy="13294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타원 33"/>
          <p:cNvSpPr/>
          <p:nvPr/>
        </p:nvSpPr>
        <p:spPr>
          <a:xfrm>
            <a:off x="3879700" y="5114893"/>
            <a:ext cx="125279" cy="13294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타원 34"/>
          <p:cNvSpPr/>
          <p:nvPr/>
        </p:nvSpPr>
        <p:spPr>
          <a:xfrm>
            <a:off x="4440139" y="4376749"/>
            <a:ext cx="125279" cy="13294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타원 35"/>
          <p:cNvSpPr/>
          <p:nvPr/>
        </p:nvSpPr>
        <p:spPr>
          <a:xfrm>
            <a:off x="5188578" y="3275613"/>
            <a:ext cx="125279" cy="13294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TextBox 37"/>
          <p:cNvSpPr txBox="1"/>
          <p:nvPr/>
        </p:nvSpPr>
        <p:spPr>
          <a:xfrm>
            <a:off x="1170300" y="5468435"/>
            <a:ext cx="2872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ko-KR" altLang="en-US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1166655" y="4930227"/>
            <a:ext cx="2872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endParaRPr lang="ko-KR" altLang="en-US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1166655" y="4250661"/>
            <a:ext cx="2872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r>
            <a:endParaRPr lang="ko-KR" altLang="en-US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1090154" y="3090947"/>
            <a:ext cx="38985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16</a:t>
            </a:r>
            <a:endParaRPr lang="ko-KR" altLang="en-US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108146" y="1669174"/>
            <a:ext cx="38985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32</a:t>
            </a:r>
            <a:endParaRPr lang="ko-KR" altLang="en-US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2985560" y="6396335"/>
            <a:ext cx="6703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 err="1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첫번째</a:t>
            </a:r>
            <a:r>
              <a:rPr lang="ko-KR" alt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en-US" altLang="ko-KR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ko-KR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ACK</a:t>
            </a:r>
            <a:endParaRPr lang="ko-KR" alt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3620773" y="6382986"/>
            <a:ext cx="6703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두번째</a:t>
            </a:r>
            <a:r>
              <a:rPr lang="ko-KR" alt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en-US" altLang="ko-KR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ko-KR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ACK</a:t>
            </a:r>
            <a:endParaRPr lang="ko-KR" alt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4282756" y="6382986"/>
            <a:ext cx="6703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세번째</a:t>
            </a:r>
            <a:r>
              <a:rPr lang="ko-KR" alt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en-US" altLang="ko-KR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ko-KR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ACK</a:t>
            </a:r>
            <a:endParaRPr lang="ko-KR" alt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4960506" y="6368238"/>
            <a:ext cx="6703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네번째</a:t>
            </a:r>
            <a:r>
              <a:rPr lang="ko-KR" alt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en-US" altLang="ko-KR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ko-KR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ACK</a:t>
            </a:r>
            <a:endParaRPr lang="ko-KR" alt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5798312" y="6355996"/>
            <a:ext cx="81945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 err="1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다섯번째</a:t>
            </a:r>
            <a:r>
              <a:rPr lang="ko-KR" alt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en-US" altLang="ko-KR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ko-KR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ACK</a:t>
            </a:r>
            <a:endParaRPr lang="ko-KR" alt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4603432" y="1100610"/>
            <a:ext cx="4363530" cy="584775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ko-KR" altLang="en-US" sz="1600" dirty="0" err="1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다섯번째</a:t>
            </a:r>
            <a:r>
              <a:rPr lang="ko-KR" altLang="en-US" sz="16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 </a:t>
            </a:r>
            <a:r>
              <a:rPr lang="en-US" altLang="ko-KR" sz="1600" b="1" dirty="0">
                <a:solidFill>
                  <a:srgbClr val="FF0000"/>
                </a:solidFill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ACK</a:t>
            </a:r>
            <a:r>
              <a:rPr lang="ko-KR" altLang="en-US" sz="1600" b="1">
                <a:solidFill>
                  <a:srgbClr val="FF0000"/>
                </a:solidFill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를 재전송 타이머 내에 받지 못함</a:t>
            </a:r>
            <a:endParaRPr lang="en-US" altLang="ko-KR" sz="1600" b="1" dirty="0">
              <a:solidFill>
                <a:srgbClr val="FF0000"/>
              </a:solidFill>
              <a:latin typeface="함초롬바탕" panose="02030504000101010101" pitchFamily="18" charset="-127"/>
              <a:ea typeface="함초롬바탕" panose="02030504000101010101" pitchFamily="18" charset="-127"/>
              <a:cs typeface="함초롬바탕" panose="02030504000101010101" pitchFamily="18" charset="-127"/>
            </a:endParaRPr>
          </a:p>
          <a:p>
            <a:pPr algn="just"/>
            <a:r>
              <a:rPr lang="en-US" altLang="ko-KR" sz="16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-</a:t>
            </a:r>
            <a:r>
              <a:rPr lang="ko-KR" altLang="en-US" sz="160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다섯번째 데이터 전송이 실패한다는 의미 </a:t>
            </a:r>
            <a:endParaRPr lang="ko-KR" altLang="en-US" sz="1600" dirty="0">
              <a:latin typeface="함초롬바탕" panose="02030504000101010101" pitchFamily="18" charset="-127"/>
              <a:ea typeface="함초롬바탕" panose="02030504000101010101" pitchFamily="18" charset="-127"/>
              <a:cs typeface="함초롬바탕" panose="02030504000101010101" pitchFamily="18" charset="-127"/>
            </a:endParaRPr>
          </a:p>
        </p:txBody>
      </p:sp>
      <p:sp>
        <p:nvSpPr>
          <p:cNvPr id="52" name="자유형 51"/>
          <p:cNvSpPr/>
          <p:nvPr/>
        </p:nvSpPr>
        <p:spPr>
          <a:xfrm>
            <a:off x="6449568" y="3408553"/>
            <a:ext cx="2613398" cy="2932551"/>
          </a:xfrm>
          <a:custGeom>
            <a:avLst/>
            <a:gdLst>
              <a:gd name="connsiteX0" fmla="*/ 0 w 5265174"/>
              <a:gd name="connsiteY0" fmla="*/ 4911213 h 4911213"/>
              <a:gd name="connsiteX1" fmla="*/ 2477729 w 5265174"/>
              <a:gd name="connsiteY1" fmla="*/ 3937819 h 4911213"/>
              <a:gd name="connsiteX2" fmla="*/ 5265174 w 5265174"/>
              <a:gd name="connsiteY2" fmla="*/ 0 h 4911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265174" h="4911213">
                <a:moveTo>
                  <a:pt x="0" y="4911213"/>
                </a:moveTo>
                <a:cubicBezTo>
                  <a:pt x="800100" y="4833783"/>
                  <a:pt x="1600200" y="4756354"/>
                  <a:pt x="2477729" y="3937819"/>
                </a:cubicBezTo>
                <a:cubicBezTo>
                  <a:pt x="3355258" y="3119283"/>
                  <a:pt x="4310216" y="1559641"/>
                  <a:pt x="5265174" y="0"/>
                </a:cubicBezTo>
              </a:path>
            </a:pathLst>
          </a:custGeom>
          <a:noFill/>
          <a:ln w="444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자유형 52"/>
          <p:cNvSpPr/>
          <p:nvPr/>
        </p:nvSpPr>
        <p:spPr>
          <a:xfrm>
            <a:off x="6476805" y="3375297"/>
            <a:ext cx="2593535" cy="2954172"/>
          </a:xfrm>
          <a:custGeom>
            <a:avLst/>
            <a:gdLst>
              <a:gd name="connsiteX0" fmla="*/ 0 w 2477729"/>
              <a:gd name="connsiteY0" fmla="*/ 0 h 1179871"/>
              <a:gd name="connsiteX1" fmla="*/ 2477729 w 2477729"/>
              <a:gd name="connsiteY1" fmla="*/ 0 h 1179871"/>
              <a:gd name="connsiteX2" fmla="*/ 2462981 w 2477729"/>
              <a:gd name="connsiteY2" fmla="*/ 1179871 h 11798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477729" h="1179871">
                <a:moveTo>
                  <a:pt x="0" y="0"/>
                </a:moveTo>
                <a:lnTo>
                  <a:pt x="2477729" y="0"/>
                </a:lnTo>
                <a:lnTo>
                  <a:pt x="2462981" y="1179871"/>
                </a:lnTo>
              </a:path>
            </a:pathLst>
          </a:custGeom>
          <a:noFill/>
          <a:ln w="635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" name="직선 화살표 연결선 9"/>
          <p:cNvCxnSpPr/>
          <p:nvPr/>
        </p:nvCxnSpPr>
        <p:spPr>
          <a:xfrm>
            <a:off x="6208039" y="1650199"/>
            <a:ext cx="101418" cy="3575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/>
          <p:cNvCxnSpPr>
            <a:stCxn id="52" idx="2"/>
          </p:cNvCxnSpPr>
          <p:nvPr/>
        </p:nvCxnSpPr>
        <p:spPr>
          <a:xfrm flipV="1">
            <a:off x="9062966" y="2790702"/>
            <a:ext cx="2291126" cy="617851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8280849" y="2958361"/>
            <a:ext cx="9284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ssthresh</a:t>
            </a:r>
            <a:endParaRPr lang="ko-KR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5" name="타원 54"/>
          <p:cNvSpPr/>
          <p:nvPr/>
        </p:nvSpPr>
        <p:spPr>
          <a:xfrm>
            <a:off x="8966962" y="3347901"/>
            <a:ext cx="183851" cy="174992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타원 56"/>
          <p:cNvSpPr/>
          <p:nvPr/>
        </p:nvSpPr>
        <p:spPr>
          <a:xfrm>
            <a:off x="5169057" y="3245267"/>
            <a:ext cx="183851" cy="174992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8" name="타원 57"/>
          <p:cNvSpPr/>
          <p:nvPr/>
        </p:nvSpPr>
        <p:spPr>
          <a:xfrm>
            <a:off x="4417470" y="4355723"/>
            <a:ext cx="183851" cy="174992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9" name="타원 58"/>
          <p:cNvSpPr/>
          <p:nvPr/>
        </p:nvSpPr>
        <p:spPr>
          <a:xfrm>
            <a:off x="3830979" y="5093789"/>
            <a:ext cx="183851" cy="174992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타원 59"/>
          <p:cNvSpPr/>
          <p:nvPr/>
        </p:nvSpPr>
        <p:spPr>
          <a:xfrm>
            <a:off x="3359779" y="5596306"/>
            <a:ext cx="183851" cy="174992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TextBox 60"/>
          <p:cNvSpPr txBox="1"/>
          <p:nvPr/>
        </p:nvSpPr>
        <p:spPr>
          <a:xfrm>
            <a:off x="7444254" y="5115264"/>
            <a:ext cx="1112340" cy="307777"/>
          </a:xfrm>
          <a:prstGeom prst="rect">
            <a:avLst/>
          </a:prstGeom>
          <a:solidFill>
            <a:srgbClr val="FFC000"/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b="1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2</a:t>
            </a:r>
            <a:r>
              <a:rPr lang="ko-KR" altLang="en-US" sz="1400" b="1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배씩 증가</a:t>
            </a:r>
            <a:endParaRPr lang="ko-KR" altLang="en-US" sz="1400" b="1" dirty="0">
              <a:latin typeface="함초롬바탕" panose="02030504000101010101" pitchFamily="18" charset="-127"/>
              <a:ea typeface="함초롬바탕" panose="02030504000101010101" pitchFamily="18" charset="-127"/>
              <a:cs typeface="함초롬바탕" panose="02030504000101010101" pitchFamily="18" charset="-127"/>
            </a:endParaRPr>
          </a:p>
        </p:txBody>
      </p:sp>
      <p:sp>
        <p:nvSpPr>
          <p:cNvPr id="62" name="TextBox 61"/>
          <p:cNvSpPr txBox="1"/>
          <p:nvPr/>
        </p:nvSpPr>
        <p:spPr>
          <a:xfrm>
            <a:off x="9841824" y="5093789"/>
            <a:ext cx="961208" cy="307777"/>
          </a:xfrm>
          <a:prstGeom prst="rect">
            <a:avLst/>
          </a:prstGeom>
          <a:solidFill>
            <a:srgbClr val="FFC000"/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b="1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1</a:t>
            </a:r>
            <a:r>
              <a:rPr lang="ko-KR" altLang="en-US" sz="1400" b="1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씩 증가</a:t>
            </a:r>
            <a:endParaRPr lang="ko-KR" altLang="en-US" sz="1400" b="1" dirty="0">
              <a:latin typeface="함초롬바탕" panose="02030504000101010101" pitchFamily="18" charset="-127"/>
              <a:ea typeface="함초롬바탕" panose="02030504000101010101" pitchFamily="18" charset="-127"/>
              <a:cs typeface="함초롬바탕" panose="02030504000101010101" pitchFamily="18" charset="-127"/>
            </a:endParaRPr>
          </a:p>
        </p:txBody>
      </p:sp>
      <p:sp>
        <p:nvSpPr>
          <p:cNvPr id="48" name="제목 1"/>
          <p:cNvSpPr txBox="1">
            <a:spLocks/>
          </p:cNvSpPr>
          <p:nvPr/>
        </p:nvSpPr>
        <p:spPr>
          <a:xfrm>
            <a:off x="1090154" y="300811"/>
            <a:ext cx="7332663" cy="7207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ko-KR" altLang="en-US" sz="3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911230" y="194164"/>
            <a:ext cx="4153701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400" b="1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❶ </a:t>
            </a:r>
            <a:r>
              <a:rPr lang="ko-KR" altLang="en-US" sz="2400" b="1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재전송 타이머를 보고 판단</a:t>
            </a:r>
            <a:endParaRPr lang="en-US" altLang="ko-KR" sz="2400" b="1" dirty="0">
              <a:latin typeface="함초롬바탕" panose="02030504000101010101" pitchFamily="18" charset="-127"/>
              <a:ea typeface="함초롬바탕" panose="02030504000101010101" pitchFamily="18" charset="-127"/>
              <a:cs typeface="함초롬바탕" panose="02030504000101010101" pitchFamily="18" charset="-127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1181082" y="6110331"/>
            <a:ext cx="2872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ko-KR" altLang="en-US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2789166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>
          <a:xfrm>
            <a:off x="9125322" y="6356349"/>
            <a:ext cx="2743200" cy="365125"/>
          </a:xfrm>
        </p:spPr>
        <p:txBody>
          <a:bodyPr/>
          <a:lstStyle/>
          <a:p>
            <a:fld id="{F100E85C-9068-46D2-A14A-A9DCCDE0C986}" type="slidenum">
              <a:rPr lang="ko-KR" altLang="en-US" smtClean="0"/>
              <a:t>51</a:t>
            </a:fld>
            <a:endParaRPr lang="ko-KR" altLang="en-US"/>
          </a:p>
        </p:txBody>
      </p:sp>
      <p:cxnSp>
        <p:nvCxnSpPr>
          <p:cNvPr id="4" name="직선 연결선 3"/>
          <p:cNvCxnSpPr/>
          <p:nvPr/>
        </p:nvCxnSpPr>
        <p:spPr>
          <a:xfrm flipH="1">
            <a:off x="3934079" y="527050"/>
            <a:ext cx="9271" cy="6026150"/>
          </a:xfrm>
          <a:prstGeom prst="line">
            <a:avLst/>
          </a:prstGeom>
          <a:ln w="571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직선 연결선 5"/>
          <p:cNvCxnSpPr/>
          <p:nvPr/>
        </p:nvCxnSpPr>
        <p:spPr>
          <a:xfrm>
            <a:off x="8286750" y="527049"/>
            <a:ext cx="5389" cy="6026151"/>
          </a:xfrm>
          <a:prstGeom prst="line">
            <a:avLst/>
          </a:prstGeom>
          <a:ln w="571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3490730" y="67697"/>
            <a:ext cx="84779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Times New Roman" panose="02020603050405020304" pitchFamily="18" charset="0"/>
                <a:ea typeface="함초롬바탕" panose="02030604000101010101" pitchFamily="18" charset="-127"/>
                <a:cs typeface="Times New Roman" panose="02020603050405020304" pitchFamily="18" charset="0"/>
              </a:rPr>
              <a:t>Sender</a:t>
            </a:r>
            <a:r>
              <a:rPr lang="ko-KR" altLang="en-US" sz="1600" b="1">
                <a:latin typeface="Times New Roman" panose="02020603050405020304" pitchFamily="18" charset="0"/>
                <a:ea typeface="함초롬바탕" panose="02030604000101010101" pitchFamily="18" charset="-127"/>
                <a:cs typeface="Times New Roman" panose="02020603050405020304" pitchFamily="18" charset="0"/>
              </a:rPr>
              <a:t> </a:t>
            </a:r>
            <a:endParaRPr lang="ko-KR" altLang="en-US" sz="1600" b="1" dirty="0">
              <a:latin typeface="Times New Roman" panose="02020603050405020304" pitchFamily="18" charset="0"/>
              <a:ea typeface="함초롬바탕" panose="02030604000101010101" pitchFamily="18" charset="-127"/>
              <a:cs typeface="Times New Roman" panose="02020603050405020304" pitchFamily="18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7706302" y="85725"/>
            <a:ext cx="99687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Times New Roman" panose="02020603050405020304" pitchFamily="18" charset="0"/>
                <a:ea typeface="함초롬바탕" panose="02030604000101010101" pitchFamily="18" charset="-127"/>
                <a:cs typeface="Times New Roman" panose="02020603050405020304" pitchFamily="18" charset="0"/>
              </a:rPr>
              <a:t>Receiver</a:t>
            </a:r>
            <a:r>
              <a:rPr lang="ko-KR" altLang="en-US" sz="1600" b="1">
                <a:latin typeface="Times New Roman" panose="02020603050405020304" pitchFamily="18" charset="0"/>
                <a:ea typeface="함초롬바탕" panose="02030604000101010101" pitchFamily="18" charset="-127"/>
                <a:cs typeface="Times New Roman" panose="02020603050405020304" pitchFamily="18" charset="0"/>
              </a:rPr>
              <a:t> </a:t>
            </a:r>
            <a:endParaRPr lang="ko-KR" altLang="en-US" sz="1600" b="1" dirty="0">
              <a:latin typeface="Times New Roman" panose="02020603050405020304" pitchFamily="18" charset="0"/>
              <a:ea typeface="함초롬바탕" panose="02030604000101010101" pitchFamily="18" charset="-127"/>
              <a:cs typeface="Times New Roman" panose="02020603050405020304" pitchFamily="18" charset="0"/>
            </a:endParaRPr>
          </a:p>
        </p:txBody>
      </p:sp>
      <p:cxnSp>
        <p:nvCxnSpPr>
          <p:cNvPr id="11" name="직선 화살표 연결선 10"/>
          <p:cNvCxnSpPr/>
          <p:nvPr/>
        </p:nvCxnSpPr>
        <p:spPr>
          <a:xfrm>
            <a:off x="3952875" y="727591"/>
            <a:ext cx="4329065" cy="2476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3353032" y="550762"/>
            <a:ext cx="60465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SN=1</a:t>
            </a:r>
            <a:endParaRPr lang="ko-KR" altLang="en-US" sz="1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4" name="직선 화살표 연결선 13"/>
          <p:cNvCxnSpPr/>
          <p:nvPr/>
        </p:nvCxnSpPr>
        <p:spPr>
          <a:xfrm flipH="1">
            <a:off x="3952875" y="1066800"/>
            <a:ext cx="4329065" cy="333375"/>
          </a:xfrm>
          <a:prstGeom prst="straightConnector1">
            <a:avLst/>
          </a:prstGeom>
          <a:ln w="12700">
            <a:solidFill>
              <a:srgbClr val="FF000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361972" y="851416"/>
            <a:ext cx="63511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AN=2</a:t>
            </a:r>
            <a:endParaRPr lang="ko-KR" altLang="en-US" sz="1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6" name="직선 화살표 연결선 15"/>
          <p:cNvCxnSpPr/>
          <p:nvPr/>
        </p:nvCxnSpPr>
        <p:spPr>
          <a:xfrm>
            <a:off x="3952874" y="1583659"/>
            <a:ext cx="4329065" cy="2476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직선 화살표 연결선 16"/>
          <p:cNvCxnSpPr/>
          <p:nvPr/>
        </p:nvCxnSpPr>
        <p:spPr>
          <a:xfrm>
            <a:off x="3952874" y="1837124"/>
            <a:ext cx="4329065" cy="2476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3371849" y="1426347"/>
            <a:ext cx="60465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SN=2</a:t>
            </a:r>
            <a:endParaRPr lang="ko-KR" altLang="en-US" sz="1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3362325" y="1692652"/>
            <a:ext cx="60465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SN=3</a:t>
            </a:r>
            <a:endParaRPr lang="ko-KR" altLang="en-US" sz="1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8328007" y="2055766"/>
            <a:ext cx="63511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AN=4</a:t>
            </a:r>
            <a:endParaRPr lang="ko-KR" altLang="en-US" sz="1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1" name="직선 화살표 연결선 20"/>
          <p:cNvCxnSpPr/>
          <p:nvPr/>
        </p:nvCxnSpPr>
        <p:spPr>
          <a:xfrm flipH="1">
            <a:off x="3942770" y="2285420"/>
            <a:ext cx="4297912" cy="139678"/>
          </a:xfrm>
          <a:prstGeom prst="straightConnector1">
            <a:avLst/>
          </a:prstGeom>
          <a:ln w="12700">
            <a:solidFill>
              <a:srgbClr val="FF000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화살표 연결선 21"/>
          <p:cNvCxnSpPr/>
          <p:nvPr/>
        </p:nvCxnSpPr>
        <p:spPr>
          <a:xfrm>
            <a:off x="3952874" y="2642264"/>
            <a:ext cx="4329065" cy="2476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화살표 연결선 22"/>
          <p:cNvCxnSpPr/>
          <p:nvPr/>
        </p:nvCxnSpPr>
        <p:spPr>
          <a:xfrm>
            <a:off x="3963074" y="2842695"/>
            <a:ext cx="4329065" cy="2476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화살표 연결선 23"/>
          <p:cNvCxnSpPr/>
          <p:nvPr/>
        </p:nvCxnSpPr>
        <p:spPr>
          <a:xfrm>
            <a:off x="3942770" y="3063359"/>
            <a:ext cx="4329065" cy="2476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화살표 연결선 24"/>
          <p:cNvCxnSpPr/>
          <p:nvPr/>
        </p:nvCxnSpPr>
        <p:spPr>
          <a:xfrm>
            <a:off x="3952297" y="3258487"/>
            <a:ext cx="4329065" cy="2476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3323827" y="2449511"/>
            <a:ext cx="60465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SN=4</a:t>
            </a:r>
            <a:endParaRPr lang="ko-KR" altLang="en-US" sz="1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3339529" y="2680653"/>
            <a:ext cx="60465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SN=5</a:t>
            </a:r>
            <a:endParaRPr lang="ko-KR" altLang="en-US" sz="1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3331678" y="2919477"/>
            <a:ext cx="60465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SN=6</a:t>
            </a:r>
            <a:endParaRPr lang="ko-KR" altLang="en-US" sz="1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3323827" y="3149405"/>
            <a:ext cx="60465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SN=7</a:t>
            </a:r>
            <a:endParaRPr lang="ko-KR" altLang="en-US" sz="1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8361971" y="3502967"/>
            <a:ext cx="63511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AN=8</a:t>
            </a:r>
            <a:endParaRPr lang="ko-KR" altLang="en-US" sz="1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1" name="직선 화살표 연결선 30"/>
          <p:cNvCxnSpPr/>
          <p:nvPr/>
        </p:nvCxnSpPr>
        <p:spPr>
          <a:xfrm flipH="1">
            <a:off x="3962975" y="3715821"/>
            <a:ext cx="4293285" cy="131839"/>
          </a:xfrm>
          <a:prstGeom prst="straightConnector1">
            <a:avLst/>
          </a:prstGeom>
          <a:ln w="12700">
            <a:solidFill>
              <a:srgbClr val="FF000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2133406" y="553773"/>
            <a:ext cx="11352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CWND=1</a:t>
            </a:r>
            <a:endParaRPr lang="ko-KR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2074633" y="1591796"/>
            <a:ext cx="11352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CWND=2</a:t>
            </a:r>
            <a:endParaRPr lang="ko-KR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2088670" y="2764207"/>
            <a:ext cx="11352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CWND=4</a:t>
            </a:r>
            <a:endParaRPr lang="ko-KR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7" name="직선 화살표 연결선 36"/>
          <p:cNvCxnSpPr/>
          <p:nvPr/>
        </p:nvCxnSpPr>
        <p:spPr>
          <a:xfrm>
            <a:off x="3963074" y="4040715"/>
            <a:ext cx="4329065" cy="2476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화살표 연결선 37"/>
          <p:cNvCxnSpPr/>
          <p:nvPr/>
        </p:nvCxnSpPr>
        <p:spPr>
          <a:xfrm>
            <a:off x="3963074" y="4290194"/>
            <a:ext cx="4329065" cy="2476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직선 화살표 연결선 38"/>
          <p:cNvCxnSpPr/>
          <p:nvPr/>
        </p:nvCxnSpPr>
        <p:spPr>
          <a:xfrm>
            <a:off x="3957041" y="4521201"/>
            <a:ext cx="4329065" cy="2476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직선 화살표 연결선 39"/>
          <p:cNvCxnSpPr/>
          <p:nvPr/>
        </p:nvCxnSpPr>
        <p:spPr>
          <a:xfrm>
            <a:off x="3956396" y="4734400"/>
            <a:ext cx="4329065" cy="2476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/>
          <p:cNvCxnSpPr/>
          <p:nvPr/>
        </p:nvCxnSpPr>
        <p:spPr>
          <a:xfrm>
            <a:off x="3944907" y="4942296"/>
            <a:ext cx="4329065" cy="2476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직선 화살표 연결선 41"/>
          <p:cNvCxnSpPr/>
          <p:nvPr/>
        </p:nvCxnSpPr>
        <p:spPr>
          <a:xfrm>
            <a:off x="3955107" y="5142727"/>
            <a:ext cx="4329065" cy="2476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직선 화살표 연결선 42"/>
          <p:cNvCxnSpPr/>
          <p:nvPr/>
        </p:nvCxnSpPr>
        <p:spPr>
          <a:xfrm>
            <a:off x="3934803" y="5363391"/>
            <a:ext cx="4329065" cy="2476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직선 화살표 연결선 43"/>
          <p:cNvCxnSpPr/>
          <p:nvPr/>
        </p:nvCxnSpPr>
        <p:spPr>
          <a:xfrm>
            <a:off x="3955107" y="5614202"/>
            <a:ext cx="4329065" cy="2476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3260126" y="3865654"/>
            <a:ext cx="66396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SN=8</a:t>
            </a:r>
            <a:endParaRPr lang="ko-KR" altLang="en-US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3269297" y="4109533"/>
            <a:ext cx="64953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SN= 9</a:t>
            </a:r>
            <a:endParaRPr lang="ko-KR" altLang="en-US" sz="1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3261832" y="4325812"/>
            <a:ext cx="6877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SN=10</a:t>
            </a:r>
            <a:endParaRPr lang="ko-KR" altLang="en-US" sz="1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3262007" y="4556716"/>
            <a:ext cx="69442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SN=11</a:t>
            </a:r>
            <a:endParaRPr lang="ko-KR" altLang="en-US" sz="1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2063005" y="4633589"/>
            <a:ext cx="1162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b="1" i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CWND=8</a:t>
            </a:r>
            <a:endParaRPr lang="ko-KR" altLang="en-US" b="1" i="1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3253368" y="4793710"/>
            <a:ext cx="6877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SN=12</a:t>
            </a:r>
            <a:endParaRPr lang="ko-KR" altLang="en-US" sz="1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3268653" y="5021402"/>
            <a:ext cx="69442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SN=13</a:t>
            </a:r>
            <a:endParaRPr lang="ko-KR" altLang="en-US" sz="1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3273711" y="5260481"/>
            <a:ext cx="69442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SN=14</a:t>
            </a:r>
            <a:endParaRPr lang="ko-KR" altLang="en-US" sz="1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3274154" y="5488173"/>
            <a:ext cx="69442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SN=15</a:t>
            </a:r>
            <a:endParaRPr lang="ko-KR" altLang="en-US" sz="1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8338207" y="5893135"/>
            <a:ext cx="8803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b="1" i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AN=16</a:t>
            </a:r>
            <a:endParaRPr lang="ko-KR" altLang="en-US" b="1" i="1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58" name="직선 화살표 연결선 57"/>
          <p:cNvCxnSpPr/>
          <p:nvPr/>
        </p:nvCxnSpPr>
        <p:spPr>
          <a:xfrm flipH="1">
            <a:off x="6163431" y="6078474"/>
            <a:ext cx="2110077" cy="131839"/>
          </a:xfrm>
          <a:prstGeom prst="straightConnector1">
            <a:avLst/>
          </a:prstGeom>
          <a:ln w="12700">
            <a:solidFill>
              <a:srgbClr val="FF000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폭발 1 59"/>
          <p:cNvSpPr/>
          <p:nvPr/>
        </p:nvSpPr>
        <p:spPr>
          <a:xfrm>
            <a:off x="5330248" y="5870164"/>
            <a:ext cx="942975" cy="693801"/>
          </a:xfrm>
          <a:prstGeom prst="irregularSeal1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왼쪽 대괄호 2"/>
          <p:cNvSpPr/>
          <p:nvPr/>
        </p:nvSpPr>
        <p:spPr>
          <a:xfrm>
            <a:off x="3279713" y="1550129"/>
            <a:ext cx="83189" cy="350103"/>
          </a:xfrm>
          <a:prstGeom prst="leftBracket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왼쪽 대괄호 53"/>
          <p:cNvSpPr/>
          <p:nvPr/>
        </p:nvSpPr>
        <p:spPr>
          <a:xfrm>
            <a:off x="3260126" y="2581773"/>
            <a:ext cx="92906" cy="756038"/>
          </a:xfrm>
          <a:prstGeom prst="leftBracket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왼쪽 대괄호 55"/>
          <p:cNvSpPr/>
          <p:nvPr/>
        </p:nvSpPr>
        <p:spPr>
          <a:xfrm>
            <a:off x="3221286" y="4001591"/>
            <a:ext cx="110391" cy="1609449"/>
          </a:xfrm>
          <a:prstGeom prst="leftBracket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27073653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>
          <a:xfrm>
            <a:off x="9397251" y="6386594"/>
            <a:ext cx="2743200" cy="365125"/>
          </a:xfrm>
        </p:spPr>
        <p:txBody>
          <a:bodyPr/>
          <a:lstStyle/>
          <a:p>
            <a:fld id="{F100E85C-9068-46D2-A14A-A9DCCDE0C986}" type="slidenum">
              <a:rPr lang="ko-KR" altLang="en-US" smtClean="0"/>
              <a:t>52</a:t>
            </a:fld>
            <a:endParaRPr lang="ko-KR" altLang="en-US"/>
          </a:p>
        </p:txBody>
      </p:sp>
      <p:cxnSp>
        <p:nvCxnSpPr>
          <p:cNvPr id="4" name="직선 연결선 3"/>
          <p:cNvCxnSpPr/>
          <p:nvPr/>
        </p:nvCxnSpPr>
        <p:spPr>
          <a:xfrm flipH="1">
            <a:off x="3981704" y="536575"/>
            <a:ext cx="9271" cy="6026150"/>
          </a:xfrm>
          <a:prstGeom prst="line">
            <a:avLst/>
          </a:prstGeom>
          <a:ln w="571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직선 연결선 5"/>
          <p:cNvCxnSpPr/>
          <p:nvPr/>
        </p:nvCxnSpPr>
        <p:spPr>
          <a:xfrm>
            <a:off x="8344710" y="543006"/>
            <a:ext cx="5389" cy="6026151"/>
          </a:xfrm>
          <a:prstGeom prst="line">
            <a:avLst/>
          </a:prstGeom>
          <a:ln w="571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8335703" y="2315312"/>
            <a:ext cx="71821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AN=11</a:t>
            </a:r>
            <a:endParaRPr lang="ko-KR" altLang="en-US" sz="1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2121413" y="948384"/>
            <a:ext cx="11352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b="1" i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CWND=1</a:t>
            </a:r>
            <a:endParaRPr lang="ko-KR" altLang="en-US" b="1" i="1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7" name="직선 화살표 연결선 36"/>
          <p:cNvCxnSpPr/>
          <p:nvPr/>
        </p:nvCxnSpPr>
        <p:spPr>
          <a:xfrm>
            <a:off x="4000500" y="1201727"/>
            <a:ext cx="4329065" cy="2476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화살표 연결선 37"/>
          <p:cNvCxnSpPr/>
          <p:nvPr/>
        </p:nvCxnSpPr>
        <p:spPr>
          <a:xfrm>
            <a:off x="4010699" y="1892146"/>
            <a:ext cx="4329065" cy="2476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직선 화살표 연결선 38"/>
          <p:cNvCxnSpPr/>
          <p:nvPr/>
        </p:nvCxnSpPr>
        <p:spPr>
          <a:xfrm>
            <a:off x="4003753" y="2093774"/>
            <a:ext cx="4329065" cy="2476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직선 화살표 연결선 39"/>
          <p:cNvCxnSpPr/>
          <p:nvPr/>
        </p:nvCxnSpPr>
        <p:spPr>
          <a:xfrm>
            <a:off x="4036883" y="2803266"/>
            <a:ext cx="4329065" cy="2476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/>
          <p:cNvCxnSpPr/>
          <p:nvPr/>
        </p:nvCxnSpPr>
        <p:spPr>
          <a:xfrm>
            <a:off x="4025394" y="3011162"/>
            <a:ext cx="4329065" cy="2476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직선 화살표 연결선 41"/>
          <p:cNvCxnSpPr/>
          <p:nvPr/>
        </p:nvCxnSpPr>
        <p:spPr>
          <a:xfrm>
            <a:off x="4035594" y="3211593"/>
            <a:ext cx="4329065" cy="2476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직선 화살표 연결선 42"/>
          <p:cNvCxnSpPr/>
          <p:nvPr/>
        </p:nvCxnSpPr>
        <p:spPr>
          <a:xfrm>
            <a:off x="4015290" y="3432257"/>
            <a:ext cx="4329065" cy="2476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3342491" y="979162"/>
            <a:ext cx="66556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SN=8</a:t>
            </a:r>
            <a:endParaRPr lang="ko-KR" altLang="en-US" sz="1600" b="1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3328608" y="1733688"/>
            <a:ext cx="64953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SN= 9</a:t>
            </a:r>
            <a:endParaRPr lang="ko-KR" altLang="en-US" sz="1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3321390" y="1951663"/>
            <a:ext cx="6877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SN=10</a:t>
            </a:r>
            <a:endParaRPr lang="ko-KR" altLang="en-US" sz="1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2138972" y="2914081"/>
            <a:ext cx="11352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CWND=4</a:t>
            </a:r>
            <a:endParaRPr lang="ko-KR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3" name="그룹 2"/>
          <p:cNvGrpSpPr/>
          <p:nvPr/>
        </p:nvGrpSpPr>
        <p:grpSpPr>
          <a:xfrm>
            <a:off x="3293764" y="2626675"/>
            <a:ext cx="713516" cy="981696"/>
            <a:chOff x="3293764" y="2626675"/>
            <a:chExt cx="713516" cy="981696"/>
          </a:xfrm>
        </p:grpSpPr>
        <p:sp>
          <p:nvSpPr>
            <p:cNvPr id="48" name="TextBox 47"/>
            <p:cNvSpPr txBox="1"/>
            <p:nvPr/>
          </p:nvSpPr>
          <p:spPr>
            <a:xfrm>
              <a:off x="3312859" y="2626675"/>
              <a:ext cx="69442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SN=11</a:t>
              </a:r>
              <a:endParaRPr lang="ko-KR" altLang="en-US" sz="14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0" name="TextBox 49"/>
            <p:cNvSpPr txBox="1"/>
            <p:nvPr/>
          </p:nvSpPr>
          <p:spPr>
            <a:xfrm>
              <a:off x="3304220" y="2863669"/>
              <a:ext cx="68775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SN=12</a:t>
              </a:r>
              <a:endParaRPr lang="ko-KR" altLang="en-US" sz="14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1" name="TextBox 50"/>
            <p:cNvSpPr txBox="1"/>
            <p:nvPr/>
          </p:nvSpPr>
          <p:spPr>
            <a:xfrm>
              <a:off x="3302651" y="3082742"/>
              <a:ext cx="69442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SN=13</a:t>
              </a:r>
              <a:endParaRPr lang="ko-KR" altLang="en-US" sz="14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2" name="TextBox 51"/>
            <p:cNvSpPr txBox="1"/>
            <p:nvPr/>
          </p:nvSpPr>
          <p:spPr>
            <a:xfrm>
              <a:off x="3293764" y="3300594"/>
              <a:ext cx="69442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SN=14</a:t>
              </a:r>
              <a:endParaRPr lang="ko-KR" altLang="en-US" sz="14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53" name="TextBox 52"/>
          <p:cNvSpPr txBox="1"/>
          <p:nvPr/>
        </p:nvSpPr>
        <p:spPr>
          <a:xfrm>
            <a:off x="3287621" y="4219270"/>
            <a:ext cx="69442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SN=15</a:t>
            </a:r>
            <a:endParaRPr lang="ko-KR" altLang="en-US" sz="1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8321020" y="491995"/>
            <a:ext cx="79060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i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AN=16</a:t>
            </a:r>
            <a:endParaRPr lang="ko-KR" altLang="en-US" sz="1600" b="1" i="1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58" name="직선 화살표 연결선 57"/>
          <p:cNvCxnSpPr/>
          <p:nvPr/>
        </p:nvCxnSpPr>
        <p:spPr>
          <a:xfrm flipH="1">
            <a:off x="6201416" y="682163"/>
            <a:ext cx="2110077" cy="131839"/>
          </a:xfrm>
          <a:prstGeom prst="straightConnector1">
            <a:avLst/>
          </a:prstGeom>
          <a:ln w="12700">
            <a:solidFill>
              <a:srgbClr val="FF000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폭발 1 59"/>
          <p:cNvSpPr/>
          <p:nvPr/>
        </p:nvSpPr>
        <p:spPr>
          <a:xfrm>
            <a:off x="5404314" y="484924"/>
            <a:ext cx="792742" cy="675507"/>
          </a:xfrm>
          <a:prstGeom prst="irregularSeal1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4" name="직선 화살표 연결선 53"/>
          <p:cNvCxnSpPr/>
          <p:nvPr/>
        </p:nvCxnSpPr>
        <p:spPr>
          <a:xfrm flipH="1">
            <a:off x="3968626" y="1591592"/>
            <a:ext cx="4342868" cy="126941"/>
          </a:xfrm>
          <a:prstGeom prst="straightConnector1">
            <a:avLst/>
          </a:prstGeom>
          <a:ln w="12700">
            <a:solidFill>
              <a:srgbClr val="FF000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8376822" y="1388947"/>
            <a:ext cx="63511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AN=9</a:t>
            </a:r>
            <a:endParaRPr lang="ko-KR" altLang="en-US" sz="1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57" name="직선 화살표 연결선 56"/>
          <p:cNvCxnSpPr/>
          <p:nvPr/>
        </p:nvCxnSpPr>
        <p:spPr>
          <a:xfrm flipH="1">
            <a:off x="4003797" y="2496958"/>
            <a:ext cx="4342868" cy="126941"/>
          </a:xfrm>
          <a:prstGeom prst="straightConnector1">
            <a:avLst/>
          </a:prstGeom>
          <a:ln w="12700">
            <a:solidFill>
              <a:srgbClr val="FF000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8380269" y="3722856"/>
            <a:ext cx="72487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AN=15</a:t>
            </a:r>
            <a:endParaRPr lang="ko-KR" altLang="en-US" sz="1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61" name="직선 화살표 연결선 60"/>
          <p:cNvCxnSpPr>
            <a:stCxn id="59" idx="1"/>
          </p:cNvCxnSpPr>
          <p:nvPr/>
        </p:nvCxnSpPr>
        <p:spPr>
          <a:xfrm flipH="1">
            <a:off x="3983987" y="3876745"/>
            <a:ext cx="4396282" cy="220289"/>
          </a:xfrm>
          <a:prstGeom prst="straightConnector1">
            <a:avLst/>
          </a:prstGeom>
          <a:ln w="12700">
            <a:solidFill>
              <a:srgbClr val="FF000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2144634" y="1821021"/>
            <a:ext cx="11352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CWND=2</a:t>
            </a:r>
            <a:endParaRPr lang="ko-KR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63" name="직선 화살표 연결선 62"/>
          <p:cNvCxnSpPr/>
          <p:nvPr/>
        </p:nvCxnSpPr>
        <p:spPr>
          <a:xfrm>
            <a:off x="4009331" y="4367583"/>
            <a:ext cx="4305209" cy="28293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화살표 연결선 63"/>
          <p:cNvCxnSpPr/>
          <p:nvPr/>
        </p:nvCxnSpPr>
        <p:spPr>
          <a:xfrm>
            <a:off x="3978722" y="4590440"/>
            <a:ext cx="4329065" cy="2476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직선 화살표 연결선 64"/>
          <p:cNvCxnSpPr/>
          <p:nvPr/>
        </p:nvCxnSpPr>
        <p:spPr>
          <a:xfrm>
            <a:off x="3988922" y="4790871"/>
            <a:ext cx="4329065" cy="2476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직선 화살표 연결선 65"/>
          <p:cNvCxnSpPr/>
          <p:nvPr/>
        </p:nvCxnSpPr>
        <p:spPr>
          <a:xfrm>
            <a:off x="3968618" y="5011535"/>
            <a:ext cx="4329065" cy="2476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직선 화살표 연결선 66"/>
          <p:cNvCxnSpPr/>
          <p:nvPr/>
        </p:nvCxnSpPr>
        <p:spPr>
          <a:xfrm>
            <a:off x="3978145" y="5206663"/>
            <a:ext cx="4329065" cy="2476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3286951" y="4448046"/>
            <a:ext cx="69442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SN=16</a:t>
            </a:r>
            <a:endParaRPr lang="ko-KR" altLang="en-US" sz="1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9" name="TextBox 68"/>
          <p:cNvSpPr txBox="1"/>
          <p:nvPr/>
        </p:nvSpPr>
        <p:spPr>
          <a:xfrm>
            <a:off x="3286950" y="4670666"/>
            <a:ext cx="69442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SN=17</a:t>
            </a:r>
            <a:endParaRPr lang="ko-KR" altLang="en-US" sz="1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0" name="TextBox 69"/>
          <p:cNvSpPr txBox="1"/>
          <p:nvPr/>
        </p:nvSpPr>
        <p:spPr>
          <a:xfrm>
            <a:off x="3286949" y="4859544"/>
            <a:ext cx="69442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SN=18</a:t>
            </a:r>
            <a:endParaRPr lang="ko-KR" altLang="en-US" sz="1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1" name="TextBox 70"/>
          <p:cNvSpPr txBox="1"/>
          <p:nvPr/>
        </p:nvSpPr>
        <p:spPr>
          <a:xfrm>
            <a:off x="3277422" y="5068743"/>
            <a:ext cx="69442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SN=19</a:t>
            </a:r>
            <a:endParaRPr lang="ko-KR" altLang="en-US" sz="1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3" name="TextBox 72"/>
          <p:cNvSpPr txBox="1"/>
          <p:nvPr/>
        </p:nvSpPr>
        <p:spPr>
          <a:xfrm>
            <a:off x="2138880" y="4587308"/>
            <a:ext cx="1162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CWND=5</a:t>
            </a:r>
            <a:endParaRPr lang="ko-KR" altLang="en-US" b="1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74" name="직선 화살표 연결선 73"/>
          <p:cNvCxnSpPr/>
          <p:nvPr/>
        </p:nvCxnSpPr>
        <p:spPr>
          <a:xfrm flipH="1">
            <a:off x="3985234" y="5749920"/>
            <a:ext cx="4354530" cy="248715"/>
          </a:xfrm>
          <a:prstGeom prst="straightConnector1">
            <a:avLst/>
          </a:prstGeom>
          <a:ln w="12700">
            <a:solidFill>
              <a:srgbClr val="FF000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오른쪽 화살표 79"/>
          <p:cNvSpPr/>
          <p:nvPr/>
        </p:nvSpPr>
        <p:spPr>
          <a:xfrm rot="5400000">
            <a:off x="4488225" y="517035"/>
            <a:ext cx="509717" cy="462093"/>
          </a:xfrm>
          <a:prstGeom prst="rightArrow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1" name="TextBox 80"/>
          <p:cNvSpPr txBox="1"/>
          <p:nvPr/>
        </p:nvSpPr>
        <p:spPr>
          <a:xfrm>
            <a:off x="3531761" y="201024"/>
            <a:ext cx="84779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Times New Roman" panose="02020603050405020304" pitchFamily="18" charset="0"/>
                <a:ea typeface="함초롬바탕" panose="02030604000101010101" pitchFamily="18" charset="-127"/>
                <a:cs typeface="Times New Roman" panose="02020603050405020304" pitchFamily="18" charset="0"/>
              </a:rPr>
              <a:t>Sender</a:t>
            </a:r>
            <a:r>
              <a:rPr lang="ko-KR" altLang="en-US" sz="1600" b="1">
                <a:latin typeface="Times New Roman" panose="02020603050405020304" pitchFamily="18" charset="0"/>
                <a:ea typeface="함초롬바탕" panose="02030604000101010101" pitchFamily="18" charset="-127"/>
                <a:cs typeface="Times New Roman" panose="02020603050405020304" pitchFamily="18" charset="0"/>
              </a:rPr>
              <a:t> </a:t>
            </a:r>
            <a:endParaRPr lang="ko-KR" altLang="en-US" sz="1600" b="1" dirty="0">
              <a:latin typeface="Times New Roman" panose="02020603050405020304" pitchFamily="18" charset="0"/>
              <a:ea typeface="함초롬바탕" panose="02030604000101010101" pitchFamily="18" charset="-127"/>
              <a:cs typeface="Times New Roman" panose="02020603050405020304" pitchFamily="18" charset="0"/>
            </a:endParaRPr>
          </a:p>
        </p:txBody>
      </p:sp>
      <p:sp>
        <p:nvSpPr>
          <p:cNvPr id="82" name="TextBox 81"/>
          <p:cNvSpPr txBox="1"/>
          <p:nvPr/>
        </p:nvSpPr>
        <p:spPr>
          <a:xfrm>
            <a:off x="7761621" y="116754"/>
            <a:ext cx="99687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Times New Roman" panose="02020603050405020304" pitchFamily="18" charset="0"/>
                <a:ea typeface="함초롬바탕" panose="02030604000101010101" pitchFamily="18" charset="-127"/>
                <a:cs typeface="Times New Roman" panose="02020603050405020304" pitchFamily="18" charset="0"/>
              </a:rPr>
              <a:t>Receiver</a:t>
            </a:r>
            <a:r>
              <a:rPr lang="ko-KR" altLang="en-US" sz="1600" b="1">
                <a:latin typeface="Times New Roman" panose="02020603050405020304" pitchFamily="18" charset="0"/>
                <a:ea typeface="함초롬바탕" panose="02030604000101010101" pitchFamily="18" charset="-127"/>
                <a:cs typeface="Times New Roman" panose="02020603050405020304" pitchFamily="18" charset="0"/>
              </a:rPr>
              <a:t> </a:t>
            </a:r>
            <a:endParaRPr lang="ko-KR" altLang="en-US" sz="1600" b="1" dirty="0">
              <a:latin typeface="Times New Roman" panose="02020603050405020304" pitchFamily="18" charset="0"/>
              <a:ea typeface="함초롬바탕" panose="02030604000101010101" pitchFamily="18" charset="-127"/>
              <a:cs typeface="Times New Roman" panose="02020603050405020304" pitchFamily="18" charset="0"/>
            </a:endParaRPr>
          </a:p>
        </p:txBody>
      </p:sp>
      <p:sp>
        <p:nvSpPr>
          <p:cNvPr id="83" name="왼쪽 대괄호 82"/>
          <p:cNvSpPr/>
          <p:nvPr/>
        </p:nvSpPr>
        <p:spPr>
          <a:xfrm>
            <a:off x="3249585" y="2739504"/>
            <a:ext cx="92906" cy="756038"/>
          </a:xfrm>
          <a:prstGeom prst="leftBracket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4" name="왼쪽 대괄호 83"/>
          <p:cNvSpPr/>
          <p:nvPr/>
        </p:nvSpPr>
        <p:spPr>
          <a:xfrm>
            <a:off x="3257053" y="4356239"/>
            <a:ext cx="64337" cy="894535"/>
          </a:xfrm>
          <a:prstGeom prst="leftBracket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5" name="왼쪽 대괄호 84"/>
          <p:cNvSpPr/>
          <p:nvPr/>
        </p:nvSpPr>
        <p:spPr>
          <a:xfrm>
            <a:off x="3240853" y="1846327"/>
            <a:ext cx="83189" cy="350103"/>
          </a:xfrm>
          <a:prstGeom prst="leftBracket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6" name="TextBox 85"/>
          <p:cNvSpPr txBox="1"/>
          <p:nvPr/>
        </p:nvSpPr>
        <p:spPr>
          <a:xfrm>
            <a:off x="8380269" y="5596031"/>
            <a:ext cx="72487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AN=20</a:t>
            </a:r>
            <a:endParaRPr lang="ko-KR" altLang="en-US" sz="1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3490155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>
          <a:xfrm>
            <a:off x="9163881" y="6327885"/>
            <a:ext cx="2743200" cy="365125"/>
          </a:xfrm>
        </p:spPr>
        <p:txBody>
          <a:bodyPr/>
          <a:lstStyle/>
          <a:p>
            <a:fld id="{F100E85C-9068-46D2-A14A-A9DCCDE0C986}" type="slidenum">
              <a:rPr lang="ko-KR" altLang="en-US" smtClean="0"/>
              <a:pPr/>
              <a:t>53</a:t>
            </a:fld>
            <a:endParaRPr lang="ko-KR" altLang="en-US"/>
          </a:p>
        </p:txBody>
      </p:sp>
      <p:cxnSp>
        <p:nvCxnSpPr>
          <p:cNvPr id="4" name="직선 연결선 3"/>
          <p:cNvCxnSpPr/>
          <p:nvPr/>
        </p:nvCxnSpPr>
        <p:spPr>
          <a:xfrm flipH="1">
            <a:off x="4876133" y="1638797"/>
            <a:ext cx="24040" cy="4924602"/>
          </a:xfrm>
          <a:prstGeom prst="line">
            <a:avLst/>
          </a:prstGeom>
          <a:ln w="571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직선 연결선 5"/>
          <p:cNvCxnSpPr/>
          <p:nvPr/>
        </p:nvCxnSpPr>
        <p:spPr>
          <a:xfrm flipH="1">
            <a:off x="9241989" y="1645228"/>
            <a:ext cx="11918" cy="4918171"/>
          </a:xfrm>
          <a:prstGeom prst="line">
            <a:avLst/>
          </a:prstGeom>
          <a:ln w="571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직선 화살표 연결선 39"/>
          <p:cNvCxnSpPr/>
          <p:nvPr/>
        </p:nvCxnSpPr>
        <p:spPr>
          <a:xfrm>
            <a:off x="4924840" y="1922112"/>
            <a:ext cx="4329065" cy="2476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/>
          <p:cNvCxnSpPr/>
          <p:nvPr/>
        </p:nvCxnSpPr>
        <p:spPr>
          <a:xfrm>
            <a:off x="4913351" y="2130008"/>
            <a:ext cx="4329065" cy="2476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3009098" y="1900703"/>
            <a:ext cx="11352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CWND=2</a:t>
            </a:r>
            <a:endParaRPr lang="ko-KR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4246399" y="1777592"/>
            <a:ext cx="69442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SN=13</a:t>
            </a:r>
            <a:endParaRPr lang="ko-KR" altLang="en-US" sz="1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4246399" y="2017090"/>
            <a:ext cx="69442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SN=14</a:t>
            </a:r>
            <a:endParaRPr lang="ko-KR" altLang="en-US" sz="1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4245616" y="2854095"/>
            <a:ext cx="69442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SN=15</a:t>
            </a:r>
            <a:endParaRPr lang="ko-KR" altLang="en-US" sz="1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9261508" y="2374065"/>
            <a:ext cx="72487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AN=15</a:t>
            </a:r>
            <a:endParaRPr lang="ko-KR" altLang="en-US" sz="1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61" name="직선 화살표 연결선 60"/>
          <p:cNvCxnSpPr/>
          <p:nvPr/>
        </p:nvCxnSpPr>
        <p:spPr>
          <a:xfrm flipH="1">
            <a:off x="4899548" y="2540564"/>
            <a:ext cx="4341761" cy="217073"/>
          </a:xfrm>
          <a:prstGeom prst="straightConnector1">
            <a:avLst/>
          </a:prstGeom>
          <a:ln w="12700">
            <a:solidFill>
              <a:srgbClr val="FF000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직선 화살표 연결선 62"/>
          <p:cNvCxnSpPr/>
          <p:nvPr/>
        </p:nvCxnSpPr>
        <p:spPr>
          <a:xfrm>
            <a:off x="4939365" y="3035088"/>
            <a:ext cx="2219756" cy="12842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화살표 연결선 63"/>
          <p:cNvCxnSpPr/>
          <p:nvPr/>
        </p:nvCxnSpPr>
        <p:spPr>
          <a:xfrm>
            <a:off x="4934185" y="3236353"/>
            <a:ext cx="4329065" cy="2476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직선 화살표 연결선 64"/>
          <p:cNvCxnSpPr/>
          <p:nvPr/>
        </p:nvCxnSpPr>
        <p:spPr>
          <a:xfrm>
            <a:off x="4922339" y="3446555"/>
            <a:ext cx="4329065" cy="2476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직선 화살표 연결선 65"/>
          <p:cNvCxnSpPr/>
          <p:nvPr/>
        </p:nvCxnSpPr>
        <p:spPr>
          <a:xfrm>
            <a:off x="4922338" y="3647644"/>
            <a:ext cx="4329065" cy="2476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4244946" y="3082871"/>
            <a:ext cx="69442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SN=16</a:t>
            </a:r>
            <a:endParaRPr lang="ko-KR" altLang="en-US" sz="1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9" name="TextBox 68"/>
          <p:cNvSpPr txBox="1"/>
          <p:nvPr/>
        </p:nvSpPr>
        <p:spPr>
          <a:xfrm>
            <a:off x="4244945" y="3305491"/>
            <a:ext cx="69442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SN=17</a:t>
            </a:r>
            <a:endParaRPr lang="ko-KR" altLang="en-US" sz="1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0" name="TextBox 69"/>
          <p:cNvSpPr txBox="1"/>
          <p:nvPr/>
        </p:nvSpPr>
        <p:spPr>
          <a:xfrm>
            <a:off x="4244944" y="3494369"/>
            <a:ext cx="69442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SN=18</a:t>
            </a:r>
            <a:endParaRPr lang="ko-KR" altLang="en-US" sz="1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2" name="폭발 1 71"/>
          <p:cNvSpPr/>
          <p:nvPr/>
        </p:nvSpPr>
        <p:spPr>
          <a:xfrm>
            <a:off x="7159121" y="2795484"/>
            <a:ext cx="792742" cy="675507"/>
          </a:xfrm>
          <a:prstGeom prst="irregularSeal1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3" name="TextBox 72"/>
          <p:cNvSpPr txBox="1"/>
          <p:nvPr/>
        </p:nvSpPr>
        <p:spPr>
          <a:xfrm>
            <a:off x="3096875" y="3222133"/>
            <a:ext cx="1162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b="1" i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CWND=4</a:t>
            </a:r>
            <a:endParaRPr lang="ko-KR" altLang="en-US" b="1" i="1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74" name="직선 화살표 연결선 73"/>
          <p:cNvCxnSpPr/>
          <p:nvPr/>
        </p:nvCxnSpPr>
        <p:spPr>
          <a:xfrm flipH="1">
            <a:off x="4884556" y="4097719"/>
            <a:ext cx="4342868" cy="126941"/>
          </a:xfrm>
          <a:prstGeom prst="straightConnector1">
            <a:avLst/>
          </a:prstGeom>
          <a:ln w="12700">
            <a:solidFill>
              <a:srgbClr val="FF000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직선 화살표 연결선 74"/>
          <p:cNvCxnSpPr/>
          <p:nvPr/>
        </p:nvCxnSpPr>
        <p:spPr>
          <a:xfrm flipH="1">
            <a:off x="4864854" y="4314922"/>
            <a:ext cx="4342868" cy="126941"/>
          </a:xfrm>
          <a:prstGeom prst="straightConnector1">
            <a:avLst/>
          </a:prstGeom>
          <a:ln w="12700">
            <a:solidFill>
              <a:srgbClr val="FF000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직선 화살표 연결선 75"/>
          <p:cNvCxnSpPr/>
          <p:nvPr/>
        </p:nvCxnSpPr>
        <p:spPr>
          <a:xfrm flipH="1">
            <a:off x="4891520" y="4519153"/>
            <a:ext cx="4342868" cy="126941"/>
          </a:xfrm>
          <a:prstGeom prst="straightConnector1">
            <a:avLst/>
          </a:prstGeom>
          <a:ln w="12700">
            <a:solidFill>
              <a:srgbClr val="FF000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TextBox 76"/>
          <p:cNvSpPr txBox="1"/>
          <p:nvPr/>
        </p:nvSpPr>
        <p:spPr>
          <a:xfrm>
            <a:off x="9244745" y="3899496"/>
            <a:ext cx="72487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AN=15</a:t>
            </a:r>
            <a:endParaRPr lang="ko-KR" altLang="en-US" sz="1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8" name="TextBox 77"/>
          <p:cNvSpPr txBox="1"/>
          <p:nvPr/>
        </p:nvSpPr>
        <p:spPr>
          <a:xfrm>
            <a:off x="9235068" y="4193015"/>
            <a:ext cx="72487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AN=15</a:t>
            </a:r>
            <a:endParaRPr lang="ko-KR" altLang="en-US" sz="1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9" name="TextBox 78"/>
          <p:cNvSpPr txBox="1"/>
          <p:nvPr/>
        </p:nvSpPr>
        <p:spPr>
          <a:xfrm>
            <a:off x="9235068" y="4441863"/>
            <a:ext cx="72487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AN=15</a:t>
            </a:r>
            <a:endParaRPr lang="ko-KR" altLang="en-US" sz="1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1" name="TextBox 80"/>
          <p:cNvSpPr txBox="1"/>
          <p:nvPr/>
        </p:nvSpPr>
        <p:spPr>
          <a:xfrm>
            <a:off x="4440956" y="1303246"/>
            <a:ext cx="84779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Times New Roman" panose="02020603050405020304" pitchFamily="18" charset="0"/>
                <a:ea typeface="함초롬바탕" panose="02030604000101010101" pitchFamily="18" charset="-127"/>
                <a:cs typeface="Times New Roman" panose="02020603050405020304" pitchFamily="18" charset="0"/>
              </a:rPr>
              <a:t>Sender</a:t>
            </a:r>
            <a:r>
              <a:rPr lang="ko-KR" altLang="en-US" sz="1600" b="1">
                <a:latin typeface="Times New Roman" panose="02020603050405020304" pitchFamily="18" charset="0"/>
                <a:ea typeface="함초롬바탕" panose="02030604000101010101" pitchFamily="18" charset="-127"/>
                <a:cs typeface="Times New Roman" panose="02020603050405020304" pitchFamily="18" charset="0"/>
              </a:rPr>
              <a:t> </a:t>
            </a:r>
            <a:endParaRPr lang="ko-KR" altLang="en-US" sz="1600" b="1" dirty="0">
              <a:latin typeface="Times New Roman" panose="02020603050405020304" pitchFamily="18" charset="0"/>
              <a:ea typeface="함초롬바탕" panose="02030604000101010101" pitchFamily="18" charset="-127"/>
              <a:cs typeface="Times New Roman" panose="02020603050405020304" pitchFamily="18" charset="0"/>
            </a:endParaRPr>
          </a:p>
        </p:txBody>
      </p:sp>
      <p:sp>
        <p:nvSpPr>
          <p:cNvPr id="82" name="TextBox 81"/>
          <p:cNvSpPr txBox="1"/>
          <p:nvPr/>
        </p:nvSpPr>
        <p:spPr>
          <a:xfrm>
            <a:off x="8670816" y="1218976"/>
            <a:ext cx="99687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Times New Roman" panose="02020603050405020304" pitchFamily="18" charset="0"/>
                <a:ea typeface="함초롬바탕" panose="02030604000101010101" pitchFamily="18" charset="-127"/>
                <a:cs typeface="Times New Roman" panose="02020603050405020304" pitchFamily="18" charset="0"/>
              </a:rPr>
              <a:t>Receiver</a:t>
            </a:r>
            <a:r>
              <a:rPr lang="ko-KR" altLang="en-US" sz="1600" b="1">
                <a:latin typeface="Times New Roman" panose="02020603050405020304" pitchFamily="18" charset="0"/>
                <a:ea typeface="함초롬바탕" panose="02030604000101010101" pitchFamily="18" charset="-127"/>
                <a:cs typeface="Times New Roman" panose="02020603050405020304" pitchFamily="18" charset="0"/>
              </a:rPr>
              <a:t> </a:t>
            </a:r>
            <a:endParaRPr lang="ko-KR" altLang="en-US" sz="1600" b="1" dirty="0">
              <a:latin typeface="Times New Roman" panose="02020603050405020304" pitchFamily="18" charset="0"/>
              <a:ea typeface="함초롬바탕" panose="02030604000101010101" pitchFamily="18" charset="-127"/>
              <a:cs typeface="Times New Roman" panose="02020603050405020304" pitchFamily="18" charset="0"/>
            </a:endParaRPr>
          </a:p>
        </p:txBody>
      </p:sp>
      <p:sp>
        <p:nvSpPr>
          <p:cNvPr id="83" name="왼쪽 대괄호 82"/>
          <p:cNvSpPr/>
          <p:nvPr/>
        </p:nvSpPr>
        <p:spPr>
          <a:xfrm>
            <a:off x="4137542" y="1858350"/>
            <a:ext cx="83498" cy="385583"/>
          </a:xfrm>
          <a:prstGeom prst="leftBracket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4" name="왼쪽 대괄호 83"/>
          <p:cNvSpPr/>
          <p:nvPr/>
        </p:nvSpPr>
        <p:spPr>
          <a:xfrm>
            <a:off x="4215048" y="2991065"/>
            <a:ext cx="45719" cy="682282"/>
          </a:xfrm>
          <a:prstGeom prst="leftBracket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/>
          <p:cNvSpPr txBox="1"/>
          <p:nvPr/>
        </p:nvSpPr>
        <p:spPr>
          <a:xfrm>
            <a:off x="9378205" y="3021316"/>
            <a:ext cx="1465466" cy="73866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none" rtlCol="0">
            <a:spAutoFit/>
          </a:bodyPr>
          <a:lstStyle/>
          <a:p>
            <a:r>
              <a:rPr lang="ko-KR" altLang="en-US" sz="1400" b="1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세그먼트 하나가</a:t>
            </a:r>
            <a:endParaRPr lang="en-US" altLang="ko-KR" sz="1400" b="1" dirty="0">
              <a:latin typeface="함초롬바탕" panose="02030604000101010101" pitchFamily="18" charset="-127"/>
              <a:ea typeface="함초롬바탕" panose="02030604000101010101" pitchFamily="18" charset="-127"/>
              <a:cs typeface="함초롬바탕" panose="02030604000101010101" pitchFamily="18" charset="-127"/>
            </a:endParaRPr>
          </a:p>
          <a:p>
            <a:r>
              <a:rPr lang="ko-KR" altLang="en-US" sz="1400" b="1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유실되었을 때</a:t>
            </a:r>
            <a:endParaRPr lang="en-US" altLang="ko-KR" sz="1400" b="1" dirty="0">
              <a:latin typeface="함초롬바탕" panose="02030604000101010101" pitchFamily="18" charset="-127"/>
              <a:ea typeface="함초롬바탕" panose="02030604000101010101" pitchFamily="18" charset="-127"/>
              <a:cs typeface="함초롬바탕" panose="02030604000101010101" pitchFamily="18" charset="-127"/>
            </a:endParaRPr>
          </a:p>
          <a:p>
            <a:r>
              <a:rPr lang="en-US" altLang="ko-KR" sz="1400" b="1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(SN=15)</a:t>
            </a:r>
          </a:p>
        </p:txBody>
      </p:sp>
      <p:sp>
        <p:nvSpPr>
          <p:cNvPr id="7" name="오른쪽 대괄호 6"/>
          <p:cNvSpPr/>
          <p:nvPr/>
        </p:nvSpPr>
        <p:spPr>
          <a:xfrm>
            <a:off x="9969623" y="3976576"/>
            <a:ext cx="53991" cy="670556"/>
          </a:xfrm>
          <a:prstGeom prst="rightBracket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8" name="직사각형 7"/>
          <p:cNvSpPr/>
          <p:nvPr/>
        </p:nvSpPr>
        <p:spPr>
          <a:xfrm>
            <a:off x="522692" y="312615"/>
            <a:ext cx="7429668" cy="5539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2000" b="1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❷ </a:t>
            </a:r>
            <a:r>
              <a:rPr lang="en-US" altLang="ko-KR" sz="2000" b="1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3</a:t>
            </a:r>
            <a:r>
              <a:rPr lang="ko-KR" altLang="en-US" sz="2000" b="1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개의 동일한 </a:t>
            </a:r>
            <a:r>
              <a:rPr lang="en-US" altLang="ko-KR" sz="2000" b="1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ACK</a:t>
            </a:r>
            <a:r>
              <a:rPr lang="ko-KR" altLang="en-US" sz="2000" b="1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가 연속적으로 들어오는 것을 보고 판단 </a:t>
            </a:r>
            <a:endParaRPr lang="en-US" altLang="ko-KR" sz="2000" b="1" dirty="0">
              <a:latin typeface="함초롬바탕" panose="02030504000101010101" pitchFamily="18" charset="-127"/>
              <a:ea typeface="함초롬바탕" panose="02030504000101010101" pitchFamily="18" charset="-127"/>
              <a:cs typeface="함초롬바탕" panose="02030504000101010101" pitchFamily="18" charset="-127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2886549" y="4890244"/>
            <a:ext cx="13356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CWND=2.5</a:t>
            </a:r>
            <a:endParaRPr lang="ko-KR" altLang="en-US" b="1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89" name="직선 화살표 연결선 88"/>
          <p:cNvCxnSpPr/>
          <p:nvPr/>
        </p:nvCxnSpPr>
        <p:spPr>
          <a:xfrm>
            <a:off x="4932443" y="4901715"/>
            <a:ext cx="4329065" cy="2476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직선 화살표 연결선 89"/>
          <p:cNvCxnSpPr/>
          <p:nvPr/>
        </p:nvCxnSpPr>
        <p:spPr>
          <a:xfrm>
            <a:off x="4922338" y="5144116"/>
            <a:ext cx="4329065" cy="2476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TextBox 90"/>
          <p:cNvSpPr txBox="1"/>
          <p:nvPr/>
        </p:nvSpPr>
        <p:spPr>
          <a:xfrm>
            <a:off x="4261225" y="4736356"/>
            <a:ext cx="69442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SN=15</a:t>
            </a:r>
            <a:endParaRPr lang="ko-KR" altLang="en-US" sz="1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2" name="TextBox 91"/>
          <p:cNvSpPr txBox="1"/>
          <p:nvPr/>
        </p:nvSpPr>
        <p:spPr>
          <a:xfrm>
            <a:off x="4261225" y="4985716"/>
            <a:ext cx="69442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SN=16</a:t>
            </a:r>
            <a:endParaRPr lang="ko-KR" altLang="en-US" sz="1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93" name="직선 화살표 연결선 92"/>
          <p:cNvCxnSpPr/>
          <p:nvPr/>
        </p:nvCxnSpPr>
        <p:spPr>
          <a:xfrm flipH="1">
            <a:off x="4884556" y="5534857"/>
            <a:ext cx="4342868" cy="126941"/>
          </a:xfrm>
          <a:prstGeom prst="straightConnector1">
            <a:avLst/>
          </a:prstGeom>
          <a:ln w="12700">
            <a:solidFill>
              <a:srgbClr val="FF000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직선 화살표 연결선 93"/>
          <p:cNvCxnSpPr/>
          <p:nvPr/>
        </p:nvCxnSpPr>
        <p:spPr>
          <a:xfrm flipH="1">
            <a:off x="4895935" y="5814053"/>
            <a:ext cx="4342868" cy="126941"/>
          </a:xfrm>
          <a:prstGeom prst="straightConnector1">
            <a:avLst/>
          </a:prstGeom>
          <a:ln w="12700">
            <a:solidFill>
              <a:srgbClr val="FF000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" name="TextBox 94"/>
          <p:cNvSpPr txBox="1"/>
          <p:nvPr/>
        </p:nvSpPr>
        <p:spPr>
          <a:xfrm>
            <a:off x="9261508" y="5397923"/>
            <a:ext cx="72487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AN=20</a:t>
            </a:r>
            <a:endParaRPr lang="ko-KR" altLang="en-US" sz="1400" b="1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9264730" y="5634678"/>
            <a:ext cx="72487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AN=20</a:t>
            </a:r>
            <a:endParaRPr lang="ko-KR" altLang="en-US" sz="1400" b="1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7" name="왼쪽 대괄호 96"/>
          <p:cNvSpPr/>
          <p:nvPr/>
        </p:nvSpPr>
        <p:spPr>
          <a:xfrm>
            <a:off x="4215048" y="4851341"/>
            <a:ext cx="83498" cy="385583"/>
          </a:xfrm>
          <a:prstGeom prst="leftBracket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8" name="직사각형 97"/>
          <p:cNvSpPr/>
          <p:nvPr/>
        </p:nvSpPr>
        <p:spPr>
          <a:xfrm>
            <a:off x="1067772" y="5413464"/>
            <a:ext cx="3682761" cy="1061829"/>
          </a:xfrm>
          <a:prstGeom prst="rect">
            <a:avLst/>
          </a:prstGeom>
          <a:solidFill>
            <a:srgbClr val="FFC000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b="1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* </a:t>
            </a:r>
            <a:r>
              <a:rPr lang="ko-KR" altLang="en-US" sz="1400" b="1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빠른</a:t>
            </a:r>
            <a:r>
              <a:rPr lang="en-US" altLang="ko-KR" sz="1400" b="1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 </a:t>
            </a:r>
            <a:r>
              <a:rPr lang="ko-KR" altLang="en-US" sz="1400" b="1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재전송</a:t>
            </a:r>
            <a:r>
              <a:rPr lang="en-US" altLang="ko-KR" sz="1400" b="1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(</a:t>
            </a:r>
            <a:r>
              <a:rPr lang="en-US" altLang="ko-KR" sz="1400" b="1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fast retransmission</a:t>
            </a:r>
            <a:r>
              <a:rPr lang="en-US" altLang="ko-KR" sz="1400" b="1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) </a:t>
            </a:r>
          </a:p>
          <a:p>
            <a:pPr>
              <a:lnSpc>
                <a:spcPct val="150000"/>
              </a:lnSpc>
            </a:pPr>
            <a:r>
              <a:rPr lang="en-US" altLang="ko-KR" sz="1400" b="1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  </a:t>
            </a:r>
            <a:r>
              <a:rPr lang="en-US" altLang="ko-KR" sz="14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: 3</a:t>
            </a:r>
            <a:r>
              <a:rPr lang="ko-KR" altLang="en-US" sz="140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개의 동일한 </a:t>
            </a:r>
            <a:r>
              <a:rPr lang="en-US" altLang="ko-KR" sz="14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ACK</a:t>
            </a:r>
            <a:r>
              <a:rPr lang="ko-KR" altLang="en-US" sz="140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를 받은 경우 </a:t>
            </a:r>
            <a:endParaRPr lang="en-US" altLang="ko-KR" sz="1400" dirty="0">
              <a:latin typeface="함초롬바탕" panose="02030504000101010101" pitchFamily="18" charset="-127"/>
              <a:ea typeface="함초롬바탕" panose="02030504000101010101" pitchFamily="18" charset="-127"/>
              <a:cs typeface="함초롬바탕" panose="02030504000101010101" pitchFamily="18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4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     </a:t>
            </a:r>
            <a:r>
              <a:rPr lang="ko-KR" altLang="en-US" sz="140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타임아웃만큰 기다리지 않고 즉시 재전송</a:t>
            </a:r>
            <a:endParaRPr lang="ko-KR" altLang="en-US" sz="1400"/>
          </a:p>
        </p:txBody>
      </p:sp>
    </p:spTree>
    <p:extLst>
      <p:ext uri="{BB962C8B-B14F-4D97-AF65-F5344CB8AC3E}">
        <p14:creationId xmlns:p14="http://schemas.microsoft.com/office/powerpoint/2010/main" val="399597790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>
          <a:xfrm>
            <a:off x="9100447" y="6273800"/>
            <a:ext cx="2743200" cy="365125"/>
          </a:xfrm>
        </p:spPr>
        <p:txBody>
          <a:bodyPr/>
          <a:lstStyle/>
          <a:p>
            <a:fld id="{F100E85C-9068-46D2-A14A-A9DCCDE0C986}" type="slidenum">
              <a:rPr lang="ko-KR" altLang="en-US" smtClean="0"/>
              <a:t>54</a:t>
            </a:fld>
            <a:endParaRPr lang="ko-KR" altLang="en-US"/>
          </a:p>
        </p:txBody>
      </p:sp>
      <p:cxnSp>
        <p:nvCxnSpPr>
          <p:cNvPr id="4" name="직선 연결선 3"/>
          <p:cNvCxnSpPr/>
          <p:nvPr/>
        </p:nvCxnSpPr>
        <p:spPr>
          <a:xfrm>
            <a:off x="6279697" y="477547"/>
            <a:ext cx="998" cy="6380453"/>
          </a:xfrm>
          <a:prstGeom prst="line">
            <a:avLst/>
          </a:prstGeom>
          <a:ln w="571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직선 연결선 5"/>
          <p:cNvCxnSpPr/>
          <p:nvPr/>
        </p:nvCxnSpPr>
        <p:spPr>
          <a:xfrm>
            <a:off x="10633431" y="483978"/>
            <a:ext cx="7612" cy="6374022"/>
          </a:xfrm>
          <a:prstGeom prst="line">
            <a:avLst/>
          </a:prstGeom>
          <a:ln w="571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4179536" y="2541061"/>
            <a:ext cx="13083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CWND=3.5</a:t>
            </a:r>
            <a:endParaRPr lang="ko-KR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2" name="TextBox 61"/>
          <p:cNvSpPr txBox="1"/>
          <p:nvPr/>
        </p:nvSpPr>
        <p:spPr>
          <a:xfrm>
            <a:off x="4173097" y="1283371"/>
            <a:ext cx="13356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CWND=2.5</a:t>
            </a:r>
            <a:endParaRPr lang="ko-KR" altLang="en-US" b="1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3" name="TextBox 72"/>
          <p:cNvSpPr txBox="1"/>
          <p:nvPr/>
        </p:nvSpPr>
        <p:spPr>
          <a:xfrm>
            <a:off x="4219592" y="3630630"/>
            <a:ext cx="13083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CWND=4.5</a:t>
            </a:r>
            <a:endParaRPr lang="ko-KR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74" name="직선 화살표 연결선 73"/>
          <p:cNvCxnSpPr>
            <a:stCxn id="77" idx="1"/>
          </p:cNvCxnSpPr>
          <p:nvPr/>
        </p:nvCxnSpPr>
        <p:spPr>
          <a:xfrm flipH="1">
            <a:off x="6325985" y="572091"/>
            <a:ext cx="4339018" cy="169952"/>
          </a:xfrm>
          <a:prstGeom prst="straightConnector1">
            <a:avLst/>
          </a:prstGeom>
          <a:ln w="12700">
            <a:solidFill>
              <a:srgbClr val="FF000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직선 화살표 연결선 74"/>
          <p:cNvCxnSpPr/>
          <p:nvPr/>
        </p:nvCxnSpPr>
        <p:spPr>
          <a:xfrm flipH="1">
            <a:off x="6325132" y="814096"/>
            <a:ext cx="4299067" cy="116304"/>
          </a:xfrm>
          <a:prstGeom prst="straightConnector1">
            <a:avLst/>
          </a:prstGeom>
          <a:ln w="12700">
            <a:solidFill>
              <a:srgbClr val="FF000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직선 화살표 연결선 75"/>
          <p:cNvCxnSpPr/>
          <p:nvPr/>
        </p:nvCxnSpPr>
        <p:spPr>
          <a:xfrm flipH="1">
            <a:off x="6295952" y="1005484"/>
            <a:ext cx="4342868" cy="126941"/>
          </a:xfrm>
          <a:prstGeom prst="straightConnector1">
            <a:avLst/>
          </a:prstGeom>
          <a:ln w="12700">
            <a:solidFill>
              <a:srgbClr val="FF000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TextBox 76"/>
          <p:cNvSpPr txBox="1"/>
          <p:nvPr/>
        </p:nvSpPr>
        <p:spPr>
          <a:xfrm>
            <a:off x="10665003" y="418202"/>
            <a:ext cx="72487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AN=15</a:t>
            </a:r>
            <a:endParaRPr lang="ko-KR" altLang="en-US" sz="1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8" name="TextBox 77"/>
          <p:cNvSpPr txBox="1"/>
          <p:nvPr/>
        </p:nvSpPr>
        <p:spPr>
          <a:xfrm>
            <a:off x="10673871" y="657067"/>
            <a:ext cx="72487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AN=15</a:t>
            </a:r>
            <a:endParaRPr lang="ko-KR" altLang="en-US" sz="1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9" name="TextBox 78"/>
          <p:cNvSpPr txBox="1"/>
          <p:nvPr/>
        </p:nvSpPr>
        <p:spPr>
          <a:xfrm>
            <a:off x="10673871" y="883896"/>
            <a:ext cx="72487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AN=15</a:t>
            </a:r>
            <a:endParaRPr lang="ko-KR" altLang="en-US" sz="1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80" name="직선 화살표 연결선 79"/>
          <p:cNvCxnSpPr/>
          <p:nvPr/>
        </p:nvCxnSpPr>
        <p:spPr>
          <a:xfrm>
            <a:off x="6305622" y="1364549"/>
            <a:ext cx="4329065" cy="2476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직선 화살표 연결선 80"/>
          <p:cNvCxnSpPr/>
          <p:nvPr/>
        </p:nvCxnSpPr>
        <p:spPr>
          <a:xfrm>
            <a:off x="6285902" y="1552991"/>
            <a:ext cx="4329065" cy="2476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TextBox 81"/>
          <p:cNvSpPr txBox="1"/>
          <p:nvPr/>
        </p:nvSpPr>
        <p:spPr>
          <a:xfrm>
            <a:off x="5637503" y="1181131"/>
            <a:ext cx="69442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SN=15</a:t>
            </a:r>
            <a:endParaRPr lang="ko-KR" altLang="en-US" sz="1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3" name="TextBox 82"/>
          <p:cNvSpPr txBox="1"/>
          <p:nvPr/>
        </p:nvSpPr>
        <p:spPr>
          <a:xfrm>
            <a:off x="5634404" y="1396891"/>
            <a:ext cx="69442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SN=16</a:t>
            </a:r>
            <a:endParaRPr lang="ko-KR" altLang="en-US" sz="1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84" name="직선 화살표 연결선 83"/>
          <p:cNvCxnSpPr/>
          <p:nvPr/>
        </p:nvCxnSpPr>
        <p:spPr>
          <a:xfrm flipH="1">
            <a:off x="6257735" y="1965703"/>
            <a:ext cx="4342868" cy="126941"/>
          </a:xfrm>
          <a:prstGeom prst="straightConnector1">
            <a:avLst/>
          </a:prstGeom>
          <a:ln w="12700">
            <a:solidFill>
              <a:srgbClr val="FF000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직선 화살표 연결선 84"/>
          <p:cNvCxnSpPr/>
          <p:nvPr/>
        </p:nvCxnSpPr>
        <p:spPr>
          <a:xfrm flipH="1">
            <a:off x="6257735" y="2158049"/>
            <a:ext cx="4342868" cy="126941"/>
          </a:xfrm>
          <a:prstGeom prst="straightConnector1">
            <a:avLst/>
          </a:prstGeom>
          <a:ln w="12700">
            <a:solidFill>
              <a:srgbClr val="FF000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TextBox 85"/>
          <p:cNvSpPr txBox="1"/>
          <p:nvPr/>
        </p:nvSpPr>
        <p:spPr>
          <a:xfrm>
            <a:off x="10655018" y="1744621"/>
            <a:ext cx="72487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AN=20</a:t>
            </a:r>
            <a:endParaRPr lang="ko-KR" altLang="en-US" sz="1400" b="1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7" name="TextBox 86"/>
          <p:cNvSpPr txBox="1"/>
          <p:nvPr/>
        </p:nvSpPr>
        <p:spPr>
          <a:xfrm>
            <a:off x="10658240" y="1981376"/>
            <a:ext cx="72487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AN=20</a:t>
            </a:r>
            <a:endParaRPr lang="ko-KR" altLang="en-US" sz="1400" b="1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5627626" y="2279194"/>
            <a:ext cx="69442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SN=20</a:t>
            </a:r>
            <a:endParaRPr lang="ko-KR" altLang="en-US" sz="1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9" name="TextBox 88"/>
          <p:cNvSpPr txBox="1"/>
          <p:nvPr/>
        </p:nvSpPr>
        <p:spPr>
          <a:xfrm>
            <a:off x="5610431" y="2507994"/>
            <a:ext cx="69442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SN=21</a:t>
            </a:r>
            <a:endParaRPr lang="ko-KR" altLang="en-US" sz="1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5610431" y="2736794"/>
            <a:ext cx="69442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SN=22</a:t>
            </a:r>
            <a:endParaRPr lang="ko-KR" altLang="en-US" sz="1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91" name="직선 화살표 연결선 90"/>
          <p:cNvCxnSpPr/>
          <p:nvPr/>
        </p:nvCxnSpPr>
        <p:spPr>
          <a:xfrm>
            <a:off x="6295133" y="2478077"/>
            <a:ext cx="4329065" cy="2476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직선 화살표 연결선 91"/>
          <p:cNvCxnSpPr/>
          <p:nvPr/>
        </p:nvCxnSpPr>
        <p:spPr>
          <a:xfrm>
            <a:off x="6285901" y="2683886"/>
            <a:ext cx="4329065" cy="2476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직선 화살표 연결선 92"/>
          <p:cNvCxnSpPr/>
          <p:nvPr/>
        </p:nvCxnSpPr>
        <p:spPr>
          <a:xfrm>
            <a:off x="6302657" y="2880711"/>
            <a:ext cx="4329065" cy="2476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직선 화살표 연결선 93"/>
          <p:cNvCxnSpPr/>
          <p:nvPr/>
        </p:nvCxnSpPr>
        <p:spPr>
          <a:xfrm flipH="1">
            <a:off x="6272099" y="3291674"/>
            <a:ext cx="4342868" cy="126941"/>
          </a:xfrm>
          <a:prstGeom prst="straightConnector1">
            <a:avLst/>
          </a:prstGeom>
          <a:ln w="12700">
            <a:solidFill>
              <a:srgbClr val="FF000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" name="TextBox 94"/>
          <p:cNvSpPr txBox="1"/>
          <p:nvPr/>
        </p:nvSpPr>
        <p:spPr>
          <a:xfrm>
            <a:off x="10673871" y="3078856"/>
            <a:ext cx="72487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AN=23</a:t>
            </a:r>
            <a:endParaRPr lang="ko-KR" altLang="en-US" sz="1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5628813" y="3374292"/>
            <a:ext cx="69442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SN=23</a:t>
            </a:r>
            <a:endParaRPr lang="ko-KR" altLang="en-US" sz="1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7" name="TextBox 96"/>
          <p:cNvSpPr txBox="1"/>
          <p:nvPr/>
        </p:nvSpPr>
        <p:spPr>
          <a:xfrm>
            <a:off x="5611618" y="3603092"/>
            <a:ext cx="69442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SN=24</a:t>
            </a:r>
            <a:endParaRPr lang="ko-KR" altLang="en-US" sz="1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8" name="TextBox 97"/>
          <p:cNvSpPr txBox="1"/>
          <p:nvPr/>
        </p:nvSpPr>
        <p:spPr>
          <a:xfrm>
            <a:off x="5611618" y="3813419"/>
            <a:ext cx="69442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SN=25</a:t>
            </a:r>
            <a:endParaRPr lang="ko-KR" altLang="en-US" sz="1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99" name="직선 화살표 연결선 98"/>
          <p:cNvCxnSpPr/>
          <p:nvPr/>
        </p:nvCxnSpPr>
        <p:spPr>
          <a:xfrm>
            <a:off x="6295133" y="3548516"/>
            <a:ext cx="4329065" cy="2476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직선 화살표 연결선 99"/>
          <p:cNvCxnSpPr/>
          <p:nvPr/>
        </p:nvCxnSpPr>
        <p:spPr>
          <a:xfrm>
            <a:off x="6295133" y="3744334"/>
            <a:ext cx="4329065" cy="2476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화살표 연결선 100"/>
          <p:cNvCxnSpPr/>
          <p:nvPr/>
        </p:nvCxnSpPr>
        <p:spPr>
          <a:xfrm>
            <a:off x="6303851" y="3963054"/>
            <a:ext cx="4329065" cy="2476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직선 화살표 연결선 101"/>
          <p:cNvCxnSpPr/>
          <p:nvPr/>
        </p:nvCxnSpPr>
        <p:spPr>
          <a:xfrm flipH="1">
            <a:off x="6272099" y="4545981"/>
            <a:ext cx="4360722" cy="97606"/>
          </a:xfrm>
          <a:prstGeom prst="straightConnector1">
            <a:avLst/>
          </a:prstGeom>
          <a:ln w="12700">
            <a:solidFill>
              <a:srgbClr val="FF000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TextBox 102"/>
          <p:cNvSpPr txBox="1"/>
          <p:nvPr/>
        </p:nvSpPr>
        <p:spPr>
          <a:xfrm>
            <a:off x="10689548" y="4382472"/>
            <a:ext cx="72487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AN=27</a:t>
            </a:r>
            <a:endParaRPr lang="ko-KR" altLang="en-US" sz="1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04" name="직선 화살표 연결선 103"/>
          <p:cNvCxnSpPr/>
          <p:nvPr/>
        </p:nvCxnSpPr>
        <p:spPr>
          <a:xfrm>
            <a:off x="6294295" y="4170802"/>
            <a:ext cx="4329065" cy="2476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5" name="TextBox 104"/>
          <p:cNvSpPr txBox="1"/>
          <p:nvPr/>
        </p:nvSpPr>
        <p:spPr>
          <a:xfrm>
            <a:off x="5620215" y="4031687"/>
            <a:ext cx="69442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SN=26</a:t>
            </a:r>
            <a:endParaRPr lang="ko-KR" altLang="en-US" sz="1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6" name="TextBox 105"/>
          <p:cNvSpPr txBox="1"/>
          <p:nvPr/>
        </p:nvSpPr>
        <p:spPr>
          <a:xfrm>
            <a:off x="4226379" y="5041964"/>
            <a:ext cx="13083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CWND=5.5</a:t>
            </a:r>
            <a:endParaRPr lang="ko-KR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7" name="TextBox 106"/>
          <p:cNvSpPr txBox="1"/>
          <p:nvPr/>
        </p:nvSpPr>
        <p:spPr>
          <a:xfrm>
            <a:off x="5637410" y="4906271"/>
            <a:ext cx="69442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SN=28</a:t>
            </a:r>
            <a:endParaRPr lang="ko-KR" altLang="en-US" sz="1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8" name="TextBox 107"/>
          <p:cNvSpPr txBox="1"/>
          <p:nvPr/>
        </p:nvSpPr>
        <p:spPr>
          <a:xfrm>
            <a:off x="5626666" y="4707994"/>
            <a:ext cx="69442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SN=27</a:t>
            </a:r>
            <a:endParaRPr lang="ko-KR" altLang="en-US" sz="1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9" name="TextBox 108"/>
          <p:cNvSpPr txBox="1"/>
          <p:nvPr/>
        </p:nvSpPr>
        <p:spPr>
          <a:xfrm>
            <a:off x="5620215" y="5146094"/>
            <a:ext cx="69442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SN=29</a:t>
            </a:r>
            <a:endParaRPr lang="ko-KR" altLang="en-US" sz="1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10" name="직선 화살표 연결선 109"/>
          <p:cNvCxnSpPr/>
          <p:nvPr/>
        </p:nvCxnSpPr>
        <p:spPr>
          <a:xfrm>
            <a:off x="6303730" y="4881191"/>
            <a:ext cx="4329065" cy="2476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직선 화살표 연결선 110"/>
          <p:cNvCxnSpPr/>
          <p:nvPr/>
        </p:nvCxnSpPr>
        <p:spPr>
          <a:xfrm>
            <a:off x="6303730" y="5077009"/>
            <a:ext cx="4329065" cy="2476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직선 화살표 연결선 111"/>
          <p:cNvCxnSpPr/>
          <p:nvPr/>
        </p:nvCxnSpPr>
        <p:spPr>
          <a:xfrm>
            <a:off x="6312448" y="5295729"/>
            <a:ext cx="4329065" cy="2476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직선 화살표 연결선 112"/>
          <p:cNvCxnSpPr/>
          <p:nvPr/>
        </p:nvCxnSpPr>
        <p:spPr>
          <a:xfrm flipH="1">
            <a:off x="6248669" y="6229383"/>
            <a:ext cx="4342868" cy="126941"/>
          </a:xfrm>
          <a:prstGeom prst="straightConnector1">
            <a:avLst/>
          </a:prstGeom>
          <a:ln w="12700">
            <a:solidFill>
              <a:srgbClr val="FF000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4" name="TextBox 113"/>
          <p:cNvSpPr txBox="1"/>
          <p:nvPr/>
        </p:nvSpPr>
        <p:spPr>
          <a:xfrm>
            <a:off x="10682937" y="6075494"/>
            <a:ext cx="72487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AN=32</a:t>
            </a:r>
            <a:endParaRPr lang="ko-KR" altLang="en-US" sz="1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15" name="직선 화살표 연결선 114"/>
          <p:cNvCxnSpPr/>
          <p:nvPr/>
        </p:nvCxnSpPr>
        <p:spPr>
          <a:xfrm>
            <a:off x="6302892" y="5503477"/>
            <a:ext cx="4329065" cy="2476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" name="TextBox 115"/>
          <p:cNvSpPr txBox="1"/>
          <p:nvPr/>
        </p:nvSpPr>
        <p:spPr>
          <a:xfrm>
            <a:off x="5628812" y="5364362"/>
            <a:ext cx="69442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SN=30</a:t>
            </a:r>
            <a:endParaRPr lang="ko-KR" altLang="en-US" sz="1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17" name="직선 화살표 연결선 116"/>
          <p:cNvCxnSpPr/>
          <p:nvPr/>
        </p:nvCxnSpPr>
        <p:spPr>
          <a:xfrm>
            <a:off x="6301227" y="5714055"/>
            <a:ext cx="4329065" cy="2476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TextBox 117"/>
          <p:cNvSpPr txBox="1"/>
          <p:nvPr/>
        </p:nvSpPr>
        <p:spPr>
          <a:xfrm>
            <a:off x="5637410" y="5572376"/>
            <a:ext cx="69442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SN=31</a:t>
            </a:r>
            <a:endParaRPr lang="ko-KR" altLang="en-US" sz="1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5915732" y="223571"/>
            <a:ext cx="84779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Times New Roman" panose="02020603050405020304" pitchFamily="18" charset="0"/>
                <a:ea typeface="함초롬바탕" panose="02030604000101010101" pitchFamily="18" charset="-127"/>
                <a:cs typeface="Times New Roman" panose="02020603050405020304" pitchFamily="18" charset="0"/>
              </a:rPr>
              <a:t>Sender</a:t>
            </a:r>
            <a:r>
              <a:rPr lang="ko-KR" altLang="en-US" sz="1600" b="1">
                <a:latin typeface="Times New Roman" panose="02020603050405020304" pitchFamily="18" charset="0"/>
                <a:ea typeface="함초롬바탕" panose="02030604000101010101" pitchFamily="18" charset="-127"/>
                <a:cs typeface="Times New Roman" panose="02020603050405020304" pitchFamily="18" charset="0"/>
              </a:rPr>
              <a:t> </a:t>
            </a:r>
            <a:endParaRPr lang="ko-KR" altLang="en-US" sz="1600" b="1" dirty="0">
              <a:latin typeface="Times New Roman" panose="02020603050405020304" pitchFamily="18" charset="0"/>
              <a:ea typeface="함초롬바탕" panose="02030604000101010101" pitchFamily="18" charset="-127"/>
              <a:cs typeface="Times New Roman" panose="02020603050405020304" pitchFamily="18" charset="0"/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10145592" y="139301"/>
            <a:ext cx="99687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Times New Roman" panose="02020603050405020304" pitchFamily="18" charset="0"/>
                <a:ea typeface="함초롬바탕" panose="02030604000101010101" pitchFamily="18" charset="-127"/>
                <a:cs typeface="Times New Roman" panose="02020603050405020304" pitchFamily="18" charset="0"/>
              </a:rPr>
              <a:t>Receiver</a:t>
            </a:r>
            <a:r>
              <a:rPr lang="ko-KR" altLang="en-US" sz="1600" b="1">
                <a:latin typeface="Times New Roman" panose="02020603050405020304" pitchFamily="18" charset="0"/>
                <a:ea typeface="함초롬바탕" panose="02030604000101010101" pitchFamily="18" charset="-127"/>
                <a:cs typeface="Times New Roman" panose="02020603050405020304" pitchFamily="18" charset="0"/>
              </a:rPr>
              <a:t> </a:t>
            </a:r>
            <a:endParaRPr lang="ko-KR" altLang="en-US" sz="1600" b="1" dirty="0">
              <a:latin typeface="Times New Roman" panose="02020603050405020304" pitchFamily="18" charset="0"/>
              <a:ea typeface="함초롬바탕" panose="02030604000101010101" pitchFamily="18" charset="-127"/>
              <a:cs typeface="Times New Roman" panose="02020603050405020304" pitchFamily="18" charset="0"/>
            </a:endParaRPr>
          </a:p>
        </p:txBody>
      </p:sp>
      <p:sp>
        <p:nvSpPr>
          <p:cNvPr id="58" name="왼쪽 대괄호 57"/>
          <p:cNvSpPr/>
          <p:nvPr/>
        </p:nvSpPr>
        <p:spPr>
          <a:xfrm>
            <a:off x="5551215" y="1268467"/>
            <a:ext cx="83189" cy="350103"/>
          </a:xfrm>
          <a:prstGeom prst="leftBracket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왼쪽 대괄호 64"/>
          <p:cNvSpPr/>
          <p:nvPr/>
        </p:nvSpPr>
        <p:spPr>
          <a:xfrm>
            <a:off x="5551215" y="1268125"/>
            <a:ext cx="83189" cy="350103"/>
          </a:xfrm>
          <a:prstGeom prst="leftBracket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6" name="왼쪽 대괄호 65"/>
          <p:cNvSpPr/>
          <p:nvPr/>
        </p:nvSpPr>
        <p:spPr>
          <a:xfrm>
            <a:off x="5579459" y="2401930"/>
            <a:ext cx="54945" cy="497252"/>
          </a:xfrm>
          <a:prstGeom prst="leftBracket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2" name="왼쪽 대괄호 71"/>
          <p:cNvSpPr/>
          <p:nvPr/>
        </p:nvSpPr>
        <p:spPr>
          <a:xfrm>
            <a:off x="5560791" y="3449787"/>
            <a:ext cx="73613" cy="760917"/>
          </a:xfrm>
          <a:prstGeom prst="leftBracket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9" name="왼쪽 대괄호 118"/>
          <p:cNvSpPr/>
          <p:nvPr/>
        </p:nvSpPr>
        <p:spPr>
          <a:xfrm>
            <a:off x="5580040" y="4833589"/>
            <a:ext cx="52164" cy="880466"/>
          </a:xfrm>
          <a:prstGeom prst="leftBracket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직사각형 60"/>
          <p:cNvSpPr/>
          <p:nvPr/>
        </p:nvSpPr>
        <p:spPr>
          <a:xfrm>
            <a:off x="863206" y="1652703"/>
            <a:ext cx="2947140" cy="1107996"/>
          </a:xfrm>
          <a:prstGeom prst="rect">
            <a:avLst/>
          </a:prstGeom>
          <a:solidFill>
            <a:srgbClr val="FFC000"/>
          </a:solidFill>
        </p:spPr>
        <p:txBody>
          <a:bodyPr wrap="square">
            <a:spAutoFit/>
          </a:bodyPr>
          <a:lstStyle/>
          <a:p>
            <a:pPr marL="87313">
              <a:lnSpc>
                <a:spcPct val="150000"/>
              </a:lnSpc>
            </a:pPr>
            <a:r>
              <a:rPr lang="en-US" altLang="ko-KR" sz="1600" b="1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* </a:t>
            </a:r>
            <a:r>
              <a:rPr lang="ko-KR" altLang="en-US" sz="1600" b="1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빠른 </a:t>
            </a:r>
            <a:r>
              <a:rPr lang="ko-KR" altLang="en-US" sz="1600" b="1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복귀</a:t>
            </a:r>
            <a:r>
              <a:rPr lang="en-US" altLang="ko-KR" sz="1600" b="1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(</a:t>
            </a:r>
            <a:r>
              <a:rPr lang="en-US" altLang="ko-KR" sz="1600" b="1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fast recovery</a:t>
            </a:r>
            <a:r>
              <a:rPr lang="en-US" altLang="ko-KR" sz="1600" b="1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)</a:t>
            </a:r>
            <a:r>
              <a:rPr lang="ko-KR" altLang="en-US" sz="1600" b="1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 </a:t>
            </a:r>
            <a:endParaRPr lang="en-US" altLang="ko-KR" sz="1600" b="1" dirty="0">
              <a:latin typeface="함초롬바탕" panose="02030504000101010101" pitchFamily="18" charset="-127"/>
              <a:ea typeface="함초롬바탕" panose="02030504000101010101" pitchFamily="18" charset="-127"/>
              <a:cs typeface="함초롬바탕" panose="02030504000101010101" pitchFamily="18" charset="-127"/>
            </a:endParaRPr>
          </a:p>
          <a:p>
            <a:pPr marL="87313">
              <a:lnSpc>
                <a:spcPct val="150000"/>
              </a:lnSpc>
            </a:pPr>
            <a:r>
              <a:rPr lang="en-US" altLang="ko-KR" sz="14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CWND</a:t>
            </a:r>
            <a:r>
              <a:rPr lang="ko-KR" altLang="en-US" sz="140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의 크기를 </a:t>
            </a:r>
            <a:r>
              <a:rPr lang="en-US" altLang="ko-KR" sz="14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1</a:t>
            </a:r>
            <a:r>
              <a:rPr lang="ko-KR" altLang="en-US" sz="140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로 줄이지 않고 반</a:t>
            </a:r>
            <a:r>
              <a:rPr lang="en-US" altLang="ko-KR" sz="14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(0.5)</a:t>
            </a:r>
            <a:r>
              <a:rPr lang="ko-KR" altLang="en-US" sz="140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으로 줄임</a:t>
            </a:r>
            <a:endParaRPr lang="en-US" altLang="ko-KR" sz="1400" dirty="0">
              <a:latin typeface="함초롬바탕" panose="02030504000101010101" pitchFamily="18" charset="-127"/>
              <a:ea typeface="함초롬바탕" panose="02030504000101010101" pitchFamily="18" charset="-127"/>
              <a:cs typeface="함초롬바탕" panose="02030504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5511251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>
          <a:xfrm>
            <a:off x="9022367" y="6370929"/>
            <a:ext cx="2743200" cy="365125"/>
          </a:xfrm>
        </p:spPr>
        <p:txBody>
          <a:bodyPr/>
          <a:lstStyle/>
          <a:p>
            <a:fld id="{F100E85C-9068-46D2-A14A-A9DCCDE0C986}" type="slidenum">
              <a:rPr lang="ko-KR" altLang="en-US" smtClean="0"/>
              <a:pPr/>
              <a:t>55</a:t>
            </a:fld>
            <a:endParaRPr lang="ko-KR" altLang="en-US"/>
          </a:p>
        </p:txBody>
      </p:sp>
      <p:sp>
        <p:nvSpPr>
          <p:cNvPr id="46" name="자유형 45"/>
          <p:cNvSpPr/>
          <p:nvPr/>
        </p:nvSpPr>
        <p:spPr>
          <a:xfrm>
            <a:off x="3629549" y="1643742"/>
            <a:ext cx="5359224" cy="4524513"/>
          </a:xfrm>
          <a:custGeom>
            <a:avLst/>
            <a:gdLst>
              <a:gd name="connsiteX0" fmla="*/ 0 w 4365522"/>
              <a:gd name="connsiteY0" fmla="*/ 0 h 4336025"/>
              <a:gd name="connsiteX1" fmla="*/ 0 w 4365522"/>
              <a:gd name="connsiteY1" fmla="*/ 4336025 h 4336025"/>
              <a:gd name="connsiteX2" fmla="*/ 4365522 w 4365522"/>
              <a:gd name="connsiteY2" fmla="*/ 4321277 h 4336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365522" h="4336025">
                <a:moveTo>
                  <a:pt x="0" y="0"/>
                </a:moveTo>
                <a:lnTo>
                  <a:pt x="0" y="4336025"/>
                </a:lnTo>
                <a:lnTo>
                  <a:pt x="4365522" y="4321277"/>
                </a:lnTo>
              </a:path>
            </a:pathLst>
          </a:custGeom>
          <a:noFill/>
          <a:ln w="2540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자유형 53"/>
          <p:cNvSpPr/>
          <p:nvPr/>
        </p:nvSpPr>
        <p:spPr>
          <a:xfrm>
            <a:off x="3640155" y="3050149"/>
            <a:ext cx="2296600" cy="3089426"/>
          </a:xfrm>
          <a:custGeom>
            <a:avLst/>
            <a:gdLst>
              <a:gd name="connsiteX0" fmla="*/ 0 w 5265174"/>
              <a:gd name="connsiteY0" fmla="*/ 4911213 h 4911213"/>
              <a:gd name="connsiteX1" fmla="*/ 2477729 w 5265174"/>
              <a:gd name="connsiteY1" fmla="*/ 3937819 h 4911213"/>
              <a:gd name="connsiteX2" fmla="*/ 5265174 w 5265174"/>
              <a:gd name="connsiteY2" fmla="*/ 0 h 4911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265174" h="4911213">
                <a:moveTo>
                  <a:pt x="0" y="4911213"/>
                </a:moveTo>
                <a:cubicBezTo>
                  <a:pt x="800100" y="4833783"/>
                  <a:pt x="1600200" y="4756354"/>
                  <a:pt x="2477729" y="3937819"/>
                </a:cubicBezTo>
                <a:cubicBezTo>
                  <a:pt x="3355258" y="3119283"/>
                  <a:pt x="4310216" y="1559641"/>
                  <a:pt x="5265174" y="0"/>
                </a:cubicBezTo>
              </a:path>
            </a:pathLst>
          </a:custGeom>
          <a:noFill/>
          <a:ln w="444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TextBox 54"/>
          <p:cNvSpPr txBox="1"/>
          <p:nvPr/>
        </p:nvSpPr>
        <p:spPr>
          <a:xfrm>
            <a:off x="2676848" y="1683733"/>
            <a:ext cx="889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CWND</a:t>
            </a:r>
            <a:endParaRPr lang="ko-KR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6" name="타원 55"/>
          <p:cNvSpPr/>
          <p:nvPr/>
        </p:nvSpPr>
        <p:spPr>
          <a:xfrm>
            <a:off x="5789363" y="2947570"/>
            <a:ext cx="210122" cy="222365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TextBox 59"/>
          <p:cNvSpPr txBox="1"/>
          <p:nvPr/>
        </p:nvSpPr>
        <p:spPr>
          <a:xfrm>
            <a:off x="4192507" y="6167372"/>
            <a:ext cx="12105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Slow Start </a:t>
            </a:r>
            <a:endParaRPr lang="ko-KR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85" name="직선 연결선 84"/>
          <p:cNvCxnSpPr/>
          <p:nvPr/>
        </p:nvCxnSpPr>
        <p:spPr>
          <a:xfrm flipV="1">
            <a:off x="5999485" y="2089111"/>
            <a:ext cx="2989288" cy="944087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TextBox 99"/>
          <p:cNvSpPr txBox="1"/>
          <p:nvPr/>
        </p:nvSpPr>
        <p:spPr>
          <a:xfrm>
            <a:off x="6472391" y="6181665"/>
            <a:ext cx="24384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Fast Recovery</a:t>
            </a:r>
            <a:r>
              <a:rPr lang="en-US" altLang="ko-KR" sz="16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(</a:t>
            </a:r>
            <a:r>
              <a:rPr lang="ko-KR" altLang="en-US" sz="160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혼잡회피</a:t>
            </a:r>
            <a:r>
              <a:rPr lang="en-US" altLang="ko-KR" sz="16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)</a:t>
            </a:r>
            <a:endParaRPr lang="ko-KR" altLang="en-US" sz="1600">
              <a:latin typeface="함초롬바탕" panose="02030504000101010101" pitchFamily="18" charset="-127"/>
              <a:ea typeface="함초롬바탕" panose="02030504000101010101" pitchFamily="18" charset="-127"/>
              <a:cs typeface="함초롬바탕" panose="02030504000101010101" pitchFamily="18" charset="-127"/>
            </a:endParaRPr>
          </a:p>
        </p:txBody>
      </p:sp>
      <p:sp>
        <p:nvSpPr>
          <p:cNvPr id="103" name="직사각형 102"/>
          <p:cNvSpPr/>
          <p:nvPr/>
        </p:nvSpPr>
        <p:spPr>
          <a:xfrm>
            <a:off x="7343651" y="2892516"/>
            <a:ext cx="3357432" cy="1384995"/>
          </a:xfrm>
          <a:prstGeom prst="rect">
            <a:avLst/>
          </a:prstGeom>
          <a:solidFill>
            <a:srgbClr val="FFC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400" b="1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빠른 재전송 이후 바로 혼잡 회피 단계로 전환해 </a:t>
            </a:r>
            <a:r>
              <a:rPr lang="en-US" altLang="ko-KR" sz="1400" b="1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TCP </a:t>
            </a:r>
            <a:r>
              <a:rPr lang="ko-KR" altLang="en-US" sz="1400" b="1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전송 효율을 </a:t>
            </a:r>
            <a:r>
              <a:rPr lang="ko-KR" altLang="en-US" sz="1400" b="1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높이는 것 </a:t>
            </a:r>
            <a:endParaRPr lang="en-US" altLang="ko-KR" sz="1400" b="1" dirty="0">
              <a:latin typeface="함초롬바탕" panose="02030504000101010101" pitchFamily="18" charset="-127"/>
              <a:ea typeface="함초롬바탕" panose="02030504000101010101" pitchFamily="18" charset="-127"/>
              <a:cs typeface="함초롬바탕" panose="02030504000101010101" pitchFamily="18" charset="-127"/>
            </a:endParaRP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altLang="ko-KR" sz="1400" b="1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(</a:t>
            </a:r>
            <a:r>
              <a:rPr lang="en-US" altLang="ko-KR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Fast Recovery)</a:t>
            </a:r>
            <a:r>
              <a:rPr lang="en-US" altLang="ko-KR" sz="1400" b="1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 CWND</a:t>
            </a:r>
            <a:r>
              <a:rPr lang="ko-KR" altLang="en-US" sz="1400" b="1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의 크기를 </a:t>
            </a:r>
            <a:r>
              <a:rPr lang="en-US" altLang="ko-KR" sz="1400" b="1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1</a:t>
            </a:r>
            <a:r>
              <a:rPr lang="ko-KR" altLang="en-US" sz="1400" b="1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로 줄이지 않고 반</a:t>
            </a:r>
            <a:r>
              <a:rPr lang="en-US" altLang="ko-KR" sz="1400" b="1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(0.5)</a:t>
            </a:r>
            <a:r>
              <a:rPr lang="ko-KR" altLang="en-US" sz="1400" b="1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으로 줄임 </a:t>
            </a:r>
            <a:endParaRPr lang="ko-KR" altLang="en-US" sz="1400" b="1" dirty="0">
              <a:latin typeface="함초롬바탕" panose="02030504000101010101" pitchFamily="18" charset="-127"/>
              <a:ea typeface="함초롬바탕" panose="02030504000101010101" pitchFamily="18" charset="-127"/>
              <a:cs typeface="함초롬바탕" panose="02030504000101010101" pitchFamily="18" charset="-127"/>
            </a:endParaRPr>
          </a:p>
        </p:txBody>
      </p:sp>
      <p:cxnSp>
        <p:nvCxnSpPr>
          <p:cNvPr id="104" name="직선 화살표 연결선 103"/>
          <p:cNvCxnSpPr/>
          <p:nvPr/>
        </p:nvCxnSpPr>
        <p:spPr>
          <a:xfrm flipH="1" flipV="1">
            <a:off x="7825011" y="2468103"/>
            <a:ext cx="174624" cy="41100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5" name="제목 1"/>
          <p:cNvSpPr txBox="1">
            <a:spLocks/>
          </p:cNvSpPr>
          <p:nvPr/>
        </p:nvSpPr>
        <p:spPr>
          <a:xfrm>
            <a:off x="808060" y="159909"/>
            <a:ext cx="7332663" cy="7207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Fast Retransmission &amp; Fast Recovery</a:t>
            </a:r>
            <a:endParaRPr lang="ko-KR" altLang="en-US" sz="28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6" name="TextBox 105"/>
          <p:cNvSpPr txBox="1"/>
          <p:nvPr/>
        </p:nvSpPr>
        <p:spPr>
          <a:xfrm>
            <a:off x="3206081" y="5270004"/>
            <a:ext cx="2872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ko-KR" altLang="en-US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7" name="TextBox 106"/>
          <p:cNvSpPr txBox="1"/>
          <p:nvPr/>
        </p:nvSpPr>
        <p:spPr>
          <a:xfrm>
            <a:off x="3202436" y="4731796"/>
            <a:ext cx="2872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endParaRPr lang="ko-KR" altLang="en-US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8" name="TextBox 107"/>
          <p:cNvSpPr txBox="1"/>
          <p:nvPr/>
        </p:nvSpPr>
        <p:spPr>
          <a:xfrm>
            <a:off x="3202436" y="4052230"/>
            <a:ext cx="2872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r>
            <a:endParaRPr lang="ko-KR" altLang="en-US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9" name="TextBox 108"/>
          <p:cNvSpPr txBox="1"/>
          <p:nvPr/>
        </p:nvSpPr>
        <p:spPr>
          <a:xfrm>
            <a:off x="3125935" y="2892516"/>
            <a:ext cx="38985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16</a:t>
            </a:r>
            <a:endParaRPr lang="ko-KR" altLang="en-US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1" name="TextBox 110"/>
          <p:cNvSpPr txBox="1"/>
          <p:nvPr/>
        </p:nvSpPr>
        <p:spPr>
          <a:xfrm>
            <a:off x="3216863" y="5911900"/>
            <a:ext cx="2872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ko-KR" altLang="en-US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4225201" y="1252637"/>
            <a:ext cx="3275482" cy="101912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400" b="1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빠른</a:t>
            </a:r>
            <a:r>
              <a:rPr lang="en-US" altLang="ko-KR" sz="1400" b="1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 </a:t>
            </a:r>
            <a:r>
              <a:rPr lang="ko-KR" altLang="en-US" sz="1400" b="1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재전송</a:t>
            </a:r>
            <a:r>
              <a:rPr lang="en-US" altLang="ko-KR" sz="1400" b="1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(</a:t>
            </a:r>
            <a:r>
              <a:rPr lang="en-US" altLang="ko-KR" sz="1400" b="1" dirty="0">
                <a:latin typeface="Times New Roman" panose="02020603050405020304" pitchFamily="18" charset="0"/>
                <a:ea typeface="함초롬바탕" panose="02030504000101010101" pitchFamily="18" charset="-127"/>
                <a:cs typeface="Times New Roman" panose="02020603050405020304" pitchFamily="18" charset="0"/>
              </a:rPr>
              <a:t>fast retransmission</a:t>
            </a:r>
            <a:r>
              <a:rPr lang="en-US" altLang="ko-KR" sz="1400" b="1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) : 3</a:t>
            </a:r>
            <a:r>
              <a:rPr lang="ko-KR" altLang="en-US" sz="1400" b="1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개의 동일한 </a:t>
            </a:r>
            <a:r>
              <a:rPr lang="en-US" altLang="ko-KR" sz="1400" b="1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ACK</a:t>
            </a:r>
            <a:r>
              <a:rPr lang="ko-KR" altLang="en-US" sz="1400" b="1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를 받은 경우 타임아웃만큼 기다리지 않고 즉시 재전송</a:t>
            </a:r>
            <a:endParaRPr lang="en-US" altLang="ko-KR" sz="1400" b="1" dirty="0">
              <a:latin typeface="함초롬바탕" panose="02030504000101010101" pitchFamily="18" charset="-127"/>
              <a:ea typeface="함초롬바탕" panose="02030504000101010101" pitchFamily="18" charset="-127"/>
              <a:cs typeface="함초롬바탕" panose="02030504000101010101" pitchFamily="18" charset="-127"/>
            </a:endParaRPr>
          </a:p>
        </p:txBody>
      </p:sp>
      <p:cxnSp>
        <p:nvCxnSpPr>
          <p:cNvPr id="112" name="직선 화살표 연결선 111"/>
          <p:cNvCxnSpPr>
            <a:endCxn id="56" idx="1"/>
          </p:cNvCxnSpPr>
          <p:nvPr/>
        </p:nvCxnSpPr>
        <p:spPr>
          <a:xfrm>
            <a:off x="5519057" y="2325361"/>
            <a:ext cx="301078" cy="65477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2620416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>
          <a:xfrm>
            <a:off x="9125322" y="6356349"/>
            <a:ext cx="2743200" cy="365125"/>
          </a:xfrm>
        </p:spPr>
        <p:txBody>
          <a:bodyPr/>
          <a:lstStyle/>
          <a:p>
            <a:fld id="{F100E85C-9068-46D2-A14A-A9DCCDE0C986}" type="slidenum">
              <a:rPr lang="ko-KR" altLang="en-US" smtClean="0"/>
              <a:t>56</a:t>
            </a:fld>
            <a:endParaRPr lang="ko-KR" altLang="en-US"/>
          </a:p>
        </p:txBody>
      </p:sp>
      <p:cxnSp>
        <p:nvCxnSpPr>
          <p:cNvPr id="4" name="직선 연결선 3"/>
          <p:cNvCxnSpPr/>
          <p:nvPr/>
        </p:nvCxnSpPr>
        <p:spPr>
          <a:xfrm flipH="1">
            <a:off x="3934079" y="527050"/>
            <a:ext cx="9271" cy="6026150"/>
          </a:xfrm>
          <a:prstGeom prst="line">
            <a:avLst/>
          </a:prstGeom>
          <a:ln w="571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직선 연결선 5"/>
          <p:cNvCxnSpPr/>
          <p:nvPr/>
        </p:nvCxnSpPr>
        <p:spPr>
          <a:xfrm>
            <a:off x="8286750" y="527049"/>
            <a:ext cx="5389" cy="6026151"/>
          </a:xfrm>
          <a:prstGeom prst="line">
            <a:avLst/>
          </a:prstGeom>
          <a:ln w="571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3490730" y="67697"/>
            <a:ext cx="84779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Times New Roman" panose="02020603050405020304" pitchFamily="18" charset="0"/>
                <a:ea typeface="함초롬바탕" panose="02030604000101010101" pitchFamily="18" charset="-127"/>
                <a:cs typeface="Times New Roman" panose="02020603050405020304" pitchFamily="18" charset="0"/>
              </a:rPr>
              <a:t>Sender</a:t>
            </a:r>
            <a:r>
              <a:rPr lang="ko-KR" altLang="en-US" sz="1600" b="1">
                <a:latin typeface="Times New Roman" panose="02020603050405020304" pitchFamily="18" charset="0"/>
                <a:ea typeface="함초롬바탕" panose="02030604000101010101" pitchFamily="18" charset="-127"/>
                <a:cs typeface="Times New Roman" panose="02020603050405020304" pitchFamily="18" charset="0"/>
              </a:rPr>
              <a:t> </a:t>
            </a:r>
            <a:endParaRPr lang="ko-KR" altLang="en-US" sz="1600" b="1" dirty="0">
              <a:latin typeface="Times New Roman" panose="02020603050405020304" pitchFamily="18" charset="0"/>
              <a:ea typeface="함초롬바탕" panose="02030604000101010101" pitchFamily="18" charset="-127"/>
              <a:cs typeface="Times New Roman" panose="02020603050405020304" pitchFamily="18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7706302" y="85725"/>
            <a:ext cx="99687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Times New Roman" panose="02020603050405020304" pitchFamily="18" charset="0"/>
                <a:ea typeface="함초롬바탕" panose="02030604000101010101" pitchFamily="18" charset="-127"/>
                <a:cs typeface="Times New Roman" panose="02020603050405020304" pitchFamily="18" charset="0"/>
              </a:rPr>
              <a:t>Receiver</a:t>
            </a:r>
            <a:r>
              <a:rPr lang="ko-KR" altLang="en-US" sz="1600" b="1">
                <a:latin typeface="Times New Roman" panose="02020603050405020304" pitchFamily="18" charset="0"/>
                <a:ea typeface="함초롬바탕" panose="02030604000101010101" pitchFamily="18" charset="-127"/>
                <a:cs typeface="Times New Roman" panose="02020603050405020304" pitchFamily="18" charset="0"/>
              </a:rPr>
              <a:t> </a:t>
            </a:r>
            <a:endParaRPr lang="ko-KR" altLang="en-US" sz="1600" b="1" dirty="0">
              <a:latin typeface="Times New Roman" panose="02020603050405020304" pitchFamily="18" charset="0"/>
              <a:ea typeface="함초롬바탕" panose="02030604000101010101" pitchFamily="18" charset="-127"/>
              <a:cs typeface="Times New Roman" panose="02020603050405020304" pitchFamily="18" charset="0"/>
            </a:endParaRPr>
          </a:p>
        </p:txBody>
      </p:sp>
      <p:cxnSp>
        <p:nvCxnSpPr>
          <p:cNvPr id="11" name="직선 화살표 연결선 10"/>
          <p:cNvCxnSpPr/>
          <p:nvPr/>
        </p:nvCxnSpPr>
        <p:spPr>
          <a:xfrm>
            <a:off x="3952875" y="727591"/>
            <a:ext cx="4329065" cy="2476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3353032" y="550762"/>
            <a:ext cx="60465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SN=1</a:t>
            </a:r>
            <a:endParaRPr lang="ko-KR" altLang="en-US" sz="1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4" name="직선 화살표 연결선 13"/>
          <p:cNvCxnSpPr/>
          <p:nvPr/>
        </p:nvCxnSpPr>
        <p:spPr>
          <a:xfrm flipH="1">
            <a:off x="3952875" y="1066800"/>
            <a:ext cx="4329065" cy="333375"/>
          </a:xfrm>
          <a:prstGeom prst="straightConnector1">
            <a:avLst/>
          </a:prstGeom>
          <a:ln w="12700">
            <a:solidFill>
              <a:srgbClr val="FF000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361972" y="851416"/>
            <a:ext cx="63511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AN=2</a:t>
            </a:r>
            <a:endParaRPr lang="ko-KR" altLang="en-US" sz="1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6" name="직선 화살표 연결선 15"/>
          <p:cNvCxnSpPr/>
          <p:nvPr/>
        </p:nvCxnSpPr>
        <p:spPr>
          <a:xfrm>
            <a:off x="3952874" y="1583659"/>
            <a:ext cx="4329065" cy="2476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직선 화살표 연결선 16"/>
          <p:cNvCxnSpPr/>
          <p:nvPr/>
        </p:nvCxnSpPr>
        <p:spPr>
          <a:xfrm>
            <a:off x="3952874" y="1837124"/>
            <a:ext cx="4329065" cy="2476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3371849" y="1426347"/>
            <a:ext cx="60465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SN=2</a:t>
            </a:r>
            <a:endParaRPr lang="ko-KR" altLang="en-US" sz="1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3362325" y="1692652"/>
            <a:ext cx="60465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SN=3</a:t>
            </a:r>
            <a:endParaRPr lang="ko-KR" altLang="en-US" sz="1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8328007" y="2055766"/>
            <a:ext cx="63511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AN=4</a:t>
            </a:r>
            <a:endParaRPr lang="ko-KR" altLang="en-US" sz="1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1" name="직선 화살표 연결선 20"/>
          <p:cNvCxnSpPr/>
          <p:nvPr/>
        </p:nvCxnSpPr>
        <p:spPr>
          <a:xfrm flipH="1">
            <a:off x="3942770" y="2285420"/>
            <a:ext cx="4297912" cy="139678"/>
          </a:xfrm>
          <a:prstGeom prst="straightConnector1">
            <a:avLst/>
          </a:prstGeom>
          <a:ln w="12700">
            <a:solidFill>
              <a:srgbClr val="FF000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화살표 연결선 21"/>
          <p:cNvCxnSpPr/>
          <p:nvPr/>
        </p:nvCxnSpPr>
        <p:spPr>
          <a:xfrm>
            <a:off x="3952874" y="2642264"/>
            <a:ext cx="4329065" cy="2476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화살표 연결선 22"/>
          <p:cNvCxnSpPr/>
          <p:nvPr/>
        </p:nvCxnSpPr>
        <p:spPr>
          <a:xfrm>
            <a:off x="3963074" y="2842695"/>
            <a:ext cx="4329065" cy="2476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화살표 연결선 23"/>
          <p:cNvCxnSpPr/>
          <p:nvPr/>
        </p:nvCxnSpPr>
        <p:spPr>
          <a:xfrm>
            <a:off x="3942770" y="3063359"/>
            <a:ext cx="4329065" cy="2476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화살표 연결선 24"/>
          <p:cNvCxnSpPr/>
          <p:nvPr/>
        </p:nvCxnSpPr>
        <p:spPr>
          <a:xfrm>
            <a:off x="3952297" y="3258487"/>
            <a:ext cx="4329065" cy="2476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3323827" y="2449511"/>
            <a:ext cx="60465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SN=4</a:t>
            </a:r>
            <a:endParaRPr lang="ko-KR" altLang="en-US" sz="1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3339529" y="2680653"/>
            <a:ext cx="60465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SN=5</a:t>
            </a:r>
            <a:endParaRPr lang="ko-KR" altLang="en-US" sz="1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3331678" y="2919477"/>
            <a:ext cx="60465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SN=6</a:t>
            </a:r>
            <a:endParaRPr lang="ko-KR" altLang="en-US" sz="1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3323827" y="3149405"/>
            <a:ext cx="60465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SN=7</a:t>
            </a:r>
            <a:endParaRPr lang="ko-KR" altLang="en-US" sz="1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8361971" y="3502967"/>
            <a:ext cx="63511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AN=8</a:t>
            </a:r>
            <a:endParaRPr lang="ko-KR" altLang="en-US" sz="1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1" name="직선 화살표 연결선 30"/>
          <p:cNvCxnSpPr/>
          <p:nvPr/>
        </p:nvCxnSpPr>
        <p:spPr>
          <a:xfrm flipH="1">
            <a:off x="3962975" y="3715821"/>
            <a:ext cx="4293285" cy="131839"/>
          </a:xfrm>
          <a:prstGeom prst="straightConnector1">
            <a:avLst/>
          </a:prstGeom>
          <a:ln w="12700">
            <a:solidFill>
              <a:srgbClr val="FF000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2133406" y="553773"/>
            <a:ext cx="11352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CWND=1</a:t>
            </a:r>
            <a:endParaRPr lang="ko-KR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2074633" y="1591796"/>
            <a:ext cx="11352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CWND=2</a:t>
            </a:r>
            <a:endParaRPr lang="ko-KR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2088670" y="2764207"/>
            <a:ext cx="11352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CWND=4</a:t>
            </a:r>
            <a:endParaRPr lang="ko-KR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7" name="직선 화살표 연결선 36"/>
          <p:cNvCxnSpPr/>
          <p:nvPr/>
        </p:nvCxnSpPr>
        <p:spPr>
          <a:xfrm>
            <a:off x="3963074" y="4040715"/>
            <a:ext cx="4329065" cy="2476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화살표 연결선 37"/>
          <p:cNvCxnSpPr/>
          <p:nvPr/>
        </p:nvCxnSpPr>
        <p:spPr>
          <a:xfrm>
            <a:off x="3963074" y="4290194"/>
            <a:ext cx="4329065" cy="2476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직선 화살표 연결선 38"/>
          <p:cNvCxnSpPr/>
          <p:nvPr/>
        </p:nvCxnSpPr>
        <p:spPr>
          <a:xfrm>
            <a:off x="3957041" y="4521201"/>
            <a:ext cx="4329065" cy="2476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직선 화살표 연결선 39"/>
          <p:cNvCxnSpPr/>
          <p:nvPr/>
        </p:nvCxnSpPr>
        <p:spPr>
          <a:xfrm>
            <a:off x="3956396" y="4734400"/>
            <a:ext cx="4329065" cy="2476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/>
          <p:cNvCxnSpPr/>
          <p:nvPr/>
        </p:nvCxnSpPr>
        <p:spPr>
          <a:xfrm>
            <a:off x="3944907" y="4942296"/>
            <a:ext cx="4329065" cy="2476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직선 화살표 연결선 41"/>
          <p:cNvCxnSpPr/>
          <p:nvPr/>
        </p:nvCxnSpPr>
        <p:spPr>
          <a:xfrm>
            <a:off x="3955107" y="5142727"/>
            <a:ext cx="4329065" cy="2476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직선 화살표 연결선 42"/>
          <p:cNvCxnSpPr/>
          <p:nvPr/>
        </p:nvCxnSpPr>
        <p:spPr>
          <a:xfrm>
            <a:off x="3934803" y="5363391"/>
            <a:ext cx="4329065" cy="2476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직선 화살표 연결선 43"/>
          <p:cNvCxnSpPr/>
          <p:nvPr/>
        </p:nvCxnSpPr>
        <p:spPr>
          <a:xfrm>
            <a:off x="3955107" y="5614202"/>
            <a:ext cx="4329065" cy="2476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3260126" y="3865654"/>
            <a:ext cx="66396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SN=8</a:t>
            </a:r>
            <a:endParaRPr lang="ko-KR" altLang="en-US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3269297" y="4109533"/>
            <a:ext cx="64953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SN= 9</a:t>
            </a:r>
            <a:endParaRPr lang="ko-KR" altLang="en-US" sz="1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3261832" y="4325812"/>
            <a:ext cx="6877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SN=10</a:t>
            </a:r>
            <a:endParaRPr lang="ko-KR" altLang="en-US" sz="1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3262007" y="4556716"/>
            <a:ext cx="69442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SN=11</a:t>
            </a:r>
            <a:endParaRPr lang="ko-KR" altLang="en-US" sz="1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2063005" y="4633589"/>
            <a:ext cx="1162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b="1" i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CWND=8</a:t>
            </a:r>
            <a:endParaRPr lang="ko-KR" altLang="en-US" b="1" i="1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3253368" y="4793710"/>
            <a:ext cx="6877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SN=12</a:t>
            </a:r>
            <a:endParaRPr lang="ko-KR" altLang="en-US" sz="1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3268653" y="5021402"/>
            <a:ext cx="69442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SN=13</a:t>
            </a:r>
            <a:endParaRPr lang="ko-KR" altLang="en-US" sz="1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3273711" y="5260481"/>
            <a:ext cx="69442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SN=14</a:t>
            </a:r>
            <a:endParaRPr lang="ko-KR" altLang="en-US" sz="1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3274154" y="5488173"/>
            <a:ext cx="69442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SN=15</a:t>
            </a:r>
            <a:endParaRPr lang="ko-KR" altLang="en-US" sz="1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8338207" y="5893135"/>
            <a:ext cx="8803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b="1" i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AN=16</a:t>
            </a:r>
            <a:endParaRPr lang="ko-KR" altLang="en-US" b="1" i="1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58" name="직선 화살표 연결선 57"/>
          <p:cNvCxnSpPr/>
          <p:nvPr/>
        </p:nvCxnSpPr>
        <p:spPr>
          <a:xfrm flipH="1">
            <a:off x="6163431" y="6078474"/>
            <a:ext cx="2110077" cy="131839"/>
          </a:xfrm>
          <a:prstGeom prst="straightConnector1">
            <a:avLst/>
          </a:prstGeom>
          <a:ln w="12700">
            <a:solidFill>
              <a:srgbClr val="FF000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폭발 1 59"/>
          <p:cNvSpPr/>
          <p:nvPr/>
        </p:nvSpPr>
        <p:spPr>
          <a:xfrm>
            <a:off x="5330248" y="5870164"/>
            <a:ext cx="942975" cy="693801"/>
          </a:xfrm>
          <a:prstGeom prst="irregularSeal1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왼쪽 대괄호 2"/>
          <p:cNvSpPr/>
          <p:nvPr/>
        </p:nvSpPr>
        <p:spPr>
          <a:xfrm>
            <a:off x="3279713" y="1550129"/>
            <a:ext cx="83189" cy="350103"/>
          </a:xfrm>
          <a:prstGeom prst="leftBracket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왼쪽 대괄호 53"/>
          <p:cNvSpPr/>
          <p:nvPr/>
        </p:nvSpPr>
        <p:spPr>
          <a:xfrm>
            <a:off x="3260126" y="2581773"/>
            <a:ext cx="92906" cy="756038"/>
          </a:xfrm>
          <a:prstGeom prst="leftBracket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왼쪽 대괄호 55"/>
          <p:cNvSpPr/>
          <p:nvPr/>
        </p:nvSpPr>
        <p:spPr>
          <a:xfrm>
            <a:off x="3221286" y="4001591"/>
            <a:ext cx="110391" cy="1609449"/>
          </a:xfrm>
          <a:prstGeom prst="leftBracket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61498458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>
          <a:xfrm>
            <a:off x="9397251" y="6386594"/>
            <a:ext cx="2743200" cy="365125"/>
          </a:xfrm>
        </p:spPr>
        <p:txBody>
          <a:bodyPr/>
          <a:lstStyle/>
          <a:p>
            <a:fld id="{F100E85C-9068-46D2-A14A-A9DCCDE0C986}" type="slidenum">
              <a:rPr lang="ko-KR" altLang="en-US" smtClean="0"/>
              <a:t>57</a:t>
            </a:fld>
            <a:endParaRPr lang="ko-KR" altLang="en-US"/>
          </a:p>
        </p:txBody>
      </p:sp>
      <p:cxnSp>
        <p:nvCxnSpPr>
          <p:cNvPr id="4" name="직선 연결선 3"/>
          <p:cNvCxnSpPr/>
          <p:nvPr/>
        </p:nvCxnSpPr>
        <p:spPr>
          <a:xfrm flipH="1">
            <a:off x="3981704" y="536575"/>
            <a:ext cx="9271" cy="6026150"/>
          </a:xfrm>
          <a:prstGeom prst="line">
            <a:avLst/>
          </a:prstGeom>
          <a:ln w="571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직선 연결선 5"/>
          <p:cNvCxnSpPr/>
          <p:nvPr/>
        </p:nvCxnSpPr>
        <p:spPr>
          <a:xfrm>
            <a:off x="8344710" y="543006"/>
            <a:ext cx="5389" cy="6026151"/>
          </a:xfrm>
          <a:prstGeom prst="line">
            <a:avLst/>
          </a:prstGeom>
          <a:ln w="571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8383603" y="2266195"/>
            <a:ext cx="71821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AN=11</a:t>
            </a:r>
            <a:endParaRPr lang="ko-KR" altLang="en-US" sz="1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2121413" y="948384"/>
            <a:ext cx="11352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b="1" i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CWND=1</a:t>
            </a:r>
            <a:endParaRPr lang="ko-KR" altLang="en-US" b="1" i="1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7" name="직선 화살표 연결선 36"/>
          <p:cNvCxnSpPr/>
          <p:nvPr/>
        </p:nvCxnSpPr>
        <p:spPr>
          <a:xfrm>
            <a:off x="4000500" y="1201727"/>
            <a:ext cx="4329065" cy="2476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화살표 연결선 37"/>
          <p:cNvCxnSpPr/>
          <p:nvPr/>
        </p:nvCxnSpPr>
        <p:spPr>
          <a:xfrm>
            <a:off x="4010699" y="1892146"/>
            <a:ext cx="4329065" cy="2476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직선 화살표 연결선 38"/>
          <p:cNvCxnSpPr/>
          <p:nvPr/>
        </p:nvCxnSpPr>
        <p:spPr>
          <a:xfrm>
            <a:off x="4003753" y="2093774"/>
            <a:ext cx="4329065" cy="2476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직선 화살표 연결선 39"/>
          <p:cNvCxnSpPr/>
          <p:nvPr/>
        </p:nvCxnSpPr>
        <p:spPr>
          <a:xfrm>
            <a:off x="4036883" y="2803266"/>
            <a:ext cx="4329065" cy="2476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/>
          <p:cNvCxnSpPr/>
          <p:nvPr/>
        </p:nvCxnSpPr>
        <p:spPr>
          <a:xfrm>
            <a:off x="4025394" y="3011162"/>
            <a:ext cx="4329065" cy="2476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직선 화살표 연결선 41"/>
          <p:cNvCxnSpPr/>
          <p:nvPr/>
        </p:nvCxnSpPr>
        <p:spPr>
          <a:xfrm>
            <a:off x="4035594" y="3211593"/>
            <a:ext cx="4329065" cy="2476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직선 화살표 연결선 42"/>
          <p:cNvCxnSpPr/>
          <p:nvPr/>
        </p:nvCxnSpPr>
        <p:spPr>
          <a:xfrm>
            <a:off x="4015290" y="3432257"/>
            <a:ext cx="4329065" cy="2476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3342491" y="979162"/>
            <a:ext cx="66556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SN=8</a:t>
            </a:r>
            <a:endParaRPr lang="ko-KR" altLang="en-US" sz="1600" b="1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3328608" y="1733688"/>
            <a:ext cx="64953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SN= 9</a:t>
            </a:r>
            <a:endParaRPr lang="ko-KR" altLang="en-US" sz="1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3321390" y="1951663"/>
            <a:ext cx="6877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SN=10</a:t>
            </a:r>
            <a:endParaRPr lang="ko-KR" altLang="en-US" sz="1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2138972" y="2914081"/>
            <a:ext cx="11352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CWND=4</a:t>
            </a:r>
            <a:endParaRPr lang="ko-KR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3" name="그룹 2"/>
          <p:cNvGrpSpPr/>
          <p:nvPr/>
        </p:nvGrpSpPr>
        <p:grpSpPr>
          <a:xfrm>
            <a:off x="3293764" y="2626675"/>
            <a:ext cx="713516" cy="981696"/>
            <a:chOff x="3293764" y="2626675"/>
            <a:chExt cx="713516" cy="981696"/>
          </a:xfrm>
        </p:grpSpPr>
        <p:sp>
          <p:nvSpPr>
            <p:cNvPr id="48" name="TextBox 47"/>
            <p:cNvSpPr txBox="1"/>
            <p:nvPr/>
          </p:nvSpPr>
          <p:spPr>
            <a:xfrm>
              <a:off x="3312859" y="2626675"/>
              <a:ext cx="69442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SN=11</a:t>
              </a:r>
              <a:endParaRPr lang="ko-KR" altLang="en-US" sz="14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0" name="TextBox 49"/>
            <p:cNvSpPr txBox="1"/>
            <p:nvPr/>
          </p:nvSpPr>
          <p:spPr>
            <a:xfrm>
              <a:off x="3304220" y="2863669"/>
              <a:ext cx="68775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SN=12</a:t>
              </a:r>
              <a:endParaRPr lang="ko-KR" altLang="en-US" sz="14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1" name="TextBox 50"/>
            <p:cNvSpPr txBox="1"/>
            <p:nvPr/>
          </p:nvSpPr>
          <p:spPr>
            <a:xfrm>
              <a:off x="3302651" y="3082742"/>
              <a:ext cx="69442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SN=13</a:t>
              </a:r>
              <a:endParaRPr lang="ko-KR" altLang="en-US" sz="14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2" name="TextBox 51"/>
            <p:cNvSpPr txBox="1"/>
            <p:nvPr/>
          </p:nvSpPr>
          <p:spPr>
            <a:xfrm>
              <a:off x="3293764" y="3300594"/>
              <a:ext cx="69442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SN=14</a:t>
              </a:r>
              <a:endParaRPr lang="ko-KR" altLang="en-US" sz="14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53" name="TextBox 52"/>
          <p:cNvSpPr txBox="1"/>
          <p:nvPr/>
        </p:nvSpPr>
        <p:spPr>
          <a:xfrm>
            <a:off x="3287621" y="4219270"/>
            <a:ext cx="69442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SN=15</a:t>
            </a:r>
            <a:endParaRPr lang="ko-KR" altLang="en-US" sz="1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8321020" y="491995"/>
            <a:ext cx="79060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i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AN=16</a:t>
            </a:r>
            <a:endParaRPr lang="ko-KR" altLang="en-US" sz="1600" b="1" i="1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58" name="직선 화살표 연결선 57"/>
          <p:cNvCxnSpPr/>
          <p:nvPr/>
        </p:nvCxnSpPr>
        <p:spPr>
          <a:xfrm flipH="1">
            <a:off x="6201416" y="682163"/>
            <a:ext cx="2110077" cy="131839"/>
          </a:xfrm>
          <a:prstGeom prst="straightConnector1">
            <a:avLst/>
          </a:prstGeom>
          <a:ln w="12700">
            <a:solidFill>
              <a:srgbClr val="FF000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폭발 1 59"/>
          <p:cNvSpPr/>
          <p:nvPr/>
        </p:nvSpPr>
        <p:spPr>
          <a:xfrm>
            <a:off x="5404314" y="484924"/>
            <a:ext cx="792742" cy="675507"/>
          </a:xfrm>
          <a:prstGeom prst="irregularSeal1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4" name="직선 화살표 연결선 53"/>
          <p:cNvCxnSpPr/>
          <p:nvPr/>
        </p:nvCxnSpPr>
        <p:spPr>
          <a:xfrm flipH="1">
            <a:off x="3968626" y="1591592"/>
            <a:ext cx="4342868" cy="126941"/>
          </a:xfrm>
          <a:prstGeom prst="straightConnector1">
            <a:avLst/>
          </a:prstGeom>
          <a:ln w="12700">
            <a:solidFill>
              <a:srgbClr val="FF000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8376822" y="1388947"/>
            <a:ext cx="63511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AN=9</a:t>
            </a:r>
            <a:endParaRPr lang="ko-KR" altLang="en-US" sz="1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57" name="직선 화살표 연결선 56"/>
          <p:cNvCxnSpPr/>
          <p:nvPr/>
        </p:nvCxnSpPr>
        <p:spPr>
          <a:xfrm flipH="1">
            <a:off x="4003797" y="2496958"/>
            <a:ext cx="4342868" cy="126941"/>
          </a:xfrm>
          <a:prstGeom prst="straightConnector1">
            <a:avLst/>
          </a:prstGeom>
          <a:ln w="12700">
            <a:solidFill>
              <a:srgbClr val="FF000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8380269" y="3722856"/>
            <a:ext cx="72487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AN=15</a:t>
            </a:r>
            <a:endParaRPr lang="ko-KR" altLang="en-US" sz="1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61" name="직선 화살표 연결선 60"/>
          <p:cNvCxnSpPr>
            <a:stCxn id="59" idx="1"/>
          </p:cNvCxnSpPr>
          <p:nvPr/>
        </p:nvCxnSpPr>
        <p:spPr>
          <a:xfrm flipH="1">
            <a:off x="3983987" y="3876745"/>
            <a:ext cx="4396282" cy="220289"/>
          </a:xfrm>
          <a:prstGeom prst="straightConnector1">
            <a:avLst/>
          </a:prstGeom>
          <a:ln w="12700">
            <a:solidFill>
              <a:srgbClr val="FF000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2144634" y="1821021"/>
            <a:ext cx="11352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CWND=2</a:t>
            </a:r>
            <a:endParaRPr lang="ko-KR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63" name="직선 화살표 연결선 62"/>
          <p:cNvCxnSpPr/>
          <p:nvPr/>
        </p:nvCxnSpPr>
        <p:spPr>
          <a:xfrm>
            <a:off x="4007401" y="4367525"/>
            <a:ext cx="2219756" cy="12842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화살표 연결선 63"/>
          <p:cNvCxnSpPr/>
          <p:nvPr/>
        </p:nvCxnSpPr>
        <p:spPr>
          <a:xfrm>
            <a:off x="3978722" y="4590440"/>
            <a:ext cx="4329065" cy="2476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직선 화살표 연결선 64"/>
          <p:cNvCxnSpPr/>
          <p:nvPr/>
        </p:nvCxnSpPr>
        <p:spPr>
          <a:xfrm>
            <a:off x="3988922" y="4790871"/>
            <a:ext cx="4329065" cy="2476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직선 화살표 연결선 65"/>
          <p:cNvCxnSpPr/>
          <p:nvPr/>
        </p:nvCxnSpPr>
        <p:spPr>
          <a:xfrm>
            <a:off x="3968618" y="5011535"/>
            <a:ext cx="4329065" cy="2476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직선 화살표 연결선 66"/>
          <p:cNvCxnSpPr/>
          <p:nvPr/>
        </p:nvCxnSpPr>
        <p:spPr>
          <a:xfrm>
            <a:off x="3978145" y="5206663"/>
            <a:ext cx="4329065" cy="2476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3286951" y="4448046"/>
            <a:ext cx="69442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SN=16</a:t>
            </a:r>
            <a:endParaRPr lang="ko-KR" altLang="en-US" sz="1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9" name="TextBox 68"/>
          <p:cNvSpPr txBox="1"/>
          <p:nvPr/>
        </p:nvSpPr>
        <p:spPr>
          <a:xfrm>
            <a:off x="3286950" y="4670666"/>
            <a:ext cx="69442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SN=17</a:t>
            </a:r>
            <a:endParaRPr lang="ko-KR" altLang="en-US" sz="1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0" name="TextBox 69"/>
          <p:cNvSpPr txBox="1"/>
          <p:nvPr/>
        </p:nvSpPr>
        <p:spPr>
          <a:xfrm>
            <a:off x="3286949" y="4859544"/>
            <a:ext cx="69442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SN=18</a:t>
            </a:r>
            <a:endParaRPr lang="ko-KR" altLang="en-US" sz="1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1" name="TextBox 70"/>
          <p:cNvSpPr txBox="1"/>
          <p:nvPr/>
        </p:nvSpPr>
        <p:spPr>
          <a:xfrm>
            <a:off x="3277422" y="5068743"/>
            <a:ext cx="69442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SN=19</a:t>
            </a:r>
            <a:endParaRPr lang="ko-KR" altLang="en-US" sz="1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2" name="폭발 1 71"/>
          <p:cNvSpPr/>
          <p:nvPr/>
        </p:nvSpPr>
        <p:spPr>
          <a:xfrm>
            <a:off x="6153454" y="4126878"/>
            <a:ext cx="792742" cy="675507"/>
          </a:xfrm>
          <a:prstGeom prst="irregularSeal1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3" name="TextBox 72"/>
          <p:cNvSpPr txBox="1"/>
          <p:nvPr/>
        </p:nvSpPr>
        <p:spPr>
          <a:xfrm>
            <a:off x="2138880" y="4587308"/>
            <a:ext cx="1162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b="1" i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CWND=5</a:t>
            </a:r>
            <a:endParaRPr lang="ko-KR" altLang="en-US" b="1" i="1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74" name="직선 화살표 연결선 73"/>
          <p:cNvCxnSpPr/>
          <p:nvPr/>
        </p:nvCxnSpPr>
        <p:spPr>
          <a:xfrm flipH="1">
            <a:off x="3985234" y="5637145"/>
            <a:ext cx="4342868" cy="126941"/>
          </a:xfrm>
          <a:prstGeom prst="straightConnector1">
            <a:avLst/>
          </a:prstGeom>
          <a:ln w="12700">
            <a:solidFill>
              <a:srgbClr val="FF000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직선 화살표 연결선 74"/>
          <p:cNvCxnSpPr/>
          <p:nvPr/>
        </p:nvCxnSpPr>
        <p:spPr>
          <a:xfrm flipH="1">
            <a:off x="3985221" y="5864837"/>
            <a:ext cx="4342868" cy="126941"/>
          </a:xfrm>
          <a:prstGeom prst="straightConnector1">
            <a:avLst/>
          </a:prstGeom>
          <a:ln w="12700">
            <a:solidFill>
              <a:srgbClr val="FF000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직선 화살표 연결선 75"/>
          <p:cNvCxnSpPr/>
          <p:nvPr/>
        </p:nvCxnSpPr>
        <p:spPr>
          <a:xfrm flipH="1">
            <a:off x="3966129" y="6113804"/>
            <a:ext cx="4342868" cy="126941"/>
          </a:xfrm>
          <a:prstGeom prst="straightConnector1">
            <a:avLst/>
          </a:prstGeom>
          <a:ln w="12700">
            <a:solidFill>
              <a:srgbClr val="FF000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TextBox 76"/>
          <p:cNvSpPr txBox="1"/>
          <p:nvPr/>
        </p:nvSpPr>
        <p:spPr>
          <a:xfrm>
            <a:off x="8398826" y="5452479"/>
            <a:ext cx="72487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AN=15</a:t>
            </a:r>
            <a:endParaRPr lang="ko-KR" altLang="en-US" sz="1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8" name="TextBox 77"/>
          <p:cNvSpPr txBox="1"/>
          <p:nvPr/>
        </p:nvSpPr>
        <p:spPr>
          <a:xfrm>
            <a:off x="8389149" y="5745998"/>
            <a:ext cx="72487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AN=15</a:t>
            </a:r>
            <a:endParaRPr lang="ko-KR" altLang="en-US" sz="1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9" name="TextBox 78"/>
          <p:cNvSpPr txBox="1"/>
          <p:nvPr/>
        </p:nvSpPr>
        <p:spPr>
          <a:xfrm>
            <a:off x="8389149" y="5994846"/>
            <a:ext cx="72487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AN=15</a:t>
            </a:r>
            <a:endParaRPr lang="ko-KR" altLang="en-US" sz="1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0" name="오른쪽 화살표 79"/>
          <p:cNvSpPr/>
          <p:nvPr/>
        </p:nvSpPr>
        <p:spPr>
          <a:xfrm rot="5400000">
            <a:off x="4488225" y="517035"/>
            <a:ext cx="509717" cy="462093"/>
          </a:xfrm>
          <a:prstGeom prst="rightArrow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1" name="TextBox 80"/>
          <p:cNvSpPr txBox="1"/>
          <p:nvPr/>
        </p:nvSpPr>
        <p:spPr>
          <a:xfrm>
            <a:off x="3531761" y="201024"/>
            <a:ext cx="84779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Times New Roman" panose="02020603050405020304" pitchFamily="18" charset="0"/>
                <a:ea typeface="함초롬바탕" panose="02030604000101010101" pitchFamily="18" charset="-127"/>
                <a:cs typeface="Times New Roman" panose="02020603050405020304" pitchFamily="18" charset="0"/>
              </a:rPr>
              <a:t>Sender</a:t>
            </a:r>
            <a:r>
              <a:rPr lang="ko-KR" altLang="en-US" sz="1600" b="1">
                <a:latin typeface="Times New Roman" panose="02020603050405020304" pitchFamily="18" charset="0"/>
                <a:ea typeface="함초롬바탕" panose="02030604000101010101" pitchFamily="18" charset="-127"/>
                <a:cs typeface="Times New Roman" panose="02020603050405020304" pitchFamily="18" charset="0"/>
              </a:rPr>
              <a:t> </a:t>
            </a:r>
            <a:endParaRPr lang="ko-KR" altLang="en-US" sz="1600" b="1" dirty="0">
              <a:latin typeface="Times New Roman" panose="02020603050405020304" pitchFamily="18" charset="0"/>
              <a:ea typeface="함초롬바탕" panose="02030604000101010101" pitchFamily="18" charset="-127"/>
              <a:cs typeface="Times New Roman" panose="02020603050405020304" pitchFamily="18" charset="0"/>
            </a:endParaRPr>
          </a:p>
        </p:txBody>
      </p:sp>
      <p:sp>
        <p:nvSpPr>
          <p:cNvPr id="82" name="TextBox 81"/>
          <p:cNvSpPr txBox="1"/>
          <p:nvPr/>
        </p:nvSpPr>
        <p:spPr>
          <a:xfrm>
            <a:off x="7761621" y="116754"/>
            <a:ext cx="99687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Times New Roman" panose="02020603050405020304" pitchFamily="18" charset="0"/>
                <a:ea typeface="함초롬바탕" panose="02030604000101010101" pitchFamily="18" charset="-127"/>
                <a:cs typeface="Times New Roman" panose="02020603050405020304" pitchFamily="18" charset="0"/>
              </a:rPr>
              <a:t>Receiver</a:t>
            </a:r>
            <a:r>
              <a:rPr lang="ko-KR" altLang="en-US" sz="1600" b="1">
                <a:latin typeface="Times New Roman" panose="02020603050405020304" pitchFamily="18" charset="0"/>
                <a:ea typeface="함초롬바탕" panose="02030604000101010101" pitchFamily="18" charset="-127"/>
                <a:cs typeface="Times New Roman" panose="02020603050405020304" pitchFamily="18" charset="0"/>
              </a:rPr>
              <a:t> </a:t>
            </a:r>
            <a:endParaRPr lang="ko-KR" altLang="en-US" sz="1600" b="1" dirty="0">
              <a:latin typeface="Times New Roman" panose="02020603050405020304" pitchFamily="18" charset="0"/>
              <a:ea typeface="함초롬바탕" panose="02030604000101010101" pitchFamily="18" charset="-127"/>
              <a:cs typeface="Times New Roman" panose="02020603050405020304" pitchFamily="18" charset="0"/>
            </a:endParaRPr>
          </a:p>
        </p:txBody>
      </p:sp>
      <p:sp>
        <p:nvSpPr>
          <p:cNvPr id="83" name="왼쪽 대괄호 82"/>
          <p:cNvSpPr/>
          <p:nvPr/>
        </p:nvSpPr>
        <p:spPr>
          <a:xfrm>
            <a:off x="3249585" y="2739504"/>
            <a:ext cx="92906" cy="756038"/>
          </a:xfrm>
          <a:prstGeom prst="leftBracket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4" name="왼쪽 대괄호 83"/>
          <p:cNvSpPr/>
          <p:nvPr/>
        </p:nvSpPr>
        <p:spPr>
          <a:xfrm>
            <a:off x="3257053" y="4356239"/>
            <a:ext cx="64337" cy="894535"/>
          </a:xfrm>
          <a:prstGeom prst="leftBracket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5" name="왼쪽 대괄호 84"/>
          <p:cNvSpPr/>
          <p:nvPr/>
        </p:nvSpPr>
        <p:spPr>
          <a:xfrm>
            <a:off x="3240853" y="1846327"/>
            <a:ext cx="83189" cy="350103"/>
          </a:xfrm>
          <a:prstGeom prst="leftBracket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/>
          <p:cNvSpPr txBox="1"/>
          <p:nvPr/>
        </p:nvSpPr>
        <p:spPr>
          <a:xfrm>
            <a:off x="9397251" y="5700411"/>
            <a:ext cx="2619628" cy="52322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none" rtlCol="0">
            <a:spAutoFit/>
          </a:bodyPr>
          <a:lstStyle/>
          <a:p>
            <a:r>
              <a:rPr lang="ko-KR" altLang="en-US" sz="1400" b="1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세그먼트 하나가 유실되었을 때</a:t>
            </a:r>
            <a:endParaRPr lang="en-US" altLang="ko-KR" sz="1400" b="1" dirty="0">
              <a:latin typeface="함초롬바탕" panose="02030604000101010101" pitchFamily="18" charset="-127"/>
              <a:ea typeface="함초롬바탕" panose="02030604000101010101" pitchFamily="18" charset="-127"/>
              <a:cs typeface="함초롬바탕" panose="02030604000101010101" pitchFamily="18" charset="-127"/>
            </a:endParaRPr>
          </a:p>
          <a:p>
            <a:r>
              <a:rPr lang="en-US" altLang="ko-KR" sz="1400" b="1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(SN=15)</a:t>
            </a:r>
          </a:p>
        </p:txBody>
      </p:sp>
      <p:sp>
        <p:nvSpPr>
          <p:cNvPr id="7" name="오른쪽 대괄호 6"/>
          <p:cNvSpPr/>
          <p:nvPr/>
        </p:nvSpPr>
        <p:spPr>
          <a:xfrm>
            <a:off x="9123704" y="5529559"/>
            <a:ext cx="53991" cy="670556"/>
          </a:xfrm>
          <a:prstGeom prst="rightBracket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</p:spTree>
    <p:extLst>
      <p:ext uri="{BB962C8B-B14F-4D97-AF65-F5344CB8AC3E}">
        <p14:creationId xmlns:p14="http://schemas.microsoft.com/office/powerpoint/2010/main" val="1812817598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>
          <a:xfrm>
            <a:off x="9100447" y="6273800"/>
            <a:ext cx="2743200" cy="365125"/>
          </a:xfrm>
        </p:spPr>
        <p:txBody>
          <a:bodyPr/>
          <a:lstStyle/>
          <a:p>
            <a:fld id="{F100E85C-9068-46D2-A14A-A9DCCDE0C986}" type="slidenum">
              <a:rPr lang="ko-KR" altLang="en-US" smtClean="0"/>
              <a:t>58</a:t>
            </a:fld>
            <a:endParaRPr lang="ko-KR" altLang="en-US"/>
          </a:p>
        </p:txBody>
      </p:sp>
      <p:cxnSp>
        <p:nvCxnSpPr>
          <p:cNvPr id="4" name="직선 연결선 3"/>
          <p:cNvCxnSpPr/>
          <p:nvPr/>
        </p:nvCxnSpPr>
        <p:spPr>
          <a:xfrm>
            <a:off x="3895726" y="455000"/>
            <a:ext cx="998" cy="6380453"/>
          </a:xfrm>
          <a:prstGeom prst="line">
            <a:avLst/>
          </a:prstGeom>
          <a:ln w="571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직선 연결선 5"/>
          <p:cNvCxnSpPr/>
          <p:nvPr/>
        </p:nvCxnSpPr>
        <p:spPr>
          <a:xfrm>
            <a:off x="8249460" y="461431"/>
            <a:ext cx="7612" cy="6374022"/>
          </a:xfrm>
          <a:prstGeom prst="line">
            <a:avLst/>
          </a:prstGeom>
          <a:ln w="571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1795565" y="2518514"/>
            <a:ext cx="13083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CWND=3.5</a:t>
            </a:r>
            <a:endParaRPr lang="ko-KR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2" name="TextBox 61"/>
          <p:cNvSpPr txBox="1"/>
          <p:nvPr/>
        </p:nvSpPr>
        <p:spPr>
          <a:xfrm>
            <a:off x="1789126" y="1260824"/>
            <a:ext cx="13356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CWND=2.5</a:t>
            </a:r>
            <a:endParaRPr lang="ko-KR" altLang="en-US" b="1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3" name="TextBox 72"/>
          <p:cNvSpPr txBox="1"/>
          <p:nvPr/>
        </p:nvSpPr>
        <p:spPr>
          <a:xfrm>
            <a:off x="1835621" y="3608083"/>
            <a:ext cx="13083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CWND=4.5</a:t>
            </a:r>
            <a:endParaRPr lang="ko-KR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74" name="직선 화살표 연결선 73"/>
          <p:cNvCxnSpPr>
            <a:stCxn id="77" idx="1"/>
          </p:cNvCxnSpPr>
          <p:nvPr/>
        </p:nvCxnSpPr>
        <p:spPr>
          <a:xfrm flipH="1">
            <a:off x="3942014" y="549544"/>
            <a:ext cx="4339018" cy="169952"/>
          </a:xfrm>
          <a:prstGeom prst="straightConnector1">
            <a:avLst/>
          </a:prstGeom>
          <a:ln w="12700">
            <a:solidFill>
              <a:srgbClr val="FF000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직선 화살표 연결선 74"/>
          <p:cNvCxnSpPr/>
          <p:nvPr/>
        </p:nvCxnSpPr>
        <p:spPr>
          <a:xfrm flipH="1">
            <a:off x="3941161" y="791549"/>
            <a:ext cx="4299067" cy="116304"/>
          </a:xfrm>
          <a:prstGeom prst="straightConnector1">
            <a:avLst/>
          </a:prstGeom>
          <a:ln w="12700">
            <a:solidFill>
              <a:srgbClr val="FF000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직선 화살표 연결선 75"/>
          <p:cNvCxnSpPr/>
          <p:nvPr/>
        </p:nvCxnSpPr>
        <p:spPr>
          <a:xfrm flipH="1">
            <a:off x="3911981" y="982937"/>
            <a:ext cx="4342868" cy="126941"/>
          </a:xfrm>
          <a:prstGeom prst="straightConnector1">
            <a:avLst/>
          </a:prstGeom>
          <a:ln w="12700">
            <a:solidFill>
              <a:srgbClr val="FF000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TextBox 76"/>
          <p:cNvSpPr txBox="1"/>
          <p:nvPr/>
        </p:nvSpPr>
        <p:spPr>
          <a:xfrm>
            <a:off x="8281032" y="395655"/>
            <a:ext cx="72487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AN=15</a:t>
            </a:r>
            <a:endParaRPr lang="ko-KR" altLang="en-US" sz="1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8" name="TextBox 77"/>
          <p:cNvSpPr txBox="1"/>
          <p:nvPr/>
        </p:nvSpPr>
        <p:spPr>
          <a:xfrm>
            <a:off x="8289900" y="634520"/>
            <a:ext cx="72487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AN=15</a:t>
            </a:r>
            <a:endParaRPr lang="ko-KR" altLang="en-US" sz="1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9" name="TextBox 78"/>
          <p:cNvSpPr txBox="1"/>
          <p:nvPr/>
        </p:nvSpPr>
        <p:spPr>
          <a:xfrm>
            <a:off x="8289900" y="861349"/>
            <a:ext cx="72487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AN=15</a:t>
            </a:r>
            <a:endParaRPr lang="ko-KR" altLang="en-US" sz="1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80" name="직선 화살표 연결선 79"/>
          <p:cNvCxnSpPr/>
          <p:nvPr/>
        </p:nvCxnSpPr>
        <p:spPr>
          <a:xfrm>
            <a:off x="3921651" y="1342002"/>
            <a:ext cx="4329065" cy="2476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직선 화살표 연결선 80"/>
          <p:cNvCxnSpPr/>
          <p:nvPr/>
        </p:nvCxnSpPr>
        <p:spPr>
          <a:xfrm>
            <a:off x="3901931" y="1530444"/>
            <a:ext cx="4329065" cy="2476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TextBox 81"/>
          <p:cNvSpPr txBox="1"/>
          <p:nvPr/>
        </p:nvSpPr>
        <p:spPr>
          <a:xfrm>
            <a:off x="3253532" y="1158584"/>
            <a:ext cx="69442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SN=15</a:t>
            </a:r>
            <a:endParaRPr lang="ko-KR" altLang="en-US" sz="1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3" name="TextBox 82"/>
          <p:cNvSpPr txBox="1"/>
          <p:nvPr/>
        </p:nvSpPr>
        <p:spPr>
          <a:xfrm>
            <a:off x="3250433" y="1374344"/>
            <a:ext cx="69442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SN=16</a:t>
            </a:r>
            <a:endParaRPr lang="ko-KR" altLang="en-US" sz="1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84" name="직선 화살표 연결선 83"/>
          <p:cNvCxnSpPr/>
          <p:nvPr/>
        </p:nvCxnSpPr>
        <p:spPr>
          <a:xfrm flipH="1">
            <a:off x="3873764" y="1943156"/>
            <a:ext cx="4342868" cy="126941"/>
          </a:xfrm>
          <a:prstGeom prst="straightConnector1">
            <a:avLst/>
          </a:prstGeom>
          <a:ln w="12700">
            <a:solidFill>
              <a:srgbClr val="FF000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직선 화살표 연결선 84"/>
          <p:cNvCxnSpPr/>
          <p:nvPr/>
        </p:nvCxnSpPr>
        <p:spPr>
          <a:xfrm flipH="1">
            <a:off x="3873764" y="2135502"/>
            <a:ext cx="4342868" cy="126941"/>
          </a:xfrm>
          <a:prstGeom prst="straightConnector1">
            <a:avLst/>
          </a:prstGeom>
          <a:ln w="12700">
            <a:solidFill>
              <a:srgbClr val="FF000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TextBox 85"/>
          <p:cNvSpPr txBox="1"/>
          <p:nvPr/>
        </p:nvSpPr>
        <p:spPr>
          <a:xfrm>
            <a:off x="8271047" y="1722074"/>
            <a:ext cx="72487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AN=20</a:t>
            </a:r>
            <a:endParaRPr lang="ko-KR" altLang="en-US" sz="1400" b="1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7" name="TextBox 86"/>
          <p:cNvSpPr txBox="1"/>
          <p:nvPr/>
        </p:nvSpPr>
        <p:spPr>
          <a:xfrm>
            <a:off x="8274269" y="1958829"/>
            <a:ext cx="72487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AN=20</a:t>
            </a:r>
            <a:endParaRPr lang="ko-KR" altLang="en-US" sz="1400" b="1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3243655" y="2256647"/>
            <a:ext cx="69442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SN=20</a:t>
            </a:r>
            <a:endParaRPr lang="ko-KR" altLang="en-US" sz="1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9" name="TextBox 88"/>
          <p:cNvSpPr txBox="1"/>
          <p:nvPr/>
        </p:nvSpPr>
        <p:spPr>
          <a:xfrm>
            <a:off x="3226460" y="2485447"/>
            <a:ext cx="69442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SN=21</a:t>
            </a:r>
            <a:endParaRPr lang="ko-KR" altLang="en-US" sz="1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3226460" y="2714247"/>
            <a:ext cx="69442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SN=22</a:t>
            </a:r>
            <a:endParaRPr lang="ko-KR" altLang="en-US" sz="1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91" name="직선 화살표 연결선 90"/>
          <p:cNvCxnSpPr/>
          <p:nvPr/>
        </p:nvCxnSpPr>
        <p:spPr>
          <a:xfrm>
            <a:off x="3911162" y="2455530"/>
            <a:ext cx="4329065" cy="2476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직선 화살표 연결선 91"/>
          <p:cNvCxnSpPr/>
          <p:nvPr/>
        </p:nvCxnSpPr>
        <p:spPr>
          <a:xfrm>
            <a:off x="3901930" y="2661339"/>
            <a:ext cx="4329065" cy="2476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직선 화살표 연결선 92"/>
          <p:cNvCxnSpPr/>
          <p:nvPr/>
        </p:nvCxnSpPr>
        <p:spPr>
          <a:xfrm>
            <a:off x="3918686" y="2858164"/>
            <a:ext cx="4329065" cy="2476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직선 화살표 연결선 93"/>
          <p:cNvCxnSpPr/>
          <p:nvPr/>
        </p:nvCxnSpPr>
        <p:spPr>
          <a:xfrm flipH="1">
            <a:off x="3888128" y="3269127"/>
            <a:ext cx="4342868" cy="126941"/>
          </a:xfrm>
          <a:prstGeom prst="straightConnector1">
            <a:avLst/>
          </a:prstGeom>
          <a:ln w="12700">
            <a:solidFill>
              <a:srgbClr val="FF000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" name="TextBox 94"/>
          <p:cNvSpPr txBox="1"/>
          <p:nvPr/>
        </p:nvSpPr>
        <p:spPr>
          <a:xfrm>
            <a:off x="8289900" y="3056309"/>
            <a:ext cx="72487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AN=23</a:t>
            </a:r>
            <a:endParaRPr lang="ko-KR" altLang="en-US" sz="1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3244842" y="3351745"/>
            <a:ext cx="69442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SN=23</a:t>
            </a:r>
            <a:endParaRPr lang="ko-KR" altLang="en-US" sz="1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7" name="TextBox 96"/>
          <p:cNvSpPr txBox="1"/>
          <p:nvPr/>
        </p:nvSpPr>
        <p:spPr>
          <a:xfrm>
            <a:off x="3227647" y="3580545"/>
            <a:ext cx="69442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SN=24</a:t>
            </a:r>
            <a:endParaRPr lang="ko-KR" altLang="en-US" sz="1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8" name="TextBox 97"/>
          <p:cNvSpPr txBox="1"/>
          <p:nvPr/>
        </p:nvSpPr>
        <p:spPr>
          <a:xfrm>
            <a:off x="3227647" y="3790872"/>
            <a:ext cx="69442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SN=25</a:t>
            </a:r>
            <a:endParaRPr lang="ko-KR" altLang="en-US" sz="1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99" name="직선 화살표 연결선 98"/>
          <p:cNvCxnSpPr/>
          <p:nvPr/>
        </p:nvCxnSpPr>
        <p:spPr>
          <a:xfrm>
            <a:off x="3911162" y="3525969"/>
            <a:ext cx="4329065" cy="2476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직선 화살표 연결선 99"/>
          <p:cNvCxnSpPr/>
          <p:nvPr/>
        </p:nvCxnSpPr>
        <p:spPr>
          <a:xfrm>
            <a:off x="3911162" y="3721787"/>
            <a:ext cx="4329065" cy="2476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화살표 연결선 100"/>
          <p:cNvCxnSpPr/>
          <p:nvPr/>
        </p:nvCxnSpPr>
        <p:spPr>
          <a:xfrm>
            <a:off x="3919880" y="3940507"/>
            <a:ext cx="4329065" cy="2476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직선 화살표 연결선 101"/>
          <p:cNvCxnSpPr/>
          <p:nvPr/>
        </p:nvCxnSpPr>
        <p:spPr>
          <a:xfrm flipH="1">
            <a:off x="3888128" y="4523434"/>
            <a:ext cx="4360722" cy="97606"/>
          </a:xfrm>
          <a:prstGeom prst="straightConnector1">
            <a:avLst/>
          </a:prstGeom>
          <a:ln w="12700">
            <a:solidFill>
              <a:srgbClr val="FF000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TextBox 102"/>
          <p:cNvSpPr txBox="1"/>
          <p:nvPr/>
        </p:nvSpPr>
        <p:spPr>
          <a:xfrm>
            <a:off x="8305577" y="4359925"/>
            <a:ext cx="72487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AN=27</a:t>
            </a:r>
            <a:endParaRPr lang="ko-KR" altLang="en-US" sz="1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04" name="직선 화살표 연결선 103"/>
          <p:cNvCxnSpPr/>
          <p:nvPr/>
        </p:nvCxnSpPr>
        <p:spPr>
          <a:xfrm>
            <a:off x="3910324" y="4148255"/>
            <a:ext cx="4329065" cy="2476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5" name="TextBox 104"/>
          <p:cNvSpPr txBox="1"/>
          <p:nvPr/>
        </p:nvSpPr>
        <p:spPr>
          <a:xfrm>
            <a:off x="3236244" y="4009140"/>
            <a:ext cx="69442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SN=26</a:t>
            </a:r>
            <a:endParaRPr lang="ko-KR" altLang="en-US" sz="1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6" name="TextBox 105"/>
          <p:cNvSpPr txBox="1"/>
          <p:nvPr/>
        </p:nvSpPr>
        <p:spPr>
          <a:xfrm>
            <a:off x="1842408" y="5019417"/>
            <a:ext cx="13083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CWND=5.5</a:t>
            </a:r>
            <a:endParaRPr lang="ko-KR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7" name="TextBox 106"/>
          <p:cNvSpPr txBox="1"/>
          <p:nvPr/>
        </p:nvSpPr>
        <p:spPr>
          <a:xfrm>
            <a:off x="3253439" y="4883724"/>
            <a:ext cx="69442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SN=28</a:t>
            </a:r>
            <a:endParaRPr lang="ko-KR" altLang="en-US" sz="1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8" name="TextBox 107"/>
          <p:cNvSpPr txBox="1"/>
          <p:nvPr/>
        </p:nvSpPr>
        <p:spPr>
          <a:xfrm>
            <a:off x="3242695" y="4685447"/>
            <a:ext cx="69442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SN=27</a:t>
            </a:r>
            <a:endParaRPr lang="ko-KR" altLang="en-US" sz="1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9" name="TextBox 108"/>
          <p:cNvSpPr txBox="1"/>
          <p:nvPr/>
        </p:nvSpPr>
        <p:spPr>
          <a:xfrm>
            <a:off x="3236244" y="5123547"/>
            <a:ext cx="69442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SN=29</a:t>
            </a:r>
            <a:endParaRPr lang="ko-KR" altLang="en-US" sz="1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10" name="직선 화살표 연결선 109"/>
          <p:cNvCxnSpPr/>
          <p:nvPr/>
        </p:nvCxnSpPr>
        <p:spPr>
          <a:xfrm>
            <a:off x="3919759" y="4858644"/>
            <a:ext cx="4329065" cy="2476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직선 화살표 연결선 110"/>
          <p:cNvCxnSpPr/>
          <p:nvPr/>
        </p:nvCxnSpPr>
        <p:spPr>
          <a:xfrm>
            <a:off x="3919759" y="5054462"/>
            <a:ext cx="4329065" cy="2476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직선 화살표 연결선 111"/>
          <p:cNvCxnSpPr/>
          <p:nvPr/>
        </p:nvCxnSpPr>
        <p:spPr>
          <a:xfrm>
            <a:off x="3928477" y="5273182"/>
            <a:ext cx="4329065" cy="2476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직선 화살표 연결선 112"/>
          <p:cNvCxnSpPr/>
          <p:nvPr/>
        </p:nvCxnSpPr>
        <p:spPr>
          <a:xfrm flipH="1">
            <a:off x="3864698" y="6206836"/>
            <a:ext cx="4342868" cy="126941"/>
          </a:xfrm>
          <a:prstGeom prst="straightConnector1">
            <a:avLst/>
          </a:prstGeom>
          <a:ln w="12700">
            <a:solidFill>
              <a:srgbClr val="FF000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4" name="TextBox 113"/>
          <p:cNvSpPr txBox="1"/>
          <p:nvPr/>
        </p:nvSpPr>
        <p:spPr>
          <a:xfrm>
            <a:off x="8298966" y="6052947"/>
            <a:ext cx="72487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AN=32</a:t>
            </a:r>
            <a:endParaRPr lang="ko-KR" altLang="en-US" sz="1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15" name="직선 화살표 연결선 114"/>
          <p:cNvCxnSpPr/>
          <p:nvPr/>
        </p:nvCxnSpPr>
        <p:spPr>
          <a:xfrm>
            <a:off x="3918921" y="5480930"/>
            <a:ext cx="4329065" cy="2476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" name="TextBox 115"/>
          <p:cNvSpPr txBox="1"/>
          <p:nvPr/>
        </p:nvSpPr>
        <p:spPr>
          <a:xfrm>
            <a:off x="3244841" y="5341815"/>
            <a:ext cx="69442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SN=30</a:t>
            </a:r>
            <a:endParaRPr lang="ko-KR" altLang="en-US" sz="1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17" name="직선 화살표 연결선 116"/>
          <p:cNvCxnSpPr/>
          <p:nvPr/>
        </p:nvCxnSpPr>
        <p:spPr>
          <a:xfrm>
            <a:off x="3917256" y="5691508"/>
            <a:ext cx="4329065" cy="2476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TextBox 117"/>
          <p:cNvSpPr txBox="1"/>
          <p:nvPr/>
        </p:nvSpPr>
        <p:spPr>
          <a:xfrm>
            <a:off x="3253439" y="5549829"/>
            <a:ext cx="69442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SN=31</a:t>
            </a:r>
            <a:endParaRPr lang="ko-KR" altLang="en-US" sz="1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5" name="오른쪽 화살표 54"/>
          <p:cNvSpPr/>
          <p:nvPr/>
        </p:nvSpPr>
        <p:spPr>
          <a:xfrm rot="5400000">
            <a:off x="4631017" y="155307"/>
            <a:ext cx="509717" cy="462093"/>
          </a:xfrm>
          <a:prstGeom prst="rightArrow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TextBox 55"/>
          <p:cNvSpPr txBox="1"/>
          <p:nvPr/>
        </p:nvSpPr>
        <p:spPr>
          <a:xfrm>
            <a:off x="3531761" y="201024"/>
            <a:ext cx="84779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Times New Roman" panose="02020603050405020304" pitchFamily="18" charset="0"/>
                <a:ea typeface="함초롬바탕" panose="02030604000101010101" pitchFamily="18" charset="-127"/>
                <a:cs typeface="Times New Roman" panose="02020603050405020304" pitchFamily="18" charset="0"/>
              </a:rPr>
              <a:t>Sender</a:t>
            </a:r>
            <a:r>
              <a:rPr lang="ko-KR" altLang="en-US" sz="1600" b="1">
                <a:latin typeface="Times New Roman" panose="02020603050405020304" pitchFamily="18" charset="0"/>
                <a:ea typeface="함초롬바탕" panose="02030604000101010101" pitchFamily="18" charset="-127"/>
                <a:cs typeface="Times New Roman" panose="02020603050405020304" pitchFamily="18" charset="0"/>
              </a:rPr>
              <a:t> </a:t>
            </a:r>
            <a:endParaRPr lang="ko-KR" altLang="en-US" sz="1600" b="1" dirty="0">
              <a:latin typeface="Times New Roman" panose="02020603050405020304" pitchFamily="18" charset="0"/>
              <a:ea typeface="함초롬바탕" panose="02030604000101010101" pitchFamily="18" charset="-127"/>
              <a:cs typeface="Times New Roman" panose="02020603050405020304" pitchFamily="18" charset="0"/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7761621" y="116754"/>
            <a:ext cx="99687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Times New Roman" panose="02020603050405020304" pitchFamily="18" charset="0"/>
                <a:ea typeface="함초롬바탕" panose="02030604000101010101" pitchFamily="18" charset="-127"/>
                <a:cs typeface="Times New Roman" panose="02020603050405020304" pitchFamily="18" charset="0"/>
              </a:rPr>
              <a:t>Receiver</a:t>
            </a:r>
            <a:r>
              <a:rPr lang="ko-KR" altLang="en-US" sz="1600" b="1">
                <a:latin typeface="Times New Roman" panose="02020603050405020304" pitchFamily="18" charset="0"/>
                <a:ea typeface="함초롬바탕" panose="02030604000101010101" pitchFamily="18" charset="-127"/>
                <a:cs typeface="Times New Roman" panose="02020603050405020304" pitchFamily="18" charset="0"/>
              </a:rPr>
              <a:t> </a:t>
            </a:r>
            <a:endParaRPr lang="ko-KR" altLang="en-US" sz="1600" b="1" dirty="0">
              <a:latin typeface="Times New Roman" panose="02020603050405020304" pitchFamily="18" charset="0"/>
              <a:ea typeface="함초롬바탕" panose="02030604000101010101" pitchFamily="18" charset="-127"/>
              <a:cs typeface="Times New Roman" panose="02020603050405020304" pitchFamily="18" charset="0"/>
            </a:endParaRPr>
          </a:p>
        </p:txBody>
      </p:sp>
      <p:sp>
        <p:nvSpPr>
          <p:cNvPr id="58" name="왼쪽 대괄호 57"/>
          <p:cNvSpPr/>
          <p:nvPr/>
        </p:nvSpPr>
        <p:spPr>
          <a:xfrm>
            <a:off x="3167244" y="1245920"/>
            <a:ext cx="83189" cy="350103"/>
          </a:xfrm>
          <a:prstGeom prst="leftBracket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왼쪽 대괄호 64"/>
          <p:cNvSpPr/>
          <p:nvPr/>
        </p:nvSpPr>
        <p:spPr>
          <a:xfrm>
            <a:off x="3167244" y="1245578"/>
            <a:ext cx="83189" cy="350103"/>
          </a:xfrm>
          <a:prstGeom prst="leftBracket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6" name="왼쪽 대괄호 65"/>
          <p:cNvSpPr/>
          <p:nvPr/>
        </p:nvSpPr>
        <p:spPr>
          <a:xfrm>
            <a:off x="3195488" y="2379383"/>
            <a:ext cx="54945" cy="497252"/>
          </a:xfrm>
          <a:prstGeom prst="leftBracket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2" name="왼쪽 대괄호 71"/>
          <p:cNvSpPr/>
          <p:nvPr/>
        </p:nvSpPr>
        <p:spPr>
          <a:xfrm>
            <a:off x="3176820" y="3427240"/>
            <a:ext cx="73613" cy="760917"/>
          </a:xfrm>
          <a:prstGeom prst="leftBracket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9" name="왼쪽 대괄호 118"/>
          <p:cNvSpPr/>
          <p:nvPr/>
        </p:nvSpPr>
        <p:spPr>
          <a:xfrm>
            <a:off x="3196069" y="4811042"/>
            <a:ext cx="52164" cy="880466"/>
          </a:xfrm>
          <a:prstGeom prst="leftBracket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7599819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052514"/>
            <a:ext cx="9144000" cy="744537"/>
          </a:xfrm>
        </p:spPr>
        <p:txBody>
          <a:bodyPr>
            <a:normAutofit/>
          </a:bodyPr>
          <a:lstStyle/>
          <a:p>
            <a:r>
              <a:rPr lang="ko-KR" altLang="en-US" sz="4000" b="1" dirty="0">
                <a:latin typeface="Times New Roman" panose="02020603050405020304" pitchFamily="18" charset="0"/>
                <a:ea typeface="함초롬바탕" panose="02030604000101010101" pitchFamily="18" charset="-127"/>
                <a:cs typeface="Times New Roman" panose="02020603050405020304" pitchFamily="18" charset="0"/>
              </a:rPr>
              <a:t>속도가 느려진 네트워크 복구 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00E85C-9068-46D2-A14A-A9DCCDE0C986}" type="slidenum">
              <a:rPr lang="ko-KR" altLang="en-US" smtClean="0"/>
              <a:t>59</a:t>
            </a:fld>
            <a:endParaRPr lang="ko-KR" altLang="en-US"/>
          </a:p>
        </p:txBody>
      </p:sp>
      <p:sp>
        <p:nvSpPr>
          <p:cNvPr id="5" name="내용 개체 틀 2"/>
          <p:cNvSpPr txBox="1">
            <a:spLocks/>
          </p:cNvSpPr>
          <p:nvPr/>
        </p:nvSpPr>
        <p:spPr>
          <a:xfrm>
            <a:off x="838200" y="2435225"/>
            <a:ext cx="10515600" cy="243068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8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네트워크 속도가 느리다고 반드시 네트워크상의 문제만은 아님</a:t>
            </a:r>
            <a:endParaRPr lang="en-US" altLang="ko-KR" sz="1800" dirty="0">
              <a:latin typeface="함초롬바탕" panose="02030604000101010101" pitchFamily="18" charset="-127"/>
              <a:ea typeface="함초롬바탕" panose="02030604000101010101" pitchFamily="18" charset="-127"/>
              <a:cs typeface="함초롬바탕" panose="02030604000101010101" pitchFamily="18" charset="-127"/>
            </a:endParaRPr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8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네트워크 속도가 느린지 판단이 우선적으로 확인 필요  </a:t>
            </a:r>
          </a:p>
        </p:txBody>
      </p:sp>
    </p:spTree>
    <p:extLst>
      <p:ext uri="{BB962C8B-B14F-4D97-AF65-F5344CB8AC3E}">
        <p14:creationId xmlns:p14="http://schemas.microsoft.com/office/powerpoint/2010/main" val="2754741990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1675"/>
          </a:xfrm>
        </p:spPr>
        <p:txBody>
          <a:bodyPr>
            <a:normAutofit/>
          </a:bodyPr>
          <a:lstStyle/>
          <a:p>
            <a:r>
              <a:rPr lang="en-US" altLang="ko-KR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1) TCP</a:t>
            </a:r>
            <a:r>
              <a:rPr lang="en-US" altLang="ko-KR" sz="3200" b="1" dirty="0"/>
              <a:t> </a:t>
            </a:r>
            <a:r>
              <a:rPr lang="ko-KR" altLang="en-US" sz="3200" b="1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재전송</a:t>
            </a:r>
            <a:r>
              <a:rPr lang="ko-KR" altLang="en-US" sz="3200" b="1" dirty="0"/>
              <a:t> 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25284" y="1401081"/>
            <a:ext cx="10722429" cy="5043261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ko-KR" altLang="en-US" sz="1800" dirty="0" err="1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패킷</a:t>
            </a:r>
            <a:r>
              <a:rPr lang="ko-KR" altLang="en-US" sz="18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 손실 원인 </a:t>
            </a:r>
            <a:endParaRPr lang="en-US" altLang="ko-KR" sz="1800" dirty="0">
              <a:latin typeface="함초롬바탕" panose="02030604000101010101" pitchFamily="18" charset="-127"/>
              <a:ea typeface="함초롬바탕" panose="02030604000101010101" pitchFamily="18" charset="-127"/>
              <a:cs typeface="함초롬바탕" panose="02030604000101010101" pitchFamily="18" charset="-127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18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   - </a:t>
            </a:r>
            <a:r>
              <a:rPr lang="ko-KR" altLang="en-US" sz="18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애플리케이션 오작동</a:t>
            </a:r>
            <a:endParaRPr lang="en-US" altLang="ko-KR" sz="1800" dirty="0">
              <a:latin typeface="함초롬바탕" panose="02030604000101010101" pitchFamily="18" charset="-127"/>
              <a:ea typeface="함초롬바탕" panose="02030604000101010101" pitchFamily="18" charset="-127"/>
              <a:cs typeface="함초롬바탕" panose="02030604000101010101" pitchFamily="18" charset="-127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18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   - </a:t>
            </a:r>
            <a:r>
              <a:rPr lang="ko-KR" altLang="en-US" sz="18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라우터 </a:t>
            </a:r>
            <a:r>
              <a:rPr lang="ko-KR" altLang="en-US" sz="1800" dirty="0" err="1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과부학</a:t>
            </a:r>
            <a:r>
              <a:rPr lang="ko-KR" altLang="en-US" sz="18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 트래픽 발생</a:t>
            </a:r>
            <a:endParaRPr lang="en-US" altLang="ko-KR" sz="1800" dirty="0">
              <a:latin typeface="함초롬바탕" panose="02030604000101010101" pitchFamily="18" charset="-127"/>
              <a:ea typeface="함초롬바탕" panose="02030604000101010101" pitchFamily="18" charset="-127"/>
              <a:cs typeface="함초롬바탕" panose="02030604000101010101" pitchFamily="18" charset="-127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18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   - </a:t>
            </a:r>
            <a:r>
              <a:rPr lang="ko-KR" altLang="en-US" sz="18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일시적인 서비스 정지 등 </a:t>
            </a:r>
            <a:endParaRPr lang="en-US" altLang="ko-KR" sz="1800" dirty="0">
              <a:latin typeface="함초롬바탕" panose="02030604000101010101" pitchFamily="18" charset="-127"/>
              <a:ea typeface="함초롬바탕" panose="02030604000101010101" pitchFamily="18" charset="-127"/>
              <a:cs typeface="함초롬바탕" panose="02030604000101010101" pitchFamily="18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800" dirty="0" err="1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패킷</a:t>
            </a:r>
            <a:r>
              <a:rPr lang="ko-KR" altLang="en-US" sz="18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 손실은 일시적이기 때문에 </a:t>
            </a:r>
            <a:r>
              <a:rPr lang="ko-KR" altLang="en-US" sz="1800" dirty="0" err="1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패킷</a:t>
            </a:r>
            <a:r>
              <a:rPr lang="ko-KR" altLang="en-US" sz="18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 손실을 탐지하고 복구가 중요 </a:t>
            </a:r>
            <a:endParaRPr lang="en-US" altLang="ko-KR" sz="1800" dirty="0">
              <a:latin typeface="함초롬바탕" panose="02030604000101010101" pitchFamily="18" charset="-127"/>
              <a:ea typeface="함초롬바탕" panose="02030604000101010101" pitchFamily="18" charset="-127"/>
              <a:cs typeface="함초롬바탕" panose="02030604000101010101" pitchFamily="18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800" dirty="0" err="1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패킷</a:t>
            </a:r>
            <a:r>
              <a:rPr lang="ko-KR" altLang="en-US" sz="18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 재전송 여부를 결정하는 주요 </a:t>
            </a:r>
            <a:r>
              <a:rPr lang="ko-KR" altLang="en-US" sz="1800" dirty="0" err="1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매커니즘</a:t>
            </a:r>
            <a:r>
              <a:rPr lang="ko-KR" altLang="en-US" sz="18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 </a:t>
            </a:r>
            <a:r>
              <a:rPr lang="en-US" altLang="ko-KR" sz="18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: </a:t>
            </a:r>
            <a:r>
              <a:rPr lang="ko-KR" altLang="en-US" sz="18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재전송 타이머</a:t>
            </a:r>
            <a:r>
              <a:rPr lang="en-US" altLang="ko-KR" sz="18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(</a:t>
            </a:r>
            <a:r>
              <a:rPr lang="en-US" altLang="ko-KR" sz="1800" dirty="0">
                <a:latin typeface="Times New Roman" panose="02020603050405020304" pitchFamily="18" charset="0"/>
                <a:ea typeface="함초롬바탕" panose="02030604000101010101" pitchFamily="18" charset="-127"/>
                <a:cs typeface="Times New Roman" panose="02020603050405020304" pitchFamily="18" charset="0"/>
              </a:rPr>
              <a:t>retransmission timer</a:t>
            </a:r>
            <a:r>
              <a:rPr lang="en-US" altLang="ko-KR" sz="18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) 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18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   - </a:t>
            </a:r>
            <a:r>
              <a:rPr lang="ko-KR" altLang="en-US" sz="18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재전송 때마다 재전송 타이머가 동작하고 패킷을 정상을 받았다는 </a:t>
            </a:r>
            <a:r>
              <a:rPr lang="en-US" altLang="ko-KR" sz="1800" dirty="0">
                <a:latin typeface="Times New Roman" panose="02020603050405020304" pitchFamily="18" charset="0"/>
                <a:ea typeface="함초롬바탕" panose="02030604000101010101" pitchFamily="18" charset="-127"/>
                <a:cs typeface="Times New Roman" panose="02020603050405020304" pitchFamily="18" charset="0"/>
              </a:rPr>
              <a:t>ACK</a:t>
            </a:r>
            <a:r>
              <a:rPr lang="ko-KR" altLang="en-US" sz="18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 패킷을 받으면 타이머는 정지 </a:t>
            </a:r>
            <a:endParaRPr lang="en-US" altLang="ko-KR" sz="1800" dirty="0">
              <a:latin typeface="함초롬바탕" panose="02030604000101010101" pitchFamily="18" charset="-127"/>
              <a:ea typeface="함초롬바탕" panose="02030604000101010101" pitchFamily="18" charset="-127"/>
              <a:cs typeface="함초롬바탕" panose="02030604000101010101" pitchFamily="18" charset="-127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18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   - </a:t>
            </a:r>
            <a:r>
              <a:rPr lang="en-US" altLang="ko-KR" sz="1800" dirty="0">
                <a:latin typeface="Times New Roman" panose="02020603050405020304" pitchFamily="18" charset="0"/>
                <a:ea typeface="함초롬바탕" panose="02030604000101010101" pitchFamily="18" charset="-127"/>
                <a:cs typeface="Times New Roman" panose="02020603050405020304" pitchFamily="18" charset="0"/>
              </a:rPr>
              <a:t>RTT(Round Trip Time) </a:t>
            </a:r>
            <a:r>
              <a:rPr lang="en-US" altLang="ko-KR" sz="18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: </a:t>
            </a:r>
            <a:r>
              <a:rPr lang="ko-KR" altLang="en-US" sz="18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패킷</a:t>
            </a:r>
            <a:r>
              <a:rPr lang="en-US" altLang="ko-KR" sz="18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 </a:t>
            </a:r>
            <a:r>
              <a:rPr lang="ko-KR" altLang="en-US" sz="18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전송 시간과 해당 패킷의 </a:t>
            </a:r>
            <a:r>
              <a:rPr lang="en-US" altLang="ko-KR" sz="1800" dirty="0">
                <a:latin typeface="Times New Roman" panose="02020603050405020304" pitchFamily="18" charset="0"/>
                <a:ea typeface="함초롬바탕" panose="02030604000101010101" pitchFamily="18" charset="-127"/>
                <a:cs typeface="Times New Roman" panose="02020603050405020304" pitchFamily="18" charset="0"/>
              </a:rPr>
              <a:t>ACK</a:t>
            </a:r>
            <a:r>
              <a:rPr lang="en-US" altLang="ko-KR" sz="18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 </a:t>
            </a:r>
            <a:r>
              <a:rPr lang="ko-KR" altLang="en-US" sz="18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 수신 시간</a:t>
            </a:r>
            <a:endParaRPr lang="en-US" altLang="ko-KR" sz="1800" dirty="0">
              <a:latin typeface="함초롬바탕" panose="02030604000101010101" pitchFamily="18" charset="-127"/>
              <a:ea typeface="함초롬바탕" panose="02030604000101010101" pitchFamily="18" charset="-127"/>
              <a:cs typeface="함초롬바탕" panose="02030604000101010101" pitchFamily="18" charset="-127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18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   -</a:t>
            </a:r>
            <a:r>
              <a:rPr lang="en-US" altLang="ko-KR" sz="1800" dirty="0">
                <a:latin typeface="Times New Roman" panose="02020603050405020304" pitchFamily="18" charset="0"/>
                <a:ea typeface="함초롬바탕" panose="02030604000101010101" pitchFamily="18" charset="-127"/>
                <a:cs typeface="Times New Roman" panose="02020603050405020304" pitchFamily="18" charset="0"/>
              </a:rPr>
              <a:t> RTO(Retransmission </a:t>
            </a:r>
            <a:r>
              <a:rPr lang="en-US" altLang="ko-KR" sz="1800" dirty="0" err="1">
                <a:latin typeface="Times New Roman" panose="02020603050405020304" pitchFamily="18" charset="0"/>
                <a:ea typeface="함초롬바탕" panose="02030604000101010101" pitchFamily="18" charset="-127"/>
                <a:cs typeface="Times New Roman" panose="02020603050405020304" pitchFamily="18" charset="0"/>
              </a:rPr>
              <a:t>TimeOut</a:t>
            </a:r>
            <a:r>
              <a:rPr lang="en-US" altLang="ko-KR" sz="1800" dirty="0">
                <a:latin typeface="Times New Roman" panose="02020603050405020304" pitchFamily="18" charset="0"/>
                <a:ea typeface="함초롬바탕" panose="02030604000101010101" pitchFamily="18" charset="-127"/>
                <a:cs typeface="Times New Roman" panose="02020603050405020304" pitchFamily="18" charset="0"/>
              </a:rPr>
              <a:t>) : RTT</a:t>
            </a:r>
            <a:r>
              <a:rPr lang="ko-KR" altLang="en-US" sz="18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들의 평균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00E85C-9068-46D2-A14A-A9DCCDE0C986}" type="slidenum">
              <a:rPr lang="ko-KR" altLang="en-US" smtClean="0"/>
              <a:t>60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86959178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1675"/>
          </a:xfrm>
        </p:spPr>
        <p:txBody>
          <a:bodyPr>
            <a:normAutofit/>
          </a:bodyPr>
          <a:lstStyle/>
          <a:p>
            <a:r>
              <a:rPr lang="ko-KR" altLang="en-US" sz="3200" b="1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재전송 타이머를 이용한 </a:t>
            </a:r>
            <a:r>
              <a:rPr lang="ko-KR" altLang="en-US" sz="3200" b="1" dirty="0" err="1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패킷</a:t>
            </a:r>
            <a:r>
              <a:rPr lang="ko-KR" altLang="en-US" sz="3200" b="1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 손실 확인 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25284" y="1401081"/>
            <a:ext cx="10722429" cy="5043261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sz="1800" dirty="0">
                <a:latin typeface="Times New Roman" panose="02020603050405020304" pitchFamily="18" charset="0"/>
                <a:ea typeface="함초롬바탕" panose="02030604000101010101" pitchFamily="18" charset="-127"/>
                <a:cs typeface="Times New Roman" panose="02020603050405020304" pitchFamily="18" charset="0"/>
              </a:rPr>
              <a:t>RTO(Retransmission </a:t>
            </a:r>
            <a:r>
              <a:rPr lang="en-US" altLang="ko-KR" sz="1800" dirty="0" err="1">
                <a:latin typeface="Times New Roman" panose="02020603050405020304" pitchFamily="18" charset="0"/>
                <a:ea typeface="함초롬바탕" panose="02030604000101010101" pitchFamily="18" charset="-127"/>
                <a:cs typeface="Times New Roman" panose="02020603050405020304" pitchFamily="18" charset="0"/>
              </a:rPr>
              <a:t>TimeOut</a:t>
            </a:r>
            <a:r>
              <a:rPr lang="en-US" altLang="ko-KR" sz="1800" dirty="0">
                <a:latin typeface="Times New Roman" panose="02020603050405020304" pitchFamily="18" charset="0"/>
                <a:ea typeface="함초롬바탕" panose="02030604000101010101" pitchFamily="18" charset="-127"/>
                <a:cs typeface="Times New Roman" panose="02020603050405020304" pitchFamily="18" charset="0"/>
              </a:rPr>
              <a:t>)</a:t>
            </a:r>
            <a:r>
              <a:rPr lang="ko-KR" altLang="en-US" sz="1800">
                <a:latin typeface="Times New Roman" panose="02020603050405020304" pitchFamily="18" charset="0"/>
                <a:ea typeface="함초롬바탕" panose="02030604000101010101" pitchFamily="18" charset="-127"/>
                <a:cs typeface="Times New Roman" panose="02020603050405020304" pitchFamily="18" charset="0"/>
              </a:rPr>
              <a:t>값이 결정되기 전까지 </a:t>
            </a:r>
            <a:r>
              <a:rPr lang="en-US" altLang="ko-KR" sz="1800" dirty="0">
                <a:latin typeface="Times New Roman" panose="02020603050405020304" pitchFamily="18" charset="0"/>
                <a:ea typeface="함초롬바탕" panose="02030604000101010101" pitchFamily="18" charset="-127"/>
                <a:cs typeface="Times New Roman" panose="02020603050405020304" pitchFamily="18" charset="0"/>
              </a:rPr>
              <a:t>RTT </a:t>
            </a:r>
            <a:r>
              <a:rPr lang="ko-KR" altLang="en-US" sz="1800">
                <a:latin typeface="Times New Roman" panose="02020603050405020304" pitchFamily="18" charset="0"/>
                <a:ea typeface="함초롬바탕" panose="02030604000101010101" pitchFamily="18" charset="-127"/>
                <a:cs typeface="Times New Roman" panose="02020603050405020304" pitchFamily="18" charset="0"/>
              </a:rPr>
              <a:t>디폴트 값 사용 </a:t>
            </a:r>
            <a:endParaRPr lang="en-US" altLang="ko-KR" sz="1800" dirty="0">
              <a:latin typeface="Times New Roman" panose="02020603050405020304" pitchFamily="18" charset="0"/>
              <a:ea typeface="함초롬바탕" panose="02030604000101010101" pitchFamily="18" charset="-127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ko-KR" altLang="en-US" sz="1800" dirty="0">
                <a:latin typeface="Times New Roman" panose="02020603050405020304" pitchFamily="18" charset="0"/>
                <a:ea typeface="함초롬바탕" panose="02030604000101010101" pitchFamily="18" charset="-127"/>
                <a:cs typeface="Times New Roman" panose="02020603050405020304" pitchFamily="18" charset="0"/>
              </a:rPr>
              <a:t>수신된 </a:t>
            </a:r>
            <a:r>
              <a:rPr lang="ko-KR" altLang="en-US" sz="1800" dirty="0" err="1">
                <a:latin typeface="Times New Roman" panose="02020603050405020304" pitchFamily="18" charset="0"/>
                <a:ea typeface="함초롬바탕" panose="02030604000101010101" pitchFamily="18" charset="-127"/>
                <a:cs typeface="Times New Roman" panose="02020603050405020304" pitchFamily="18" charset="0"/>
              </a:rPr>
              <a:t>패킷이</a:t>
            </a:r>
            <a:r>
              <a:rPr lang="ko-KR" altLang="en-US" sz="1800" dirty="0">
                <a:latin typeface="Times New Roman" panose="02020603050405020304" pitchFamily="18" charset="0"/>
                <a:ea typeface="함초롬바탕" panose="02030604000101010101" pitchFamily="18" charset="-127"/>
                <a:cs typeface="Times New Roman" panose="02020603050405020304" pitchFamily="18" charset="0"/>
              </a:rPr>
              <a:t> </a:t>
            </a:r>
            <a:r>
              <a:rPr lang="en-US" altLang="ko-KR" sz="1800" dirty="0">
                <a:latin typeface="Times New Roman" panose="02020603050405020304" pitchFamily="18" charset="0"/>
                <a:ea typeface="함초롬바탕" panose="02030604000101010101" pitchFamily="18" charset="-127"/>
                <a:cs typeface="Times New Roman" panose="02020603050405020304" pitchFamily="18" charset="0"/>
              </a:rPr>
              <a:t>RTT</a:t>
            </a:r>
            <a:r>
              <a:rPr lang="ko-KR" altLang="en-US" sz="1800">
                <a:latin typeface="Times New Roman" panose="02020603050405020304" pitchFamily="18" charset="0"/>
                <a:ea typeface="함초롬바탕" panose="02030604000101010101" pitchFamily="18" charset="-127"/>
                <a:cs typeface="Times New Roman" panose="02020603050405020304" pitchFamily="18" charset="0"/>
              </a:rPr>
              <a:t>를 통해 </a:t>
            </a:r>
            <a:r>
              <a:rPr lang="en-US" altLang="ko-KR" sz="1800" dirty="0">
                <a:latin typeface="Times New Roman" panose="02020603050405020304" pitchFamily="18" charset="0"/>
                <a:ea typeface="함초롬바탕" panose="02030604000101010101" pitchFamily="18" charset="-127"/>
                <a:cs typeface="Times New Roman" panose="02020603050405020304" pitchFamily="18" charset="0"/>
              </a:rPr>
              <a:t>RTT </a:t>
            </a:r>
            <a:r>
              <a:rPr lang="ko-KR" altLang="en-US" sz="1800">
                <a:latin typeface="Times New Roman" panose="02020603050405020304" pitchFamily="18" charset="0"/>
                <a:ea typeface="함초롬바탕" panose="02030604000101010101" pitchFamily="18" charset="-127"/>
                <a:cs typeface="Times New Roman" panose="02020603050405020304" pitchFamily="18" charset="0"/>
              </a:rPr>
              <a:t>값이</a:t>
            </a:r>
            <a:r>
              <a:rPr lang="en-US" altLang="ko-KR" sz="1800" dirty="0">
                <a:latin typeface="Times New Roman" panose="02020603050405020304" pitchFamily="18" charset="0"/>
                <a:ea typeface="함초롬바탕" panose="02030604000101010101" pitchFamily="18" charset="-127"/>
                <a:cs typeface="Times New Roman" panose="02020603050405020304" pitchFamily="18" charset="0"/>
              </a:rPr>
              <a:t> </a:t>
            </a:r>
            <a:r>
              <a:rPr lang="ko-KR" altLang="en-US" sz="1800">
                <a:latin typeface="Times New Roman" panose="02020603050405020304" pitchFamily="18" charset="0"/>
                <a:ea typeface="함초롬바탕" panose="02030604000101010101" pitchFamily="18" charset="-127"/>
                <a:cs typeface="Times New Roman" panose="02020603050405020304" pitchFamily="18" charset="0"/>
              </a:rPr>
              <a:t>조정되고 이를 기반으로 실제 </a:t>
            </a:r>
            <a:r>
              <a:rPr lang="en-US" altLang="ko-KR" sz="1800" dirty="0">
                <a:latin typeface="Times New Roman" panose="02020603050405020304" pitchFamily="18" charset="0"/>
                <a:ea typeface="함초롬바탕" panose="02030604000101010101" pitchFamily="18" charset="-127"/>
                <a:cs typeface="Times New Roman" panose="02020603050405020304" pitchFamily="18" charset="0"/>
              </a:rPr>
              <a:t>RTO </a:t>
            </a:r>
            <a:r>
              <a:rPr lang="ko-KR" altLang="en-US" sz="1800">
                <a:latin typeface="Times New Roman" panose="02020603050405020304" pitchFamily="18" charset="0"/>
                <a:ea typeface="함초롬바탕" panose="02030604000101010101" pitchFamily="18" charset="-127"/>
                <a:cs typeface="Times New Roman" panose="02020603050405020304" pitchFamily="18" charset="0"/>
              </a:rPr>
              <a:t>값을 결정 </a:t>
            </a:r>
            <a:endParaRPr lang="en-US" altLang="ko-KR" sz="1800" dirty="0">
              <a:latin typeface="Times New Roman" panose="02020603050405020304" pitchFamily="18" charset="0"/>
              <a:ea typeface="함초롬바탕" panose="02030604000101010101" pitchFamily="18" charset="-127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en-US" altLang="ko-KR" sz="18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RTO </a:t>
            </a:r>
            <a:r>
              <a:rPr lang="ko-KR" altLang="en-US" sz="180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값이 결정되면 패킷 손실이 발생했는지 확인 가능 </a:t>
            </a:r>
            <a:endParaRPr lang="ko-KR" altLang="en-US" sz="1800" dirty="0">
              <a:latin typeface="함초롬바탕" panose="02030604000101010101" pitchFamily="18" charset="-127"/>
              <a:ea typeface="함초롬바탕" panose="02030604000101010101" pitchFamily="18" charset="-127"/>
              <a:cs typeface="함초롬바탕" panose="02030604000101010101" pitchFamily="18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00E85C-9068-46D2-A14A-A9DCCDE0C986}" type="slidenum">
              <a:rPr lang="ko-KR" altLang="en-US" smtClean="0"/>
              <a:t>61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275080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00E85C-9068-46D2-A14A-A9DCCDE0C986}" type="slidenum">
              <a:rPr lang="ko-KR" altLang="en-US" smtClean="0"/>
              <a:t>62</a:t>
            </a:fld>
            <a:endParaRPr lang="ko-KR" altLang="en-US"/>
          </a:p>
        </p:txBody>
      </p:sp>
      <p:grpSp>
        <p:nvGrpSpPr>
          <p:cNvPr id="3" name="그룹 2"/>
          <p:cNvGrpSpPr/>
          <p:nvPr/>
        </p:nvGrpSpPr>
        <p:grpSpPr>
          <a:xfrm flipH="1">
            <a:off x="8702220" y="3348319"/>
            <a:ext cx="941018" cy="1023754"/>
            <a:chOff x="1533695" y="4087365"/>
            <a:chExt cx="838200" cy="1011237"/>
          </a:xfrm>
        </p:grpSpPr>
        <p:sp>
          <p:nvSpPr>
            <p:cNvPr id="4" name="Freeform 174"/>
            <p:cNvSpPr>
              <a:spLocks/>
            </p:cNvSpPr>
            <p:nvPr/>
          </p:nvSpPr>
          <p:spPr bwMode="auto">
            <a:xfrm rot="355818">
              <a:off x="2175045" y="4754115"/>
              <a:ext cx="74613" cy="52387"/>
            </a:xfrm>
            <a:custGeom>
              <a:avLst/>
              <a:gdLst>
                <a:gd name="T0" fmla="*/ 1224 w 1224"/>
                <a:gd name="T1" fmla="*/ 755 h 755"/>
                <a:gd name="T2" fmla="*/ 1112 w 1224"/>
                <a:gd name="T3" fmla="*/ 716 h 755"/>
                <a:gd name="T4" fmla="*/ 1051 w 1224"/>
                <a:gd name="T5" fmla="*/ 693 h 755"/>
                <a:gd name="T6" fmla="*/ 1006 w 1224"/>
                <a:gd name="T7" fmla="*/ 671 h 755"/>
                <a:gd name="T8" fmla="*/ 984 w 1224"/>
                <a:gd name="T9" fmla="*/ 660 h 755"/>
                <a:gd name="T10" fmla="*/ 939 w 1224"/>
                <a:gd name="T11" fmla="*/ 626 h 755"/>
                <a:gd name="T12" fmla="*/ 894 w 1224"/>
                <a:gd name="T13" fmla="*/ 548 h 755"/>
                <a:gd name="T14" fmla="*/ 889 w 1224"/>
                <a:gd name="T15" fmla="*/ 531 h 755"/>
                <a:gd name="T16" fmla="*/ 850 w 1224"/>
                <a:gd name="T17" fmla="*/ 509 h 755"/>
                <a:gd name="T18" fmla="*/ 799 w 1224"/>
                <a:gd name="T19" fmla="*/ 481 h 755"/>
                <a:gd name="T20" fmla="*/ 704 w 1224"/>
                <a:gd name="T21" fmla="*/ 453 h 755"/>
                <a:gd name="T22" fmla="*/ 419 w 1224"/>
                <a:gd name="T23" fmla="*/ 442 h 755"/>
                <a:gd name="T24" fmla="*/ 330 w 1224"/>
                <a:gd name="T25" fmla="*/ 408 h 755"/>
                <a:gd name="T26" fmla="*/ 212 w 1224"/>
                <a:gd name="T27" fmla="*/ 279 h 755"/>
                <a:gd name="T28" fmla="*/ 145 w 1224"/>
                <a:gd name="T29" fmla="*/ 134 h 755"/>
                <a:gd name="T30" fmla="*/ 78 w 1224"/>
                <a:gd name="T31" fmla="*/ 39 h 755"/>
                <a:gd name="T32" fmla="*/ 0 w 1224"/>
                <a:gd name="T33" fmla="*/ 0 h 755"/>
                <a:gd name="T34" fmla="*/ 0 60000 65536"/>
                <a:gd name="T35" fmla="*/ 0 60000 65536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w 1224"/>
                <a:gd name="T52" fmla="*/ 0 h 755"/>
                <a:gd name="T53" fmla="*/ 1224 w 1224"/>
                <a:gd name="T54" fmla="*/ 755 h 755"/>
              </a:gdLst>
              <a:ahLst/>
              <a:cxnLst>
                <a:cxn ang="T34">
                  <a:pos x="T0" y="T1"/>
                </a:cxn>
                <a:cxn ang="T35">
                  <a:pos x="T2" y="T3"/>
                </a:cxn>
                <a:cxn ang="T36">
                  <a:pos x="T4" y="T5"/>
                </a:cxn>
                <a:cxn ang="T37">
                  <a:pos x="T6" y="T7"/>
                </a:cxn>
                <a:cxn ang="T38">
                  <a:pos x="T8" y="T9"/>
                </a:cxn>
                <a:cxn ang="T39">
                  <a:pos x="T10" y="T11"/>
                </a:cxn>
                <a:cxn ang="T40">
                  <a:pos x="T12" y="T13"/>
                </a:cxn>
                <a:cxn ang="T41">
                  <a:pos x="T14" y="T15"/>
                </a:cxn>
                <a:cxn ang="T42">
                  <a:pos x="T16" y="T17"/>
                </a:cxn>
                <a:cxn ang="T43">
                  <a:pos x="T18" y="T19"/>
                </a:cxn>
                <a:cxn ang="T44">
                  <a:pos x="T20" y="T21"/>
                </a:cxn>
                <a:cxn ang="T45">
                  <a:pos x="T22" y="T23"/>
                </a:cxn>
                <a:cxn ang="T46">
                  <a:pos x="T24" y="T25"/>
                </a:cxn>
                <a:cxn ang="T47">
                  <a:pos x="T26" y="T27"/>
                </a:cxn>
                <a:cxn ang="T48">
                  <a:pos x="T28" y="T29"/>
                </a:cxn>
                <a:cxn ang="T49">
                  <a:pos x="T30" y="T31"/>
                </a:cxn>
                <a:cxn ang="T50">
                  <a:pos x="T32" y="T33"/>
                </a:cxn>
              </a:cxnLst>
              <a:rect l="T51" t="T52" r="T53" b="T54"/>
              <a:pathLst>
                <a:path w="1224" h="755">
                  <a:moveTo>
                    <a:pt x="1224" y="755"/>
                  </a:moveTo>
                  <a:cubicBezTo>
                    <a:pt x="1190" y="729"/>
                    <a:pt x="1154" y="724"/>
                    <a:pt x="1112" y="716"/>
                  </a:cubicBezTo>
                  <a:cubicBezTo>
                    <a:pt x="1091" y="705"/>
                    <a:pt x="1072" y="702"/>
                    <a:pt x="1051" y="693"/>
                  </a:cubicBezTo>
                  <a:cubicBezTo>
                    <a:pt x="1036" y="686"/>
                    <a:pt x="1021" y="678"/>
                    <a:pt x="1006" y="671"/>
                  </a:cubicBezTo>
                  <a:cubicBezTo>
                    <a:pt x="999" y="667"/>
                    <a:pt x="984" y="660"/>
                    <a:pt x="984" y="660"/>
                  </a:cubicBezTo>
                  <a:cubicBezTo>
                    <a:pt x="971" y="646"/>
                    <a:pt x="939" y="626"/>
                    <a:pt x="939" y="626"/>
                  </a:cubicBezTo>
                  <a:cubicBezTo>
                    <a:pt x="923" y="602"/>
                    <a:pt x="906" y="575"/>
                    <a:pt x="894" y="548"/>
                  </a:cubicBezTo>
                  <a:cubicBezTo>
                    <a:pt x="892" y="543"/>
                    <a:pt x="893" y="536"/>
                    <a:pt x="889" y="531"/>
                  </a:cubicBezTo>
                  <a:cubicBezTo>
                    <a:pt x="884" y="524"/>
                    <a:pt x="855" y="512"/>
                    <a:pt x="850" y="509"/>
                  </a:cubicBezTo>
                  <a:cubicBezTo>
                    <a:pt x="802" y="480"/>
                    <a:pt x="833" y="491"/>
                    <a:pt x="799" y="481"/>
                  </a:cubicBezTo>
                  <a:cubicBezTo>
                    <a:pt x="764" y="457"/>
                    <a:pt x="751" y="457"/>
                    <a:pt x="704" y="453"/>
                  </a:cubicBezTo>
                  <a:cubicBezTo>
                    <a:pt x="606" y="457"/>
                    <a:pt x="515" y="459"/>
                    <a:pt x="419" y="442"/>
                  </a:cubicBezTo>
                  <a:cubicBezTo>
                    <a:pt x="391" y="426"/>
                    <a:pt x="360" y="419"/>
                    <a:pt x="330" y="408"/>
                  </a:cubicBezTo>
                  <a:cubicBezTo>
                    <a:pt x="287" y="368"/>
                    <a:pt x="245" y="328"/>
                    <a:pt x="212" y="279"/>
                  </a:cubicBezTo>
                  <a:cubicBezTo>
                    <a:pt x="183" y="235"/>
                    <a:pt x="168" y="181"/>
                    <a:pt x="145" y="134"/>
                  </a:cubicBezTo>
                  <a:cubicBezTo>
                    <a:pt x="128" y="100"/>
                    <a:pt x="99" y="71"/>
                    <a:pt x="78" y="39"/>
                  </a:cubicBezTo>
                  <a:cubicBezTo>
                    <a:pt x="70" y="27"/>
                    <a:pt x="15" y="7"/>
                    <a:pt x="0" y="0"/>
                  </a:cubicBezTo>
                </a:path>
              </a:pathLst>
            </a:custGeom>
            <a:noFill/>
            <a:ln w="12700">
              <a:solidFill>
                <a:srgbClr val="969696"/>
              </a:solidFill>
              <a:round/>
              <a:headEnd/>
              <a:tailEnd/>
            </a:ln>
          </p:spPr>
          <p:txBody>
            <a:bodyPr/>
            <a:lstStyle/>
            <a:p>
              <a:pPr eaLnBrk="1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lang="ko-KR" altLang="en-US" sz="1800" b="0" kern="0">
                <a:solidFill>
                  <a:sysClr val="windowText" lastClr="000000"/>
                </a:solidFill>
                <a:latin typeface="+mn-lt"/>
                <a:ea typeface="+mn-ea"/>
              </a:endParaRPr>
            </a:p>
          </p:txBody>
        </p:sp>
        <p:sp>
          <p:nvSpPr>
            <p:cNvPr id="5" name="Freeform 175"/>
            <p:cNvSpPr>
              <a:spLocks/>
            </p:cNvSpPr>
            <p:nvPr/>
          </p:nvSpPr>
          <p:spPr bwMode="auto">
            <a:xfrm rot="355818" flipH="1">
              <a:off x="2235370" y="4801740"/>
              <a:ext cx="136525" cy="82550"/>
            </a:xfrm>
            <a:custGeom>
              <a:avLst/>
              <a:gdLst>
                <a:gd name="T0" fmla="*/ 886 w 971"/>
                <a:gd name="T1" fmla="*/ 33 h 550"/>
                <a:gd name="T2" fmla="*/ 937 w 971"/>
                <a:gd name="T3" fmla="*/ 70 h 550"/>
                <a:gd name="T4" fmla="*/ 971 w 971"/>
                <a:gd name="T5" fmla="*/ 130 h 550"/>
                <a:gd name="T6" fmla="*/ 967 w 971"/>
                <a:gd name="T7" fmla="*/ 218 h 550"/>
                <a:gd name="T8" fmla="*/ 882 w 971"/>
                <a:gd name="T9" fmla="*/ 261 h 550"/>
                <a:gd name="T10" fmla="*/ 791 w 971"/>
                <a:gd name="T11" fmla="*/ 294 h 550"/>
                <a:gd name="T12" fmla="*/ 665 w 971"/>
                <a:gd name="T13" fmla="*/ 382 h 550"/>
                <a:gd name="T14" fmla="*/ 519 w 971"/>
                <a:gd name="T15" fmla="*/ 522 h 550"/>
                <a:gd name="T16" fmla="*/ 397 w 971"/>
                <a:gd name="T17" fmla="*/ 542 h 550"/>
                <a:gd name="T18" fmla="*/ 298 w 971"/>
                <a:gd name="T19" fmla="*/ 550 h 550"/>
                <a:gd name="T20" fmla="*/ 155 w 971"/>
                <a:gd name="T21" fmla="*/ 522 h 550"/>
                <a:gd name="T22" fmla="*/ 34 w 971"/>
                <a:gd name="T23" fmla="*/ 459 h 550"/>
                <a:gd name="T24" fmla="*/ 0 w 971"/>
                <a:gd name="T25" fmla="*/ 393 h 550"/>
                <a:gd name="T26" fmla="*/ 11 w 971"/>
                <a:gd name="T27" fmla="*/ 315 h 550"/>
                <a:gd name="T28" fmla="*/ 63 w 971"/>
                <a:gd name="T29" fmla="*/ 210 h 550"/>
                <a:gd name="T30" fmla="*/ 142 w 971"/>
                <a:gd name="T31" fmla="*/ 147 h 550"/>
                <a:gd name="T32" fmla="*/ 246 w 971"/>
                <a:gd name="T33" fmla="*/ 89 h 550"/>
                <a:gd name="T34" fmla="*/ 445 w 971"/>
                <a:gd name="T35" fmla="*/ 21 h 550"/>
                <a:gd name="T36" fmla="*/ 634 w 971"/>
                <a:gd name="T37" fmla="*/ 0 h 550"/>
                <a:gd name="T38" fmla="*/ 794 w 971"/>
                <a:gd name="T39" fmla="*/ 13 h 550"/>
                <a:gd name="T40" fmla="*/ 886 w 971"/>
                <a:gd name="T41" fmla="*/ 33 h 550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60000 65536"/>
                <a:gd name="T55" fmla="*/ 0 60000 65536"/>
                <a:gd name="T56" fmla="*/ 0 60000 65536"/>
                <a:gd name="T57" fmla="*/ 0 60000 65536"/>
                <a:gd name="T58" fmla="*/ 0 60000 65536"/>
                <a:gd name="T59" fmla="*/ 0 60000 65536"/>
                <a:gd name="T60" fmla="*/ 0 60000 65536"/>
                <a:gd name="T61" fmla="*/ 0 60000 65536"/>
                <a:gd name="T62" fmla="*/ 0 60000 65536"/>
                <a:gd name="T63" fmla="*/ 0 w 971"/>
                <a:gd name="T64" fmla="*/ 0 h 550"/>
                <a:gd name="T65" fmla="*/ 971 w 971"/>
                <a:gd name="T66" fmla="*/ 550 h 550"/>
              </a:gdLst>
              <a:ahLst/>
              <a:cxnLst>
                <a:cxn ang="T42">
                  <a:pos x="T0" y="T1"/>
                </a:cxn>
                <a:cxn ang="T43">
                  <a:pos x="T2" y="T3"/>
                </a:cxn>
                <a:cxn ang="T44">
                  <a:pos x="T4" y="T5"/>
                </a:cxn>
                <a:cxn ang="T45">
                  <a:pos x="T6" y="T7"/>
                </a:cxn>
                <a:cxn ang="T46">
                  <a:pos x="T8" y="T9"/>
                </a:cxn>
                <a:cxn ang="T47">
                  <a:pos x="T10" y="T11"/>
                </a:cxn>
                <a:cxn ang="T48">
                  <a:pos x="T12" y="T13"/>
                </a:cxn>
                <a:cxn ang="T49">
                  <a:pos x="T14" y="T15"/>
                </a:cxn>
                <a:cxn ang="T50">
                  <a:pos x="T16" y="T17"/>
                </a:cxn>
                <a:cxn ang="T51">
                  <a:pos x="T18" y="T19"/>
                </a:cxn>
                <a:cxn ang="T52">
                  <a:pos x="T20" y="T21"/>
                </a:cxn>
                <a:cxn ang="T53">
                  <a:pos x="T22" y="T23"/>
                </a:cxn>
                <a:cxn ang="T54">
                  <a:pos x="T24" y="T25"/>
                </a:cxn>
                <a:cxn ang="T55">
                  <a:pos x="T26" y="T27"/>
                </a:cxn>
                <a:cxn ang="T56">
                  <a:pos x="T28" y="T29"/>
                </a:cxn>
                <a:cxn ang="T57">
                  <a:pos x="T30" y="T31"/>
                </a:cxn>
                <a:cxn ang="T58">
                  <a:pos x="T32" y="T33"/>
                </a:cxn>
                <a:cxn ang="T59">
                  <a:pos x="T34" y="T35"/>
                </a:cxn>
                <a:cxn ang="T60">
                  <a:pos x="T36" y="T37"/>
                </a:cxn>
                <a:cxn ang="T61">
                  <a:pos x="T38" y="T39"/>
                </a:cxn>
                <a:cxn ang="T62">
                  <a:pos x="T40" y="T41"/>
                </a:cxn>
              </a:cxnLst>
              <a:rect l="T63" t="T64" r="T65" b="T66"/>
              <a:pathLst>
                <a:path w="971" h="550">
                  <a:moveTo>
                    <a:pt x="886" y="33"/>
                  </a:moveTo>
                  <a:lnTo>
                    <a:pt x="937" y="70"/>
                  </a:lnTo>
                  <a:lnTo>
                    <a:pt x="971" y="130"/>
                  </a:lnTo>
                  <a:lnTo>
                    <a:pt x="967" y="218"/>
                  </a:lnTo>
                  <a:lnTo>
                    <a:pt x="882" y="261"/>
                  </a:lnTo>
                  <a:lnTo>
                    <a:pt x="791" y="294"/>
                  </a:lnTo>
                  <a:lnTo>
                    <a:pt x="665" y="382"/>
                  </a:lnTo>
                  <a:lnTo>
                    <a:pt x="519" y="522"/>
                  </a:lnTo>
                  <a:lnTo>
                    <a:pt x="397" y="542"/>
                  </a:lnTo>
                  <a:lnTo>
                    <a:pt x="298" y="550"/>
                  </a:lnTo>
                  <a:lnTo>
                    <a:pt x="155" y="522"/>
                  </a:lnTo>
                  <a:lnTo>
                    <a:pt x="34" y="459"/>
                  </a:lnTo>
                  <a:lnTo>
                    <a:pt x="0" y="393"/>
                  </a:lnTo>
                  <a:lnTo>
                    <a:pt x="11" y="315"/>
                  </a:lnTo>
                  <a:lnTo>
                    <a:pt x="63" y="210"/>
                  </a:lnTo>
                  <a:lnTo>
                    <a:pt x="142" y="147"/>
                  </a:lnTo>
                  <a:lnTo>
                    <a:pt x="246" y="89"/>
                  </a:lnTo>
                  <a:lnTo>
                    <a:pt x="445" y="21"/>
                  </a:lnTo>
                  <a:lnTo>
                    <a:pt x="634" y="0"/>
                  </a:lnTo>
                  <a:lnTo>
                    <a:pt x="794" y="13"/>
                  </a:lnTo>
                  <a:lnTo>
                    <a:pt x="886" y="33"/>
                  </a:lnTo>
                  <a:close/>
                </a:path>
              </a:pathLst>
            </a:custGeom>
            <a:gradFill rotWithShape="1">
              <a:gsLst>
                <a:gs pos="0">
                  <a:srgbClr val="EAEAEA"/>
                </a:gs>
                <a:gs pos="50000">
                  <a:srgbClr val="FFFFFF"/>
                </a:gs>
                <a:gs pos="100000">
                  <a:srgbClr val="EAEAEA"/>
                </a:gs>
              </a:gsLst>
              <a:lin ang="2700000" scaled="1"/>
            </a:gradFill>
            <a:ln w="9525">
              <a:solidFill>
                <a:srgbClr val="808080"/>
              </a:solidFill>
              <a:round/>
              <a:headEnd/>
              <a:tailEnd/>
            </a:ln>
          </p:spPr>
          <p:txBody>
            <a:bodyPr/>
            <a:lstStyle/>
            <a:p>
              <a:pPr eaLnBrk="1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lang="ko-KR" altLang="en-US" sz="1800" b="0" kern="0">
                <a:solidFill>
                  <a:sysClr val="windowText" lastClr="000000"/>
                </a:solidFill>
                <a:latin typeface="+mn-lt"/>
                <a:ea typeface="+mn-ea"/>
              </a:endParaRPr>
            </a:p>
          </p:txBody>
        </p:sp>
        <p:sp>
          <p:nvSpPr>
            <p:cNvPr id="6" name="Freeform 176"/>
            <p:cNvSpPr>
              <a:spLocks/>
            </p:cNvSpPr>
            <p:nvPr/>
          </p:nvSpPr>
          <p:spPr bwMode="auto">
            <a:xfrm rot="355818">
              <a:off x="2229020" y="4830315"/>
              <a:ext cx="134938" cy="58737"/>
            </a:xfrm>
            <a:custGeom>
              <a:avLst/>
              <a:gdLst>
                <a:gd name="T0" fmla="*/ 0 w 1432"/>
                <a:gd name="T1" fmla="*/ 0 h 526"/>
                <a:gd name="T2" fmla="*/ 56 w 1432"/>
                <a:gd name="T3" fmla="*/ 118 h 526"/>
                <a:gd name="T4" fmla="*/ 319 w 1432"/>
                <a:gd name="T5" fmla="*/ 302 h 526"/>
                <a:gd name="T6" fmla="*/ 604 w 1432"/>
                <a:gd name="T7" fmla="*/ 448 h 526"/>
                <a:gd name="T8" fmla="*/ 867 w 1432"/>
                <a:gd name="T9" fmla="*/ 526 h 526"/>
                <a:gd name="T10" fmla="*/ 1091 w 1432"/>
                <a:gd name="T11" fmla="*/ 504 h 526"/>
                <a:gd name="T12" fmla="*/ 1270 w 1432"/>
                <a:gd name="T13" fmla="*/ 448 h 526"/>
                <a:gd name="T14" fmla="*/ 1432 w 1432"/>
                <a:gd name="T15" fmla="*/ 353 h 526"/>
                <a:gd name="T16" fmla="*/ 1253 w 1432"/>
                <a:gd name="T17" fmla="*/ 431 h 526"/>
                <a:gd name="T18" fmla="*/ 1108 w 1432"/>
                <a:gd name="T19" fmla="*/ 470 h 526"/>
                <a:gd name="T20" fmla="*/ 951 w 1432"/>
                <a:gd name="T21" fmla="*/ 470 h 526"/>
                <a:gd name="T22" fmla="*/ 789 w 1432"/>
                <a:gd name="T23" fmla="*/ 453 h 526"/>
                <a:gd name="T24" fmla="*/ 699 w 1432"/>
                <a:gd name="T25" fmla="*/ 420 h 526"/>
                <a:gd name="T26" fmla="*/ 560 w 1432"/>
                <a:gd name="T27" fmla="*/ 330 h 526"/>
                <a:gd name="T28" fmla="*/ 437 w 1432"/>
                <a:gd name="T29" fmla="*/ 213 h 526"/>
                <a:gd name="T30" fmla="*/ 274 w 1432"/>
                <a:gd name="T31" fmla="*/ 129 h 526"/>
                <a:gd name="T32" fmla="*/ 140 w 1432"/>
                <a:gd name="T33" fmla="*/ 73 h 526"/>
                <a:gd name="T34" fmla="*/ 0 w 1432"/>
                <a:gd name="T35" fmla="*/ 0 h 526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w 1432"/>
                <a:gd name="T55" fmla="*/ 0 h 526"/>
                <a:gd name="T56" fmla="*/ 1432 w 1432"/>
                <a:gd name="T57" fmla="*/ 526 h 526"/>
              </a:gdLst>
              <a:ahLst/>
              <a:cxnLst>
                <a:cxn ang="T36">
                  <a:pos x="T0" y="T1"/>
                </a:cxn>
                <a:cxn ang="T37">
                  <a:pos x="T2" y="T3"/>
                </a:cxn>
                <a:cxn ang="T38">
                  <a:pos x="T4" y="T5"/>
                </a:cxn>
                <a:cxn ang="T39">
                  <a:pos x="T6" y="T7"/>
                </a:cxn>
                <a:cxn ang="T40">
                  <a:pos x="T8" y="T9"/>
                </a:cxn>
                <a:cxn ang="T41">
                  <a:pos x="T10" y="T11"/>
                </a:cxn>
                <a:cxn ang="T42">
                  <a:pos x="T12" y="T13"/>
                </a:cxn>
                <a:cxn ang="T43">
                  <a:pos x="T14" y="T15"/>
                </a:cxn>
                <a:cxn ang="T44">
                  <a:pos x="T16" y="T17"/>
                </a:cxn>
                <a:cxn ang="T45">
                  <a:pos x="T18" y="T19"/>
                </a:cxn>
                <a:cxn ang="T46">
                  <a:pos x="T20" y="T21"/>
                </a:cxn>
                <a:cxn ang="T47">
                  <a:pos x="T22" y="T23"/>
                </a:cxn>
                <a:cxn ang="T48">
                  <a:pos x="T24" y="T25"/>
                </a:cxn>
                <a:cxn ang="T49">
                  <a:pos x="T26" y="T27"/>
                </a:cxn>
                <a:cxn ang="T50">
                  <a:pos x="T28" y="T29"/>
                </a:cxn>
                <a:cxn ang="T51">
                  <a:pos x="T30" y="T31"/>
                </a:cxn>
                <a:cxn ang="T52">
                  <a:pos x="T32" y="T33"/>
                </a:cxn>
                <a:cxn ang="T53">
                  <a:pos x="T34" y="T35"/>
                </a:cxn>
              </a:cxnLst>
              <a:rect l="T54" t="T55" r="T56" b="T57"/>
              <a:pathLst>
                <a:path w="1432" h="526">
                  <a:moveTo>
                    <a:pt x="0" y="0"/>
                  </a:moveTo>
                  <a:lnTo>
                    <a:pt x="56" y="118"/>
                  </a:lnTo>
                  <a:lnTo>
                    <a:pt x="319" y="302"/>
                  </a:lnTo>
                  <a:lnTo>
                    <a:pt x="604" y="448"/>
                  </a:lnTo>
                  <a:lnTo>
                    <a:pt x="867" y="526"/>
                  </a:lnTo>
                  <a:lnTo>
                    <a:pt x="1091" y="504"/>
                  </a:lnTo>
                  <a:lnTo>
                    <a:pt x="1270" y="448"/>
                  </a:lnTo>
                  <a:lnTo>
                    <a:pt x="1432" y="353"/>
                  </a:lnTo>
                  <a:lnTo>
                    <a:pt x="1253" y="431"/>
                  </a:lnTo>
                  <a:lnTo>
                    <a:pt x="1108" y="470"/>
                  </a:lnTo>
                  <a:lnTo>
                    <a:pt x="951" y="470"/>
                  </a:lnTo>
                  <a:lnTo>
                    <a:pt x="789" y="453"/>
                  </a:lnTo>
                  <a:lnTo>
                    <a:pt x="699" y="420"/>
                  </a:lnTo>
                  <a:lnTo>
                    <a:pt x="560" y="330"/>
                  </a:lnTo>
                  <a:lnTo>
                    <a:pt x="437" y="213"/>
                  </a:lnTo>
                  <a:lnTo>
                    <a:pt x="274" y="129"/>
                  </a:lnTo>
                  <a:lnTo>
                    <a:pt x="140" y="73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969696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rgbClr val="808080"/>
              </a:solidFill>
              <a:round/>
              <a:headEnd/>
              <a:tailEnd/>
            </a:ln>
          </p:spPr>
          <p:txBody>
            <a:bodyPr/>
            <a:lstStyle/>
            <a:p>
              <a:pPr eaLnBrk="1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lang="ko-KR" altLang="en-US" sz="1800" b="0" kern="0">
                <a:solidFill>
                  <a:sysClr val="windowText" lastClr="000000"/>
                </a:solidFill>
                <a:latin typeface="+mn-lt"/>
                <a:ea typeface="+mn-ea"/>
              </a:endParaRPr>
            </a:p>
          </p:txBody>
        </p:sp>
        <p:sp>
          <p:nvSpPr>
            <p:cNvPr id="7" name="Freeform 177"/>
            <p:cNvSpPr>
              <a:spLocks/>
            </p:cNvSpPr>
            <p:nvPr/>
          </p:nvSpPr>
          <p:spPr bwMode="auto">
            <a:xfrm rot="355818" flipH="1">
              <a:off x="2262358" y="4796977"/>
              <a:ext cx="31750" cy="39688"/>
            </a:xfrm>
            <a:custGeom>
              <a:avLst/>
              <a:gdLst>
                <a:gd name="T0" fmla="*/ 229 w 229"/>
                <a:gd name="T1" fmla="*/ 261 h 261"/>
                <a:gd name="T2" fmla="*/ 115 w 229"/>
                <a:gd name="T3" fmla="*/ 57 h 261"/>
                <a:gd name="T4" fmla="*/ 0 w 229"/>
                <a:gd name="T5" fmla="*/ 0 h 261"/>
                <a:gd name="T6" fmla="*/ 0 60000 65536"/>
                <a:gd name="T7" fmla="*/ 0 60000 65536"/>
                <a:gd name="T8" fmla="*/ 0 60000 65536"/>
                <a:gd name="T9" fmla="*/ 0 w 229"/>
                <a:gd name="T10" fmla="*/ 0 h 261"/>
                <a:gd name="T11" fmla="*/ 229 w 229"/>
                <a:gd name="T12" fmla="*/ 261 h 261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229" h="261">
                  <a:moveTo>
                    <a:pt x="229" y="261"/>
                  </a:moveTo>
                  <a:lnTo>
                    <a:pt x="115" y="57"/>
                  </a:lnTo>
                  <a:lnTo>
                    <a:pt x="0" y="0"/>
                  </a:lnTo>
                </a:path>
              </a:pathLst>
            </a:custGeom>
            <a:noFill/>
            <a:ln w="19050">
              <a:solidFill>
                <a:srgbClr val="B2B2B2"/>
              </a:solidFill>
              <a:round/>
              <a:headEnd/>
              <a:tailEnd/>
            </a:ln>
          </p:spPr>
          <p:txBody>
            <a:bodyPr/>
            <a:lstStyle/>
            <a:p>
              <a:pPr eaLnBrk="1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lang="ko-KR" altLang="en-US" sz="1800" b="0" kern="0">
                <a:solidFill>
                  <a:sysClr val="windowText" lastClr="000000"/>
                </a:solidFill>
                <a:latin typeface="+mn-lt"/>
                <a:ea typeface="+mn-ea"/>
              </a:endParaRPr>
            </a:p>
          </p:txBody>
        </p:sp>
        <p:sp>
          <p:nvSpPr>
            <p:cNvPr id="8" name="Freeform 178"/>
            <p:cNvSpPr>
              <a:spLocks/>
            </p:cNvSpPr>
            <p:nvPr/>
          </p:nvSpPr>
          <p:spPr bwMode="auto">
            <a:xfrm rot="355818">
              <a:off x="2248070" y="4795390"/>
              <a:ext cx="42863" cy="7937"/>
            </a:xfrm>
            <a:custGeom>
              <a:avLst/>
              <a:gdLst>
                <a:gd name="T0" fmla="*/ 0 w 560"/>
                <a:gd name="T1" fmla="*/ 79 h 79"/>
                <a:gd name="T2" fmla="*/ 246 w 560"/>
                <a:gd name="T3" fmla="*/ 26 h 79"/>
                <a:gd name="T4" fmla="*/ 408 w 560"/>
                <a:gd name="T5" fmla="*/ 0 h 79"/>
                <a:gd name="T6" fmla="*/ 560 w 560"/>
                <a:gd name="T7" fmla="*/ 26 h 79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560"/>
                <a:gd name="T13" fmla="*/ 0 h 79"/>
                <a:gd name="T14" fmla="*/ 560 w 560"/>
                <a:gd name="T15" fmla="*/ 79 h 79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560" h="79">
                  <a:moveTo>
                    <a:pt x="0" y="79"/>
                  </a:moveTo>
                  <a:lnTo>
                    <a:pt x="246" y="26"/>
                  </a:lnTo>
                  <a:lnTo>
                    <a:pt x="408" y="0"/>
                  </a:lnTo>
                  <a:lnTo>
                    <a:pt x="560" y="26"/>
                  </a:lnTo>
                </a:path>
              </a:pathLst>
            </a:custGeom>
            <a:noFill/>
            <a:ln w="9525">
              <a:solidFill>
                <a:srgbClr val="969696"/>
              </a:solidFill>
              <a:round/>
              <a:headEnd/>
              <a:tailEnd/>
            </a:ln>
          </p:spPr>
          <p:txBody>
            <a:bodyPr/>
            <a:lstStyle/>
            <a:p>
              <a:pPr eaLnBrk="1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lang="ko-KR" altLang="en-US" sz="1800" b="0" kern="0">
                <a:solidFill>
                  <a:sysClr val="windowText" lastClr="000000"/>
                </a:solidFill>
                <a:latin typeface="+mn-lt"/>
                <a:ea typeface="+mn-ea"/>
              </a:endParaRPr>
            </a:p>
          </p:txBody>
        </p:sp>
        <p:sp>
          <p:nvSpPr>
            <p:cNvPr id="9" name="Oval 179"/>
            <p:cNvSpPr>
              <a:spLocks noChangeArrowheads="1"/>
            </p:cNvSpPr>
            <p:nvPr/>
          </p:nvSpPr>
          <p:spPr bwMode="auto">
            <a:xfrm rot="21219751">
              <a:off x="2267120" y="4792215"/>
              <a:ext cx="19050" cy="9525"/>
            </a:xfrm>
            <a:prstGeom prst="ellipse">
              <a:avLst/>
            </a:prstGeom>
            <a:solidFill>
              <a:srgbClr val="969696"/>
            </a:solidFill>
            <a:ln w="9525">
              <a:solidFill>
                <a:srgbClr val="969696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eaLnBrk="1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lang="ko-KR" altLang="en-US" sz="1800" b="0" kern="0">
                <a:solidFill>
                  <a:sysClr val="windowText" lastClr="000000"/>
                </a:solidFill>
                <a:latin typeface="+mn-lt"/>
                <a:ea typeface="+mn-ea"/>
              </a:endParaRPr>
            </a:p>
          </p:txBody>
        </p:sp>
        <p:sp>
          <p:nvSpPr>
            <p:cNvPr id="10" name="Freeform 180"/>
            <p:cNvSpPr>
              <a:spLocks/>
            </p:cNvSpPr>
            <p:nvPr/>
          </p:nvSpPr>
          <p:spPr bwMode="auto">
            <a:xfrm rot="355818">
              <a:off x="2238545" y="4798565"/>
              <a:ext cx="36513" cy="33337"/>
            </a:xfrm>
            <a:custGeom>
              <a:avLst/>
              <a:gdLst>
                <a:gd name="T0" fmla="*/ 98 w 482"/>
                <a:gd name="T1" fmla="*/ 36 h 367"/>
                <a:gd name="T2" fmla="*/ 320 w 482"/>
                <a:gd name="T3" fmla="*/ 0 h 367"/>
                <a:gd name="T4" fmla="*/ 367 w 482"/>
                <a:gd name="T5" fmla="*/ 26 h 367"/>
                <a:gd name="T6" fmla="*/ 445 w 482"/>
                <a:gd name="T7" fmla="*/ 26 h 367"/>
                <a:gd name="T8" fmla="*/ 482 w 482"/>
                <a:gd name="T9" fmla="*/ 42 h 367"/>
                <a:gd name="T10" fmla="*/ 278 w 482"/>
                <a:gd name="T11" fmla="*/ 367 h 367"/>
                <a:gd name="T12" fmla="*/ 5 w 482"/>
                <a:gd name="T13" fmla="*/ 262 h 367"/>
                <a:gd name="T14" fmla="*/ 0 w 482"/>
                <a:gd name="T15" fmla="*/ 157 h 367"/>
                <a:gd name="T16" fmla="*/ 42 w 482"/>
                <a:gd name="T17" fmla="*/ 74 h 367"/>
                <a:gd name="T18" fmla="*/ 98 w 482"/>
                <a:gd name="T19" fmla="*/ 36 h 367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w 482"/>
                <a:gd name="T31" fmla="*/ 0 h 367"/>
                <a:gd name="T32" fmla="*/ 482 w 482"/>
                <a:gd name="T33" fmla="*/ 367 h 367"/>
              </a:gdLst>
              <a:ahLst/>
              <a:cxnLst>
                <a:cxn ang="T20">
                  <a:pos x="T0" y="T1"/>
                </a:cxn>
                <a:cxn ang="T21">
                  <a:pos x="T2" y="T3"/>
                </a:cxn>
                <a:cxn ang="T22">
                  <a:pos x="T4" y="T5"/>
                </a:cxn>
                <a:cxn ang="T23">
                  <a:pos x="T6" y="T7"/>
                </a:cxn>
                <a:cxn ang="T24">
                  <a:pos x="T8" y="T9"/>
                </a:cxn>
                <a:cxn ang="T25">
                  <a:pos x="T10" y="T11"/>
                </a:cxn>
                <a:cxn ang="T26">
                  <a:pos x="T12" y="T13"/>
                </a:cxn>
                <a:cxn ang="T27">
                  <a:pos x="T14" y="T15"/>
                </a:cxn>
                <a:cxn ang="T28">
                  <a:pos x="T16" y="T17"/>
                </a:cxn>
                <a:cxn ang="T29">
                  <a:pos x="T18" y="T19"/>
                </a:cxn>
              </a:cxnLst>
              <a:rect l="T30" t="T31" r="T32" b="T33"/>
              <a:pathLst>
                <a:path w="482" h="367">
                  <a:moveTo>
                    <a:pt x="98" y="36"/>
                  </a:moveTo>
                  <a:lnTo>
                    <a:pt x="320" y="0"/>
                  </a:lnTo>
                  <a:lnTo>
                    <a:pt x="367" y="26"/>
                  </a:lnTo>
                  <a:lnTo>
                    <a:pt x="445" y="26"/>
                  </a:lnTo>
                  <a:lnTo>
                    <a:pt x="482" y="42"/>
                  </a:lnTo>
                  <a:lnTo>
                    <a:pt x="278" y="367"/>
                  </a:lnTo>
                  <a:lnTo>
                    <a:pt x="5" y="262"/>
                  </a:lnTo>
                  <a:lnTo>
                    <a:pt x="0" y="157"/>
                  </a:lnTo>
                  <a:lnTo>
                    <a:pt x="42" y="74"/>
                  </a:lnTo>
                  <a:lnTo>
                    <a:pt x="98" y="36"/>
                  </a:lnTo>
                  <a:close/>
                </a:path>
              </a:pathLst>
            </a:custGeom>
            <a:noFill/>
            <a:ln w="9525">
              <a:solidFill>
                <a:srgbClr val="969696"/>
              </a:solidFill>
              <a:round/>
              <a:headEnd/>
              <a:tailEnd/>
            </a:ln>
          </p:spPr>
          <p:txBody>
            <a:bodyPr/>
            <a:lstStyle/>
            <a:p>
              <a:pPr eaLnBrk="1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lang="ko-KR" altLang="en-US" sz="1800" b="0" kern="0">
                <a:solidFill>
                  <a:sysClr val="windowText" lastClr="000000"/>
                </a:solidFill>
                <a:latin typeface="+mn-lt"/>
                <a:ea typeface="+mn-ea"/>
              </a:endParaRPr>
            </a:p>
          </p:txBody>
        </p:sp>
        <p:sp>
          <p:nvSpPr>
            <p:cNvPr id="11" name="Freeform 182"/>
            <p:cNvSpPr>
              <a:spLocks/>
            </p:cNvSpPr>
            <p:nvPr/>
          </p:nvSpPr>
          <p:spPr bwMode="auto">
            <a:xfrm flipH="1">
              <a:off x="1760708" y="4763640"/>
              <a:ext cx="190500" cy="334962"/>
            </a:xfrm>
            <a:custGeom>
              <a:avLst/>
              <a:gdLst>
                <a:gd name="T0" fmla="*/ 933 w 933"/>
                <a:gd name="T1" fmla="*/ 135 h 352"/>
                <a:gd name="T2" fmla="*/ 932 w 933"/>
                <a:gd name="T3" fmla="*/ 171 h 352"/>
                <a:gd name="T4" fmla="*/ 762 w 933"/>
                <a:gd name="T5" fmla="*/ 352 h 352"/>
                <a:gd name="T6" fmla="*/ 4 w 933"/>
                <a:gd name="T7" fmla="*/ 195 h 352"/>
                <a:gd name="T8" fmla="*/ 0 w 933"/>
                <a:gd name="T9" fmla="*/ 148 h 352"/>
                <a:gd name="T10" fmla="*/ 244 w 933"/>
                <a:gd name="T11" fmla="*/ 0 h 352"/>
                <a:gd name="T12" fmla="*/ 933 w 933"/>
                <a:gd name="T13" fmla="*/ 135 h 352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933"/>
                <a:gd name="T22" fmla="*/ 0 h 352"/>
                <a:gd name="T23" fmla="*/ 933 w 933"/>
                <a:gd name="T24" fmla="*/ 352 h 352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933" h="352">
                  <a:moveTo>
                    <a:pt x="933" y="135"/>
                  </a:moveTo>
                  <a:lnTo>
                    <a:pt x="932" y="171"/>
                  </a:lnTo>
                  <a:lnTo>
                    <a:pt x="762" y="352"/>
                  </a:lnTo>
                  <a:lnTo>
                    <a:pt x="4" y="195"/>
                  </a:lnTo>
                  <a:lnTo>
                    <a:pt x="0" y="148"/>
                  </a:lnTo>
                  <a:lnTo>
                    <a:pt x="244" y="0"/>
                  </a:lnTo>
                  <a:lnTo>
                    <a:pt x="933" y="135"/>
                  </a:lnTo>
                  <a:close/>
                </a:path>
              </a:pathLst>
            </a:custGeom>
            <a:gradFill rotWithShape="0">
              <a:gsLst>
                <a:gs pos="0">
                  <a:srgbClr val="DDDDDD"/>
                </a:gs>
                <a:gs pos="100000">
                  <a:srgbClr val="F3F3F3"/>
                </a:gs>
              </a:gsLst>
              <a:lin ang="0" scaled="1"/>
            </a:gradFill>
            <a:ln w="6350">
              <a:solidFill>
                <a:srgbClr val="B2B2B2"/>
              </a:solidFill>
              <a:round/>
              <a:headEnd/>
              <a:tailEnd/>
            </a:ln>
          </p:spPr>
          <p:txBody>
            <a:bodyPr wrap="none" tIns="27432" bIns="27432" anchor="ctr">
              <a:spAutoFit/>
            </a:bodyPr>
            <a:lstStyle/>
            <a:p>
              <a:pPr eaLnBrk="1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lang="ko-KR" altLang="en-US" sz="1800" b="0" kern="0">
                <a:solidFill>
                  <a:sysClr val="windowText" lastClr="000000"/>
                </a:solidFill>
                <a:latin typeface="+mn-lt"/>
                <a:ea typeface="+mn-ea"/>
              </a:endParaRPr>
            </a:p>
          </p:txBody>
        </p:sp>
        <p:sp>
          <p:nvSpPr>
            <p:cNvPr id="12" name="Freeform 183"/>
            <p:cNvSpPr>
              <a:spLocks/>
            </p:cNvSpPr>
            <p:nvPr/>
          </p:nvSpPr>
          <p:spPr bwMode="auto">
            <a:xfrm flipH="1">
              <a:off x="1778170" y="4750940"/>
              <a:ext cx="187325" cy="331787"/>
            </a:xfrm>
            <a:custGeom>
              <a:avLst/>
              <a:gdLst>
                <a:gd name="T0" fmla="*/ 895 w 895"/>
                <a:gd name="T1" fmla="*/ 133 h 294"/>
                <a:gd name="T2" fmla="*/ 232 w 895"/>
                <a:gd name="T3" fmla="*/ 0 h 294"/>
                <a:gd name="T4" fmla="*/ 0 w 895"/>
                <a:gd name="T5" fmla="*/ 143 h 294"/>
                <a:gd name="T6" fmla="*/ 739 w 895"/>
                <a:gd name="T7" fmla="*/ 294 h 294"/>
                <a:gd name="T8" fmla="*/ 895 w 895"/>
                <a:gd name="T9" fmla="*/ 133 h 294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895"/>
                <a:gd name="T16" fmla="*/ 0 h 294"/>
                <a:gd name="T17" fmla="*/ 895 w 895"/>
                <a:gd name="T18" fmla="*/ 294 h 294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895" h="294">
                  <a:moveTo>
                    <a:pt x="895" y="133"/>
                  </a:moveTo>
                  <a:lnTo>
                    <a:pt x="232" y="0"/>
                  </a:lnTo>
                  <a:lnTo>
                    <a:pt x="0" y="143"/>
                  </a:lnTo>
                  <a:lnTo>
                    <a:pt x="739" y="294"/>
                  </a:lnTo>
                  <a:lnTo>
                    <a:pt x="895" y="133"/>
                  </a:lnTo>
                  <a:close/>
                </a:path>
              </a:pathLst>
            </a:custGeom>
            <a:solidFill>
              <a:srgbClr val="FFFFFF"/>
            </a:solidFill>
            <a:ln w="3175">
              <a:solidFill>
                <a:srgbClr val="B2B2B2"/>
              </a:solidFill>
              <a:round/>
              <a:headEnd/>
              <a:tailEnd/>
            </a:ln>
          </p:spPr>
          <p:txBody>
            <a:bodyPr wrap="none" tIns="27432" bIns="27432" anchor="ctr">
              <a:spAutoFit/>
            </a:bodyPr>
            <a:lstStyle/>
            <a:p>
              <a:pPr eaLnBrk="1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lang="ko-KR" altLang="en-US" sz="1800" b="0" kern="0">
                <a:solidFill>
                  <a:sysClr val="windowText" lastClr="000000"/>
                </a:solidFill>
                <a:latin typeface="+mn-lt"/>
                <a:ea typeface="+mn-ea"/>
              </a:endParaRPr>
            </a:p>
          </p:txBody>
        </p:sp>
        <p:sp>
          <p:nvSpPr>
            <p:cNvPr id="13" name="Freeform 184"/>
            <p:cNvSpPr>
              <a:spLocks/>
            </p:cNvSpPr>
            <p:nvPr/>
          </p:nvSpPr>
          <p:spPr bwMode="auto">
            <a:xfrm flipH="1">
              <a:off x="1798808" y="4828727"/>
              <a:ext cx="344487" cy="84138"/>
            </a:xfrm>
            <a:custGeom>
              <a:avLst/>
              <a:gdLst>
                <a:gd name="T0" fmla="*/ 0 w 531"/>
                <a:gd name="T1" fmla="*/ 15 h 118"/>
                <a:gd name="T2" fmla="*/ 508 w 531"/>
                <a:gd name="T3" fmla="*/ 118 h 118"/>
                <a:gd name="T4" fmla="*/ 531 w 531"/>
                <a:gd name="T5" fmla="*/ 103 h 118"/>
                <a:gd name="T6" fmla="*/ 23 w 531"/>
                <a:gd name="T7" fmla="*/ 0 h 118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531"/>
                <a:gd name="T13" fmla="*/ 0 h 118"/>
                <a:gd name="T14" fmla="*/ 531 w 531"/>
                <a:gd name="T15" fmla="*/ 118 h 118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531" h="118">
                  <a:moveTo>
                    <a:pt x="0" y="15"/>
                  </a:moveTo>
                  <a:lnTo>
                    <a:pt x="508" y="118"/>
                  </a:lnTo>
                  <a:lnTo>
                    <a:pt x="531" y="103"/>
                  </a:lnTo>
                  <a:lnTo>
                    <a:pt x="23" y="0"/>
                  </a:lnTo>
                </a:path>
              </a:pathLst>
            </a:custGeom>
            <a:solidFill>
              <a:srgbClr val="DDDDDD"/>
            </a:solidFill>
            <a:ln w="12700" cap="rnd">
              <a:solidFill>
                <a:srgbClr val="EAEAEA"/>
              </a:solidFill>
              <a:round/>
              <a:headEnd/>
              <a:tailEnd/>
            </a:ln>
          </p:spPr>
          <p:txBody>
            <a:bodyPr/>
            <a:lstStyle/>
            <a:p>
              <a:pPr eaLnBrk="1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lang="ko-KR" altLang="en-US" sz="1800" b="0" kern="0">
                <a:solidFill>
                  <a:sysClr val="windowText" lastClr="000000"/>
                </a:solidFill>
                <a:latin typeface="+mn-lt"/>
                <a:ea typeface="+mn-ea"/>
              </a:endParaRPr>
            </a:p>
          </p:txBody>
        </p:sp>
        <p:sp>
          <p:nvSpPr>
            <p:cNvPr id="14" name="Freeform 185"/>
            <p:cNvSpPr>
              <a:spLocks/>
            </p:cNvSpPr>
            <p:nvPr/>
          </p:nvSpPr>
          <p:spPr bwMode="auto">
            <a:xfrm flipH="1">
              <a:off x="1886120" y="4850952"/>
              <a:ext cx="355600" cy="112713"/>
            </a:xfrm>
            <a:custGeom>
              <a:avLst/>
              <a:gdLst>
                <a:gd name="T0" fmla="*/ 0 w 548"/>
                <a:gd name="T1" fmla="*/ 74 h 159"/>
                <a:gd name="T2" fmla="*/ 31 w 548"/>
                <a:gd name="T3" fmla="*/ 78 h 159"/>
                <a:gd name="T4" fmla="*/ 57 w 548"/>
                <a:gd name="T5" fmla="*/ 66 h 159"/>
                <a:gd name="T6" fmla="*/ 76 w 548"/>
                <a:gd name="T7" fmla="*/ 71 h 159"/>
                <a:gd name="T8" fmla="*/ 58 w 548"/>
                <a:gd name="T9" fmla="*/ 81 h 159"/>
                <a:gd name="T10" fmla="*/ 451 w 548"/>
                <a:gd name="T11" fmla="*/ 159 h 159"/>
                <a:gd name="T12" fmla="*/ 548 w 548"/>
                <a:gd name="T13" fmla="*/ 84 h 159"/>
                <a:gd name="T14" fmla="*/ 130 w 548"/>
                <a:gd name="T15" fmla="*/ 0 h 159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548"/>
                <a:gd name="T25" fmla="*/ 0 h 159"/>
                <a:gd name="T26" fmla="*/ 548 w 548"/>
                <a:gd name="T27" fmla="*/ 159 h 159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548" h="159">
                  <a:moveTo>
                    <a:pt x="0" y="74"/>
                  </a:moveTo>
                  <a:lnTo>
                    <a:pt x="31" y="78"/>
                  </a:lnTo>
                  <a:lnTo>
                    <a:pt x="57" y="66"/>
                  </a:lnTo>
                  <a:lnTo>
                    <a:pt x="76" y="71"/>
                  </a:lnTo>
                  <a:lnTo>
                    <a:pt x="58" y="81"/>
                  </a:lnTo>
                  <a:lnTo>
                    <a:pt x="451" y="159"/>
                  </a:lnTo>
                  <a:lnTo>
                    <a:pt x="548" y="84"/>
                  </a:lnTo>
                  <a:lnTo>
                    <a:pt x="130" y="0"/>
                  </a:lnTo>
                </a:path>
              </a:pathLst>
            </a:custGeom>
            <a:solidFill>
              <a:srgbClr val="DDDDDD"/>
            </a:solidFill>
            <a:ln w="12700" cap="rnd">
              <a:solidFill>
                <a:srgbClr val="EAEAEA"/>
              </a:solidFill>
              <a:round/>
              <a:headEnd/>
              <a:tailEnd/>
            </a:ln>
          </p:spPr>
          <p:txBody>
            <a:bodyPr/>
            <a:lstStyle/>
            <a:p>
              <a:pPr eaLnBrk="1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lang="ko-KR" altLang="en-US" sz="1800" b="0" kern="0">
                <a:solidFill>
                  <a:sysClr val="windowText" lastClr="000000"/>
                </a:solidFill>
                <a:latin typeface="+mn-lt"/>
                <a:ea typeface="+mn-ea"/>
              </a:endParaRPr>
            </a:p>
          </p:txBody>
        </p:sp>
        <p:sp>
          <p:nvSpPr>
            <p:cNvPr id="15" name="Freeform 186"/>
            <p:cNvSpPr>
              <a:spLocks/>
            </p:cNvSpPr>
            <p:nvPr/>
          </p:nvSpPr>
          <p:spPr bwMode="auto">
            <a:xfrm flipH="1">
              <a:off x="1819445" y="4914452"/>
              <a:ext cx="90488" cy="49213"/>
            </a:xfrm>
            <a:custGeom>
              <a:avLst/>
              <a:gdLst>
                <a:gd name="T0" fmla="*/ 73 w 140"/>
                <a:gd name="T1" fmla="*/ 0 h 70"/>
                <a:gd name="T2" fmla="*/ 140 w 140"/>
                <a:gd name="T3" fmla="*/ 11 h 70"/>
                <a:gd name="T4" fmla="*/ 75 w 140"/>
                <a:gd name="T5" fmla="*/ 70 h 70"/>
                <a:gd name="T6" fmla="*/ 0 w 140"/>
                <a:gd name="T7" fmla="*/ 56 h 70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140"/>
                <a:gd name="T13" fmla="*/ 0 h 70"/>
                <a:gd name="T14" fmla="*/ 140 w 140"/>
                <a:gd name="T15" fmla="*/ 70 h 70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140" h="70">
                  <a:moveTo>
                    <a:pt x="73" y="0"/>
                  </a:moveTo>
                  <a:lnTo>
                    <a:pt x="140" y="11"/>
                  </a:lnTo>
                  <a:lnTo>
                    <a:pt x="75" y="70"/>
                  </a:lnTo>
                  <a:lnTo>
                    <a:pt x="0" y="56"/>
                  </a:lnTo>
                </a:path>
              </a:pathLst>
            </a:custGeom>
            <a:solidFill>
              <a:srgbClr val="DDDDDD"/>
            </a:solidFill>
            <a:ln w="12700" cap="rnd">
              <a:solidFill>
                <a:srgbClr val="EAEAEA"/>
              </a:solidFill>
              <a:round/>
              <a:headEnd/>
              <a:tailEnd/>
            </a:ln>
          </p:spPr>
          <p:txBody>
            <a:bodyPr/>
            <a:lstStyle/>
            <a:p>
              <a:pPr eaLnBrk="1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lang="ko-KR" altLang="en-US" sz="1800" b="0" kern="0">
                <a:solidFill>
                  <a:sysClr val="windowText" lastClr="000000"/>
                </a:solidFill>
                <a:latin typeface="+mn-lt"/>
                <a:ea typeface="+mn-ea"/>
              </a:endParaRPr>
            </a:p>
          </p:txBody>
        </p:sp>
        <p:sp>
          <p:nvSpPr>
            <p:cNvPr id="16" name="Freeform 187"/>
            <p:cNvSpPr>
              <a:spLocks/>
            </p:cNvSpPr>
            <p:nvPr/>
          </p:nvSpPr>
          <p:spPr bwMode="auto">
            <a:xfrm flipH="1">
              <a:off x="1754358" y="4925565"/>
              <a:ext cx="107950" cy="71437"/>
            </a:xfrm>
            <a:custGeom>
              <a:avLst/>
              <a:gdLst>
                <a:gd name="T0" fmla="*/ 87 w 167"/>
                <a:gd name="T1" fmla="*/ 0 h 101"/>
                <a:gd name="T2" fmla="*/ 167 w 167"/>
                <a:gd name="T3" fmla="*/ 15 h 101"/>
                <a:gd name="T4" fmla="*/ 81 w 167"/>
                <a:gd name="T5" fmla="*/ 101 h 101"/>
                <a:gd name="T6" fmla="*/ 0 w 167"/>
                <a:gd name="T7" fmla="*/ 83 h 101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167"/>
                <a:gd name="T13" fmla="*/ 0 h 101"/>
                <a:gd name="T14" fmla="*/ 167 w 167"/>
                <a:gd name="T15" fmla="*/ 101 h 101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167" h="101">
                  <a:moveTo>
                    <a:pt x="87" y="0"/>
                  </a:moveTo>
                  <a:lnTo>
                    <a:pt x="167" y="15"/>
                  </a:lnTo>
                  <a:lnTo>
                    <a:pt x="81" y="101"/>
                  </a:lnTo>
                  <a:lnTo>
                    <a:pt x="0" y="83"/>
                  </a:lnTo>
                </a:path>
              </a:pathLst>
            </a:custGeom>
            <a:solidFill>
              <a:srgbClr val="DDDDDD"/>
            </a:solidFill>
            <a:ln w="12700" cap="rnd">
              <a:solidFill>
                <a:srgbClr val="EAEAEA"/>
              </a:solidFill>
              <a:round/>
              <a:headEnd/>
              <a:tailEnd/>
            </a:ln>
          </p:spPr>
          <p:txBody>
            <a:bodyPr/>
            <a:lstStyle/>
            <a:p>
              <a:pPr eaLnBrk="1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lang="ko-KR" altLang="en-US" sz="1800" b="0" kern="0">
                <a:solidFill>
                  <a:sysClr val="windowText" lastClr="000000"/>
                </a:solidFill>
                <a:latin typeface="+mn-lt"/>
                <a:ea typeface="+mn-ea"/>
              </a:endParaRPr>
            </a:p>
          </p:txBody>
        </p:sp>
        <p:sp>
          <p:nvSpPr>
            <p:cNvPr id="17" name="Freeform 189"/>
            <p:cNvSpPr>
              <a:spLocks noChangeAspect="1"/>
            </p:cNvSpPr>
            <p:nvPr/>
          </p:nvSpPr>
          <p:spPr bwMode="auto">
            <a:xfrm>
              <a:off x="1533695" y="4523927"/>
              <a:ext cx="144463" cy="354013"/>
            </a:xfrm>
            <a:custGeom>
              <a:avLst/>
              <a:gdLst/>
              <a:ahLst/>
              <a:cxnLst>
                <a:cxn ang="0">
                  <a:pos x="169" y="246"/>
                </a:cxn>
                <a:cxn ang="0">
                  <a:pos x="1" y="0"/>
                </a:cxn>
                <a:cxn ang="0">
                  <a:pos x="0" y="123"/>
                </a:cxn>
                <a:cxn ang="0">
                  <a:pos x="165" y="377"/>
                </a:cxn>
              </a:cxnLst>
              <a:rect l="0" t="0" r="r" b="b"/>
              <a:pathLst>
                <a:path w="169" h="377">
                  <a:moveTo>
                    <a:pt x="169" y="246"/>
                  </a:moveTo>
                  <a:lnTo>
                    <a:pt x="1" y="0"/>
                  </a:lnTo>
                  <a:lnTo>
                    <a:pt x="0" y="123"/>
                  </a:lnTo>
                  <a:lnTo>
                    <a:pt x="165" y="377"/>
                  </a:lnTo>
                </a:path>
              </a:pathLst>
            </a:custGeom>
            <a:gradFill rotWithShape="1">
              <a:gsLst>
                <a:gs pos="0">
                  <a:srgbClr val="EAEAEA"/>
                </a:gs>
                <a:gs pos="100000">
                  <a:srgbClr val="EAEAEA">
                    <a:gamma/>
                    <a:tint val="60784"/>
                    <a:invGamma/>
                  </a:srgbClr>
                </a:gs>
              </a:gsLst>
              <a:lin ang="0" scaled="1"/>
            </a:gradFill>
            <a:ln w="6350" cap="rnd" cmpd="sng">
              <a:solidFill>
                <a:srgbClr val="969696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pPr eaLnBrk="1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lang="ko-KR" altLang="en-US" sz="1800" b="0" kern="0">
                <a:solidFill>
                  <a:sysClr val="windowText" lastClr="000000"/>
                </a:solidFill>
                <a:latin typeface="+mn-lt"/>
                <a:ea typeface="+mn-ea"/>
              </a:endParaRPr>
            </a:p>
          </p:txBody>
        </p:sp>
        <p:sp>
          <p:nvSpPr>
            <p:cNvPr id="18" name="Freeform 190"/>
            <p:cNvSpPr>
              <a:spLocks noChangeAspect="1"/>
            </p:cNvSpPr>
            <p:nvPr/>
          </p:nvSpPr>
          <p:spPr bwMode="auto">
            <a:xfrm>
              <a:off x="1536870" y="4465190"/>
              <a:ext cx="619125" cy="288925"/>
            </a:xfrm>
            <a:custGeom>
              <a:avLst/>
              <a:gdLst/>
              <a:ahLst/>
              <a:cxnLst>
                <a:cxn ang="0">
                  <a:pos x="166" y="310"/>
                </a:cxn>
                <a:cxn ang="0">
                  <a:pos x="718" y="211"/>
                </a:cxn>
                <a:cxn ang="0">
                  <a:pos x="444" y="0"/>
                </a:cxn>
                <a:cxn ang="0">
                  <a:pos x="0" y="64"/>
                </a:cxn>
                <a:cxn ang="0">
                  <a:pos x="166" y="310"/>
                </a:cxn>
              </a:cxnLst>
              <a:rect l="0" t="0" r="r" b="b"/>
              <a:pathLst>
                <a:path w="718" h="310">
                  <a:moveTo>
                    <a:pt x="166" y="310"/>
                  </a:moveTo>
                  <a:lnTo>
                    <a:pt x="718" y="211"/>
                  </a:lnTo>
                  <a:lnTo>
                    <a:pt x="444" y="0"/>
                  </a:lnTo>
                  <a:lnTo>
                    <a:pt x="0" y="64"/>
                  </a:lnTo>
                  <a:lnTo>
                    <a:pt x="166" y="310"/>
                  </a:lnTo>
                  <a:close/>
                </a:path>
              </a:pathLst>
            </a:custGeom>
            <a:solidFill>
              <a:srgbClr val="FFFFFF"/>
            </a:solidFill>
            <a:ln w="6350" cap="rnd" cmpd="sng">
              <a:solidFill>
                <a:srgbClr val="969696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pPr eaLnBrk="1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lang="ko-KR" altLang="en-US" sz="1800" b="0" kern="0">
                <a:solidFill>
                  <a:sysClr val="windowText" lastClr="000000"/>
                </a:solidFill>
                <a:latin typeface="+mn-lt"/>
                <a:ea typeface="+mn-ea"/>
              </a:endParaRPr>
            </a:p>
          </p:txBody>
        </p:sp>
        <p:sp>
          <p:nvSpPr>
            <p:cNvPr id="19" name="Freeform 191"/>
            <p:cNvSpPr>
              <a:spLocks/>
            </p:cNvSpPr>
            <p:nvPr/>
          </p:nvSpPr>
          <p:spPr bwMode="auto">
            <a:xfrm>
              <a:off x="1671808" y="4660452"/>
              <a:ext cx="477837" cy="214313"/>
            </a:xfrm>
            <a:custGeom>
              <a:avLst/>
              <a:gdLst/>
              <a:ahLst/>
              <a:cxnLst>
                <a:cxn ang="0">
                  <a:pos x="6" y="99"/>
                </a:cxn>
                <a:cxn ang="0">
                  <a:pos x="557" y="0"/>
                </a:cxn>
                <a:cxn ang="0">
                  <a:pos x="549" y="121"/>
                </a:cxn>
                <a:cxn ang="0">
                  <a:pos x="0" y="228"/>
                </a:cxn>
                <a:cxn ang="0">
                  <a:pos x="6" y="99"/>
                </a:cxn>
              </a:cxnLst>
              <a:rect l="0" t="0" r="r" b="b"/>
              <a:pathLst>
                <a:path w="557" h="228">
                  <a:moveTo>
                    <a:pt x="6" y="99"/>
                  </a:moveTo>
                  <a:lnTo>
                    <a:pt x="557" y="0"/>
                  </a:lnTo>
                  <a:lnTo>
                    <a:pt x="549" y="121"/>
                  </a:lnTo>
                  <a:lnTo>
                    <a:pt x="0" y="228"/>
                  </a:lnTo>
                  <a:lnTo>
                    <a:pt x="6" y="99"/>
                  </a:lnTo>
                  <a:close/>
                </a:path>
              </a:pathLst>
            </a:custGeom>
            <a:gradFill rotWithShape="1">
              <a:gsLst>
                <a:gs pos="0">
                  <a:srgbClr val="EAEAEA"/>
                </a:gs>
                <a:gs pos="50000">
                  <a:srgbClr val="EAEAEA">
                    <a:gamma/>
                    <a:tint val="0"/>
                    <a:invGamma/>
                  </a:srgbClr>
                </a:gs>
                <a:gs pos="100000">
                  <a:srgbClr val="EAEAEA"/>
                </a:gs>
              </a:gsLst>
              <a:lin ang="0" scaled="1"/>
            </a:gradFill>
            <a:ln w="9525">
              <a:solidFill>
                <a:srgbClr val="969696"/>
              </a:solidFill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pPr eaLnBrk="1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lang="ko-KR" altLang="en-US" sz="1800" b="0" kern="0">
                <a:solidFill>
                  <a:sysClr val="windowText" lastClr="000000"/>
                </a:solidFill>
                <a:latin typeface="+mn-lt"/>
                <a:ea typeface="+mn-ea"/>
              </a:endParaRPr>
            </a:p>
          </p:txBody>
        </p:sp>
        <p:sp>
          <p:nvSpPr>
            <p:cNvPr id="20" name="Freeform 192"/>
            <p:cNvSpPr>
              <a:spLocks/>
            </p:cNvSpPr>
            <p:nvPr/>
          </p:nvSpPr>
          <p:spPr bwMode="auto">
            <a:xfrm>
              <a:off x="1690858" y="4789040"/>
              <a:ext cx="144462" cy="60325"/>
            </a:xfrm>
            <a:custGeom>
              <a:avLst/>
              <a:gdLst/>
              <a:ahLst/>
              <a:cxnLst>
                <a:cxn ang="0">
                  <a:pos x="0" y="32"/>
                </a:cxn>
                <a:cxn ang="0">
                  <a:pos x="0" y="63"/>
                </a:cxn>
                <a:cxn ang="0">
                  <a:pos x="164" y="33"/>
                </a:cxn>
                <a:cxn ang="0">
                  <a:pos x="167" y="0"/>
                </a:cxn>
                <a:cxn ang="0">
                  <a:pos x="0" y="32"/>
                </a:cxn>
              </a:cxnLst>
              <a:rect l="0" t="0" r="r" b="b"/>
              <a:pathLst>
                <a:path w="167" h="63">
                  <a:moveTo>
                    <a:pt x="0" y="32"/>
                  </a:moveTo>
                  <a:lnTo>
                    <a:pt x="0" y="63"/>
                  </a:lnTo>
                  <a:lnTo>
                    <a:pt x="164" y="33"/>
                  </a:lnTo>
                  <a:lnTo>
                    <a:pt x="167" y="0"/>
                  </a:lnTo>
                  <a:lnTo>
                    <a:pt x="0" y="32"/>
                  </a:lnTo>
                  <a:close/>
                </a:path>
              </a:pathLst>
            </a:custGeom>
            <a:gradFill rotWithShape="1">
              <a:gsLst>
                <a:gs pos="0">
                  <a:srgbClr val="C0C0C0">
                    <a:gamma/>
                    <a:tint val="60784"/>
                    <a:invGamma/>
                  </a:srgbClr>
                </a:gs>
                <a:gs pos="100000">
                  <a:srgbClr val="C0C0C0"/>
                </a:gs>
              </a:gsLst>
              <a:lin ang="0" scaled="1"/>
            </a:gradFill>
            <a:ln w="9525">
              <a:noFill/>
              <a:round/>
              <a:headEnd type="none" w="med" len="med"/>
              <a:tailEnd type="none" w="med" len="med"/>
            </a:ln>
            <a:effectLst>
              <a:prstShdw prst="shdw17" dist="17961" dir="13500000">
                <a:srgbClr val="969696"/>
              </a:prstShdw>
            </a:effectLst>
          </p:spPr>
          <p:txBody>
            <a:bodyPr/>
            <a:lstStyle/>
            <a:p>
              <a:pPr eaLnBrk="1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lang="ko-KR" altLang="en-US" sz="1800" b="0" kern="0">
                <a:solidFill>
                  <a:sysClr val="windowText" lastClr="000000"/>
                </a:solidFill>
                <a:latin typeface="+mn-lt"/>
                <a:ea typeface="+mn-ea"/>
              </a:endParaRPr>
            </a:p>
          </p:txBody>
        </p:sp>
        <p:sp>
          <p:nvSpPr>
            <p:cNvPr id="21" name="Oval 193"/>
            <p:cNvSpPr>
              <a:spLocks noChangeArrowheads="1"/>
            </p:cNvSpPr>
            <p:nvPr/>
          </p:nvSpPr>
          <p:spPr bwMode="auto">
            <a:xfrm>
              <a:off x="1809920" y="4796977"/>
              <a:ext cx="15875" cy="20638"/>
            </a:xfrm>
            <a:prstGeom prst="ellipse">
              <a:avLst/>
            </a:prstGeom>
            <a:solidFill>
              <a:srgbClr val="969696"/>
            </a:solidFill>
            <a:ln w="9525">
              <a:solidFill>
                <a:srgbClr val="969696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 eaLnBrk="1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lang="ko-KR" altLang="en-US" sz="1800" b="0" kern="0">
                <a:solidFill>
                  <a:sysClr val="windowText" lastClr="000000"/>
                </a:solidFill>
                <a:latin typeface="+mn-lt"/>
                <a:ea typeface="+mn-ea"/>
              </a:endParaRPr>
            </a:p>
          </p:txBody>
        </p:sp>
        <p:sp>
          <p:nvSpPr>
            <p:cNvPr id="22" name="Line 194"/>
            <p:cNvSpPr>
              <a:spLocks noChangeShapeType="1"/>
            </p:cNvSpPr>
            <p:nvPr/>
          </p:nvSpPr>
          <p:spPr bwMode="auto">
            <a:xfrm flipH="1">
              <a:off x="2032170" y="4706490"/>
              <a:ext cx="3175" cy="76200"/>
            </a:xfrm>
            <a:prstGeom prst="line">
              <a:avLst/>
            </a:prstGeom>
            <a:noFill/>
            <a:ln w="9525">
              <a:solidFill>
                <a:srgbClr val="808080"/>
              </a:solidFill>
              <a:round/>
              <a:headEnd/>
              <a:tailEnd/>
            </a:ln>
            <a:effectLst>
              <a:outerShdw dist="17961" dir="18900000" algn="ctr" rotWithShape="0">
                <a:srgbClr val="969696">
                  <a:alpha val="50000"/>
                </a:srgbClr>
              </a:outerShdw>
            </a:effectLst>
          </p:spPr>
          <p:txBody>
            <a:bodyPr/>
            <a:lstStyle/>
            <a:p>
              <a:pPr eaLnBrk="1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lang="ko-KR" altLang="en-US" sz="1800" b="0" kern="0">
                <a:solidFill>
                  <a:sysClr val="windowText" lastClr="000000"/>
                </a:solidFill>
                <a:latin typeface="+mn-lt"/>
                <a:ea typeface="+mn-ea"/>
              </a:endParaRPr>
            </a:p>
          </p:txBody>
        </p:sp>
        <p:sp>
          <p:nvSpPr>
            <p:cNvPr id="23" name="Line 195"/>
            <p:cNvSpPr>
              <a:spLocks noChangeShapeType="1"/>
            </p:cNvSpPr>
            <p:nvPr/>
          </p:nvSpPr>
          <p:spPr bwMode="auto">
            <a:xfrm flipH="1">
              <a:off x="2021058" y="4708077"/>
              <a:ext cx="1587" cy="80963"/>
            </a:xfrm>
            <a:prstGeom prst="line">
              <a:avLst/>
            </a:prstGeom>
            <a:noFill/>
            <a:ln w="9525">
              <a:solidFill>
                <a:srgbClr val="808080"/>
              </a:solidFill>
              <a:round/>
              <a:headEnd/>
              <a:tailEnd/>
            </a:ln>
            <a:effectLst>
              <a:outerShdw dist="17961" dir="18900000" algn="ctr" rotWithShape="0">
                <a:srgbClr val="969696">
                  <a:alpha val="50000"/>
                </a:srgbClr>
              </a:outerShdw>
            </a:effectLst>
          </p:spPr>
          <p:txBody>
            <a:bodyPr/>
            <a:lstStyle/>
            <a:p>
              <a:pPr eaLnBrk="1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lang="ko-KR" altLang="en-US" sz="1800" b="0" kern="0">
                <a:solidFill>
                  <a:sysClr val="windowText" lastClr="000000"/>
                </a:solidFill>
                <a:latin typeface="+mn-lt"/>
                <a:ea typeface="+mn-ea"/>
              </a:endParaRPr>
            </a:p>
          </p:txBody>
        </p:sp>
        <p:sp>
          <p:nvSpPr>
            <p:cNvPr id="24" name="Line 196"/>
            <p:cNvSpPr>
              <a:spLocks noChangeShapeType="1"/>
            </p:cNvSpPr>
            <p:nvPr/>
          </p:nvSpPr>
          <p:spPr bwMode="auto">
            <a:xfrm flipH="1">
              <a:off x="2044870" y="4704902"/>
              <a:ext cx="4763" cy="76200"/>
            </a:xfrm>
            <a:prstGeom prst="line">
              <a:avLst/>
            </a:prstGeom>
            <a:noFill/>
            <a:ln w="9525">
              <a:solidFill>
                <a:srgbClr val="808080"/>
              </a:solidFill>
              <a:round/>
              <a:headEnd/>
              <a:tailEnd/>
            </a:ln>
            <a:effectLst>
              <a:outerShdw dist="17961" dir="18900000" algn="ctr" rotWithShape="0">
                <a:srgbClr val="969696">
                  <a:alpha val="50000"/>
                </a:srgbClr>
              </a:outerShdw>
            </a:effectLst>
          </p:spPr>
          <p:txBody>
            <a:bodyPr/>
            <a:lstStyle/>
            <a:p>
              <a:pPr eaLnBrk="1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lang="ko-KR" altLang="en-US" sz="1800" b="0" kern="0">
                <a:solidFill>
                  <a:sysClr val="windowText" lastClr="000000"/>
                </a:solidFill>
                <a:latin typeface="+mn-lt"/>
                <a:ea typeface="+mn-ea"/>
              </a:endParaRPr>
            </a:p>
          </p:txBody>
        </p:sp>
        <p:sp>
          <p:nvSpPr>
            <p:cNvPr id="25" name="Line 197"/>
            <p:cNvSpPr>
              <a:spLocks noChangeShapeType="1"/>
            </p:cNvSpPr>
            <p:nvPr/>
          </p:nvSpPr>
          <p:spPr bwMode="auto">
            <a:xfrm flipH="1">
              <a:off x="2055983" y="4703315"/>
              <a:ext cx="3175" cy="76200"/>
            </a:xfrm>
            <a:prstGeom prst="line">
              <a:avLst/>
            </a:prstGeom>
            <a:noFill/>
            <a:ln w="9525">
              <a:solidFill>
                <a:srgbClr val="808080"/>
              </a:solidFill>
              <a:round/>
              <a:headEnd/>
              <a:tailEnd/>
            </a:ln>
            <a:effectLst>
              <a:outerShdw dist="17961" dir="18900000" algn="ctr" rotWithShape="0">
                <a:srgbClr val="969696">
                  <a:alpha val="50000"/>
                </a:srgbClr>
              </a:outerShdw>
            </a:effectLst>
          </p:spPr>
          <p:txBody>
            <a:bodyPr/>
            <a:lstStyle/>
            <a:p>
              <a:pPr eaLnBrk="1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lang="ko-KR" altLang="en-US" sz="1800" b="0" kern="0">
                <a:solidFill>
                  <a:sysClr val="windowText" lastClr="000000"/>
                </a:solidFill>
                <a:latin typeface="+mn-lt"/>
                <a:ea typeface="+mn-ea"/>
              </a:endParaRPr>
            </a:p>
          </p:txBody>
        </p:sp>
        <p:sp>
          <p:nvSpPr>
            <p:cNvPr id="26" name="Line 198"/>
            <p:cNvSpPr>
              <a:spLocks noChangeShapeType="1"/>
            </p:cNvSpPr>
            <p:nvPr/>
          </p:nvSpPr>
          <p:spPr bwMode="auto">
            <a:xfrm flipH="1">
              <a:off x="2065508" y="4701727"/>
              <a:ext cx="6350" cy="76200"/>
            </a:xfrm>
            <a:prstGeom prst="line">
              <a:avLst/>
            </a:prstGeom>
            <a:noFill/>
            <a:ln w="9525">
              <a:solidFill>
                <a:srgbClr val="808080"/>
              </a:solidFill>
              <a:round/>
              <a:headEnd/>
              <a:tailEnd/>
            </a:ln>
            <a:effectLst>
              <a:outerShdw dist="17961" dir="18900000" algn="ctr" rotWithShape="0">
                <a:srgbClr val="969696">
                  <a:alpha val="50000"/>
                </a:srgbClr>
              </a:outerShdw>
            </a:effectLst>
          </p:spPr>
          <p:txBody>
            <a:bodyPr/>
            <a:lstStyle/>
            <a:p>
              <a:pPr eaLnBrk="1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lang="ko-KR" altLang="en-US" sz="1800" b="0" kern="0">
                <a:solidFill>
                  <a:sysClr val="windowText" lastClr="000000"/>
                </a:solidFill>
                <a:latin typeface="+mn-lt"/>
                <a:ea typeface="+mn-ea"/>
              </a:endParaRPr>
            </a:p>
          </p:txBody>
        </p:sp>
        <p:sp>
          <p:nvSpPr>
            <p:cNvPr id="27" name="Line 199"/>
            <p:cNvSpPr>
              <a:spLocks noChangeShapeType="1"/>
            </p:cNvSpPr>
            <p:nvPr/>
          </p:nvSpPr>
          <p:spPr bwMode="auto">
            <a:xfrm flipH="1">
              <a:off x="2076620" y="4698552"/>
              <a:ext cx="6350" cy="77788"/>
            </a:xfrm>
            <a:prstGeom prst="line">
              <a:avLst/>
            </a:prstGeom>
            <a:noFill/>
            <a:ln w="9525">
              <a:solidFill>
                <a:srgbClr val="808080"/>
              </a:solidFill>
              <a:round/>
              <a:headEnd/>
              <a:tailEnd/>
            </a:ln>
            <a:effectLst>
              <a:outerShdw dist="17961" dir="18900000" algn="ctr" rotWithShape="0">
                <a:srgbClr val="969696">
                  <a:alpha val="50000"/>
                </a:srgbClr>
              </a:outerShdw>
            </a:effectLst>
          </p:spPr>
          <p:txBody>
            <a:bodyPr/>
            <a:lstStyle/>
            <a:p>
              <a:pPr eaLnBrk="1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lang="ko-KR" altLang="en-US" sz="1800" b="0" kern="0">
                <a:solidFill>
                  <a:sysClr val="windowText" lastClr="000000"/>
                </a:solidFill>
                <a:latin typeface="+mn-lt"/>
                <a:ea typeface="+mn-ea"/>
              </a:endParaRPr>
            </a:p>
          </p:txBody>
        </p:sp>
        <p:sp>
          <p:nvSpPr>
            <p:cNvPr id="28" name="Line 200"/>
            <p:cNvSpPr>
              <a:spLocks noChangeShapeType="1"/>
            </p:cNvSpPr>
            <p:nvPr/>
          </p:nvSpPr>
          <p:spPr bwMode="auto">
            <a:xfrm flipH="1">
              <a:off x="2087733" y="4698552"/>
              <a:ext cx="1587" cy="76200"/>
            </a:xfrm>
            <a:prstGeom prst="line">
              <a:avLst/>
            </a:prstGeom>
            <a:noFill/>
            <a:ln w="9525">
              <a:solidFill>
                <a:srgbClr val="808080"/>
              </a:solidFill>
              <a:round/>
              <a:headEnd/>
              <a:tailEnd/>
            </a:ln>
            <a:effectLst>
              <a:outerShdw dist="17961" dir="18900000" algn="ctr" rotWithShape="0">
                <a:srgbClr val="969696">
                  <a:alpha val="50000"/>
                </a:srgbClr>
              </a:outerShdw>
            </a:effectLst>
          </p:spPr>
          <p:txBody>
            <a:bodyPr/>
            <a:lstStyle/>
            <a:p>
              <a:pPr eaLnBrk="1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lang="ko-KR" altLang="en-US" sz="1800" b="0" kern="0">
                <a:solidFill>
                  <a:sysClr val="windowText" lastClr="000000"/>
                </a:solidFill>
                <a:latin typeface="+mn-lt"/>
                <a:ea typeface="+mn-ea"/>
              </a:endParaRPr>
            </a:p>
          </p:txBody>
        </p:sp>
        <p:sp>
          <p:nvSpPr>
            <p:cNvPr id="29" name="Line 201"/>
            <p:cNvSpPr>
              <a:spLocks noChangeShapeType="1"/>
            </p:cNvSpPr>
            <p:nvPr/>
          </p:nvSpPr>
          <p:spPr bwMode="auto">
            <a:xfrm flipH="1">
              <a:off x="2097258" y="4692202"/>
              <a:ext cx="1587" cy="79375"/>
            </a:xfrm>
            <a:prstGeom prst="line">
              <a:avLst/>
            </a:prstGeom>
            <a:noFill/>
            <a:ln w="9525">
              <a:solidFill>
                <a:srgbClr val="808080"/>
              </a:solidFill>
              <a:round/>
              <a:headEnd/>
              <a:tailEnd/>
            </a:ln>
            <a:effectLst>
              <a:outerShdw dist="17961" dir="18900000" algn="ctr" rotWithShape="0">
                <a:srgbClr val="969696">
                  <a:alpha val="50000"/>
                </a:srgbClr>
              </a:outerShdw>
            </a:effectLst>
          </p:spPr>
          <p:txBody>
            <a:bodyPr/>
            <a:lstStyle/>
            <a:p>
              <a:pPr eaLnBrk="1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lang="ko-KR" altLang="en-US" sz="1800" b="0" kern="0">
                <a:solidFill>
                  <a:sysClr val="windowText" lastClr="000000"/>
                </a:solidFill>
                <a:latin typeface="+mn-lt"/>
                <a:ea typeface="+mn-ea"/>
              </a:endParaRPr>
            </a:p>
          </p:txBody>
        </p:sp>
        <p:sp>
          <p:nvSpPr>
            <p:cNvPr id="30" name="Line 202"/>
            <p:cNvSpPr>
              <a:spLocks noChangeShapeType="1"/>
            </p:cNvSpPr>
            <p:nvPr/>
          </p:nvSpPr>
          <p:spPr bwMode="auto">
            <a:xfrm flipH="1">
              <a:off x="2106783" y="4692202"/>
              <a:ext cx="1587" cy="76200"/>
            </a:xfrm>
            <a:prstGeom prst="line">
              <a:avLst/>
            </a:prstGeom>
            <a:noFill/>
            <a:ln w="9525">
              <a:solidFill>
                <a:srgbClr val="808080"/>
              </a:solidFill>
              <a:round/>
              <a:headEnd/>
              <a:tailEnd/>
            </a:ln>
            <a:effectLst>
              <a:outerShdw dist="17961" dir="18900000" algn="ctr" rotWithShape="0">
                <a:srgbClr val="969696">
                  <a:alpha val="50000"/>
                </a:srgbClr>
              </a:outerShdw>
            </a:effectLst>
          </p:spPr>
          <p:txBody>
            <a:bodyPr/>
            <a:lstStyle/>
            <a:p>
              <a:pPr eaLnBrk="1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lang="ko-KR" altLang="en-US" sz="1800" b="0" kern="0">
                <a:solidFill>
                  <a:sysClr val="windowText" lastClr="000000"/>
                </a:solidFill>
                <a:latin typeface="+mn-lt"/>
                <a:ea typeface="+mn-ea"/>
              </a:endParaRPr>
            </a:p>
          </p:txBody>
        </p:sp>
        <p:sp>
          <p:nvSpPr>
            <p:cNvPr id="31" name="Line 203"/>
            <p:cNvSpPr>
              <a:spLocks noChangeShapeType="1"/>
            </p:cNvSpPr>
            <p:nvPr/>
          </p:nvSpPr>
          <p:spPr bwMode="auto">
            <a:xfrm flipH="1">
              <a:off x="2117895" y="4690615"/>
              <a:ext cx="1588" cy="77787"/>
            </a:xfrm>
            <a:prstGeom prst="line">
              <a:avLst/>
            </a:prstGeom>
            <a:noFill/>
            <a:ln w="9525">
              <a:solidFill>
                <a:srgbClr val="808080"/>
              </a:solidFill>
              <a:round/>
              <a:headEnd/>
              <a:tailEnd/>
            </a:ln>
            <a:effectLst>
              <a:outerShdw dist="17961" dir="18900000" algn="ctr" rotWithShape="0">
                <a:srgbClr val="969696">
                  <a:alpha val="50000"/>
                </a:srgbClr>
              </a:outerShdw>
            </a:effectLst>
          </p:spPr>
          <p:txBody>
            <a:bodyPr/>
            <a:lstStyle/>
            <a:p>
              <a:pPr eaLnBrk="1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lang="ko-KR" altLang="en-US" sz="1800" b="0" kern="0">
                <a:solidFill>
                  <a:sysClr val="windowText" lastClr="000000"/>
                </a:solidFill>
                <a:latin typeface="+mn-lt"/>
                <a:ea typeface="+mn-ea"/>
              </a:endParaRPr>
            </a:p>
          </p:txBody>
        </p:sp>
        <p:sp>
          <p:nvSpPr>
            <p:cNvPr id="32" name="Line 204"/>
            <p:cNvSpPr>
              <a:spLocks noChangeShapeType="1"/>
            </p:cNvSpPr>
            <p:nvPr/>
          </p:nvSpPr>
          <p:spPr bwMode="auto">
            <a:xfrm flipH="1">
              <a:off x="2071064" y="4731896"/>
              <a:ext cx="1587" cy="76200"/>
            </a:xfrm>
            <a:prstGeom prst="line">
              <a:avLst/>
            </a:prstGeom>
            <a:noFill/>
            <a:ln w="9525">
              <a:solidFill>
                <a:srgbClr val="808080"/>
              </a:solidFill>
              <a:round/>
              <a:headEnd/>
              <a:tailEnd/>
            </a:ln>
            <a:effectLst>
              <a:outerShdw dist="17961" dir="18900000" algn="ctr" rotWithShape="0">
                <a:srgbClr val="969696">
                  <a:alpha val="50000"/>
                </a:srgbClr>
              </a:outerShdw>
            </a:effectLst>
          </p:spPr>
          <p:txBody>
            <a:bodyPr/>
            <a:lstStyle/>
            <a:p>
              <a:pPr eaLnBrk="1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lang="ko-KR" altLang="en-US" sz="1800" b="0" kern="0">
                <a:solidFill>
                  <a:sysClr val="windowText" lastClr="000000"/>
                </a:solidFill>
                <a:latin typeface="+mn-lt"/>
                <a:ea typeface="+mn-ea"/>
              </a:endParaRPr>
            </a:p>
          </p:txBody>
        </p:sp>
        <p:sp>
          <p:nvSpPr>
            <p:cNvPr id="33" name="Freeform 205"/>
            <p:cNvSpPr>
              <a:spLocks/>
            </p:cNvSpPr>
            <p:nvPr/>
          </p:nvSpPr>
          <p:spPr bwMode="auto">
            <a:xfrm>
              <a:off x="1878183" y="4738240"/>
              <a:ext cx="79375" cy="61912"/>
            </a:xfrm>
            <a:custGeom>
              <a:avLst/>
              <a:gdLst/>
              <a:ahLst/>
              <a:cxnLst>
                <a:cxn ang="0">
                  <a:pos x="2" y="33"/>
                </a:cxn>
                <a:cxn ang="0">
                  <a:pos x="0" y="138"/>
                </a:cxn>
                <a:cxn ang="0">
                  <a:pos x="186" y="104"/>
                </a:cxn>
                <a:cxn ang="0">
                  <a:pos x="186" y="0"/>
                </a:cxn>
                <a:cxn ang="0">
                  <a:pos x="2" y="33"/>
                </a:cxn>
              </a:cxnLst>
              <a:rect l="0" t="0" r="r" b="b"/>
              <a:pathLst>
                <a:path w="186" h="138">
                  <a:moveTo>
                    <a:pt x="2" y="33"/>
                  </a:moveTo>
                  <a:lnTo>
                    <a:pt x="0" y="138"/>
                  </a:lnTo>
                  <a:lnTo>
                    <a:pt x="186" y="104"/>
                  </a:lnTo>
                  <a:lnTo>
                    <a:pt x="186" y="0"/>
                  </a:lnTo>
                  <a:lnTo>
                    <a:pt x="2" y="33"/>
                  </a:lnTo>
                  <a:close/>
                </a:path>
              </a:pathLst>
            </a:custGeom>
            <a:gradFill rotWithShape="1">
              <a:gsLst>
                <a:gs pos="0">
                  <a:srgbClr val="969696"/>
                </a:gs>
                <a:gs pos="100000">
                  <a:srgbClr val="969696">
                    <a:gamma/>
                    <a:shade val="75686"/>
                    <a:invGamma/>
                  </a:srgbClr>
                </a:gs>
              </a:gsLst>
              <a:lin ang="0" scaled="1"/>
            </a:gradFill>
            <a:ln w="3175" cap="flat" cmpd="sng">
              <a:noFill/>
              <a:prstDash val="solid"/>
              <a:round/>
              <a:headEnd type="none" w="med" len="med"/>
              <a:tailEnd type="none" w="med" len="med"/>
            </a:ln>
            <a:effectLst>
              <a:prstShdw prst="shdw17" dist="17961" dir="13500000">
                <a:srgbClr val="969696">
                  <a:alpha val="50000"/>
                </a:srgbClr>
              </a:prstShdw>
            </a:effectLst>
          </p:spPr>
          <p:txBody>
            <a:bodyPr/>
            <a:lstStyle/>
            <a:p>
              <a:pPr eaLnBrk="1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lang="ko-KR" altLang="en-US" sz="1800" b="0" kern="0">
                <a:solidFill>
                  <a:sysClr val="windowText" lastClr="000000"/>
                </a:solidFill>
                <a:latin typeface="+mn-lt"/>
                <a:ea typeface="+mn-ea"/>
              </a:endParaRPr>
            </a:p>
          </p:txBody>
        </p:sp>
        <p:sp>
          <p:nvSpPr>
            <p:cNvPr id="34" name="Line 206"/>
            <p:cNvSpPr>
              <a:spLocks noChangeShapeType="1"/>
            </p:cNvSpPr>
            <p:nvPr/>
          </p:nvSpPr>
          <p:spPr bwMode="auto">
            <a:xfrm flipH="1">
              <a:off x="1889295" y="4773165"/>
              <a:ext cx="0" cy="19050"/>
            </a:xfrm>
            <a:prstGeom prst="line">
              <a:avLst/>
            </a:prstGeom>
            <a:noFill/>
            <a:ln w="9525">
              <a:solidFill>
                <a:srgbClr val="3399FF">
                  <a:alpha val="55000"/>
                </a:srgbClr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pPr eaLnBrk="1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lang="ko-KR" altLang="en-US" sz="1800" b="0" kern="0">
                <a:solidFill>
                  <a:sysClr val="windowText" lastClr="000000"/>
                </a:solidFill>
                <a:latin typeface="+mn-lt"/>
                <a:ea typeface="+mn-ea"/>
              </a:endParaRPr>
            </a:p>
          </p:txBody>
        </p:sp>
        <p:sp>
          <p:nvSpPr>
            <p:cNvPr id="35" name="Line 207"/>
            <p:cNvSpPr>
              <a:spLocks noChangeShapeType="1"/>
            </p:cNvSpPr>
            <p:nvPr/>
          </p:nvSpPr>
          <p:spPr bwMode="auto">
            <a:xfrm flipH="1">
              <a:off x="1951208" y="4758877"/>
              <a:ext cx="0" cy="19050"/>
            </a:xfrm>
            <a:prstGeom prst="line">
              <a:avLst/>
            </a:prstGeom>
            <a:noFill/>
            <a:ln w="9525">
              <a:solidFill>
                <a:srgbClr val="3399FF">
                  <a:alpha val="55000"/>
                </a:srgbClr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pPr eaLnBrk="1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lang="ko-KR" altLang="en-US" sz="1800" b="0" kern="0">
                <a:solidFill>
                  <a:sysClr val="windowText" lastClr="000000"/>
                </a:solidFill>
                <a:latin typeface="+mn-lt"/>
                <a:ea typeface="+mn-ea"/>
              </a:endParaRPr>
            </a:p>
          </p:txBody>
        </p:sp>
        <p:sp>
          <p:nvSpPr>
            <p:cNvPr id="36" name="Line 208"/>
            <p:cNvSpPr>
              <a:spLocks noChangeShapeType="1"/>
            </p:cNvSpPr>
            <p:nvPr/>
          </p:nvSpPr>
          <p:spPr bwMode="auto">
            <a:xfrm flipH="1">
              <a:off x="1943270" y="4768402"/>
              <a:ext cx="0" cy="14288"/>
            </a:xfrm>
            <a:prstGeom prst="line">
              <a:avLst/>
            </a:prstGeom>
            <a:noFill/>
            <a:ln w="9525">
              <a:solidFill>
                <a:srgbClr val="3399FF">
                  <a:alpha val="55000"/>
                </a:srgbClr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pPr eaLnBrk="1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lang="ko-KR" altLang="en-US" sz="1800" b="0" kern="0">
                <a:solidFill>
                  <a:sysClr val="windowText" lastClr="000000"/>
                </a:solidFill>
                <a:latin typeface="+mn-lt"/>
                <a:ea typeface="+mn-ea"/>
              </a:endParaRPr>
            </a:p>
          </p:txBody>
        </p:sp>
        <p:sp>
          <p:nvSpPr>
            <p:cNvPr id="37" name="Line 209"/>
            <p:cNvSpPr>
              <a:spLocks noChangeShapeType="1"/>
            </p:cNvSpPr>
            <p:nvPr/>
          </p:nvSpPr>
          <p:spPr bwMode="auto">
            <a:xfrm flipH="1">
              <a:off x="1898820" y="4781102"/>
              <a:ext cx="0" cy="12700"/>
            </a:xfrm>
            <a:prstGeom prst="line">
              <a:avLst/>
            </a:prstGeom>
            <a:noFill/>
            <a:ln w="9525">
              <a:solidFill>
                <a:srgbClr val="3399FF">
                  <a:alpha val="55000"/>
                </a:srgbClr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pPr eaLnBrk="1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lang="ko-KR" altLang="en-US" sz="1800" b="0" kern="0">
                <a:solidFill>
                  <a:sysClr val="windowText" lastClr="000000"/>
                </a:solidFill>
                <a:latin typeface="+mn-lt"/>
                <a:ea typeface="+mn-ea"/>
              </a:endParaRPr>
            </a:p>
          </p:txBody>
        </p:sp>
        <p:sp>
          <p:nvSpPr>
            <p:cNvPr id="38" name="Line 210"/>
            <p:cNvSpPr>
              <a:spLocks noChangeShapeType="1"/>
            </p:cNvSpPr>
            <p:nvPr/>
          </p:nvSpPr>
          <p:spPr bwMode="auto">
            <a:xfrm flipV="1">
              <a:off x="1908345" y="4782690"/>
              <a:ext cx="25400" cy="6350"/>
            </a:xfrm>
            <a:prstGeom prst="line">
              <a:avLst/>
            </a:prstGeom>
            <a:noFill/>
            <a:ln w="9525">
              <a:solidFill>
                <a:srgbClr val="FFFF99">
                  <a:alpha val="45000"/>
                </a:srgbClr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pPr eaLnBrk="1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lang="ko-KR" altLang="en-US" sz="1800" b="0" kern="0">
                <a:solidFill>
                  <a:sysClr val="windowText" lastClr="000000"/>
                </a:solidFill>
                <a:latin typeface="+mn-lt"/>
                <a:ea typeface="+mn-ea"/>
              </a:endParaRPr>
            </a:p>
          </p:txBody>
        </p:sp>
        <p:sp>
          <p:nvSpPr>
            <p:cNvPr id="39" name="Freeform 211"/>
            <p:cNvSpPr>
              <a:spLocks/>
            </p:cNvSpPr>
            <p:nvPr/>
          </p:nvSpPr>
          <p:spPr bwMode="auto">
            <a:xfrm>
              <a:off x="1714670" y="4752527"/>
              <a:ext cx="100013" cy="36513"/>
            </a:xfrm>
            <a:custGeom>
              <a:avLst/>
              <a:gdLst/>
              <a:ahLst/>
              <a:cxnLst>
                <a:cxn ang="0">
                  <a:pos x="0" y="20"/>
                </a:cxn>
                <a:cxn ang="0">
                  <a:pos x="1" y="38"/>
                </a:cxn>
                <a:cxn ang="0">
                  <a:pos x="116" y="19"/>
                </a:cxn>
                <a:cxn ang="0">
                  <a:pos x="116" y="0"/>
                </a:cxn>
                <a:cxn ang="0">
                  <a:pos x="0" y="20"/>
                </a:cxn>
              </a:cxnLst>
              <a:rect l="0" t="0" r="r" b="b"/>
              <a:pathLst>
                <a:path w="116" h="38">
                  <a:moveTo>
                    <a:pt x="0" y="20"/>
                  </a:moveTo>
                  <a:lnTo>
                    <a:pt x="1" y="38"/>
                  </a:lnTo>
                  <a:lnTo>
                    <a:pt x="116" y="19"/>
                  </a:lnTo>
                  <a:lnTo>
                    <a:pt x="116" y="0"/>
                  </a:lnTo>
                  <a:lnTo>
                    <a:pt x="0" y="20"/>
                  </a:lnTo>
                  <a:close/>
                </a:path>
              </a:pathLst>
            </a:custGeom>
            <a:gradFill rotWithShape="1">
              <a:gsLst>
                <a:gs pos="0">
                  <a:srgbClr val="C0C0C0">
                    <a:gamma/>
                    <a:tint val="60784"/>
                    <a:invGamma/>
                  </a:srgbClr>
                </a:gs>
                <a:gs pos="100000">
                  <a:srgbClr val="C0C0C0"/>
                </a:gs>
              </a:gsLst>
              <a:lin ang="0" scaled="1"/>
            </a:gradFill>
            <a:ln w="9525">
              <a:noFill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pPr eaLnBrk="1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lang="ko-KR" altLang="en-US" sz="1800" b="0" kern="0">
                <a:solidFill>
                  <a:sysClr val="windowText" lastClr="000000"/>
                </a:solidFill>
                <a:latin typeface="+mn-lt"/>
                <a:ea typeface="+mn-ea"/>
              </a:endParaRPr>
            </a:p>
          </p:txBody>
        </p:sp>
        <p:sp>
          <p:nvSpPr>
            <p:cNvPr id="40" name="Line 212"/>
            <p:cNvSpPr>
              <a:spLocks noChangeShapeType="1"/>
            </p:cNvSpPr>
            <p:nvPr/>
          </p:nvSpPr>
          <p:spPr bwMode="auto">
            <a:xfrm flipV="1">
              <a:off x="1706733" y="4758877"/>
              <a:ext cx="112712" cy="22225"/>
            </a:xfrm>
            <a:prstGeom prst="line">
              <a:avLst/>
            </a:prstGeom>
            <a:noFill/>
            <a:ln w="3175">
              <a:solidFill>
                <a:srgbClr val="5F5F5F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pPr eaLnBrk="1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lang="ko-KR" altLang="en-US" sz="1800" b="0" kern="0">
                <a:solidFill>
                  <a:sysClr val="windowText" lastClr="000000"/>
                </a:solidFill>
                <a:latin typeface="+mn-lt"/>
                <a:ea typeface="+mn-ea"/>
              </a:endParaRPr>
            </a:p>
          </p:txBody>
        </p:sp>
        <p:grpSp>
          <p:nvGrpSpPr>
            <p:cNvPr id="41" name="Group 150"/>
            <p:cNvGrpSpPr>
              <a:grpSpLocks/>
            </p:cNvGrpSpPr>
            <p:nvPr/>
          </p:nvGrpSpPr>
          <p:grpSpPr bwMode="auto">
            <a:xfrm>
              <a:off x="1598783" y="4144515"/>
              <a:ext cx="328612" cy="369887"/>
              <a:chOff x="685" y="3115"/>
              <a:chExt cx="207" cy="233"/>
            </a:xfrm>
          </p:grpSpPr>
          <p:sp>
            <p:nvSpPr>
              <p:cNvPr id="54" name="Freeform 215"/>
              <p:cNvSpPr>
                <a:spLocks/>
              </p:cNvSpPr>
              <p:nvPr/>
            </p:nvSpPr>
            <p:spPr bwMode="auto">
              <a:xfrm flipH="1">
                <a:off x="686" y="3115"/>
                <a:ext cx="206" cy="30"/>
              </a:xfrm>
              <a:custGeom>
                <a:avLst/>
                <a:gdLst>
                  <a:gd name="T0" fmla="*/ 1205 w 1205"/>
                  <a:gd name="T1" fmla="*/ 151 h 178"/>
                  <a:gd name="T2" fmla="*/ 964 w 1205"/>
                  <a:gd name="T3" fmla="*/ 178 h 178"/>
                  <a:gd name="T4" fmla="*/ 0 w 1205"/>
                  <a:gd name="T5" fmla="*/ 0 h 178"/>
                  <a:gd name="T6" fmla="*/ 1205 w 1205"/>
                  <a:gd name="T7" fmla="*/ 151 h 178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1205"/>
                  <a:gd name="T13" fmla="*/ 0 h 178"/>
                  <a:gd name="T14" fmla="*/ 1205 w 1205"/>
                  <a:gd name="T15" fmla="*/ 178 h 178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1205" h="178">
                    <a:moveTo>
                      <a:pt x="1205" y="151"/>
                    </a:moveTo>
                    <a:lnTo>
                      <a:pt x="964" y="178"/>
                    </a:lnTo>
                    <a:lnTo>
                      <a:pt x="0" y="0"/>
                    </a:lnTo>
                    <a:lnTo>
                      <a:pt x="1205" y="151"/>
                    </a:lnTo>
                    <a:close/>
                  </a:path>
                </a:pathLst>
              </a:custGeom>
              <a:solidFill>
                <a:srgbClr val="EAEAEA"/>
              </a:solidFill>
              <a:ln w="9525">
                <a:solidFill>
                  <a:srgbClr val="969696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pPr eaLnBrk="1" fontAlgn="auto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lang="ko-KR" altLang="en-US" sz="1800" b="0" kern="0">
                  <a:solidFill>
                    <a:sysClr val="windowText" lastClr="000000"/>
                  </a:solidFill>
                  <a:latin typeface="+mn-lt"/>
                  <a:ea typeface="+mn-ea"/>
                </a:endParaRPr>
              </a:p>
            </p:txBody>
          </p:sp>
          <p:sp>
            <p:nvSpPr>
              <p:cNvPr id="55" name="Freeform 216"/>
              <p:cNvSpPr>
                <a:spLocks/>
              </p:cNvSpPr>
              <p:nvPr/>
            </p:nvSpPr>
            <p:spPr bwMode="auto">
              <a:xfrm flipH="1">
                <a:off x="685" y="3141"/>
                <a:ext cx="69" cy="207"/>
              </a:xfrm>
              <a:custGeom>
                <a:avLst/>
                <a:gdLst>
                  <a:gd name="T0" fmla="*/ 405 w 405"/>
                  <a:gd name="T1" fmla="*/ 0 h 1241"/>
                  <a:gd name="T2" fmla="*/ 389 w 405"/>
                  <a:gd name="T3" fmla="*/ 1000 h 1241"/>
                  <a:gd name="T4" fmla="*/ 133 w 405"/>
                  <a:gd name="T5" fmla="*/ 1241 h 1241"/>
                  <a:gd name="T6" fmla="*/ 0 w 405"/>
                  <a:gd name="T7" fmla="*/ 13 h 1241"/>
                  <a:gd name="T8" fmla="*/ 189 w 405"/>
                  <a:gd name="T9" fmla="*/ 24 h 1241"/>
                  <a:gd name="T10" fmla="*/ 405 w 405"/>
                  <a:gd name="T11" fmla="*/ 0 h 1241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405"/>
                  <a:gd name="T19" fmla="*/ 0 h 1241"/>
                  <a:gd name="T20" fmla="*/ 405 w 405"/>
                  <a:gd name="T21" fmla="*/ 1241 h 1241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405" h="1241">
                    <a:moveTo>
                      <a:pt x="405" y="0"/>
                    </a:moveTo>
                    <a:lnTo>
                      <a:pt x="389" y="1000"/>
                    </a:lnTo>
                    <a:lnTo>
                      <a:pt x="133" y="1241"/>
                    </a:lnTo>
                    <a:lnTo>
                      <a:pt x="0" y="13"/>
                    </a:lnTo>
                    <a:lnTo>
                      <a:pt x="189" y="24"/>
                    </a:lnTo>
                    <a:lnTo>
                      <a:pt x="405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CCCCCC"/>
                  </a:gs>
                  <a:gs pos="100000">
                    <a:srgbClr val="969696"/>
                  </a:gs>
                </a:gsLst>
                <a:lin ang="0" scaled="1"/>
              </a:gradFill>
              <a:ln w="9525">
                <a:solidFill>
                  <a:srgbClr val="969696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pPr eaLnBrk="1" fontAlgn="auto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lang="ko-KR" altLang="en-US" sz="1800" b="0" kern="0">
                  <a:solidFill>
                    <a:sysClr val="windowText" lastClr="000000"/>
                  </a:solidFill>
                  <a:latin typeface="+mn-lt"/>
                  <a:ea typeface="+mn-ea"/>
                </a:endParaRPr>
              </a:p>
            </p:txBody>
          </p:sp>
        </p:grpSp>
        <p:sp>
          <p:nvSpPr>
            <p:cNvPr id="42" name="Oval 217"/>
            <p:cNvSpPr>
              <a:spLocks noChangeArrowheads="1"/>
            </p:cNvSpPr>
            <p:nvPr/>
          </p:nvSpPr>
          <p:spPr bwMode="auto">
            <a:xfrm>
              <a:off x="1682920" y="4542977"/>
              <a:ext cx="298450" cy="93663"/>
            </a:xfrm>
            <a:prstGeom prst="ellipse">
              <a:avLst/>
            </a:prstGeom>
            <a:solidFill>
              <a:srgbClr val="969696"/>
            </a:solidFill>
            <a:ln w="9525">
              <a:solidFill>
                <a:srgbClr val="969696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eaLnBrk="1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lang="ko-KR" altLang="en-US" sz="1800" b="0" kern="0">
                <a:solidFill>
                  <a:sysClr val="windowText" lastClr="000000"/>
                </a:solidFill>
                <a:latin typeface="+mn-lt"/>
                <a:ea typeface="+mn-ea"/>
              </a:endParaRPr>
            </a:p>
          </p:txBody>
        </p:sp>
        <p:sp>
          <p:nvSpPr>
            <p:cNvPr id="43" name="Oval 218"/>
            <p:cNvSpPr>
              <a:spLocks noChangeArrowheads="1"/>
            </p:cNvSpPr>
            <p:nvPr/>
          </p:nvSpPr>
          <p:spPr bwMode="auto">
            <a:xfrm>
              <a:off x="1682920" y="4536627"/>
              <a:ext cx="298450" cy="92075"/>
            </a:xfrm>
            <a:prstGeom prst="ellipse">
              <a:avLst/>
            </a:prstGeom>
            <a:gradFill rotWithShape="1">
              <a:gsLst>
                <a:gs pos="0">
                  <a:srgbClr val="C0C0C0"/>
                </a:gs>
                <a:gs pos="100000">
                  <a:srgbClr val="EAEAEA"/>
                </a:gs>
              </a:gsLst>
              <a:lin ang="2700000" scaled="1"/>
            </a:gradFill>
            <a:ln w="9525">
              <a:solidFill>
                <a:srgbClr val="969696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eaLnBrk="1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lang="ko-KR" altLang="en-US" sz="1800" b="0" kern="0">
                <a:solidFill>
                  <a:sysClr val="windowText" lastClr="000000"/>
                </a:solidFill>
                <a:latin typeface="+mn-lt"/>
                <a:ea typeface="+mn-ea"/>
              </a:endParaRPr>
            </a:p>
          </p:txBody>
        </p:sp>
        <p:sp>
          <p:nvSpPr>
            <p:cNvPr id="44" name="Freeform 219"/>
            <p:cNvSpPr>
              <a:spLocks/>
            </p:cNvSpPr>
            <p:nvPr/>
          </p:nvSpPr>
          <p:spPr bwMode="auto">
            <a:xfrm flipH="1">
              <a:off x="1663870" y="4088952"/>
              <a:ext cx="436563" cy="511175"/>
            </a:xfrm>
            <a:custGeom>
              <a:avLst/>
              <a:gdLst>
                <a:gd name="T0" fmla="*/ 1602 w 1602"/>
                <a:gd name="T1" fmla="*/ 204 h 1734"/>
                <a:gd name="T2" fmla="*/ 5 w 1602"/>
                <a:gd name="T3" fmla="*/ 0 h 1734"/>
                <a:gd name="T4" fmla="*/ 0 w 1602"/>
                <a:gd name="T5" fmla="*/ 1488 h 1734"/>
                <a:gd name="T6" fmla="*/ 1597 w 1602"/>
                <a:gd name="T7" fmla="*/ 1734 h 1734"/>
                <a:gd name="T8" fmla="*/ 1602 w 1602"/>
                <a:gd name="T9" fmla="*/ 204 h 1734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602"/>
                <a:gd name="T16" fmla="*/ 0 h 1734"/>
                <a:gd name="T17" fmla="*/ 1602 w 1602"/>
                <a:gd name="T18" fmla="*/ 1734 h 1734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602" h="1734">
                  <a:moveTo>
                    <a:pt x="1602" y="204"/>
                  </a:moveTo>
                  <a:lnTo>
                    <a:pt x="5" y="0"/>
                  </a:lnTo>
                  <a:lnTo>
                    <a:pt x="0" y="1488"/>
                  </a:lnTo>
                  <a:lnTo>
                    <a:pt x="1597" y="1734"/>
                  </a:lnTo>
                  <a:lnTo>
                    <a:pt x="1602" y="204"/>
                  </a:lnTo>
                  <a:close/>
                </a:path>
              </a:pathLst>
            </a:custGeom>
            <a:gradFill rotWithShape="1">
              <a:gsLst>
                <a:gs pos="0">
                  <a:srgbClr val="FFFFFF"/>
                </a:gs>
                <a:gs pos="100000">
                  <a:srgbClr val="DDDDDD"/>
                </a:gs>
              </a:gsLst>
              <a:lin ang="5400000" scaled="1"/>
            </a:gradFill>
            <a:ln w="9525">
              <a:solidFill>
                <a:srgbClr val="969696"/>
              </a:solidFill>
              <a:round/>
              <a:headEnd/>
              <a:tailEnd/>
            </a:ln>
          </p:spPr>
          <p:txBody>
            <a:bodyPr/>
            <a:lstStyle/>
            <a:p>
              <a:pPr eaLnBrk="1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lang="ko-KR" altLang="en-US" sz="1800" b="0" kern="0">
                <a:solidFill>
                  <a:sysClr val="windowText" lastClr="000000"/>
                </a:solidFill>
                <a:latin typeface="+mn-lt"/>
                <a:ea typeface="+mn-ea"/>
              </a:endParaRPr>
            </a:p>
          </p:txBody>
        </p:sp>
        <p:sp>
          <p:nvSpPr>
            <p:cNvPr id="45" name="Freeform 220"/>
            <p:cNvSpPr>
              <a:spLocks/>
            </p:cNvSpPr>
            <p:nvPr/>
          </p:nvSpPr>
          <p:spPr bwMode="auto">
            <a:xfrm flipH="1">
              <a:off x="1722608" y="4503290"/>
              <a:ext cx="358775" cy="96837"/>
            </a:xfrm>
            <a:custGeom>
              <a:avLst/>
              <a:gdLst>
                <a:gd name="T0" fmla="*/ 1327 w 1330"/>
                <a:gd name="T1" fmla="*/ 200 h 330"/>
                <a:gd name="T2" fmla="*/ 0 w 1330"/>
                <a:gd name="T3" fmla="*/ 0 h 330"/>
                <a:gd name="T4" fmla="*/ 0 w 1330"/>
                <a:gd name="T5" fmla="*/ 115 h 330"/>
                <a:gd name="T6" fmla="*/ 1330 w 1330"/>
                <a:gd name="T7" fmla="*/ 330 h 330"/>
                <a:gd name="T8" fmla="*/ 1327 w 1330"/>
                <a:gd name="T9" fmla="*/ 200 h 33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330"/>
                <a:gd name="T16" fmla="*/ 0 h 330"/>
                <a:gd name="T17" fmla="*/ 1330 w 1330"/>
                <a:gd name="T18" fmla="*/ 330 h 33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330" h="330">
                  <a:moveTo>
                    <a:pt x="1327" y="200"/>
                  </a:moveTo>
                  <a:lnTo>
                    <a:pt x="0" y="0"/>
                  </a:lnTo>
                  <a:lnTo>
                    <a:pt x="0" y="115"/>
                  </a:lnTo>
                  <a:lnTo>
                    <a:pt x="1330" y="330"/>
                  </a:lnTo>
                  <a:lnTo>
                    <a:pt x="1327" y="200"/>
                  </a:lnTo>
                  <a:close/>
                </a:path>
              </a:pathLst>
            </a:custGeom>
            <a:gradFill rotWithShape="1">
              <a:gsLst>
                <a:gs pos="0">
                  <a:srgbClr val="C0C0C0"/>
                </a:gs>
                <a:gs pos="50000">
                  <a:srgbClr val="FFFFFF"/>
                </a:gs>
                <a:gs pos="100000">
                  <a:srgbClr val="C0C0C0"/>
                </a:gs>
              </a:gsLst>
              <a:lin ang="5400000" scaled="1"/>
            </a:gradFill>
            <a:ln w="9525">
              <a:solidFill>
                <a:srgbClr val="969696"/>
              </a:solidFill>
              <a:round/>
              <a:headEnd/>
              <a:tailEnd/>
            </a:ln>
          </p:spPr>
          <p:txBody>
            <a:bodyPr/>
            <a:lstStyle/>
            <a:p>
              <a:pPr eaLnBrk="1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lang="ko-KR" altLang="en-US" sz="1800" b="0" kern="0">
                <a:solidFill>
                  <a:sysClr val="windowText" lastClr="000000"/>
                </a:solidFill>
                <a:latin typeface="+mn-lt"/>
                <a:ea typeface="+mn-ea"/>
              </a:endParaRPr>
            </a:p>
          </p:txBody>
        </p:sp>
        <p:sp>
          <p:nvSpPr>
            <p:cNvPr id="46" name="Freeform 221"/>
            <p:cNvSpPr>
              <a:spLocks/>
            </p:cNvSpPr>
            <p:nvPr/>
          </p:nvSpPr>
          <p:spPr bwMode="auto">
            <a:xfrm flipH="1">
              <a:off x="1651170" y="4147690"/>
              <a:ext cx="15875" cy="452437"/>
            </a:xfrm>
            <a:custGeom>
              <a:avLst/>
              <a:gdLst>
                <a:gd name="T0" fmla="*/ 4 w 56"/>
                <a:gd name="T1" fmla="*/ 16 h 1536"/>
                <a:gd name="T2" fmla="*/ 56 w 56"/>
                <a:gd name="T3" fmla="*/ 0 h 1536"/>
                <a:gd name="T4" fmla="*/ 46 w 56"/>
                <a:gd name="T5" fmla="*/ 1513 h 1536"/>
                <a:gd name="T6" fmla="*/ 0 w 56"/>
                <a:gd name="T7" fmla="*/ 1536 h 1536"/>
                <a:gd name="T8" fmla="*/ 4 w 56"/>
                <a:gd name="T9" fmla="*/ 16 h 153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56"/>
                <a:gd name="T16" fmla="*/ 0 h 1536"/>
                <a:gd name="T17" fmla="*/ 56 w 56"/>
                <a:gd name="T18" fmla="*/ 1536 h 1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56" h="1536">
                  <a:moveTo>
                    <a:pt x="4" y="16"/>
                  </a:moveTo>
                  <a:lnTo>
                    <a:pt x="56" y="0"/>
                  </a:lnTo>
                  <a:lnTo>
                    <a:pt x="46" y="1513"/>
                  </a:lnTo>
                  <a:lnTo>
                    <a:pt x="0" y="1536"/>
                  </a:lnTo>
                  <a:lnTo>
                    <a:pt x="4" y="16"/>
                  </a:lnTo>
                  <a:close/>
                </a:path>
              </a:pathLst>
            </a:custGeom>
            <a:gradFill rotWithShape="1">
              <a:gsLst>
                <a:gs pos="0">
                  <a:srgbClr val="777777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rgbClr val="969696"/>
              </a:solidFill>
              <a:round/>
              <a:headEnd/>
              <a:tailEnd/>
            </a:ln>
          </p:spPr>
          <p:txBody>
            <a:bodyPr/>
            <a:lstStyle/>
            <a:p>
              <a:pPr eaLnBrk="1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lang="ko-KR" altLang="en-US" sz="1800" b="0" kern="0">
                <a:solidFill>
                  <a:sysClr val="windowText" lastClr="000000"/>
                </a:solidFill>
                <a:latin typeface="+mn-lt"/>
                <a:ea typeface="+mn-ea"/>
              </a:endParaRPr>
            </a:p>
          </p:txBody>
        </p:sp>
        <p:sp>
          <p:nvSpPr>
            <p:cNvPr id="47" name="Oval 222"/>
            <p:cNvSpPr>
              <a:spLocks noChangeArrowheads="1"/>
            </p:cNvSpPr>
            <p:nvPr/>
          </p:nvSpPr>
          <p:spPr bwMode="auto">
            <a:xfrm>
              <a:off x="2049633" y="4511227"/>
              <a:ext cx="12700" cy="26988"/>
            </a:xfrm>
            <a:prstGeom prst="ellipse">
              <a:avLst/>
            </a:prstGeom>
            <a:solidFill>
              <a:srgbClr val="777777"/>
            </a:solidFill>
            <a:ln w="9525">
              <a:solidFill>
                <a:srgbClr val="969696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eaLnBrk="1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lang="ko-KR" altLang="en-US" sz="1800" b="0" kern="0">
                <a:solidFill>
                  <a:sysClr val="windowText" lastClr="000000"/>
                </a:solidFill>
                <a:latin typeface="+mn-lt"/>
                <a:ea typeface="+mn-ea"/>
              </a:endParaRPr>
            </a:p>
          </p:txBody>
        </p:sp>
        <p:sp>
          <p:nvSpPr>
            <p:cNvPr id="48" name="Oval 223"/>
            <p:cNvSpPr>
              <a:spLocks noChangeArrowheads="1"/>
            </p:cNvSpPr>
            <p:nvPr/>
          </p:nvSpPr>
          <p:spPr bwMode="auto">
            <a:xfrm>
              <a:off x="2025820" y="4517577"/>
              <a:ext cx="11113" cy="22225"/>
            </a:xfrm>
            <a:prstGeom prst="ellipse">
              <a:avLst/>
            </a:prstGeom>
            <a:solidFill>
              <a:srgbClr val="C0C0C0"/>
            </a:solidFill>
            <a:ln w="9525">
              <a:solidFill>
                <a:srgbClr val="969696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eaLnBrk="1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lang="ko-KR" altLang="en-US" sz="1800" b="0" kern="0">
                <a:solidFill>
                  <a:sysClr val="windowText" lastClr="000000"/>
                </a:solidFill>
                <a:latin typeface="+mn-lt"/>
                <a:ea typeface="+mn-ea"/>
              </a:endParaRPr>
            </a:p>
          </p:txBody>
        </p:sp>
        <p:sp>
          <p:nvSpPr>
            <p:cNvPr id="49" name="Oval 224"/>
            <p:cNvSpPr>
              <a:spLocks noChangeArrowheads="1"/>
            </p:cNvSpPr>
            <p:nvPr/>
          </p:nvSpPr>
          <p:spPr bwMode="auto">
            <a:xfrm>
              <a:off x="1943270" y="4538215"/>
              <a:ext cx="14288" cy="15875"/>
            </a:xfrm>
            <a:prstGeom prst="ellipse">
              <a:avLst/>
            </a:prstGeom>
            <a:solidFill>
              <a:srgbClr val="C0C0C0"/>
            </a:solidFill>
            <a:ln w="9525">
              <a:solidFill>
                <a:srgbClr val="969696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eaLnBrk="1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lang="ko-KR" altLang="en-US" sz="1800" b="0" kern="0">
                <a:solidFill>
                  <a:sysClr val="windowText" lastClr="000000"/>
                </a:solidFill>
                <a:latin typeface="+mn-lt"/>
                <a:ea typeface="+mn-ea"/>
              </a:endParaRPr>
            </a:p>
          </p:txBody>
        </p:sp>
        <p:sp>
          <p:nvSpPr>
            <p:cNvPr id="50" name="Oval 225"/>
            <p:cNvSpPr>
              <a:spLocks noChangeArrowheads="1"/>
            </p:cNvSpPr>
            <p:nvPr/>
          </p:nvSpPr>
          <p:spPr bwMode="auto">
            <a:xfrm>
              <a:off x="1917870" y="4542977"/>
              <a:ext cx="12700" cy="17463"/>
            </a:xfrm>
            <a:prstGeom prst="ellipse">
              <a:avLst/>
            </a:prstGeom>
            <a:solidFill>
              <a:srgbClr val="C0C0C0"/>
            </a:solidFill>
            <a:ln w="9525">
              <a:solidFill>
                <a:srgbClr val="969696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eaLnBrk="1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lang="ko-KR" altLang="en-US" sz="1800" b="0" kern="0">
                <a:solidFill>
                  <a:sysClr val="windowText" lastClr="000000"/>
                </a:solidFill>
                <a:latin typeface="+mn-lt"/>
                <a:ea typeface="+mn-ea"/>
              </a:endParaRPr>
            </a:p>
          </p:txBody>
        </p:sp>
        <p:sp>
          <p:nvSpPr>
            <p:cNvPr id="51" name="Oval 226"/>
            <p:cNvSpPr>
              <a:spLocks noChangeArrowheads="1"/>
            </p:cNvSpPr>
            <p:nvPr/>
          </p:nvSpPr>
          <p:spPr bwMode="auto">
            <a:xfrm>
              <a:off x="1889295" y="4547740"/>
              <a:ext cx="14288" cy="15875"/>
            </a:xfrm>
            <a:prstGeom prst="ellipse">
              <a:avLst/>
            </a:prstGeom>
            <a:solidFill>
              <a:srgbClr val="C0C0C0"/>
            </a:solidFill>
            <a:ln w="9525">
              <a:solidFill>
                <a:srgbClr val="969696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eaLnBrk="1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lang="ko-KR" altLang="en-US" sz="1800" b="0" kern="0">
                <a:solidFill>
                  <a:sysClr val="windowText" lastClr="000000"/>
                </a:solidFill>
                <a:latin typeface="+mn-lt"/>
                <a:ea typeface="+mn-ea"/>
              </a:endParaRPr>
            </a:p>
          </p:txBody>
        </p:sp>
        <p:sp>
          <p:nvSpPr>
            <p:cNvPr id="52" name="Freeform 227"/>
            <p:cNvSpPr>
              <a:spLocks/>
            </p:cNvSpPr>
            <p:nvPr/>
          </p:nvSpPr>
          <p:spPr bwMode="auto">
            <a:xfrm flipH="1">
              <a:off x="1705145" y="4139752"/>
              <a:ext cx="361950" cy="401638"/>
            </a:xfrm>
            <a:custGeom>
              <a:avLst/>
              <a:gdLst>
                <a:gd name="T0" fmla="*/ 1330 w 1345"/>
                <a:gd name="T1" fmla="*/ 167 h 1366"/>
                <a:gd name="T2" fmla="*/ 0 w 1345"/>
                <a:gd name="T3" fmla="*/ 0 h 1366"/>
                <a:gd name="T4" fmla="*/ 0 w 1345"/>
                <a:gd name="T5" fmla="*/ 1157 h 1366"/>
                <a:gd name="T6" fmla="*/ 1345 w 1345"/>
                <a:gd name="T7" fmla="*/ 1366 h 1366"/>
                <a:gd name="T8" fmla="*/ 1330 w 1345"/>
                <a:gd name="T9" fmla="*/ 167 h 136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345"/>
                <a:gd name="T16" fmla="*/ 0 h 1366"/>
                <a:gd name="T17" fmla="*/ 1345 w 1345"/>
                <a:gd name="T18" fmla="*/ 1366 h 136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345" h="1366">
                  <a:moveTo>
                    <a:pt x="1330" y="167"/>
                  </a:moveTo>
                  <a:lnTo>
                    <a:pt x="0" y="0"/>
                  </a:lnTo>
                  <a:lnTo>
                    <a:pt x="0" y="1157"/>
                  </a:lnTo>
                  <a:lnTo>
                    <a:pt x="1345" y="1366"/>
                  </a:lnTo>
                  <a:lnTo>
                    <a:pt x="1330" y="167"/>
                  </a:lnTo>
                  <a:close/>
                </a:path>
              </a:pathLst>
            </a:custGeom>
            <a:gradFill rotWithShape="1">
              <a:gsLst>
                <a:gs pos="0">
                  <a:srgbClr val="C0C0C0"/>
                </a:gs>
                <a:gs pos="100000">
                  <a:srgbClr val="4D4D4D"/>
                </a:gs>
              </a:gsLst>
              <a:lin ang="5400000" scaled="1"/>
            </a:gradFill>
            <a:ln w="9525">
              <a:solidFill>
                <a:srgbClr val="969696"/>
              </a:solidFill>
              <a:round/>
              <a:headEnd/>
              <a:tailEnd/>
            </a:ln>
          </p:spPr>
          <p:txBody>
            <a:bodyPr/>
            <a:lstStyle/>
            <a:p>
              <a:pPr eaLnBrk="1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lang="ko-KR" altLang="en-US" sz="1800" kern="0" dirty="0">
                <a:solidFill>
                  <a:sysClr val="windowText" lastClr="000000"/>
                </a:solidFill>
                <a:latin typeface="+mn-lt"/>
                <a:ea typeface="+mn-ea"/>
              </a:endParaRPr>
            </a:p>
          </p:txBody>
        </p:sp>
        <p:sp>
          <p:nvSpPr>
            <p:cNvPr id="53" name="Freeform 228"/>
            <p:cNvSpPr>
              <a:spLocks/>
            </p:cNvSpPr>
            <p:nvPr/>
          </p:nvSpPr>
          <p:spPr bwMode="auto">
            <a:xfrm flipH="1">
              <a:off x="1651170" y="4087365"/>
              <a:ext cx="447675" cy="63500"/>
            </a:xfrm>
            <a:custGeom>
              <a:avLst/>
              <a:gdLst>
                <a:gd name="T0" fmla="*/ 0 w 1660"/>
                <a:gd name="T1" fmla="*/ 10 h 214"/>
                <a:gd name="T2" fmla="*/ 68 w 1660"/>
                <a:gd name="T3" fmla="*/ 0 h 214"/>
                <a:gd name="T4" fmla="*/ 1660 w 1660"/>
                <a:gd name="T5" fmla="*/ 199 h 214"/>
                <a:gd name="T6" fmla="*/ 1613 w 1660"/>
                <a:gd name="T7" fmla="*/ 214 h 214"/>
                <a:gd name="T8" fmla="*/ 0 w 1660"/>
                <a:gd name="T9" fmla="*/ 10 h 214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660"/>
                <a:gd name="T16" fmla="*/ 0 h 214"/>
                <a:gd name="T17" fmla="*/ 1660 w 1660"/>
                <a:gd name="T18" fmla="*/ 214 h 214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660" h="214">
                  <a:moveTo>
                    <a:pt x="0" y="10"/>
                  </a:moveTo>
                  <a:lnTo>
                    <a:pt x="68" y="0"/>
                  </a:lnTo>
                  <a:lnTo>
                    <a:pt x="1660" y="199"/>
                  </a:lnTo>
                  <a:lnTo>
                    <a:pt x="1613" y="214"/>
                  </a:lnTo>
                  <a:lnTo>
                    <a:pt x="0" y="10"/>
                  </a:lnTo>
                  <a:close/>
                </a:path>
              </a:pathLst>
            </a:custGeom>
            <a:noFill/>
            <a:ln w="9525">
              <a:solidFill>
                <a:srgbClr val="969696"/>
              </a:solidFill>
              <a:round/>
              <a:headEnd/>
              <a:tailEnd/>
            </a:ln>
          </p:spPr>
          <p:txBody>
            <a:bodyPr/>
            <a:lstStyle/>
            <a:p>
              <a:pPr eaLnBrk="1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lang="ko-KR" altLang="en-US" sz="1800" b="0" kern="0">
                <a:solidFill>
                  <a:sysClr val="windowText" lastClr="000000"/>
                </a:solidFill>
                <a:latin typeface="+mn-lt"/>
                <a:ea typeface="+mn-ea"/>
              </a:endParaRPr>
            </a:p>
          </p:txBody>
        </p:sp>
      </p:grpSp>
      <p:pic>
        <p:nvPicPr>
          <p:cNvPr id="56" name="Picture 2" descr="C:\Users\Toshiba\AppData\Local\Microsoft\Windows\Temporary Internet Files\Content.IE5\TBE21NJN\MC900434845[1]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1833656" y="2866919"/>
            <a:ext cx="1583716" cy="150671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7" name="TextBox 56"/>
          <p:cNvSpPr txBox="1"/>
          <p:nvPr/>
        </p:nvSpPr>
        <p:spPr>
          <a:xfrm>
            <a:off x="2181316" y="4532461"/>
            <a:ext cx="123944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송신호스트 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756943" y="4529525"/>
            <a:ext cx="123944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수신호스트 </a:t>
            </a:r>
          </a:p>
        </p:txBody>
      </p:sp>
      <p:sp>
        <p:nvSpPr>
          <p:cNvPr id="59" name="오른쪽 화살표 58"/>
          <p:cNvSpPr/>
          <p:nvPr/>
        </p:nvSpPr>
        <p:spPr>
          <a:xfrm>
            <a:off x="4249443" y="1393617"/>
            <a:ext cx="3935976" cy="627995"/>
          </a:xfrm>
          <a:prstGeom prst="rightArrow">
            <a:avLst>
              <a:gd name="adj1" fmla="val 50000"/>
              <a:gd name="adj2" fmla="val 86095"/>
            </a:avLst>
          </a:prstGeom>
          <a:noFill/>
          <a:ln cap="sq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TextBox 59"/>
          <p:cNvSpPr txBox="1"/>
          <p:nvPr/>
        </p:nvSpPr>
        <p:spPr>
          <a:xfrm>
            <a:off x="5426171" y="1508765"/>
            <a:ext cx="84189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데이터 </a:t>
            </a:r>
          </a:p>
        </p:txBody>
      </p:sp>
      <p:sp>
        <p:nvSpPr>
          <p:cNvPr id="61" name="오른쪽 화살표 60"/>
          <p:cNvSpPr/>
          <p:nvPr/>
        </p:nvSpPr>
        <p:spPr>
          <a:xfrm>
            <a:off x="4249443" y="2169501"/>
            <a:ext cx="3935976" cy="627995"/>
          </a:xfrm>
          <a:prstGeom prst="rightArrow">
            <a:avLst>
              <a:gd name="adj1" fmla="val 50000"/>
              <a:gd name="adj2" fmla="val 86095"/>
            </a:avLst>
          </a:prstGeom>
          <a:solidFill>
            <a:schemeClr val="accent6">
              <a:lumMod val="20000"/>
              <a:lumOff val="80000"/>
            </a:schemeClr>
          </a:solidFill>
          <a:ln cap="sq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TextBox 61"/>
          <p:cNvSpPr txBox="1"/>
          <p:nvPr/>
        </p:nvSpPr>
        <p:spPr>
          <a:xfrm>
            <a:off x="5219694" y="2300351"/>
            <a:ext cx="15680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재전송 </a:t>
            </a:r>
            <a:r>
              <a:rPr lang="en-US" altLang="ko-KR" sz="16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1(RTO)</a:t>
            </a:r>
            <a:r>
              <a:rPr lang="ko-KR" altLang="en-US" sz="160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 </a:t>
            </a:r>
            <a:endParaRPr lang="ko-KR" altLang="en-US" sz="1600" dirty="0">
              <a:latin typeface="함초롬바탕" panose="02030504000101010101" pitchFamily="18" charset="-127"/>
              <a:ea typeface="함초롬바탕" panose="02030504000101010101" pitchFamily="18" charset="-127"/>
              <a:cs typeface="함초롬바탕" panose="02030504000101010101" pitchFamily="18" charset="-127"/>
            </a:endParaRPr>
          </a:p>
        </p:txBody>
      </p:sp>
      <p:sp>
        <p:nvSpPr>
          <p:cNvPr id="63" name="오른쪽 화살표 62"/>
          <p:cNvSpPr/>
          <p:nvPr/>
        </p:nvSpPr>
        <p:spPr>
          <a:xfrm>
            <a:off x="4240704" y="2945385"/>
            <a:ext cx="3935976" cy="627995"/>
          </a:xfrm>
          <a:prstGeom prst="rightArrow">
            <a:avLst>
              <a:gd name="adj1" fmla="val 50000"/>
              <a:gd name="adj2" fmla="val 86095"/>
            </a:avLst>
          </a:prstGeom>
          <a:solidFill>
            <a:schemeClr val="accent6">
              <a:lumMod val="20000"/>
              <a:lumOff val="80000"/>
            </a:schemeClr>
          </a:solidFill>
          <a:ln cap="sq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4" name="TextBox 63"/>
          <p:cNvSpPr txBox="1"/>
          <p:nvPr/>
        </p:nvSpPr>
        <p:spPr>
          <a:xfrm>
            <a:off x="5205154" y="3078816"/>
            <a:ext cx="192873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재전송 </a:t>
            </a:r>
            <a:r>
              <a:rPr lang="en-US" altLang="ko-KR" sz="16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2(RTO </a:t>
            </a:r>
            <a:r>
              <a:rPr lang="en-US" altLang="ko-K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⨯ 2</a:t>
            </a:r>
            <a:r>
              <a:rPr lang="en-US" altLang="ko-KR" sz="16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)</a:t>
            </a:r>
            <a:r>
              <a:rPr lang="ko-KR" altLang="en-US" sz="160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 </a:t>
            </a:r>
            <a:endParaRPr lang="ko-KR" altLang="en-US" sz="1600" dirty="0">
              <a:latin typeface="함초롬바탕" panose="02030504000101010101" pitchFamily="18" charset="-127"/>
              <a:ea typeface="함초롬바탕" panose="02030504000101010101" pitchFamily="18" charset="-127"/>
              <a:cs typeface="함초롬바탕" panose="02030504000101010101" pitchFamily="18" charset="-127"/>
            </a:endParaRPr>
          </a:p>
        </p:txBody>
      </p:sp>
      <p:sp>
        <p:nvSpPr>
          <p:cNvPr id="65" name="오른쪽 화살표 64"/>
          <p:cNvSpPr/>
          <p:nvPr/>
        </p:nvSpPr>
        <p:spPr>
          <a:xfrm>
            <a:off x="4234904" y="3749500"/>
            <a:ext cx="3935976" cy="627995"/>
          </a:xfrm>
          <a:prstGeom prst="rightArrow">
            <a:avLst>
              <a:gd name="adj1" fmla="val 50000"/>
              <a:gd name="adj2" fmla="val 86095"/>
            </a:avLst>
          </a:prstGeom>
          <a:solidFill>
            <a:schemeClr val="accent6">
              <a:lumMod val="20000"/>
              <a:lumOff val="80000"/>
            </a:schemeClr>
          </a:solidFill>
          <a:ln cap="sq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6" name="TextBox 65"/>
          <p:cNvSpPr txBox="1"/>
          <p:nvPr/>
        </p:nvSpPr>
        <p:spPr>
          <a:xfrm>
            <a:off x="5205155" y="3880350"/>
            <a:ext cx="192873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재전송 </a:t>
            </a:r>
            <a:r>
              <a:rPr lang="en-US" altLang="ko-KR" sz="16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3(RTO </a:t>
            </a:r>
            <a:r>
              <a:rPr lang="en-US" altLang="ko-K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⨯ 4</a:t>
            </a:r>
            <a:r>
              <a:rPr lang="en-US" altLang="ko-KR" sz="16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)</a:t>
            </a:r>
            <a:r>
              <a:rPr lang="ko-KR" altLang="en-US" sz="160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 </a:t>
            </a:r>
            <a:endParaRPr lang="ko-KR" altLang="en-US" sz="1600" dirty="0">
              <a:latin typeface="함초롬바탕" panose="02030504000101010101" pitchFamily="18" charset="-127"/>
              <a:ea typeface="함초롬바탕" panose="02030504000101010101" pitchFamily="18" charset="-127"/>
              <a:cs typeface="함초롬바탕" panose="02030504000101010101" pitchFamily="18" charset="-127"/>
            </a:endParaRPr>
          </a:p>
        </p:txBody>
      </p:sp>
      <p:sp>
        <p:nvSpPr>
          <p:cNvPr id="67" name="오른쪽 화살표 66"/>
          <p:cNvSpPr/>
          <p:nvPr/>
        </p:nvSpPr>
        <p:spPr>
          <a:xfrm>
            <a:off x="4225247" y="4522705"/>
            <a:ext cx="3935976" cy="627995"/>
          </a:xfrm>
          <a:prstGeom prst="rightArrow">
            <a:avLst>
              <a:gd name="adj1" fmla="val 50000"/>
              <a:gd name="adj2" fmla="val 86095"/>
            </a:avLst>
          </a:prstGeom>
          <a:solidFill>
            <a:schemeClr val="accent6">
              <a:lumMod val="20000"/>
              <a:lumOff val="80000"/>
            </a:schemeClr>
          </a:solidFill>
          <a:ln cap="sq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8" name="TextBox 67"/>
          <p:cNvSpPr txBox="1"/>
          <p:nvPr/>
        </p:nvSpPr>
        <p:spPr>
          <a:xfrm>
            <a:off x="5195498" y="4653555"/>
            <a:ext cx="192873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재전송 </a:t>
            </a:r>
            <a:r>
              <a:rPr lang="en-US" altLang="ko-KR" sz="16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4(RTO </a:t>
            </a:r>
            <a:r>
              <a:rPr lang="en-US" altLang="ko-K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⨯ 8</a:t>
            </a:r>
            <a:r>
              <a:rPr lang="en-US" altLang="ko-KR" sz="16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)</a:t>
            </a:r>
            <a:r>
              <a:rPr lang="ko-KR" altLang="en-US" sz="160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 </a:t>
            </a:r>
            <a:endParaRPr lang="ko-KR" altLang="en-US" sz="1600" dirty="0">
              <a:latin typeface="함초롬바탕" panose="02030504000101010101" pitchFamily="18" charset="-127"/>
              <a:ea typeface="함초롬바탕" panose="02030504000101010101" pitchFamily="18" charset="-127"/>
              <a:cs typeface="함초롬바탕" panose="02030504000101010101" pitchFamily="18" charset="-127"/>
            </a:endParaRPr>
          </a:p>
        </p:txBody>
      </p:sp>
      <p:sp>
        <p:nvSpPr>
          <p:cNvPr id="69" name="오른쪽 화살표 68"/>
          <p:cNvSpPr/>
          <p:nvPr/>
        </p:nvSpPr>
        <p:spPr>
          <a:xfrm>
            <a:off x="4225247" y="5295910"/>
            <a:ext cx="3935976" cy="627995"/>
          </a:xfrm>
          <a:prstGeom prst="rightArrow">
            <a:avLst>
              <a:gd name="adj1" fmla="val 50000"/>
              <a:gd name="adj2" fmla="val 86095"/>
            </a:avLst>
          </a:prstGeom>
          <a:solidFill>
            <a:schemeClr val="accent6">
              <a:lumMod val="20000"/>
              <a:lumOff val="80000"/>
            </a:schemeClr>
          </a:solidFill>
          <a:ln cap="sq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0" name="TextBox 69"/>
          <p:cNvSpPr txBox="1"/>
          <p:nvPr/>
        </p:nvSpPr>
        <p:spPr>
          <a:xfrm>
            <a:off x="5195498" y="5426760"/>
            <a:ext cx="20313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재전송 </a:t>
            </a:r>
            <a:r>
              <a:rPr lang="en-US" altLang="ko-KR" sz="16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5(RTO </a:t>
            </a:r>
            <a:r>
              <a:rPr lang="en-US" altLang="ko-K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⨯ 16</a:t>
            </a:r>
            <a:r>
              <a:rPr lang="en-US" altLang="ko-KR" sz="16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)</a:t>
            </a:r>
            <a:r>
              <a:rPr lang="ko-KR" altLang="en-US" sz="160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 </a:t>
            </a:r>
            <a:endParaRPr lang="ko-KR" altLang="en-US" sz="1600" dirty="0">
              <a:latin typeface="함초롬바탕" panose="02030504000101010101" pitchFamily="18" charset="-127"/>
              <a:ea typeface="함초롬바탕" panose="02030504000101010101" pitchFamily="18" charset="-127"/>
              <a:cs typeface="함초롬바탕" panose="02030504000101010101" pitchFamily="18" charset="-127"/>
            </a:endParaRPr>
          </a:p>
        </p:txBody>
      </p:sp>
      <p:sp>
        <p:nvSpPr>
          <p:cNvPr id="71" name="직사각형 70"/>
          <p:cNvSpPr/>
          <p:nvPr/>
        </p:nvSpPr>
        <p:spPr>
          <a:xfrm>
            <a:off x="4225247" y="5986127"/>
            <a:ext cx="3927382" cy="365125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2" name="TextBox 71"/>
          <p:cNvSpPr txBox="1"/>
          <p:nvPr/>
        </p:nvSpPr>
        <p:spPr>
          <a:xfrm>
            <a:off x="5327624" y="5986164"/>
            <a:ext cx="219162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dirty="0" err="1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응답없음</a:t>
            </a:r>
            <a:r>
              <a:rPr lang="ko-KR" altLang="en-US" sz="16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 </a:t>
            </a:r>
            <a:r>
              <a:rPr lang="en-US" altLang="ko-KR" sz="1600" dirty="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= </a:t>
            </a:r>
            <a:r>
              <a:rPr lang="ko-KR" altLang="en-US" sz="1600">
                <a:latin typeface="함초롬바탕" panose="02030504000101010101" pitchFamily="18" charset="-127"/>
                <a:ea typeface="함초롬바탕" panose="02030504000101010101" pitchFamily="18" charset="-127"/>
                <a:cs typeface="함초롬바탕" panose="02030504000101010101" pitchFamily="18" charset="-127"/>
              </a:rPr>
              <a:t>연결 종료  </a:t>
            </a:r>
            <a:endParaRPr lang="ko-KR" altLang="en-US" sz="1600" dirty="0">
              <a:latin typeface="함초롬바탕" panose="02030504000101010101" pitchFamily="18" charset="-127"/>
              <a:ea typeface="함초롬바탕" panose="02030504000101010101" pitchFamily="18" charset="-127"/>
              <a:cs typeface="함초롬바탕" panose="02030504000101010101" pitchFamily="18" charset="-127"/>
            </a:endParaRPr>
          </a:p>
        </p:txBody>
      </p:sp>
      <p:sp>
        <p:nvSpPr>
          <p:cNvPr id="73" name="제목 1"/>
          <p:cNvSpPr txBox="1">
            <a:spLocks/>
          </p:cNvSpPr>
          <p:nvPr/>
        </p:nvSpPr>
        <p:spPr>
          <a:xfrm>
            <a:off x="852756" y="266398"/>
            <a:ext cx="7332663" cy="7207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TCP Retransmission Timer</a:t>
            </a:r>
            <a:endParaRPr lang="ko-KR" alt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70833048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>
          <a:xfrm>
            <a:off x="8980251" y="6342362"/>
            <a:ext cx="2743200" cy="365125"/>
          </a:xfrm>
        </p:spPr>
        <p:txBody>
          <a:bodyPr/>
          <a:lstStyle/>
          <a:p>
            <a:fld id="{F100E85C-9068-46D2-A14A-A9DCCDE0C986}" type="slidenum">
              <a:rPr lang="ko-KR" altLang="en-US" smtClean="0"/>
              <a:t>63</a:t>
            </a:fld>
            <a:endParaRPr lang="ko-KR" altLang="en-US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911" y="1449060"/>
            <a:ext cx="9735911" cy="30517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83539" y="662605"/>
            <a:ext cx="7115321" cy="458074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View &gt; Time Display Format &gt; Second since Previous Captured Packet </a:t>
            </a:r>
            <a:endParaRPr lang="ko-KR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3011613" y="4730938"/>
            <a:ext cx="1547218" cy="1631216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2*0.1=</a:t>
            </a:r>
            <a:r>
              <a:rPr lang="en-US" altLang="ko-KR" sz="2000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0.206</a:t>
            </a:r>
          </a:p>
          <a:p>
            <a:r>
              <a:rPr lang="en-US" altLang="ko-K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2*0.3=</a:t>
            </a:r>
            <a:r>
              <a:rPr lang="en-US" altLang="ko-KR" sz="2000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0.6</a:t>
            </a:r>
          </a:p>
          <a:p>
            <a:r>
              <a:rPr lang="en-US" altLang="ko-K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2*0.6=1.2     </a:t>
            </a:r>
          </a:p>
          <a:p>
            <a:r>
              <a:rPr lang="en-US" altLang="ko-K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2*1.2=2.4     </a:t>
            </a:r>
          </a:p>
          <a:p>
            <a:r>
              <a:rPr lang="en-US" altLang="ko-K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2*2.4=4.8</a:t>
            </a:r>
            <a:endParaRPr lang="ko-KR" altLang="en-US" sz="20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자유형 5"/>
          <p:cNvSpPr/>
          <p:nvPr/>
        </p:nvSpPr>
        <p:spPr>
          <a:xfrm>
            <a:off x="2244697" y="4303234"/>
            <a:ext cx="766916" cy="1371600"/>
          </a:xfrm>
          <a:custGeom>
            <a:avLst/>
            <a:gdLst>
              <a:gd name="connsiteX0" fmla="*/ 0 w 766916"/>
              <a:gd name="connsiteY0" fmla="*/ 0 h 1371600"/>
              <a:gd name="connsiteX1" fmla="*/ 14749 w 766916"/>
              <a:gd name="connsiteY1" fmla="*/ 1371600 h 1371600"/>
              <a:gd name="connsiteX2" fmla="*/ 766916 w 766916"/>
              <a:gd name="connsiteY2" fmla="*/ 137160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66916" h="1371600">
                <a:moveTo>
                  <a:pt x="0" y="0"/>
                </a:moveTo>
                <a:lnTo>
                  <a:pt x="14749" y="1371600"/>
                </a:lnTo>
                <a:lnTo>
                  <a:pt x="766916" y="1371600"/>
                </a:lnTo>
              </a:path>
            </a:pathLst>
          </a:custGeom>
          <a:noFill/>
          <a:ln>
            <a:solidFill>
              <a:schemeClr val="tx1"/>
            </a:solidFill>
            <a:prstDash val="dashDot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직사각형 6"/>
          <p:cNvSpPr/>
          <p:nvPr/>
        </p:nvSpPr>
        <p:spPr>
          <a:xfrm>
            <a:off x="1732682" y="2803651"/>
            <a:ext cx="45719" cy="4571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/>
          <p:cNvSpPr/>
          <p:nvPr/>
        </p:nvSpPr>
        <p:spPr>
          <a:xfrm>
            <a:off x="1778401" y="3119337"/>
            <a:ext cx="1140824" cy="1183897"/>
          </a:xfrm>
          <a:prstGeom prst="rect">
            <a:avLst/>
          </a:prstGeom>
          <a:noFill/>
          <a:ln w="4762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" name="직선 화살표 연결선 9"/>
          <p:cNvCxnSpPr/>
          <p:nvPr/>
        </p:nvCxnSpPr>
        <p:spPr>
          <a:xfrm flipH="1">
            <a:off x="3681225" y="5024337"/>
            <a:ext cx="152400" cy="1632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화살표 연결선 10"/>
          <p:cNvCxnSpPr/>
          <p:nvPr/>
        </p:nvCxnSpPr>
        <p:spPr>
          <a:xfrm flipH="1">
            <a:off x="3647233" y="5336146"/>
            <a:ext cx="152400" cy="1632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704483" y="5160878"/>
            <a:ext cx="678423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* RTO </a:t>
            </a:r>
            <a:r>
              <a:rPr lang="ko-KR" altLang="en-US" sz="160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값이 재전송 후에 두 배가 되기 때문에 시간이 기하급수적으로 증가</a:t>
            </a:r>
          </a:p>
        </p:txBody>
      </p:sp>
    </p:spTree>
    <p:extLst>
      <p:ext uri="{BB962C8B-B14F-4D97-AF65-F5344CB8AC3E}">
        <p14:creationId xmlns:p14="http://schemas.microsoft.com/office/powerpoint/2010/main" val="883649174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2400" b="1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TCP </a:t>
            </a:r>
            <a:r>
              <a:rPr lang="ko-KR" altLang="en-US" sz="2400" b="1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중복 검사와 빠른 재전송 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ko-KR" altLang="en-US" sz="18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패킷 손실을 복구하기 위해 고안된 </a:t>
            </a:r>
            <a:r>
              <a:rPr lang="en-US" altLang="ko-KR" sz="18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TCP </a:t>
            </a:r>
            <a:r>
              <a:rPr lang="ko-KR" altLang="en-US" sz="18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기능 </a:t>
            </a:r>
            <a:endParaRPr lang="en-US" altLang="ko-KR" sz="1800" dirty="0">
              <a:latin typeface="함초롬바탕" panose="02030604000101010101" pitchFamily="18" charset="-127"/>
              <a:ea typeface="함초롬바탕" panose="02030604000101010101" pitchFamily="18" charset="-127"/>
              <a:cs typeface="함초롬바탕" panose="02030604000101010101" pitchFamily="18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8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수신자가 잘못된 패킷을 받았을 때 보내는 </a:t>
            </a:r>
            <a:r>
              <a:rPr lang="en-US" altLang="ko-KR" sz="18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TCP </a:t>
            </a:r>
            <a:r>
              <a:rPr lang="ko-KR" altLang="en-US" sz="18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패킷 </a:t>
            </a:r>
            <a:endParaRPr lang="en-US" altLang="ko-KR" sz="1800" dirty="0">
              <a:latin typeface="함초롬바탕" panose="02030604000101010101" pitchFamily="18" charset="-127"/>
              <a:ea typeface="함초롬바탕" panose="02030604000101010101" pitchFamily="18" charset="-127"/>
              <a:cs typeface="함초롬바탕" panose="02030604000101010101" pitchFamily="18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8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중복 </a:t>
            </a:r>
            <a:r>
              <a:rPr lang="en-US" altLang="ko-KR" sz="18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ACK</a:t>
            </a:r>
            <a:r>
              <a:rPr lang="ko-KR" altLang="en-US" sz="18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는 패킷이 잘못된 순서로 수신될 때 발생 </a:t>
            </a: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00E85C-9068-46D2-A14A-A9DCCDE0C986}" type="slidenum">
              <a:rPr lang="ko-KR" altLang="en-US" smtClean="0"/>
              <a:t>64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22208575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>
          <a:xfrm>
            <a:off x="246387" y="6291347"/>
            <a:ext cx="2743200" cy="365125"/>
          </a:xfrm>
        </p:spPr>
        <p:txBody>
          <a:bodyPr/>
          <a:lstStyle/>
          <a:p>
            <a:pPr algn="l"/>
            <a:fld id="{F100E85C-9068-46D2-A14A-A9DCCDE0C986}" type="slidenum">
              <a:rPr lang="ko-KR" altLang="en-US" smtClean="0"/>
              <a:pPr algn="l"/>
              <a:t>65</a:t>
            </a:fld>
            <a:endParaRPr lang="ko-KR" altLang="en-US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EA82E1E-73CC-1D0A-CA10-7FC1379589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387" y="269962"/>
            <a:ext cx="11698511" cy="2951017"/>
          </a:xfrm>
          <a:prstGeom prst="rect">
            <a:avLst/>
          </a:prstGeom>
        </p:spPr>
      </p:pic>
      <p:grpSp>
        <p:nvGrpSpPr>
          <p:cNvPr id="85" name="그룹 84">
            <a:extLst>
              <a:ext uri="{FF2B5EF4-FFF2-40B4-BE49-F238E27FC236}">
                <a16:creationId xmlns:a16="http://schemas.microsoft.com/office/drawing/2014/main" id="{AB064451-B624-AAFA-46D4-113743E5013B}"/>
              </a:ext>
            </a:extLst>
          </p:cNvPr>
          <p:cNvGrpSpPr/>
          <p:nvPr/>
        </p:nvGrpSpPr>
        <p:grpSpPr>
          <a:xfrm>
            <a:off x="6880990" y="3429000"/>
            <a:ext cx="3588097" cy="3083460"/>
            <a:chOff x="7528705" y="3510484"/>
            <a:chExt cx="3588097" cy="3083460"/>
          </a:xfrm>
        </p:grpSpPr>
        <p:cxnSp>
          <p:nvCxnSpPr>
            <p:cNvPr id="86" name="직선 연결선 85">
              <a:extLst>
                <a:ext uri="{FF2B5EF4-FFF2-40B4-BE49-F238E27FC236}">
                  <a16:creationId xmlns:a16="http://schemas.microsoft.com/office/drawing/2014/main" id="{66C2E654-F539-2294-89C2-254FAD3D54B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268577" y="3824041"/>
              <a:ext cx="4790" cy="276990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직선 연결선 86">
              <a:extLst>
                <a:ext uri="{FF2B5EF4-FFF2-40B4-BE49-F238E27FC236}">
                  <a16:creationId xmlns:a16="http://schemas.microsoft.com/office/drawing/2014/main" id="{80A91FB3-A369-3AD6-6834-55CB51DB68D0}"/>
                </a:ext>
              </a:extLst>
            </p:cNvPr>
            <p:cNvCxnSpPr>
              <a:cxnSpLocks/>
            </p:cNvCxnSpPr>
            <p:nvPr/>
          </p:nvCxnSpPr>
          <p:spPr>
            <a:xfrm>
              <a:off x="10416852" y="3824041"/>
              <a:ext cx="9721" cy="276990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8" name="TextBox 24">
              <a:extLst>
                <a:ext uri="{FF2B5EF4-FFF2-40B4-BE49-F238E27FC236}">
                  <a16:creationId xmlns:a16="http://schemas.microsoft.com/office/drawing/2014/main" id="{2E4100C3-506F-57A7-22FA-5941DD42C0BC}"/>
                </a:ext>
              </a:extLst>
            </p:cNvPr>
            <p:cNvSpPr txBox="1"/>
            <p:nvPr/>
          </p:nvSpPr>
          <p:spPr>
            <a:xfrm>
              <a:off x="7528705" y="3567347"/>
              <a:ext cx="121700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altLang="ko-KR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172.16.136.85</a:t>
              </a:r>
            </a:p>
            <a:p>
              <a:r>
                <a:rPr lang="ko-KR" altLang="en-US" sz="1400" dirty="0">
                  <a:latin typeface="함초롬바탕" panose="02030604000101010101" pitchFamily="18" charset="-127"/>
                  <a:ea typeface="함초롬바탕" panose="02030604000101010101" pitchFamily="18" charset="-127"/>
                  <a:cs typeface="함초롬바탕" panose="02030604000101010101" pitchFamily="18" charset="-127"/>
                </a:rPr>
                <a:t>수신자</a:t>
              </a:r>
            </a:p>
          </p:txBody>
        </p:sp>
        <p:sp>
          <p:nvSpPr>
            <p:cNvPr id="89" name="TextBox 25">
              <a:extLst>
                <a:ext uri="{FF2B5EF4-FFF2-40B4-BE49-F238E27FC236}">
                  <a16:creationId xmlns:a16="http://schemas.microsoft.com/office/drawing/2014/main" id="{0A622B9A-5D56-0E6D-ACFC-73415CF56474}"/>
                </a:ext>
              </a:extLst>
            </p:cNvPr>
            <p:cNvSpPr txBox="1"/>
            <p:nvPr/>
          </p:nvSpPr>
          <p:spPr>
            <a:xfrm>
              <a:off x="9720266" y="3510484"/>
              <a:ext cx="139653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altLang="ko-KR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  195.81.202.68</a:t>
              </a:r>
            </a:p>
            <a:p>
              <a:r>
                <a:rPr lang="en-US" altLang="ko-KR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              </a:t>
              </a:r>
              <a:r>
                <a:rPr lang="ko-KR" altLang="en-US" sz="1400" dirty="0">
                  <a:latin typeface="함초롬바탕" panose="02030604000101010101" pitchFamily="18" charset="-127"/>
                  <a:ea typeface="함초롬바탕" panose="02030604000101010101" pitchFamily="18" charset="-127"/>
                  <a:cs typeface="함초롬바탕" panose="02030604000101010101" pitchFamily="18" charset="-127"/>
                </a:rPr>
                <a:t>송신자</a:t>
              </a:r>
            </a:p>
          </p:txBody>
        </p:sp>
        <p:cxnSp>
          <p:nvCxnSpPr>
            <p:cNvPr id="90" name="직선 화살표 연결선 89">
              <a:extLst>
                <a:ext uri="{FF2B5EF4-FFF2-40B4-BE49-F238E27FC236}">
                  <a16:creationId xmlns:a16="http://schemas.microsoft.com/office/drawing/2014/main" id="{428903BE-AE00-5500-4C9B-425FC82D20BF}"/>
                </a:ext>
              </a:extLst>
            </p:cNvPr>
            <p:cNvCxnSpPr>
              <a:cxnSpLocks/>
            </p:cNvCxnSpPr>
            <p:nvPr/>
          </p:nvCxnSpPr>
          <p:spPr>
            <a:xfrm>
              <a:off x="8291558" y="4002477"/>
              <a:ext cx="2125292" cy="225529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1" name="TextBox 29">
              <a:extLst>
                <a:ext uri="{FF2B5EF4-FFF2-40B4-BE49-F238E27FC236}">
                  <a16:creationId xmlns:a16="http://schemas.microsoft.com/office/drawing/2014/main" id="{F5AAAF8C-9681-1EBB-8C31-F5FD2523A91D}"/>
                </a:ext>
              </a:extLst>
            </p:cNvPr>
            <p:cNvSpPr txBox="1"/>
            <p:nvPr/>
          </p:nvSpPr>
          <p:spPr>
            <a:xfrm rot="313428">
              <a:off x="8626414" y="3817339"/>
              <a:ext cx="159184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altLang="ko-KR" sz="1400" b="1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SN=729 ACK=186</a:t>
              </a:r>
              <a:endParaRPr lang="ko-KR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92" name="직선 화살표 연결선 91">
              <a:extLst>
                <a:ext uri="{FF2B5EF4-FFF2-40B4-BE49-F238E27FC236}">
                  <a16:creationId xmlns:a16="http://schemas.microsoft.com/office/drawing/2014/main" id="{D69EE51F-4A03-2C2A-5378-FCDA2091675C}"/>
                </a:ext>
              </a:extLst>
            </p:cNvPr>
            <p:cNvCxnSpPr>
              <a:cxnSpLocks/>
            </p:cNvCxnSpPr>
            <p:nvPr/>
          </p:nvCxnSpPr>
          <p:spPr>
            <a:xfrm>
              <a:off x="8273365" y="4998770"/>
              <a:ext cx="2143485" cy="208254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3" name="TextBox 40">
              <a:extLst>
                <a:ext uri="{FF2B5EF4-FFF2-40B4-BE49-F238E27FC236}">
                  <a16:creationId xmlns:a16="http://schemas.microsoft.com/office/drawing/2014/main" id="{05ADD715-7827-0614-E6A8-962BFBDB210F}"/>
                </a:ext>
              </a:extLst>
            </p:cNvPr>
            <p:cNvSpPr txBox="1"/>
            <p:nvPr/>
          </p:nvSpPr>
          <p:spPr>
            <a:xfrm rot="21207086">
              <a:off x="8537803" y="6172890"/>
              <a:ext cx="205426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altLang="ko-KR" sz="1400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[Fast </a:t>
              </a:r>
              <a:r>
                <a:rPr lang="en-US" altLang="ko-KR" sz="1400" dirty="0" err="1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Retramission</a:t>
              </a:r>
              <a:r>
                <a:rPr lang="en-US" altLang="ko-KR" sz="1400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]</a:t>
              </a:r>
              <a:endParaRPr lang="ko-KR" altLang="en-US" sz="1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94" name="직선 화살표 연결선 93">
              <a:extLst>
                <a:ext uri="{FF2B5EF4-FFF2-40B4-BE49-F238E27FC236}">
                  <a16:creationId xmlns:a16="http://schemas.microsoft.com/office/drawing/2014/main" id="{AA8C51A1-0D8F-C3B4-95F8-3F3D1C8D520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291558" y="4437125"/>
              <a:ext cx="2143485" cy="210387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5" name="TextBox 29">
              <a:extLst>
                <a:ext uri="{FF2B5EF4-FFF2-40B4-BE49-F238E27FC236}">
                  <a16:creationId xmlns:a16="http://schemas.microsoft.com/office/drawing/2014/main" id="{594EB695-1592-2F27-E762-A197A5D9238C}"/>
                </a:ext>
              </a:extLst>
            </p:cNvPr>
            <p:cNvSpPr txBox="1"/>
            <p:nvPr/>
          </p:nvSpPr>
          <p:spPr>
            <a:xfrm rot="21320503">
              <a:off x="8516365" y="4248978"/>
              <a:ext cx="156940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altLang="ko-KR" sz="1400" b="1" i="1" dirty="0">
                  <a:solidFill>
                    <a:srgbClr val="0070C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SN=130 </a:t>
              </a:r>
              <a:r>
                <a:rPr lang="en-US" altLang="ko-KR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ACK=729</a:t>
              </a:r>
              <a:endParaRPr lang="ko-KR" alt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96" name="TextBox 29">
              <a:extLst>
                <a:ext uri="{FF2B5EF4-FFF2-40B4-BE49-F238E27FC236}">
                  <a16:creationId xmlns:a16="http://schemas.microsoft.com/office/drawing/2014/main" id="{33D26748-11B4-1DE0-F3AE-23D4711EAFB5}"/>
                </a:ext>
              </a:extLst>
            </p:cNvPr>
            <p:cNvSpPr txBox="1"/>
            <p:nvPr/>
          </p:nvSpPr>
          <p:spPr>
            <a:xfrm rot="271128">
              <a:off x="8279059" y="4786509"/>
              <a:ext cx="208396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altLang="ko-KR" sz="1400" b="1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[Dup] SN=729 ACK=186</a:t>
              </a:r>
              <a:endParaRPr lang="ko-KR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97" name="직선 화살표 연결선 96">
              <a:extLst>
                <a:ext uri="{FF2B5EF4-FFF2-40B4-BE49-F238E27FC236}">
                  <a16:creationId xmlns:a16="http://schemas.microsoft.com/office/drawing/2014/main" id="{E9835C32-3577-8EED-AD33-3B2EBA4C2094}"/>
                </a:ext>
              </a:extLst>
            </p:cNvPr>
            <p:cNvCxnSpPr>
              <a:cxnSpLocks/>
            </p:cNvCxnSpPr>
            <p:nvPr/>
          </p:nvCxnSpPr>
          <p:spPr>
            <a:xfrm>
              <a:off x="8282231" y="5361115"/>
              <a:ext cx="2143485" cy="208254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8" name="TextBox 29">
              <a:extLst>
                <a:ext uri="{FF2B5EF4-FFF2-40B4-BE49-F238E27FC236}">
                  <a16:creationId xmlns:a16="http://schemas.microsoft.com/office/drawing/2014/main" id="{07148BEA-1AAF-A075-DDF0-20860FC70088}"/>
                </a:ext>
              </a:extLst>
            </p:cNvPr>
            <p:cNvSpPr txBox="1"/>
            <p:nvPr/>
          </p:nvSpPr>
          <p:spPr>
            <a:xfrm rot="271128">
              <a:off x="8277525" y="5135747"/>
              <a:ext cx="204229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altLang="ko-KR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[Dup] SN=729 ACK=186</a:t>
              </a:r>
              <a:endParaRPr lang="ko-KR" alt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99" name="직선 화살표 연결선 98">
              <a:extLst>
                <a:ext uri="{FF2B5EF4-FFF2-40B4-BE49-F238E27FC236}">
                  <a16:creationId xmlns:a16="http://schemas.microsoft.com/office/drawing/2014/main" id="{8AC1DE46-7B8B-1798-E6F5-E06ECAD07195}"/>
                </a:ext>
              </a:extLst>
            </p:cNvPr>
            <p:cNvCxnSpPr>
              <a:cxnSpLocks/>
            </p:cNvCxnSpPr>
            <p:nvPr/>
          </p:nvCxnSpPr>
          <p:spPr>
            <a:xfrm>
              <a:off x="8229358" y="5700014"/>
              <a:ext cx="2179024" cy="220253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0" name="TextBox 29">
              <a:extLst>
                <a:ext uri="{FF2B5EF4-FFF2-40B4-BE49-F238E27FC236}">
                  <a16:creationId xmlns:a16="http://schemas.microsoft.com/office/drawing/2014/main" id="{C01FE63B-64CB-9266-8CAC-51BC5124E581}"/>
                </a:ext>
              </a:extLst>
            </p:cNvPr>
            <p:cNvSpPr txBox="1"/>
            <p:nvPr/>
          </p:nvSpPr>
          <p:spPr>
            <a:xfrm rot="391150">
              <a:off x="8278999" y="5522315"/>
              <a:ext cx="218033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altLang="ko-KR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[Dup] SN=729 ACK=186</a:t>
              </a:r>
              <a:endParaRPr lang="ko-KR" alt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101" name="직선 화살표 연결선 100">
              <a:extLst>
                <a:ext uri="{FF2B5EF4-FFF2-40B4-BE49-F238E27FC236}">
                  <a16:creationId xmlns:a16="http://schemas.microsoft.com/office/drawing/2014/main" id="{A98A7CDC-EBD6-BE53-6970-8C2BAF073D0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273365" y="6129386"/>
              <a:ext cx="2143485" cy="210387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2" name="TextBox 29">
              <a:extLst>
                <a:ext uri="{FF2B5EF4-FFF2-40B4-BE49-F238E27FC236}">
                  <a16:creationId xmlns:a16="http://schemas.microsoft.com/office/drawing/2014/main" id="{E0981575-9F8E-EFEA-5643-351C11C03F9C}"/>
                </a:ext>
              </a:extLst>
            </p:cNvPr>
            <p:cNvSpPr txBox="1"/>
            <p:nvPr/>
          </p:nvSpPr>
          <p:spPr>
            <a:xfrm rot="21320503">
              <a:off x="8412125" y="5984288"/>
              <a:ext cx="161428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altLang="ko-KR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SN=186  ACK=729</a:t>
              </a:r>
              <a:endParaRPr lang="ko-KR" alt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103" name="그룹 102">
            <a:extLst>
              <a:ext uri="{FF2B5EF4-FFF2-40B4-BE49-F238E27FC236}">
                <a16:creationId xmlns:a16="http://schemas.microsoft.com/office/drawing/2014/main" id="{7FE09E07-896A-3B74-7A5C-7B61C8BADCD6}"/>
              </a:ext>
            </a:extLst>
          </p:cNvPr>
          <p:cNvGrpSpPr/>
          <p:nvPr/>
        </p:nvGrpSpPr>
        <p:grpSpPr>
          <a:xfrm>
            <a:off x="1624815" y="4180685"/>
            <a:ext cx="3588097" cy="1657076"/>
            <a:chOff x="2470559" y="3549948"/>
            <a:chExt cx="3588097" cy="1657076"/>
          </a:xfrm>
        </p:grpSpPr>
        <p:cxnSp>
          <p:nvCxnSpPr>
            <p:cNvPr id="104" name="직선 연결선 103">
              <a:extLst>
                <a:ext uri="{FF2B5EF4-FFF2-40B4-BE49-F238E27FC236}">
                  <a16:creationId xmlns:a16="http://schemas.microsoft.com/office/drawing/2014/main" id="{9C04B111-41BC-06DE-38D0-BDEB57A578AB}"/>
                </a:ext>
              </a:extLst>
            </p:cNvPr>
            <p:cNvCxnSpPr>
              <a:cxnSpLocks/>
            </p:cNvCxnSpPr>
            <p:nvPr/>
          </p:nvCxnSpPr>
          <p:spPr>
            <a:xfrm>
              <a:off x="3215221" y="3863505"/>
              <a:ext cx="4788" cy="134351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직선 연결선 104">
              <a:extLst>
                <a:ext uri="{FF2B5EF4-FFF2-40B4-BE49-F238E27FC236}">
                  <a16:creationId xmlns:a16="http://schemas.microsoft.com/office/drawing/2014/main" id="{3FC12A7D-A145-785B-740C-25864F950E85}"/>
                </a:ext>
              </a:extLst>
            </p:cNvPr>
            <p:cNvCxnSpPr>
              <a:cxnSpLocks/>
            </p:cNvCxnSpPr>
            <p:nvPr/>
          </p:nvCxnSpPr>
          <p:spPr>
            <a:xfrm>
              <a:off x="5358706" y="3863505"/>
              <a:ext cx="8468" cy="134351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6" name="TextBox 24">
              <a:extLst>
                <a:ext uri="{FF2B5EF4-FFF2-40B4-BE49-F238E27FC236}">
                  <a16:creationId xmlns:a16="http://schemas.microsoft.com/office/drawing/2014/main" id="{AD75473F-CF4E-DDB7-6792-36B5EAC3F2B0}"/>
                </a:ext>
              </a:extLst>
            </p:cNvPr>
            <p:cNvSpPr txBox="1"/>
            <p:nvPr/>
          </p:nvSpPr>
          <p:spPr>
            <a:xfrm>
              <a:off x="2470559" y="3606811"/>
              <a:ext cx="121700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altLang="ko-KR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172.16.136.85</a:t>
              </a:r>
            </a:p>
            <a:p>
              <a:r>
                <a:rPr lang="ko-KR" altLang="en-US" sz="1400" dirty="0">
                  <a:latin typeface="함초롬바탕" panose="02030604000101010101" pitchFamily="18" charset="-127"/>
                  <a:ea typeface="함초롬바탕" panose="02030604000101010101" pitchFamily="18" charset="-127"/>
                  <a:cs typeface="함초롬바탕" panose="02030604000101010101" pitchFamily="18" charset="-127"/>
                </a:rPr>
                <a:t>수신자</a:t>
              </a:r>
            </a:p>
          </p:txBody>
        </p:sp>
        <p:sp>
          <p:nvSpPr>
            <p:cNvPr id="107" name="TextBox 25">
              <a:extLst>
                <a:ext uri="{FF2B5EF4-FFF2-40B4-BE49-F238E27FC236}">
                  <a16:creationId xmlns:a16="http://schemas.microsoft.com/office/drawing/2014/main" id="{3650D71B-1461-D0A1-407B-8308FAE8F15E}"/>
                </a:ext>
              </a:extLst>
            </p:cNvPr>
            <p:cNvSpPr txBox="1"/>
            <p:nvPr/>
          </p:nvSpPr>
          <p:spPr>
            <a:xfrm>
              <a:off x="4662120" y="3549948"/>
              <a:ext cx="139653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altLang="ko-KR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  195.81.202.68</a:t>
              </a:r>
            </a:p>
            <a:p>
              <a:r>
                <a:rPr lang="en-US" altLang="ko-KR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              </a:t>
              </a:r>
              <a:r>
                <a:rPr lang="ko-KR" altLang="en-US" sz="1400" dirty="0">
                  <a:latin typeface="함초롬바탕" panose="02030604000101010101" pitchFamily="18" charset="-127"/>
                  <a:ea typeface="함초롬바탕" panose="02030604000101010101" pitchFamily="18" charset="-127"/>
                  <a:cs typeface="함초롬바탕" panose="02030604000101010101" pitchFamily="18" charset="-127"/>
                </a:rPr>
                <a:t>송신자</a:t>
              </a:r>
            </a:p>
          </p:txBody>
        </p:sp>
        <p:cxnSp>
          <p:nvCxnSpPr>
            <p:cNvPr id="108" name="직선 화살표 연결선 107">
              <a:extLst>
                <a:ext uri="{FF2B5EF4-FFF2-40B4-BE49-F238E27FC236}">
                  <a16:creationId xmlns:a16="http://schemas.microsoft.com/office/drawing/2014/main" id="{775E73B5-349C-7CC6-7F5D-BE28A3BA7FB0}"/>
                </a:ext>
              </a:extLst>
            </p:cNvPr>
            <p:cNvCxnSpPr>
              <a:cxnSpLocks/>
            </p:cNvCxnSpPr>
            <p:nvPr/>
          </p:nvCxnSpPr>
          <p:spPr>
            <a:xfrm>
              <a:off x="3233412" y="4041941"/>
              <a:ext cx="2125292" cy="225529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9" name="TextBox 29">
              <a:extLst>
                <a:ext uri="{FF2B5EF4-FFF2-40B4-BE49-F238E27FC236}">
                  <a16:creationId xmlns:a16="http://schemas.microsoft.com/office/drawing/2014/main" id="{E63C6DA4-9BDE-DF72-5E21-D1454CDBE220}"/>
                </a:ext>
              </a:extLst>
            </p:cNvPr>
            <p:cNvSpPr txBox="1"/>
            <p:nvPr/>
          </p:nvSpPr>
          <p:spPr>
            <a:xfrm rot="313428">
              <a:off x="3568268" y="3856803"/>
              <a:ext cx="159184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altLang="ko-KR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SN=729 </a:t>
              </a:r>
              <a:r>
                <a:rPr lang="en-US" altLang="ko-KR" sz="1400" b="1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ACK=186</a:t>
              </a:r>
              <a:endParaRPr lang="ko-KR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110" name="직선 화살표 연결선 109">
              <a:extLst>
                <a:ext uri="{FF2B5EF4-FFF2-40B4-BE49-F238E27FC236}">
                  <a16:creationId xmlns:a16="http://schemas.microsoft.com/office/drawing/2014/main" id="{99972AF2-C76F-9065-F044-F9974B31EF1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233412" y="4476589"/>
              <a:ext cx="2143485" cy="210387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1" name="TextBox 29">
              <a:extLst>
                <a:ext uri="{FF2B5EF4-FFF2-40B4-BE49-F238E27FC236}">
                  <a16:creationId xmlns:a16="http://schemas.microsoft.com/office/drawing/2014/main" id="{BF8381DF-119A-AFE2-DDE4-CFAED53D7D10}"/>
                </a:ext>
              </a:extLst>
            </p:cNvPr>
            <p:cNvSpPr txBox="1"/>
            <p:nvPr/>
          </p:nvSpPr>
          <p:spPr>
            <a:xfrm rot="21320503">
              <a:off x="3458219" y="4288442"/>
              <a:ext cx="156940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altLang="ko-KR" sz="1400" b="1" i="1" dirty="0">
                  <a:solidFill>
                    <a:srgbClr val="0070C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SN=186 </a:t>
              </a:r>
              <a:r>
                <a:rPr lang="en-US" altLang="ko-KR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ACK=729</a:t>
              </a:r>
              <a:endParaRPr lang="ko-KR" alt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112" name="TextBox 111">
            <a:extLst>
              <a:ext uri="{FF2B5EF4-FFF2-40B4-BE49-F238E27FC236}">
                <a16:creationId xmlns:a16="http://schemas.microsoft.com/office/drawing/2014/main" id="{B3012EBB-C0EF-01C6-67C7-55AE2CC3BF11}"/>
              </a:ext>
            </a:extLst>
          </p:cNvPr>
          <p:cNvSpPr txBox="1"/>
          <p:nvPr/>
        </p:nvSpPr>
        <p:spPr>
          <a:xfrm>
            <a:off x="2641201" y="6032434"/>
            <a:ext cx="15119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[</a:t>
            </a:r>
            <a:r>
              <a:rPr lang="ko-KR" altLang="en-US" sz="14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정상 패킷의 </a:t>
            </a:r>
            <a:r>
              <a:rPr lang="en-US" altLang="ko-KR" sz="1400" dirty="0">
                <a:latin typeface="Times New Roman" panose="02020603050405020304" pitchFamily="18" charset="0"/>
                <a:ea typeface="함초롬바탕" panose="02030604000101010101" pitchFamily="18" charset="-127"/>
                <a:cs typeface="Times New Roman" panose="02020603050405020304" pitchFamily="18" charset="0"/>
              </a:rPr>
              <a:t>SN</a:t>
            </a:r>
            <a:r>
              <a:rPr lang="en-US" altLang="ko-KR" sz="14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]</a:t>
            </a:r>
            <a:endParaRPr lang="ko-KR" altLang="en-US" sz="1400" dirty="0">
              <a:latin typeface="함초롬바탕" panose="02030604000101010101" pitchFamily="18" charset="-127"/>
              <a:ea typeface="함초롬바탕" panose="02030604000101010101" pitchFamily="18" charset="-127"/>
              <a:cs typeface="함초롬바탕" panose="02030604000101010101" pitchFamily="18" charset="-127"/>
            </a:endParaRP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AB182C24-359C-2472-CD75-AEEC710BC6CB}"/>
              </a:ext>
            </a:extLst>
          </p:cNvPr>
          <p:cNvSpPr txBox="1"/>
          <p:nvPr/>
        </p:nvSpPr>
        <p:spPr>
          <a:xfrm>
            <a:off x="10000143" y="5894013"/>
            <a:ext cx="168668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[</a:t>
            </a:r>
            <a:r>
              <a:rPr lang="ko-KR" altLang="en-US" sz="14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비정상 패킷의 </a:t>
            </a:r>
            <a:r>
              <a:rPr lang="en-US" altLang="ko-KR" sz="1400" dirty="0">
                <a:latin typeface="Times New Roman" panose="02020603050405020304" pitchFamily="18" charset="0"/>
                <a:ea typeface="함초롬바탕" panose="02030604000101010101" pitchFamily="18" charset="-127"/>
                <a:cs typeface="Times New Roman" panose="02020603050405020304" pitchFamily="18" charset="0"/>
              </a:rPr>
              <a:t>SN</a:t>
            </a:r>
            <a:r>
              <a:rPr lang="en-US" altLang="ko-KR" sz="14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]</a:t>
            </a:r>
            <a:endParaRPr lang="ko-KR" altLang="en-US" sz="1400" dirty="0">
              <a:latin typeface="함초롬바탕" panose="02030604000101010101" pitchFamily="18" charset="-127"/>
              <a:ea typeface="함초롬바탕" panose="02030604000101010101" pitchFamily="18" charset="-127"/>
              <a:cs typeface="함초롬바탕" panose="02030604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12388761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1675"/>
          </a:xfrm>
        </p:spPr>
        <p:txBody>
          <a:bodyPr>
            <a:normAutofit/>
          </a:bodyPr>
          <a:lstStyle/>
          <a:p>
            <a:r>
              <a:rPr lang="en-US" altLang="ko-KR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2) TCP </a:t>
            </a:r>
            <a:r>
              <a:rPr lang="en-US" altLang="ko-KR" sz="3200" b="1" dirty="0">
                <a:latin typeface="Times New Roman" panose="02020603050405020304" pitchFamily="18" charset="0"/>
                <a:ea typeface="함초롬바탕" panose="02030604000101010101" pitchFamily="18" charset="-127"/>
                <a:cs typeface="Times New Roman" panose="02020603050405020304" pitchFamily="18" charset="0"/>
              </a:rPr>
              <a:t>Sliding windows mechanism</a:t>
            </a:r>
            <a:r>
              <a:rPr lang="ko-KR" altLang="en-US" sz="3200" b="1" dirty="0"/>
              <a:t> 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25284" y="1401081"/>
            <a:ext cx="10722429" cy="5043261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ko-KR" altLang="en-US" sz="18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패킷 손실을 방지하기 위해 데이터 전송률을 조정하는 기법 </a:t>
            </a:r>
            <a:endParaRPr lang="en-US" altLang="ko-KR" sz="1800" dirty="0">
              <a:latin typeface="함초롬바탕" panose="02030604000101010101" pitchFamily="18" charset="-127"/>
              <a:ea typeface="함초롬바탕" panose="02030604000101010101" pitchFamily="18" charset="-127"/>
              <a:cs typeface="함초롬바탕" panose="02030604000101010101" pitchFamily="18" charset="-127"/>
            </a:endParaRPr>
          </a:p>
          <a:p>
            <a:pPr marL="0" indent="0">
              <a:lnSpc>
                <a:spcPct val="150000"/>
              </a:lnSpc>
              <a:buNone/>
            </a:pPr>
            <a:endParaRPr lang="ko-KR" altLang="en-US" sz="1800" dirty="0">
              <a:latin typeface="함초롬바탕" panose="02030604000101010101" pitchFamily="18" charset="-127"/>
              <a:ea typeface="함초롬바탕" panose="02030604000101010101" pitchFamily="18" charset="-127"/>
              <a:cs typeface="함초롬바탕" panose="02030604000101010101" pitchFamily="18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00E85C-9068-46D2-A14A-A9DCCDE0C986}" type="slidenum">
              <a:rPr lang="ko-KR" altLang="en-US" smtClean="0"/>
              <a:t>66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25069566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내용 개체 틀 13">
            <a:extLst>
              <a:ext uri="{FF2B5EF4-FFF2-40B4-BE49-F238E27FC236}">
                <a16:creationId xmlns:a16="http://schemas.microsoft.com/office/drawing/2014/main" id="{65F0F6E3-2926-DE5A-02E4-A7FE68327A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594" y="3974458"/>
            <a:ext cx="10515600" cy="785020"/>
          </a:xfrm>
        </p:spPr>
        <p:txBody>
          <a:bodyPr>
            <a:normAutofit/>
          </a:bodyPr>
          <a:lstStyle/>
          <a:p>
            <a:r>
              <a:rPr lang="en-US" altLang="ko-KR" sz="1800" dirty="0">
                <a:latin typeface="Times New Roman" panose="02020603050405020304" pitchFamily="18" charset="0"/>
                <a:ea typeface="함초롬바탕" panose="02030604000101010101" pitchFamily="18" charset="-127"/>
                <a:cs typeface="Times New Roman" panose="02020603050405020304" pitchFamily="18" charset="0"/>
              </a:rPr>
              <a:t>Window size </a:t>
            </a:r>
            <a:r>
              <a:rPr lang="ko-KR" altLang="en-US" sz="18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감소는 호스트로부터의 지연</a:t>
            </a:r>
            <a:r>
              <a:rPr lang="en-US" altLang="ko-KR" sz="18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(</a:t>
            </a:r>
            <a:r>
              <a:rPr lang="en-US" altLang="ko-KR" sz="1800" dirty="0">
                <a:latin typeface="Times New Roman" panose="02020603050405020304" pitchFamily="18" charset="0"/>
                <a:ea typeface="함초롬바탕" panose="02030604000101010101" pitchFamily="18" charset="-127"/>
                <a:cs typeface="Times New Roman" panose="02020603050405020304" pitchFamily="18" charset="0"/>
              </a:rPr>
              <a:t>delay</a:t>
            </a:r>
            <a:r>
              <a:rPr lang="en-US" altLang="ko-KR" sz="18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)</a:t>
            </a:r>
            <a:r>
              <a:rPr lang="ko-KR" altLang="en-US" sz="18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이 증가함을 알려줌 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585874A2-B4F5-5C23-D521-3E63C6B844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85463" y="6395605"/>
            <a:ext cx="2743200" cy="365125"/>
          </a:xfrm>
        </p:spPr>
        <p:txBody>
          <a:bodyPr/>
          <a:lstStyle/>
          <a:p>
            <a:pPr algn="l"/>
            <a:fld id="{F100E85C-9068-46D2-A14A-A9DCCDE0C986}" type="slidenum">
              <a:rPr lang="ko-KR" altLang="en-US" smtClean="0"/>
              <a:pPr algn="l"/>
              <a:t>67</a:t>
            </a:fld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A7CE412E-BB97-6357-04EA-0AB5DDA737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124155"/>
            <a:ext cx="12192000" cy="2597873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E5AD8D01-7E79-7F6D-3BC0-FF1E1400AFC8}"/>
              </a:ext>
            </a:extLst>
          </p:cNvPr>
          <p:cNvSpPr/>
          <p:nvPr/>
        </p:nvSpPr>
        <p:spPr>
          <a:xfrm>
            <a:off x="8949447" y="2204220"/>
            <a:ext cx="894944" cy="690664"/>
          </a:xfrm>
          <a:prstGeom prst="rect">
            <a:avLst/>
          </a:prstGeom>
          <a:noFill/>
          <a:ln w="22225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97C939F2-FB5E-D479-9925-5C0CE43CFDAC}"/>
              </a:ext>
            </a:extLst>
          </p:cNvPr>
          <p:cNvCxnSpPr>
            <a:cxnSpLocks/>
            <a:stCxn id="10" idx="1"/>
          </p:cNvCxnSpPr>
          <p:nvPr/>
        </p:nvCxnSpPr>
        <p:spPr>
          <a:xfrm flipH="1">
            <a:off x="9319098" y="1954317"/>
            <a:ext cx="420051" cy="24017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16DFDD37-04DB-1351-EA2A-5EC9F8DBEEC1}"/>
              </a:ext>
            </a:extLst>
          </p:cNvPr>
          <p:cNvSpPr txBox="1"/>
          <p:nvPr/>
        </p:nvSpPr>
        <p:spPr>
          <a:xfrm>
            <a:off x="9739149" y="1785040"/>
            <a:ext cx="2032801" cy="338554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Times New Roman" panose="02020603050405020304" pitchFamily="18" charset="0"/>
                <a:ea typeface="함초롬바탕" panose="02030604000101010101" pitchFamily="18" charset="-127"/>
                <a:cs typeface="Times New Roman" panose="02020603050405020304" pitchFamily="18" charset="0"/>
              </a:rPr>
              <a:t>Window size</a:t>
            </a:r>
            <a:r>
              <a:rPr lang="ko-KR" altLang="en-US" sz="1600" b="1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가 감소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E1FAF526-DB86-81FF-9FDD-BAB8A65C7A39}"/>
              </a:ext>
            </a:extLst>
          </p:cNvPr>
          <p:cNvSpPr/>
          <p:nvPr/>
        </p:nvSpPr>
        <p:spPr>
          <a:xfrm>
            <a:off x="583660" y="2204220"/>
            <a:ext cx="894944" cy="690664"/>
          </a:xfrm>
          <a:prstGeom prst="rect">
            <a:avLst/>
          </a:prstGeom>
          <a:noFill/>
          <a:ln w="22225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53CE393-90DE-6460-1A0E-0CB77F899044}"/>
              </a:ext>
            </a:extLst>
          </p:cNvPr>
          <p:cNvSpPr txBox="1"/>
          <p:nvPr/>
        </p:nvSpPr>
        <p:spPr>
          <a:xfrm>
            <a:off x="1288887" y="1614157"/>
            <a:ext cx="3279552" cy="338554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Times New Roman" panose="02020603050405020304" pitchFamily="18" charset="0"/>
                <a:ea typeface="함초롬바탕" panose="02030604000101010101" pitchFamily="18" charset="-127"/>
                <a:cs typeface="Times New Roman" panose="02020603050405020304" pitchFamily="18" charset="0"/>
              </a:rPr>
              <a:t>Window size</a:t>
            </a:r>
            <a:r>
              <a:rPr lang="ko-KR" altLang="en-US" sz="1600" b="1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 감소가 빠르게 진행됨</a:t>
            </a:r>
          </a:p>
        </p:txBody>
      </p: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FF7A524C-CDF8-46D3-ED55-6040D18B90D5}"/>
              </a:ext>
            </a:extLst>
          </p:cNvPr>
          <p:cNvCxnSpPr>
            <a:cxnSpLocks/>
          </p:cNvCxnSpPr>
          <p:nvPr/>
        </p:nvCxnSpPr>
        <p:spPr>
          <a:xfrm flipH="1">
            <a:off x="1293778" y="1952711"/>
            <a:ext cx="486384" cy="25150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A5CFB46F-43D5-42B3-7EF8-43F3045F4AF4}"/>
              </a:ext>
            </a:extLst>
          </p:cNvPr>
          <p:cNvSpPr/>
          <p:nvPr/>
        </p:nvSpPr>
        <p:spPr>
          <a:xfrm>
            <a:off x="10738417" y="3051525"/>
            <a:ext cx="847226" cy="218978"/>
          </a:xfrm>
          <a:prstGeom prst="rect">
            <a:avLst/>
          </a:prstGeom>
          <a:noFill/>
          <a:ln w="22225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47" name="그룹 46">
            <a:extLst>
              <a:ext uri="{FF2B5EF4-FFF2-40B4-BE49-F238E27FC236}">
                <a16:creationId xmlns:a16="http://schemas.microsoft.com/office/drawing/2014/main" id="{01772240-9E36-049E-81D8-42EA98FE9898}"/>
              </a:ext>
            </a:extLst>
          </p:cNvPr>
          <p:cNvGrpSpPr/>
          <p:nvPr/>
        </p:nvGrpSpPr>
        <p:grpSpPr>
          <a:xfrm>
            <a:off x="8559624" y="3891305"/>
            <a:ext cx="3446913" cy="2702337"/>
            <a:chOff x="8396508" y="3488365"/>
            <a:chExt cx="3446913" cy="2702337"/>
          </a:xfrm>
        </p:grpSpPr>
        <p:cxnSp>
          <p:nvCxnSpPr>
            <p:cNvPr id="20" name="직선 연결선 19">
              <a:extLst>
                <a:ext uri="{FF2B5EF4-FFF2-40B4-BE49-F238E27FC236}">
                  <a16:creationId xmlns:a16="http://schemas.microsoft.com/office/drawing/2014/main" id="{D61B8266-EB4A-CAB2-3C78-17E4050F470B}"/>
                </a:ext>
              </a:extLst>
            </p:cNvPr>
            <p:cNvCxnSpPr>
              <a:cxnSpLocks/>
            </p:cNvCxnSpPr>
            <p:nvPr/>
          </p:nvCxnSpPr>
          <p:spPr>
            <a:xfrm>
              <a:off x="9032683" y="3909324"/>
              <a:ext cx="2384" cy="228137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직선 연결선 20">
              <a:extLst>
                <a:ext uri="{FF2B5EF4-FFF2-40B4-BE49-F238E27FC236}">
                  <a16:creationId xmlns:a16="http://schemas.microsoft.com/office/drawing/2014/main" id="{9436C9DA-DFE5-4FD1-2D25-382010B72CD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164838" y="3909324"/>
              <a:ext cx="11330" cy="224668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TextBox 24">
              <a:extLst>
                <a:ext uri="{FF2B5EF4-FFF2-40B4-BE49-F238E27FC236}">
                  <a16:creationId xmlns:a16="http://schemas.microsoft.com/office/drawing/2014/main" id="{07FB79C7-0920-C4C0-4A06-47ABD44A9E45}"/>
                </a:ext>
              </a:extLst>
            </p:cNvPr>
            <p:cNvSpPr txBox="1"/>
            <p:nvPr/>
          </p:nvSpPr>
          <p:spPr>
            <a:xfrm>
              <a:off x="8396508" y="3526599"/>
              <a:ext cx="112723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altLang="ko-KR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192.168.0.20</a:t>
              </a:r>
            </a:p>
            <a:p>
              <a:r>
                <a:rPr lang="ko-KR" altLang="en-US" sz="1400" dirty="0">
                  <a:latin typeface="함초롬바탕" panose="02030604000101010101" pitchFamily="18" charset="-127"/>
                  <a:ea typeface="함초롬바탕" panose="02030604000101010101" pitchFamily="18" charset="-127"/>
                  <a:cs typeface="함초롬바탕" panose="02030604000101010101" pitchFamily="18" charset="-127"/>
                </a:rPr>
                <a:t>수신자</a:t>
              </a:r>
            </a:p>
          </p:txBody>
        </p:sp>
        <p:sp>
          <p:nvSpPr>
            <p:cNvPr id="23" name="TextBox 25">
              <a:extLst>
                <a:ext uri="{FF2B5EF4-FFF2-40B4-BE49-F238E27FC236}">
                  <a16:creationId xmlns:a16="http://schemas.microsoft.com/office/drawing/2014/main" id="{3691B7E9-8A0B-5941-BAEC-5ABE76EC67BF}"/>
                </a:ext>
              </a:extLst>
            </p:cNvPr>
            <p:cNvSpPr txBox="1"/>
            <p:nvPr/>
          </p:nvSpPr>
          <p:spPr>
            <a:xfrm>
              <a:off x="10685732" y="3488365"/>
              <a:ext cx="115768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altLang="ko-KR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192.168.0.30</a:t>
              </a:r>
            </a:p>
            <a:p>
              <a:r>
                <a:rPr lang="en-US" altLang="ko-KR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         </a:t>
              </a:r>
              <a:r>
                <a:rPr lang="ko-KR" altLang="en-US" sz="1400" dirty="0">
                  <a:latin typeface="함초롬바탕" panose="02030604000101010101" pitchFamily="18" charset="-127"/>
                  <a:ea typeface="함초롬바탕" panose="02030604000101010101" pitchFamily="18" charset="-127"/>
                  <a:cs typeface="함초롬바탕" panose="02030604000101010101" pitchFamily="18" charset="-127"/>
                </a:rPr>
                <a:t>송신자</a:t>
              </a:r>
            </a:p>
          </p:txBody>
        </p:sp>
        <p:cxnSp>
          <p:nvCxnSpPr>
            <p:cNvPr id="26" name="직선 화살표 연결선 25">
              <a:extLst>
                <a:ext uri="{FF2B5EF4-FFF2-40B4-BE49-F238E27FC236}">
                  <a16:creationId xmlns:a16="http://schemas.microsoft.com/office/drawing/2014/main" id="{86063382-4D20-EC75-4EA9-9D5B8A17EB7A}"/>
                </a:ext>
              </a:extLst>
            </p:cNvPr>
            <p:cNvCxnSpPr>
              <a:cxnSpLocks/>
            </p:cNvCxnSpPr>
            <p:nvPr/>
          </p:nvCxnSpPr>
          <p:spPr>
            <a:xfrm>
              <a:off x="8993453" y="4245700"/>
              <a:ext cx="2143485" cy="20825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50A6C291-E8E5-AFF3-08B6-1BC96156C923}"/>
                </a:ext>
              </a:extLst>
            </p:cNvPr>
            <p:cNvSpPr txBox="1"/>
            <p:nvPr/>
          </p:nvSpPr>
          <p:spPr>
            <a:xfrm rot="271128">
              <a:off x="9555294" y="4033439"/>
              <a:ext cx="97167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altLang="ko-KR" sz="1400" b="1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Win=8760</a:t>
              </a:r>
              <a:endParaRPr lang="ko-KR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31" name="직선 화살표 연결선 30">
              <a:extLst>
                <a:ext uri="{FF2B5EF4-FFF2-40B4-BE49-F238E27FC236}">
                  <a16:creationId xmlns:a16="http://schemas.microsoft.com/office/drawing/2014/main" id="{6240CBC8-E5FF-1036-D4C1-DE79358332ED}"/>
                </a:ext>
              </a:extLst>
            </p:cNvPr>
            <p:cNvCxnSpPr>
              <a:cxnSpLocks/>
            </p:cNvCxnSpPr>
            <p:nvPr/>
          </p:nvCxnSpPr>
          <p:spPr>
            <a:xfrm>
              <a:off x="9011222" y="4578541"/>
              <a:ext cx="2143485" cy="20825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직선 화살표 연결선 32">
              <a:extLst>
                <a:ext uri="{FF2B5EF4-FFF2-40B4-BE49-F238E27FC236}">
                  <a16:creationId xmlns:a16="http://schemas.microsoft.com/office/drawing/2014/main" id="{FD2D84C5-8FC2-BA41-33C6-152A917F4818}"/>
                </a:ext>
              </a:extLst>
            </p:cNvPr>
            <p:cNvCxnSpPr>
              <a:cxnSpLocks/>
            </p:cNvCxnSpPr>
            <p:nvPr/>
          </p:nvCxnSpPr>
          <p:spPr>
            <a:xfrm>
              <a:off x="9030288" y="4942757"/>
              <a:ext cx="2124419" cy="18550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TextBox 29">
              <a:extLst>
                <a:ext uri="{FF2B5EF4-FFF2-40B4-BE49-F238E27FC236}">
                  <a16:creationId xmlns:a16="http://schemas.microsoft.com/office/drawing/2014/main" id="{7F167CEB-A724-CCBF-24D7-BE0537F15F4D}"/>
                </a:ext>
              </a:extLst>
            </p:cNvPr>
            <p:cNvSpPr txBox="1"/>
            <p:nvPr/>
          </p:nvSpPr>
          <p:spPr>
            <a:xfrm rot="247910">
              <a:off x="9011584" y="5575854"/>
              <a:ext cx="2238113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altLang="ko-KR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[</a:t>
              </a:r>
              <a:r>
                <a:rPr lang="en-US" altLang="ko-KR" sz="14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WindowUpdate</a:t>
              </a:r>
              <a:r>
                <a:rPr lang="en-US" altLang="ko-KR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] Wi=64240</a:t>
              </a:r>
              <a:endParaRPr lang="ko-KR" alt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4920B1A6-B864-C214-C6AC-D0FE6AC6517B}"/>
                </a:ext>
              </a:extLst>
            </p:cNvPr>
            <p:cNvSpPr txBox="1"/>
            <p:nvPr/>
          </p:nvSpPr>
          <p:spPr>
            <a:xfrm rot="271128">
              <a:off x="9566026" y="4434972"/>
              <a:ext cx="97167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altLang="ko-KR" sz="1400" b="1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Win=5840</a:t>
              </a:r>
              <a:endParaRPr lang="ko-KR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11B9D9B4-1CB7-A548-B6C0-EB1355221328}"/>
                </a:ext>
              </a:extLst>
            </p:cNvPr>
            <p:cNvSpPr txBox="1"/>
            <p:nvPr/>
          </p:nvSpPr>
          <p:spPr>
            <a:xfrm rot="271128">
              <a:off x="9535303" y="4794837"/>
              <a:ext cx="97167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altLang="ko-KR" sz="1400" b="1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Win=2920</a:t>
              </a:r>
              <a:endParaRPr lang="ko-KR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41" name="직선 화살표 연결선 40">
              <a:extLst>
                <a:ext uri="{FF2B5EF4-FFF2-40B4-BE49-F238E27FC236}">
                  <a16:creationId xmlns:a16="http://schemas.microsoft.com/office/drawing/2014/main" id="{D47140B1-64AD-0C9E-A026-D09A6C90A712}"/>
                </a:ext>
              </a:extLst>
            </p:cNvPr>
            <p:cNvCxnSpPr>
              <a:cxnSpLocks/>
            </p:cNvCxnSpPr>
            <p:nvPr/>
          </p:nvCxnSpPr>
          <p:spPr>
            <a:xfrm>
              <a:off x="9020754" y="5261967"/>
              <a:ext cx="2124419" cy="18550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EBC5AFE2-E2F5-8400-93D2-A753CCD90704}"/>
                </a:ext>
              </a:extLst>
            </p:cNvPr>
            <p:cNvSpPr txBox="1"/>
            <p:nvPr/>
          </p:nvSpPr>
          <p:spPr>
            <a:xfrm rot="271128">
              <a:off x="9243468" y="5095926"/>
              <a:ext cx="1513363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altLang="ko-KR" sz="1400" b="1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[</a:t>
              </a:r>
              <a:r>
                <a:rPr lang="en-US" altLang="ko-KR" sz="1400" b="1" dirty="0" err="1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ZeroWin</a:t>
              </a:r>
              <a:r>
                <a:rPr lang="en-US" altLang="ko-KR" sz="1400" b="1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]Win=0</a:t>
              </a:r>
              <a:endParaRPr lang="ko-KR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46" name="직선 화살표 연결선 45">
              <a:extLst>
                <a:ext uri="{FF2B5EF4-FFF2-40B4-BE49-F238E27FC236}">
                  <a16:creationId xmlns:a16="http://schemas.microsoft.com/office/drawing/2014/main" id="{3914EE70-A10E-5272-AAB7-3DF1A49E3AEC}"/>
                </a:ext>
              </a:extLst>
            </p:cNvPr>
            <p:cNvCxnSpPr>
              <a:cxnSpLocks/>
            </p:cNvCxnSpPr>
            <p:nvPr/>
          </p:nvCxnSpPr>
          <p:spPr>
            <a:xfrm>
              <a:off x="9037743" y="5818992"/>
              <a:ext cx="2124419" cy="18550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44EB316C-9634-30B9-3B3A-E68831A87580}"/>
              </a:ext>
            </a:extLst>
          </p:cNvPr>
          <p:cNvSpPr/>
          <p:nvPr/>
        </p:nvSpPr>
        <p:spPr>
          <a:xfrm>
            <a:off x="4893013" y="2762656"/>
            <a:ext cx="1916348" cy="507848"/>
          </a:xfrm>
          <a:prstGeom prst="rect">
            <a:avLst/>
          </a:prstGeom>
          <a:noFill/>
          <a:ln w="22225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제목 1">
            <a:extLst>
              <a:ext uri="{FF2B5EF4-FFF2-40B4-BE49-F238E27FC236}">
                <a16:creationId xmlns:a16="http://schemas.microsoft.com/office/drawing/2014/main" id="{30F06E63-AD82-3BEC-2B33-54C44EC839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2817" y="346974"/>
            <a:ext cx="10515600" cy="701675"/>
          </a:xfrm>
        </p:spPr>
        <p:txBody>
          <a:bodyPr>
            <a:normAutofit/>
          </a:bodyPr>
          <a:lstStyle/>
          <a:p>
            <a:r>
              <a:rPr lang="en-US" altLang="ko-KR" sz="2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ZeroWindow</a:t>
            </a:r>
            <a:r>
              <a:rPr lang="en-US" altLang="ko-KR" sz="2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&amp; Window Update</a:t>
            </a:r>
            <a:endParaRPr lang="ko-KR" altLang="en-US" sz="26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F1874D3-0964-C386-6131-1F3234BD58E4}"/>
              </a:ext>
            </a:extLst>
          </p:cNvPr>
          <p:cNvSpPr txBox="1"/>
          <p:nvPr/>
        </p:nvSpPr>
        <p:spPr>
          <a:xfrm>
            <a:off x="509495" y="4427758"/>
            <a:ext cx="7285054" cy="1151534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Times New Roman" panose="02020603050405020304" pitchFamily="18" charset="0"/>
                <a:ea typeface="함초롬바탕" panose="02030604000101010101" pitchFamily="18" charset="-127"/>
                <a:cs typeface="Times New Roman" panose="02020603050405020304" pitchFamily="18" charset="0"/>
              </a:rPr>
              <a:t>&lt;&lt;</a:t>
            </a:r>
            <a:r>
              <a:rPr lang="ko-KR" altLang="en-US" sz="1600" dirty="0">
                <a:latin typeface="Times New Roman" panose="02020603050405020304" pitchFamily="18" charset="0"/>
                <a:ea typeface="함초롬바탕" panose="02030604000101010101" pitchFamily="18" charset="-127"/>
                <a:cs typeface="Times New Roman" panose="02020603050405020304" pitchFamily="18" charset="0"/>
              </a:rPr>
              <a:t> </a:t>
            </a:r>
            <a:r>
              <a:rPr lang="en-US" altLang="ko-KR" sz="1600" dirty="0">
                <a:latin typeface="Times New Roman" panose="02020603050405020304" pitchFamily="18" charset="0"/>
                <a:ea typeface="함초롬바탕" panose="02030604000101010101" pitchFamily="18" charset="-127"/>
                <a:cs typeface="Times New Roman" panose="02020603050405020304" pitchFamily="18" charset="0"/>
              </a:rPr>
              <a:t>Window</a:t>
            </a:r>
            <a:r>
              <a:rPr lang="ko-KR" altLang="en-US" sz="1600" dirty="0">
                <a:latin typeface="Times New Roman" panose="02020603050405020304" pitchFamily="18" charset="0"/>
                <a:ea typeface="함초롬바탕" panose="02030604000101010101" pitchFamily="18" charset="-127"/>
                <a:cs typeface="Times New Roman" panose="02020603050405020304" pitchFamily="18" charset="0"/>
              </a:rPr>
              <a:t> </a:t>
            </a:r>
            <a:r>
              <a:rPr lang="en-US" altLang="ko-KR" sz="1600" dirty="0">
                <a:latin typeface="Times New Roman" panose="02020603050405020304" pitchFamily="18" charset="0"/>
                <a:ea typeface="함초롬바탕" panose="02030604000101010101" pitchFamily="18" charset="-127"/>
                <a:cs typeface="Times New Roman" panose="02020603050405020304" pitchFamily="18" charset="0"/>
              </a:rPr>
              <a:t>update &gt;&gt;</a:t>
            </a:r>
          </a:p>
          <a:p>
            <a:pPr marL="285750" indent="-198438">
              <a:lnSpc>
                <a:spcPct val="150000"/>
              </a:lnSpc>
              <a:buFontTx/>
              <a:buChar char="-"/>
            </a:pPr>
            <a:r>
              <a:rPr lang="ko-KR" altLang="en-US" sz="1600" dirty="0">
                <a:latin typeface="Times New Roman" panose="02020603050405020304" pitchFamily="18" charset="0"/>
                <a:ea typeface="함초롬바탕" panose="02030604000101010101" pitchFamily="18" charset="-127"/>
                <a:cs typeface="Times New Roman" panose="02020603050405020304" pitchFamily="18" charset="0"/>
              </a:rPr>
              <a:t>애플리케이션이 </a:t>
            </a:r>
            <a:r>
              <a:rPr lang="ko-KR" altLang="en-US" sz="1600" dirty="0" err="1">
                <a:latin typeface="Times New Roman" panose="02020603050405020304" pitchFamily="18" charset="0"/>
                <a:ea typeface="함초롬바탕" panose="02030604000101010101" pitchFamily="18" charset="-127"/>
                <a:cs typeface="Times New Roman" panose="02020603050405020304" pitchFamily="18" charset="0"/>
              </a:rPr>
              <a:t>수신버퍼에서</a:t>
            </a:r>
            <a:r>
              <a:rPr lang="ko-KR" altLang="en-US" sz="1600" dirty="0">
                <a:latin typeface="Times New Roman" panose="02020603050405020304" pitchFamily="18" charset="0"/>
                <a:ea typeface="함초롬바탕" panose="02030604000101010101" pitchFamily="18" charset="-127"/>
                <a:cs typeface="Times New Roman" panose="02020603050405020304" pitchFamily="18" charset="0"/>
              </a:rPr>
              <a:t> 데이터를 </a:t>
            </a:r>
            <a:r>
              <a:rPr lang="en-US" altLang="ko-KR" sz="1600" dirty="0">
                <a:latin typeface="Times New Roman" panose="02020603050405020304" pitchFamily="18" charset="0"/>
                <a:ea typeface="함초롬바탕" panose="02030604000101010101" pitchFamily="18" charset="-127"/>
                <a:cs typeface="Times New Roman" panose="02020603050405020304" pitchFamily="18" charset="0"/>
              </a:rPr>
              <a:t>read </a:t>
            </a:r>
            <a:r>
              <a:rPr lang="ko-KR" altLang="en-US" sz="1600" dirty="0">
                <a:latin typeface="Times New Roman" panose="02020603050405020304" pitchFamily="18" charset="0"/>
                <a:ea typeface="함초롬바탕" panose="02030604000101010101" pitchFamily="18" charset="-127"/>
                <a:cs typeface="Times New Roman" panose="02020603050405020304" pitchFamily="18" charset="0"/>
              </a:rPr>
              <a:t>할 경우 전송됨</a:t>
            </a:r>
            <a:endParaRPr lang="en-US" altLang="ko-KR" sz="1600" dirty="0">
              <a:latin typeface="Times New Roman" panose="02020603050405020304" pitchFamily="18" charset="0"/>
              <a:ea typeface="함초롬바탕" panose="02030604000101010101" pitchFamily="18" charset="-127"/>
              <a:cs typeface="Times New Roman" panose="02020603050405020304" pitchFamily="18" charset="0"/>
            </a:endParaRPr>
          </a:p>
          <a:p>
            <a:pPr marL="285750" indent="-198438">
              <a:lnSpc>
                <a:spcPct val="150000"/>
              </a:lnSpc>
              <a:buFontTx/>
              <a:buChar char="-"/>
            </a:pPr>
            <a:r>
              <a:rPr lang="en-US" altLang="ko-KR" sz="1600" dirty="0" err="1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ZeroWindow</a:t>
            </a:r>
            <a:r>
              <a:rPr lang="ko-KR" altLang="en-US" sz="16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가</a:t>
            </a:r>
            <a:r>
              <a:rPr lang="en-US" altLang="ko-KR" sz="16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 </a:t>
            </a:r>
            <a:r>
              <a:rPr lang="ko-KR" altLang="en-US" sz="16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발생하면 </a:t>
            </a:r>
            <a:r>
              <a:rPr lang="en-US" altLang="ko-KR" sz="16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Window update</a:t>
            </a:r>
            <a:r>
              <a:rPr lang="ko-KR" altLang="en-US" sz="16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가 유일한 해결방법 </a:t>
            </a:r>
          </a:p>
        </p:txBody>
      </p:sp>
    </p:spTree>
    <p:extLst>
      <p:ext uri="{BB962C8B-B14F-4D97-AF65-F5344CB8AC3E}">
        <p14:creationId xmlns:p14="http://schemas.microsoft.com/office/powerpoint/2010/main" val="3220637080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9DA06BCA-9173-A75D-0439-2C31B43F64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222817" y="6386079"/>
            <a:ext cx="2743200" cy="365125"/>
          </a:xfrm>
        </p:spPr>
        <p:txBody>
          <a:bodyPr/>
          <a:lstStyle/>
          <a:p>
            <a:pPr algn="l"/>
            <a:fld id="{F100E85C-9068-46D2-A14A-A9DCCDE0C986}" type="slidenum">
              <a:rPr lang="ko-KR" altLang="en-US" smtClean="0"/>
              <a:pPr algn="l"/>
              <a:t>68</a:t>
            </a:fld>
            <a:endParaRPr lang="ko-KR" altLang="en-US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530D6A17-6498-9AA7-EE3F-7D6D8019AE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278" y="887069"/>
            <a:ext cx="11509443" cy="2901248"/>
          </a:xfrm>
          <a:prstGeom prst="rect">
            <a:avLst/>
          </a:prstGeom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F1FB6641-0C1A-19EB-53EA-4EB7C3587776}"/>
              </a:ext>
            </a:extLst>
          </p:cNvPr>
          <p:cNvSpPr txBox="1">
            <a:spLocks/>
          </p:cNvSpPr>
          <p:nvPr/>
        </p:nvSpPr>
        <p:spPr>
          <a:xfrm>
            <a:off x="222817" y="346974"/>
            <a:ext cx="10515600" cy="701675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2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ZeroWindow</a:t>
            </a:r>
            <a:r>
              <a:rPr lang="en-US" altLang="ko-KR" sz="2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&amp; Keep-Alive</a:t>
            </a:r>
            <a:endParaRPr lang="ko-KR" altLang="en-US" sz="2600" b="1" dirty="0"/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AA04EBE3-BE80-1B0C-D23D-894CAE7B3B40}"/>
              </a:ext>
            </a:extLst>
          </p:cNvPr>
          <p:cNvCxnSpPr>
            <a:cxnSpLocks/>
          </p:cNvCxnSpPr>
          <p:nvPr/>
        </p:nvCxnSpPr>
        <p:spPr>
          <a:xfrm>
            <a:off x="9039983" y="4287263"/>
            <a:ext cx="10263" cy="257073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A388AA7E-DACF-A5FF-7AF4-145F37588FBC}"/>
              </a:ext>
            </a:extLst>
          </p:cNvPr>
          <p:cNvCxnSpPr>
            <a:cxnSpLocks/>
          </p:cNvCxnSpPr>
          <p:nvPr/>
        </p:nvCxnSpPr>
        <p:spPr>
          <a:xfrm flipH="1">
            <a:off x="11181084" y="4287263"/>
            <a:ext cx="2384" cy="246394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24">
            <a:extLst>
              <a:ext uri="{FF2B5EF4-FFF2-40B4-BE49-F238E27FC236}">
                <a16:creationId xmlns:a16="http://schemas.microsoft.com/office/drawing/2014/main" id="{8874FE2D-0137-3663-5A37-6F11BE4B723B}"/>
              </a:ext>
            </a:extLst>
          </p:cNvPr>
          <p:cNvSpPr txBox="1"/>
          <p:nvPr/>
        </p:nvSpPr>
        <p:spPr>
          <a:xfrm>
            <a:off x="8403808" y="3904538"/>
            <a:ext cx="121700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172.31.136.85</a:t>
            </a:r>
          </a:p>
          <a:p>
            <a:r>
              <a:rPr lang="ko-KR" altLang="en-US" sz="14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수신자</a:t>
            </a:r>
          </a:p>
        </p:txBody>
      </p:sp>
      <p:sp>
        <p:nvSpPr>
          <p:cNvPr id="9" name="TextBox 25">
            <a:extLst>
              <a:ext uri="{FF2B5EF4-FFF2-40B4-BE49-F238E27FC236}">
                <a16:creationId xmlns:a16="http://schemas.microsoft.com/office/drawing/2014/main" id="{8D1916C6-0C19-8F34-0C09-753212066306}"/>
              </a:ext>
            </a:extLst>
          </p:cNvPr>
          <p:cNvSpPr txBox="1"/>
          <p:nvPr/>
        </p:nvSpPr>
        <p:spPr>
          <a:xfrm>
            <a:off x="10693032" y="3866304"/>
            <a:ext cx="121700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195.81.202.68</a:t>
            </a:r>
          </a:p>
          <a:p>
            <a:r>
              <a:rPr lang="en-US" altLang="ko-K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</a:t>
            </a:r>
            <a:r>
              <a:rPr lang="ko-KR" altLang="en-US" sz="1400" dirty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송신자</a:t>
            </a:r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C2BF8DD5-15BB-1A51-040C-7DC9FAF3B6D9}"/>
              </a:ext>
            </a:extLst>
          </p:cNvPr>
          <p:cNvCxnSpPr>
            <a:cxnSpLocks/>
          </p:cNvCxnSpPr>
          <p:nvPr/>
        </p:nvCxnSpPr>
        <p:spPr>
          <a:xfrm>
            <a:off x="9028653" y="4445438"/>
            <a:ext cx="2143485" cy="20825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CF3F4F1A-76BA-D5B7-87FA-412883EB6C09}"/>
              </a:ext>
            </a:extLst>
          </p:cNvPr>
          <p:cNvSpPr txBox="1"/>
          <p:nvPr/>
        </p:nvSpPr>
        <p:spPr>
          <a:xfrm rot="271128">
            <a:off x="9319654" y="4233177"/>
            <a:ext cx="151336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[</a:t>
            </a:r>
            <a:r>
              <a:rPr lang="en-US" altLang="ko-KR" sz="14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ZeroWin</a:t>
            </a:r>
            <a:r>
              <a:rPr lang="en-US" altLang="ko-KR" sz="1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]Win=0</a:t>
            </a:r>
            <a:endParaRPr lang="ko-KR" altLang="en-US" sz="14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C0CED432-675B-D774-BCB6-0576797F34F5}"/>
              </a:ext>
            </a:extLst>
          </p:cNvPr>
          <p:cNvCxnSpPr/>
          <p:nvPr/>
        </p:nvCxnSpPr>
        <p:spPr>
          <a:xfrm flipH="1">
            <a:off x="9039983" y="4824919"/>
            <a:ext cx="2132155" cy="19455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BF580D85-64A9-1E7F-64E8-6AC42AD8E466}"/>
              </a:ext>
            </a:extLst>
          </p:cNvPr>
          <p:cNvSpPr txBox="1"/>
          <p:nvPr/>
        </p:nvSpPr>
        <p:spPr>
          <a:xfrm rot="21422974">
            <a:off x="9463050" y="4623657"/>
            <a:ext cx="11015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[</a:t>
            </a:r>
            <a:r>
              <a:rPr lang="en-US" altLang="ko-KR" sz="14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KeepAlive</a:t>
            </a:r>
            <a:r>
              <a:rPr lang="en-US" altLang="ko-KR" sz="1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]</a:t>
            </a:r>
            <a:endParaRPr lang="ko-KR" altLang="en-US" sz="14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374D52C0-A950-52A8-63B3-33714AE580ED}"/>
              </a:ext>
            </a:extLst>
          </p:cNvPr>
          <p:cNvCxnSpPr>
            <a:cxnSpLocks/>
          </p:cNvCxnSpPr>
          <p:nvPr/>
        </p:nvCxnSpPr>
        <p:spPr>
          <a:xfrm>
            <a:off x="9039983" y="5229376"/>
            <a:ext cx="2143485" cy="20825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20D7EACC-8922-0166-0579-7179C6E766A4}"/>
              </a:ext>
            </a:extLst>
          </p:cNvPr>
          <p:cNvSpPr txBox="1"/>
          <p:nvPr/>
        </p:nvSpPr>
        <p:spPr>
          <a:xfrm rot="271128">
            <a:off x="9369328" y="5017115"/>
            <a:ext cx="14366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</a:t>
            </a:r>
            <a:r>
              <a:rPr lang="en-US" altLang="ko-KR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ZeroWin</a:t>
            </a:r>
            <a:r>
              <a:rPr lang="en-US" altLang="ko-K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]Win=0</a:t>
            </a:r>
            <a:endParaRPr lang="ko-KR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12C19D6C-0035-4E35-E2CC-744478BB0B35}"/>
              </a:ext>
            </a:extLst>
          </p:cNvPr>
          <p:cNvCxnSpPr/>
          <p:nvPr/>
        </p:nvCxnSpPr>
        <p:spPr>
          <a:xfrm flipH="1">
            <a:off x="9051313" y="5608857"/>
            <a:ext cx="2132155" cy="19455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44495D66-85DA-AF14-5AD2-2790AA9B2713}"/>
              </a:ext>
            </a:extLst>
          </p:cNvPr>
          <p:cNvSpPr txBox="1"/>
          <p:nvPr/>
        </p:nvSpPr>
        <p:spPr>
          <a:xfrm rot="21422974">
            <a:off x="9474380" y="5407595"/>
            <a:ext cx="11015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</a:t>
            </a:r>
            <a:r>
              <a:rPr lang="en-US" altLang="ko-KR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KeepAlive</a:t>
            </a:r>
            <a:r>
              <a:rPr lang="en-US" altLang="ko-K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]</a:t>
            </a:r>
            <a:endParaRPr lang="ko-KR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4D6E7DC0-D633-210A-2C01-3CF23B61D66F}"/>
              </a:ext>
            </a:extLst>
          </p:cNvPr>
          <p:cNvCxnSpPr>
            <a:cxnSpLocks/>
          </p:cNvCxnSpPr>
          <p:nvPr/>
        </p:nvCxnSpPr>
        <p:spPr>
          <a:xfrm>
            <a:off x="9039983" y="5975455"/>
            <a:ext cx="2143485" cy="20825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78EA48CF-DB31-7387-D1A3-06E7963DCC06}"/>
              </a:ext>
            </a:extLst>
          </p:cNvPr>
          <p:cNvSpPr txBox="1"/>
          <p:nvPr/>
        </p:nvSpPr>
        <p:spPr>
          <a:xfrm rot="271128">
            <a:off x="9369328" y="5763194"/>
            <a:ext cx="14366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</a:t>
            </a:r>
            <a:r>
              <a:rPr lang="en-US" altLang="ko-KR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ZeroWin</a:t>
            </a:r>
            <a:r>
              <a:rPr lang="en-US" altLang="ko-K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]Win=0</a:t>
            </a:r>
            <a:endParaRPr lang="ko-KR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5CA23C77-EE40-3FC6-72E8-68C6A964BD37}"/>
              </a:ext>
            </a:extLst>
          </p:cNvPr>
          <p:cNvCxnSpPr/>
          <p:nvPr/>
        </p:nvCxnSpPr>
        <p:spPr>
          <a:xfrm flipH="1">
            <a:off x="9051313" y="6354936"/>
            <a:ext cx="2132155" cy="19455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B49F46E1-EA2F-3FDE-FB63-4381B064F8B5}"/>
              </a:ext>
            </a:extLst>
          </p:cNvPr>
          <p:cNvSpPr txBox="1"/>
          <p:nvPr/>
        </p:nvSpPr>
        <p:spPr>
          <a:xfrm rot="21422974">
            <a:off x="9474380" y="6153674"/>
            <a:ext cx="11015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</a:t>
            </a:r>
            <a:r>
              <a:rPr lang="en-US" altLang="ko-KR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KeepAlive</a:t>
            </a:r>
            <a:r>
              <a:rPr lang="en-US" altLang="ko-K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]</a:t>
            </a:r>
            <a:endParaRPr lang="ko-KR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91FB0928-935F-41AF-8A47-5A8BB2D2D12C}"/>
              </a:ext>
            </a:extLst>
          </p:cNvPr>
          <p:cNvSpPr/>
          <p:nvPr/>
        </p:nvSpPr>
        <p:spPr>
          <a:xfrm>
            <a:off x="836578" y="2184765"/>
            <a:ext cx="943583" cy="480614"/>
          </a:xfrm>
          <a:prstGeom prst="rect">
            <a:avLst/>
          </a:prstGeom>
          <a:noFill/>
          <a:ln w="28575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0F867E4E-71F1-DE55-CCB7-A8E35A778353}"/>
              </a:ext>
            </a:extLst>
          </p:cNvPr>
          <p:cNvCxnSpPr>
            <a:cxnSpLocks/>
            <a:endCxn id="34" idx="2"/>
          </p:cNvCxnSpPr>
          <p:nvPr/>
        </p:nvCxnSpPr>
        <p:spPr>
          <a:xfrm flipV="1">
            <a:off x="1196502" y="2665379"/>
            <a:ext cx="111868" cy="123915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762C18A0-3A4D-114B-68BA-01A388838CB6}"/>
              </a:ext>
            </a:extLst>
          </p:cNvPr>
          <p:cNvSpPr txBox="1"/>
          <p:nvPr/>
        </p:nvSpPr>
        <p:spPr>
          <a:xfrm>
            <a:off x="501181" y="3889137"/>
            <a:ext cx="6830403" cy="338554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600" b="1" dirty="0" err="1">
                <a:latin typeface="Times New Roman" panose="02020603050405020304" pitchFamily="18" charset="0"/>
                <a:ea typeface="함초롬바탕" panose="02030604000101010101" pitchFamily="18" charset="-127"/>
                <a:cs typeface="Times New Roman" panose="02020603050405020304" pitchFamily="18" charset="0"/>
              </a:rPr>
              <a:t>KeepAlive</a:t>
            </a:r>
            <a:r>
              <a:rPr lang="en-US" altLang="ko-KR" sz="1600" b="1" dirty="0">
                <a:latin typeface="Times New Roman" panose="02020603050405020304" pitchFamily="18" charset="0"/>
                <a:ea typeface="함초롬바탕" panose="02030604000101010101" pitchFamily="18" charset="-127"/>
                <a:cs typeface="Times New Roman" panose="02020603050405020304" pitchFamily="18" charset="0"/>
              </a:rPr>
              <a:t>(</a:t>
            </a:r>
            <a:r>
              <a:rPr lang="ko-KR" altLang="en-US" sz="1600" b="1" dirty="0" err="1">
                <a:latin typeface="Times New Roman" panose="02020603050405020304" pitchFamily="18" charset="0"/>
                <a:ea typeface="함초롬바탕" panose="02030604000101010101" pitchFamily="18" charset="-127"/>
                <a:cs typeface="Times New Roman" panose="02020603050405020304" pitchFamily="18" charset="0"/>
              </a:rPr>
              <a:t>연결유지패킷</a:t>
            </a:r>
            <a:r>
              <a:rPr lang="en-US" altLang="ko-KR" sz="1600" b="1" dirty="0">
                <a:latin typeface="Times New Roman" panose="02020603050405020304" pitchFamily="18" charset="0"/>
                <a:ea typeface="함초롬바탕" panose="02030604000101010101" pitchFamily="18" charset="-127"/>
                <a:cs typeface="Times New Roman" panose="02020603050405020304" pitchFamily="18" charset="0"/>
              </a:rPr>
              <a:t>)</a:t>
            </a:r>
            <a:r>
              <a:rPr lang="ko-KR" altLang="en-US" sz="1600" b="1" dirty="0">
                <a:latin typeface="Times New Roman" panose="02020603050405020304" pitchFamily="18" charset="0"/>
                <a:ea typeface="함초롬바탕" panose="02030604000101010101" pitchFamily="18" charset="-127"/>
                <a:cs typeface="Times New Roman" panose="02020603050405020304" pitchFamily="18" charset="0"/>
              </a:rPr>
              <a:t>은</a:t>
            </a:r>
            <a:r>
              <a:rPr lang="en-US" altLang="ko-KR" sz="1600" b="1" dirty="0">
                <a:latin typeface="Times New Roman" panose="02020603050405020304" pitchFamily="18" charset="0"/>
                <a:ea typeface="함초롬바탕" panose="02030604000101010101" pitchFamily="18" charset="-127"/>
                <a:cs typeface="Times New Roman" panose="02020603050405020304" pitchFamily="18" charset="0"/>
              </a:rPr>
              <a:t> 3.4, 6.8, 13.5</a:t>
            </a:r>
            <a:r>
              <a:rPr lang="ko-KR" altLang="en-US" sz="1600" b="1" dirty="0">
                <a:latin typeface="Times New Roman" panose="02020603050405020304" pitchFamily="18" charset="0"/>
                <a:ea typeface="함초롬바탕" panose="02030604000101010101" pitchFamily="18" charset="-127"/>
                <a:cs typeface="Times New Roman" panose="02020603050405020304" pitchFamily="18" charset="0"/>
              </a:rPr>
              <a:t>초 간격으로 발생</a:t>
            </a:r>
            <a:endParaRPr lang="en-US" altLang="ko-KR" sz="1600" b="1" dirty="0">
              <a:latin typeface="Times New Roman" panose="02020603050405020304" pitchFamily="18" charset="0"/>
              <a:ea typeface="함초롬바탕" panose="02030604000101010101" pitchFamily="18" charset="-127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9FCD54-C47C-A142-E5C4-E014B3502E71}"/>
              </a:ext>
            </a:extLst>
          </p:cNvPr>
          <p:cNvSpPr txBox="1"/>
          <p:nvPr/>
        </p:nvSpPr>
        <p:spPr>
          <a:xfrm>
            <a:off x="509495" y="4427758"/>
            <a:ext cx="7285054" cy="181588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600" dirty="0" err="1">
                <a:latin typeface="Times New Roman" panose="02020603050405020304" pitchFamily="18" charset="0"/>
                <a:ea typeface="함초롬바탕" panose="02030604000101010101" pitchFamily="18" charset="-127"/>
                <a:cs typeface="Times New Roman" panose="02020603050405020304" pitchFamily="18" charset="0"/>
              </a:rPr>
              <a:t>ZeroWindow</a:t>
            </a:r>
            <a:r>
              <a:rPr lang="ko-KR" altLang="en-US" sz="1600" dirty="0">
                <a:latin typeface="Times New Roman" panose="02020603050405020304" pitchFamily="18" charset="0"/>
                <a:ea typeface="함초롬바탕" panose="02030604000101010101" pitchFamily="18" charset="-127"/>
                <a:cs typeface="Times New Roman" panose="02020603050405020304" pitchFamily="18" charset="0"/>
              </a:rPr>
              <a:t> 발생 원인은 수신 버퍼가 가득 찬 경우 </a:t>
            </a:r>
            <a:endParaRPr lang="en-US" altLang="ko-KR" sz="1600" dirty="0">
              <a:latin typeface="Times New Roman" panose="02020603050405020304" pitchFamily="18" charset="0"/>
              <a:ea typeface="함초롬바탕" panose="02030604000101010101" pitchFamily="18" charset="-127"/>
              <a:cs typeface="Times New Roman" panose="02020603050405020304" pitchFamily="18" charset="0"/>
            </a:endParaRPr>
          </a:p>
          <a:p>
            <a:r>
              <a:rPr lang="en-US" altLang="ko-KR" sz="1600" dirty="0">
                <a:latin typeface="Times New Roman" panose="02020603050405020304" pitchFamily="18" charset="0"/>
                <a:ea typeface="함초롬바탕" panose="02030604000101010101" pitchFamily="18" charset="-127"/>
                <a:cs typeface="Times New Roman" panose="02020603050405020304" pitchFamily="18" charset="0"/>
              </a:rPr>
              <a:t> -  </a:t>
            </a:r>
            <a:r>
              <a:rPr lang="ko-KR" altLang="en-US" sz="1600" dirty="0">
                <a:latin typeface="Times New Roman" panose="02020603050405020304" pitchFamily="18" charset="0"/>
                <a:ea typeface="함초롬바탕" panose="02030604000101010101" pitchFamily="18" charset="-127"/>
                <a:cs typeface="Times New Roman" panose="02020603050405020304" pitchFamily="18" charset="0"/>
              </a:rPr>
              <a:t>수신 버퍼에서 데이터를 </a:t>
            </a:r>
            <a:r>
              <a:rPr lang="en-US" altLang="ko-KR" sz="1600" dirty="0">
                <a:latin typeface="Times New Roman" panose="02020603050405020304" pitchFamily="18" charset="0"/>
                <a:ea typeface="함초롬바탕" panose="02030604000101010101" pitchFamily="18" charset="-127"/>
                <a:cs typeface="Times New Roman" panose="02020603050405020304" pitchFamily="18" charset="0"/>
              </a:rPr>
              <a:t>read</a:t>
            </a:r>
            <a:r>
              <a:rPr lang="ko-KR" altLang="en-US" sz="1600" dirty="0">
                <a:latin typeface="Times New Roman" panose="02020603050405020304" pitchFamily="18" charset="0"/>
                <a:ea typeface="함초롬바탕" panose="02030604000101010101" pitchFamily="18" charset="-127"/>
                <a:cs typeface="Times New Roman" panose="02020603050405020304" pitchFamily="18" charset="0"/>
              </a:rPr>
              <a:t>하지 않은 애플리케이션 때문</a:t>
            </a:r>
            <a:endParaRPr lang="en-US" altLang="ko-KR" sz="1600" dirty="0">
              <a:latin typeface="Times New Roman" panose="02020603050405020304" pitchFamily="18" charset="0"/>
              <a:ea typeface="함초롬바탕" panose="02030604000101010101" pitchFamily="18" charset="-127"/>
              <a:cs typeface="Times New Roman" panose="02020603050405020304" pitchFamily="18" charset="0"/>
            </a:endParaRPr>
          </a:p>
          <a:p>
            <a:endParaRPr lang="en-US" altLang="ko-KR" sz="1600" dirty="0">
              <a:latin typeface="Times New Roman" panose="02020603050405020304" pitchFamily="18" charset="0"/>
              <a:ea typeface="함초롬바탕" panose="02030604000101010101" pitchFamily="18" charset="-127"/>
              <a:cs typeface="Times New Roman" panose="02020603050405020304" pitchFamily="18" charset="0"/>
            </a:endParaRPr>
          </a:p>
          <a:p>
            <a:r>
              <a:rPr lang="en-US" altLang="ko-KR" sz="1600" dirty="0">
                <a:latin typeface="Times New Roman" panose="02020603050405020304" pitchFamily="18" charset="0"/>
                <a:ea typeface="함초롬바탕" panose="02030604000101010101" pitchFamily="18" charset="-127"/>
                <a:cs typeface="Times New Roman" panose="02020603050405020304" pitchFamily="18" charset="0"/>
              </a:rPr>
              <a:t>&lt;&lt; </a:t>
            </a:r>
            <a:r>
              <a:rPr lang="ko-KR" altLang="en-US" sz="1600" dirty="0">
                <a:latin typeface="Times New Roman" panose="02020603050405020304" pitchFamily="18" charset="0"/>
                <a:ea typeface="함초롬바탕" panose="02030604000101010101" pitchFamily="18" charset="-127"/>
                <a:cs typeface="Times New Roman" panose="02020603050405020304" pitchFamily="18" charset="0"/>
              </a:rPr>
              <a:t>버퍼에서 데이터를 애플리케이션이 </a:t>
            </a:r>
            <a:r>
              <a:rPr lang="en-US" altLang="ko-KR" sz="1600" dirty="0">
                <a:latin typeface="Times New Roman" panose="02020603050405020304" pitchFamily="18" charset="0"/>
                <a:ea typeface="함초롬바탕" panose="02030604000101010101" pitchFamily="18" charset="-127"/>
                <a:cs typeface="Times New Roman" panose="02020603050405020304" pitchFamily="18" charset="0"/>
              </a:rPr>
              <a:t>read</a:t>
            </a:r>
            <a:r>
              <a:rPr lang="ko-KR" altLang="en-US" sz="1600" dirty="0">
                <a:latin typeface="Times New Roman" panose="02020603050405020304" pitchFamily="18" charset="0"/>
                <a:ea typeface="함초롬바탕" panose="02030604000101010101" pitchFamily="18" charset="-127"/>
                <a:cs typeface="Times New Roman" panose="02020603050405020304" pitchFamily="18" charset="0"/>
              </a:rPr>
              <a:t>하지 않는 이유</a:t>
            </a:r>
            <a:r>
              <a:rPr lang="en-US" altLang="ko-KR" sz="1600" dirty="0">
                <a:latin typeface="Times New Roman" panose="02020603050405020304" pitchFamily="18" charset="0"/>
                <a:ea typeface="함초롬바탕" panose="02030604000101010101" pitchFamily="18" charset="-127"/>
                <a:cs typeface="Times New Roman" panose="02020603050405020304" pitchFamily="18" charset="0"/>
              </a:rPr>
              <a:t>&gt;&gt; </a:t>
            </a:r>
          </a:p>
          <a:p>
            <a:pPr marL="285750" indent="-198438">
              <a:buFontTx/>
              <a:buChar char="-"/>
            </a:pPr>
            <a:r>
              <a:rPr lang="ko-KR" altLang="en-US" sz="1600" dirty="0">
                <a:latin typeface="Times New Roman" panose="02020603050405020304" pitchFamily="18" charset="0"/>
                <a:ea typeface="함초롬바탕" panose="02030604000101010101" pitchFamily="18" charset="-127"/>
                <a:cs typeface="Times New Roman" panose="02020603050405020304" pitchFamily="18" charset="0"/>
              </a:rPr>
              <a:t>애플리케이션의 처리 시간이 부족할 경우 </a:t>
            </a:r>
            <a:endParaRPr lang="en-US" altLang="ko-KR" sz="1600" dirty="0">
              <a:latin typeface="Times New Roman" panose="02020603050405020304" pitchFamily="18" charset="0"/>
              <a:ea typeface="함초롬바탕" panose="02030604000101010101" pitchFamily="18" charset="-127"/>
              <a:cs typeface="Times New Roman" panose="02020603050405020304" pitchFamily="18" charset="0"/>
            </a:endParaRPr>
          </a:p>
          <a:p>
            <a:pPr marL="285750" indent="-198438">
              <a:buFontTx/>
              <a:buChar char="-"/>
            </a:pPr>
            <a:r>
              <a:rPr lang="ko-KR" altLang="en-US" sz="1600" dirty="0">
                <a:latin typeface="Times New Roman" panose="02020603050405020304" pitchFamily="18" charset="0"/>
                <a:ea typeface="함초롬바탕" panose="02030604000101010101" pitchFamily="18" charset="-127"/>
                <a:cs typeface="Times New Roman" panose="02020603050405020304" pitchFamily="18" charset="0"/>
              </a:rPr>
              <a:t>애플리케이션의 잘못 만들어 졌을 경우 </a:t>
            </a:r>
            <a:endParaRPr lang="en-US" altLang="ko-KR" sz="1600" dirty="0">
              <a:latin typeface="Times New Roman" panose="02020603050405020304" pitchFamily="18" charset="0"/>
              <a:ea typeface="함초롬바탕" panose="02030604000101010101" pitchFamily="18" charset="-127"/>
              <a:cs typeface="Times New Roman" panose="02020603050405020304" pitchFamily="18" charset="0"/>
            </a:endParaRPr>
          </a:p>
          <a:p>
            <a:pPr marL="285750" indent="-198438">
              <a:buFontTx/>
              <a:buChar char="-"/>
            </a:pPr>
            <a:r>
              <a:rPr lang="ko-KR" altLang="en-US" sz="1600" dirty="0">
                <a:latin typeface="Times New Roman" panose="02020603050405020304" pitchFamily="18" charset="0"/>
                <a:ea typeface="함초롬바탕" panose="02030604000101010101" pitchFamily="18" charset="-127"/>
                <a:cs typeface="Times New Roman" panose="02020603050405020304" pitchFamily="18" charset="0"/>
              </a:rPr>
              <a:t>전송 지연을 유발하기 위해 고의로 </a:t>
            </a:r>
            <a:r>
              <a:rPr lang="en-US" altLang="ko-KR" sz="1600" dirty="0" err="1">
                <a:latin typeface="Times New Roman" panose="02020603050405020304" pitchFamily="18" charset="0"/>
                <a:ea typeface="함초롬바탕" panose="02030604000101010101" pitchFamily="18" charset="-127"/>
                <a:cs typeface="Times New Roman" panose="02020603050405020304" pitchFamily="18" charset="0"/>
              </a:rPr>
              <a:t>zerowindow</a:t>
            </a:r>
            <a:r>
              <a:rPr lang="ko-KR" altLang="en-US" sz="1600" dirty="0">
                <a:latin typeface="Times New Roman" panose="02020603050405020304" pitchFamily="18" charset="0"/>
                <a:ea typeface="함초롬바탕" panose="02030604000101010101" pitchFamily="18" charset="-127"/>
                <a:cs typeface="Times New Roman" panose="02020603050405020304" pitchFamily="18" charset="0"/>
              </a:rPr>
              <a:t> 패킷을 발생 할 경우 </a:t>
            </a:r>
            <a:endParaRPr lang="ko-KR" altLang="en-US" sz="1600" dirty="0">
              <a:latin typeface="함초롬바탕" panose="02030604000101010101" pitchFamily="18" charset="-127"/>
              <a:ea typeface="함초롬바탕" panose="02030604000101010101" pitchFamily="18" charset="-127"/>
              <a:cs typeface="함초롬바탕" panose="02030604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8803460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Slice</Template>
  <TotalTime>5597</TotalTime>
  <Words>4621</Words>
  <Application>Microsoft Office PowerPoint</Application>
  <PresentationFormat>와이드스크린</PresentationFormat>
  <Paragraphs>1290</Paragraphs>
  <Slides>68</Slides>
  <Notes>18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68</vt:i4>
      </vt:variant>
    </vt:vector>
  </HeadingPairs>
  <TitlesOfParts>
    <vt:vector size="74" baseType="lpstr">
      <vt:lpstr>맑은 고딕</vt:lpstr>
      <vt:lpstr>함초롬바탕</vt:lpstr>
      <vt:lpstr>Arial</vt:lpstr>
      <vt:lpstr>Times New Roman</vt:lpstr>
      <vt:lpstr>Wingdings</vt:lpstr>
      <vt:lpstr>Office 테마</vt:lpstr>
      <vt:lpstr>ARP </vt:lpstr>
      <vt:lpstr>ARP Cache table update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TCP 단편화</vt:lpstr>
      <vt:lpstr>PowerPoint 프레젠테이션</vt:lpstr>
      <vt:lpstr>UDP</vt:lpstr>
      <vt:lpstr>PowerPoint 프레젠테이션</vt:lpstr>
      <vt:lpstr>PowerPoint 프레젠테이션</vt:lpstr>
      <vt:lpstr>PowerPoint 프레젠테이션</vt:lpstr>
      <vt:lpstr>PowerPoint 프레젠테이션</vt:lpstr>
      <vt:lpstr>TCP 신뢰성 </vt:lpstr>
      <vt:lpstr>❶ 정상적인 트래픽 전송 과정 </vt:lpstr>
      <vt:lpstr>❷ 비정상적인 트래픽 전송 과정(1) </vt:lpstr>
      <vt:lpstr>❷ 비정상적인 트래픽 전송 과정(2) 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높은 지연의 근원지 탐색 </vt:lpstr>
      <vt:lpstr>PowerPoint 프레젠테이션</vt:lpstr>
      <vt:lpstr>PowerPoint 프레젠테이션</vt:lpstr>
      <vt:lpstr>PowerPoint 프레젠테이션</vt:lpstr>
      <vt:lpstr>PowerPoint 프레젠테이션</vt:lpstr>
      <vt:lpstr>높은 지연의 근원지 탐색 </vt:lpstr>
      <vt:lpstr>Sliding window</vt:lpstr>
      <vt:lpstr>PowerPoint 프레젠테이션</vt:lpstr>
      <vt:lpstr>PowerPoint 프레젠테이션</vt:lpstr>
      <vt:lpstr>PowerPoint 프레젠테이션</vt:lpstr>
      <vt:lpstr>PowerPoint 프레젠테이션</vt:lpstr>
      <vt:lpstr>Slow Start 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속도가 느려진 네트워크 복구 </vt:lpstr>
      <vt:lpstr>1) TCP 재전송 </vt:lpstr>
      <vt:lpstr>재전송 타이머를 이용한 패킷 손실 확인 </vt:lpstr>
      <vt:lpstr>PowerPoint 프레젠테이션</vt:lpstr>
      <vt:lpstr>PowerPoint 프레젠테이션</vt:lpstr>
      <vt:lpstr>TCP 중복 검사와 빠른 재전송 </vt:lpstr>
      <vt:lpstr>PowerPoint 프레젠테이션</vt:lpstr>
      <vt:lpstr>2) TCP Sliding windows mechanism </vt:lpstr>
      <vt:lpstr>ZeroWindow &amp; Window Update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Sora Kwon</dc:creator>
  <cp:lastModifiedBy>Kwon Sora</cp:lastModifiedBy>
  <cp:revision>274</cp:revision>
  <cp:lastPrinted>2020-08-05T04:43:06Z</cp:lastPrinted>
  <dcterms:created xsi:type="dcterms:W3CDTF">2016-06-18T01:38:17Z</dcterms:created>
  <dcterms:modified xsi:type="dcterms:W3CDTF">2023-08-23T10:37:38Z</dcterms:modified>
</cp:coreProperties>
</file>