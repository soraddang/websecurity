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1"/>
  </p:sldMasterIdLst>
  <p:notesMasterIdLst>
    <p:notesMasterId r:id="rId76"/>
  </p:notesMasterIdLst>
  <p:sldIdLst>
    <p:sldId id="1850" r:id="rId2"/>
    <p:sldId id="1990" r:id="rId3"/>
    <p:sldId id="1268" r:id="rId4"/>
    <p:sldId id="1269" r:id="rId5"/>
    <p:sldId id="1999" r:id="rId6"/>
    <p:sldId id="1997" r:id="rId7"/>
    <p:sldId id="2000" r:id="rId8"/>
    <p:sldId id="1992" r:id="rId9"/>
    <p:sldId id="2002" r:id="rId10"/>
    <p:sldId id="1996" r:id="rId11"/>
    <p:sldId id="2001" r:id="rId12"/>
    <p:sldId id="2003" r:id="rId13"/>
    <p:sldId id="1214" r:id="rId14"/>
    <p:sldId id="1179" r:id="rId15"/>
    <p:sldId id="1184" r:id="rId16"/>
    <p:sldId id="1180" r:id="rId17"/>
    <p:sldId id="1181" r:id="rId18"/>
    <p:sldId id="1182" r:id="rId19"/>
    <p:sldId id="1183" r:id="rId20"/>
    <p:sldId id="1215" r:id="rId21"/>
    <p:sldId id="1185" r:id="rId22"/>
    <p:sldId id="1186" r:id="rId23"/>
    <p:sldId id="1191" r:id="rId24"/>
    <p:sldId id="1193" r:id="rId25"/>
    <p:sldId id="1187" r:id="rId26"/>
    <p:sldId id="1192" r:id="rId27"/>
    <p:sldId id="1194" r:id="rId28"/>
    <p:sldId id="723" r:id="rId29"/>
    <p:sldId id="724" r:id="rId30"/>
    <p:sldId id="725" r:id="rId31"/>
    <p:sldId id="726" r:id="rId32"/>
    <p:sldId id="764" r:id="rId33"/>
    <p:sldId id="765" r:id="rId34"/>
    <p:sldId id="2004" r:id="rId35"/>
    <p:sldId id="1531" r:id="rId36"/>
    <p:sldId id="2009" r:id="rId37"/>
    <p:sldId id="2008" r:id="rId38"/>
    <p:sldId id="2005" r:id="rId39"/>
    <p:sldId id="2006" r:id="rId40"/>
    <p:sldId id="2007" r:id="rId41"/>
    <p:sldId id="2010" r:id="rId42"/>
    <p:sldId id="1238" r:id="rId43"/>
    <p:sldId id="1239" r:id="rId44"/>
    <p:sldId id="1240" r:id="rId45"/>
    <p:sldId id="1845" r:id="rId46"/>
    <p:sldId id="1846" r:id="rId47"/>
    <p:sldId id="1847" r:id="rId48"/>
    <p:sldId id="1216" r:id="rId49"/>
    <p:sldId id="1848" r:id="rId50"/>
    <p:sldId id="1849" r:id="rId51"/>
    <p:sldId id="1226" r:id="rId52"/>
    <p:sldId id="1217" r:id="rId53"/>
    <p:sldId id="1197" r:id="rId54"/>
    <p:sldId id="1198" r:id="rId55"/>
    <p:sldId id="1220" r:id="rId56"/>
    <p:sldId id="1218" r:id="rId57"/>
    <p:sldId id="1221" r:id="rId58"/>
    <p:sldId id="1222" r:id="rId59"/>
    <p:sldId id="1224" r:id="rId60"/>
    <p:sldId id="1223" r:id="rId61"/>
    <p:sldId id="1225" r:id="rId62"/>
    <p:sldId id="1211" r:id="rId63"/>
    <p:sldId id="1212" r:id="rId64"/>
    <p:sldId id="1213" r:id="rId65"/>
    <p:sldId id="1227" r:id="rId66"/>
    <p:sldId id="1229" r:id="rId67"/>
    <p:sldId id="1230" r:id="rId68"/>
    <p:sldId id="1231" r:id="rId69"/>
    <p:sldId id="1232" r:id="rId70"/>
    <p:sldId id="1233" r:id="rId71"/>
    <p:sldId id="1234" r:id="rId72"/>
    <p:sldId id="1235" r:id="rId73"/>
    <p:sldId id="1237" r:id="rId74"/>
    <p:sldId id="1236" r:id="rId75"/>
  </p:sldIdLst>
  <p:sldSz cx="12192000" cy="6858000"/>
  <p:notesSz cx="7102475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6483" autoAdjust="0"/>
    <p:restoredTop sz="95026" autoAdjust="0"/>
  </p:normalViewPr>
  <p:slideViewPr>
    <p:cSldViewPr snapToGrid="0">
      <p:cViewPr varScale="1">
        <p:scale>
          <a:sx n="79" d="100"/>
          <a:sy n="79" d="100"/>
        </p:scale>
        <p:origin x="1166" y="67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3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094" y="0"/>
            <a:ext cx="3077739" cy="513508"/>
          </a:xfrm>
          <a:prstGeom prst="rect">
            <a:avLst/>
          </a:prstGeom>
        </p:spPr>
        <p:txBody>
          <a:bodyPr vert="horz" lIns="94778" tIns="47388" rIns="94778" bIns="47388" rtlCol="0"/>
          <a:lstStyle>
            <a:lvl1pPr algn="r">
              <a:defRPr sz="1200"/>
            </a:lvl1pPr>
          </a:lstStyle>
          <a:p>
            <a:fld id="{6E2CB153-45EF-48E8-99E9-7B97BED85BE4}" type="datetimeFigureOut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1013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78" tIns="47388" rIns="94778" bIns="4738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4778" tIns="47388" rIns="94778" bIns="4738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094" y="9721108"/>
            <a:ext cx="3077739" cy="513507"/>
          </a:xfrm>
          <a:prstGeom prst="rect">
            <a:avLst/>
          </a:prstGeom>
        </p:spPr>
        <p:txBody>
          <a:bodyPr vert="horz" lIns="94778" tIns="47388" rIns="94778" bIns="47388" rtlCol="0" anchor="b"/>
          <a:lstStyle>
            <a:lvl1pPr algn="r">
              <a:defRPr sz="1200"/>
            </a:lvl1pPr>
          </a:lstStyle>
          <a:p>
            <a:fld id="{5BE81944-C09D-40AD-A756-3B56302354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8431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308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9305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9136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34127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67169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50072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2940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-295275" y="736600"/>
            <a:ext cx="7580313" cy="4264025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1514" y="5420182"/>
            <a:ext cx="5452110" cy="391611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조회하는 과정은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ARP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캐시를 조회 후 캐시에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IP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주소를 검색하지 못할 경우 </a:t>
            </a:r>
            <a:endParaRPr lang="en-US" altLang="ko-KR" sz="1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ARP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패킷을 이용하여 수신지 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MAC </a:t>
            </a:r>
            <a:r>
              <a:rPr lang="ko-KR" altLang="en-US" sz="1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주소 부분에 해당 주소를 채워 넣는다</a:t>
            </a:r>
            <a:r>
              <a:rPr lang="en-US" altLang="ko-KR" sz="1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.  </a:t>
            </a:r>
            <a:endParaRPr lang="ko-KR" altLang="en-US" sz="10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94B8371-AA50-4CA5-BBD3-755C5D0A7E11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7267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다시 한번 </a:t>
            </a:r>
            <a:r>
              <a:rPr lang="en-US" altLang="ko-KR" dirty="0"/>
              <a:t>PDU</a:t>
            </a:r>
            <a:r>
              <a:rPr lang="ko-KR" altLang="en-US"/>
              <a:t>를 살펴 보자면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ko-KR" altLang="en-US" dirty="0"/>
              <a:t>상위계층에 데이터가 하위계층으로 적재되는 것을 </a:t>
            </a:r>
            <a:r>
              <a:rPr lang="en-US" altLang="ko-KR" dirty="0"/>
              <a:t>payload</a:t>
            </a:r>
            <a:r>
              <a:rPr lang="ko-KR" altLang="en-US"/>
              <a:t>라 하며</a:t>
            </a:r>
            <a:r>
              <a:rPr lang="en-US" altLang="ko-KR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Payload</a:t>
            </a:r>
            <a:r>
              <a:rPr lang="ko-KR" altLang="en-US"/>
              <a:t>가 되면서 통신에 필요한 제어 정보가 추가되는데</a:t>
            </a:r>
            <a:r>
              <a:rPr lang="en-US" altLang="ko-KR" dirty="0"/>
              <a:t>, </a:t>
            </a:r>
            <a:r>
              <a:rPr lang="ko-KR" altLang="en-US"/>
              <a:t>우리는 이것을 캡슐화 라 학습했습니다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ko-KR" altLang="en-US" dirty="0" err="1"/>
              <a:t>페이로드되면서</a:t>
            </a:r>
            <a:r>
              <a:rPr lang="en-US" altLang="ko-KR" dirty="0"/>
              <a:t>, </a:t>
            </a:r>
            <a:r>
              <a:rPr lang="ko-KR" altLang="en-US"/>
              <a:t>데이터 </a:t>
            </a:r>
            <a:r>
              <a:rPr lang="ko-KR" altLang="en-US" dirty="0"/>
              <a:t>앞에 부착되는 제어정보를 </a:t>
            </a:r>
            <a:r>
              <a:rPr lang="ko-KR" altLang="en-US" dirty="0" err="1"/>
              <a:t>헤더라하며</a:t>
            </a:r>
            <a:r>
              <a:rPr lang="en-US" altLang="ko-KR" dirty="0"/>
              <a:t>, </a:t>
            </a:r>
            <a:r>
              <a:rPr lang="ko-KR" altLang="en-US"/>
              <a:t>데이터 </a:t>
            </a:r>
            <a:r>
              <a:rPr lang="ko-KR" altLang="en-US" dirty="0"/>
              <a:t>뒤에 부착되는 제어 정보를 트레일러라 합니다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7/6/5</a:t>
            </a:r>
            <a:r>
              <a:rPr lang="ko-KR" altLang="en-US"/>
              <a:t>계층 </a:t>
            </a:r>
            <a:r>
              <a:rPr lang="en-US" altLang="ko-KR" dirty="0"/>
              <a:t>PDU</a:t>
            </a:r>
            <a:r>
              <a:rPr lang="ko-KR" altLang="en-US"/>
              <a:t>인 메시지가 </a:t>
            </a:r>
            <a:r>
              <a:rPr lang="en-US" altLang="ko-KR" dirty="0"/>
              <a:t>4</a:t>
            </a:r>
            <a:r>
              <a:rPr lang="ko-KR" altLang="en-US"/>
              <a:t>계층으로 페이로드되면서 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</a:t>
            </a:r>
            <a:r>
              <a:rPr lang="ko-KR" altLang="en-US"/>
              <a:t>계층 제어정보가</a:t>
            </a:r>
            <a:r>
              <a:rPr lang="ko-KR" altLang="en-US" baseline="0"/>
              <a:t> 추가되는데</a:t>
            </a:r>
            <a:r>
              <a:rPr lang="en-US" altLang="ko-KR" baseline="0" dirty="0"/>
              <a:t>, </a:t>
            </a:r>
            <a:r>
              <a:rPr lang="ko-KR" altLang="en-US" baseline="0"/>
              <a:t>이떄 </a:t>
            </a:r>
            <a:r>
              <a:rPr lang="en-US" altLang="ko-KR" baseline="0" dirty="0"/>
              <a:t>4</a:t>
            </a:r>
            <a:r>
              <a:rPr lang="ko-KR" altLang="en-US" baseline="0"/>
              <a:t>계층 </a:t>
            </a:r>
            <a:r>
              <a:rPr lang="en-US" altLang="ko-KR" baseline="0" dirty="0"/>
              <a:t>PDU</a:t>
            </a:r>
            <a:r>
              <a:rPr lang="ko-KR" altLang="en-US" baseline="0"/>
              <a:t>를 세그먼트라 하며</a:t>
            </a:r>
            <a:r>
              <a:rPr lang="en-US" altLang="ko-KR" baseline="0" dirty="0"/>
              <a:t>, </a:t>
            </a:r>
            <a:r>
              <a:rPr lang="ko-KR" altLang="en-US" baseline="0"/>
              <a:t>세그먼트에는 </a:t>
            </a:r>
            <a:r>
              <a:rPr lang="ko-KR" altLang="en-US" baseline="0" dirty="0"/>
              <a:t>다양한 제어정보가 부착이 되지만 주요 제어정보로 송수신 포트가 있습니다</a:t>
            </a:r>
            <a:r>
              <a:rPr lang="en-US" altLang="ko-KR" baseline="0" dirty="0"/>
              <a:t>. </a:t>
            </a:r>
          </a:p>
          <a:p>
            <a:pPr marL="0" indent="0">
              <a:buNone/>
            </a:pPr>
            <a:endParaRPr lang="en-US" altLang="ko-KR" baseline="0" dirty="0"/>
          </a:p>
          <a:p>
            <a:pPr marL="0" indent="0">
              <a:buNone/>
            </a:pPr>
            <a:r>
              <a:rPr lang="ko-KR" altLang="en-US" baseline="0" dirty="0"/>
              <a:t>다음은</a:t>
            </a:r>
            <a:r>
              <a:rPr lang="en-US" altLang="ko-KR" baseline="0" dirty="0"/>
              <a:t>, </a:t>
            </a:r>
          </a:p>
          <a:p>
            <a:pPr marL="0" indent="0">
              <a:buNone/>
            </a:pPr>
            <a:r>
              <a:rPr lang="en-US" altLang="ko-KR" dirty="0"/>
              <a:t>4</a:t>
            </a:r>
            <a:r>
              <a:rPr lang="ko-KR" altLang="en-US"/>
              <a:t>계층 </a:t>
            </a:r>
            <a:r>
              <a:rPr lang="en-US" altLang="ko-KR" dirty="0"/>
              <a:t>PDU</a:t>
            </a:r>
            <a:r>
              <a:rPr lang="ko-KR" altLang="en-US"/>
              <a:t>인 세그먼트가 </a:t>
            </a:r>
            <a:r>
              <a:rPr lang="en-US" altLang="ko-KR" dirty="0"/>
              <a:t>3</a:t>
            </a:r>
            <a:r>
              <a:rPr lang="ko-KR" altLang="en-US"/>
              <a:t>계층으로 페이로드되면서 </a:t>
            </a:r>
            <a:r>
              <a:rPr lang="en-US" altLang="ko-KR" dirty="0"/>
              <a:t>3</a:t>
            </a:r>
            <a:r>
              <a:rPr lang="ko-KR" altLang="en-US"/>
              <a:t>계층 제어정보가</a:t>
            </a:r>
            <a:r>
              <a:rPr lang="ko-KR" altLang="en-US" baseline="0"/>
              <a:t> 추가되는데</a:t>
            </a:r>
            <a:endParaRPr lang="en-US" altLang="ko-KR" baseline="0" dirty="0"/>
          </a:p>
          <a:p>
            <a:pPr marL="0" indent="0">
              <a:buNone/>
            </a:pPr>
            <a:r>
              <a:rPr lang="ko-KR" altLang="en-US" baseline="0" dirty="0"/>
              <a:t>이와 같이 </a:t>
            </a:r>
            <a:r>
              <a:rPr lang="en-US" altLang="ko-KR" baseline="0" dirty="0"/>
              <a:t>3</a:t>
            </a:r>
            <a:r>
              <a:rPr lang="ko-KR" altLang="en-US" baseline="0"/>
              <a:t>계층 제어정보가 부착된 </a:t>
            </a:r>
            <a:r>
              <a:rPr lang="en-US" altLang="ko-KR" baseline="0" dirty="0"/>
              <a:t>PDU</a:t>
            </a:r>
            <a:r>
              <a:rPr lang="ko-KR" altLang="en-US" baseline="0"/>
              <a:t>를 패킷이라 하며</a:t>
            </a:r>
            <a:r>
              <a:rPr lang="en-US" altLang="ko-KR" baseline="0" dirty="0"/>
              <a:t>, </a:t>
            </a:r>
          </a:p>
          <a:p>
            <a:pPr marL="0" indent="0">
              <a:buNone/>
            </a:pPr>
            <a:r>
              <a:rPr lang="ko-KR" altLang="en-US" baseline="0" dirty="0" err="1"/>
              <a:t>패킷</a:t>
            </a:r>
            <a:r>
              <a:rPr lang="ko-KR" altLang="en-US" baseline="0" dirty="0"/>
              <a:t> 역시 다양한 제어정보가 부착이 되지만 주요 제어정보로 송수신 </a:t>
            </a:r>
            <a:r>
              <a:rPr lang="en-US" altLang="ko-KR" baseline="0" dirty="0"/>
              <a:t>IP</a:t>
            </a:r>
            <a:r>
              <a:rPr lang="ko-KR" altLang="en-US" baseline="0"/>
              <a:t>입니다</a:t>
            </a:r>
            <a:r>
              <a:rPr lang="en-US" altLang="ko-KR" baseline="0" dirty="0"/>
              <a:t>. </a:t>
            </a:r>
          </a:p>
          <a:p>
            <a:pPr marL="0" indent="0">
              <a:buNone/>
            </a:pPr>
            <a:endParaRPr lang="en-US" altLang="ko-KR" baseline="0" dirty="0"/>
          </a:p>
          <a:p>
            <a:pPr marL="0" indent="0">
              <a:buNone/>
            </a:pPr>
            <a:r>
              <a:rPr lang="en-US" altLang="ko-KR" baseline="0" dirty="0"/>
              <a:t>2</a:t>
            </a:r>
            <a:r>
              <a:rPr lang="ko-KR" altLang="en-US" baseline="0"/>
              <a:t>계층의 </a:t>
            </a:r>
            <a:r>
              <a:rPr lang="en-US" altLang="ko-KR" baseline="0" dirty="0"/>
              <a:t>PDU</a:t>
            </a:r>
            <a:r>
              <a:rPr lang="ko-KR" altLang="en-US" baseline="0"/>
              <a:t>는 프레임으로 </a:t>
            </a:r>
            <a:endParaRPr lang="en-US" altLang="ko-KR" baseline="0" dirty="0"/>
          </a:p>
          <a:p>
            <a:pPr marL="0" indent="0">
              <a:buNone/>
            </a:pPr>
            <a:r>
              <a:rPr lang="ko-KR" altLang="en-US" baseline="0" dirty="0"/>
              <a:t>프레임은 데이터 앞에 제어정보가 부착되기도 하지만 데이터 뒷부분에 트레일러라는 제어정보가 부착된다는 특징이 있으며</a:t>
            </a:r>
            <a:r>
              <a:rPr lang="en-US" altLang="ko-KR" baseline="0" dirty="0"/>
              <a:t>, </a:t>
            </a:r>
          </a:p>
          <a:p>
            <a:pPr marL="0" indent="0">
              <a:buNone/>
            </a:pPr>
            <a:r>
              <a:rPr lang="ko-KR" altLang="en-US" baseline="0" dirty="0"/>
              <a:t>프레임의 주요 정보는 송수신지 </a:t>
            </a:r>
            <a:r>
              <a:rPr lang="en-US" altLang="ko-KR" baseline="0" dirty="0"/>
              <a:t>MAC </a:t>
            </a:r>
            <a:r>
              <a:rPr lang="ko-KR" altLang="en-US" baseline="0"/>
              <a:t>주소 입니다</a:t>
            </a:r>
            <a:r>
              <a:rPr lang="en-US" altLang="ko-KR" baseline="0" dirty="0"/>
              <a:t>. </a:t>
            </a:r>
            <a:r>
              <a:rPr lang="ko-KR" altLang="en-US" baseline="0"/>
              <a:t> </a:t>
            </a:r>
            <a:endParaRPr lang="en-US" altLang="ko-KR" baseline="0" dirty="0"/>
          </a:p>
          <a:p>
            <a:pPr marL="0" indent="0">
              <a:buNone/>
            </a:pPr>
            <a:r>
              <a:rPr lang="en-US" altLang="ko-KR" baseline="0" dirty="0"/>
              <a:t> </a:t>
            </a:r>
          </a:p>
          <a:p>
            <a:pPr marL="0" indent="0">
              <a:buNone/>
            </a:pPr>
            <a:r>
              <a:rPr lang="ko-KR" altLang="en-US" baseline="0" dirty="0"/>
              <a:t>우리는 </a:t>
            </a:r>
            <a:r>
              <a:rPr lang="ko-KR" altLang="en-US" baseline="0" dirty="0" err="1"/>
              <a:t>트래픽</a:t>
            </a:r>
            <a:r>
              <a:rPr lang="ko-KR" altLang="en-US" baseline="0" dirty="0"/>
              <a:t> 흐름을 공부하면서 </a:t>
            </a:r>
            <a:endParaRPr lang="en-US" altLang="ko-KR" baseline="0" dirty="0"/>
          </a:p>
          <a:p>
            <a:pPr marL="0" indent="0">
              <a:buNone/>
            </a:pPr>
            <a:r>
              <a:rPr lang="en-US" altLang="ko-KR" baseline="0" dirty="0"/>
              <a:t>MAC </a:t>
            </a:r>
            <a:r>
              <a:rPr lang="ko-KR" altLang="en-US" baseline="0"/>
              <a:t>주소를 </a:t>
            </a:r>
            <a:r>
              <a:rPr lang="en-US" altLang="ko-KR" baseline="0" dirty="0"/>
              <a:t>2</a:t>
            </a:r>
            <a:r>
              <a:rPr lang="ko-KR" altLang="en-US" baseline="0"/>
              <a:t>계층주소</a:t>
            </a:r>
            <a:r>
              <a:rPr lang="en-US" altLang="ko-KR" baseline="0" dirty="0"/>
              <a:t>, IP</a:t>
            </a:r>
            <a:r>
              <a:rPr lang="ko-KR" altLang="en-US" baseline="0"/>
              <a:t>주소를 </a:t>
            </a:r>
            <a:r>
              <a:rPr lang="en-US" altLang="ko-KR" baseline="0" dirty="0"/>
              <a:t>3</a:t>
            </a:r>
            <a:r>
              <a:rPr lang="ko-KR" altLang="en-US" baseline="0"/>
              <a:t>계층 주소</a:t>
            </a:r>
            <a:r>
              <a:rPr lang="en-US" altLang="ko-KR" baseline="0" dirty="0"/>
              <a:t>, Port</a:t>
            </a:r>
            <a:r>
              <a:rPr lang="ko-KR" altLang="en-US" baseline="0"/>
              <a:t>번호는 </a:t>
            </a:r>
            <a:r>
              <a:rPr lang="en-US" altLang="ko-KR" baseline="0" dirty="0"/>
              <a:t>4</a:t>
            </a:r>
            <a:r>
              <a:rPr lang="ko-KR" altLang="en-US" baseline="0"/>
              <a:t>계층이라 정리했었는데요</a:t>
            </a:r>
            <a:r>
              <a:rPr lang="en-US" altLang="ko-KR" baseline="0" dirty="0"/>
              <a:t>, </a:t>
            </a:r>
          </a:p>
          <a:p>
            <a:pPr marL="0" indent="0">
              <a:buNone/>
            </a:pPr>
            <a:r>
              <a:rPr lang="ko-KR" altLang="en-US" baseline="0" dirty="0"/>
              <a:t>각각의 주소를 계층주소로 정의했던 것은 </a:t>
            </a:r>
            <a:r>
              <a:rPr lang="en-US" altLang="ko-KR" baseline="0" dirty="0"/>
              <a:t>PDU</a:t>
            </a:r>
            <a:r>
              <a:rPr lang="ko-KR" altLang="en-US" baseline="0"/>
              <a:t>를 기반한 것입니다</a:t>
            </a:r>
            <a:r>
              <a:rPr lang="en-US" altLang="ko-KR" baseline="0" dirty="0"/>
              <a:t>. </a:t>
            </a:r>
          </a:p>
          <a:p>
            <a:pPr marL="0" indent="0">
              <a:buNone/>
            </a:pPr>
            <a:endParaRPr lang="en-US" altLang="ko-KR" baseline="0" dirty="0"/>
          </a:p>
          <a:p>
            <a:pPr marL="0" indent="0">
              <a:buNone/>
            </a:pPr>
            <a:endParaRPr lang="en-US" altLang="ko-KR" baseline="0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926149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Sender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전송하면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하나의 메시지로 인식하고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Receiver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 한 번의 읽기 동작으로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바이트를 수신할 수 있도록 해줌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헤더의 메시지 길이 필드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사용자가 전송 요청한 메시지 길이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: 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이로 인해 한 번에 전송할 수 있는 메시지 크기가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바이트로 표현할 수 있는 크기로 제한이 생김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Tx/>
              <a:buNone/>
            </a:pP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UDP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는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TCP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처럼 신뢰성있는 채널이 아니라 손실되거나 변형될 가능성은 있음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실무에서는 응용계층에서 메시지 유효성 검사를 수행하거나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(CRC,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CheckSum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메시지 순서 번호를 직접 메겨서 순서를 확인하는 경우가 있음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0557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Stop and</a:t>
            </a:r>
            <a:r>
              <a:rPr lang="en-US" altLang="ko-KR" baseline="0" dirty="0"/>
              <a:t> Wait </a:t>
            </a:r>
          </a:p>
          <a:p>
            <a:r>
              <a:rPr lang="en-US" altLang="ko-KR" baseline="0" dirty="0"/>
              <a:t>Sliding window</a:t>
            </a:r>
          </a:p>
          <a:p>
            <a:r>
              <a:rPr lang="en-US" altLang="ko-KR" baseline="0" dirty="0"/>
              <a:t> - ACK </a:t>
            </a:r>
            <a:r>
              <a:rPr lang="ko-KR" altLang="en-US" baseline="0"/>
              <a:t>응답을 받지 않고도 일 정 수 의 패킷을 보낼 수 있음 </a:t>
            </a:r>
            <a:endParaRPr lang="en-US" altLang="ko-KR" baseline="0" dirty="0"/>
          </a:p>
          <a:p>
            <a:r>
              <a:rPr lang="en-US" altLang="ko-KR" baseline="0" dirty="0"/>
              <a:t> - Windows size : ACK </a:t>
            </a:r>
            <a:r>
              <a:rPr lang="ko-KR" altLang="en-US" baseline="0"/>
              <a:t>없이 보낼 수 있는 패킷 수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1627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87C0B-98AC-48F0-AC15-515DB05D1DC9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9096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AE87C0B-98AC-48F0-AC15-515DB05D1DC9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24283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endParaRPr lang="ko-KR" altLang="en-US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8677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5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endParaRPr lang="ko-KR" altLang="en-US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08709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Stop and</a:t>
            </a:r>
            <a:r>
              <a:rPr lang="en-US" altLang="ko-KR" baseline="0" dirty="0"/>
              <a:t> Wait </a:t>
            </a:r>
          </a:p>
          <a:p>
            <a:r>
              <a:rPr lang="en-US" altLang="ko-KR" baseline="0" dirty="0"/>
              <a:t>Sliding window</a:t>
            </a:r>
          </a:p>
          <a:p>
            <a:r>
              <a:rPr lang="en-US" altLang="ko-KR" baseline="0" dirty="0"/>
              <a:t> - ACK </a:t>
            </a:r>
            <a:r>
              <a:rPr lang="ko-KR" altLang="en-US" baseline="0"/>
              <a:t>응답을 받지 않고도 일 정 수 의 패킷을 보낼 수 있음 </a:t>
            </a:r>
            <a:endParaRPr lang="en-US" altLang="ko-KR" baseline="0" dirty="0"/>
          </a:p>
          <a:p>
            <a:r>
              <a:rPr lang="en-US" altLang="ko-KR" baseline="0" dirty="0"/>
              <a:t> - Windows size : ACK </a:t>
            </a:r>
            <a:r>
              <a:rPr lang="ko-KR" altLang="en-US" baseline="0"/>
              <a:t>없이 보낼 수 있는 패킷 수 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315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E81944-C09D-40AD-A756-3B56302354E3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678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0A357-EC05-453C-BB93-D2CD92805FB3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5847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4A6AC-2825-4550-B24C-BE85D5A5CCD7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952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707D1-F386-4842-A375-88F78000DE4E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3189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F0D8-0AFE-4389-9C4F-B247F77E85F4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346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4A3212-090F-4B69-906A-B3CA2BC375ED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717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DF9AD-719E-4E93-A824-218E0CF9AC3C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14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6DB05-76DA-4D3A-B078-A583FFDA815D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0740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4137E-2B0C-4B41-8C2A-0B2B77A08D38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50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7AB2C-6FD1-4AD7-B691-D0A8C430C56C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223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8929C-B6B2-4F43-A100-EC86E6AEFEE7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720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7F1C48-D382-4608-8EFC-759E9CA4DA3F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358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358F3C-ACF1-481F-A305-7EE0320343A1}" type="datetime1">
              <a:rPr lang="ko-KR" altLang="en-US" smtClean="0"/>
              <a:t>2023-08-24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00E85C-9068-46D2-A14A-A9DCCDE0C98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8142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62100" y="1970088"/>
            <a:ext cx="9144000" cy="744537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ARP</a:t>
            </a:r>
            <a:r>
              <a:rPr lang="ko-KR" altLang="en-US" sz="40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4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902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16055" y="604309"/>
            <a:ext cx="8183562" cy="1052512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 dirty="0">
                <a:latin typeface="Times New Roman" pitchFamily="18" charset="0"/>
                <a:ea typeface="굴림" pitchFamily="50" charset="-127"/>
                <a:cs typeface="Times New Roman" pitchFamily="18" charset="0"/>
              </a:rPr>
              <a:t>ARP Cache table update</a:t>
            </a:r>
            <a:endParaRPr lang="ko-KR" altLang="en-US" sz="3200" dirty="0">
              <a:latin typeface="Times New Roman" pitchFamily="18" charset="0"/>
              <a:ea typeface="굴림" pitchFamily="50" charset="-127"/>
              <a:cs typeface="Times New Roman" pitchFamily="18" charset="0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60484-59DB-4C36-A070-22722EC8A208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61890" y="1749985"/>
            <a:ext cx="10633480" cy="3459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request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패킷을 수신한 시스템들은 송신 시스템의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IP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MAC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주소를 자신의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캐시 엔트리에 저장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 경우 기존 캐시 정보의 다른 엔트리를 지울 수 있음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기존 캐시 정보의 다른 엔트리를 지울 수 있으므로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캐시에 송신 시스템의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주소가 이미 존재하는 시스템만이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캐시 </a:t>
            </a:r>
            <a:r>
              <a:rPr lang="ko-KR" altLang="en-US" sz="16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엔트리를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갱신하고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캐시에 송신 시스템의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주소가 없는 시스템은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요청 패킷을 무시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시스템들은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요청 </a:t>
            </a:r>
            <a:r>
              <a:rPr lang="ko-KR" altLang="en-US" sz="16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브로드캐스트에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있는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IP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주소와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MAC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주소에 대해 자신의 엔트리에 속해 있지 않은 정보는 무시하고 기존에 있는 정보에 대해서만 엔트리를 갱신해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ARP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캐시 엔트리의 무차별적인 갱신을 방지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57189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6446614" y="1026023"/>
            <a:ext cx="0" cy="19436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3280268" y="2723440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7351" y="2135629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362" y="3577526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81566" y="2384887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56447" y="3651406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900608" y="2814473"/>
            <a:ext cx="1523630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718863" y="2465104"/>
            <a:ext cx="188712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241999"/>
              </p:ext>
            </p:extLst>
          </p:nvPr>
        </p:nvGraphicFramePr>
        <p:xfrm>
          <a:off x="3723436" y="6256146"/>
          <a:ext cx="7087593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3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????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1111. 1111.1111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875991" y="5997362"/>
            <a:ext cx="6655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8309" y="4052693"/>
            <a:ext cx="1521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192.168.1.10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939438" y="4907851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367889"/>
              </p:ext>
            </p:extLst>
          </p:nvPr>
        </p:nvGraphicFramePr>
        <p:xfrm>
          <a:off x="5244820" y="5283425"/>
          <a:ext cx="55662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9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FFFF.FFFF.FFFF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1111.1111.1111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 /192.168.1.10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0000.0000.0000/192.168.1.20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오른쪽 화살표 37"/>
          <p:cNvSpPr/>
          <p:nvPr/>
        </p:nvSpPr>
        <p:spPr>
          <a:xfrm rot="10800000">
            <a:off x="4843902" y="5394564"/>
            <a:ext cx="365843" cy="24314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5840498" y="2495836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085911" y="3455908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638" y="556643"/>
            <a:ext cx="1094561" cy="8805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137199" y="488627"/>
            <a:ext cx="1785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192.168.1.30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3333.3333.3333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  <a:p>
            <a:endParaRPr lang="en-US" altLang="ko-KR" dirty="0"/>
          </a:p>
        </p:txBody>
      </p:sp>
      <p:sp>
        <p:nvSpPr>
          <p:cNvPr id="46" name="직사각형 45"/>
          <p:cNvSpPr/>
          <p:nvPr/>
        </p:nvSpPr>
        <p:spPr>
          <a:xfrm>
            <a:off x="2118027" y="1371263"/>
            <a:ext cx="1523630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503015" y="1728739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5454284" y="4994504"/>
            <a:ext cx="5125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Protocol                ARP Header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57254" y="5269916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368967" y="1332954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124041" y="2660518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06266" y="63933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1AE12-CE92-5EAF-D456-D7117FAACBB9}"/>
              </a:ext>
            </a:extLst>
          </p:cNvPr>
          <p:cNvSpPr txBox="1"/>
          <p:nvPr/>
        </p:nvSpPr>
        <p:spPr>
          <a:xfrm>
            <a:off x="691197" y="459118"/>
            <a:ext cx="3634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ARP request/reply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116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 23"/>
          <p:cNvSpPr/>
          <p:nvPr/>
        </p:nvSpPr>
        <p:spPr>
          <a:xfrm>
            <a:off x="3480693" y="3507364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776" y="2919553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787" y="4361450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81991" y="3168811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6872" y="4435330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691909" y="3556748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❸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192.168.1.20   2222.2222.2222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5478" y="3236865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087277"/>
              </p:ext>
            </p:extLst>
          </p:nvPr>
        </p:nvGraphicFramePr>
        <p:xfrm>
          <a:off x="3439004" y="5979000"/>
          <a:ext cx="7206862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222.2222.2222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1111. 1111.1111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3360740" y="5721386"/>
            <a:ext cx="6934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5753" y="4764546"/>
            <a:ext cx="1483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192.168.1.10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60389"/>
              </p:ext>
            </p:extLst>
          </p:nvPr>
        </p:nvGraphicFramePr>
        <p:xfrm>
          <a:off x="2074914" y="1501804"/>
          <a:ext cx="576294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/192.168.1.20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 /192.168.1.10</a:t>
                      </a:r>
                      <a:endParaRPr lang="en-US" altLang="ko-KR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" name="그룹 33"/>
          <p:cNvGrpSpPr/>
          <p:nvPr/>
        </p:nvGrpSpPr>
        <p:grpSpPr>
          <a:xfrm>
            <a:off x="6040923" y="3279760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86336" y="4239832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074914" y="2155186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192.168.1.10   1111.1111.1111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7366" y="2523988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5094" y="1203043"/>
            <a:ext cx="5612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Header                    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Protocol             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송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수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오른쪽 화살표 26"/>
          <p:cNvSpPr/>
          <p:nvPr/>
        </p:nvSpPr>
        <p:spPr>
          <a:xfrm>
            <a:off x="7851827" y="1613098"/>
            <a:ext cx="365843" cy="2431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07975" y="1488450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8231635" y="1501804"/>
            <a:ext cx="1920095" cy="396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Reply</a:t>
            </a:r>
            <a:endParaRPr lang="ko-KR" altLang="en-US" sz="15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855764" y="4308977"/>
            <a:ext cx="1920095" cy="396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5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Reply</a:t>
            </a:r>
            <a:endParaRPr lang="ko-KR" altLang="en-US" sz="15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11004-DE0B-9D4F-67EB-B4BA7345BCEF}"/>
              </a:ext>
            </a:extLst>
          </p:cNvPr>
          <p:cNvSpPr txBox="1"/>
          <p:nvPr/>
        </p:nvSpPr>
        <p:spPr>
          <a:xfrm>
            <a:off x="746954" y="264255"/>
            <a:ext cx="36349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ARP request/reply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481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6660622" y="1026023"/>
            <a:ext cx="0" cy="19436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3494276" y="2723440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1359" y="2135629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370" y="3577526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95574" y="2384887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70455" y="3651406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0357570"/>
              </p:ext>
            </p:extLst>
          </p:nvPr>
        </p:nvGraphicFramePr>
        <p:xfrm>
          <a:off x="3937444" y="6256146"/>
          <a:ext cx="7087593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21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8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9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5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39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????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1111. 1111.1111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089999" y="5997362"/>
            <a:ext cx="6655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2317" y="4052693"/>
            <a:ext cx="15215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192.168.1.10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153446" y="4907851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1909216"/>
              </p:ext>
            </p:extLst>
          </p:nvPr>
        </p:nvGraphicFramePr>
        <p:xfrm>
          <a:off x="5458828" y="5283425"/>
          <a:ext cx="5566209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129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0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21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1111.1111.1111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 /192.168.1.10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오른쪽 화살표 37"/>
          <p:cNvSpPr/>
          <p:nvPr/>
        </p:nvSpPr>
        <p:spPr>
          <a:xfrm rot="10800000">
            <a:off x="5057910" y="5394564"/>
            <a:ext cx="365843" cy="24314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6054506" y="2495836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99919" y="3455908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646" y="556643"/>
            <a:ext cx="1094561" cy="8805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351207" y="488627"/>
            <a:ext cx="1785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192.168.1.30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3333.3333.3333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  <a:p>
            <a:endParaRPr lang="en-US" altLang="ko-KR" dirty="0"/>
          </a:p>
        </p:txBody>
      </p:sp>
      <p:sp>
        <p:nvSpPr>
          <p:cNvPr id="48" name="TextBox 47"/>
          <p:cNvSpPr txBox="1"/>
          <p:nvPr/>
        </p:nvSpPr>
        <p:spPr>
          <a:xfrm>
            <a:off x="5668292" y="4994504"/>
            <a:ext cx="5125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Protocol                ARP Header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71262" y="5269916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582975" y="1332954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338049" y="2660518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06266" y="63933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1DAC7D-4DD4-6770-69C2-71D3DD6AA36D}"/>
              </a:ext>
            </a:extLst>
          </p:cNvPr>
          <p:cNvSpPr/>
          <p:nvPr/>
        </p:nvSpPr>
        <p:spPr>
          <a:xfrm>
            <a:off x="1576262" y="1214418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192.168.1.10   1111.1111.1111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C28ACE-A82F-24BC-3BAC-817AA216E362}"/>
              </a:ext>
            </a:extLst>
          </p:cNvPr>
          <p:cNvSpPr txBox="1"/>
          <p:nvPr/>
        </p:nvSpPr>
        <p:spPr>
          <a:xfrm>
            <a:off x="1613778" y="924707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C15EBB8-5FD1-8B89-546C-C2C28F554EC1}"/>
              </a:ext>
            </a:extLst>
          </p:cNvPr>
          <p:cNvSpPr/>
          <p:nvPr/>
        </p:nvSpPr>
        <p:spPr>
          <a:xfrm>
            <a:off x="8393905" y="2745852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192.168.1.20   2222.2222.2222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64D4ED-E391-2459-1A31-5387F7EA0E67}"/>
              </a:ext>
            </a:extLst>
          </p:cNvPr>
          <p:cNvSpPr txBox="1"/>
          <p:nvPr/>
        </p:nvSpPr>
        <p:spPr>
          <a:xfrm>
            <a:off x="9777474" y="2425969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1474D1-2E0E-D930-96E8-F8E3A56A1A47}"/>
              </a:ext>
            </a:extLst>
          </p:cNvPr>
          <p:cNvSpPr txBox="1"/>
          <p:nvPr/>
        </p:nvSpPr>
        <p:spPr>
          <a:xfrm>
            <a:off x="746954" y="264255"/>
            <a:ext cx="43081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ARP request (Unicast)</a:t>
            </a:r>
            <a:endParaRPr lang="ko-KR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883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 23"/>
          <p:cNvSpPr/>
          <p:nvPr/>
        </p:nvSpPr>
        <p:spPr>
          <a:xfrm>
            <a:off x="2924305" y="3205807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388" y="2617996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399" y="4059893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925603" y="2867254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800484" y="4133773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160403" y="3245249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500" b="1" strike="sngStrik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192.168.1.20   2222.2222.2222</a:t>
            </a:r>
            <a:endParaRPr lang="ko-KR" altLang="en-US" sz="1500" b="1" strike="sngStrik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43972" y="2925366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537289"/>
              </p:ext>
            </p:extLst>
          </p:nvPr>
        </p:nvGraphicFramePr>
        <p:xfrm>
          <a:off x="2882616" y="5677443"/>
          <a:ext cx="7206862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50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0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4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72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86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18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61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222.2222.2222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1111. 1111.1111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4352" y="5419829"/>
            <a:ext cx="6934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9365" y="4462989"/>
            <a:ext cx="1483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192.168.1.10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5484535" y="2978203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729948" y="3938275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1518526" y="1853629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192.168.1.10   1111.1111.1111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556042" y="1563918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4A754B-266A-C003-BA0B-D146066A3365}"/>
              </a:ext>
            </a:extLst>
          </p:cNvPr>
          <p:cNvSpPr txBox="1"/>
          <p:nvPr/>
        </p:nvSpPr>
        <p:spPr>
          <a:xfrm>
            <a:off x="1518526" y="646340"/>
            <a:ext cx="9066652" cy="338554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ARP reply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전송되지 않으면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ARP 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캐시테이블에 해당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IP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주소 삭제 </a:t>
            </a:r>
          </a:p>
        </p:txBody>
      </p:sp>
    </p:spTree>
    <p:extLst>
      <p:ext uri="{BB962C8B-B14F-4D97-AF65-F5344CB8AC3E}">
        <p14:creationId xmlns:p14="http://schemas.microsoft.com/office/powerpoint/2010/main" val="37002173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8C78AB45-DC4A-782B-9BFB-C2FD1EA04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F7EA008-0A5F-5DBA-2788-295C77C085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4859" y="623808"/>
            <a:ext cx="6828817" cy="5915104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E786868-6FC8-8D47-F9DB-2E8784C4C316}"/>
              </a:ext>
            </a:extLst>
          </p:cNvPr>
          <p:cNvSpPr/>
          <p:nvPr/>
        </p:nvSpPr>
        <p:spPr>
          <a:xfrm>
            <a:off x="2733472" y="3579779"/>
            <a:ext cx="3608962" cy="408561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0BC801E-661C-AFB1-ED26-A2E2017767B7}"/>
              </a:ext>
            </a:extLst>
          </p:cNvPr>
          <p:cNvSpPr/>
          <p:nvPr/>
        </p:nvSpPr>
        <p:spPr>
          <a:xfrm>
            <a:off x="2798324" y="5350213"/>
            <a:ext cx="3608962" cy="252919"/>
          </a:xfrm>
          <a:prstGeom prst="rect">
            <a:avLst/>
          </a:prstGeom>
          <a:noFill/>
          <a:ln w="158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21156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6565356" y="1185795"/>
            <a:ext cx="0" cy="19436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3399010" y="2883212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093" y="2295401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04" y="3737298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308" y="2544659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75189" y="3811178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0642"/>
              </p:ext>
            </p:extLst>
          </p:nvPr>
        </p:nvGraphicFramePr>
        <p:xfrm>
          <a:off x="3990142" y="6393306"/>
          <a:ext cx="7305605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7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9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73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841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3333.3333.3333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360709" y="6134522"/>
            <a:ext cx="6655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7051" y="4212465"/>
            <a:ext cx="1572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192.168.1.10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3333.3333.3333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058180" y="5067623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037213"/>
              </p:ext>
            </p:extLst>
          </p:nvPr>
        </p:nvGraphicFramePr>
        <p:xfrm>
          <a:off x="5363562" y="5443197"/>
          <a:ext cx="581552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FFFF.FFFF.FFFF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3333.3333.3333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3333.3333.3333 /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0000.0000.0000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오른쪽 화살표 37"/>
          <p:cNvSpPr/>
          <p:nvPr/>
        </p:nvSpPr>
        <p:spPr>
          <a:xfrm rot="10800000">
            <a:off x="4962644" y="5554336"/>
            <a:ext cx="365843" cy="24314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5959240" y="2655608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04653" y="3615680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380" y="716415"/>
            <a:ext cx="1094561" cy="8805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55941" y="648399"/>
            <a:ext cx="1785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192.168.1.30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3333.3333.3333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  <a:p>
            <a:endParaRPr lang="en-US" altLang="ko-KR" dirty="0"/>
          </a:p>
        </p:txBody>
      </p:sp>
      <p:sp>
        <p:nvSpPr>
          <p:cNvPr id="48" name="TextBox 47"/>
          <p:cNvSpPr txBox="1"/>
          <p:nvPr/>
        </p:nvSpPr>
        <p:spPr>
          <a:xfrm>
            <a:off x="5573026" y="5154276"/>
            <a:ext cx="5125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Protocol                ARP Header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79090" y="5420025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487709" y="1492726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242783" y="2820290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06266" y="63933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0BFF8C-92AA-BD44-B53E-63996FF3EFC6}"/>
              </a:ext>
            </a:extLst>
          </p:cNvPr>
          <p:cNvSpPr/>
          <p:nvPr/>
        </p:nvSpPr>
        <p:spPr>
          <a:xfrm>
            <a:off x="1480996" y="1511351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192.168.1.10   1111.1111.1111</a:t>
            </a:r>
            <a:endParaRPr lang="ko-KR" alt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0CDE6-4FB0-627E-7108-C2ACAD6E3B48}"/>
              </a:ext>
            </a:extLst>
          </p:cNvPr>
          <p:cNvSpPr txBox="1"/>
          <p:nvPr/>
        </p:nvSpPr>
        <p:spPr>
          <a:xfrm>
            <a:off x="1453934" y="1234148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9FFF52-21C5-6877-58CA-8EC3BDD27F72}"/>
              </a:ext>
            </a:extLst>
          </p:cNvPr>
          <p:cNvSpPr/>
          <p:nvPr/>
        </p:nvSpPr>
        <p:spPr>
          <a:xfrm>
            <a:off x="8362992" y="2938392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192.168.1.20   2222.2222.2222</a:t>
            </a:r>
            <a:endParaRPr lang="ko-KR" alt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0D471-EB19-6E24-C8EE-085E6A8F5A08}"/>
              </a:ext>
            </a:extLst>
          </p:cNvPr>
          <p:cNvSpPr txBox="1"/>
          <p:nvPr/>
        </p:nvSpPr>
        <p:spPr>
          <a:xfrm>
            <a:off x="9913167" y="2655608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E06AA-5A03-D55B-457C-A7C0146133E2}"/>
              </a:ext>
            </a:extLst>
          </p:cNvPr>
          <p:cNvSpPr txBox="1"/>
          <p:nvPr/>
        </p:nvSpPr>
        <p:spPr>
          <a:xfrm>
            <a:off x="868777" y="304769"/>
            <a:ext cx="389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</a:t>
            </a:r>
            <a:r>
              <a:rPr lang="en-US" altLang="ko-K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gARP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(gratuitous</a:t>
            </a:r>
            <a:r>
              <a:rPr lang="ko-KR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ARP)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594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6565356" y="1185795"/>
            <a:ext cx="0" cy="19436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3399010" y="2883212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6093" y="2295401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7104" y="3737298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00308" y="2544659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75189" y="3811178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817331"/>
              </p:ext>
            </p:extLst>
          </p:nvPr>
        </p:nvGraphicFramePr>
        <p:xfrm>
          <a:off x="3881336" y="6393306"/>
          <a:ext cx="7414410" cy="2743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5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70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6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33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092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3333.3333.3333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50030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ko-KR" alt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/www.test.com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4360709" y="6134522"/>
            <a:ext cx="66559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Port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</a:t>
            </a:r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전송데이타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47051" y="4212465"/>
            <a:ext cx="1572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192.168.1.10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3333.3333.3333</a:t>
            </a:r>
            <a:endParaRPr lang="ko-KR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058180" y="5067623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086331"/>
              </p:ext>
            </p:extLst>
          </p:nvPr>
        </p:nvGraphicFramePr>
        <p:xfrm>
          <a:off x="5363562" y="5443197"/>
          <a:ext cx="581552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3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FFFF.FFFF.FFFF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3333.3333.3333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3333.3333.3333 /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0000.0000.0000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192.168.1.10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오른쪽 화살표 37"/>
          <p:cNvSpPr/>
          <p:nvPr/>
        </p:nvSpPr>
        <p:spPr>
          <a:xfrm rot="10800000">
            <a:off x="4962644" y="5554336"/>
            <a:ext cx="365843" cy="24314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5959240" y="2655608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04653" y="3615680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1380" y="716415"/>
            <a:ext cx="1094561" cy="8805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255941" y="648399"/>
            <a:ext cx="1785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192.168.1.30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3333.3333.3333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  <a:p>
            <a:endParaRPr lang="en-US" altLang="ko-KR" dirty="0"/>
          </a:p>
        </p:txBody>
      </p:sp>
      <p:sp>
        <p:nvSpPr>
          <p:cNvPr id="48" name="TextBox 47"/>
          <p:cNvSpPr txBox="1"/>
          <p:nvPr/>
        </p:nvSpPr>
        <p:spPr>
          <a:xfrm>
            <a:off x="5573026" y="5154276"/>
            <a:ext cx="5125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Protocol                ARP Header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1179090" y="5420025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487709" y="1492726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242783" y="2820290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06266" y="63933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0BFF8C-92AA-BD44-B53E-63996FF3EFC6}"/>
              </a:ext>
            </a:extLst>
          </p:cNvPr>
          <p:cNvSpPr/>
          <p:nvPr/>
        </p:nvSpPr>
        <p:spPr>
          <a:xfrm>
            <a:off x="1480996" y="1511351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ko-KR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192.168.1.10   </a:t>
            </a:r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3333.3333.3333</a:t>
            </a:r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0CDE6-4FB0-627E-7108-C2ACAD6E3B48}"/>
              </a:ext>
            </a:extLst>
          </p:cNvPr>
          <p:cNvSpPr txBox="1"/>
          <p:nvPr/>
        </p:nvSpPr>
        <p:spPr>
          <a:xfrm>
            <a:off x="1453934" y="1234148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9FFF52-21C5-6877-58CA-8EC3BDD27F72}"/>
              </a:ext>
            </a:extLst>
          </p:cNvPr>
          <p:cNvSpPr/>
          <p:nvPr/>
        </p:nvSpPr>
        <p:spPr>
          <a:xfrm>
            <a:off x="8362992" y="2938392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192.168.1.20   2222.2222.2222</a:t>
            </a:r>
            <a:endParaRPr lang="ko-KR" alt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0D471-EB19-6E24-C8EE-085E6A8F5A08}"/>
              </a:ext>
            </a:extLst>
          </p:cNvPr>
          <p:cNvSpPr txBox="1"/>
          <p:nvPr/>
        </p:nvSpPr>
        <p:spPr>
          <a:xfrm>
            <a:off x="9913167" y="2655608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988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7BC827C-F567-B9F4-D231-928530BF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F3BA8EB-95EC-B08C-572A-B7ADBA93DEF6}"/>
              </a:ext>
            </a:extLst>
          </p:cNvPr>
          <p:cNvSpPr txBox="1"/>
          <p:nvPr/>
        </p:nvSpPr>
        <p:spPr>
          <a:xfrm>
            <a:off x="1308856" y="709481"/>
            <a:ext cx="253146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arp_gratuitous.pcapng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4AD5C6E-194C-674D-D1B4-7D8B9363E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1325" y="1355836"/>
            <a:ext cx="9618551" cy="453912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AC415C9-427C-7620-BF7F-7DFBFF3D59E7}"/>
              </a:ext>
            </a:extLst>
          </p:cNvPr>
          <p:cNvSpPr/>
          <p:nvPr/>
        </p:nvSpPr>
        <p:spPr>
          <a:xfrm>
            <a:off x="1682885" y="4951378"/>
            <a:ext cx="3268494" cy="243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8A99AE-BC54-801B-6C09-0788061AA321}"/>
              </a:ext>
            </a:extLst>
          </p:cNvPr>
          <p:cNvSpPr/>
          <p:nvPr/>
        </p:nvSpPr>
        <p:spPr>
          <a:xfrm>
            <a:off x="1682885" y="5440815"/>
            <a:ext cx="3268494" cy="24319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753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/>
        </p:nvCxnSpPr>
        <p:spPr>
          <a:xfrm>
            <a:off x="6351347" y="1506808"/>
            <a:ext cx="0" cy="1943638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3185001" y="3204225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2084" y="2616414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3095" y="4058311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86299" y="2865672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061180" y="4132191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33042" y="4533478"/>
            <a:ext cx="157286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</a:t>
            </a:r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255.255.255.0</a:t>
            </a:r>
          </a:p>
          <a:p>
            <a:pPr algn="ctr"/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  <a:p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3844171" y="5388636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152011"/>
              </p:ext>
            </p:extLst>
          </p:nvPr>
        </p:nvGraphicFramePr>
        <p:xfrm>
          <a:off x="5149553" y="5764210"/>
          <a:ext cx="581552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80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0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FFFF.FFFF.FFFF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1111.1111.1111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1111.1111.1111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0.0.0.0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0000.0000.0000 </a:t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US" altLang="ko-KR" sz="12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192.168.1.20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8" name="오른쪽 화살표 37"/>
          <p:cNvSpPr/>
          <p:nvPr/>
        </p:nvSpPr>
        <p:spPr>
          <a:xfrm rot="10800000">
            <a:off x="4748635" y="5875349"/>
            <a:ext cx="365843" cy="243149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5745231" y="2976621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1990644" y="3936693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pic>
        <p:nvPicPr>
          <p:cNvPr id="44" name="그림 4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7371" y="1037428"/>
            <a:ext cx="1094561" cy="880541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41932" y="969412"/>
            <a:ext cx="178548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192.168.1.30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3333.3333.3333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  <a:p>
            <a:endParaRPr lang="en-US" altLang="ko-KR" dirty="0"/>
          </a:p>
        </p:txBody>
      </p:sp>
      <p:sp>
        <p:nvSpPr>
          <p:cNvPr id="48" name="TextBox 47"/>
          <p:cNvSpPr txBox="1"/>
          <p:nvPr/>
        </p:nvSpPr>
        <p:spPr>
          <a:xfrm>
            <a:off x="5359017" y="5475289"/>
            <a:ext cx="51253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수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   </a:t>
            </a:r>
            <a:r>
              <a:rPr lang="ko-KR" altLang="en-US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en-US" altLang="ko-KR" sz="12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          </a:t>
            </a:r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Protocol                ARP Header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965081" y="5741038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7" name="직사각형 26"/>
          <p:cNvSpPr/>
          <p:nvPr/>
        </p:nvSpPr>
        <p:spPr>
          <a:xfrm>
            <a:off x="6273700" y="1813739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3028774" y="3141303"/>
            <a:ext cx="1920095" cy="4367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17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en-US" altLang="ko-KR" sz="17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Request</a:t>
            </a:r>
            <a:endParaRPr lang="ko-KR" altLang="en-US" sz="17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06266" y="63933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70BFF8C-92AA-BD44-B53E-63996FF3EFC6}"/>
              </a:ext>
            </a:extLst>
          </p:cNvPr>
          <p:cNvSpPr/>
          <p:nvPr/>
        </p:nvSpPr>
        <p:spPr>
          <a:xfrm>
            <a:off x="1266987" y="1832364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D0CDE6-4FB0-627E-7108-C2ACAD6E3B48}"/>
              </a:ext>
            </a:extLst>
          </p:cNvPr>
          <p:cNvSpPr txBox="1"/>
          <p:nvPr/>
        </p:nvSpPr>
        <p:spPr>
          <a:xfrm>
            <a:off x="1239925" y="1555161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29FFF52-21C5-6877-58CA-8EC3BDD27F72}"/>
              </a:ext>
            </a:extLst>
          </p:cNvPr>
          <p:cNvSpPr/>
          <p:nvPr/>
        </p:nvSpPr>
        <p:spPr>
          <a:xfrm>
            <a:off x="8148983" y="3259405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500" dirty="0">
                <a:solidFill>
                  <a:schemeClr val="tx1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endParaRPr lang="ko-KR" altLang="en-US" sz="15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D0D471-EB19-6E24-C8EE-085E6A8F5A08}"/>
              </a:ext>
            </a:extLst>
          </p:cNvPr>
          <p:cNvSpPr txBox="1"/>
          <p:nvPr/>
        </p:nvSpPr>
        <p:spPr>
          <a:xfrm>
            <a:off x="9699158" y="2976621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4E06AA-5A03-D55B-457C-A7C0146133E2}"/>
              </a:ext>
            </a:extLst>
          </p:cNvPr>
          <p:cNvSpPr txBox="1"/>
          <p:nvPr/>
        </p:nvSpPr>
        <p:spPr>
          <a:xfrm>
            <a:off x="868777" y="304769"/>
            <a:ext cx="21680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ARP Probe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2624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 23"/>
          <p:cNvSpPr/>
          <p:nvPr/>
        </p:nvSpPr>
        <p:spPr>
          <a:xfrm>
            <a:off x="3480693" y="3507364"/>
            <a:ext cx="5818095" cy="1244274"/>
          </a:xfrm>
          <a:custGeom>
            <a:avLst/>
            <a:gdLst>
              <a:gd name="connsiteX0" fmla="*/ 0 w 5818095"/>
              <a:gd name="connsiteY0" fmla="*/ 0 h 2608729"/>
              <a:gd name="connsiteX1" fmla="*/ 3299012 w 5818095"/>
              <a:gd name="connsiteY1" fmla="*/ 0 h 2608729"/>
              <a:gd name="connsiteX2" fmla="*/ 3307977 w 5818095"/>
              <a:gd name="connsiteY2" fmla="*/ 2608729 h 2608729"/>
              <a:gd name="connsiteX3" fmla="*/ 5818095 w 5818095"/>
              <a:gd name="connsiteY3" fmla="*/ 2608729 h 2608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18095" h="2608729">
                <a:moveTo>
                  <a:pt x="0" y="0"/>
                </a:moveTo>
                <a:lnTo>
                  <a:pt x="3299012" y="0"/>
                </a:lnTo>
                <a:cubicBezTo>
                  <a:pt x="3302000" y="869576"/>
                  <a:pt x="3304989" y="1739153"/>
                  <a:pt x="3307977" y="2608729"/>
                </a:cubicBezTo>
                <a:lnTo>
                  <a:pt x="5818095" y="2608729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7776" y="2919553"/>
            <a:ext cx="1031228" cy="125234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8787" y="4361450"/>
            <a:ext cx="1304496" cy="10494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81991" y="3168811"/>
            <a:ext cx="540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endParaRPr lang="ko-KR" altLang="en-US"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356872" y="4435330"/>
            <a:ext cx="82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  <a:endParaRPr lang="ko-KR" altLang="en-US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7691909" y="3556748"/>
            <a:ext cx="2932755" cy="7149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075478" y="3236865"/>
            <a:ext cx="1550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15753" y="4764546"/>
            <a:ext cx="1483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MAC1111.1111.1111</a:t>
            </a:r>
            <a:endParaRPr lang="ko-KR" altLang="en-US" sz="12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0370"/>
              </p:ext>
            </p:extLst>
          </p:nvPr>
        </p:nvGraphicFramePr>
        <p:xfrm>
          <a:off x="2074914" y="1501804"/>
          <a:ext cx="5762948" cy="457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70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26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15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6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/192.168.1.20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 / 0.0.0.0</a:t>
                      </a:r>
                      <a:endParaRPr lang="en-US" altLang="ko-KR" sz="12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0x0806</a:t>
                      </a:r>
                      <a:endParaRPr lang="ko-KR" altLang="en-US" sz="13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latin typeface="Times New Roman" panose="02020603050405020304" pitchFamily="18" charset="0"/>
                          <a:ea typeface="함초롬바탕" panose="02030504000101010101" pitchFamily="18" charset="-127"/>
                          <a:cs typeface="Times New Roman" panose="02020603050405020304" pitchFamily="18" charset="0"/>
                        </a:rPr>
                        <a:t>2222.2222.2222</a:t>
                      </a:r>
                      <a:endParaRPr lang="ko-KR" altLang="en-US" sz="1200" dirty="0">
                        <a:latin typeface="Times New Roman" panose="02020603050405020304" pitchFamily="18" charset="0"/>
                        <a:ea typeface="함초롬바탕" panose="02030504000101010101" pitchFamily="18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1111.1111.1111</a:t>
                      </a:r>
                      <a:endParaRPr lang="ko-KR" altLang="en-US" sz="12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4" name="그룹 33"/>
          <p:cNvGrpSpPr/>
          <p:nvPr/>
        </p:nvGrpSpPr>
        <p:grpSpPr>
          <a:xfrm>
            <a:off x="6040923" y="3279760"/>
            <a:ext cx="1207816" cy="476937"/>
            <a:chOff x="2610322" y="5109168"/>
            <a:chExt cx="1495425" cy="742950"/>
          </a:xfrm>
        </p:grpSpPr>
        <p:sp>
          <p:nvSpPr>
            <p:cNvPr id="40" name="AutoShape 26"/>
            <p:cNvSpPr>
              <a:spLocks noChangeArrowheads="1"/>
            </p:cNvSpPr>
            <p:nvPr/>
          </p:nvSpPr>
          <p:spPr bwMode="auto">
            <a:xfrm>
              <a:off x="2610322" y="5109168"/>
              <a:ext cx="1495425" cy="742950"/>
            </a:xfrm>
            <a:prstGeom prst="cube">
              <a:avLst>
                <a:gd name="adj" fmla="val 55426"/>
              </a:avLst>
            </a:prstGeom>
            <a:gradFill rotWithShape="1">
              <a:gsLst>
                <a:gs pos="0">
                  <a:srgbClr val="EAEAEA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777777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WordArt 28"/>
            <p:cNvSpPr>
              <a:spLocks noChangeArrowheads="1" noChangeShapeType="1" noTextEdit="1"/>
            </p:cNvSpPr>
            <p:nvPr/>
          </p:nvSpPr>
          <p:spPr bwMode="auto">
            <a:xfrm>
              <a:off x="2630926" y="5575432"/>
              <a:ext cx="1003300" cy="261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algn="ctr">
                <a:buNone/>
              </a:pPr>
              <a:r>
                <a:rPr lang="en-US" altLang="ko-KR" sz="1600" kern="10" dirty="0">
                  <a:ln w="9525">
                    <a:solidFill>
                      <a:srgbClr val="808080"/>
                    </a:solidFill>
                    <a:round/>
                    <a:headEnd/>
                    <a:tailEnd/>
                  </a:ln>
                  <a:solidFill>
                    <a:srgbClr val="808080"/>
                  </a:solidFill>
                  <a:latin typeface="Times New Roman" pitchFamily="18" charset="0"/>
                  <a:cs typeface="Times New Roman" pitchFamily="18" charset="0"/>
                </a:rPr>
                <a:t>SWITCH</a:t>
              </a:r>
              <a:endParaRPr lang="ko-KR" altLang="en-US" sz="1600" kern="10" dirty="0">
                <a:ln w="9525">
                  <a:solidFill>
                    <a:srgbClr val="808080"/>
                  </a:solidFill>
                  <a:round/>
                  <a:headEnd/>
                  <a:tailEnd/>
                </a:ln>
                <a:solidFill>
                  <a:srgbClr val="80808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Freeform 29"/>
            <p:cNvSpPr>
              <a:spLocks/>
            </p:cNvSpPr>
            <p:nvPr/>
          </p:nvSpPr>
          <p:spPr bwMode="auto">
            <a:xfrm>
              <a:off x="2705237" y="5139406"/>
              <a:ext cx="1228725" cy="357188"/>
            </a:xfrm>
            <a:custGeom>
              <a:avLst/>
              <a:gdLst/>
              <a:ahLst/>
              <a:cxnLst>
                <a:cxn ang="0">
                  <a:pos x="599" y="140"/>
                </a:cxn>
                <a:cxn ang="0">
                  <a:pos x="877" y="270"/>
                </a:cxn>
                <a:cxn ang="0">
                  <a:pos x="964" y="177"/>
                </a:cxn>
                <a:cxn ang="0">
                  <a:pos x="1393" y="183"/>
                </a:cxn>
                <a:cxn ang="0">
                  <a:pos x="1527" y="459"/>
                </a:cxn>
                <a:cxn ang="0">
                  <a:pos x="856" y="727"/>
                </a:cxn>
                <a:cxn ang="0">
                  <a:pos x="436" y="721"/>
                </a:cxn>
                <a:cxn ang="0">
                  <a:pos x="537" y="615"/>
                </a:cxn>
                <a:cxn ang="0">
                  <a:pos x="0" y="755"/>
                </a:cxn>
                <a:cxn ang="0">
                  <a:pos x="247" y="906"/>
                </a:cxn>
                <a:cxn ang="0">
                  <a:pos x="337" y="804"/>
                </a:cxn>
                <a:cxn ang="0">
                  <a:pos x="973" y="800"/>
                </a:cxn>
                <a:cxn ang="0">
                  <a:pos x="1570" y="552"/>
                </a:cxn>
                <a:cxn ang="0">
                  <a:pos x="1663" y="810"/>
                </a:cxn>
                <a:cxn ang="0">
                  <a:pos x="2281" y="807"/>
                </a:cxn>
                <a:cxn ang="0">
                  <a:pos x="2188" y="900"/>
                </a:cxn>
                <a:cxn ang="0">
                  <a:pos x="2707" y="772"/>
                </a:cxn>
                <a:cxn ang="0">
                  <a:pos x="2467" y="624"/>
                </a:cxn>
                <a:cxn ang="0">
                  <a:pos x="2359" y="726"/>
                </a:cxn>
                <a:cxn ang="0">
                  <a:pos x="1915" y="720"/>
                </a:cxn>
                <a:cxn ang="0">
                  <a:pos x="1812" y="447"/>
                </a:cxn>
                <a:cxn ang="0">
                  <a:pos x="2438" y="190"/>
                </a:cxn>
                <a:cxn ang="0">
                  <a:pos x="2899" y="192"/>
                </a:cxn>
                <a:cxn ang="0">
                  <a:pos x="2815" y="276"/>
                </a:cxn>
                <a:cxn ang="0">
                  <a:pos x="3328" y="151"/>
                </a:cxn>
                <a:cxn ang="0">
                  <a:pos x="3085" y="0"/>
                </a:cxn>
                <a:cxn ang="0">
                  <a:pos x="2974" y="114"/>
                </a:cxn>
                <a:cxn ang="0">
                  <a:pos x="2338" y="106"/>
                </a:cxn>
                <a:cxn ang="0">
                  <a:pos x="1762" y="352"/>
                </a:cxn>
                <a:cxn ang="0">
                  <a:pos x="1667" y="112"/>
                </a:cxn>
                <a:cxn ang="0">
                  <a:pos x="1046" y="106"/>
                </a:cxn>
                <a:cxn ang="0">
                  <a:pos x="1147" y="11"/>
                </a:cxn>
                <a:cxn ang="0">
                  <a:pos x="599" y="140"/>
                </a:cxn>
              </a:cxnLst>
              <a:rect l="0" t="0" r="r" b="b"/>
              <a:pathLst>
                <a:path w="3328" h="906">
                  <a:moveTo>
                    <a:pt x="599" y="140"/>
                  </a:moveTo>
                  <a:lnTo>
                    <a:pt x="877" y="270"/>
                  </a:lnTo>
                  <a:lnTo>
                    <a:pt x="964" y="177"/>
                  </a:lnTo>
                  <a:lnTo>
                    <a:pt x="1393" y="183"/>
                  </a:lnTo>
                  <a:lnTo>
                    <a:pt x="1527" y="459"/>
                  </a:lnTo>
                  <a:lnTo>
                    <a:pt x="856" y="727"/>
                  </a:lnTo>
                  <a:lnTo>
                    <a:pt x="436" y="721"/>
                  </a:lnTo>
                  <a:lnTo>
                    <a:pt x="537" y="615"/>
                  </a:lnTo>
                  <a:lnTo>
                    <a:pt x="0" y="755"/>
                  </a:lnTo>
                  <a:lnTo>
                    <a:pt x="247" y="906"/>
                  </a:lnTo>
                  <a:lnTo>
                    <a:pt x="337" y="804"/>
                  </a:lnTo>
                  <a:lnTo>
                    <a:pt x="973" y="800"/>
                  </a:lnTo>
                  <a:lnTo>
                    <a:pt x="1570" y="552"/>
                  </a:lnTo>
                  <a:lnTo>
                    <a:pt x="1663" y="810"/>
                  </a:lnTo>
                  <a:lnTo>
                    <a:pt x="2281" y="807"/>
                  </a:lnTo>
                  <a:lnTo>
                    <a:pt x="2188" y="900"/>
                  </a:lnTo>
                  <a:lnTo>
                    <a:pt x="2707" y="772"/>
                  </a:lnTo>
                  <a:lnTo>
                    <a:pt x="2467" y="624"/>
                  </a:lnTo>
                  <a:lnTo>
                    <a:pt x="2359" y="726"/>
                  </a:lnTo>
                  <a:lnTo>
                    <a:pt x="1915" y="720"/>
                  </a:lnTo>
                  <a:lnTo>
                    <a:pt x="1812" y="447"/>
                  </a:lnTo>
                  <a:lnTo>
                    <a:pt x="2438" y="190"/>
                  </a:lnTo>
                  <a:lnTo>
                    <a:pt x="2899" y="192"/>
                  </a:lnTo>
                  <a:lnTo>
                    <a:pt x="2815" y="276"/>
                  </a:lnTo>
                  <a:lnTo>
                    <a:pt x="3328" y="151"/>
                  </a:lnTo>
                  <a:lnTo>
                    <a:pt x="3085" y="0"/>
                  </a:lnTo>
                  <a:lnTo>
                    <a:pt x="2974" y="114"/>
                  </a:lnTo>
                  <a:lnTo>
                    <a:pt x="2338" y="106"/>
                  </a:lnTo>
                  <a:lnTo>
                    <a:pt x="1762" y="352"/>
                  </a:lnTo>
                  <a:lnTo>
                    <a:pt x="1667" y="112"/>
                  </a:lnTo>
                  <a:lnTo>
                    <a:pt x="1046" y="106"/>
                  </a:lnTo>
                  <a:lnTo>
                    <a:pt x="1147" y="11"/>
                  </a:lnTo>
                  <a:lnTo>
                    <a:pt x="599" y="140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rgbClr val="4D4D4D"/>
              </a:solidFill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rgbClr val="4D4D4D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00" kern="0">
                <a:solidFill>
                  <a:sysClr val="windowText" lastClr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2286336" y="4239832"/>
            <a:ext cx="17854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IP          192.168.1.20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SM        255.255.255.0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     2222.2222.2222</a:t>
            </a:r>
          </a:p>
          <a:p>
            <a:r>
              <a:rPr lang="en-US" altLang="ko-KR" sz="12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BMAC  FFFF.FFFF.FFFF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2074914" y="2155186"/>
            <a:ext cx="2837937" cy="7376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07366" y="2523988"/>
            <a:ext cx="1643463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ARP Cache Table  </a:t>
            </a:r>
            <a:endParaRPr lang="ko-KR" alt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195094" y="1203043"/>
            <a:ext cx="56128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Header                    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Protocol             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송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       수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MAC</a:t>
            </a:r>
            <a:r>
              <a:rPr lang="ko-KR" altLang="en-US" sz="14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7" name="오른쪽 화살표 26"/>
          <p:cNvSpPr/>
          <p:nvPr/>
        </p:nvSpPr>
        <p:spPr>
          <a:xfrm>
            <a:off x="7851827" y="1613098"/>
            <a:ext cx="365843" cy="243149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1407975" y="1488450"/>
            <a:ext cx="6703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송신지</a:t>
            </a:r>
            <a:endParaRPr lang="en-US" altLang="ko-KR" sz="1300" b="1" dirty="0">
              <a:solidFill>
                <a:srgbClr val="C0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r>
              <a:rPr lang="ko-KR" altLang="en-US" sz="1300" b="1" dirty="0">
                <a:solidFill>
                  <a:srgbClr val="C0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수신지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8231635" y="1501804"/>
            <a:ext cx="1920095" cy="396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Reply</a:t>
            </a:r>
            <a:endParaRPr lang="ko-KR" altLang="en-US" sz="15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7855764" y="4308977"/>
            <a:ext cx="1920095" cy="3962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en-US" altLang="ko-KR" sz="1500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ARP Reply</a:t>
            </a:r>
            <a:endParaRPr lang="ko-KR" altLang="en-US" sz="1500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2209E9-2AE8-42A0-AB53-D13299BB30A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9578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62100" y="1970088"/>
            <a:ext cx="9144000" cy="744537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altLang="ko-KR" sz="4000" b="1" dirty="0"/>
              <a:t> </a:t>
            </a:r>
            <a:r>
              <a:rPr lang="ko-KR" altLang="en-US" sz="4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단편화</a:t>
            </a:r>
            <a:endParaRPr lang="ko-KR" altLang="en-US" sz="4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93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864" y="795807"/>
            <a:ext cx="9388984" cy="5767828"/>
          </a:xfrm>
          <a:prstGeom prst="rect">
            <a:avLst/>
          </a:prstGeom>
        </p:spPr>
      </p:pic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276224" y="396981"/>
            <a:ext cx="8286750" cy="5532438"/>
          </a:xfrm>
          <a:prstGeom prst="rect">
            <a:avLst/>
          </a:prstGeom>
        </p:spPr>
        <p:txBody>
          <a:bodyPr/>
          <a:lstStyle>
            <a:lvl1pPr marL="268288" indent="-268288" algn="l" rtl="0" eaLnBrk="0" fontAlgn="base" hangingPunct="0">
              <a:spcBef>
                <a:spcPct val="0"/>
              </a:spcBef>
              <a:spcAft>
                <a:spcPct val="25000"/>
              </a:spcAft>
              <a:buSzPct val="120000"/>
              <a:buBlip>
                <a:blip r:embed="rId4"/>
              </a:buBlip>
              <a:defRPr kumimoji="1"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3888" indent="-176213" algn="l" rtl="0" eaLnBrk="0" fontAlgn="base" hangingPunct="0">
              <a:spcBef>
                <a:spcPct val="0"/>
              </a:spcBef>
              <a:spcAft>
                <a:spcPct val="25000"/>
              </a:spcAft>
              <a:buChar char="–"/>
              <a:defRPr kumimoji="1"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1413" indent="-228600" algn="l" rtl="0" eaLnBrk="0" fontAlgn="base" hangingPunct="0">
              <a:spcBef>
                <a:spcPct val="0"/>
              </a:spcBef>
              <a:spcAft>
                <a:spcPct val="25000"/>
              </a:spcAft>
              <a:buChar char="•"/>
              <a:defRPr kumimoji="1"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549400" indent="-228600" algn="l" rtl="0" eaLnBrk="0" fontAlgn="base" hangingPunct="0">
              <a:spcBef>
                <a:spcPct val="0"/>
              </a:spcBef>
              <a:spcAft>
                <a:spcPct val="25000"/>
              </a:spcAft>
              <a:buFont typeface="돋움" pitchFamily="50" charset="-127"/>
              <a:buChar char="▫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1957388" indent="-228600" algn="l" rtl="0" eaLnBrk="0" fontAlgn="base" hangingPunct="0">
              <a:spcBef>
                <a:spcPct val="0"/>
              </a:spcBef>
              <a:spcAft>
                <a:spcPct val="25000"/>
              </a:spcAft>
              <a:buChar char="»"/>
              <a:defRPr kumimoji="1"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4145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8717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3289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786188" indent="-228600" algn="l" rtl="0" fontAlgn="base">
              <a:spcBef>
                <a:spcPct val="0"/>
              </a:spcBef>
              <a:spcAft>
                <a:spcPct val="25000"/>
              </a:spcAft>
              <a:buChar char="»"/>
              <a:defRPr kumimoji="1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47675" lvl="1" indent="0" eaLnBrk="1" hangingPunct="1">
              <a:buNone/>
            </a:pPr>
            <a:r>
              <a:rPr lang="en-US" altLang="ko-KR" sz="32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Payload</a:t>
            </a:r>
            <a:r>
              <a:rPr lang="ko-KR" altLang="en-US" sz="3200" b="0" ker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3200" b="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Encapsulation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727308" y="6319951"/>
            <a:ext cx="20574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88136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3595"/>
          </a:xfrm>
        </p:spPr>
        <p:txBody>
          <a:bodyPr>
            <a:normAutofit/>
          </a:bodyPr>
          <a:lstStyle/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UDP</a:t>
            </a:r>
            <a:endParaRPr lang="ko-KR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93648" y="1188720"/>
            <a:ext cx="10515600" cy="146304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Message-Oriented Transport Protocol </a:t>
            </a: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상위계층에서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payload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데이터를 단편화하지 않음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 전송이 완료되지 전까지는 다른 데이터 흐름에 영향을 받지 않음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838200" y="3301619"/>
            <a:ext cx="10515600" cy="8235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endParaRPr lang="ko-KR" altLang="en-US" sz="3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/>
          <p:cNvSpPr txBox="1">
            <a:spLocks/>
          </p:cNvSpPr>
          <p:nvPr/>
        </p:nvSpPr>
        <p:spPr>
          <a:xfrm>
            <a:off x="993648" y="4243451"/>
            <a:ext cx="10515600" cy="146304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Stream-Oriented Transport Protocol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상위계층에서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payload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데이터를 단편화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단편화를 통해 다수의 데이터들과 네트워크 자원을</a:t>
            </a:r>
          </a:p>
        </p:txBody>
      </p:sp>
    </p:spTree>
    <p:extLst>
      <p:ext uri="{BB962C8B-B14F-4D97-AF65-F5344CB8AC3E}">
        <p14:creationId xmlns:p14="http://schemas.microsoft.com/office/powerpoint/2010/main" val="8269992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16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0747163"/>
              </p:ext>
            </p:extLst>
          </p:nvPr>
        </p:nvGraphicFramePr>
        <p:xfrm>
          <a:off x="7702571" y="2871470"/>
          <a:ext cx="423769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2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244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algn="ctr" latinLnBrk="1"/>
                      <a:r>
                        <a:rPr lang="en-US" altLang="ko-KR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951664"/>
              </p:ext>
            </p:extLst>
          </p:nvPr>
        </p:nvGraphicFramePr>
        <p:xfrm>
          <a:off x="9060942" y="1693926"/>
          <a:ext cx="2868166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81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510663"/>
              </p:ext>
            </p:extLst>
          </p:nvPr>
        </p:nvGraphicFramePr>
        <p:xfrm>
          <a:off x="2794808" y="4197350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3800403"/>
              </p:ext>
            </p:extLst>
          </p:nvPr>
        </p:nvGraphicFramePr>
        <p:xfrm>
          <a:off x="5940344" y="4188206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2055750"/>
              </p:ext>
            </p:extLst>
          </p:nvPr>
        </p:nvGraphicFramePr>
        <p:xfrm>
          <a:off x="9048752" y="4169918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517710"/>
              </p:ext>
            </p:extLst>
          </p:nvPr>
        </p:nvGraphicFramePr>
        <p:xfrm>
          <a:off x="566166" y="5550662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9669515"/>
              </p:ext>
            </p:extLst>
          </p:nvPr>
        </p:nvGraphicFramePr>
        <p:xfrm>
          <a:off x="4516374" y="5541518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5566322"/>
              </p:ext>
            </p:extLst>
          </p:nvPr>
        </p:nvGraphicFramePr>
        <p:xfrm>
          <a:off x="8292846" y="5541518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UDP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93776" y="429768"/>
            <a:ext cx="7152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UDP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</a:p>
        </p:txBody>
      </p:sp>
      <p:sp>
        <p:nvSpPr>
          <p:cNvPr id="3" name="오른쪽 화살표 2"/>
          <p:cNvSpPr/>
          <p:nvPr/>
        </p:nvSpPr>
        <p:spPr>
          <a:xfrm rot="5400000">
            <a:off x="10449877" y="2416494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18"/>
          <p:cNvSpPr/>
          <p:nvPr/>
        </p:nvSpPr>
        <p:spPr>
          <a:xfrm rot="5400000">
            <a:off x="10449876" y="3673795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10449875" y="5027138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93776" y="1303139"/>
            <a:ext cx="48221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Message-oriented transport protocol</a:t>
            </a:r>
          </a:p>
        </p:txBody>
      </p:sp>
    </p:spTree>
    <p:extLst>
      <p:ext uri="{BB962C8B-B14F-4D97-AF65-F5344CB8AC3E}">
        <p14:creationId xmlns:p14="http://schemas.microsoft.com/office/powerpoint/2010/main" val="42595822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17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192093"/>
              </p:ext>
            </p:extLst>
          </p:nvPr>
        </p:nvGraphicFramePr>
        <p:xfrm>
          <a:off x="7576933" y="2637979"/>
          <a:ext cx="4237690" cy="56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637229"/>
              </p:ext>
            </p:extLst>
          </p:nvPr>
        </p:nvGraphicFramePr>
        <p:xfrm>
          <a:off x="9146931" y="1303713"/>
          <a:ext cx="2686257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2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3800856"/>
              </p:ext>
            </p:extLst>
          </p:nvPr>
        </p:nvGraphicFramePr>
        <p:xfrm>
          <a:off x="2761000" y="4052832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150952"/>
              </p:ext>
            </p:extLst>
          </p:nvPr>
        </p:nvGraphicFramePr>
        <p:xfrm>
          <a:off x="5894157" y="4061976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3808091"/>
              </p:ext>
            </p:extLst>
          </p:nvPr>
        </p:nvGraphicFramePr>
        <p:xfrm>
          <a:off x="8984274" y="4052832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93776" y="429768"/>
            <a:ext cx="70831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3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3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9034" y="1306931"/>
            <a:ext cx="3416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5000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byte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3548741"/>
              </p:ext>
            </p:extLst>
          </p:nvPr>
        </p:nvGraphicFramePr>
        <p:xfrm>
          <a:off x="386217" y="5566164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4586243"/>
              </p:ext>
            </p:extLst>
          </p:nvPr>
        </p:nvGraphicFramePr>
        <p:xfrm>
          <a:off x="4327281" y="5575308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455801"/>
              </p:ext>
            </p:extLst>
          </p:nvPr>
        </p:nvGraphicFramePr>
        <p:xfrm>
          <a:off x="8240913" y="5557020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817298" y="3742943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51023" y="3733417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18073" y="3742942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ID=747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오른쪽 화살표 15"/>
          <p:cNvSpPr/>
          <p:nvPr/>
        </p:nvSpPr>
        <p:spPr>
          <a:xfrm rot="5400000">
            <a:off x="10449877" y="2098922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오른쪽 화살표 18"/>
          <p:cNvSpPr/>
          <p:nvPr/>
        </p:nvSpPr>
        <p:spPr>
          <a:xfrm rot="5400000">
            <a:off x="10428743" y="3427191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오른쪽 화살표 19"/>
          <p:cNvSpPr/>
          <p:nvPr/>
        </p:nvSpPr>
        <p:spPr>
          <a:xfrm rot="5400000">
            <a:off x="10449877" y="4949493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1275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268968" y="6338062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18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235933"/>
              </p:ext>
            </p:extLst>
          </p:nvPr>
        </p:nvGraphicFramePr>
        <p:xfrm>
          <a:off x="8459920" y="1212378"/>
          <a:ext cx="3503121" cy="623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35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422788"/>
              </p:ext>
            </p:extLst>
          </p:nvPr>
        </p:nvGraphicFramePr>
        <p:xfrm>
          <a:off x="6676930" y="2598651"/>
          <a:ext cx="258158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6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2000byte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3776" y="429768"/>
            <a:ext cx="70831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3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3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1853960"/>
              </p:ext>
            </p:extLst>
          </p:nvPr>
        </p:nvGraphicFramePr>
        <p:xfrm>
          <a:off x="9429274" y="2589507"/>
          <a:ext cx="258158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6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2000byte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8787223"/>
              </p:ext>
            </p:extLst>
          </p:nvPr>
        </p:nvGraphicFramePr>
        <p:xfrm>
          <a:off x="342988" y="4231948"/>
          <a:ext cx="270458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047054"/>
              </p:ext>
            </p:extLst>
          </p:nvPr>
        </p:nvGraphicFramePr>
        <p:xfrm>
          <a:off x="3449249" y="4213834"/>
          <a:ext cx="2594860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333904"/>
              </p:ext>
            </p:extLst>
          </p:nvPr>
        </p:nvGraphicFramePr>
        <p:xfrm>
          <a:off x="6355901" y="4213834"/>
          <a:ext cx="270458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06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9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314982"/>
              </p:ext>
            </p:extLst>
          </p:nvPr>
        </p:nvGraphicFramePr>
        <p:xfrm>
          <a:off x="9429274" y="4196100"/>
          <a:ext cx="2594860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4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385093"/>
              </p:ext>
            </p:extLst>
          </p:nvPr>
        </p:nvGraphicFramePr>
        <p:xfrm>
          <a:off x="0" y="5713858"/>
          <a:ext cx="2992490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1480474"/>
              </p:ext>
            </p:extLst>
          </p:nvPr>
        </p:nvGraphicFramePr>
        <p:xfrm>
          <a:off x="3106674" y="5732526"/>
          <a:ext cx="287361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1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1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2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4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464987"/>
              </p:ext>
            </p:extLst>
          </p:nvPr>
        </p:nvGraphicFramePr>
        <p:xfrm>
          <a:off x="9170199" y="5717994"/>
          <a:ext cx="2992490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9" name="표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221543"/>
              </p:ext>
            </p:extLst>
          </p:nvPr>
        </p:nvGraphicFramePr>
        <p:xfrm>
          <a:off x="6080688" y="5726938"/>
          <a:ext cx="2992490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0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1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64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1500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byte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737620" y="2287721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63918" y="2267174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8662" y="3943672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ID=332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47622" y="3930858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ID=332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9213" y="3934147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ID=400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77782" y="3914556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652" y="3935462"/>
            <a:ext cx="8672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99306" y="3935462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14386" y="3943671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29466" y="3924080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SN=4600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034" y="1306931"/>
            <a:ext cx="34932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sz="20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2000 byte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  <p:sp>
        <p:nvSpPr>
          <p:cNvPr id="35" name="오른쪽 화살표 34"/>
          <p:cNvSpPr/>
          <p:nvPr/>
        </p:nvSpPr>
        <p:spPr>
          <a:xfrm rot="5400000">
            <a:off x="11187598" y="2093947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오른쪽 화살표 35"/>
          <p:cNvSpPr/>
          <p:nvPr/>
        </p:nvSpPr>
        <p:spPr>
          <a:xfrm rot="5400000">
            <a:off x="11187597" y="3566894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오른쪽 화살표 39"/>
          <p:cNvSpPr/>
          <p:nvPr/>
        </p:nvSpPr>
        <p:spPr>
          <a:xfrm rot="5400000">
            <a:off x="11187597" y="5189492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9860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33968" y="6346825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19</a:t>
            </a:fld>
            <a:endParaRPr lang="ko-KR" altLang="en-US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353758"/>
              </p:ext>
            </p:extLst>
          </p:nvPr>
        </p:nvGraphicFramePr>
        <p:xfrm>
          <a:off x="3626302" y="2789686"/>
          <a:ext cx="2682170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6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207031"/>
              </p:ext>
            </p:extLst>
          </p:nvPr>
        </p:nvGraphicFramePr>
        <p:xfrm>
          <a:off x="8374047" y="1235955"/>
          <a:ext cx="3503121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3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4000byte</a:t>
                      </a:r>
                      <a:endParaRPr lang="ko-KR" alt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519777"/>
              </p:ext>
            </p:extLst>
          </p:nvPr>
        </p:nvGraphicFramePr>
        <p:xfrm>
          <a:off x="6543238" y="2789686"/>
          <a:ext cx="258158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6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93776" y="429768"/>
            <a:ext cx="708315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기반의 애플리케이션 데이터 전송 </a:t>
            </a:r>
            <a:endParaRPr lang="en-US" altLang="ko-KR" sz="3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3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3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7374860"/>
              </p:ext>
            </p:extLst>
          </p:nvPr>
        </p:nvGraphicFramePr>
        <p:xfrm>
          <a:off x="9295582" y="2780542"/>
          <a:ext cx="2581586" cy="57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4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6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6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6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2714740"/>
              </p:ext>
            </p:extLst>
          </p:nvPr>
        </p:nvGraphicFramePr>
        <p:xfrm>
          <a:off x="2400050" y="4236378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4899842"/>
              </p:ext>
            </p:extLst>
          </p:nvPr>
        </p:nvGraphicFramePr>
        <p:xfrm>
          <a:off x="5820920" y="4236378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670090"/>
              </p:ext>
            </p:extLst>
          </p:nvPr>
        </p:nvGraphicFramePr>
        <p:xfrm>
          <a:off x="9024242" y="4216287"/>
          <a:ext cx="2852926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187453"/>
              </p:ext>
            </p:extLst>
          </p:nvPr>
        </p:nvGraphicFramePr>
        <p:xfrm>
          <a:off x="8258639" y="5686425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277376"/>
              </p:ext>
            </p:extLst>
          </p:nvPr>
        </p:nvGraphicFramePr>
        <p:xfrm>
          <a:off x="4509599" y="5723001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048130"/>
              </p:ext>
            </p:extLst>
          </p:nvPr>
        </p:nvGraphicFramePr>
        <p:xfrm>
          <a:off x="705695" y="5741289"/>
          <a:ext cx="3618529" cy="605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3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64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4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55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Ether</a:t>
                      </a:r>
                    </a:p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IP</a:t>
                      </a:r>
                    </a:p>
                    <a:p>
                      <a:pPr algn="ctr" latinLnBrk="1"/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Header</a:t>
                      </a:r>
                      <a:endParaRPr lang="ko-KR" altLang="en-US" sz="15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TCP</a:t>
                      </a: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aseline="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1400byte</a:t>
                      </a:r>
                      <a:endParaRPr lang="ko-KR" altLang="en-US" sz="15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04215" y="2486550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63382" y="2486550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17891" y="246462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SN=3900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388363" y="3902973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ID=232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244045" y="3902973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819268" y="3930405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ID=233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674950" y="3930405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900163" y="3928601"/>
            <a:ext cx="873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SN=3900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82581" y="3928601"/>
            <a:ext cx="7569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ID=234</a:t>
            </a:r>
            <a:endParaRPr lang="ko-KR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오른쪽 화살표 32"/>
          <p:cNvSpPr/>
          <p:nvPr/>
        </p:nvSpPr>
        <p:spPr>
          <a:xfrm rot="5400000">
            <a:off x="11187598" y="2093947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오른쪽 화살표 33"/>
          <p:cNvSpPr/>
          <p:nvPr/>
        </p:nvSpPr>
        <p:spPr>
          <a:xfrm rot="5400000">
            <a:off x="11187598" y="3664009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오른쪽 화살표 34"/>
          <p:cNvSpPr/>
          <p:nvPr/>
        </p:nvSpPr>
        <p:spPr>
          <a:xfrm rot="5400000">
            <a:off x="11208562" y="5050715"/>
            <a:ext cx="366712" cy="328613"/>
          </a:xfrm>
          <a:prstGeom prst="rightArrow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/>
          <p:cNvSpPr txBox="1"/>
          <p:nvPr/>
        </p:nvSpPr>
        <p:spPr>
          <a:xfrm>
            <a:off x="619034" y="1306931"/>
            <a:ext cx="3416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MSS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ko-KR" altLang="en-US" sz="20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1400 byte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 경우 </a:t>
            </a:r>
          </a:p>
        </p:txBody>
      </p:sp>
    </p:spTree>
    <p:extLst>
      <p:ext uri="{BB962C8B-B14F-4D97-AF65-F5344CB8AC3E}">
        <p14:creationId xmlns:p14="http://schemas.microsoft.com/office/powerpoint/2010/main" val="14250054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62100" y="1970088"/>
            <a:ext cx="9144000" cy="744537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</a:t>
            </a:r>
            <a:r>
              <a:rPr lang="en-US" altLang="ko-KR" sz="4000" b="1" dirty="0"/>
              <a:t> </a:t>
            </a:r>
            <a:r>
              <a:rPr lang="ko-KR" altLang="en-US" sz="4000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신뢰성</a:t>
            </a:r>
            <a:r>
              <a:rPr lang="ko-KR" altLang="en-US" sz="4000" b="1"/>
              <a:t> </a:t>
            </a:r>
            <a:endParaRPr lang="ko-KR" altLang="en-US" sz="40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47659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9196131" y="6356350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98306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0" y="427038"/>
            <a:ext cx="7280275" cy="4794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</a:t>
            </a:r>
            <a:r>
              <a:rPr lang="en-US" altLang="ko-KR" sz="2400" dirty="0">
                <a:ea typeface="함초롬바탕" panose="02030504000101010101"/>
              </a:rPr>
              <a:t> </a:t>
            </a:r>
            <a:r>
              <a:rPr lang="ko-KR" altLang="en-US" sz="2400" dirty="0">
                <a:ea typeface="함초롬바탕" panose="02030504000101010101"/>
              </a:rPr>
              <a:t>정상적인 트래픽 전송 과정 </a:t>
            </a:r>
          </a:p>
        </p:txBody>
      </p:sp>
      <p:grpSp>
        <p:nvGrpSpPr>
          <p:cNvPr id="98307" name="그룹 3"/>
          <p:cNvGrpSpPr>
            <a:grpSpLocks/>
          </p:cNvGrpSpPr>
          <p:nvPr/>
        </p:nvGrpSpPr>
        <p:grpSpPr bwMode="auto">
          <a:xfrm flipH="1">
            <a:off x="8990076" y="3036097"/>
            <a:ext cx="868973" cy="942569"/>
            <a:chOff x="1533695" y="4087365"/>
            <a:chExt cx="838200" cy="1008271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59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9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89"/>
              <a:ext cx="43819" cy="7838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4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4"/>
              <a:ext cx="35338" cy="32919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8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8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1"/>
              <a:ext cx="90463" cy="48594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5"/>
              <a:ext cx="107425" cy="70538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7"/>
              <a:ext cx="144176" cy="352694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1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19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7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7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2"/>
              <a:ext cx="4240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7"/>
              <a:ext cx="706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2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2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2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2"/>
              <a:ext cx="2827" cy="75241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1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8"/>
              <a:ext cx="0" cy="2037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2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8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8"/>
              <a:ext cx="113079" cy="23513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8361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4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7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3"/>
              <a:ext cx="436768" cy="51101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8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19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4"/>
              <a:ext cx="361854" cy="402855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9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830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742" y="3113944"/>
            <a:ext cx="1462453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8309" name="TextBox 58"/>
          <p:cNvSpPr txBox="1">
            <a:spLocks noChangeArrowheads="1"/>
          </p:cNvSpPr>
          <p:nvPr/>
        </p:nvSpPr>
        <p:spPr bwMode="auto">
          <a:xfrm>
            <a:off x="2114660" y="4651135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4603275" y="1362370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8311" name="TextBox 60"/>
          <p:cNvSpPr txBox="1">
            <a:spLocks noChangeArrowheads="1"/>
          </p:cNvSpPr>
          <p:nvPr/>
        </p:nvSpPr>
        <p:spPr bwMode="auto">
          <a:xfrm>
            <a:off x="5038494" y="1508909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4603275" y="2137783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4607672" y="2967404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4603276" y="3710356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8" name="오른쪽 화살표 67"/>
          <p:cNvSpPr/>
          <p:nvPr/>
        </p:nvSpPr>
        <p:spPr>
          <a:xfrm>
            <a:off x="4603276" y="4573903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0" name="오른쪽 화살표 69"/>
          <p:cNvSpPr/>
          <p:nvPr/>
        </p:nvSpPr>
        <p:spPr>
          <a:xfrm rot="10800000">
            <a:off x="4603276" y="5287545"/>
            <a:ext cx="3632688" cy="578827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8317" name="TextBox 73"/>
          <p:cNvSpPr txBox="1">
            <a:spLocks noChangeArrowheads="1"/>
          </p:cNvSpPr>
          <p:nvPr/>
        </p:nvSpPr>
        <p:spPr bwMode="auto">
          <a:xfrm>
            <a:off x="9012054" y="4104359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8318" name="TextBox 74"/>
          <p:cNvSpPr txBox="1">
            <a:spLocks noChangeArrowheads="1"/>
          </p:cNvSpPr>
          <p:nvPr/>
        </p:nvSpPr>
        <p:spPr bwMode="auto">
          <a:xfrm>
            <a:off x="5740413" y="2285789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AN=5500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19" name="TextBox 75"/>
          <p:cNvSpPr txBox="1">
            <a:spLocks noChangeArrowheads="1"/>
          </p:cNvSpPr>
          <p:nvPr/>
        </p:nvSpPr>
        <p:spPr bwMode="auto">
          <a:xfrm>
            <a:off x="5750673" y="3867153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AN=6100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0" name="TextBox 76"/>
          <p:cNvSpPr txBox="1">
            <a:spLocks noChangeArrowheads="1"/>
          </p:cNvSpPr>
          <p:nvPr/>
        </p:nvSpPr>
        <p:spPr bwMode="auto">
          <a:xfrm>
            <a:off x="5828338" y="5420896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AN=6400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1" name="TextBox 77"/>
          <p:cNvSpPr txBox="1">
            <a:spLocks noChangeArrowheads="1"/>
          </p:cNvSpPr>
          <p:nvPr/>
        </p:nvSpPr>
        <p:spPr bwMode="auto">
          <a:xfrm>
            <a:off x="4943247" y="3113944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2" name="TextBox 78"/>
          <p:cNvSpPr txBox="1">
            <a:spLocks noChangeArrowheads="1"/>
          </p:cNvSpPr>
          <p:nvPr/>
        </p:nvSpPr>
        <p:spPr bwMode="auto">
          <a:xfrm>
            <a:off x="4952039" y="4721907"/>
            <a:ext cx="234391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6100 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300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8323" name="TextBox 1"/>
          <p:cNvSpPr txBox="1">
            <a:spLocks noChangeArrowheads="1"/>
          </p:cNvSpPr>
          <p:nvPr/>
        </p:nvSpPr>
        <p:spPr bwMode="auto">
          <a:xfrm>
            <a:off x="8757080" y="2599409"/>
            <a:ext cx="1853392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AN=SN+ </a:t>
            </a:r>
            <a:r>
              <a:rPr lang="en-US" altLang="ko-KR" sz="1477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DataLength</a:t>
            </a:r>
            <a:endParaRPr lang="ko-KR" altLang="en-US" sz="147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934491" y="2135068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040877" y="2135068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1147263" y="2135068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71096" y="1859953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2094310" y="1859309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197840" y="186048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33855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72575" y="63369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99330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0" y="407988"/>
            <a:ext cx="7280275" cy="48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dirty="0">
                <a:ea typeface="함초롬바탕" panose="02030504000101010101"/>
              </a:rPr>
              <a:t>비정상적인 트래픽 </a:t>
            </a:r>
            <a:r>
              <a:rPr lang="ko-KR" altLang="en-US" sz="2400">
                <a:ea typeface="함초롬바탕" panose="02030504000101010101"/>
              </a:rPr>
              <a:t>전송 과정</a:t>
            </a:r>
            <a:r>
              <a:rPr lang="en-US" altLang="ko-KR" sz="2400" dirty="0">
                <a:ea typeface="함초롬바탕" panose="02030504000101010101"/>
              </a:rPr>
              <a:t>(1)</a:t>
            </a:r>
            <a:r>
              <a:rPr lang="ko-KR" altLang="en-US" sz="2400">
                <a:ea typeface="함초롬바탕" panose="02030504000101010101"/>
              </a:rPr>
              <a:t> </a:t>
            </a:r>
            <a:endParaRPr lang="ko-KR" altLang="en-US" sz="2400" dirty="0">
              <a:ea typeface="함초롬바탕" panose="02030504000101010101"/>
            </a:endParaRPr>
          </a:p>
        </p:txBody>
      </p:sp>
      <p:grpSp>
        <p:nvGrpSpPr>
          <p:cNvPr id="99331" name="그룹 3"/>
          <p:cNvGrpSpPr>
            <a:grpSpLocks/>
          </p:cNvGrpSpPr>
          <p:nvPr/>
        </p:nvGrpSpPr>
        <p:grpSpPr bwMode="auto">
          <a:xfrm flipH="1">
            <a:off x="9456651" y="2955940"/>
            <a:ext cx="868973" cy="942566"/>
            <a:chOff x="1533695" y="4087365"/>
            <a:chExt cx="838200" cy="1008269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60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8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9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90"/>
              <a:ext cx="43819" cy="78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5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5"/>
              <a:ext cx="35338" cy="32918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6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7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2"/>
              <a:ext cx="90463" cy="4859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4"/>
              <a:ext cx="107425" cy="705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6"/>
              <a:ext cx="144176" cy="352695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2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20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8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3"/>
              <a:ext cx="4240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8"/>
              <a:ext cx="706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3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3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3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3"/>
              <a:ext cx="2827" cy="75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0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9"/>
              <a:ext cx="0" cy="20377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1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9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9"/>
              <a:ext cx="113079" cy="23512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938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6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2"/>
              <a:ext cx="436768" cy="511016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6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9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20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3"/>
              <a:ext cx="361854" cy="402856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8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332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472" y="2806652"/>
            <a:ext cx="1462453" cy="139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Box 58"/>
          <p:cNvSpPr txBox="1">
            <a:spLocks noChangeArrowheads="1"/>
          </p:cNvSpPr>
          <p:nvPr/>
        </p:nvSpPr>
        <p:spPr bwMode="auto">
          <a:xfrm>
            <a:off x="2672390" y="4343843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4980085" y="888531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35" name="TextBox 60"/>
          <p:cNvSpPr txBox="1">
            <a:spLocks noChangeArrowheads="1"/>
          </p:cNvSpPr>
          <p:nvPr/>
        </p:nvSpPr>
        <p:spPr bwMode="auto">
          <a:xfrm>
            <a:off x="5415305" y="1036537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4980085" y="1605105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4971293" y="2321678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4965430" y="3063162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8" name="오른쪽 화살표 67"/>
          <p:cNvSpPr/>
          <p:nvPr/>
        </p:nvSpPr>
        <p:spPr>
          <a:xfrm>
            <a:off x="4978619" y="5168809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0" name="오른쪽 화살표 69"/>
          <p:cNvSpPr/>
          <p:nvPr/>
        </p:nvSpPr>
        <p:spPr>
          <a:xfrm rot="10800000">
            <a:off x="4978619" y="5882451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41" name="TextBox 73"/>
          <p:cNvSpPr txBox="1">
            <a:spLocks noChangeArrowheads="1"/>
          </p:cNvSpPr>
          <p:nvPr/>
        </p:nvSpPr>
        <p:spPr bwMode="auto">
          <a:xfrm>
            <a:off x="9478630" y="4024204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9342" name="TextBox 74"/>
          <p:cNvSpPr txBox="1">
            <a:spLocks noChangeArrowheads="1"/>
          </p:cNvSpPr>
          <p:nvPr/>
        </p:nvSpPr>
        <p:spPr bwMode="auto">
          <a:xfrm>
            <a:off x="6099639" y="1751645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AN=5200 </a:t>
            </a:r>
            <a:r>
              <a:rPr lang="ko-KR" altLang="en-US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3" name="TextBox 75"/>
          <p:cNvSpPr txBox="1">
            <a:spLocks noChangeArrowheads="1"/>
          </p:cNvSpPr>
          <p:nvPr/>
        </p:nvSpPr>
        <p:spPr bwMode="auto">
          <a:xfrm>
            <a:off x="6114292" y="3221425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5400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4" name="TextBox 76"/>
          <p:cNvSpPr txBox="1">
            <a:spLocks noChangeArrowheads="1"/>
          </p:cNvSpPr>
          <p:nvPr/>
        </p:nvSpPr>
        <p:spPr bwMode="auto">
          <a:xfrm>
            <a:off x="6187561" y="6017267"/>
            <a:ext cx="1350050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 # : 6000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5" name="TextBox 77"/>
          <p:cNvSpPr txBox="1">
            <a:spLocks noChangeArrowheads="1"/>
          </p:cNvSpPr>
          <p:nvPr/>
        </p:nvSpPr>
        <p:spPr bwMode="auto">
          <a:xfrm>
            <a:off x="5306867" y="2466753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9346" name="TextBox 78"/>
          <p:cNvSpPr txBox="1">
            <a:spLocks noChangeArrowheads="1"/>
          </p:cNvSpPr>
          <p:nvPr/>
        </p:nvSpPr>
        <p:spPr bwMode="auto">
          <a:xfrm>
            <a:off x="5328848" y="5318279"/>
            <a:ext cx="234391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187414" y="2145677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293800" y="2145677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400186" y="2145677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224019" y="1870562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347233" y="1869918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450762" y="1871094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4965534" y="3783929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9" name="오른쪽 화살표 78"/>
          <p:cNvSpPr/>
          <p:nvPr/>
        </p:nvSpPr>
        <p:spPr>
          <a:xfrm rot="10800000">
            <a:off x="4959671" y="4525413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80" name="TextBox 75"/>
          <p:cNvSpPr txBox="1">
            <a:spLocks noChangeArrowheads="1"/>
          </p:cNvSpPr>
          <p:nvPr/>
        </p:nvSpPr>
        <p:spPr bwMode="auto">
          <a:xfrm>
            <a:off x="6108533" y="4683676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1" name="TextBox 77"/>
          <p:cNvSpPr txBox="1">
            <a:spLocks noChangeArrowheads="1"/>
          </p:cNvSpPr>
          <p:nvPr/>
        </p:nvSpPr>
        <p:spPr bwMode="auto">
          <a:xfrm>
            <a:off x="5301108" y="3929004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350468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669" y="3055412"/>
            <a:ext cx="1127526" cy="1127526"/>
          </a:xfrm>
          <a:prstGeom prst="rect">
            <a:avLst/>
          </a:prstGeom>
        </p:spPr>
      </p:pic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72575" y="6336906"/>
            <a:ext cx="2743200" cy="365125"/>
          </a:xfrm>
        </p:spPr>
        <p:txBody>
          <a:bodyPr/>
          <a:lstStyle/>
          <a:p>
            <a:fld id="{7B2209E9-2AE8-42A0-AB53-D13299BB30AF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99330" name="제목 1"/>
          <p:cNvSpPr>
            <a:spLocks noGrp="1"/>
          </p:cNvSpPr>
          <p:nvPr>
            <p:ph type="title" idx="4294967295"/>
          </p:nvPr>
        </p:nvSpPr>
        <p:spPr bwMode="auto">
          <a:xfrm>
            <a:off x="0" y="407988"/>
            <a:ext cx="7280275" cy="4810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2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 dirty="0">
                <a:ea typeface="함초롬바탕" panose="02030504000101010101"/>
              </a:rPr>
              <a:t>비정상적인 트래픽 </a:t>
            </a:r>
            <a:r>
              <a:rPr lang="ko-KR" altLang="en-US" sz="2400">
                <a:ea typeface="함초롬바탕" panose="02030504000101010101"/>
              </a:rPr>
              <a:t>전송 과정</a:t>
            </a:r>
            <a:r>
              <a:rPr lang="en-US" altLang="ko-KR" sz="2400" dirty="0">
                <a:ea typeface="함초롬바탕" panose="02030504000101010101"/>
              </a:rPr>
              <a:t>(2)</a:t>
            </a:r>
            <a:r>
              <a:rPr lang="ko-KR" altLang="en-US" sz="2400">
                <a:ea typeface="함초롬바탕" panose="02030504000101010101"/>
              </a:rPr>
              <a:t> </a:t>
            </a:r>
            <a:endParaRPr lang="ko-KR" altLang="en-US" sz="2400" dirty="0">
              <a:ea typeface="함초롬바탕" panose="02030504000101010101"/>
            </a:endParaRPr>
          </a:p>
        </p:txBody>
      </p:sp>
      <p:grpSp>
        <p:nvGrpSpPr>
          <p:cNvPr id="99331" name="그룹 3"/>
          <p:cNvGrpSpPr>
            <a:grpSpLocks/>
          </p:cNvGrpSpPr>
          <p:nvPr/>
        </p:nvGrpSpPr>
        <p:grpSpPr bwMode="auto">
          <a:xfrm flipH="1">
            <a:off x="9479511" y="3253714"/>
            <a:ext cx="868973" cy="942566"/>
            <a:chOff x="1533695" y="4087365"/>
            <a:chExt cx="838200" cy="1008269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420" y="4753566"/>
              <a:ext cx="74915" cy="53296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4787" y="4802160"/>
              <a:ext cx="137108" cy="81512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133" y="4830375"/>
              <a:ext cx="134281" cy="57998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3057" y="4797457"/>
              <a:ext cx="31097" cy="39189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7508" y="4795890"/>
              <a:ext cx="43819" cy="78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297" y="4792755"/>
              <a:ext cx="18376" cy="940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9027" y="4799025"/>
              <a:ext cx="35338" cy="32918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72486" y="4767326"/>
              <a:ext cx="178189" cy="328308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786619" y="4752436"/>
              <a:ext cx="178189" cy="328308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5322" bIns="25322" anchor="ctr">
              <a:spAutoFit/>
            </a:bodyPr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9431" y="4828807"/>
              <a:ext cx="343478" cy="84647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5654" y="4850753"/>
              <a:ext cx="356200" cy="112862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220" y="4915022"/>
              <a:ext cx="90463" cy="4859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200" y="4925994"/>
              <a:ext cx="107425" cy="70539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4706"/>
              <a:ext cx="144176" cy="352695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522" y="4465140"/>
              <a:ext cx="619109" cy="288426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2217" y="4661082"/>
              <a:ext cx="477760" cy="213184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592" y="4789620"/>
              <a:ext cx="144176" cy="59566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325" y="4797457"/>
              <a:ext cx="16962" cy="2037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657" y="4706540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349" y="4708108"/>
              <a:ext cx="1414" cy="8151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5379" y="4704973"/>
              <a:ext cx="4240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6687" y="4703405"/>
              <a:ext cx="2827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168" y="4701838"/>
              <a:ext cx="7067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476" y="4698703"/>
              <a:ext cx="7067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84" y="4698703"/>
              <a:ext cx="1413" cy="76809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678" y="4692433"/>
              <a:ext cx="1414" cy="7837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159" y="4692433"/>
              <a:ext cx="2827" cy="75242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467" y="4690865"/>
              <a:ext cx="1414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0822" y="4731620"/>
              <a:ext cx="1413" cy="7681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587" y="4737891"/>
              <a:ext cx="79156" cy="62701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895" y="4773944"/>
              <a:ext cx="0" cy="1881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0675" y="4758269"/>
              <a:ext cx="0" cy="20377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608" y="4767674"/>
              <a:ext cx="0" cy="15675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376" y="4781781"/>
              <a:ext cx="0" cy="1254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270" y="4783349"/>
              <a:ext cx="25443" cy="627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22" y="4751999"/>
              <a:ext cx="100357" cy="37621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141" y="4758269"/>
              <a:ext cx="113079" cy="23512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9938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7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39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sz="1662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3525" y="4543517"/>
              <a:ext cx="298246" cy="9248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3525" y="4537246"/>
              <a:ext cx="298246" cy="90917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736" y="4088932"/>
              <a:ext cx="436768" cy="511016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3103" y="4502761"/>
              <a:ext cx="357613" cy="9718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014" y="4146931"/>
              <a:ext cx="15549" cy="453016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19" y="4510599"/>
              <a:ext cx="12722" cy="28216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590" y="4516869"/>
              <a:ext cx="11308" cy="23512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608" y="4538814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8165" y="4543517"/>
              <a:ext cx="12721" cy="1724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895" y="4548220"/>
              <a:ext cx="14135" cy="156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4727" y="4139093"/>
              <a:ext cx="361854" cy="402856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014" y="4087365"/>
              <a:ext cx="448077" cy="64268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sz="1662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99332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393" y="3063945"/>
            <a:ext cx="1462453" cy="1390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33" name="TextBox 58"/>
          <p:cNvSpPr txBox="1">
            <a:spLocks noChangeArrowheads="1"/>
          </p:cNvSpPr>
          <p:nvPr/>
        </p:nvSpPr>
        <p:spPr bwMode="auto">
          <a:xfrm>
            <a:off x="2793000" y="4398424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 dirty="0">
                <a:latin typeface="함초롬바탕" panose="02030504000101010101" pitchFamily="18" charset="-127"/>
                <a:ea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4928707" y="1938780"/>
            <a:ext cx="3632689" cy="580292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35" name="TextBox 60"/>
          <p:cNvSpPr txBox="1">
            <a:spLocks noChangeArrowheads="1"/>
          </p:cNvSpPr>
          <p:nvPr/>
        </p:nvSpPr>
        <p:spPr bwMode="auto">
          <a:xfrm>
            <a:off x="5363927" y="2086786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6526475" y="2655354"/>
            <a:ext cx="2034919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4" name="오른쪽 화살표 63"/>
          <p:cNvSpPr/>
          <p:nvPr/>
        </p:nvSpPr>
        <p:spPr>
          <a:xfrm>
            <a:off x="4921432" y="3458551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4915569" y="4200035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9341" name="TextBox 73"/>
          <p:cNvSpPr txBox="1">
            <a:spLocks noChangeArrowheads="1"/>
          </p:cNvSpPr>
          <p:nvPr/>
        </p:nvSpPr>
        <p:spPr bwMode="auto">
          <a:xfrm>
            <a:off x="9501490" y="4321978"/>
            <a:ext cx="11624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ko-KR" altLang="en-US" sz="1477">
                <a:latin typeface="함초롬바탕" panose="02030504000101010101" pitchFamily="18" charset="-127"/>
                <a:ea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99342" name="TextBox 74"/>
          <p:cNvSpPr txBox="1">
            <a:spLocks noChangeArrowheads="1"/>
          </p:cNvSpPr>
          <p:nvPr/>
        </p:nvSpPr>
        <p:spPr bwMode="auto">
          <a:xfrm>
            <a:off x="7101847" y="2799283"/>
            <a:ext cx="103906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AN=5500 </a:t>
            </a:r>
            <a:r>
              <a:rPr lang="ko-KR" altLang="en-US" sz="1477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9343" name="TextBox 75"/>
          <p:cNvSpPr txBox="1">
            <a:spLocks noChangeArrowheads="1"/>
          </p:cNvSpPr>
          <p:nvPr/>
        </p:nvSpPr>
        <p:spPr bwMode="auto">
          <a:xfrm>
            <a:off x="6064431" y="4358298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9345" name="TextBox 77"/>
          <p:cNvSpPr txBox="1">
            <a:spLocks noChangeArrowheads="1"/>
          </p:cNvSpPr>
          <p:nvPr/>
        </p:nvSpPr>
        <p:spPr bwMode="auto">
          <a:xfrm>
            <a:off x="5257006" y="3603626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500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3307335" y="2402970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2413721" y="2402970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600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1520107" y="2402970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3343940" y="212785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467154" y="212721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SN=5500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570683" y="2128387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SN=6100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오른쪽 화살표 77"/>
          <p:cNvSpPr/>
          <p:nvPr/>
        </p:nvSpPr>
        <p:spPr>
          <a:xfrm>
            <a:off x="4928707" y="5015130"/>
            <a:ext cx="3632689" cy="578827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79" name="오른쪽 화살표 78"/>
          <p:cNvSpPr/>
          <p:nvPr/>
        </p:nvSpPr>
        <p:spPr>
          <a:xfrm rot="10800000">
            <a:off x="4922844" y="5756614"/>
            <a:ext cx="3634154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80" name="TextBox 75"/>
          <p:cNvSpPr txBox="1">
            <a:spLocks noChangeArrowheads="1"/>
          </p:cNvSpPr>
          <p:nvPr/>
        </p:nvSpPr>
        <p:spPr bwMode="auto">
          <a:xfrm>
            <a:off x="6071706" y="5914877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6100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1" name="TextBox 77"/>
          <p:cNvSpPr txBox="1">
            <a:spLocks noChangeArrowheads="1"/>
          </p:cNvSpPr>
          <p:nvPr/>
        </p:nvSpPr>
        <p:spPr bwMode="auto">
          <a:xfrm>
            <a:off x="5264281" y="5160205"/>
            <a:ext cx="2295821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5500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600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폭발 1 2"/>
          <p:cNvSpPr/>
          <p:nvPr/>
        </p:nvSpPr>
        <p:spPr>
          <a:xfrm>
            <a:off x="5844024" y="2596894"/>
            <a:ext cx="1011106" cy="75016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1254758" y="1185450"/>
            <a:ext cx="3076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송신측에서 재전송 시도 </a:t>
            </a:r>
          </a:p>
        </p:txBody>
      </p:sp>
    </p:spTree>
    <p:extLst>
      <p:ext uri="{BB962C8B-B14F-4D97-AF65-F5344CB8AC3E}">
        <p14:creationId xmlns:p14="http://schemas.microsoft.com/office/powerpoint/2010/main" val="1471210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359650" y="6373033"/>
            <a:ext cx="2743200" cy="365125"/>
          </a:xfrm>
        </p:spPr>
        <p:txBody>
          <a:bodyPr/>
          <a:lstStyle/>
          <a:p>
            <a:fld id="{55A22EA7-80FE-42C8-BCF2-09639A4FECEC}" type="slidenum">
              <a:rPr lang="ko-KR" altLang="en-US" smtClean="0"/>
              <a:t>24</a:t>
            </a:fld>
            <a:endParaRPr lang="ko-KR" altLang="en-US"/>
          </a:p>
        </p:txBody>
      </p:sp>
      <p:grpSp>
        <p:nvGrpSpPr>
          <p:cNvPr id="4" name="그룹 3"/>
          <p:cNvGrpSpPr/>
          <p:nvPr/>
        </p:nvGrpSpPr>
        <p:grpSpPr>
          <a:xfrm flipH="1">
            <a:off x="9461787" y="3274550"/>
            <a:ext cx="941018" cy="1020399"/>
            <a:chOff x="1533695" y="4087365"/>
            <a:chExt cx="838200" cy="1007923"/>
          </a:xfrm>
        </p:grpSpPr>
        <p:sp>
          <p:nvSpPr>
            <p:cNvPr id="6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2"/>
            <p:cNvSpPr>
              <a:spLocks/>
            </p:cNvSpPr>
            <p:nvPr/>
          </p:nvSpPr>
          <p:spPr bwMode="auto">
            <a:xfrm flipH="1">
              <a:off x="1786661" y="4766953"/>
              <a:ext cx="164547" cy="328335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3"/>
            <p:cNvSpPr>
              <a:spLocks/>
            </p:cNvSpPr>
            <p:nvPr/>
          </p:nvSpPr>
          <p:spPr bwMode="auto">
            <a:xfrm flipH="1">
              <a:off x="1800948" y="4752666"/>
              <a:ext cx="164547" cy="328335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3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6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7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4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5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8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02840" y="3040300"/>
            <a:ext cx="1583716" cy="1506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TextBox 58"/>
          <p:cNvSpPr txBox="1"/>
          <p:nvPr/>
        </p:nvSpPr>
        <p:spPr>
          <a:xfrm>
            <a:off x="2090805" y="4502468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0" name="오른쪽 화살표 59"/>
          <p:cNvSpPr/>
          <p:nvPr/>
        </p:nvSpPr>
        <p:spPr>
          <a:xfrm>
            <a:off x="4310181" y="1188982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오른쪽 화살표 61"/>
          <p:cNvSpPr/>
          <p:nvPr/>
        </p:nvSpPr>
        <p:spPr>
          <a:xfrm rot="10800000">
            <a:off x="4328578" y="1879401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오른쪽 화살표 63"/>
          <p:cNvSpPr/>
          <p:nvPr/>
        </p:nvSpPr>
        <p:spPr>
          <a:xfrm>
            <a:off x="4319839" y="2548109"/>
            <a:ext cx="2772752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오른쪽 화살표 65"/>
          <p:cNvSpPr/>
          <p:nvPr/>
        </p:nvSpPr>
        <p:spPr>
          <a:xfrm rot="10800000">
            <a:off x="4220073" y="5431039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2">
              <a:lumMod val="60000"/>
              <a:lumOff val="40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오른쪽 화살표 67"/>
          <p:cNvSpPr/>
          <p:nvPr/>
        </p:nvSpPr>
        <p:spPr>
          <a:xfrm>
            <a:off x="4300003" y="3285618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9348220" y="4387500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60514" y="2038606"/>
            <a:ext cx="11528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 : 6400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370944" y="2707843"/>
            <a:ext cx="26212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SN : 6400 (</a:t>
            </a:r>
            <a:r>
              <a:rPr lang="en-US" altLang="ko-KR" sz="1600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1000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  <a:p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4787709" y="3446196"/>
            <a:ext cx="24320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SN : 7400  Data Size : 800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2" name="오른쪽 화살표 71"/>
          <p:cNvSpPr/>
          <p:nvPr/>
        </p:nvSpPr>
        <p:spPr>
          <a:xfrm rot="10800000">
            <a:off x="4220073" y="4640748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2">
              <a:lumMod val="60000"/>
              <a:lumOff val="40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오른쪽 화살표 72"/>
          <p:cNvSpPr/>
          <p:nvPr/>
        </p:nvSpPr>
        <p:spPr>
          <a:xfrm rot="10800000">
            <a:off x="4220074" y="3907219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2">
              <a:lumMod val="60000"/>
              <a:lumOff val="40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/>
          <p:cNvSpPr txBox="1"/>
          <p:nvPr/>
        </p:nvSpPr>
        <p:spPr>
          <a:xfrm>
            <a:off x="5055012" y="4086625"/>
            <a:ext cx="2021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Duplicate AN(1) 6400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74602" y="4793438"/>
            <a:ext cx="2021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Duplicate AN(2) 6400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5099589" y="5571565"/>
            <a:ext cx="2021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Duplicate AN(3) 6400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3" name="제목 1"/>
          <p:cNvSpPr txBox="1">
            <a:spLocks/>
          </p:cNvSpPr>
          <p:nvPr/>
        </p:nvSpPr>
        <p:spPr>
          <a:xfrm>
            <a:off x="761777" y="190283"/>
            <a:ext cx="10152349" cy="775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❷ </a:t>
            </a:r>
            <a:r>
              <a:rPr lang="ko-KR" altLang="en-US" sz="2400">
                <a:ea typeface="함초롬바탕" panose="02030504000101010101"/>
              </a:rPr>
              <a:t>비정상적인 트래픽 전송 과정</a:t>
            </a:r>
            <a:r>
              <a:rPr lang="en-US" altLang="ko-KR" sz="2400" dirty="0">
                <a:ea typeface="함초롬바탕" panose="02030504000101010101"/>
              </a:rPr>
              <a:t>(3)</a:t>
            </a:r>
            <a:r>
              <a:rPr lang="ko-KR" altLang="en-US" sz="2400">
                <a:ea typeface="함초롬바탕" panose="02030504000101010101"/>
              </a:rPr>
              <a:t> </a:t>
            </a:r>
            <a:r>
              <a:rPr lang="en-US" altLang="ko-KR" sz="2400" dirty="0">
                <a:ea typeface="함초롬바탕" panose="02030504000101010101"/>
                <a:sym typeface="Wingdings" panose="05000000000000000000" pitchFamily="2" charset="2"/>
              </a:rPr>
              <a:t> 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중복 </a:t>
            </a:r>
            <a:r>
              <a:rPr lang="en-US" altLang="ko-KR" sz="2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</a:t>
            </a:r>
            <a:r>
              <a:rPr lang="ko-KR" altLang="en-US" sz="2400" b="1">
                <a:solidFill>
                  <a:schemeClr val="tx1">
                    <a:lumMod val="85000"/>
                    <a:lumOff val="15000"/>
                  </a:schemeClr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과 빠른 재전송</a:t>
            </a:r>
            <a:endParaRPr lang="ko-KR" altLang="en-US" sz="2400" b="1" dirty="0">
              <a:solidFill>
                <a:schemeClr val="tx1">
                  <a:lumMod val="85000"/>
                  <a:lumOff val="15000"/>
                </a:schemeClr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702570" y="2507396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808956" y="2507396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739175" y="223228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1862389" y="2231637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SN=6400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60"/>
          <p:cNvSpPr txBox="1">
            <a:spLocks noChangeArrowheads="1"/>
          </p:cNvSpPr>
          <p:nvPr/>
        </p:nvSpPr>
        <p:spPr bwMode="auto">
          <a:xfrm>
            <a:off x="5265465" y="1329259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6002" y="2228260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SN=7400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875944" y="2519290"/>
            <a:ext cx="803409" cy="39750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폭발 1 90"/>
          <p:cNvSpPr/>
          <p:nvPr/>
        </p:nvSpPr>
        <p:spPr>
          <a:xfrm>
            <a:off x="7076559" y="2469329"/>
            <a:ext cx="807436" cy="706776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3" name="TextBox 92"/>
          <p:cNvSpPr txBox="1"/>
          <p:nvPr/>
        </p:nvSpPr>
        <p:spPr>
          <a:xfrm>
            <a:off x="10698700" y="237588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8827425" y="2403846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SN=7400</a:t>
            </a:r>
            <a:endParaRPr lang="ko-KR" altLang="en-US" sz="117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9729970" y="2670215"/>
            <a:ext cx="803409" cy="3975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9704273" y="239374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SN=6400</a:t>
            </a:r>
            <a:endParaRPr lang="ko-KR" altLang="en-US" sz="117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직사각형 97"/>
          <p:cNvSpPr/>
          <p:nvPr/>
        </p:nvSpPr>
        <p:spPr>
          <a:xfrm>
            <a:off x="8807395" y="2677357"/>
            <a:ext cx="803409" cy="39750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오른쪽 화살표 98"/>
          <p:cNvSpPr/>
          <p:nvPr/>
        </p:nvSpPr>
        <p:spPr>
          <a:xfrm>
            <a:off x="4319839" y="6059035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60"/>
          <p:cNvSpPr txBox="1">
            <a:spLocks noChangeArrowheads="1"/>
          </p:cNvSpPr>
          <p:nvPr/>
        </p:nvSpPr>
        <p:spPr bwMode="auto">
          <a:xfrm>
            <a:off x="5216421" y="6199561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6400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1000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10719820" y="2677357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916002" y="1103446"/>
            <a:ext cx="3169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예</a:t>
            </a:r>
            <a:r>
              <a:rPr lang="en-US" altLang="ko-KR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b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수신측에서 재전송 요청  </a:t>
            </a:r>
          </a:p>
        </p:txBody>
      </p:sp>
    </p:spTree>
    <p:extLst>
      <p:ext uri="{BB962C8B-B14F-4D97-AF65-F5344CB8AC3E}">
        <p14:creationId xmlns:p14="http://schemas.microsoft.com/office/powerpoint/2010/main" val="9942146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131930" y="6381352"/>
            <a:ext cx="2743200" cy="365125"/>
          </a:xfrm>
        </p:spPr>
        <p:txBody>
          <a:bodyPr/>
          <a:lstStyle/>
          <a:p>
            <a:fld id="{B1F5DBBF-35D1-4D56-BF8F-CD0D3754FCBA}" type="slidenum">
              <a:rPr lang="ko-KR" altLang="en-US" smtClean="0"/>
              <a:pPr/>
              <a:t>25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 flipH="1">
            <a:off x="9398230" y="2989066"/>
            <a:ext cx="941018" cy="1020399"/>
            <a:chOff x="1533695" y="4087365"/>
            <a:chExt cx="838200" cy="1007923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86661" y="4766953"/>
              <a:ext cx="164547" cy="328335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800948" y="4752666"/>
              <a:ext cx="164547" cy="328335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96021" y="2680592"/>
            <a:ext cx="1366509" cy="13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3253040" y="3961565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5329959" y="1384082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6305284" y="2239358"/>
            <a:ext cx="2414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1500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 rot="10800000">
            <a:off x="5267258" y="3728354"/>
            <a:ext cx="2882575" cy="603308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9445063" y="2596592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0541" y="3873801"/>
            <a:ext cx="246034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Window Size = 1000</a:t>
            </a:r>
            <a:endParaRPr lang="ko-KR" altLang="en-US" sz="15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4" name="오른쪽 화살표 73"/>
          <p:cNvSpPr/>
          <p:nvPr/>
        </p:nvSpPr>
        <p:spPr>
          <a:xfrm>
            <a:off x="5337088" y="2103368"/>
            <a:ext cx="2852713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오른쪽 화살표 77"/>
          <p:cNvSpPr/>
          <p:nvPr/>
        </p:nvSpPr>
        <p:spPr>
          <a:xfrm rot="10800000">
            <a:off x="5329959" y="5439994"/>
            <a:ext cx="2800707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5258065" y="734207"/>
            <a:ext cx="2891770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5847645" y="871666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3000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645167" y="566498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❶ </a:t>
            </a:r>
            <a:r>
              <a:rPr lang="ko-KR" altLang="en-US" sz="28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 </a:t>
            </a:r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696348" y="2090036"/>
            <a:ext cx="803409" cy="3975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802734" y="2090036"/>
            <a:ext cx="803409" cy="39750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1909120" y="2090036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732953" y="1814921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856167" y="1814277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SN=6400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959696" y="1815453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979753" y="2091107"/>
            <a:ext cx="803409" cy="39750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1030329" y="1816524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60"/>
          <p:cNvSpPr txBox="1">
            <a:spLocks noChangeArrowheads="1"/>
          </p:cNvSpPr>
          <p:nvPr/>
        </p:nvSpPr>
        <p:spPr bwMode="auto">
          <a:xfrm>
            <a:off x="5362620" y="1543644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2" name="TextBox 60"/>
          <p:cNvSpPr txBox="1">
            <a:spLocks noChangeArrowheads="1"/>
          </p:cNvSpPr>
          <p:nvPr/>
        </p:nvSpPr>
        <p:spPr bwMode="auto">
          <a:xfrm>
            <a:off x="5362620" y="2256316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3" name="오른쪽 화살표 92"/>
          <p:cNvSpPr/>
          <p:nvPr/>
        </p:nvSpPr>
        <p:spPr>
          <a:xfrm rot="10800000">
            <a:off x="5258064" y="2958167"/>
            <a:ext cx="2891770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4" name="TextBox 75"/>
          <p:cNvSpPr txBox="1">
            <a:spLocks noChangeArrowheads="1"/>
          </p:cNvSpPr>
          <p:nvPr/>
        </p:nvSpPr>
        <p:spPr bwMode="auto">
          <a:xfrm>
            <a:off x="6291372" y="3116430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7800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5" name="오른쪽 화살표 94"/>
          <p:cNvSpPr/>
          <p:nvPr/>
        </p:nvSpPr>
        <p:spPr>
          <a:xfrm>
            <a:off x="5337088" y="4566896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TextBox 60"/>
          <p:cNvSpPr txBox="1">
            <a:spLocks noChangeArrowheads="1"/>
          </p:cNvSpPr>
          <p:nvPr/>
        </p:nvSpPr>
        <p:spPr bwMode="auto">
          <a:xfrm>
            <a:off x="5369749" y="4726458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7800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1000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7" name="TextBox 75"/>
          <p:cNvSpPr txBox="1">
            <a:spLocks noChangeArrowheads="1"/>
          </p:cNvSpPr>
          <p:nvPr/>
        </p:nvSpPr>
        <p:spPr bwMode="auto">
          <a:xfrm>
            <a:off x="6307543" y="5576961"/>
            <a:ext cx="94288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AN=8800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12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xfrm>
            <a:off x="9131930" y="6381352"/>
            <a:ext cx="2743200" cy="365125"/>
          </a:xfrm>
        </p:spPr>
        <p:txBody>
          <a:bodyPr/>
          <a:lstStyle/>
          <a:p>
            <a:fld id="{B1F5DBBF-35D1-4D56-BF8F-CD0D3754FCBA}" type="slidenum">
              <a:rPr lang="ko-KR" altLang="en-US" smtClean="0"/>
              <a:pPr/>
              <a:t>26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 flipH="1">
            <a:off x="9335596" y="3213077"/>
            <a:ext cx="941018" cy="1020399"/>
            <a:chOff x="1533695" y="4087365"/>
            <a:chExt cx="838200" cy="1007923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86661" y="4766953"/>
              <a:ext cx="164547" cy="328335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800948" y="4752666"/>
              <a:ext cx="164547" cy="328335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997241" y="2858139"/>
            <a:ext cx="1366509" cy="13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3210270" y="4303657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5378949" y="899627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9420252" y="4334454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5307055" y="249752"/>
            <a:ext cx="2891770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/>
          <p:cNvSpPr txBox="1"/>
          <p:nvPr/>
        </p:nvSpPr>
        <p:spPr>
          <a:xfrm>
            <a:off x="5896635" y="387211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1500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645167" y="566498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 </a:t>
            </a:r>
            <a:r>
              <a:rPr lang="ko-KR" altLang="en-US" sz="28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</a:t>
            </a:r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3829991" y="2278923"/>
            <a:ext cx="803409" cy="3975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2965685" y="2275976"/>
            <a:ext cx="803409" cy="3975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2072071" y="2275976"/>
            <a:ext cx="803409" cy="39750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3866596" y="2003808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SN=3000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3019118" y="2000217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SN=4400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122647" y="2001393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SN=5800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244488" y="2275976"/>
            <a:ext cx="803409" cy="39750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95064" y="2001393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SN=8600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60"/>
          <p:cNvSpPr txBox="1">
            <a:spLocks noChangeArrowheads="1"/>
          </p:cNvSpPr>
          <p:nvPr/>
        </p:nvSpPr>
        <p:spPr bwMode="auto">
          <a:xfrm>
            <a:off x="5411610" y="1059189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3000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93" name="오른쪽 화살표 92"/>
          <p:cNvSpPr/>
          <p:nvPr/>
        </p:nvSpPr>
        <p:spPr>
          <a:xfrm rot="10800000">
            <a:off x="5386078" y="1506671"/>
            <a:ext cx="2891770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94" name="TextBox 75"/>
          <p:cNvSpPr txBox="1">
            <a:spLocks noChangeArrowheads="1"/>
          </p:cNvSpPr>
          <p:nvPr/>
        </p:nvSpPr>
        <p:spPr bwMode="auto">
          <a:xfrm>
            <a:off x="6419386" y="1664934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4400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197247" y="2272599"/>
            <a:ext cx="803409" cy="39750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1247823" y="1998016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SN=7200</a:t>
            </a:r>
            <a:endParaRPr lang="ko-KR" altLang="en-US" sz="117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오른쪽 화살표 98"/>
          <p:cNvSpPr/>
          <p:nvPr/>
        </p:nvSpPr>
        <p:spPr>
          <a:xfrm rot="10800000">
            <a:off x="5278694" y="2190372"/>
            <a:ext cx="2993622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TextBox 99"/>
          <p:cNvSpPr txBox="1"/>
          <p:nvPr/>
        </p:nvSpPr>
        <p:spPr>
          <a:xfrm>
            <a:off x="5868274" y="2327832"/>
            <a:ext cx="21345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= 5000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1" name="오른쪽 화살표 100"/>
          <p:cNvSpPr/>
          <p:nvPr/>
        </p:nvSpPr>
        <p:spPr>
          <a:xfrm>
            <a:off x="5388824" y="2775105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60"/>
          <p:cNvSpPr txBox="1">
            <a:spLocks noChangeArrowheads="1"/>
          </p:cNvSpPr>
          <p:nvPr/>
        </p:nvSpPr>
        <p:spPr bwMode="auto">
          <a:xfrm>
            <a:off x="5421485" y="2934667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4400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3" name="오른쪽 화살표 102"/>
          <p:cNvSpPr/>
          <p:nvPr/>
        </p:nvSpPr>
        <p:spPr>
          <a:xfrm>
            <a:off x="5390160" y="3499203"/>
            <a:ext cx="1804361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60"/>
          <p:cNvSpPr txBox="1">
            <a:spLocks noChangeArrowheads="1"/>
          </p:cNvSpPr>
          <p:nvPr/>
        </p:nvSpPr>
        <p:spPr bwMode="auto">
          <a:xfrm>
            <a:off x="5422821" y="3658765"/>
            <a:ext cx="912429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5800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5" name="오른쪽 화살표 104"/>
          <p:cNvSpPr/>
          <p:nvPr/>
        </p:nvSpPr>
        <p:spPr>
          <a:xfrm>
            <a:off x="5361486" y="4227004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TextBox 60"/>
          <p:cNvSpPr txBox="1">
            <a:spLocks noChangeArrowheads="1"/>
          </p:cNvSpPr>
          <p:nvPr/>
        </p:nvSpPr>
        <p:spPr bwMode="auto">
          <a:xfrm>
            <a:off x="5394147" y="4386566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7200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7" name="폭발 1 106"/>
          <p:cNvSpPr/>
          <p:nvPr/>
        </p:nvSpPr>
        <p:spPr>
          <a:xfrm>
            <a:off x="6906400" y="3480187"/>
            <a:ext cx="1011106" cy="75016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직사각형 109"/>
          <p:cNvSpPr/>
          <p:nvPr/>
        </p:nvSpPr>
        <p:spPr>
          <a:xfrm>
            <a:off x="10515130" y="2674583"/>
            <a:ext cx="803409" cy="39750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10568563" y="2398824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SN=4400</a:t>
            </a:r>
            <a:endParaRPr lang="ko-KR" altLang="en-US" sz="117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8646712" y="2701368"/>
            <a:ext cx="803409" cy="397508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1400</a:t>
            </a:r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8697288" y="2426785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SN=7200</a:t>
            </a:r>
            <a:endParaRPr lang="ko-KR" altLang="en-US" sz="117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9599833" y="2693154"/>
            <a:ext cx="803409" cy="39750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오른쪽 화살표 114"/>
          <p:cNvSpPr/>
          <p:nvPr/>
        </p:nvSpPr>
        <p:spPr>
          <a:xfrm rot="10800000">
            <a:off x="5278694" y="4862423"/>
            <a:ext cx="2891770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116" name="TextBox 75"/>
          <p:cNvSpPr txBox="1">
            <a:spLocks noChangeArrowheads="1"/>
          </p:cNvSpPr>
          <p:nvPr/>
        </p:nvSpPr>
        <p:spPr bwMode="auto">
          <a:xfrm>
            <a:off x="6312002" y="5020686"/>
            <a:ext cx="1223412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b="1" dirty="0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NAK= 5800 </a:t>
            </a:r>
            <a:r>
              <a:rPr lang="ko-KR" altLang="en-US" sz="1477" b="1">
                <a:solidFill>
                  <a:srgbClr val="FF0000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b="1" dirty="0">
              <a:solidFill>
                <a:srgbClr val="FF0000"/>
              </a:solidFill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7" name="오른쪽 화살표 116"/>
          <p:cNvSpPr/>
          <p:nvPr/>
        </p:nvSpPr>
        <p:spPr>
          <a:xfrm>
            <a:off x="5382096" y="5503006"/>
            <a:ext cx="284788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TextBox 60"/>
          <p:cNvSpPr txBox="1">
            <a:spLocks noChangeArrowheads="1"/>
          </p:cNvSpPr>
          <p:nvPr/>
        </p:nvSpPr>
        <p:spPr bwMode="auto">
          <a:xfrm>
            <a:off x="5414757" y="5662568"/>
            <a:ext cx="2390398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5800 (</a:t>
            </a:r>
            <a:r>
              <a:rPr lang="en-US" altLang="ko-KR" sz="1477" dirty="0">
                <a:solidFill>
                  <a:schemeClr val="accent2"/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Data Size : 1400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9" name="오른쪽 화살표 118"/>
          <p:cNvSpPr/>
          <p:nvPr/>
        </p:nvSpPr>
        <p:spPr>
          <a:xfrm rot="10800000">
            <a:off x="5307055" y="6166185"/>
            <a:ext cx="2891770" cy="580292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886"/>
          </a:p>
        </p:txBody>
      </p:sp>
      <p:sp>
        <p:nvSpPr>
          <p:cNvPr id="120" name="TextBox 75"/>
          <p:cNvSpPr txBox="1">
            <a:spLocks noChangeArrowheads="1"/>
          </p:cNvSpPr>
          <p:nvPr/>
        </p:nvSpPr>
        <p:spPr bwMode="auto">
          <a:xfrm>
            <a:off x="6340363" y="6324448"/>
            <a:ext cx="1087157" cy="31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1pPr>
            <a:lvl2pPr marL="742950" indent="-28575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2pPr>
            <a:lvl3pPr marL="11430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3pPr>
            <a:lvl4pPr marL="16002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4pPr>
            <a:lvl5pPr marL="2057400" indent="-228600"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2"/>
                </a:solidFill>
                <a:latin typeface="다음_SemiBold" pitchFamily="2" charset="-127"/>
                <a:ea typeface="다음_SemiBold" pitchFamily="2" charset="-127"/>
              </a:defRPr>
            </a:lvl9pPr>
          </a:lstStyle>
          <a:p>
            <a:r>
              <a:rPr lang="en-US" altLang="ko-KR" sz="1477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AN= </a:t>
            </a:r>
            <a:r>
              <a:rPr lang="en-US" altLang="ko-KR" sz="1477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7200 </a:t>
            </a:r>
            <a:r>
              <a:rPr lang="ko-KR" altLang="en-US" sz="1477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477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9574136" y="2416684"/>
            <a:ext cx="763351" cy="2723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7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SN=????</a:t>
            </a:r>
            <a:endParaRPr lang="ko-KR" altLang="en-US" sz="117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193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5DBBF-35D1-4D56-BF8F-CD0D3754FCBA}" type="slidenum">
              <a:rPr lang="ko-KR" altLang="en-US" smtClean="0"/>
              <a:pPr/>
              <a:t>27</a:t>
            </a:fld>
            <a:endParaRPr lang="en-US" altLang="ko-KR"/>
          </a:p>
        </p:txBody>
      </p:sp>
      <p:grpSp>
        <p:nvGrpSpPr>
          <p:cNvPr id="6" name="그룹 5"/>
          <p:cNvGrpSpPr/>
          <p:nvPr/>
        </p:nvGrpSpPr>
        <p:grpSpPr>
          <a:xfrm flipH="1">
            <a:off x="8454469" y="2447488"/>
            <a:ext cx="941018" cy="1020399"/>
            <a:chOff x="1533695" y="4087365"/>
            <a:chExt cx="838200" cy="1007923"/>
          </a:xfrm>
        </p:grpSpPr>
        <p:sp>
          <p:nvSpPr>
            <p:cNvPr id="7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Freeform 182"/>
            <p:cNvSpPr>
              <a:spLocks/>
            </p:cNvSpPr>
            <p:nvPr/>
          </p:nvSpPr>
          <p:spPr bwMode="auto">
            <a:xfrm flipH="1">
              <a:off x="1786661" y="4766953"/>
              <a:ext cx="164547" cy="328335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Freeform 183"/>
            <p:cNvSpPr>
              <a:spLocks/>
            </p:cNvSpPr>
            <p:nvPr/>
          </p:nvSpPr>
          <p:spPr bwMode="auto">
            <a:xfrm flipH="1">
              <a:off x="1800948" y="4752666"/>
              <a:ext cx="164547" cy="328335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6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7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8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9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0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1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2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3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4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5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6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7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8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39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0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1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2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3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grpSp>
          <p:nvGrpSpPr>
            <p:cNvPr id="44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7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8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ko-KR" altLang="en-US" kern="0">
                  <a:solidFill>
                    <a:sysClr val="windowText" lastClr="000000"/>
                  </a:solidFill>
                </a:endParaRPr>
              </a:p>
            </p:txBody>
          </p:sp>
        </p:grpSp>
        <p:sp>
          <p:nvSpPr>
            <p:cNvPr id="45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6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7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8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49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0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1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2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3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4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5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56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ko-KR" altLang="en-US" kern="0"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980890" y="2167816"/>
            <a:ext cx="1366509" cy="1300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" name="TextBox 59"/>
          <p:cNvSpPr txBox="1"/>
          <p:nvPr/>
        </p:nvSpPr>
        <p:spPr>
          <a:xfrm>
            <a:off x="2173548" y="3528141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4584412" y="1293197"/>
            <a:ext cx="2913590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071207" y="1468352"/>
            <a:ext cx="2414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1400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65" name="오른쪽 화살표 64"/>
          <p:cNvSpPr/>
          <p:nvPr/>
        </p:nvSpPr>
        <p:spPr>
          <a:xfrm rot="10800000">
            <a:off x="4437885" y="2719136"/>
            <a:ext cx="3081561" cy="593573"/>
          </a:xfrm>
          <a:prstGeom prst="rightArrow">
            <a:avLst>
              <a:gd name="adj1" fmla="val 50000"/>
              <a:gd name="adj2" fmla="val 86095"/>
            </a:avLst>
          </a:prstGeom>
          <a:solidFill>
            <a:srgbClr val="FF0000"/>
          </a:solidFill>
          <a:ln cap="sq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8465657" y="3494828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96453" y="2846231"/>
            <a:ext cx="3058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Window size : 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4" name="오른쪽 화살표 73"/>
          <p:cNvSpPr/>
          <p:nvPr/>
        </p:nvSpPr>
        <p:spPr>
          <a:xfrm>
            <a:off x="4596453" y="2001237"/>
            <a:ext cx="2922994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/>
          <p:cNvSpPr txBox="1"/>
          <p:nvPr/>
        </p:nvSpPr>
        <p:spPr>
          <a:xfrm>
            <a:off x="5083248" y="2176391"/>
            <a:ext cx="2420366" cy="3477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1000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76" name="오른쪽 화살표 75"/>
          <p:cNvSpPr/>
          <p:nvPr/>
        </p:nvSpPr>
        <p:spPr>
          <a:xfrm>
            <a:off x="4617898" y="3424852"/>
            <a:ext cx="2940619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rgbClr val="FFC000"/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TextBox 76"/>
          <p:cNvSpPr txBox="1"/>
          <p:nvPr/>
        </p:nvSpPr>
        <p:spPr>
          <a:xfrm>
            <a:off x="5104693" y="3600007"/>
            <a:ext cx="2414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Keep Alive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08" name="오른쪽 화살표 107"/>
          <p:cNvSpPr/>
          <p:nvPr/>
        </p:nvSpPr>
        <p:spPr>
          <a:xfrm rot="10800000">
            <a:off x="4448955" y="4141848"/>
            <a:ext cx="3109562" cy="593573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sp>
        <p:nvSpPr>
          <p:cNvPr id="109" name="TextBox 108"/>
          <p:cNvSpPr txBox="1"/>
          <p:nvPr/>
        </p:nvSpPr>
        <p:spPr>
          <a:xfrm>
            <a:off x="4500491" y="4273664"/>
            <a:ext cx="30580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Window size : 1000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0" name="오른쪽 화살표 109"/>
          <p:cNvSpPr/>
          <p:nvPr/>
        </p:nvSpPr>
        <p:spPr>
          <a:xfrm>
            <a:off x="4584412" y="4867239"/>
            <a:ext cx="297410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TextBox 110"/>
          <p:cNvSpPr txBox="1"/>
          <p:nvPr/>
        </p:nvSpPr>
        <p:spPr>
          <a:xfrm>
            <a:off x="5071207" y="5042394"/>
            <a:ext cx="2414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800 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12" name="제목 1">
            <a:extLst>
              <a:ext uri="{FF2B5EF4-FFF2-40B4-BE49-F238E27FC236}">
                <a16:creationId xmlns:a16="http://schemas.microsoft.com/office/drawing/2014/main" id="{34EBFEF3-B7B5-A550-243C-3EB6A3530B51}"/>
              </a:ext>
            </a:extLst>
          </p:cNvPr>
          <p:cNvSpPr txBox="1">
            <a:spLocks/>
          </p:cNvSpPr>
          <p:nvPr/>
        </p:nvSpPr>
        <p:spPr bwMode="auto">
          <a:xfrm>
            <a:off x="646185" y="583563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 </a:t>
            </a:r>
            <a:r>
              <a:rPr lang="ko-KR" altLang="en-US" sz="2800" b="1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트래픽</a:t>
            </a:r>
            <a:r>
              <a:rPr lang="ko-KR" altLang="en-US" sz="2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흐름제어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113" name="오른쪽 화살표 112"/>
          <p:cNvSpPr/>
          <p:nvPr/>
        </p:nvSpPr>
        <p:spPr>
          <a:xfrm>
            <a:off x="4584412" y="5556103"/>
            <a:ext cx="2974105" cy="651161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bg1">
              <a:lumMod val="85000"/>
            </a:schemeClr>
          </a:solidFill>
          <a:ln cap="sq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TextBox 113"/>
          <p:cNvSpPr txBox="1"/>
          <p:nvPr/>
        </p:nvSpPr>
        <p:spPr>
          <a:xfrm>
            <a:off x="5071207" y="5731258"/>
            <a:ext cx="24147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200  </a:t>
            </a:r>
            <a:r>
              <a:rPr lang="ko-KR" altLang="en-US" sz="16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바이트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8408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슬라이드 번호 개체 틀 3">
            <a:extLst>
              <a:ext uri="{FF2B5EF4-FFF2-40B4-BE49-F238E27FC236}">
                <a16:creationId xmlns:a16="http://schemas.microsoft.com/office/drawing/2014/main" id="{4AFD190A-8402-2155-E813-153093F06E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1A4A49CE-7EAA-4569-99C9-D25138EEE4AB}" type="slidenum">
              <a:rPr lang="ko-KR" altLang="en-US" sz="1400">
                <a:latin typeface="굴림" panose="020B0600000101010101" pitchFamily="50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en-US" altLang="ko-KR" sz="1400">
              <a:latin typeface="굴림" panose="020B0600000101010101" pitchFamily="50" charset="-127"/>
            </a:endParaRPr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0F014329-5171-B8BA-41A6-1F0D559402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TCP Header</a:t>
            </a:r>
          </a:p>
        </p:txBody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8463405C-1F34-A2EA-B24D-76D910AA16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Option (</a:t>
            </a:r>
            <a:r>
              <a:rPr lang="ko-KR" altLang="en-US">
                <a:ea typeface="굴림" panose="020B0600000101010101" pitchFamily="50" charset="-127"/>
              </a:rPr>
              <a:t>옵션</a:t>
            </a:r>
            <a:r>
              <a:rPr lang="en-US" altLang="ko-KR">
                <a:ea typeface="굴림" panose="020B0600000101010101" pitchFamily="50" charset="-127"/>
              </a:rPr>
              <a:t>)</a:t>
            </a:r>
          </a:p>
          <a:p>
            <a:pPr lvl="1"/>
            <a:r>
              <a:rPr lang="ko-KR" altLang="en-US">
                <a:ea typeface="굴림" panose="020B0600000101010101" pitchFamily="50" charset="-127"/>
              </a:rPr>
              <a:t>최대 </a:t>
            </a:r>
            <a:r>
              <a:rPr lang="en-US" altLang="ko-KR">
                <a:ea typeface="굴림" panose="020B0600000101010101" pitchFamily="50" charset="-127"/>
              </a:rPr>
              <a:t>40</a:t>
            </a:r>
            <a:r>
              <a:rPr lang="ko-KR" altLang="en-US">
                <a:ea typeface="굴림" panose="020B0600000101010101" pitchFamily="50" charset="-127"/>
              </a:rPr>
              <a:t>바이트의 길이까지 사용 가능</a:t>
            </a:r>
          </a:p>
          <a:p>
            <a:pPr lvl="1"/>
            <a:r>
              <a:rPr lang="en-US" altLang="ko-KR">
                <a:ea typeface="굴림" panose="020B0600000101010101" pitchFamily="50" charset="-127"/>
              </a:rPr>
              <a:t>1 </a:t>
            </a:r>
            <a:r>
              <a:rPr lang="ko-KR" altLang="en-US">
                <a:ea typeface="굴림" panose="020B0600000101010101" pitchFamily="50" charset="-127"/>
              </a:rPr>
              <a:t>바이트 옵션과 다중 바이트 옵션이 제공</a:t>
            </a:r>
          </a:p>
          <a:p>
            <a:pPr lvl="1"/>
            <a:r>
              <a:rPr lang="en-US" altLang="ko-KR">
                <a:ea typeface="굴림" panose="020B0600000101010101" pitchFamily="50" charset="-127"/>
              </a:rPr>
              <a:t>1 </a:t>
            </a:r>
            <a:r>
              <a:rPr lang="ko-KR" altLang="en-US">
                <a:ea typeface="굴림" panose="020B0600000101010101" pitchFamily="50" charset="-127"/>
              </a:rPr>
              <a:t>바이트 옵션</a:t>
            </a:r>
          </a:p>
          <a:p>
            <a:pPr lvl="2" indent="0"/>
            <a:r>
              <a:rPr lang="ko-KR" altLang="en-US">
                <a:ea typeface="굴림" panose="020B0600000101010101" pitchFamily="50" charset="-127"/>
              </a:rPr>
              <a:t> </a:t>
            </a:r>
            <a:r>
              <a:rPr lang="en-US" altLang="ko-KR">
                <a:ea typeface="굴림" panose="020B0600000101010101" pitchFamily="50" charset="-127"/>
              </a:rPr>
              <a:t>End of option – </a:t>
            </a:r>
            <a:r>
              <a:rPr lang="ko-KR" altLang="en-US">
                <a:ea typeface="굴림" panose="020B0600000101010101" pitchFamily="50" charset="-127"/>
              </a:rPr>
              <a:t>옵션을 사용하지 않음을 명시</a:t>
            </a:r>
          </a:p>
          <a:p>
            <a:pPr lvl="2" indent="0"/>
            <a:r>
              <a:rPr lang="ko-KR" altLang="en-US">
                <a:ea typeface="굴림" panose="020B0600000101010101" pitchFamily="50" charset="-127"/>
              </a:rPr>
              <a:t> </a:t>
            </a:r>
            <a:r>
              <a:rPr lang="en-US" altLang="ko-KR">
                <a:ea typeface="굴림" panose="020B0600000101010101" pitchFamily="50" charset="-127"/>
              </a:rPr>
              <a:t>no operation – </a:t>
            </a:r>
            <a:r>
              <a:rPr lang="ko-KR" altLang="en-US">
                <a:ea typeface="굴림" panose="020B0600000101010101" pitchFamily="50" charset="-127"/>
              </a:rPr>
              <a:t>패킷을 작동시키지 않음</a:t>
            </a:r>
          </a:p>
          <a:p>
            <a:pPr lvl="1"/>
            <a:r>
              <a:rPr lang="ko-KR" altLang="en-US">
                <a:ea typeface="굴림" panose="020B0600000101010101" pitchFamily="50" charset="-127"/>
              </a:rPr>
              <a:t>다중 바이트 옵션</a:t>
            </a:r>
          </a:p>
          <a:p>
            <a:pPr lvl="2" indent="0"/>
            <a:r>
              <a:rPr lang="ko-KR" altLang="en-US">
                <a:ea typeface="굴림" panose="020B0600000101010101" pitchFamily="50" charset="-127"/>
              </a:rPr>
              <a:t> 최대 세그먼트 크기 </a:t>
            </a:r>
            <a:r>
              <a:rPr lang="en-US" altLang="ko-KR">
                <a:ea typeface="굴림" panose="020B0600000101010101" pitchFamily="50" charset="-127"/>
              </a:rPr>
              <a:t>(MSS) – Maximum Segment Size</a:t>
            </a:r>
            <a:r>
              <a:rPr lang="ko-KR" altLang="en-US">
                <a:ea typeface="굴림" panose="020B0600000101010101" pitchFamily="50" charset="-127"/>
              </a:rPr>
              <a:t>로 목적지에서 수신할 수 있는 최대 세그먼트 크기를 의미</a:t>
            </a:r>
          </a:p>
          <a:p>
            <a:pPr lvl="2" indent="0"/>
            <a:r>
              <a:rPr lang="ko-KR" altLang="en-US">
                <a:ea typeface="굴림" panose="020B0600000101010101" pitchFamily="50" charset="-127"/>
              </a:rPr>
              <a:t> 윈도우 확장 인자 </a:t>
            </a:r>
            <a:r>
              <a:rPr lang="en-US" altLang="ko-KR">
                <a:ea typeface="굴림" panose="020B0600000101010101" pitchFamily="50" charset="-127"/>
              </a:rPr>
              <a:t>(Windows Scale Factor) – </a:t>
            </a:r>
            <a:r>
              <a:rPr lang="ko-KR" altLang="en-US">
                <a:ea typeface="굴림" panose="020B0600000101010101" pitchFamily="50" charset="-127"/>
              </a:rPr>
              <a:t>기본 헤더의 윈도우 크기</a:t>
            </a:r>
            <a:r>
              <a:rPr lang="en-US" altLang="ko-KR">
                <a:ea typeface="굴림" panose="020B0600000101010101" pitchFamily="50" charset="-127"/>
              </a:rPr>
              <a:t>(65535)</a:t>
            </a:r>
            <a:r>
              <a:rPr lang="ko-KR" altLang="en-US">
                <a:ea typeface="굴림" panose="020B0600000101010101" pitchFamily="50" charset="-127"/>
              </a:rPr>
              <a:t>로는 데이터 전송이 비효율적일 경우 사용</a:t>
            </a:r>
          </a:p>
          <a:p>
            <a:pPr lvl="2" indent="0"/>
            <a:r>
              <a:rPr lang="ko-KR" altLang="en-US">
                <a:ea typeface="굴림" panose="020B0600000101010101" pitchFamily="50" charset="-127"/>
              </a:rPr>
              <a:t> 타임 스탬프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슬라이드 번호 개체 틀 3">
            <a:extLst>
              <a:ext uri="{FF2B5EF4-FFF2-40B4-BE49-F238E27FC236}">
                <a16:creationId xmlns:a16="http://schemas.microsoft.com/office/drawing/2014/main" id="{E2537C16-60AB-230A-6990-B58F3AD044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F1AD52C-4683-4073-B60F-8DC5F51DD597}" type="slidenum">
              <a:rPr lang="ko-KR" altLang="en-US" sz="1400">
                <a:latin typeface="굴림" panose="020B0600000101010101" pitchFamily="50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29</a:t>
            </a:fld>
            <a:endParaRPr lang="en-US" altLang="ko-KR" sz="1400">
              <a:latin typeface="굴림" panose="020B0600000101010101" pitchFamily="50" charset="-127"/>
            </a:endParaRPr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026A77F6-8EDC-771E-9DF3-18D0657AF8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5210" y="350112"/>
            <a:ext cx="10919884" cy="841375"/>
          </a:xfrm>
        </p:spPr>
        <p:txBody>
          <a:bodyPr/>
          <a:lstStyle/>
          <a:p>
            <a:r>
              <a:rPr lang="en-US" altLang="ko-KR">
                <a:ea typeface="굴림" panose="020B0600000101010101" pitchFamily="50" charset="-127"/>
              </a:rPr>
              <a:t>TCP Header – option</a:t>
            </a:r>
          </a:p>
        </p:txBody>
      </p:sp>
      <p:sp>
        <p:nvSpPr>
          <p:cNvPr id="179204" name="Rectangle 3">
            <a:extLst>
              <a:ext uri="{FF2B5EF4-FFF2-40B4-BE49-F238E27FC236}">
                <a16:creationId xmlns:a16="http://schemas.microsoft.com/office/drawing/2014/main" id="{CB5788AE-C4B1-4EC4-B3FD-BFD76E23CC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3509" y="1374775"/>
            <a:ext cx="10556036" cy="4287838"/>
          </a:xfrm>
        </p:spPr>
        <p:txBody>
          <a:bodyPr/>
          <a:lstStyle/>
          <a:p>
            <a:pPr marL="84138" indent="-84138">
              <a:buNone/>
            </a:pPr>
            <a:r>
              <a:rPr lang="en-US" altLang="ko-KR" sz="2400" b="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MSS (Maximum Segment Size)</a:t>
            </a:r>
          </a:p>
          <a:p>
            <a:pPr marL="273050" lvl="1" indent="-1539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dirty="0"/>
              <a:t>목적지에서 수신할 수 있는 세그먼트 데이터 부분의 최대 크기</a:t>
            </a:r>
          </a:p>
          <a:p>
            <a:pPr marL="273050" lvl="1" indent="-1539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16</a:t>
            </a:r>
            <a:r>
              <a:rPr lang="ko-KR" altLang="en-US" dirty="0"/>
              <a:t>비트이므로 최대 </a:t>
            </a:r>
            <a:r>
              <a:rPr lang="en-US" altLang="ko-KR" dirty="0"/>
              <a:t>65535</a:t>
            </a:r>
            <a:r>
              <a:rPr lang="ko-KR" altLang="en-US" dirty="0"/>
              <a:t>바이트의 값을 가질 수 있음</a:t>
            </a:r>
          </a:p>
          <a:p>
            <a:pPr marL="273050" lvl="1" indent="-1539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b="1" dirty="0"/>
              <a:t>수신 호스트에 의해 결정되며 하위 계층의 </a:t>
            </a:r>
            <a:r>
              <a:rPr lang="en-US" altLang="ko-KR" b="1" dirty="0"/>
              <a:t>MTU</a:t>
            </a:r>
            <a:r>
              <a:rPr lang="ko-KR" altLang="en-US" b="1" dirty="0"/>
              <a:t>값에 의해 결정</a:t>
            </a:r>
          </a:p>
          <a:p>
            <a:pPr marL="273050" lvl="1" indent="-153988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dirty="0"/>
              <a:t>TCP</a:t>
            </a:r>
            <a:r>
              <a:rPr lang="ko-KR" altLang="en-US" dirty="0"/>
              <a:t>의 연결 성립과정</a:t>
            </a:r>
            <a:r>
              <a:rPr lang="en-US" altLang="ko-KR" dirty="0"/>
              <a:t>, </a:t>
            </a:r>
            <a:r>
              <a:rPr lang="ko-KR" altLang="en-US" dirty="0"/>
              <a:t> </a:t>
            </a:r>
            <a:r>
              <a:rPr lang="en-US" altLang="ko-KR" dirty="0"/>
              <a:t>SYN Flag</a:t>
            </a:r>
            <a:r>
              <a:rPr lang="ko-KR" altLang="en-US" dirty="0"/>
              <a:t>와 함께 사용해 상대 시스템의 </a:t>
            </a:r>
            <a:r>
              <a:rPr lang="en-US" altLang="ko-KR" dirty="0"/>
              <a:t>MSS</a:t>
            </a:r>
            <a:r>
              <a:rPr lang="ko-KR" altLang="en-US" dirty="0"/>
              <a:t>를 파악된 이후의 세그먼트에서는 사용 안 됨 </a:t>
            </a:r>
          </a:p>
        </p:txBody>
      </p:sp>
      <p:pic>
        <p:nvPicPr>
          <p:cNvPr id="179205" name="Picture 4">
            <a:extLst>
              <a:ext uri="{FF2B5EF4-FFF2-40B4-BE49-F238E27FC236}">
                <a16:creationId xmlns:a16="http://schemas.microsoft.com/office/drawing/2014/main" id="{55375388-C4A3-1E6E-3287-B55FCEF87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4807676"/>
            <a:ext cx="5505450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슬라이드 번호 개체 틀 3">
            <a:extLst>
              <a:ext uri="{FF2B5EF4-FFF2-40B4-BE49-F238E27FC236}">
                <a16:creationId xmlns:a16="http://schemas.microsoft.com/office/drawing/2014/main" id="{A86F940F-8A10-229F-BB66-A3A4814E9D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CF295F96-3900-4007-98F4-6659A2B26E80}" type="slidenum">
              <a:rPr lang="ko-KR" altLang="en-US" sz="1400">
                <a:latin typeface="굴림" panose="020B0600000101010101" pitchFamily="50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30</a:t>
            </a:fld>
            <a:endParaRPr lang="en-US" altLang="ko-KR" sz="1400">
              <a:latin typeface="굴림" panose="020B0600000101010101" pitchFamily="50" charset="-127"/>
            </a:endParaRPr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70945CEF-5C5B-B79C-048F-02583096C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0236" y="560319"/>
            <a:ext cx="10919884" cy="841375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TCP Header – option</a:t>
            </a:r>
          </a:p>
        </p:txBody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7EF5F74A-924E-7766-E593-FA8847AF5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9631" y="1460583"/>
            <a:ext cx="10461445" cy="4287838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ko-KR" altLang="en-US" sz="2000" dirty="0"/>
              <a:t>윈도우 확장 인자 </a:t>
            </a:r>
            <a:r>
              <a:rPr lang="en-US" altLang="ko-KR" sz="2000" dirty="0"/>
              <a:t>(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Scale Factor</a:t>
            </a:r>
            <a:r>
              <a:rPr lang="en-US" altLang="ko-KR" sz="2000" dirty="0"/>
              <a:t>)</a:t>
            </a:r>
          </a:p>
          <a:p>
            <a:pPr marL="452438" lvl="1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2byte</a:t>
            </a:r>
            <a:r>
              <a:rPr lang="ko-KR" altLang="en-US" sz="1800" dirty="0"/>
              <a:t>로 고정된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 size</a:t>
            </a:r>
            <a:r>
              <a:rPr lang="ko-KR" altLang="en-US" sz="1800" dirty="0"/>
              <a:t>의 제약을 극복하기 위해 사용하는 </a:t>
            </a:r>
            <a:r>
              <a:rPr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option</a:t>
            </a:r>
          </a:p>
          <a:p>
            <a:pPr marL="452438" lvl="1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ko-KR" altLang="en-US" sz="1800" dirty="0"/>
              <a:t>윈도우 확장 인자 바이트는 </a:t>
            </a:r>
            <a:r>
              <a:rPr lang="en-US" altLang="ko-KR" sz="1800" dirty="0"/>
              <a:t>1</a:t>
            </a:r>
            <a:r>
              <a:rPr lang="ko-KR" altLang="en-US" sz="1800" dirty="0"/>
              <a:t>바이트</a:t>
            </a:r>
            <a:endParaRPr lang="en-US" altLang="ko-KR" sz="1800" dirty="0"/>
          </a:p>
          <a:p>
            <a:pPr marL="452438" lvl="1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altLang="ko-KR" sz="1800" dirty="0"/>
              <a:t>Window size(16</a:t>
            </a:r>
            <a:r>
              <a:rPr lang="ko-KR" altLang="en-US" sz="1800" dirty="0"/>
              <a:t>비트</a:t>
            </a:r>
            <a:r>
              <a:rPr lang="en-US" altLang="ko-KR" sz="1800" dirty="0"/>
              <a:t>), </a:t>
            </a:r>
            <a:r>
              <a:rPr lang="ko-KR" altLang="en-US" sz="1800" dirty="0"/>
              <a:t>즉 </a:t>
            </a:r>
            <a:r>
              <a:rPr lang="en-US" altLang="ko-KR" sz="1800" dirty="0"/>
              <a:t>65535</a:t>
            </a:r>
            <a:r>
              <a:rPr lang="ko-KR" altLang="en-US" sz="1800" dirty="0"/>
              <a:t>바이트이므로 이는 현실적으로 충분하지 않을 경우가 있음</a:t>
            </a:r>
            <a:endParaRPr lang="en-US" altLang="ko-KR" dirty="0"/>
          </a:p>
          <a:p>
            <a:pPr marL="155575" lvl="1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altLang="ko-KR" dirty="0"/>
              <a:t>    (</a:t>
            </a:r>
            <a:r>
              <a:rPr lang="ko-KR" altLang="en-US" sz="1800" dirty="0"/>
              <a:t>예</a:t>
            </a:r>
            <a:r>
              <a:rPr lang="en-US" altLang="ko-KR" sz="1800" dirty="0"/>
              <a:t>) </a:t>
            </a:r>
            <a:r>
              <a:rPr lang="ko-KR" altLang="en-US" sz="1800" dirty="0"/>
              <a:t> 광섬유를 이용한 전송을 할 경우 </a:t>
            </a:r>
            <a:r>
              <a:rPr lang="en-US" altLang="ko-KR" sz="1800" dirty="0"/>
              <a:t>65535</a:t>
            </a:r>
            <a:r>
              <a:rPr lang="ko-KR" altLang="en-US" sz="1800" dirty="0"/>
              <a:t>바이트 이상으로 전송할 필요가 있음</a:t>
            </a:r>
            <a:endParaRPr lang="en-US" altLang="ko-KR" sz="1800" dirty="0"/>
          </a:p>
          <a:p>
            <a:pPr marL="155575" lvl="1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altLang="ko-KR" dirty="0"/>
              <a:t>          </a:t>
            </a:r>
            <a:r>
              <a:rPr lang="en-US" altLang="ko-KR" sz="1800" dirty="0"/>
              <a:t> </a:t>
            </a:r>
            <a:r>
              <a:rPr lang="ko-KR" altLang="en-US" sz="1800" dirty="0"/>
              <a:t>이 때 이 옵션을 사용해 윈도우 크기를 확장할 필요가 있을 경우 사용</a:t>
            </a:r>
          </a:p>
          <a:p>
            <a:pPr marL="393700" lvl="1" indent="0">
              <a:lnSpc>
                <a:spcPct val="100000"/>
              </a:lnSpc>
              <a:buNone/>
            </a:pPr>
            <a:endParaRPr lang="ko-KR" altLang="en-US" sz="1800" dirty="0"/>
          </a:p>
          <a:p>
            <a:pPr marL="393700" lvl="1" indent="0">
              <a:lnSpc>
                <a:spcPct val="100000"/>
              </a:lnSpc>
              <a:buNone/>
            </a:pPr>
            <a:endParaRPr lang="ko-KR" altLang="en-US" sz="1800" dirty="0"/>
          </a:p>
          <a:p>
            <a:pPr marL="393700" lvl="1" indent="0">
              <a:lnSpc>
                <a:spcPct val="100000"/>
              </a:lnSpc>
              <a:buNone/>
            </a:pPr>
            <a:endParaRPr lang="en-US" altLang="ko-KR" sz="1800" dirty="0"/>
          </a:p>
          <a:p>
            <a:pPr marL="393700" lvl="1" indent="0">
              <a:lnSpc>
                <a:spcPct val="100000"/>
              </a:lnSpc>
              <a:buNone/>
            </a:pPr>
            <a:endParaRPr lang="ko-KR" altLang="en-US" sz="1800" dirty="0"/>
          </a:p>
          <a:p>
            <a:pPr marL="393700" lvl="1" indent="0">
              <a:lnSpc>
                <a:spcPct val="100000"/>
              </a:lnSpc>
              <a:buNone/>
            </a:pPr>
            <a:r>
              <a:rPr lang="ko-KR" altLang="en-US" sz="1800" dirty="0"/>
              <a:t>        예</a:t>
            </a:r>
            <a:r>
              <a:rPr lang="en-US" altLang="ko-KR" sz="1800" dirty="0"/>
              <a:t>)</a:t>
            </a:r>
            <a:r>
              <a:rPr lang="ko-KR" altLang="en-US" sz="1800" dirty="0"/>
              <a:t> 항목 값이 </a:t>
            </a:r>
            <a:r>
              <a:rPr lang="en-US" altLang="ko-KR" sz="1800" dirty="0"/>
              <a:t>2</a:t>
            </a:r>
            <a:r>
              <a:rPr lang="ko-KR" altLang="en-US" sz="1800" dirty="0"/>
              <a:t>이면 공식에 의해 </a:t>
            </a:r>
            <a:r>
              <a:rPr lang="en-US" altLang="ko-KR" sz="1800" dirty="0"/>
              <a:t>65535 * 2^2</a:t>
            </a:r>
            <a:r>
              <a:rPr lang="ko-KR" altLang="en-US" sz="1800" dirty="0"/>
              <a:t>의 데이터를 전송할 수 있음</a:t>
            </a:r>
          </a:p>
          <a:p>
            <a:pPr marL="393700" lvl="1" indent="0">
              <a:lnSpc>
                <a:spcPct val="100000"/>
              </a:lnSpc>
              <a:buNone/>
            </a:pPr>
            <a:endParaRPr lang="ko-KR" altLang="en-US" sz="1800" dirty="0"/>
          </a:p>
        </p:txBody>
      </p:sp>
      <p:pic>
        <p:nvPicPr>
          <p:cNvPr id="180229" name="Picture 5">
            <a:extLst>
              <a:ext uri="{FF2B5EF4-FFF2-40B4-BE49-F238E27FC236}">
                <a16:creationId xmlns:a16="http://schemas.microsoft.com/office/drawing/2014/main" id="{F9D7B63E-49AB-0F1B-4CC4-34D6BA390A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7474" y="4369924"/>
            <a:ext cx="6713537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슬라이드 번호 개체 틀 3">
            <a:extLst>
              <a:ext uri="{FF2B5EF4-FFF2-40B4-BE49-F238E27FC236}">
                <a16:creationId xmlns:a16="http://schemas.microsoft.com/office/drawing/2014/main" id="{606ADFE4-5922-ECD0-1C5F-D18227A580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70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ct val="60000"/>
              </a:spcBef>
              <a:buClr>
                <a:srgbClr val="D60093"/>
              </a:buClr>
              <a:buSzPct val="65000"/>
              <a:buFont typeface="Wingdings" panose="05000000000000000000" pitchFamily="2" charset="2"/>
              <a:buChar char="l"/>
              <a:defRPr sz="20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fld id="{52C07D97-A61A-4220-8174-7800442BC3AF}" type="slidenum">
              <a:rPr lang="ko-KR" altLang="en-US" sz="1400">
                <a:latin typeface="굴림" panose="020B0600000101010101" pitchFamily="50" charset="-127"/>
              </a:rPr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t>31</a:t>
            </a:fld>
            <a:endParaRPr lang="en-US" altLang="ko-KR" sz="1400">
              <a:latin typeface="굴림" panose="020B0600000101010101" pitchFamily="50" charset="-127"/>
            </a:endParaRPr>
          </a:p>
        </p:txBody>
      </p:sp>
      <p:sp>
        <p:nvSpPr>
          <p:cNvPr id="181251" name="Rectangle 2">
            <a:extLst>
              <a:ext uri="{FF2B5EF4-FFF2-40B4-BE49-F238E27FC236}">
                <a16:creationId xmlns:a16="http://schemas.microsoft.com/office/drawing/2014/main" id="{129BD48A-723C-3CCF-4BC9-9550542424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5339" y="457494"/>
            <a:ext cx="10919884" cy="841375"/>
          </a:xfrm>
        </p:spPr>
        <p:txBody>
          <a:bodyPr/>
          <a:lstStyle/>
          <a:p>
            <a:r>
              <a:rPr lang="en-US" altLang="ko-KR" dirty="0">
                <a:ea typeface="굴림" panose="020B0600000101010101" pitchFamily="50" charset="-127"/>
              </a:rPr>
              <a:t>TCP Header – option</a:t>
            </a:r>
          </a:p>
        </p:txBody>
      </p:sp>
      <p:sp>
        <p:nvSpPr>
          <p:cNvPr id="181252" name="Rectangle 3">
            <a:extLst>
              <a:ext uri="{FF2B5EF4-FFF2-40B4-BE49-F238E27FC236}">
                <a16:creationId xmlns:a16="http://schemas.microsoft.com/office/drawing/2014/main" id="{A59691DB-A2C3-81B7-438B-D87990F9CC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99633" y="1442011"/>
            <a:ext cx="9592733" cy="428783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Timestamp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>
                <a:ea typeface="굴림" panose="020B0600000101010101" pitchFamily="50" charset="-127"/>
              </a:rPr>
              <a:t>  </a:t>
            </a:r>
            <a:r>
              <a:rPr lang="en-US" altLang="ko-KR" dirty="0"/>
              <a:t>TCP</a:t>
            </a:r>
            <a:r>
              <a:rPr lang="ko-KR" altLang="en-US" dirty="0"/>
              <a:t>에서는 </a:t>
            </a:r>
            <a:r>
              <a:rPr lang="en-US" altLang="ko-KR" dirty="0"/>
              <a:t>RTT (Round Trip Time)</a:t>
            </a:r>
            <a:r>
              <a:rPr lang="ko-KR" altLang="en-US" dirty="0"/>
              <a:t>에 기초해 재전송 타임 아웃 길이를 결정</a:t>
            </a:r>
          </a:p>
          <a:p>
            <a:pPr marL="393700" lvl="1" indent="0">
              <a:lnSpc>
                <a:spcPct val="150000"/>
              </a:lnSpc>
              <a:buNone/>
            </a:pPr>
            <a:r>
              <a:rPr lang="ko-KR" altLang="en-US" dirty="0"/>
              <a:t>왕복 시간을 구하기 위해 </a:t>
            </a:r>
            <a:r>
              <a:rPr lang="en-US" altLang="ko-KR" dirty="0"/>
              <a:t>10</a:t>
            </a:r>
            <a:r>
              <a:rPr lang="ko-KR" altLang="en-US" dirty="0"/>
              <a:t>바이트 옵션이 필요</a:t>
            </a:r>
          </a:p>
          <a:p>
            <a:pPr marL="393700" lvl="1" indent="0">
              <a:lnSpc>
                <a:spcPct val="150000"/>
              </a:lnSpc>
              <a:buNone/>
            </a:pPr>
            <a:r>
              <a:rPr lang="ko-KR" altLang="en-US" dirty="0"/>
              <a:t>송신 시스템은 송신 시점을 타임스탬프 값으로 설정한 후 전송하며 수신 시스템은 송신 시점을 타임스탬프 값으로 설정하고 수신한 세그먼트의 타임스탬프 값을 확인 응답용 세그먼트의 에코 응답 필드에 넣으며 확인 응답을 받은 송신 시스템은 현재 시각과 그 값을 비교해 왕복 시간을 구함</a:t>
            </a:r>
          </a:p>
          <a:p>
            <a:pPr marL="393700" lvl="1" indent="0">
              <a:lnSpc>
                <a:spcPct val="150000"/>
              </a:lnSpc>
              <a:buNone/>
            </a:pPr>
            <a:r>
              <a:rPr lang="ko-KR" altLang="en-US" dirty="0"/>
              <a:t>재전송에 대한 시간을 구할 경우 사용</a:t>
            </a:r>
            <a:r>
              <a:rPr lang="en-US" altLang="ko-KR" dirty="0"/>
              <a:t>(</a:t>
            </a:r>
            <a:r>
              <a:rPr lang="ko-KR" altLang="en-US" dirty="0"/>
              <a:t>언제 보내느냐</a:t>
            </a:r>
            <a:r>
              <a:rPr lang="en-US" altLang="ko-KR" dirty="0"/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0D2308-0413-A71A-02FA-373C3A044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4EA80-ED36-4B8E-BCAB-39AE9B476952}" type="slidenum">
              <a:rPr lang="ko-KR" altLang="en-US" smtClean="0"/>
              <a:pPr/>
              <a:t>32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49B476F-3160-E8F1-2AE3-6F4856E9D35C}"/>
              </a:ext>
            </a:extLst>
          </p:cNvPr>
          <p:cNvGraphicFramePr>
            <a:graphicFrameLocks noGrp="1"/>
          </p:cNvGraphicFramePr>
          <p:nvPr/>
        </p:nvGraphicFramePr>
        <p:xfrm>
          <a:off x="1880985" y="5041755"/>
          <a:ext cx="7767144" cy="67021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671146">
                  <a:extLst>
                    <a:ext uri="{9D8B030D-6E8A-4147-A177-3AD203B41FA5}">
                      <a16:colId xmlns:a16="http://schemas.microsoft.com/office/drawing/2014/main" val="3126030947"/>
                    </a:ext>
                  </a:extLst>
                </a:gridCol>
                <a:gridCol w="1660634">
                  <a:extLst>
                    <a:ext uri="{9D8B030D-6E8A-4147-A177-3AD203B41FA5}">
                      <a16:colId xmlns:a16="http://schemas.microsoft.com/office/drawing/2014/main" val="1159476981"/>
                    </a:ext>
                  </a:extLst>
                </a:gridCol>
                <a:gridCol w="2039007">
                  <a:extLst>
                    <a:ext uri="{9D8B030D-6E8A-4147-A177-3AD203B41FA5}">
                      <a16:colId xmlns:a16="http://schemas.microsoft.com/office/drawing/2014/main" val="1715997751"/>
                    </a:ext>
                  </a:extLst>
                </a:gridCol>
                <a:gridCol w="2396357">
                  <a:extLst>
                    <a:ext uri="{9D8B030D-6E8A-4147-A177-3AD203B41FA5}">
                      <a16:colId xmlns:a16="http://schemas.microsoft.com/office/drawing/2014/main" val="4077994523"/>
                    </a:ext>
                  </a:extLst>
                </a:gridCol>
              </a:tblGrid>
              <a:tr h="670217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555555"/>
                          </a:solidFill>
                          <a:effectLst/>
                        </a:rPr>
                        <a:t> kind = 8</a:t>
                      </a:r>
                      <a:endParaRPr lang="en-US" dirty="0">
                        <a:solidFill>
                          <a:srgbClr val="555555"/>
                        </a:solidFill>
                        <a:effectLst/>
                        <a:latin typeface="Spoqa Ha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555555"/>
                          </a:solidFill>
                          <a:effectLst/>
                        </a:rPr>
                        <a:t>length = 10</a:t>
                      </a:r>
                      <a:endParaRPr lang="en-US" dirty="0">
                        <a:solidFill>
                          <a:srgbClr val="555555"/>
                        </a:solidFill>
                        <a:effectLst/>
                        <a:latin typeface="Spoqa Ha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555555"/>
                          </a:solidFill>
                          <a:effectLst/>
                        </a:rPr>
                        <a:t>TS value = 4 Bytes </a:t>
                      </a:r>
                      <a:endParaRPr lang="en-US" dirty="0">
                        <a:solidFill>
                          <a:srgbClr val="555555"/>
                        </a:solidFill>
                        <a:effectLst/>
                        <a:latin typeface="Spoqa Ha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555555"/>
                          </a:solidFill>
                          <a:effectLst/>
                        </a:rPr>
                        <a:t>TS echo reply = 4 Bytes </a:t>
                      </a:r>
                      <a:endParaRPr lang="en-US" dirty="0">
                        <a:solidFill>
                          <a:srgbClr val="555555"/>
                        </a:solidFill>
                        <a:effectLst/>
                        <a:latin typeface="Spoqa Han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5680460"/>
                  </a:ext>
                </a:extLst>
              </a:tr>
            </a:tbl>
          </a:graphicData>
        </a:graphic>
      </p:graphicFrame>
      <p:sp>
        <p:nvSpPr>
          <p:cNvPr id="4" name="Rectangle 1">
            <a:extLst>
              <a:ext uri="{FF2B5EF4-FFF2-40B4-BE49-F238E27FC236}">
                <a16:creationId xmlns:a16="http://schemas.microsoft.com/office/drawing/2014/main" id="{1E0E0F07-56C9-843C-1F22-189863B53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489" y="2115210"/>
            <a:ext cx="9833269" cy="247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Timestamp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옵션을 통해서 보다 정확한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RTT(Round Trip Time)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값을 얻어낼 수 있</a:t>
            </a:r>
            <a:r>
              <a:rPr lang="ko-KR" altLang="en-US" sz="1600" b="0" dirty="0">
                <a:solidFill>
                  <a:srgbClr val="555555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음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송신자는 패킷을 보낼 때 자신의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timestamp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TS value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기록하고 수신자는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TS value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</a:t>
            </a:r>
            <a:endParaRPr kumimoji="0" lang="ko-KR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값을 복사하여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TS echo reply field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복사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오리지날 송신자는 현재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timestamp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TS echo reply field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timestamp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차를 계산하여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RTT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측정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Timestamp option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사용하려면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SYN packet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이 옵션을 포함해야만 함 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1A5CB-1D01-FC0D-FA1A-91E55CD3DFEB}"/>
              </a:ext>
            </a:extLst>
          </p:cNvPr>
          <p:cNvSpPr txBox="1">
            <a:spLocks noChangeArrowheads="1"/>
          </p:cNvSpPr>
          <p:nvPr/>
        </p:nvSpPr>
        <p:spPr>
          <a:xfrm>
            <a:off x="1115066" y="690966"/>
            <a:ext cx="10919884" cy="8413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600" b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5pPr>
            <a:lvl6pPr marL="4572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6pPr>
            <a:lvl7pPr marL="9144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7pPr>
            <a:lvl8pPr marL="13716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8pPr>
            <a:lvl9pPr marL="18288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9pPr>
          </a:lstStyle>
          <a:p>
            <a:r>
              <a:rPr lang="en-US" altLang="ko-KR" kern="0" dirty="0">
                <a:ea typeface="굴림" panose="020B0600000101010101" pitchFamily="50" charset="-127"/>
              </a:rPr>
              <a:t>TCP Header – option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E5BDE-0687-3310-784F-F4FCC1CED301}"/>
              </a:ext>
            </a:extLst>
          </p:cNvPr>
          <p:cNvSpPr txBox="1"/>
          <p:nvPr/>
        </p:nvSpPr>
        <p:spPr>
          <a:xfrm>
            <a:off x="1199866" y="1502318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Times New Roman" panose="02020603050405020304" pitchFamily="18" charset="0"/>
                <a:ea typeface="굴림" panose="020B0600000101010101" pitchFamily="50" charset="-127"/>
                <a:cs typeface="Times New Roman" panose="02020603050405020304" pitchFamily="18" charset="0"/>
              </a:rPr>
              <a:t>Timestamp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50097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40D2308-0413-A71A-02FA-373C3A044F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8E4EA80-ED36-4B8E-BCAB-39AE9B476952}" type="slidenum">
              <a:rPr lang="ko-KR" altLang="en-US" smtClean="0"/>
              <a:pPr/>
              <a:t>33</a:t>
            </a:fld>
            <a:endParaRPr lang="en-US" altLang="ko-KR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0E0F07-56C9-843C-1F22-189863B53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3699" y="1956001"/>
            <a:ext cx="9544601" cy="336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marL="285750" indent="-198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TCP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out-of-sequence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데이터를 받았을 때 정상적으로 받은 마지막 패킷의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sequence number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ack number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로 </a:t>
            </a:r>
            <a:r>
              <a:rPr lang="ko-KR" altLang="en-US" sz="1600" b="0" i="0" dirty="0" err="1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송신측에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보내게 됨 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만약 홀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 </a:t>
            </a:r>
            <a:r>
              <a:rPr lang="ko-KR" altLang="en-US" sz="1600" b="0" i="0" dirty="0" err="1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스트림중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중간부분에 손실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 발생했을 경우 이미 전송된 데이터도 같이 재전송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이는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TCP performance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저하시킴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198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이를 보완하기 위해서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selective acknowledge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기능을 지원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수신자는 수신한 세그먼트에서 홀을 찾아내서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selective ack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보냄 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송신자는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selective ack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수신하면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loss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된 패킷들만 다시 재전송</a:t>
            </a:r>
          </a:p>
          <a:p>
            <a:pPr marL="285750" indent="-198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selective ack TCP option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은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SYN packets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 이 옵션의 지원 여부를 교환</a:t>
            </a:r>
            <a:endParaRPr lang="en-US" altLang="ko-KR" sz="1600" b="0" i="0" dirty="0">
              <a:solidFill>
                <a:srgbClr val="555555"/>
              </a:solidFill>
              <a:effectLst/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198438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만약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peer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이 옵션을 지원하지 않으면 </a:t>
            </a:r>
            <a:r>
              <a:rPr lang="en-US" altLang="ko-KR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SACK-permit option</a:t>
            </a:r>
            <a:r>
              <a:rPr lang="ko-KR" altLang="en-US" sz="1600" b="0" i="0" dirty="0">
                <a:solidFill>
                  <a:srgbClr val="555555"/>
                </a:solidFill>
                <a:effectLst/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을 전송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1A5CB-1D01-FC0D-FA1A-91E55CD3DFEB}"/>
              </a:ext>
            </a:extLst>
          </p:cNvPr>
          <p:cNvSpPr txBox="1">
            <a:spLocks noChangeArrowheads="1"/>
          </p:cNvSpPr>
          <p:nvPr/>
        </p:nvSpPr>
        <p:spPr>
          <a:xfrm>
            <a:off x="1115066" y="690966"/>
            <a:ext cx="10919884" cy="841375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600" b="1">
                <a:solidFill>
                  <a:schemeClr val="tx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  <a:lvl2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anose="05000000000000000000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5pPr>
            <a:lvl6pPr marL="4572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6pPr>
            <a:lvl7pPr marL="9144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7pPr>
            <a:lvl8pPr marL="13716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8pPr>
            <a:lvl9pPr marL="1828800" algn="l" rtl="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>
                <a:srgbClr val="DC0081"/>
              </a:buClr>
              <a:buFont typeface="Wingdings" pitchFamily="2" charset="2"/>
              <a:defRPr sz="3000" b="1">
                <a:solidFill>
                  <a:schemeClr val="tx2"/>
                </a:solidFill>
                <a:latin typeface="Arial Narrow" pitchFamily="34" charset="0"/>
              </a:defRPr>
            </a:lvl9pPr>
          </a:lstStyle>
          <a:p>
            <a:r>
              <a:rPr lang="en-US" altLang="ko-KR" kern="0" dirty="0">
                <a:ea typeface="굴림" panose="020B0600000101010101" pitchFamily="50" charset="-127"/>
              </a:rPr>
              <a:t>TCP Header – option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E5BDE-0687-3310-784F-F4FCC1CED301}"/>
              </a:ext>
            </a:extLst>
          </p:cNvPr>
          <p:cNvSpPr txBox="1"/>
          <p:nvPr/>
        </p:nvSpPr>
        <p:spPr>
          <a:xfrm>
            <a:off x="1221280" y="1384488"/>
            <a:ext cx="60943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b="0" i="0" dirty="0">
                <a:solidFill>
                  <a:srgbClr val="5C5C5C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Selective Acknowledgment Option (SACK)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84AEE14-2D81-9BAF-757D-9F35E306981E}"/>
              </a:ext>
            </a:extLst>
          </p:cNvPr>
          <p:cNvGraphicFramePr>
            <a:graphicFrameLocks noGrp="1"/>
          </p:cNvGraphicFramePr>
          <p:nvPr/>
        </p:nvGraphicFramePr>
        <p:xfrm>
          <a:off x="2863175" y="5564306"/>
          <a:ext cx="6096000" cy="3657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69562717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5646331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rgbClr val="555555"/>
                          </a:solidFill>
                          <a:effectLst/>
                        </a:rPr>
                        <a:t> kind = 4</a:t>
                      </a:r>
                      <a:endParaRPr lang="en-US">
                        <a:solidFill>
                          <a:srgbClr val="555555"/>
                        </a:solidFill>
                        <a:effectLst/>
                        <a:latin typeface="Spoqa Han Sa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555555"/>
                          </a:solidFill>
                          <a:effectLst/>
                        </a:rPr>
                        <a:t>length = 2 </a:t>
                      </a:r>
                      <a:endParaRPr lang="en-US" dirty="0">
                        <a:solidFill>
                          <a:srgbClr val="555555"/>
                        </a:solidFill>
                        <a:effectLst/>
                        <a:latin typeface="Spoqa Han San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396933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D41529AA-4B50-F8E9-CCDD-3583FB80A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759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ko-KR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Narrow" panose="020B0606020202030204" pitchFamily="34" charset="0"/>
                <a:ea typeface="굴림" panose="020B0600000101010101" pitchFamily="50" charset="-127"/>
              </a:rPr>
            </a:br>
            <a:endParaRPr kumimoji="0" lang="en-US" altLang="ko-KR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anose="020B0606020202030204" pitchFamily="34" charset="0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778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A8501C-8E9F-891A-63CB-F383C980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C72CC93-E8F5-2348-935A-7BA09E4F665A}"/>
              </a:ext>
            </a:extLst>
          </p:cNvPr>
          <p:cNvSpPr txBox="1">
            <a:spLocks/>
          </p:cNvSpPr>
          <p:nvPr/>
        </p:nvSpPr>
        <p:spPr>
          <a:xfrm>
            <a:off x="838200" y="1764308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서비스 활성화 여부 점검 </a:t>
            </a:r>
          </a:p>
        </p:txBody>
      </p:sp>
    </p:spTree>
    <p:extLst>
      <p:ext uri="{BB962C8B-B14F-4D97-AF65-F5344CB8AC3E}">
        <p14:creationId xmlns:p14="http://schemas.microsoft.com/office/powerpoint/2010/main" val="8932115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1">
            <a:extLst>
              <a:ext uri="{FF2B5EF4-FFF2-40B4-BE49-F238E27FC236}">
                <a16:creationId xmlns:a16="http://schemas.microsoft.com/office/drawing/2014/main" id="{FE590BB5-83E9-8ACA-820C-BBB01BF65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06641" y="6340214"/>
            <a:ext cx="2057400" cy="273844"/>
          </a:xfrm>
        </p:spPr>
        <p:txBody>
          <a:bodyPr/>
          <a:lstStyle/>
          <a:p>
            <a:fld id="{2434E38A-D9C7-4AEC-90C8-6E4E399073F9}" type="slidenum">
              <a:rPr lang="ko-KR" altLang="en-US" smtClean="0"/>
              <a:pPr/>
              <a:t>35</a:t>
            </a:fld>
            <a:endParaRPr lang="ko-KR" altLang="en-US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0F39654-9415-E19F-EB25-EF0FEE30B7F5}"/>
              </a:ext>
            </a:extLst>
          </p:cNvPr>
          <p:cNvCxnSpPr>
            <a:cxnSpLocks/>
          </p:cNvCxnSpPr>
          <p:nvPr/>
        </p:nvCxnSpPr>
        <p:spPr>
          <a:xfrm>
            <a:off x="1126988" y="1928925"/>
            <a:ext cx="6890" cy="29617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6F91A12-2166-99D7-CCAF-5C732162EC07}"/>
              </a:ext>
            </a:extLst>
          </p:cNvPr>
          <p:cNvCxnSpPr/>
          <p:nvPr/>
        </p:nvCxnSpPr>
        <p:spPr>
          <a:xfrm>
            <a:off x="3313975" y="1975832"/>
            <a:ext cx="11459" cy="28980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2FE436F-5FD4-FE5C-3D83-F28745172680}"/>
              </a:ext>
            </a:extLst>
          </p:cNvPr>
          <p:cNvCxnSpPr>
            <a:cxnSpLocks/>
          </p:cNvCxnSpPr>
          <p:nvPr/>
        </p:nvCxnSpPr>
        <p:spPr>
          <a:xfrm>
            <a:off x="1166629" y="2337135"/>
            <a:ext cx="2144885" cy="534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BDE5775-B1C1-6124-22F0-95F868DEAE1D}"/>
              </a:ext>
            </a:extLst>
          </p:cNvPr>
          <p:cNvSpPr txBox="1"/>
          <p:nvPr/>
        </p:nvSpPr>
        <p:spPr>
          <a:xfrm rot="712479">
            <a:off x="1923674" y="2273781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5150E90-4BC3-E956-0691-EBDC99A3E4C4}"/>
              </a:ext>
            </a:extLst>
          </p:cNvPr>
          <p:cNvCxnSpPr>
            <a:cxnSpLocks/>
          </p:cNvCxnSpPr>
          <p:nvPr/>
        </p:nvCxnSpPr>
        <p:spPr>
          <a:xfrm flipH="1">
            <a:off x="1140908" y="3164401"/>
            <a:ext cx="2190877" cy="634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D99EEDA-DDA2-69FF-60D0-85A1E10A0D9F}"/>
              </a:ext>
            </a:extLst>
          </p:cNvPr>
          <p:cNvSpPr txBox="1"/>
          <p:nvPr/>
        </p:nvSpPr>
        <p:spPr>
          <a:xfrm rot="20350221">
            <a:off x="1748885" y="3121601"/>
            <a:ext cx="11222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ACK/SYN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3D5B7AC-B83E-E38A-9D6E-3A1E01A2496C}"/>
              </a:ext>
            </a:extLst>
          </p:cNvPr>
          <p:cNvCxnSpPr>
            <a:cxnSpLocks/>
          </p:cNvCxnSpPr>
          <p:nvPr/>
        </p:nvCxnSpPr>
        <p:spPr>
          <a:xfrm>
            <a:off x="1127402" y="4121638"/>
            <a:ext cx="2165156" cy="4833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3BEEB91-E0D6-0B5B-B65B-6786ABE19562}"/>
              </a:ext>
            </a:extLst>
          </p:cNvPr>
          <p:cNvSpPr txBox="1"/>
          <p:nvPr/>
        </p:nvSpPr>
        <p:spPr>
          <a:xfrm rot="712479">
            <a:off x="2102051" y="4085082"/>
            <a:ext cx="6158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20ABA1-FFA3-B6F2-5D97-D796FC00BEAF}"/>
              </a:ext>
            </a:extLst>
          </p:cNvPr>
          <p:cNvSpPr txBox="1"/>
          <p:nvPr/>
        </p:nvSpPr>
        <p:spPr>
          <a:xfrm>
            <a:off x="1308474" y="5064205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&lt;&lt;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열린 포트인 경우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&gt;&gt; </a:t>
            </a:r>
            <a:endParaRPr lang="ko-KR" altLang="en-US" sz="1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165BDFE-C2F0-93D9-12FB-4E8608043338}"/>
              </a:ext>
            </a:extLst>
          </p:cNvPr>
          <p:cNvSpPr txBox="1"/>
          <p:nvPr/>
        </p:nvSpPr>
        <p:spPr>
          <a:xfrm>
            <a:off x="8032113" y="5046858"/>
            <a:ext cx="3246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&lt;&lt;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차단정책으로 차단되어 있는 경우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&gt;&gt; </a:t>
            </a:r>
            <a:endParaRPr lang="ko-KR" altLang="en-US" sz="1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165BDFE-C2F0-93D9-12FB-4E8608043338}"/>
              </a:ext>
            </a:extLst>
          </p:cNvPr>
          <p:cNvSpPr txBox="1"/>
          <p:nvPr/>
        </p:nvSpPr>
        <p:spPr>
          <a:xfrm>
            <a:off x="5103674" y="5012654"/>
            <a:ext cx="2023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&lt;&lt;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닫힌 포트인 경우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&gt;&gt; </a:t>
            </a:r>
            <a:endParaRPr lang="ko-KR" altLang="en-US" sz="14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E135A1B6-06CE-8ADC-D858-C86F32EBCFDC}"/>
              </a:ext>
            </a:extLst>
          </p:cNvPr>
          <p:cNvCxnSpPr>
            <a:cxnSpLocks/>
          </p:cNvCxnSpPr>
          <p:nvPr/>
        </p:nvCxnSpPr>
        <p:spPr>
          <a:xfrm>
            <a:off x="4946683" y="2050935"/>
            <a:ext cx="6890" cy="29617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8D4ED4AE-EE08-E30C-C045-A255F90D1BF0}"/>
              </a:ext>
            </a:extLst>
          </p:cNvPr>
          <p:cNvCxnSpPr/>
          <p:nvPr/>
        </p:nvCxnSpPr>
        <p:spPr>
          <a:xfrm>
            <a:off x="7133670" y="2097842"/>
            <a:ext cx="11459" cy="28980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F9BE6A54-A615-C1E5-5FFA-EB7144DC8C31}"/>
              </a:ext>
            </a:extLst>
          </p:cNvPr>
          <p:cNvCxnSpPr>
            <a:cxnSpLocks/>
          </p:cNvCxnSpPr>
          <p:nvPr/>
        </p:nvCxnSpPr>
        <p:spPr>
          <a:xfrm>
            <a:off x="4986324" y="2459145"/>
            <a:ext cx="2144885" cy="534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E1FA253C-587B-0AA1-5A68-CC5F4A1141BA}"/>
              </a:ext>
            </a:extLst>
          </p:cNvPr>
          <p:cNvSpPr txBox="1"/>
          <p:nvPr/>
        </p:nvSpPr>
        <p:spPr>
          <a:xfrm rot="712479">
            <a:off x="5743369" y="2395791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0718661-9C99-3E49-5E36-71C4FA28854B}"/>
              </a:ext>
            </a:extLst>
          </p:cNvPr>
          <p:cNvCxnSpPr>
            <a:cxnSpLocks/>
          </p:cNvCxnSpPr>
          <p:nvPr/>
        </p:nvCxnSpPr>
        <p:spPr>
          <a:xfrm flipH="1">
            <a:off x="4960603" y="3286411"/>
            <a:ext cx="2190877" cy="634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05FDFC02-C820-262E-6FE7-63831C8939F6}"/>
              </a:ext>
            </a:extLst>
          </p:cNvPr>
          <p:cNvSpPr txBox="1"/>
          <p:nvPr/>
        </p:nvSpPr>
        <p:spPr>
          <a:xfrm rot="20568575">
            <a:off x="5605385" y="3243611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RST/ACK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568FDE29-16F3-D9F9-EBAB-2CBDE06975C6}"/>
              </a:ext>
            </a:extLst>
          </p:cNvPr>
          <p:cNvCxnSpPr>
            <a:cxnSpLocks/>
          </p:cNvCxnSpPr>
          <p:nvPr/>
        </p:nvCxnSpPr>
        <p:spPr>
          <a:xfrm>
            <a:off x="8477824" y="1955218"/>
            <a:ext cx="6890" cy="296171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F2CB7C78-BCFD-CC2C-C30C-1A03049A6664}"/>
              </a:ext>
            </a:extLst>
          </p:cNvPr>
          <p:cNvCxnSpPr/>
          <p:nvPr/>
        </p:nvCxnSpPr>
        <p:spPr>
          <a:xfrm>
            <a:off x="10664811" y="2002125"/>
            <a:ext cx="11459" cy="2898094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4E07D0A-287E-F4E5-4DC9-3BB82760ED8E}"/>
              </a:ext>
            </a:extLst>
          </p:cNvPr>
          <p:cNvCxnSpPr>
            <a:cxnSpLocks/>
          </p:cNvCxnSpPr>
          <p:nvPr/>
        </p:nvCxnSpPr>
        <p:spPr>
          <a:xfrm>
            <a:off x="8517465" y="2363428"/>
            <a:ext cx="2144885" cy="53435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40B07E2-09EE-4DCD-9D4E-58DC07610E78}"/>
              </a:ext>
            </a:extLst>
          </p:cNvPr>
          <p:cNvSpPr txBox="1"/>
          <p:nvPr/>
        </p:nvSpPr>
        <p:spPr>
          <a:xfrm rot="712479">
            <a:off x="9274510" y="2300074"/>
            <a:ext cx="6447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43A6A34-32FC-C7C2-BD6C-682BC30301F1}"/>
              </a:ext>
            </a:extLst>
          </p:cNvPr>
          <p:cNvCxnSpPr>
            <a:cxnSpLocks/>
          </p:cNvCxnSpPr>
          <p:nvPr/>
        </p:nvCxnSpPr>
        <p:spPr>
          <a:xfrm flipH="1">
            <a:off x="8491744" y="3190694"/>
            <a:ext cx="2190877" cy="6345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7C5EF18-70BD-0569-625B-D5DD8AA745B9}"/>
              </a:ext>
            </a:extLst>
          </p:cNvPr>
          <p:cNvSpPr txBox="1"/>
          <p:nvPr/>
        </p:nvSpPr>
        <p:spPr>
          <a:xfrm rot="20568575">
            <a:off x="9136526" y="3147894"/>
            <a:ext cx="10486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RST/ACK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제목 1">
            <a:extLst>
              <a:ext uri="{FF2B5EF4-FFF2-40B4-BE49-F238E27FC236}">
                <a16:creationId xmlns:a16="http://schemas.microsoft.com/office/drawing/2014/main" id="{DEC73F52-7498-6069-EE04-78D67BD6390E}"/>
              </a:ext>
            </a:extLst>
          </p:cNvPr>
          <p:cNvSpPr txBox="1">
            <a:spLocks/>
          </p:cNvSpPr>
          <p:nvPr/>
        </p:nvSpPr>
        <p:spPr>
          <a:xfrm>
            <a:off x="762915" y="616444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서비스 활성화 여부 점검 </a:t>
            </a:r>
          </a:p>
        </p:txBody>
      </p:sp>
    </p:spTree>
    <p:extLst>
      <p:ext uri="{BB962C8B-B14F-4D97-AF65-F5344CB8AC3E}">
        <p14:creationId xmlns:p14="http://schemas.microsoft.com/office/powerpoint/2010/main" val="1320774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CA3FA40-8841-D72C-4AFC-BB6016EE8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F0AD306-72D6-6613-CD61-5FC0DA8BD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941" y="1058261"/>
            <a:ext cx="10859513" cy="4741478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:a16="http://schemas.microsoft.com/office/drawing/2014/main" id="{C8BA13E6-3B07-3374-2C94-B2B32A842DC4}"/>
              </a:ext>
            </a:extLst>
          </p:cNvPr>
          <p:cNvSpPr txBox="1">
            <a:spLocks/>
          </p:cNvSpPr>
          <p:nvPr/>
        </p:nvSpPr>
        <p:spPr>
          <a:xfrm>
            <a:off x="787941" y="356586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서비스 활성화 여부 점검 </a:t>
            </a:r>
          </a:p>
        </p:txBody>
      </p:sp>
    </p:spTree>
    <p:extLst>
      <p:ext uri="{BB962C8B-B14F-4D97-AF65-F5344CB8AC3E}">
        <p14:creationId xmlns:p14="http://schemas.microsoft.com/office/powerpoint/2010/main" val="38494201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D61C2F1-AA15-4960-F498-075DD2D7C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437"/>
            <a:ext cx="12192000" cy="1759415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AC4894-2FC6-A0DC-1B06-4559761530F8}"/>
              </a:ext>
            </a:extLst>
          </p:cNvPr>
          <p:cNvSpPr/>
          <p:nvPr/>
        </p:nvSpPr>
        <p:spPr>
          <a:xfrm>
            <a:off x="5729591" y="1896894"/>
            <a:ext cx="4815192" cy="7169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4FCEB89B-E306-9B4A-241A-189F60846646}"/>
              </a:ext>
            </a:extLst>
          </p:cNvPr>
          <p:cNvCxnSpPr>
            <a:cxnSpLocks/>
          </p:cNvCxnSpPr>
          <p:nvPr/>
        </p:nvCxnSpPr>
        <p:spPr>
          <a:xfrm>
            <a:off x="9194503" y="3489651"/>
            <a:ext cx="24541" cy="24431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81D0582-7968-BFE9-37C2-B7FBA0D0BFC0}"/>
              </a:ext>
            </a:extLst>
          </p:cNvPr>
          <p:cNvCxnSpPr>
            <a:cxnSpLocks/>
          </p:cNvCxnSpPr>
          <p:nvPr/>
        </p:nvCxnSpPr>
        <p:spPr>
          <a:xfrm>
            <a:off x="11338116" y="3507974"/>
            <a:ext cx="21754" cy="24248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24">
            <a:extLst>
              <a:ext uri="{FF2B5EF4-FFF2-40B4-BE49-F238E27FC236}">
                <a16:creationId xmlns:a16="http://schemas.microsoft.com/office/drawing/2014/main" id="{8A58B494-5812-1502-CF4F-E1B07FD03B7B}"/>
              </a:ext>
            </a:extLst>
          </p:cNvPr>
          <p:cNvSpPr txBox="1"/>
          <p:nvPr/>
        </p:nvSpPr>
        <p:spPr>
          <a:xfrm>
            <a:off x="8392995" y="3221776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192.168.1.72</a:t>
            </a:r>
          </a:p>
        </p:txBody>
      </p:sp>
      <p:sp>
        <p:nvSpPr>
          <p:cNvPr id="7" name="TextBox 25">
            <a:extLst>
              <a:ext uri="{FF2B5EF4-FFF2-40B4-BE49-F238E27FC236}">
                <a16:creationId xmlns:a16="http://schemas.microsoft.com/office/drawing/2014/main" id="{C3D674CD-96DF-1A29-AD17-21F093CE7C62}"/>
              </a:ext>
            </a:extLst>
          </p:cNvPr>
          <p:cNvSpPr txBox="1"/>
          <p:nvPr/>
        </p:nvSpPr>
        <p:spPr>
          <a:xfrm>
            <a:off x="10798283" y="3250556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192.168.1.66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EF4E00AD-8C7B-C9F2-C948-5FF33AD133BD}"/>
              </a:ext>
            </a:extLst>
          </p:cNvPr>
          <p:cNvCxnSpPr>
            <a:cxnSpLocks/>
          </p:cNvCxnSpPr>
          <p:nvPr/>
        </p:nvCxnSpPr>
        <p:spPr>
          <a:xfrm>
            <a:off x="9183301" y="3666149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1D0664-076A-AA51-C6EB-8B65B3990461}"/>
              </a:ext>
            </a:extLst>
          </p:cNvPr>
          <p:cNvSpPr txBox="1"/>
          <p:nvPr/>
        </p:nvSpPr>
        <p:spPr>
          <a:xfrm rot="271128">
            <a:off x="9983174" y="3522243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6EC2FC3-B48F-C641-AAC2-9F2C2BC94C95}"/>
              </a:ext>
            </a:extLst>
          </p:cNvPr>
          <p:cNvCxnSpPr>
            <a:cxnSpLocks/>
          </p:cNvCxnSpPr>
          <p:nvPr/>
        </p:nvCxnSpPr>
        <p:spPr>
          <a:xfrm>
            <a:off x="9197379" y="4238996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488A12-AD8B-F0E4-8F33-D888895BE6BD}"/>
              </a:ext>
            </a:extLst>
          </p:cNvPr>
          <p:cNvSpPr txBox="1"/>
          <p:nvPr/>
        </p:nvSpPr>
        <p:spPr>
          <a:xfrm rot="271128">
            <a:off x="9502049" y="4090259"/>
            <a:ext cx="16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[TCP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Retrans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오른쪽 대괄호 24">
            <a:extLst>
              <a:ext uri="{FF2B5EF4-FFF2-40B4-BE49-F238E27FC236}">
                <a16:creationId xmlns:a16="http://schemas.microsoft.com/office/drawing/2014/main" id="{4DA01068-8E75-955D-093E-CFC8535EF8E8}"/>
              </a:ext>
            </a:extLst>
          </p:cNvPr>
          <p:cNvSpPr/>
          <p:nvPr/>
        </p:nvSpPr>
        <p:spPr>
          <a:xfrm flipH="1">
            <a:off x="8891673" y="3666149"/>
            <a:ext cx="317173" cy="572847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8E14C49-2F64-9003-8DE2-511B0D2026DB}"/>
              </a:ext>
            </a:extLst>
          </p:cNvPr>
          <p:cNvSpPr txBox="1"/>
          <p:nvPr/>
        </p:nvSpPr>
        <p:spPr>
          <a:xfrm>
            <a:off x="8245344" y="3768432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2.291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0F6154F-F9F4-6F59-4F7B-875A2971E324}"/>
              </a:ext>
            </a:extLst>
          </p:cNvPr>
          <p:cNvCxnSpPr>
            <a:cxnSpLocks/>
          </p:cNvCxnSpPr>
          <p:nvPr/>
        </p:nvCxnSpPr>
        <p:spPr>
          <a:xfrm>
            <a:off x="9231380" y="5262073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E430943-C0EB-790E-A57D-64C160434E77}"/>
              </a:ext>
            </a:extLst>
          </p:cNvPr>
          <p:cNvSpPr txBox="1"/>
          <p:nvPr/>
        </p:nvSpPr>
        <p:spPr>
          <a:xfrm rot="271128">
            <a:off x="9536050" y="5113336"/>
            <a:ext cx="16348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[TCP 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Retrans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E17DE7-3AFF-48E8-7CB6-3A019609AFBE}"/>
              </a:ext>
            </a:extLst>
          </p:cNvPr>
          <p:cNvSpPr txBox="1"/>
          <p:nvPr/>
        </p:nvSpPr>
        <p:spPr>
          <a:xfrm>
            <a:off x="8245342" y="4596080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6.000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오른쪽 대괄호 38">
            <a:extLst>
              <a:ext uri="{FF2B5EF4-FFF2-40B4-BE49-F238E27FC236}">
                <a16:creationId xmlns:a16="http://schemas.microsoft.com/office/drawing/2014/main" id="{4E53C7E0-804B-9CC5-5A85-57F69E447684}"/>
              </a:ext>
            </a:extLst>
          </p:cNvPr>
          <p:cNvSpPr/>
          <p:nvPr/>
        </p:nvSpPr>
        <p:spPr>
          <a:xfrm flipH="1">
            <a:off x="8871658" y="4268642"/>
            <a:ext cx="336056" cy="993431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9E0EF10-1C1C-9F8F-CCD8-F1A3EF950A10}"/>
              </a:ext>
            </a:extLst>
          </p:cNvPr>
          <p:cNvSpPr txBox="1"/>
          <p:nvPr/>
        </p:nvSpPr>
        <p:spPr>
          <a:xfrm>
            <a:off x="315775" y="4934634"/>
            <a:ext cx="7660166" cy="13422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SYN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패킷에 대한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SYN/ACK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응답을 받지 못할 경우 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클라이언트 측에서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SYN/ACK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를 볼 수 없다면 </a:t>
            </a:r>
            <a:r>
              <a:rPr lang="ko-KR" altLang="en-US" sz="14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서버쪽에서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SYN/ACK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를 보냈는지를 확인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SYN/ACK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가 </a:t>
            </a:r>
            <a:r>
              <a:rPr lang="ko-KR" altLang="en-US" sz="14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서버쪽에서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보내졌다면 경로 상 장치들 중에서 패킷을 폐기한 것임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폐기 지점을 찾을 때까지 캡처 지점을 클라이언트에 가까운 쪽으로 이동하면서 점검 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FEE233-4AC3-C4BD-77F8-1CEC09832EDC}"/>
              </a:ext>
            </a:extLst>
          </p:cNvPr>
          <p:cNvSpPr txBox="1"/>
          <p:nvPr/>
        </p:nvSpPr>
        <p:spPr>
          <a:xfrm>
            <a:off x="304506" y="3056446"/>
            <a:ext cx="7660166" cy="166545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서버가 </a:t>
            </a:r>
            <a:r>
              <a:rPr lang="en-US" altLang="ko-KR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TCP</a:t>
            </a:r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연결시도에 응답하지 않는 경우 </a:t>
            </a:r>
            <a:endParaRPr lang="en-US" altLang="ko-KR" sz="1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SYN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가 서버에 도착하지 않은 경우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방화벽이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SYN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패킷을 폐기할 경우 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서버 방화벽이 포트 접근을 차단한 경우 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  <a:sym typeface="Wingdings" panose="05000000000000000000" pitchFamily="2" charset="2"/>
            </a:endParaRPr>
          </a:p>
          <a:p>
            <a:pPr marL="174625">
              <a:lnSpc>
                <a:spcPct val="150000"/>
              </a:lnSpc>
            </a:pP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  - SYN/ACK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가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클라이언트에 </a:t>
            </a:r>
            <a:r>
              <a:rPr lang="ko-KR" altLang="en-US" sz="14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도당하지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 않은 경우 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6" name="제목 1">
            <a:extLst>
              <a:ext uri="{FF2B5EF4-FFF2-40B4-BE49-F238E27FC236}">
                <a16:creationId xmlns:a16="http://schemas.microsoft.com/office/drawing/2014/main" id="{727E2660-DC98-B333-161E-A22575247E3C}"/>
              </a:ext>
            </a:extLst>
          </p:cNvPr>
          <p:cNvSpPr txBox="1">
            <a:spLocks/>
          </p:cNvSpPr>
          <p:nvPr/>
        </p:nvSpPr>
        <p:spPr>
          <a:xfrm>
            <a:off x="98898" y="152762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 응답 부재 </a:t>
            </a:r>
          </a:p>
        </p:txBody>
      </p:sp>
    </p:spTree>
    <p:extLst>
      <p:ext uri="{BB962C8B-B14F-4D97-AF65-F5344CB8AC3E}">
        <p14:creationId xmlns:p14="http://schemas.microsoft.com/office/powerpoint/2010/main" val="36374684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3216367-028D-880C-CF03-5214039C5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38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D61C2F1-AA15-4960-F498-075DD2D7C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438"/>
            <a:ext cx="12192000" cy="17594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102427-865E-9687-2DD8-EAB356DE0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0963"/>
            <a:ext cx="12192000" cy="156943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2015245-AF71-0857-2B46-CBC31DADDD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89188"/>
            <a:ext cx="12192000" cy="1732287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EEAC4894-2FC6-A0DC-1B06-4559761530F8}"/>
              </a:ext>
            </a:extLst>
          </p:cNvPr>
          <p:cNvSpPr/>
          <p:nvPr/>
        </p:nvSpPr>
        <p:spPr>
          <a:xfrm>
            <a:off x="5729591" y="1896894"/>
            <a:ext cx="4815192" cy="71695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6017357-69AD-2A49-0B13-44790FF195C7}"/>
              </a:ext>
            </a:extLst>
          </p:cNvPr>
          <p:cNvSpPr/>
          <p:nvPr/>
        </p:nvSpPr>
        <p:spPr>
          <a:xfrm>
            <a:off x="5729591" y="4032833"/>
            <a:ext cx="5321030" cy="47756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8CAFAA9-3D75-7B46-71CC-D19ACC2AB33F}"/>
              </a:ext>
            </a:extLst>
          </p:cNvPr>
          <p:cNvSpPr/>
          <p:nvPr/>
        </p:nvSpPr>
        <p:spPr>
          <a:xfrm>
            <a:off x="5729590" y="6076065"/>
            <a:ext cx="6462409" cy="645409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제목 1">
            <a:extLst>
              <a:ext uri="{FF2B5EF4-FFF2-40B4-BE49-F238E27FC236}">
                <a16:creationId xmlns:a16="http://schemas.microsoft.com/office/drawing/2014/main" id="{186031F9-DA76-8AE9-B4EC-895F36D0F002}"/>
              </a:ext>
            </a:extLst>
          </p:cNvPr>
          <p:cNvSpPr txBox="1">
            <a:spLocks/>
          </p:cNvSpPr>
          <p:nvPr/>
        </p:nvSpPr>
        <p:spPr>
          <a:xfrm>
            <a:off x="98898" y="152762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 응답 부재 </a:t>
            </a:r>
          </a:p>
        </p:txBody>
      </p:sp>
    </p:spTree>
    <p:extLst>
      <p:ext uri="{BB962C8B-B14F-4D97-AF65-F5344CB8AC3E}">
        <p14:creationId xmlns:p14="http://schemas.microsoft.com/office/powerpoint/2010/main" val="179656954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650B5C-4113-9C24-7EA5-1246A8CB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9902" y="6438741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39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046543-C340-7071-FB56-A1F3CC53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28" y="1270856"/>
            <a:ext cx="7845997" cy="2560272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76707A9-0B6B-0E65-7D18-CCA12BE68B68}"/>
              </a:ext>
            </a:extLst>
          </p:cNvPr>
          <p:cNvSpPr txBox="1">
            <a:spLocks/>
          </p:cNvSpPr>
          <p:nvPr/>
        </p:nvSpPr>
        <p:spPr>
          <a:xfrm>
            <a:off x="205902" y="462962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서비스 요청 무응답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4D0F2-59CC-59C5-4E3C-45C285073699}"/>
              </a:ext>
            </a:extLst>
          </p:cNvPr>
          <p:cNvSpPr txBox="1"/>
          <p:nvPr/>
        </p:nvSpPr>
        <p:spPr>
          <a:xfrm>
            <a:off x="239728" y="4458424"/>
            <a:ext cx="7600766" cy="166872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marL="285750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서버의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HTTP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포트도 열려 있고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TCP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도 정상적으로 운영이 되고 있으나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HTTP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전송이 안되고 있음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동일한 패턴이 </a:t>
            </a:r>
            <a:r>
              <a:rPr lang="ko-KR" altLang="en-US" sz="14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스트림별로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지속적어로 진행되면 네트워크 상의 결합이나 서버의 서비스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실행의 일회성 문제가 아님</a:t>
            </a:r>
            <a:endParaRPr lang="en-US" altLang="ko-KR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11112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 측 애플리케이션의 문제로 판단 가능  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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Application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문제로 판단 가능 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2ED7B45-21B4-0B37-9385-AF46730EF593}"/>
              </a:ext>
            </a:extLst>
          </p:cNvPr>
          <p:cNvCxnSpPr>
            <a:cxnSpLocks/>
          </p:cNvCxnSpPr>
          <p:nvPr/>
        </p:nvCxnSpPr>
        <p:spPr>
          <a:xfrm>
            <a:off x="9165318" y="1249843"/>
            <a:ext cx="18636" cy="38828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8331306-F444-28F9-EF72-1836F31E81A1}"/>
              </a:ext>
            </a:extLst>
          </p:cNvPr>
          <p:cNvCxnSpPr>
            <a:cxnSpLocks/>
          </p:cNvCxnSpPr>
          <p:nvPr/>
        </p:nvCxnSpPr>
        <p:spPr>
          <a:xfrm>
            <a:off x="11308931" y="1268166"/>
            <a:ext cx="17230" cy="38645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24">
            <a:extLst>
              <a:ext uri="{FF2B5EF4-FFF2-40B4-BE49-F238E27FC236}">
                <a16:creationId xmlns:a16="http://schemas.microsoft.com/office/drawing/2014/main" id="{742BEBD5-EF79-7D01-0589-14841B087848}"/>
              </a:ext>
            </a:extLst>
          </p:cNvPr>
          <p:cNvSpPr txBox="1"/>
          <p:nvPr/>
        </p:nvSpPr>
        <p:spPr>
          <a:xfrm>
            <a:off x="8363810" y="981968"/>
            <a:ext cx="1127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24.6.173.220</a:t>
            </a:r>
          </a:p>
        </p:txBody>
      </p:sp>
      <p:sp>
        <p:nvSpPr>
          <p:cNvPr id="14" name="TextBox 25">
            <a:extLst>
              <a:ext uri="{FF2B5EF4-FFF2-40B4-BE49-F238E27FC236}">
                <a16:creationId xmlns:a16="http://schemas.microsoft.com/office/drawing/2014/main" id="{CCCD89EE-74DC-E703-AF55-BE1E49BB4723}"/>
              </a:ext>
            </a:extLst>
          </p:cNvPr>
          <p:cNvSpPr txBox="1"/>
          <p:nvPr/>
        </p:nvSpPr>
        <p:spPr>
          <a:xfrm>
            <a:off x="10769098" y="1010748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50.62.146.230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67F6F7E-5467-8EAA-EDD5-4944CC574BF0}"/>
              </a:ext>
            </a:extLst>
          </p:cNvPr>
          <p:cNvCxnSpPr>
            <a:cxnSpLocks/>
          </p:cNvCxnSpPr>
          <p:nvPr/>
        </p:nvCxnSpPr>
        <p:spPr>
          <a:xfrm>
            <a:off x="9154116" y="1426341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562D278-1E31-C14E-ED8B-C6033AC20226}"/>
              </a:ext>
            </a:extLst>
          </p:cNvPr>
          <p:cNvSpPr txBox="1"/>
          <p:nvPr/>
        </p:nvSpPr>
        <p:spPr>
          <a:xfrm rot="271128">
            <a:off x="9953989" y="1282435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C73509E-2E89-D484-ED11-1C2ABED3A029}"/>
              </a:ext>
            </a:extLst>
          </p:cNvPr>
          <p:cNvCxnSpPr>
            <a:cxnSpLocks/>
          </p:cNvCxnSpPr>
          <p:nvPr/>
        </p:nvCxnSpPr>
        <p:spPr>
          <a:xfrm flipH="1">
            <a:off x="9160894" y="1829597"/>
            <a:ext cx="2119330" cy="128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74F457D-E019-EF9E-7D10-470CA73AC964}"/>
              </a:ext>
            </a:extLst>
          </p:cNvPr>
          <p:cNvSpPr txBox="1"/>
          <p:nvPr/>
        </p:nvSpPr>
        <p:spPr>
          <a:xfrm rot="21414474">
            <a:off x="9675031" y="1653034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FC6816CD-50D5-805F-09E4-CF83D68E862B}"/>
              </a:ext>
            </a:extLst>
          </p:cNvPr>
          <p:cNvCxnSpPr>
            <a:cxnSpLocks/>
          </p:cNvCxnSpPr>
          <p:nvPr/>
        </p:nvCxnSpPr>
        <p:spPr>
          <a:xfrm>
            <a:off x="9149564" y="212550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63A01FB-68D2-1892-FFDD-B56E7543CB9D}"/>
              </a:ext>
            </a:extLst>
          </p:cNvPr>
          <p:cNvSpPr txBox="1"/>
          <p:nvPr/>
        </p:nvSpPr>
        <p:spPr>
          <a:xfrm rot="271128">
            <a:off x="10007067" y="1978295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305AF17-BD69-4B4C-EE91-4D6C6BCE453F}"/>
              </a:ext>
            </a:extLst>
          </p:cNvPr>
          <p:cNvCxnSpPr>
            <a:cxnSpLocks/>
          </p:cNvCxnSpPr>
          <p:nvPr/>
        </p:nvCxnSpPr>
        <p:spPr>
          <a:xfrm>
            <a:off x="9178530" y="2490390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BCC5A37A-66FC-6361-FEBA-C022DF3CD590}"/>
              </a:ext>
            </a:extLst>
          </p:cNvPr>
          <p:cNvSpPr txBox="1"/>
          <p:nvPr/>
        </p:nvSpPr>
        <p:spPr>
          <a:xfrm rot="271128">
            <a:off x="9730952" y="2306095"/>
            <a:ext cx="101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DA7BE446-6FEF-CDAD-CD07-AD25281B9F87}"/>
              </a:ext>
            </a:extLst>
          </p:cNvPr>
          <p:cNvCxnSpPr/>
          <p:nvPr/>
        </p:nvCxnSpPr>
        <p:spPr>
          <a:xfrm flipH="1">
            <a:off x="9179662" y="2832130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AB6A8D6-2AD7-6B60-D0BE-9A499EB0C42D}"/>
              </a:ext>
            </a:extLst>
          </p:cNvPr>
          <p:cNvSpPr txBox="1"/>
          <p:nvPr/>
        </p:nvSpPr>
        <p:spPr>
          <a:xfrm rot="21307504">
            <a:off x="9951198" y="2678242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B6897CF4-2A60-E266-5F08-BAC5C1257048}"/>
              </a:ext>
            </a:extLst>
          </p:cNvPr>
          <p:cNvCxnSpPr>
            <a:cxnSpLocks/>
          </p:cNvCxnSpPr>
          <p:nvPr/>
        </p:nvCxnSpPr>
        <p:spPr>
          <a:xfrm>
            <a:off x="9177336" y="3571020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오른쪽 대괄호 37">
            <a:extLst>
              <a:ext uri="{FF2B5EF4-FFF2-40B4-BE49-F238E27FC236}">
                <a16:creationId xmlns:a16="http://schemas.microsoft.com/office/drawing/2014/main" id="{F230B6C0-0620-50D1-359B-87B2B600F1E9}"/>
              </a:ext>
            </a:extLst>
          </p:cNvPr>
          <p:cNvSpPr/>
          <p:nvPr/>
        </p:nvSpPr>
        <p:spPr>
          <a:xfrm flipH="1">
            <a:off x="8927425" y="3010270"/>
            <a:ext cx="245487" cy="544170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5BAC7B8-33F8-851C-DEF9-C1DD7AC53D49}"/>
              </a:ext>
            </a:extLst>
          </p:cNvPr>
          <p:cNvSpPr txBox="1"/>
          <p:nvPr/>
        </p:nvSpPr>
        <p:spPr>
          <a:xfrm>
            <a:off x="8261227" y="3075918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7.631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B90638F-294C-6E48-3428-7EDDC5DB023E}"/>
              </a:ext>
            </a:extLst>
          </p:cNvPr>
          <p:cNvSpPr txBox="1"/>
          <p:nvPr/>
        </p:nvSpPr>
        <p:spPr>
          <a:xfrm rot="271128">
            <a:off x="9978835" y="3371981"/>
            <a:ext cx="4940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3885E37D-323E-501F-1E2F-182AD91FDD64}"/>
              </a:ext>
            </a:extLst>
          </p:cNvPr>
          <p:cNvCxnSpPr>
            <a:cxnSpLocks/>
          </p:cNvCxnSpPr>
          <p:nvPr/>
        </p:nvCxnSpPr>
        <p:spPr>
          <a:xfrm flipH="1">
            <a:off x="9184924" y="3917561"/>
            <a:ext cx="2119330" cy="128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21A8060B-42E5-2F87-9846-BBE6B164584D}"/>
              </a:ext>
            </a:extLst>
          </p:cNvPr>
          <p:cNvSpPr txBox="1"/>
          <p:nvPr/>
        </p:nvSpPr>
        <p:spPr>
          <a:xfrm rot="21307504">
            <a:off x="9624723" y="3761234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오른쪽 대괄호 44">
            <a:extLst>
              <a:ext uri="{FF2B5EF4-FFF2-40B4-BE49-F238E27FC236}">
                <a16:creationId xmlns:a16="http://schemas.microsoft.com/office/drawing/2014/main" id="{6535B39D-C61D-9906-CFA9-32FD3A58C723}"/>
              </a:ext>
            </a:extLst>
          </p:cNvPr>
          <p:cNvSpPr/>
          <p:nvPr/>
        </p:nvSpPr>
        <p:spPr>
          <a:xfrm flipH="1">
            <a:off x="8936804" y="4051526"/>
            <a:ext cx="236107" cy="6307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9590E70-B931-94CE-F62F-854A4CCBF7CB}"/>
              </a:ext>
            </a:extLst>
          </p:cNvPr>
          <p:cNvSpPr txBox="1"/>
          <p:nvPr/>
        </p:nvSpPr>
        <p:spPr>
          <a:xfrm>
            <a:off x="8082657" y="4055959"/>
            <a:ext cx="840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119.995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5F63996-2BBC-F984-3511-4AAAAD8FE546}"/>
              </a:ext>
            </a:extLst>
          </p:cNvPr>
          <p:cNvCxnSpPr>
            <a:cxnSpLocks/>
          </p:cNvCxnSpPr>
          <p:nvPr/>
        </p:nvCxnSpPr>
        <p:spPr>
          <a:xfrm>
            <a:off x="9157505" y="4678026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70CC9A57-063F-A4B7-EF8F-C125BA529C16}"/>
              </a:ext>
            </a:extLst>
          </p:cNvPr>
          <p:cNvSpPr txBox="1"/>
          <p:nvPr/>
        </p:nvSpPr>
        <p:spPr>
          <a:xfrm rot="271128">
            <a:off x="9938967" y="4478987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RST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767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6650B5C-4113-9C24-7EA5-1246A8CB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9902" y="6438741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40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1046543-C340-7071-FB56-A1F3CC535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1001"/>
            <a:ext cx="12192000" cy="273799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2BB7406-1E4A-A3CE-95D7-7CA66E0CC0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2109"/>
            <a:ext cx="12192000" cy="257589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F76707A9-0B6B-0E65-7D18-CCA12BE68B68}"/>
              </a:ext>
            </a:extLst>
          </p:cNvPr>
          <p:cNvSpPr txBox="1">
            <a:spLocks/>
          </p:cNvSpPr>
          <p:nvPr/>
        </p:nvSpPr>
        <p:spPr>
          <a:xfrm>
            <a:off x="98898" y="152762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서비스 요청 무응답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F4D0F2-59CC-59C5-4E3C-45C285073699}"/>
              </a:ext>
            </a:extLst>
          </p:cNvPr>
          <p:cNvSpPr txBox="1"/>
          <p:nvPr/>
        </p:nvSpPr>
        <p:spPr>
          <a:xfrm>
            <a:off x="621617" y="3581644"/>
            <a:ext cx="95542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서버의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HTTP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포트도 열려 있고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TCP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도 정상적으로 운영이 되고 있으나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HTTP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데이터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전송이 안되고 있음 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  <a:sym typeface="Wingdings" panose="05000000000000000000" pitchFamily="2" charset="2"/>
              </a:rPr>
              <a:t>Application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  <a:sym typeface="Wingdings" panose="05000000000000000000" pitchFamily="2" charset="2"/>
              </a:rPr>
              <a:t>문제로 판단 가능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16398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EA8501C-8E9F-891A-63CB-F383C980A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C72CC93-E8F5-2348-935A-7BA09E4F665A}"/>
              </a:ext>
            </a:extLst>
          </p:cNvPr>
          <p:cNvSpPr txBox="1">
            <a:spLocks/>
          </p:cNvSpPr>
          <p:nvPr/>
        </p:nvSpPr>
        <p:spPr>
          <a:xfrm>
            <a:off x="838200" y="1764308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높은 지연의 근원지 탐색 </a:t>
            </a:r>
          </a:p>
        </p:txBody>
      </p:sp>
    </p:spTree>
    <p:extLst>
      <p:ext uri="{BB962C8B-B14F-4D97-AF65-F5344CB8AC3E}">
        <p14:creationId xmlns:p14="http://schemas.microsoft.com/office/powerpoint/2010/main" val="31058109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549950"/>
            <a:ext cx="10515600" cy="701675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높은 지연의 근원지 탐색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44739" y="1566451"/>
            <a:ext cx="10722429" cy="5043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 손실이 지연을 야기하지 않을 수 있음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두 호스트 간 통신이 느린 경우에도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재전송이나 중복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ACK</a:t>
            </a:r>
            <a:r>
              <a:rPr lang="ko-KR" altLang="en-US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증상이 없을 수 있음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높은 지연의 근원지를 찾기 위한 가장 효과적인 방법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초기의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3WHS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와 이후 과정에서 최초의 패킷 쌍을 찾는 것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높은 지연 상황과 비교를 위해 정상적인 통신에 대한 기준이 필요  </a:t>
            </a:r>
            <a:endParaRPr lang="en-US" altLang="ko-KR" sz="18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8923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A06BCA-9173-A75D-0439-2C31B43F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2817" y="6386079"/>
            <a:ext cx="2743200" cy="365125"/>
          </a:xfrm>
        </p:spPr>
        <p:txBody>
          <a:bodyPr/>
          <a:lstStyle/>
          <a:p>
            <a:pPr algn="l"/>
            <a:fld id="{F100E85C-9068-46D2-A14A-A9DCCDE0C986}" type="slidenum">
              <a:rPr lang="ko-KR" altLang="en-US" smtClean="0"/>
              <a:pPr algn="l"/>
              <a:t>43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1FB6641-0C1A-19EB-53EA-4EB7C3587776}"/>
              </a:ext>
            </a:extLst>
          </p:cNvPr>
          <p:cNvSpPr txBox="1">
            <a:spLocks/>
          </p:cNvSpPr>
          <p:nvPr/>
        </p:nvSpPr>
        <p:spPr>
          <a:xfrm>
            <a:off x="502288" y="457396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 정상적인 통신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2C18A0-3A4D-114B-68BA-01A388838CB6}"/>
              </a:ext>
            </a:extLst>
          </p:cNvPr>
          <p:cNvSpPr txBox="1"/>
          <p:nvPr/>
        </p:nvSpPr>
        <p:spPr>
          <a:xfrm>
            <a:off x="502288" y="4616622"/>
            <a:ext cx="5423280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전체 프로세스가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0.1</a:t>
            </a:r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초가 채 걸리지 않을 정도로 속도가 빠름 </a:t>
            </a:r>
            <a:endParaRPr lang="ko-KR" altLang="en-US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F945731-BBA7-2E35-9FC0-22BD43CCA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7" y="1494909"/>
            <a:ext cx="11820025" cy="264916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7A67E88-4EAD-DF1B-EDE9-19B140BAEE83}"/>
              </a:ext>
            </a:extLst>
          </p:cNvPr>
          <p:cNvSpPr txBox="1"/>
          <p:nvPr/>
        </p:nvSpPr>
        <p:spPr>
          <a:xfrm>
            <a:off x="4603262" y="808233"/>
            <a:ext cx="7402750" cy="4580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&gt; Time Display Format &gt; Second since Previous Displayed Packet 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D176AC-4903-B681-AF7A-7FA65E8DF405}"/>
              </a:ext>
            </a:extLst>
          </p:cNvPr>
          <p:cNvSpPr/>
          <p:nvPr/>
        </p:nvSpPr>
        <p:spPr>
          <a:xfrm>
            <a:off x="650835" y="2786884"/>
            <a:ext cx="837498" cy="135719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F2ADDEB-DA83-E875-CBAA-87C174F7ED6A}"/>
              </a:ext>
            </a:extLst>
          </p:cNvPr>
          <p:cNvCxnSpPr/>
          <p:nvPr/>
        </p:nvCxnSpPr>
        <p:spPr>
          <a:xfrm>
            <a:off x="1313234" y="4144077"/>
            <a:ext cx="107004" cy="472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24666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DFECCB9B-9F4C-5029-5488-A1ED47B4E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90" y="870496"/>
            <a:ext cx="11775018" cy="267706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A06BCA-9173-A75D-0439-2C31B43F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2817" y="6386079"/>
            <a:ext cx="2743200" cy="365125"/>
          </a:xfrm>
        </p:spPr>
        <p:txBody>
          <a:bodyPr/>
          <a:lstStyle/>
          <a:p>
            <a:pPr algn="l"/>
            <a:fld id="{F100E85C-9068-46D2-A14A-A9DCCDE0C986}" type="slidenum">
              <a:rPr lang="ko-KR" altLang="en-US" smtClean="0"/>
              <a:pPr algn="l"/>
              <a:t>44</a:t>
            </a:fld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1FB6641-0C1A-19EB-53EA-4EB7C3587776}"/>
              </a:ext>
            </a:extLst>
          </p:cNvPr>
          <p:cNvSpPr txBox="1">
            <a:spLocks/>
          </p:cNvSpPr>
          <p:nvPr/>
        </p:nvSpPr>
        <p:spPr>
          <a:xfrm>
            <a:off x="327190" y="308511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 속도가 느린 통신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호스트 간의 유선 지연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endParaRPr lang="ko-KR" altLang="en-US" sz="2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A04EBE3-BE80-1B0C-D23D-894CAE7B3B40}"/>
              </a:ext>
            </a:extLst>
          </p:cNvPr>
          <p:cNvCxnSpPr>
            <a:cxnSpLocks/>
          </p:cNvCxnSpPr>
          <p:nvPr/>
        </p:nvCxnSpPr>
        <p:spPr>
          <a:xfrm>
            <a:off x="7938211" y="4135915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388AA7E-DACF-A5FF-7AF4-145F37588FBC}"/>
              </a:ext>
            </a:extLst>
          </p:cNvPr>
          <p:cNvCxnSpPr>
            <a:cxnSpLocks/>
          </p:cNvCxnSpPr>
          <p:nvPr/>
        </p:nvCxnSpPr>
        <p:spPr>
          <a:xfrm flipH="1">
            <a:off x="10069585" y="4113731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">
            <a:extLst>
              <a:ext uri="{FF2B5EF4-FFF2-40B4-BE49-F238E27FC236}">
                <a16:creationId xmlns:a16="http://schemas.microsoft.com/office/drawing/2014/main" id="{8874FE2D-0137-3663-5A37-6F11BE4B723B}"/>
              </a:ext>
            </a:extLst>
          </p:cNvPr>
          <p:cNvSpPr txBox="1"/>
          <p:nvPr/>
        </p:nvSpPr>
        <p:spPr>
          <a:xfrm>
            <a:off x="6981382" y="3828138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172.16.16.128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8D1916C6-0C19-8F34-0C09-753212066306}"/>
              </a:ext>
            </a:extLst>
          </p:cNvPr>
          <p:cNvSpPr txBox="1"/>
          <p:nvPr/>
        </p:nvSpPr>
        <p:spPr>
          <a:xfrm>
            <a:off x="9543584" y="3867747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74.125.95.104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2BF8DD5-15BB-1A51-040C-7DC9FAF3B6D9}"/>
              </a:ext>
            </a:extLst>
          </p:cNvPr>
          <p:cNvCxnSpPr>
            <a:cxnSpLocks/>
          </p:cNvCxnSpPr>
          <p:nvPr/>
        </p:nvCxnSpPr>
        <p:spPr>
          <a:xfrm>
            <a:off x="7917154" y="4271906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3F4F1A-76BA-D5B7-87FA-412883EB6C09}"/>
              </a:ext>
            </a:extLst>
          </p:cNvPr>
          <p:cNvSpPr txBox="1"/>
          <p:nvPr/>
        </p:nvSpPr>
        <p:spPr>
          <a:xfrm rot="271128">
            <a:off x="8717027" y="41280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0CED432-675B-D774-BCB6-0576797F34F5}"/>
              </a:ext>
            </a:extLst>
          </p:cNvPr>
          <p:cNvCxnSpPr/>
          <p:nvPr/>
        </p:nvCxnSpPr>
        <p:spPr>
          <a:xfrm flipH="1">
            <a:off x="7928484" y="4944721"/>
            <a:ext cx="2132155" cy="19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580D85-64A9-1E7F-64E8-6AC42AD8E466}"/>
              </a:ext>
            </a:extLst>
          </p:cNvPr>
          <p:cNvSpPr txBox="1"/>
          <p:nvPr/>
        </p:nvSpPr>
        <p:spPr>
          <a:xfrm rot="21307504">
            <a:off x="8437536" y="4733813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74D52C0-A950-52A8-63B3-33714AE580ED}"/>
              </a:ext>
            </a:extLst>
          </p:cNvPr>
          <p:cNvCxnSpPr>
            <a:cxnSpLocks/>
          </p:cNvCxnSpPr>
          <p:nvPr/>
        </p:nvCxnSpPr>
        <p:spPr>
          <a:xfrm>
            <a:off x="7958202" y="5277765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D176AC-4903-B681-AF7A-7FA65E8DF405}"/>
              </a:ext>
            </a:extLst>
          </p:cNvPr>
          <p:cNvSpPr/>
          <p:nvPr/>
        </p:nvSpPr>
        <p:spPr>
          <a:xfrm>
            <a:off x="746284" y="2411070"/>
            <a:ext cx="837498" cy="15564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736D96-7198-D32F-4CBD-91DE220EA93B}"/>
              </a:ext>
            </a:extLst>
          </p:cNvPr>
          <p:cNvSpPr/>
          <p:nvPr/>
        </p:nvSpPr>
        <p:spPr>
          <a:xfrm>
            <a:off x="756919" y="3113469"/>
            <a:ext cx="837498" cy="155643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오른쪽 대괄호 30">
            <a:extLst>
              <a:ext uri="{FF2B5EF4-FFF2-40B4-BE49-F238E27FC236}">
                <a16:creationId xmlns:a16="http://schemas.microsoft.com/office/drawing/2014/main" id="{3E477E52-5349-FBAB-1833-775E5B1797C8}"/>
              </a:ext>
            </a:extLst>
          </p:cNvPr>
          <p:cNvSpPr/>
          <p:nvPr/>
        </p:nvSpPr>
        <p:spPr>
          <a:xfrm>
            <a:off x="10091424" y="4480160"/>
            <a:ext cx="261219" cy="446172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800BE42-B484-FFB7-2702-33102485A3C5}"/>
              </a:ext>
            </a:extLst>
          </p:cNvPr>
          <p:cNvSpPr txBox="1"/>
          <p:nvPr/>
        </p:nvSpPr>
        <p:spPr>
          <a:xfrm rot="271128">
            <a:off x="8746982" y="5110963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7434A582-0E4B-C7E2-FBCB-4FA5D9FFFC19}"/>
              </a:ext>
            </a:extLst>
          </p:cNvPr>
          <p:cNvCxnSpPr>
            <a:cxnSpLocks/>
          </p:cNvCxnSpPr>
          <p:nvPr/>
        </p:nvCxnSpPr>
        <p:spPr>
          <a:xfrm>
            <a:off x="7947939" y="5579751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8429A72-9320-875C-FB71-3D6B9A2E256A}"/>
              </a:ext>
            </a:extLst>
          </p:cNvPr>
          <p:cNvSpPr txBox="1"/>
          <p:nvPr/>
        </p:nvSpPr>
        <p:spPr>
          <a:xfrm rot="271128">
            <a:off x="8444648" y="5423179"/>
            <a:ext cx="1088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27C105C-7E58-A6ED-0F5A-E197D398AC90}"/>
              </a:ext>
            </a:extLst>
          </p:cNvPr>
          <p:cNvCxnSpPr/>
          <p:nvPr/>
        </p:nvCxnSpPr>
        <p:spPr>
          <a:xfrm flipH="1">
            <a:off x="7917975" y="6164706"/>
            <a:ext cx="2132155" cy="19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오른쪽 대괄호 36">
            <a:extLst>
              <a:ext uri="{FF2B5EF4-FFF2-40B4-BE49-F238E27FC236}">
                <a16:creationId xmlns:a16="http://schemas.microsoft.com/office/drawing/2014/main" id="{D559FE4D-A96F-6F67-75F0-AE0267B27C9F}"/>
              </a:ext>
            </a:extLst>
          </p:cNvPr>
          <p:cNvSpPr/>
          <p:nvPr/>
        </p:nvSpPr>
        <p:spPr>
          <a:xfrm>
            <a:off x="10080094" y="5773358"/>
            <a:ext cx="267781" cy="391348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77CD88F-146C-B974-BDE2-23C302BC8AB4}"/>
              </a:ext>
            </a:extLst>
          </p:cNvPr>
          <p:cNvSpPr txBox="1"/>
          <p:nvPr/>
        </p:nvSpPr>
        <p:spPr>
          <a:xfrm rot="21307504">
            <a:off x="8762475" y="5971281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2C1BBA-6B8F-DAA5-6A09-967DC19CBC88}"/>
              </a:ext>
            </a:extLst>
          </p:cNvPr>
          <p:cNvSpPr txBox="1"/>
          <p:nvPr/>
        </p:nvSpPr>
        <p:spPr>
          <a:xfrm>
            <a:off x="10372098" y="4522917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0.878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90C79-2B14-19BD-9CB5-BE51EE8197A4}"/>
              </a:ext>
            </a:extLst>
          </p:cNvPr>
          <p:cNvSpPr txBox="1"/>
          <p:nvPr/>
        </p:nvSpPr>
        <p:spPr>
          <a:xfrm>
            <a:off x="10372098" y="5826152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1.155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4A3117A-8940-3CBC-21E2-860EDA4555D8}"/>
              </a:ext>
            </a:extLst>
          </p:cNvPr>
          <p:cNvCxnSpPr>
            <a:cxnSpLocks/>
          </p:cNvCxnSpPr>
          <p:nvPr/>
        </p:nvCxnSpPr>
        <p:spPr>
          <a:xfrm>
            <a:off x="2340441" y="4095408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73EB9D5E-3B1D-615C-E87D-71A8F3501F87}"/>
              </a:ext>
            </a:extLst>
          </p:cNvPr>
          <p:cNvCxnSpPr>
            <a:cxnSpLocks/>
          </p:cNvCxnSpPr>
          <p:nvPr/>
        </p:nvCxnSpPr>
        <p:spPr>
          <a:xfrm flipH="1">
            <a:off x="4481670" y="4113731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24">
            <a:extLst>
              <a:ext uri="{FF2B5EF4-FFF2-40B4-BE49-F238E27FC236}">
                <a16:creationId xmlns:a16="http://schemas.microsoft.com/office/drawing/2014/main" id="{0A1CA7CD-D6E5-3BDB-DA37-D5E3659F9518}"/>
              </a:ext>
            </a:extLst>
          </p:cNvPr>
          <p:cNvSpPr txBox="1"/>
          <p:nvPr/>
        </p:nvSpPr>
        <p:spPr>
          <a:xfrm>
            <a:off x="1393467" y="3828138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172.16.16.128</a:t>
            </a:r>
          </a:p>
        </p:txBody>
      </p:sp>
      <p:sp>
        <p:nvSpPr>
          <p:cNvPr id="44" name="TextBox 25">
            <a:extLst>
              <a:ext uri="{FF2B5EF4-FFF2-40B4-BE49-F238E27FC236}">
                <a16:creationId xmlns:a16="http://schemas.microsoft.com/office/drawing/2014/main" id="{6D5F7433-6062-C095-E725-B2AD979EA4A5}"/>
              </a:ext>
            </a:extLst>
          </p:cNvPr>
          <p:cNvSpPr txBox="1"/>
          <p:nvPr/>
        </p:nvSpPr>
        <p:spPr>
          <a:xfrm>
            <a:off x="3944221" y="3856313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74.125.95.104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3961D692-C228-7FA4-C4D4-2A2B183BABBE}"/>
              </a:ext>
            </a:extLst>
          </p:cNvPr>
          <p:cNvCxnSpPr>
            <a:cxnSpLocks/>
          </p:cNvCxnSpPr>
          <p:nvPr/>
        </p:nvCxnSpPr>
        <p:spPr>
          <a:xfrm>
            <a:off x="2329239" y="4271906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0E1BB12-349E-5FC6-32BF-7BF4AA589B7B}"/>
              </a:ext>
            </a:extLst>
          </p:cNvPr>
          <p:cNvSpPr txBox="1"/>
          <p:nvPr/>
        </p:nvSpPr>
        <p:spPr>
          <a:xfrm rot="271128">
            <a:off x="3129112" y="412800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F70BF87-9984-F212-A27F-956430870D44}"/>
              </a:ext>
            </a:extLst>
          </p:cNvPr>
          <p:cNvCxnSpPr/>
          <p:nvPr/>
        </p:nvCxnSpPr>
        <p:spPr>
          <a:xfrm flipH="1">
            <a:off x="2330060" y="4767279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4E2C52C4-800C-7E82-40C5-FFF45F4D44D2}"/>
              </a:ext>
            </a:extLst>
          </p:cNvPr>
          <p:cNvSpPr txBox="1"/>
          <p:nvPr/>
        </p:nvSpPr>
        <p:spPr>
          <a:xfrm rot="21307504">
            <a:off x="2870736" y="4549034"/>
            <a:ext cx="9925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F0CB80C3-96B0-1B76-0775-70CEE0295EB0}"/>
              </a:ext>
            </a:extLst>
          </p:cNvPr>
          <p:cNvCxnSpPr>
            <a:cxnSpLocks/>
          </p:cNvCxnSpPr>
          <p:nvPr/>
        </p:nvCxnSpPr>
        <p:spPr>
          <a:xfrm>
            <a:off x="2330966" y="5111351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오른쪽 대괄호 49">
            <a:extLst>
              <a:ext uri="{FF2B5EF4-FFF2-40B4-BE49-F238E27FC236}">
                <a16:creationId xmlns:a16="http://schemas.microsoft.com/office/drawing/2014/main" id="{297113DA-3425-3DD2-F8FC-8D7597E99086}"/>
              </a:ext>
            </a:extLst>
          </p:cNvPr>
          <p:cNvSpPr/>
          <p:nvPr/>
        </p:nvSpPr>
        <p:spPr>
          <a:xfrm>
            <a:off x="4503509" y="4480160"/>
            <a:ext cx="272549" cy="301849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842100-1008-4C08-ECC6-8F1129F9804D}"/>
              </a:ext>
            </a:extLst>
          </p:cNvPr>
          <p:cNvSpPr txBox="1"/>
          <p:nvPr/>
        </p:nvSpPr>
        <p:spPr>
          <a:xfrm rot="271128">
            <a:off x="3186741" y="4973559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F73BDEA9-73C7-206A-1BC6-8665265BB280}"/>
              </a:ext>
            </a:extLst>
          </p:cNvPr>
          <p:cNvCxnSpPr>
            <a:cxnSpLocks/>
          </p:cNvCxnSpPr>
          <p:nvPr/>
        </p:nvCxnSpPr>
        <p:spPr>
          <a:xfrm>
            <a:off x="2347885" y="5335591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94F5B73-DAA1-9B83-CB93-037547713437}"/>
              </a:ext>
            </a:extLst>
          </p:cNvPr>
          <p:cNvSpPr txBox="1"/>
          <p:nvPr/>
        </p:nvSpPr>
        <p:spPr>
          <a:xfrm rot="271128">
            <a:off x="2940222" y="5208040"/>
            <a:ext cx="101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F55D19E0-23DB-03B3-31AA-5EDE2A7DB4A3}"/>
              </a:ext>
            </a:extLst>
          </p:cNvPr>
          <p:cNvCxnSpPr/>
          <p:nvPr/>
        </p:nvCxnSpPr>
        <p:spPr>
          <a:xfrm flipH="1">
            <a:off x="2358190" y="5811816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오른쪽 대괄호 54">
            <a:extLst>
              <a:ext uri="{FF2B5EF4-FFF2-40B4-BE49-F238E27FC236}">
                <a16:creationId xmlns:a16="http://schemas.microsoft.com/office/drawing/2014/main" id="{FE5F9B56-2AF6-F0C6-C2C5-AECB8FBF428A}"/>
              </a:ext>
            </a:extLst>
          </p:cNvPr>
          <p:cNvSpPr/>
          <p:nvPr/>
        </p:nvSpPr>
        <p:spPr>
          <a:xfrm>
            <a:off x="4488578" y="5533067"/>
            <a:ext cx="247403" cy="287930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A4BAC91-615B-9E80-C569-02B920917F9D}"/>
              </a:ext>
            </a:extLst>
          </p:cNvPr>
          <p:cNvSpPr txBox="1"/>
          <p:nvPr/>
        </p:nvSpPr>
        <p:spPr>
          <a:xfrm rot="21307504">
            <a:off x="3204128" y="5626620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DE11771-9AE5-E6FB-F4D3-8761A3F7A24D}"/>
              </a:ext>
            </a:extLst>
          </p:cNvPr>
          <p:cNvSpPr txBox="1"/>
          <p:nvPr/>
        </p:nvSpPr>
        <p:spPr>
          <a:xfrm>
            <a:off x="4784183" y="4522917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67C06E-4141-465B-2850-727C77C63667}"/>
              </a:ext>
            </a:extLst>
          </p:cNvPr>
          <p:cNvSpPr txBox="1"/>
          <p:nvPr/>
        </p:nvSpPr>
        <p:spPr>
          <a:xfrm>
            <a:off x="4817799" y="5664651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0.048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44ECCCC-7BCE-E50E-A1A0-6CAA3475B78A}"/>
              </a:ext>
            </a:extLst>
          </p:cNvPr>
          <p:cNvSpPr txBox="1"/>
          <p:nvPr/>
        </p:nvSpPr>
        <p:spPr>
          <a:xfrm>
            <a:off x="4513772" y="6305082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정상 시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31B98C7-A3EA-304D-6628-818034EA8025}"/>
              </a:ext>
            </a:extLst>
          </p:cNvPr>
          <p:cNvSpPr txBox="1"/>
          <p:nvPr/>
        </p:nvSpPr>
        <p:spPr>
          <a:xfrm>
            <a:off x="10067185" y="6333045"/>
            <a:ext cx="14927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지연 발생 시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F94565D-CA4F-ED6B-B641-3901351E565B}"/>
              </a:ext>
            </a:extLst>
          </p:cNvPr>
          <p:cNvSpPr txBox="1"/>
          <p:nvPr/>
        </p:nvSpPr>
        <p:spPr>
          <a:xfrm>
            <a:off x="2178238" y="1541351"/>
            <a:ext cx="3531736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패킷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2</a:t>
            </a:r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와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5</a:t>
            </a:r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는 높은 지연 시간을 보여줌 </a:t>
            </a:r>
            <a:endParaRPr lang="ko-KR" altLang="en-US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D6DC12BE-3222-97BE-63F3-E6BE7050AD6D}"/>
              </a:ext>
            </a:extLst>
          </p:cNvPr>
          <p:cNvCxnSpPr/>
          <p:nvPr/>
        </p:nvCxnSpPr>
        <p:spPr>
          <a:xfrm flipH="1">
            <a:off x="1594417" y="1892550"/>
            <a:ext cx="594306" cy="4919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4E0F7B7-6569-2AD7-EE98-FD16EA53991C}"/>
              </a:ext>
            </a:extLst>
          </p:cNvPr>
          <p:cNvCxnSpPr/>
          <p:nvPr/>
        </p:nvCxnSpPr>
        <p:spPr>
          <a:xfrm flipH="1">
            <a:off x="1583782" y="1879905"/>
            <a:ext cx="766173" cy="1233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오른쪽 대괄호 67">
            <a:extLst>
              <a:ext uri="{FF2B5EF4-FFF2-40B4-BE49-F238E27FC236}">
                <a16:creationId xmlns:a16="http://schemas.microsoft.com/office/drawing/2014/main" id="{CC8BA465-733D-D40D-67CB-E631D24ED97E}"/>
              </a:ext>
            </a:extLst>
          </p:cNvPr>
          <p:cNvSpPr/>
          <p:nvPr/>
        </p:nvSpPr>
        <p:spPr>
          <a:xfrm flipH="1">
            <a:off x="2120030" y="4971810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오른쪽 대괄호 69">
            <a:extLst>
              <a:ext uri="{FF2B5EF4-FFF2-40B4-BE49-F238E27FC236}">
                <a16:creationId xmlns:a16="http://schemas.microsoft.com/office/drawing/2014/main" id="{1FF7C8EC-4248-3B0D-DF8A-3904363457E5}"/>
              </a:ext>
            </a:extLst>
          </p:cNvPr>
          <p:cNvSpPr/>
          <p:nvPr/>
        </p:nvSpPr>
        <p:spPr>
          <a:xfrm flipH="1">
            <a:off x="2109994" y="5137585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949149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그림 28">
            <a:extLst>
              <a:ext uri="{FF2B5EF4-FFF2-40B4-BE49-F238E27FC236}">
                <a16:creationId xmlns:a16="http://schemas.microsoft.com/office/drawing/2014/main" id="{D0AB57CE-4CCA-4BFC-BB4F-B292D75E6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3172" y="1248046"/>
            <a:ext cx="7727656" cy="2302154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D33D76-EC6E-8C13-DF3A-3846DF9D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4444" y="6405876"/>
            <a:ext cx="2743200" cy="365125"/>
          </a:xfrm>
        </p:spPr>
        <p:txBody>
          <a:bodyPr/>
          <a:lstStyle/>
          <a:p>
            <a:pPr algn="l"/>
            <a:fld id="{7B2209E9-2AE8-42A0-AB53-D13299BB30AF}" type="slidenum">
              <a:rPr lang="ko-KR" altLang="en-US" smtClean="0"/>
              <a:pPr algn="l"/>
              <a:t>45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8C3834-B353-90D3-D329-78A7D8AA2EBD}"/>
              </a:ext>
            </a:extLst>
          </p:cNvPr>
          <p:cNvSpPr/>
          <p:nvPr/>
        </p:nvSpPr>
        <p:spPr>
          <a:xfrm>
            <a:off x="2524988" y="2768598"/>
            <a:ext cx="957704" cy="34095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내용 개체 틀 5">
            <a:extLst>
              <a:ext uri="{FF2B5EF4-FFF2-40B4-BE49-F238E27FC236}">
                <a16:creationId xmlns:a16="http://schemas.microsoft.com/office/drawing/2014/main" id="{B58DF0CB-2D3E-20FF-FA22-F91429593BE3}"/>
              </a:ext>
            </a:extLst>
          </p:cNvPr>
          <p:cNvSpPr txBox="1">
            <a:spLocks/>
          </p:cNvSpPr>
          <p:nvPr/>
        </p:nvSpPr>
        <p:spPr>
          <a:xfrm>
            <a:off x="6238506" y="465142"/>
            <a:ext cx="4896114" cy="793010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41288">
              <a:lnSpc>
                <a:spcPct val="100000"/>
              </a:lnSpc>
            </a:pPr>
            <a:r>
              <a:rPr lang="en-US" altLang="ko-KR" sz="15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5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</a:t>
            </a:r>
            <a:r>
              <a:rPr lang="ko-KR" altLang="en-US" sz="15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</a:t>
            </a:r>
            <a:r>
              <a:rPr lang="en-US" altLang="ko-KR" sz="15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GET</a:t>
            </a:r>
            <a:r>
              <a:rPr lang="ko-KR" altLang="en-US" sz="15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전환이 신속하게 이뤄지지 않음</a:t>
            </a:r>
            <a:endParaRPr lang="en-US" altLang="ko-KR" sz="15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indent="-141288">
              <a:lnSpc>
                <a:spcPct val="100000"/>
              </a:lnSpc>
            </a:pPr>
            <a:r>
              <a:rPr lang="en-US" altLang="ko-KR" sz="15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GET</a:t>
            </a:r>
            <a:r>
              <a:rPr lang="ko-KR" altLang="en-US" sz="15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패킷의 생성과 전송은 응용계층까지의 처리가 필요 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D3A446E5-96F9-3FC7-DD99-028E3D0BE11F}"/>
              </a:ext>
            </a:extLst>
          </p:cNvPr>
          <p:cNvSpPr txBox="1">
            <a:spLocks/>
          </p:cNvSpPr>
          <p:nvPr/>
        </p:nvSpPr>
        <p:spPr>
          <a:xfrm>
            <a:off x="482833" y="552295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❸ 속도가 느린 통신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클라이언트 지연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endParaRPr lang="ko-KR" altLang="en-US" sz="2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4D347EB-CC87-1CDC-C332-6814C1E89D8D}"/>
              </a:ext>
            </a:extLst>
          </p:cNvPr>
          <p:cNvCxnSpPr>
            <a:cxnSpLocks/>
          </p:cNvCxnSpPr>
          <p:nvPr/>
        </p:nvCxnSpPr>
        <p:spPr>
          <a:xfrm>
            <a:off x="7412766" y="4112275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67AFED1-7750-665B-C04E-71434F78059A}"/>
              </a:ext>
            </a:extLst>
          </p:cNvPr>
          <p:cNvCxnSpPr>
            <a:cxnSpLocks/>
          </p:cNvCxnSpPr>
          <p:nvPr/>
        </p:nvCxnSpPr>
        <p:spPr>
          <a:xfrm flipH="1">
            <a:off x="9553995" y="4130598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24">
            <a:extLst>
              <a:ext uri="{FF2B5EF4-FFF2-40B4-BE49-F238E27FC236}">
                <a16:creationId xmlns:a16="http://schemas.microsoft.com/office/drawing/2014/main" id="{52606130-A9A7-B70D-B5DE-0AE10659AC4E}"/>
              </a:ext>
            </a:extLst>
          </p:cNvPr>
          <p:cNvSpPr txBox="1"/>
          <p:nvPr/>
        </p:nvSpPr>
        <p:spPr>
          <a:xfrm>
            <a:off x="6465792" y="3845005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172.16.16.128</a:t>
            </a:r>
          </a:p>
        </p:txBody>
      </p:sp>
      <p:sp>
        <p:nvSpPr>
          <p:cNvPr id="58" name="TextBox 25">
            <a:extLst>
              <a:ext uri="{FF2B5EF4-FFF2-40B4-BE49-F238E27FC236}">
                <a16:creationId xmlns:a16="http://schemas.microsoft.com/office/drawing/2014/main" id="{DEF8D1A1-9FF6-41CD-CEEB-D2BE2FCC42CB}"/>
              </a:ext>
            </a:extLst>
          </p:cNvPr>
          <p:cNvSpPr txBox="1"/>
          <p:nvPr/>
        </p:nvSpPr>
        <p:spPr>
          <a:xfrm>
            <a:off x="9016546" y="3873180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74.125.95.104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2D8D9B7-F031-AAAA-DEDB-844F3CFF0DCD}"/>
              </a:ext>
            </a:extLst>
          </p:cNvPr>
          <p:cNvCxnSpPr>
            <a:cxnSpLocks/>
          </p:cNvCxnSpPr>
          <p:nvPr/>
        </p:nvCxnSpPr>
        <p:spPr>
          <a:xfrm>
            <a:off x="7401564" y="4288773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14002C6-4C29-BCF3-6440-89ED71A2C97B}"/>
              </a:ext>
            </a:extLst>
          </p:cNvPr>
          <p:cNvSpPr txBox="1"/>
          <p:nvPr/>
        </p:nvSpPr>
        <p:spPr>
          <a:xfrm rot="271128">
            <a:off x="8201437" y="414486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B0013A0-0428-C883-DFA2-D4A77E1884B6}"/>
              </a:ext>
            </a:extLst>
          </p:cNvPr>
          <p:cNvCxnSpPr>
            <a:cxnSpLocks/>
          </p:cNvCxnSpPr>
          <p:nvPr/>
        </p:nvCxnSpPr>
        <p:spPr>
          <a:xfrm flipH="1">
            <a:off x="7441473" y="4761927"/>
            <a:ext cx="2119330" cy="128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95A25F3-19CA-CCE0-DF83-AF5C57DF51F6}"/>
              </a:ext>
            </a:extLst>
          </p:cNvPr>
          <p:cNvSpPr txBox="1"/>
          <p:nvPr/>
        </p:nvSpPr>
        <p:spPr>
          <a:xfrm rot="21414474">
            <a:off x="7955610" y="4585364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30D22B5-D2AE-1E66-3D7A-24D260CE9884}"/>
              </a:ext>
            </a:extLst>
          </p:cNvPr>
          <p:cNvCxnSpPr>
            <a:cxnSpLocks/>
          </p:cNvCxnSpPr>
          <p:nvPr/>
        </p:nvCxnSpPr>
        <p:spPr>
          <a:xfrm>
            <a:off x="7401563" y="5137639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대괄호 63">
            <a:extLst>
              <a:ext uri="{FF2B5EF4-FFF2-40B4-BE49-F238E27FC236}">
                <a16:creationId xmlns:a16="http://schemas.microsoft.com/office/drawing/2014/main" id="{8B4CA214-8DD5-5631-6315-AF83F5E3D5E0}"/>
              </a:ext>
            </a:extLst>
          </p:cNvPr>
          <p:cNvSpPr/>
          <p:nvPr/>
        </p:nvSpPr>
        <p:spPr>
          <a:xfrm>
            <a:off x="9575834" y="4497028"/>
            <a:ext cx="276973" cy="257204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3D7EBD-02C0-FA5A-38CC-E67A279C3186}"/>
              </a:ext>
            </a:extLst>
          </p:cNvPr>
          <p:cNvSpPr txBox="1"/>
          <p:nvPr/>
        </p:nvSpPr>
        <p:spPr>
          <a:xfrm rot="271128">
            <a:off x="8259066" y="499042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31A0E60-9984-DBB7-B69F-4BD3E966FF47}"/>
              </a:ext>
            </a:extLst>
          </p:cNvPr>
          <p:cNvCxnSpPr>
            <a:cxnSpLocks/>
          </p:cNvCxnSpPr>
          <p:nvPr/>
        </p:nvCxnSpPr>
        <p:spPr>
          <a:xfrm>
            <a:off x="7442612" y="5615049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0D32795-6F0B-4599-5103-F650BD19159E}"/>
              </a:ext>
            </a:extLst>
          </p:cNvPr>
          <p:cNvSpPr txBox="1"/>
          <p:nvPr/>
        </p:nvSpPr>
        <p:spPr>
          <a:xfrm rot="271128">
            <a:off x="7909496" y="5465484"/>
            <a:ext cx="10885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2AC5400-D72D-E620-0819-C5264A351182}"/>
              </a:ext>
            </a:extLst>
          </p:cNvPr>
          <p:cNvCxnSpPr/>
          <p:nvPr/>
        </p:nvCxnSpPr>
        <p:spPr>
          <a:xfrm flipH="1">
            <a:off x="7422435" y="6141453"/>
            <a:ext cx="2132155" cy="19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오른쪽 대괄호 68">
            <a:extLst>
              <a:ext uri="{FF2B5EF4-FFF2-40B4-BE49-F238E27FC236}">
                <a16:creationId xmlns:a16="http://schemas.microsoft.com/office/drawing/2014/main" id="{926D5CE8-87A8-A56C-86CC-0A1AF477667D}"/>
              </a:ext>
            </a:extLst>
          </p:cNvPr>
          <p:cNvSpPr/>
          <p:nvPr/>
        </p:nvSpPr>
        <p:spPr>
          <a:xfrm>
            <a:off x="9590618" y="5831549"/>
            <a:ext cx="247403" cy="287930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3B63AE-4390-DDA8-FC1B-D4954F43C324}"/>
              </a:ext>
            </a:extLst>
          </p:cNvPr>
          <p:cNvSpPr txBox="1"/>
          <p:nvPr/>
        </p:nvSpPr>
        <p:spPr>
          <a:xfrm rot="21307504">
            <a:off x="8280993" y="5906702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5BF45D-35AB-AE2A-8A8B-78C8FFD681C5}"/>
              </a:ext>
            </a:extLst>
          </p:cNvPr>
          <p:cNvSpPr txBox="1"/>
          <p:nvPr/>
        </p:nvSpPr>
        <p:spPr>
          <a:xfrm>
            <a:off x="9867838" y="451032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0.023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3810C4-7698-5369-3C17-3E8EFD223432}"/>
              </a:ext>
            </a:extLst>
          </p:cNvPr>
          <p:cNvSpPr txBox="1"/>
          <p:nvPr/>
        </p:nvSpPr>
        <p:spPr>
          <a:xfrm>
            <a:off x="9894565" y="5806237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0.046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46216C-BE53-DE18-31FB-200DCE5B429F}"/>
              </a:ext>
            </a:extLst>
          </p:cNvPr>
          <p:cNvSpPr txBox="1"/>
          <p:nvPr/>
        </p:nvSpPr>
        <p:spPr>
          <a:xfrm>
            <a:off x="9586097" y="6321949"/>
            <a:ext cx="12330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비정상 시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2836AE0-3FC9-0A15-1319-2C220DB6D807}"/>
              </a:ext>
            </a:extLst>
          </p:cNvPr>
          <p:cNvCxnSpPr>
            <a:cxnSpLocks/>
          </p:cNvCxnSpPr>
          <p:nvPr/>
        </p:nvCxnSpPr>
        <p:spPr>
          <a:xfrm>
            <a:off x="2311258" y="4112275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D0919BD-BF47-0DF7-C5F8-6AB0981562FB}"/>
              </a:ext>
            </a:extLst>
          </p:cNvPr>
          <p:cNvCxnSpPr>
            <a:cxnSpLocks/>
          </p:cNvCxnSpPr>
          <p:nvPr/>
        </p:nvCxnSpPr>
        <p:spPr>
          <a:xfrm flipH="1">
            <a:off x="4452487" y="4130598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24">
            <a:extLst>
              <a:ext uri="{FF2B5EF4-FFF2-40B4-BE49-F238E27FC236}">
                <a16:creationId xmlns:a16="http://schemas.microsoft.com/office/drawing/2014/main" id="{DE7AA772-B661-2173-6AA6-356E7246F4B7}"/>
              </a:ext>
            </a:extLst>
          </p:cNvPr>
          <p:cNvSpPr txBox="1"/>
          <p:nvPr/>
        </p:nvSpPr>
        <p:spPr>
          <a:xfrm>
            <a:off x="1364284" y="3845005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172.16.16.128</a:t>
            </a:r>
          </a:p>
        </p:txBody>
      </p:sp>
      <p:sp>
        <p:nvSpPr>
          <p:cNvPr id="77" name="TextBox 25">
            <a:extLst>
              <a:ext uri="{FF2B5EF4-FFF2-40B4-BE49-F238E27FC236}">
                <a16:creationId xmlns:a16="http://schemas.microsoft.com/office/drawing/2014/main" id="{A46E7C96-328D-56EE-9117-EDF824A107EC}"/>
              </a:ext>
            </a:extLst>
          </p:cNvPr>
          <p:cNvSpPr txBox="1"/>
          <p:nvPr/>
        </p:nvSpPr>
        <p:spPr>
          <a:xfrm>
            <a:off x="3915038" y="3873180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74.125.95.104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C1FF8F07-0C35-E2E7-AD08-AB0A31691B1A}"/>
              </a:ext>
            </a:extLst>
          </p:cNvPr>
          <p:cNvCxnSpPr>
            <a:cxnSpLocks/>
          </p:cNvCxnSpPr>
          <p:nvPr/>
        </p:nvCxnSpPr>
        <p:spPr>
          <a:xfrm>
            <a:off x="2300056" y="4288773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48F0679-F4C5-B8CF-E738-C9938FE90820}"/>
              </a:ext>
            </a:extLst>
          </p:cNvPr>
          <p:cNvSpPr txBox="1"/>
          <p:nvPr/>
        </p:nvSpPr>
        <p:spPr>
          <a:xfrm rot="271128">
            <a:off x="3099929" y="414486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2219FFB-74B1-E1F1-C467-89A3BBB8EED1}"/>
              </a:ext>
            </a:extLst>
          </p:cNvPr>
          <p:cNvCxnSpPr/>
          <p:nvPr/>
        </p:nvCxnSpPr>
        <p:spPr>
          <a:xfrm flipH="1">
            <a:off x="2300877" y="4784146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21DA6FD-FCA0-996F-808C-58476E260690}"/>
              </a:ext>
            </a:extLst>
          </p:cNvPr>
          <p:cNvSpPr txBox="1"/>
          <p:nvPr/>
        </p:nvSpPr>
        <p:spPr>
          <a:xfrm rot="21307504">
            <a:off x="2841553" y="4565901"/>
            <a:ext cx="9925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02851FE-58E0-915A-293E-AB3FF21FC44A}"/>
              </a:ext>
            </a:extLst>
          </p:cNvPr>
          <p:cNvCxnSpPr>
            <a:cxnSpLocks/>
          </p:cNvCxnSpPr>
          <p:nvPr/>
        </p:nvCxnSpPr>
        <p:spPr>
          <a:xfrm>
            <a:off x="2301783" y="512821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오른쪽 대괄호 82">
            <a:extLst>
              <a:ext uri="{FF2B5EF4-FFF2-40B4-BE49-F238E27FC236}">
                <a16:creationId xmlns:a16="http://schemas.microsoft.com/office/drawing/2014/main" id="{95277042-3D20-88E6-D886-7E1220C1B562}"/>
              </a:ext>
            </a:extLst>
          </p:cNvPr>
          <p:cNvSpPr/>
          <p:nvPr/>
        </p:nvSpPr>
        <p:spPr>
          <a:xfrm>
            <a:off x="4474326" y="4497027"/>
            <a:ext cx="272549" cy="301849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5F49318-2669-E08D-AA0E-9C0C97F95423}"/>
              </a:ext>
            </a:extLst>
          </p:cNvPr>
          <p:cNvSpPr txBox="1"/>
          <p:nvPr/>
        </p:nvSpPr>
        <p:spPr>
          <a:xfrm rot="271128">
            <a:off x="3157558" y="499042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B9C5E8D2-1921-EE93-4BF3-0E52A2EA399F}"/>
              </a:ext>
            </a:extLst>
          </p:cNvPr>
          <p:cNvCxnSpPr>
            <a:cxnSpLocks/>
          </p:cNvCxnSpPr>
          <p:nvPr/>
        </p:nvCxnSpPr>
        <p:spPr>
          <a:xfrm>
            <a:off x="2318702" y="535245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54D401C-4131-2D25-ED95-730998D2815D}"/>
              </a:ext>
            </a:extLst>
          </p:cNvPr>
          <p:cNvSpPr txBox="1"/>
          <p:nvPr/>
        </p:nvSpPr>
        <p:spPr>
          <a:xfrm rot="271128">
            <a:off x="2911039" y="5224907"/>
            <a:ext cx="101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91CE1A9-78EC-463A-4760-2B441B4CC3DA}"/>
              </a:ext>
            </a:extLst>
          </p:cNvPr>
          <p:cNvCxnSpPr/>
          <p:nvPr/>
        </p:nvCxnSpPr>
        <p:spPr>
          <a:xfrm flipH="1">
            <a:off x="2329007" y="5828683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오른쪽 대괄호 87">
            <a:extLst>
              <a:ext uri="{FF2B5EF4-FFF2-40B4-BE49-F238E27FC236}">
                <a16:creationId xmlns:a16="http://schemas.microsoft.com/office/drawing/2014/main" id="{DCF0FD61-E343-1AF8-B19C-3219781F038C}"/>
              </a:ext>
            </a:extLst>
          </p:cNvPr>
          <p:cNvSpPr/>
          <p:nvPr/>
        </p:nvSpPr>
        <p:spPr>
          <a:xfrm>
            <a:off x="4459395" y="5549934"/>
            <a:ext cx="247403" cy="287930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861FEA-E2C8-629A-1FF4-70C9EDFF47E2}"/>
              </a:ext>
            </a:extLst>
          </p:cNvPr>
          <p:cNvSpPr txBox="1"/>
          <p:nvPr/>
        </p:nvSpPr>
        <p:spPr>
          <a:xfrm rot="21307504">
            <a:off x="3174945" y="5643487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9FE9A34-9FDF-C151-0889-9495079DB21D}"/>
              </a:ext>
            </a:extLst>
          </p:cNvPr>
          <p:cNvSpPr txBox="1"/>
          <p:nvPr/>
        </p:nvSpPr>
        <p:spPr>
          <a:xfrm>
            <a:off x="4755000" y="4539784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69EC4F-6E7A-F7DD-E906-6BD6D709D2CD}"/>
              </a:ext>
            </a:extLst>
          </p:cNvPr>
          <p:cNvSpPr txBox="1"/>
          <p:nvPr/>
        </p:nvSpPr>
        <p:spPr>
          <a:xfrm>
            <a:off x="4761805" y="551651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0.048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860D20-BE66-666D-3CD8-20827172E79F}"/>
              </a:ext>
            </a:extLst>
          </p:cNvPr>
          <p:cNvSpPr txBox="1"/>
          <p:nvPr/>
        </p:nvSpPr>
        <p:spPr>
          <a:xfrm>
            <a:off x="4484589" y="6321949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정상 시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93" name="오른쪽 대괄호 92">
            <a:extLst>
              <a:ext uri="{FF2B5EF4-FFF2-40B4-BE49-F238E27FC236}">
                <a16:creationId xmlns:a16="http://schemas.microsoft.com/office/drawing/2014/main" id="{130CD3CA-440A-ED04-92C6-150F726ED8D8}"/>
              </a:ext>
            </a:extLst>
          </p:cNvPr>
          <p:cNvSpPr/>
          <p:nvPr/>
        </p:nvSpPr>
        <p:spPr>
          <a:xfrm flipH="1">
            <a:off x="2090847" y="4988677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오른쪽 대괄호 93">
            <a:extLst>
              <a:ext uri="{FF2B5EF4-FFF2-40B4-BE49-F238E27FC236}">
                <a16:creationId xmlns:a16="http://schemas.microsoft.com/office/drawing/2014/main" id="{E981B43D-116D-676D-5928-4E5CD9175FDA}"/>
              </a:ext>
            </a:extLst>
          </p:cNvPr>
          <p:cNvSpPr/>
          <p:nvPr/>
        </p:nvSpPr>
        <p:spPr>
          <a:xfrm flipH="1">
            <a:off x="2080811" y="5154452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오른쪽 대괄호 94">
            <a:extLst>
              <a:ext uri="{FF2B5EF4-FFF2-40B4-BE49-F238E27FC236}">
                <a16:creationId xmlns:a16="http://schemas.microsoft.com/office/drawing/2014/main" id="{1B405601-6BC1-517B-7F86-6B9F9F5DCC31}"/>
              </a:ext>
            </a:extLst>
          </p:cNvPr>
          <p:cNvSpPr/>
          <p:nvPr/>
        </p:nvSpPr>
        <p:spPr>
          <a:xfrm flipH="1">
            <a:off x="2091116" y="4988677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오른쪽 대괄호 95">
            <a:extLst>
              <a:ext uri="{FF2B5EF4-FFF2-40B4-BE49-F238E27FC236}">
                <a16:creationId xmlns:a16="http://schemas.microsoft.com/office/drawing/2014/main" id="{178FC29F-1100-5C54-D8B6-AB6D7501C2A5}"/>
              </a:ext>
            </a:extLst>
          </p:cNvPr>
          <p:cNvSpPr/>
          <p:nvPr/>
        </p:nvSpPr>
        <p:spPr>
          <a:xfrm flipH="1">
            <a:off x="7174875" y="5139213"/>
            <a:ext cx="196308" cy="410721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9367F7E-15CF-C105-D8BE-D616852DB6AB}"/>
              </a:ext>
            </a:extLst>
          </p:cNvPr>
          <p:cNvSpPr txBox="1"/>
          <p:nvPr/>
        </p:nvSpPr>
        <p:spPr>
          <a:xfrm>
            <a:off x="6573570" y="5185284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1.345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F558876-5CE9-BBC1-E9A1-33A64F375B6A}"/>
              </a:ext>
            </a:extLst>
          </p:cNvPr>
          <p:cNvSpPr txBox="1"/>
          <p:nvPr/>
        </p:nvSpPr>
        <p:spPr>
          <a:xfrm>
            <a:off x="1408460" y="5044360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0.000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FE270CF-B21C-0F29-6F19-320F45630B00}"/>
              </a:ext>
            </a:extLst>
          </p:cNvPr>
          <p:cNvSpPr txBox="1"/>
          <p:nvPr/>
        </p:nvSpPr>
        <p:spPr>
          <a:xfrm>
            <a:off x="1426829" y="4851508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0.000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오른쪽 대괄호 99">
            <a:extLst>
              <a:ext uri="{FF2B5EF4-FFF2-40B4-BE49-F238E27FC236}">
                <a16:creationId xmlns:a16="http://schemas.microsoft.com/office/drawing/2014/main" id="{9910B9AF-6B7D-E2D1-1285-67CF0DDDB071}"/>
              </a:ext>
            </a:extLst>
          </p:cNvPr>
          <p:cNvSpPr/>
          <p:nvPr/>
        </p:nvSpPr>
        <p:spPr>
          <a:xfrm flipH="1">
            <a:off x="7174874" y="4915297"/>
            <a:ext cx="245174" cy="161171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508B3CB-B371-C9B3-5ED4-1560994219A7}"/>
              </a:ext>
            </a:extLst>
          </p:cNvPr>
          <p:cNvSpPr txBox="1"/>
          <p:nvPr/>
        </p:nvSpPr>
        <p:spPr>
          <a:xfrm>
            <a:off x="6562874" y="482060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0.014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473B2D9D-E569-50AE-5D57-FFDC67EFE5D8}"/>
              </a:ext>
            </a:extLst>
          </p:cNvPr>
          <p:cNvCxnSpPr>
            <a:cxnSpLocks/>
          </p:cNvCxnSpPr>
          <p:nvPr/>
        </p:nvCxnSpPr>
        <p:spPr>
          <a:xfrm flipH="1">
            <a:off x="3332609" y="1298066"/>
            <a:ext cx="3911369" cy="14705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화살표 연결선 105">
            <a:extLst>
              <a:ext uri="{FF2B5EF4-FFF2-40B4-BE49-F238E27FC236}">
                <a16:creationId xmlns:a16="http://schemas.microsoft.com/office/drawing/2014/main" id="{DC0C7E10-03DE-3500-E475-DF8EC4D658CA}"/>
              </a:ext>
            </a:extLst>
          </p:cNvPr>
          <p:cNvCxnSpPr/>
          <p:nvPr/>
        </p:nvCxnSpPr>
        <p:spPr>
          <a:xfrm flipH="1">
            <a:off x="2310329" y="6238729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34E4AEA0-75CA-37B3-ADBE-B91A794F8F2A}"/>
              </a:ext>
            </a:extLst>
          </p:cNvPr>
          <p:cNvSpPr txBox="1"/>
          <p:nvPr/>
        </p:nvSpPr>
        <p:spPr>
          <a:xfrm rot="21307504">
            <a:off x="3189576" y="6073849"/>
            <a:ext cx="63190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오른쪽 대괄호 107">
            <a:extLst>
              <a:ext uri="{FF2B5EF4-FFF2-40B4-BE49-F238E27FC236}">
                <a16:creationId xmlns:a16="http://schemas.microsoft.com/office/drawing/2014/main" id="{4267C147-2D92-87EF-4B77-E8770D15EF86}"/>
              </a:ext>
            </a:extLst>
          </p:cNvPr>
          <p:cNvSpPr/>
          <p:nvPr/>
        </p:nvSpPr>
        <p:spPr>
          <a:xfrm>
            <a:off x="4496610" y="5891375"/>
            <a:ext cx="272549" cy="301848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AB4732D-E9D5-D2DA-4B30-DE6B964082A2}"/>
              </a:ext>
            </a:extLst>
          </p:cNvPr>
          <p:cNvSpPr txBox="1"/>
          <p:nvPr/>
        </p:nvSpPr>
        <p:spPr>
          <a:xfrm>
            <a:off x="4743075" y="588918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0.016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276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E961421-3DEC-E89B-850A-483D4BE28C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446" y="1084878"/>
            <a:ext cx="8065812" cy="2544885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BD33D76-EC6E-8C13-DF3A-3846DF9D0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04444" y="6405876"/>
            <a:ext cx="2743200" cy="365125"/>
          </a:xfrm>
        </p:spPr>
        <p:txBody>
          <a:bodyPr/>
          <a:lstStyle/>
          <a:p>
            <a:pPr algn="l"/>
            <a:fld id="{7B2209E9-2AE8-42A0-AB53-D13299BB30AF}" type="slidenum">
              <a:rPr lang="ko-KR" altLang="en-US" smtClean="0"/>
              <a:pPr algn="l"/>
              <a:t>46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8C3834-B353-90D3-D329-78A7D8AA2EBD}"/>
              </a:ext>
            </a:extLst>
          </p:cNvPr>
          <p:cNvSpPr/>
          <p:nvPr/>
        </p:nvSpPr>
        <p:spPr>
          <a:xfrm>
            <a:off x="2794885" y="3157668"/>
            <a:ext cx="860063" cy="45609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내용 개체 틀 5">
            <a:extLst>
              <a:ext uri="{FF2B5EF4-FFF2-40B4-BE49-F238E27FC236}">
                <a16:creationId xmlns:a16="http://schemas.microsoft.com/office/drawing/2014/main" id="{B58DF0CB-2D3E-20FF-FA22-F91429593BE3}"/>
              </a:ext>
            </a:extLst>
          </p:cNvPr>
          <p:cNvSpPr txBox="1">
            <a:spLocks/>
          </p:cNvSpPr>
          <p:nvPr/>
        </p:nvSpPr>
        <p:spPr>
          <a:xfrm>
            <a:off x="6238505" y="465142"/>
            <a:ext cx="5470661" cy="793010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141288">
              <a:lnSpc>
                <a:spcPct val="100000"/>
              </a:lnSpc>
            </a:pPr>
            <a:r>
              <a:rPr lang="en-US" altLang="ko-KR" sz="15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5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</a:t>
            </a:r>
            <a:r>
              <a:rPr lang="ko-KR" altLang="en-US" sz="15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보내고 바로 서버는 데이터를 보내야 함 </a:t>
            </a:r>
            <a:endParaRPr lang="en-US" altLang="ko-KR" sz="15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indent="-141288">
              <a:lnSpc>
                <a:spcPct val="100000"/>
              </a:lnSpc>
            </a:pPr>
            <a:r>
              <a:rPr lang="en-US" altLang="ko-KR" sz="15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5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서버가 적절한 시간 내에 데이터를 처리하지 못했음을 나타냄</a:t>
            </a:r>
            <a:endParaRPr lang="ko-KR" altLang="en-US" sz="15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D3A446E5-96F9-3FC7-DD99-028E3D0BE11F}"/>
              </a:ext>
            </a:extLst>
          </p:cNvPr>
          <p:cNvSpPr txBox="1">
            <a:spLocks/>
          </p:cNvSpPr>
          <p:nvPr/>
        </p:nvSpPr>
        <p:spPr>
          <a:xfrm>
            <a:off x="695696" y="347709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❹ 속도가 느린 통신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 지연</a:t>
            </a:r>
            <a:r>
              <a:rPr lang="en-US" altLang="ko-KR" sz="2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endParaRPr lang="ko-KR" altLang="en-US" sz="2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4D347EB-CC87-1CDC-C332-6814C1E89D8D}"/>
              </a:ext>
            </a:extLst>
          </p:cNvPr>
          <p:cNvCxnSpPr>
            <a:cxnSpLocks/>
          </p:cNvCxnSpPr>
          <p:nvPr/>
        </p:nvCxnSpPr>
        <p:spPr>
          <a:xfrm>
            <a:off x="7412766" y="4112275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67AFED1-7750-665B-C04E-71434F78059A}"/>
              </a:ext>
            </a:extLst>
          </p:cNvPr>
          <p:cNvCxnSpPr>
            <a:cxnSpLocks/>
          </p:cNvCxnSpPr>
          <p:nvPr/>
        </p:nvCxnSpPr>
        <p:spPr>
          <a:xfrm flipH="1">
            <a:off x="9553995" y="4130598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24">
            <a:extLst>
              <a:ext uri="{FF2B5EF4-FFF2-40B4-BE49-F238E27FC236}">
                <a16:creationId xmlns:a16="http://schemas.microsoft.com/office/drawing/2014/main" id="{52606130-A9A7-B70D-B5DE-0AE10659AC4E}"/>
              </a:ext>
            </a:extLst>
          </p:cNvPr>
          <p:cNvSpPr txBox="1"/>
          <p:nvPr/>
        </p:nvSpPr>
        <p:spPr>
          <a:xfrm>
            <a:off x="6465792" y="3845005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172.16.16.128</a:t>
            </a:r>
          </a:p>
        </p:txBody>
      </p:sp>
      <p:sp>
        <p:nvSpPr>
          <p:cNvPr id="58" name="TextBox 25">
            <a:extLst>
              <a:ext uri="{FF2B5EF4-FFF2-40B4-BE49-F238E27FC236}">
                <a16:creationId xmlns:a16="http://schemas.microsoft.com/office/drawing/2014/main" id="{DEF8D1A1-9FF6-41CD-CEEB-D2BE2FCC42CB}"/>
              </a:ext>
            </a:extLst>
          </p:cNvPr>
          <p:cNvSpPr txBox="1"/>
          <p:nvPr/>
        </p:nvSpPr>
        <p:spPr>
          <a:xfrm>
            <a:off x="9016546" y="3873180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74.125.95.104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62D8D9B7-F031-AAAA-DEDB-844F3CFF0DCD}"/>
              </a:ext>
            </a:extLst>
          </p:cNvPr>
          <p:cNvCxnSpPr>
            <a:cxnSpLocks/>
          </p:cNvCxnSpPr>
          <p:nvPr/>
        </p:nvCxnSpPr>
        <p:spPr>
          <a:xfrm>
            <a:off x="7401564" y="4288773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14002C6-4C29-BCF3-6440-89ED71A2C97B}"/>
              </a:ext>
            </a:extLst>
          </p:cNvPr>
          <p:cNvSpPr txBox="1"/>
          <p:nvPr/>
        </p:nvSpPr>
        <p:spPr>
          <a:xfrm rot="271128">
            <a:off x="8201437" y="414486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B0013A0-0428-C883-DFA2-D4A77E1884B6}"/>
              </a:ext>
            </a:extLst>
          </p:cNvPr>
          <p:cNvCxnSpPr>
            <a:cxnSpLocks/>
          </p:cNvCxnSpPr>
          <p:nvPr/>
        </p:nvCxnSpPr>
        <p:spPr>
          <a:xfrm flipH="1">
            <a:off x="7441473" y="4761927"/>
            <a:ext cx="2119330" cy="128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95A25F3-19CA-CCE0-DF83-AF5C57DF51F6}"/>
              </a:ext>
            </a:extLst>
          </p:cNvPr>
          <p:cNvSpPr txBox="1"/>
          <p:nvPr/>
        </p:nvSpPr>
        <p:spPr>
          <a:xfrm rot="21414474">
            <a:off x="7955610" y="4585364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630D22B5-D2AE-1E66-3D7A-24D260CE9884}"/>
              </a:ext>
            </a:extLst>
          </p:cNvPr>
          <p:cNvCxnSpPr>
            <a:cxnSpLocks/>
          </p:cNvCxnSpPr>
          <p:nvPr/>
        </p:nvCxnSpPr>
        <p:spPr>
          <a:xfrm>
            <a:off x="7401563" y="5137639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오른쪽 대괄호 63">
            <a:extLst>
              <a:ext uri="{FF2B5EF4-FFF2-40B4-BE49-F238E27FC236}">
                <a16:creationId xmlns:a16="http://schemas.microsoft.com/office/drawing/2014/main" id="{8B4CA214-8DD5-5631-6315-AF83F5E3D5E0}"/>
              </a:ext>
            </a:extLst>
          </p:cNvPr>
          <p:cNvSpPr/>
          <p:nvPr/>
        </p:nvSpPr>
        <p:spPr>
          <a:xfrm>
            <a:off x="9575834" y="4497028"/>
            <a:ext cx="276973" cy="257204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3D7EBD-02C0-FA5A-38CC-E67A279C3186}"/>
              </a:ext>
            </a:extLst>
          </p:cNvPr>
          <p:cNvSpPr txBox="1"/>
          <p:nvPr/>
        </p:nvSpPr>
        <p:spPr>
          <a:xfrm rot="271128">
            <a:off x="8259066" y="499042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931A0E60-9984-DBB7-B69F-4BD3E966FF47}"/>
              </a:ext>
            </a:extLst>
          </p:cNvPr>
          <p:cNvCxnSpPr>
            <a:cxnSpLocks/>
          </p:cNvCxnSpPr>
          <p:nvPr/>
        </p:nvCxnSpPr>
        <p:spPr>
          <a:xfrm>
            <a:off x="7442612" y="543145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D0D32795-6F0B-4599-5103-F650BD19159E}"/>
              </a:ext>
            </a:extLst>
          </p:cNvPr>
          <p:cNvSpPr txBox="1"/>
          <p:nvPr/>
        </p:nvSpPr>
        <p:spPr>
          <a:xfrm rot="271128">
            <a:off x="7975052" y="5259282"/>
            <a:ext cx="101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62AC5400-D72D-E620-0819-C5264A351182}"/>
              </a:ext>
            </a:extLst>
          </p:cNvPr>
          <p:cNvCxnSpPr/>
          <p:nvPr/>
        </p:nvCxnSpPr>
        <p:spPr>
          <a:xfrm flipH="1">
            <a:off x="7408342" y="5925959"/>
            <a:ext cx="2132155" cy="19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오른쪽 대괄호 68">
            <a:extLst>
              <a:ext uri="{FF2B5EF4-FFF2-40B4-BE49-F238E27FC236}">
                <a16:creationId xmlns:a16="http://schemas.microsoft.com/office/drawing/2014/main" id="{926D5CE8-87A8-A56C-86CC-0A1AF477667D}"/>
              </a:ext>
            </a:extLst>
          </p:cNvPr>
          <p:cNvSpPr/>
          <p:nvPr/>
        </p:nvSpPr>
        <p:spPr>
          <a:xfrm>
            <a:off x="9589445" y="5644549"/>
            <a:ext cx="247403" cy="287930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D3B63AE-4390-DDA8-FC1B-D4954F43C324}"/>
              </a:ext>
            </a:extLst>
          </p:cNvPr>
          <p:cNvSpPr txBox="1"/>
          <p:nvPr/>
        </p:nvSpPr>
        <p:spPr>
          <a:xfrm rot="21307504">
            <a:off x="8240180" y="5741819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C5BF45D-35AB-AE2A-8A8B-78C8FFD681C5}"/>
              </a:ext>
            </a:extLst>
          </p:cNvPr>
          <p:cNvSpPr txBox="1"/>
          <p:nvPr/>
        </p:nvSpPr>
        <p:spPr>
          <a:xfrm>
            <a:off x="9867838" y="451032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0.018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93810C4-7698-5369-3C17-3E8EFD223432}"/>
              </a:ext>
            </a:extLst>
          </p:cNvPr>
          <p:cNvSpPr txBox="1"/>
          <p:nvPr/>
        </p:nvSpPr>
        <p:spPr>
          <a:xfrm>
            <a:off x="9813360" y="5619237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0.047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12836AE0-3FC9-0A15-1319-2C220DB6D807}"/>
              </a:ext>
            </a:extLst>
          </p:cNvPr>
          <p:cNvCxnSpPr>
            <a:cxnSpLocks/>
          </p:cNvCxnSpPr>
          <p:nvPr/>
        </p:nvCxnSpPr>
        <p:spPr>
          <a:xfrm>
            <a:off x="2311258" y="4112275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8D0919BD-BF47-0DF7-C5F8-6AB0981562FB}"/>
              </a:ext>
            </a:extLst>
          </p:cNvPr>
          <p:cNvCxnSpPr>
            <a:cxnSpLocks/>
          </p:cNvCxnSpPr>
          <p:nvPr/>
        </p:nvCxnSpPr>
        <p:spPr>
          <a:xfrm flipH="1">
            <a:off x="4452487" y="4130598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24">
            <a:extLst>
              <a:ext uri="{FF2B5EF4-FFF2-40B4-BE49-F238E27FC236}">
                <a16:creationId xmlns:a16="http://schemas.microsoft.com/office/drawing/2014/main" id="{DE7AA772-B661-2173-6AA6-356E7246F4B7}"/>
              </a:ext>
            </a:extLst>
          </p:cNvPr>
          <p:cNvSpPr txBox="1"/>
          <p:nvPr/>
        </p:nvSpPr>
        <p:spPr>
          <a:xfrm>
            <a:off x="1364284" y="3845005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172.16.16.128</a:t>
            </a:r>
          </a:p>
        </p:txBody>
      </p:sp>
      <p:sp>
        <p:nvSpPr>
          <p:cNvPr id="77" name="TextBox 25">
            <a:extLst>
              <a:ext uri="{FF2B5EF4-FFF2-40B4-BE49-F238E27FC236}">
                <a16:creationId xmlns:a16="http://schemas.microsoft.com/office/drawing/2014/main" id="{A46E7C96-328D-56EE-9117-EDF824A107EC}"/>
              </a:ext>
            </a:extLst>
          </p:cNvPr>
          <p:cNvSpPr txBox="1"/>
          <p:nvPr/>
        </p:nvSpPr>
        <p:spPr>
          <a:xfrm>
            <a:off x="3915038" y="3873180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74.125.95.104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C1FF8F07-0C35-E2E7-AD08-AB0A31691B1A}"/>
              </a:ext>
            </a:extLst>
          </p:cNvPr>
          <p:cNvCxnSpPr>
            <a:cxnSpLocks/>
          </p:cNvCxnSpPr>
          <p:nvPr/>
        </p:nvCxnSpPr>
        <p:spPr>
          <a:xfrm>
            <a:off x="2300056" y="4288773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48F0679-F4C5-B8CF-E738-C9938FE90820}"/>
              </a:ext>
            </a:extLst>
          </p:cNvPr>
          <p:cNvSpPr txBox="1"/>
          <p:nvPr/>
        </p:nvSpPr>
        <p:spPr>
          <a:xfrm rot="271128">
            <a:off x="3099929" y="4144867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72219FFB-74B1-E1F1-C467-89A3BBB8EED1}"/>
              </a:ext>
            </a:extLst>
          </p:cNvPr>
          <p:cNvCxnSpPr/>
          <p:nvPr/>
        </p:nvCxnSpPr>
        <p:spPr>
          <a:xfrm flipH="1">
            <a:off x="2300877" y="4784146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A21DA6FD-FCA0-996F-808C-58476E260690}"/>
              </a:ext>
            </a:extLst>
          </p:cNvPr>
          <p:cNvSpPr txBox="1"/>
          <p:nvPr/>
        </p:nvSpPr>
        <p:spPr>
          <a:xfrm rot="21307504">
            <a:off x="2841553" y="4565901"/>
            <a:ext cx="99257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102851FE-58E0-915A-293E-AB3FF21FC44A}"/>
              </a:ext>
            </a:extLst>
          </p:cNvPr>
          <p:cNvCxnSpPr>
            <a:cxnSpLocks/>
          </p:cNvCxnSpPr>
          <p:nvPr/>
        </p:nvCxnSpPr>
        <p:spPr>
          <a:xfrm>
            <a:off x="2301783" y="512821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오른쪽 대괄호 82">
            <a:extLst>
              <a:ext uri="{FF2B5EF4-FFF2-40B4-BE49-F238E27FC236}">
                <a16:creationId xmlns:a16="http://schemas.microsoft.com/office/drawing/2014/main" id="{95277042-3D20-88E6-D886-7E1220C1B562}"/>
              </a:ext>
            </a:extLst>
          </p:cNvPr>
          <p:cNvSpPr/>
          <p:nvPr/>
        </p:nvSpPr>
        <p:spPr>
          <a:xfrm>
            <a:off x="4474326" y="4497027"/>
            <a:ext cx="272549" cy="301849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5F49318-2669-E08D-AA0E-9C0C97F95423}"/>
              </a:ext>
            </a:extLst>
          </p:cNvPr>
          <p:cNvSpPr txBox="1"/>
          <p:nvPr/>
        </p:nvSpPr>
        <p:spPr>
          <a:xfrm rot="271128">
            <a:off x="3157558" y="4990426"/>
            <a:ext cx="583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B9C5E8D2-1921-EE93-4BF3-0E52A2EA399F}"/>
              </a:ext>
            </a:extLst>
          </p:cNvPr>
          <p:cNvCxnSpPr>
            <a:cxnSpLocks/>
          </p:cNvCxnSpPr>
          <p:nvPr/>
        </p:nvCxnSpPr>
        <p:spPr>
          <a:xfrm>
            <a:off x="2318702" y="535245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754D401C-4131-2D25-ED95-730998D2815D}"/>
              </a:ext>
            </a:extLst>
          </p:cNvPr>
          <p:cNvSpPr txBox="1"/>
          <p:nvPr/>
        </p:nvSpPr>
        <p:spPr>
          <a:xfrm rot="271128">
            <a:off x="2911039" y="5224907"/>
            <a:ext cx="10179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GET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591CE1A9-78EC-463A-4760-2B441B4CC3DA}"/>
              </a:ext>
            </a:extLst>
          </p:cNvPr>
          <p:cNvCxnSpPr/>
          <p:nvPr/>
        </p:nvCxnSpPr>
        <p:spPr>
          <a:xfrm flipH="1">
            <a:off x="2329007" y="5828683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오른쪽 대괄호 87">
            <a:extLst>
              <a:ext uri="{FF2B5EF4-FFF2-40B4-BE49-F238E27FC236}">
                <a16:creationId xmlns:a16="http://schemas.microsoft.com/office/drawing/2014/main" id="{DCF0FD61-E343-1AF8-B19C-3219781F038C}"/>
              </a:ext>
            </a:extLst>
          </p:cNvPr>
          <p:cNvSpPr/>
          <p:nvPr/>
        </p:nvSpPr>
        <p:spPr>
          <a:xfrm>
            <a:off x="4459395" y="5549934"/>
            <a:ext cx="247403" cy="287930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861FEA-E2C8-629A-1FF4-70C9EDFF47E2}"/>
              </a:ext>
            </a:extLst>
          </p:cNvPr>
          <p:cNvSpPr txBox="1"/>
          <p:nvPr/>
        </p:nvSpPr>
        <p:spPr>
          <a:xfrm rot="21307504">
            <a:off x="3174945" y="5643487"/>
            <a:ext cx="58381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B9FE9A34-9FDF-C151-0889-9495079DB21D}"/>
              </a:ext>
            </a:extLst>
          </p:cNvPr>
          <p:cNvSpPr txBox="1"/>
          <p:nvPr/>
        </p:nvSpPr>
        <p:spPr>
          <a:xfrm>
            <a:off x="4755000" y="4539784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0.030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169EC4F-6E7A-F7DD-E906-6BD6D709D2CD}"/>
              </a:ext>
            </a:extLst>
          </p:cNvPr>
          <p:cNvSpPr txBox="1"/>
          <p:nvPr/>
        </p:nvSpPr>
        <p:spPr>
          <a:xfrm>
            <a:off x="4761805" y="5516516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0.048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B860D20-BE66-666D-3CD8-20827172E79F}"/>
              </a:ext>
            </a:extLst>
          </p:cNvPr>
          <p:cNvSpPr txBox="1"/>
          <p:nvPr/>
        </p:nvSpPr>
        <p:spPr>
          <a:xfrm>
            <a:off x="4484589" y="6321949"/>
            <a:ext cx="10342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정상 시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93" name="오른쪽 대괄호 92">
            <a:extLst>
              <a:ext uri="{FF2B5EF4-FFF2-40B4-BE49-F238E27FC236}">
                <a16:creationId xmlns:a16="http://schemas.microsoft.com/office/drawing/2014/main" id="{130CD3CA-440A-ED04-92C6-150F726ED8D8}"/>
              </a:ext>
            </a:extLst>
          </p:cNvPr>
          <p:cNvSpPr/>
          <p:nvPr/>
        </p:nvSpPr>
        <p:spPr>
          <a:xfrm flipH="1">
            <a:off x="2090847" y="4988677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오른쪽 대괄호 93">
            <a:extLst>
              <a:ext uri="{FF2B5EF4-FFF2-40B4-BE49-F238E27FC236}">
                <a16:creationId xmlns:a16="http://schemas.microsoft.com/office/drawing/2014/main" id="{E981B43D-116D-676D-5928-4E5CD9175FDA}"/>
              </a:ext>
            </a:extLst>
          </p:cNvPr>
          <p:cNvSpPr/>
          <p:nvPr/>
        </p:nvSpPr>
        <p:spPr>
          <a:xfrm flipH="1">
            <a:off x="2080811" y="5154452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오른쪽 대괄호 94">
            <a:extLst>
              <a:ext uri="{FF2B5EF4-FFF2-40B4-BE49-F238E27FC236}">
                <a16:creationId xmlns:a16="http://schemas.microsoft.com/office/drawing/2014/main" id="{1B405601-6BC1-517B-7F86-6B9F9F5DCC31}"/>
              </a:ext>
            </a:extLst>
          </p:cNvPr>
          <p:cNvSpPr/>
          <p:nvPr/>
        </p:nvSpPr>
        <p:spPr>
          <a:xfrm flipH="1">
            <a:off x="2091116" y="4988677"/>
            <a:ext cx="237891" cy="111366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오른쪽 대괄호 95">
            <a:extLst>
              <a:ext uri="{FF2B5EF4-FFF2-40B4-BE49-F238E27FC236}">
                <a16:creationId xmlns:a16="http://schemas.microsoft.com/office/drawing/2014/main" id="{178FC29F-1100-5C54-D8B6-AB6D7501C2A5}"/>
              </a:ext>
            </a:extLst>
          </p:cNvPr>
          <p:cNvSpPr/>
          <p:nvPr/>
        </p:nvSpPr>
        <p:spPr>
          <a:xfrm flipH="1">
            <a:off x="7174875" y="5139213"/>
            <a:ext cx="203652" cy="213245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9367F7E-15CF-C105-D8BE-D616852DB6AB}"/>
              </a:ext>
            </a:extLst>
          </p:cNvPr>
          <p:cNvSpPr txBox="1"/>
          <p:nvPr/>
        </p:nvSpPr>
        <p:spPr>
          <a:xfrm>
            <a:off x="6573570" y="5185284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DF558876-5CE9-BBC1-E9A1-33A64F375B6A}"/>
              </a:ext>
            </a:extLst>
          </p:cNvPr>
          <p:cNvSpPr txBox="1"/>
          <p:nvPr/>
        </p:nvSpPr>
        <p:spPr>
          <a:xfrm>
            <a:off x="1408460" y="5044360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FE270CF-B21C-0F29-6F19-320F45630B00}"/>
              </a:ext>
            </a:extLst>
          </p:cNvPr>
          <p:cNvSpPr txBox="1"/>
          <p:nvPr/>
        </p:nvSpPr>
        <p:spPr>
          <a:xfrm>
            <a:off x="1426829" y="4851508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0.000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오른쪽 대괄호 99">
            <a:extLst>
              <a:ext uri="{FF2B5EF4-FFF2-40B4-BE49-F238E27FC236}">
                <a16:creationId xmlns:a16="http://schemas.microsoft.com/office/drawing/2014/main" id="{9910B9AF-6B7D-E2D1-1285-67CF0DDDB071}"/>
              </a:ext>
            </a:extLst>
          </p:cNvPr>
          <p:cNvSpPr/>
          <p:nvPr/>
        </p:nvSpPr>
        <p:spPr>
          <a:xfrm flipH="1">
            <a:off x="7174874" y="4915297"/>
            <a:ext cx="245174" cy="161171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D508B3CB-B371-C9B3-5ED4-1560994219A7}"/>
              </a:ext>
            </a:extLst>
          </p:cNvPr>
          <p:cNvSpPr txBox="1"/>
          <p:nvPr/>
        </p:nvSpPr>
        <p:spPr>
          <a:xfrm>
            <a:off x="6562874" y="4820609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0.016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473B2D9D-E569-50AE-5D57-FFDC67EFE5D8}"/>
              </a:ext>
            </a:extLst>
          </p:cNvPr>
          <p:cNvCxnSpPr>
            <a:cxnSpLocks/>
          </p:cNvCxnSpPr>
          <p:nvPr/>
        </p:nvCxnSpPr>
        <p:spPr>
          <a:xfrm flipH="1">
            <a:off x="3654948" y="1298066"/>
            <a:ext cx="3589030" cy="18596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1AF2321-ED45-26C2-1BA9-B99E9FB8175D}"/>
              </a:ext>
            </a:extLst>
          </p:cNvPr>
          <p:cNvCxnSpPr/>
          <p:nvPr/>
        </p:nvCxnSpPr>
        <p:spPr>
          <a:xfrm flipH="1">
            <a:off x="7408342" y="6482721"/>
            <a:ext cx="2132155" cy="19455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오른쪽 대괄호 5">
            <a:extLst>
              <a:ext uri="{FF2B5EF4-FFF2-40B4-BE49-F238E27FC236}">
                <a16:creationId xmlns:a16="http://schemas.microsoft.com/office/drawing/2014/main" id="{19A381C9-E0E7-BA33-8E54-7AAFEFF9EB0E}"/>
              </a:ext>
            </a:extLst>
          </p:cNvPr>
          <p:cNvSpPr/>
          <p:nvPr/>
        </p:nvSpPr>
        <p:spPr>
          <a:xfrm>
            <a:off x="9569463" y="5964893"/>
            <a:ext cx="174596" cy="517827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82753A-6307-5004-69B6-130B294E7A34}"/>
              </a:ext>
            </a:extLst>
          </p:cNvPr>
          <p:cNvSpPr txBox="1"/>
          <p:nvPr/>
        </p:nvSpPr>
        <p:spPr>
          <a:xfrm>
            <a:off x="9783642" y="6054304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0.982</a:t>
            </a:r>
            <a:endParaRPr lang="ko-KR" altLang="en-US" sz="1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82958-1989-EF95-AA8B-16DEEBA54232}"/>
              </a:ext>
            </a:extLst>
          </p:cNvPr>
          <p:cNvSpPr txBox="1"/>
          <p:nvPr/>
        </p:nvSpPr>
        <p:spPr>
          <a:xfrm rot="21307504">
            <a:off x="8284509" y="6264367"/>
            <a:ext cx="673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E7875CEC-890E-5FA2-E9EA-1A72A042B027}"/>
              </a:ext>
            </a:extLst>
          </p:cNvPr>
          <p:cNvCxnSpPr/>
          <p:nvPr/>
        </p:nvCxnSpPr>
        <p:spPr>
          <a:xfrm flipH="1">
            <a:off x="2290169" y="6140669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03EBB1B-C58D-AF31-5184-D8DC84C3FE5F}"/>
              </a:ext>
            </a:extLst>
          </p:cNvPr>
          <p:cNvSpPr txBox="1"/>
          <p:nvPr/>
        </p:nvSpPr>
        <p:spPr>
          <a:xfrm rot="21307504">
            <a:off x="3189576" y="5957137"/>
            <a:ext cx="631904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오른쪽 대괄호 10">
            <a:extLst>
              <a:ext uri="{FF2B5EF4-FFF2-40B4-BE49-F238E27FC236}">
                <a16:creationId xmlns:a16="http://schemas.microsoft.com/office/drawing/2014/main" id="{E2AB12A0-C594-E474-02BC-8CC6E0707C4A}"/>
              </a:ext>
            </a:extLst>
          </p:cNvPr>
          <p:cNvSpPr/>
          <p:nvPr/>
        </p:nvSpPr>
        <p:spPr>
          <a:xfrm>
            <a:off x="4475909" y="5871977"/>
            <a:ext cx="248230" cy="268692"/>
          </a:xfrm>
          <a:prstGeom prst="rightBracket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E2DEB-AE17-B64F-C4DE-86380B76FE5D}"/>
              </a:ext>
            </a:extLst>
          </p:cNvPr>
          <p:cNvSpPr txBox="1"/>
          <p:nvPr/>
        </p:nvSpPr>
        <p:spPr>
          <a:xfrm>
            <a:off x="4743075" y="5889183"/>
            <a:ext cx="6463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0.016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781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549950"/>
            <a:ext cx="10515600" cy="701675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높은 지연의 근원지 탐색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47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7CB6B47-8940-25AD-0A31-EFAE09EB4293}"/>
              </a:ext>
            </a:extLst>
          </p:cNvPr>
          <p:cNvGrpSpPr/>
          <p:nvPr/>
        </p:nvGrpSpPr>
        <p:grpSpPr>
          <a:xfrm>
            <a:off x="2395979" y="3074575"/>
            <a:ext cx="1015052" cy="1023754"/>
            <a:chOff x="1533695" y="4087365"/>
            <a:chExt cx="838200" cy="1011237"/>
          </a:xfrm>
        </p:grpSpPr>
        <p:sp>
          <p:nvSpPr>
            <p:cNvPr id="8" name="Freeform 174">
              <a:extLst>
                <a:ext uri="{FF2B5EF4-FFF2-40B4-BE49-F238E27FC236}">
                  <a16:creationId xmlns:a16="http://schemas.microsoft.com/office/drawing/2014/main" id="{CC4322F7-6E16-D5C4-653A-6DDE82EF9E4E}"/>
                </a:ext>
              </a:extLst>
            </p:cNvPr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Freeform 175">
              <a:extLst>
                <a:ext uri="{FF2B5EF4-FFF2-40B4-BE49-F238E27FC236}">
                  <a16:creationId xmlns:a16="http://schemas.microsoft.com/office/drawing/2014/main" id="{54E66F33-8335-16C9-156F-6369624472D3}"/>
                </a:ext>
              </a:extLst>
            </p:cNvPr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Freeform 176">
              <a:extLst>
                <a:ext uri="{FF2B5EF4-FFF2-40B4-BE49-F238E27FC236}">
                  <a16:creationId xmlns:a16="http://schemas.microsoft.com/office/drawing/2014/main" id="{4815A99E-1EAE-71E6-8F94-4209758A1F3C}"/>
                </a:ext>
              </a:extLst>
            </p:cNvPr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Freeform 177">
              <a:extLst>
                <a:ext uri="{FF2B5EF4-FFF2-40B4-BE49-F238E27FC236}">
                  <a16:creationId xmlns:a16="http://schemas.microsoft.com/office/drawing/2014/main" id="{D6EFAB6D-FC1A-434A-B3F0-D4609C1BFD8F}"/>
                </a:ext>
              </a:extLst>
            </p:cNvPr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Freeform 178">
              <a:extLst>
                <a:ext uri="{FF2B5EF4-FFF2-40B4-BE49-F238E27FC236}">
                  <a16:creationId xmlns:a16="http://schemas.microsoft.com/office/drawing/2014/main" id="{8B8906C3-0342-0409-6DC4-1A843CF12B69}"/>
                </a:ext>
              </a:extLst>
            </p:cNvPr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Oval 179">
              <a:extLst>
                <a:ext uri="{FF2B5EF4-FFF2-40B4-BE49-F238E27FC236}">
                  <a16:creationId xmlns:a16="http://schemas.microsoft.com/office/drawing/2014/main" id="{82060D36-9D38-6815-20D7-358AA55F94DA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Freeform 180">
              <a:extLst>
                <a:ext uri="{FF2B5EF4-FFF2-40B4-BE49-F238E27FC236}">
                  <a16:creationId xmlns:a16="http://schemas.microsoft.com/office/drawing/2014/main" id="{3037CBC9-D30B-032D-2F6A-9D770062930E}"/>
                </a:ext>
              </a:extLst>
            </p:cNvPr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82">
              <a:extLst>
                <a:ext uri="{FF2B5EF4-FFF2-40B4-BE49-F238E27FC236}">
                  <a16:creationId xmlns:a16="http://schemas.microsoft.com/office/drawing/2014/main" id="{5886759C-A906-DC65-72EE-53AF691A6B3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60708" y="4763640"/>
              <a:ext cx="190500" cy="334962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Freeform 183">
              <a:extLst>
                <a:ext uri="{FF2B5EF4-FFF2-40B4-BE49-F238E27FC236}">
                  <a16:creationId xmlns:a16="http://schemas.microsoft.com/office/drawing/2014/main" id="{67E25209-55FF-CCF3-FB51-38E7B528093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78170" y="4750940"/>
              <a:ext cx="187325" cy="33178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Freeform 184">
              <a:extLst>
                <a:ext uri="{FF2B5EF4-FFF2-40B4-BE49-F238E27FC236}">
                  <a16:creationId xmlns:a16="http://schemas.microsoft.com/office/drawing/2014/main" id="{A0827D39-345C-5F66-98B1-E710650B13D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Freeform 185">
              <a:extLst>
                <a:ext uri="{FF2B5EF4-FFF2-40B4-BE49-F238E27FC236}">
                  <a16:creationId xmlns:a16="http://schemas.microsoft.com/office/drawing/2014/main" id="{F25924A7-6C7C-F252-569F-1BD21F1A85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Freeform 186">
              <a:extLst>
                <a:ext uri="{FF2B5EF4-FFF2-40B4-BE49-F238E27FC236}">
                  <a16:creationId xmlns:a16="http://schemas.microsoft.com/office/drawing/2014/main" id="{B88E8F34-AC39-2D9D-E86E-FDB43452DC0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Freeform 187">
              <a:extLst>
                <a:ext uri="{FF2B5EF4-FFF2-40B4-BE49-F238E27FC236}">
                  <a16:creationId xmlns:a16="http://schemas.microsoft.com/office/drawing/2014/main" id="{6BD13425-5BFA-92F0-AEFE-244CE75C115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Freeform 189">
              <a:extLst>
                <a:ext uri="{FF2B5EF4-FFF2-40B4-BE49-F238E27FC236}">
                  <a16:creationId xmlns:a16="http://schemas.microsoft.com/office/drawing/2014/main" id="{09B1C76A-191A-649B-7903-8BF2494CF8B2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Freeform 190">
              <a:extLst>
                <a:ext uri="{FF2B5EF4-FFF2-40B4-BE49-F238E27FC236}">
                  <a16:creationId xmlns:a16="http://schemas.microsoft.com/office/drawing/2014/main" id="{F7D890BE-3232-C72E-F8CA-961500F1186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Freeform 191">
              <a:extLst>
                <a:ext uri="{FF2B5EF4-FFF2-40B4-BE49-F238E27FC236}">
                  <a16:creationId xmlns:a16="http://schemas.microsoft.com/office/drawing/2014/main" id="{DCBBEC1C-3FA6-99F1-1820-0291B6E59F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Freeform 192">
              <a:extLst>
                <a:ext uri="{FF2B5EF4-FFF2-40B4-BE49-F238E27FC236}">
                  <a16:creationId xmlns:a16="http://schemas.microsoft.com/office/drawing/2014/main" id="{A42C6822-605E-E016-1756-5353399301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Oval 193">
              <a:extLst>
                <a:ext uri="{FF2B5EF4-FFF2-40B4-BE49-F238E27FC236}">
                  <a16:creationId xmlns:a16="http://schemas.microsoft.com/office/drawing/2014/main" id="{EFF9D8B9-A224-5240-3A3F-7B798F584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Line 194">
              <a:extLst>
                <a:ext uri="{FF2B5EF4-FFF2-40B4-BE49-F238E27FC236}">
                  <a16:creationId xmlns:a16="http://schemas.microsoft.com/office/drawing/2014/main" id="{073E550B-BA6C-71D8-EAB4-D60C8E52F4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Line 195">
              <a:extLst>
                <a:ext uri="{FF2B5EF4-FFF2-40B4-BE49-F238E27FC236}">
                  <a16:creationId xmlns:a16="http://schemas.microsoft.com/office/drawing/2014/main" id="{81755173-E296-CC00-1586-A107BEEBE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Line 196">
              <a:extLst>
                <a:ext uri="{FF2B5EF4-FFF2-40B4-BE49-F238E27FC236}">
                  <a16:creationId xmlns:a16="http://schemas.microsoft.com/office/drawing/2014/main" id="{C65D41DA-32E6-AF15-57C8-C0A7D43AA6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Line 197">
              <a:extLst>
                <a:ext uri="{FF2B5EF4-FFF2-40B4-BE49-F238E27FC236}">
                  <a16:creationId xmlns:a16="http://schemas.microsoft.com/office/drawing/2014/main" id="{AB568DF1-99BB-2CB3-27E0-21CDED70B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Line 198">
              <a:extLst>
                <a:ext uri="{FF2B5EF4-FFF2-40B4-BE49-F238E27FC236}">
                  <a16:creationId xmlns:a16="http://schemas.microsoft.com/office/drawing/2014/main" id="{C733A48E-4091-21E0-18AD-716A925B3A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1" name="Line 199">
              <a:extLst>
                <a:ext uri="{FF2B5EF4-FFF2-40B4-BE49-F238E27FC236}">
                  <a16:creationId xmlns:a16="http://schemas.microsoft.com/office/drawing/2014/main" id="{5CBBB59F-BCE3-8EF2-7AC3-6CA9CD748E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2" name="Line 200">
              <a:extLst>
                <a:ext uri="{FF2B5EF4-FFF2-40B4-BE49-F238E27FC236}">
                  <a16:creationId xmlns:a16="http://schemas.microsoft.com/office/drawing/2014/main" id="{E10A9F24-25A5-9750-AF9F-7401C6C60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Line 201">
              <a:extLst>
                <a:ext uri="{FF2B5EF4-FFF2-40B4-BE49-F238E27FC236}">
                  <a16:creationId xmlns:a16="http://schemas.microsoft.com/office/drawing/2014/main" id="{35056328-F05D-9CB2-5C58-E533CE045E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Line 202">
              <a:extLst>
                <a:ext uri="{FF2B5EF4-FFF2-40B4-BE49-F238E27FC236}">
                  <a16:creationId xmlns:a16="http://schemas.microsoft.com/office/drawing/2014/main" id="{B875D47C-2B17-1849-6513-E483A1603BC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Line 203">
              <a:extLst>
                <a:ext uri="{FF2B5EF4-FFF2-40B4-BE49-F238E27FC236}">
                  <a16:creationId xmlns:a16="http://schemas.microsoft.com/office/drawing/2014/main" id="{AC2205F0-762B-95A7-C4F8-EF8F5DCAB5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Line 204">
              <a:extLst>
                <a:ext uri="{FF2B5EF4-FFF2-40B4-BE49-F238E27FC236}">
                  <a16:creationId xmlns:a16="http://schemas.microsoft.com/office/drawing/2014/main" id="{87836BF9-5911-61E8-B3A4-4F789F71C7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7" name="Freeform 205">
              <a:extLst>
                <a:ext uri="{FF2B5EF4-FFF2-40B4-BE49-F238E27FC236}">
                  <a16:creationId xmlns:a16="http://schemas.microsoft.com/office/drawing/2014/main" id="{F1FCEB5B-266D-606F-D7F3-C4BEA0F37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8" name="Line 206">
              <a:extLst>
                <a:ext uri="{FF2B5EF4-FFF2-40B4-BE49-F238E27FC236}">
                  <a16:creationId xmlns:a16="http://schemas.microsoft.com/office/drawing/2014/main" id="{5354CF05-0CE6-F139-155E-980B6DF5C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Line 207">
              <a:extLst>
                <a:ext uri="{FF2B5EF4-FFF2-40B4-BE49-F238E27FC236}">
                  <a16:creationId xmlns:a16="http://schemas.microsoft.com/office/drawing/2014/main" id="{138BCC22-5C73-3A3B-5C2D-2E1851CC6D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Line 208">
              <a:extLst>
                <a:ext uri="{FF2B5EF4-FFF2-40B4-BE49-F238E27FC236}">
                  <a16:creationId xmlns:a16="http://schemas.microsoft.com/office/drawing/2014/main" id="{513FEBD8-6080-B837-5D17-AE7DAE8CDE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1" name="Line 209">
              <a:extLst>
                <a:ext uri="{FF2B5EF4-FFF2-40B4-BE49-F238E27FC236}">
                  <a16:creationId xmlns:a16="http://schemas.microsoft.com/office/drawing/2014/main" id="{169FF411-EB15-3CFD-89FB-BB3656459B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2" name="Line 210">
              <a:extLst>
                <a:ext uri="{FF2B5EF4-FFF2-40B4-BE49-F238E27FC236}">
                  <a16:creationId xmlns:a16="http://schemas.microsoft.com/office/drawing/2014/main" id="{8E3A77D1-182D-77FD-A40C-BD2B05439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Freeform 211">
              <a:extLst>
                <a:ext uri="{FF2B5EF4-FFF2-40B4-BE49-F238E27FC236}">
                  <a16:creationId xmlns:a16="http://schemas.microsoft.com/office/drawing/2014/main" id="{BF7E9D88-35BE-4550-B675-1C51E3D7CC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4" name="Line 212">
              <a:extLst>
                <a:ext uri="{FF2B5EF4-FFF2-40B4-BE49-F238E27FC236}">
                  <a16:creationId xmlns:a16="http://schemas.microsoft.com/office/drawing/2014/main" id="{9F0AAF2E-5ECB-E6D5-7CB5-DA2DAE6551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45" name="Group 150">
              <a:extLst>
                <a:ext uri="{FF2B5EF4-FFF2-40B4-BE49-F238E27FC236}">
                  <a16:creationId xmlns:a16="http://schemas.microsoft.com/office/drawing/2014/main" id="{47DBCAED-6110-799D-097A-6C8665F9AD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8" name="Freeform 215">
                <a:extLst>
                  <a:ext uri="{FF2B5EF4-FFF2-40B4-BE49-F238E27FC236}">
                    <a16:creationId xmlns:a16="http://schemas.microsoft.com/office/drawing/2014/main" id="{09952A3B-1D3C-FE05-0600-CFA5A87C4F1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59" name="Freeform 216">
                <a:extLst>
                  <a:ext uri="{FF2B5EF4-FFF2-40B4-BE49-F238E27FC236}">
                    <a16:creationId xmlns:a16="http://schemas.microsoft.com/office/drawing/2014/main" id="{213013DB-CB8F-9DDD-2C18-EAA7E7A8E97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46" name="Oval 217">
              <a:extLst>
                <a:ext uri="{FF2B5EF4-FFF2-40B4-BE49-F238E27FC236}">
                  <a16:creationId xmlns:a16="http://schemas.microsoft.com/office/drawing/2014/main" id="{4C80ED14-3D4D-DA52-8556-3BB02679A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7" name="Oval 218">
              <a:extLst>
                <a:ext uri="{FF2B5EF4-FFF2-40B4-BE49-F238E27FC236}">
                  <a16:creationId xmlns:a16="http://schemas.microsoft.com/office/drawing/2014/main" id="{3B1E4B26-F125-C57B-805A-90B8EFFDC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Freeform 219">
              <a:extLst>
                <a:ext uri="{FF2B5EF4-FFF2-40B4-BE49-F238E27FC236}">
                  <a16:creationId xmlns:a16="http://schemas.microsoft.com/office/drawing/2014/main" id="{4FDEE1F1-B877-E5DD-32CC-96D3CF5D5EF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9" name="Freeform 220">
              <a:extLst>
                <a:ext uri="{FF2B5EF4-FFF2-40B4-BE49-F238E27FC236}">
                  <a16:creationId xmlns:a16="http://schemas.microsoft.com/office/drawing/2014/main" id="{DBCA423E-7F58-6E77-897C-3907C044EA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97A84B0E-AF9F-ACAB-C553-1582ABB6ED7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Oval 222">
              <a:extLst>
                <a:ext uri="{FF2B5EF4-FFF2-40B4-BE49-F238E27FC236}">
                  <a16:creationId xmlns:a16="http://schemas.microsoft.com/office/drawing/2014/main" id="{19AD9631-B7CA-EFDE-57B6-ED4B463F8E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Oval 223">
              <a:extLst>
                <a:ext uri="{FF2B5EF4-FFF2-40B4-BE49-F238E27FC236}">
                  <a16:creationId xmlns:a16="http://schemas.microsoft.com/office/drawing/2014/main" id="{91C89108-C651-4979-7DF9-0BFF7C116F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Oval 224">
              <a:extLst>
                <a:ext uri="{FF2B5EF4-FFF2-40B4-BE49-F238E27FC236}">
                  <a16:creationId xmlns:a16="http://schemas.microsoft.com/office/drawing/2014/main" id="{6B2EAC86-3118-1E72-34AD-26C3BF5A3C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4" name="Oval 225">
              <a:extLst>
                <a:ext uri="{FF2B5EF4-FFF2-40B4-BE49-F238E27FC236}">
                  <a16:creationId xmlns:a16="http://schemas.microsoft.com/office/drawing/2014/main" id="{E8E8CE5C-09F9-C2B6-1A6B-2CD431ED9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5" name="Oval 226">
              <a:extLst>
                <a:ext uri="{FF2B5EF4-FFF2-40B4-BE49-F238E27FC236}">
                  <a16:creationId xmlns:a16="http://schemas.microsoft.com/office/drawing/2014/main" id="{7A5C8C9C-34B2-968A-B76D-1275D51C8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175DF95-7777-26B9-97CC-CEFA13A4294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A77F8A37-D262-3496-5CDB-BA5D8106E5C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60" name="Picture 2" descr="C:\Users\Toshiba\AppData\Local\Microsoft\Windows\Temporary Internet Files\Content.IE5\TBE21NJN\MC900434845[1].png">
            <a:extLst>
              <a:ext uri="{FF2B5EF4-FFF2-40B4-BE49-F238E27FC236}">
                <a16:creationId xmlns:a16="http://schemas.microsoft.com/office/drawing/2014/main" id="{B720D360-E29C-0155-254F-E353B44ED0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2904" y="2675641"/>
            <a:ext cx="1759296" cy="1506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4494E95E-7E58-782C-4575-F26F11750BA9}"/>
              </a:ext>
            </a:extLst>
          </p:cNvPr>
          <p:cNvSpPr txBox="1"/>
          <p:nvPr/>
        </p:nvSpPr>
        <p:spPr>
          <a:xfrm>
            <a:off x="2171589" y="4101265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클라이언트 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0C70B4B-CE89-F233-9481-F88BE42D8473}"/>
              </a:ext>
            </a:extLst>
          </p:cNvPr>
          <p:cNvSpPr txBox="1"/>
          <p:nvPr/>
        </p:nvSpPr>
        <p:spPr>
          <a:xfrm>
            <a:off x="8727760" y="4098329"/>
            <a:ext cx="5822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서버</a:t>
            </a: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4EA9935A-8548-F687-6FF9-590515CE49BA}"/>
              </a:ext>
            </a:extLst>
          </p:cNvPr>
          <p:cNvCxnSpPr>
            <a:cxnSpLocks/>
          </p:cNvCxnSpPr>
          <p:nvPr/>
        </p:nvCxnSpPr>
        <p:spPr>
          <a:xfrm>
            <a:off x="3975239" y="1722253"/>
            <a:ext cx="0" cy="423153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0B04CE2A-FDDE-E068-3254-0159C796397F}"/>
              </a:ext>
            </a:extLst>
          </p:cNvPr>
          <p:cNvCxnSpPr>
            <a:cxnSpLocks/>
          </p:cNvCxnSpPr>
          <p:nvPr/>
        </p:nvCxnSpPr>
        <p:spPr>
          <a:xfrm>
            <a:off x="7545290" y="1697934"/>
            <a:ext cx="0" cy="423153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>
            <a:extLst>
              <a:ext uri="{FF2B5EF4-FFF2-40B4-BE49-F238E27FC236}">
                <a16:creationId xmlns:a16="http://schemas.microsoft.com/office/drawing/2014/main" id="{E3DC86DE-85CC-8F07-E0B2-1ECD93CAA816}"/>
              </a:ext>
            </a:extLst>
          </p:cNvPr>
          <p:cNvCxnSpPr/>
          <p:nvPr/>
        </p:nvCxnSpPr>
        <p:spPr>
          <a:xfrm>
            <a:off x="4212077" y="2120630"/>
            <a:ext cx="3035029" cy="0"/>
          </a:xfrm>
          <a:prstGeom prst="straightConnector1">
            <a:avLst/>
          </a:prstGeom>
          <a:ln w="603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BAAA6D8F-A451-AF88-E21A-D3FA0C6B7AF4}"/>
              </a:ext>
            </a:extLst>
          </p:cNvPr>
          <p:cNvCxnSpPr/>
          <p:nvPr/>
        </p:nvCxnSpPr>
        <p:spPr>
          <a:xfrm>
            <a:off x="4238564" y="3418850"/>
            <a:ext cx="3035029" cy="0"/>
          </a:xfrm>
          <a:prstGeom prst="straightConnector1">
            <a:avLst/>
          </a:prstGeom>
          <a:ln w="603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EE28A517-2B45-1486-DEA5-FD6D151233D6}"/>
              </a:ext>
            </a:extLst>
          </p:cNvPr>
          <p:cNvCxnSpPr/>
          <p:nvPr/>
        </p:nvCxnSpPr>
        <p:spPr>
          <a:xfrm>
            <a:off x="4212077" y="2747255"/>
            <a:ext cx="3035029" cy="0"/>
          </a:xfrm>
          <a:prstGeom prst="straightConnector1">
            <a:avLst/>
          </a:prstGeom>
          <a:ln w="60325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4D766A0E-030D-E5FC-0E67-3F38E9F2CA65}"/>
              </a:ext>
            </a:extLst>
          </p:cNvPr>
          <p:cNvCxnSpPr/>
          <p:nvPr/>
        </p:nvCxnSpPr>
        <p:spPr>
          <a:xfrm>
            <a:off x="4197185" y="4111510"/>
            <a:ext cx="3035029" cy="0"/>
          </a:xfrm>
          <a:prstGeom prst="straightConnector1">
            <a:avLst/>
          </a:prstGeom>
          <a:ln w="603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>
            <a:extLst>
              <a:ext uri="{FF2B5EF4-FFF2-40B4-BE49-F238E27FC236}">
                <a16:creationId xmlns:a16="http://schemas.microsoft.com/office/drawing/2014/main" id="{960A2DB4-2EF8-DCD9-A246-A4E83DBCC9B4}"/>
              </a:ext>
            </a:extLst>
          </p:cNvPr>
          <p:cNvCxnSpPr/>
          <p:nvPr/>
        </p:nvCxnSpPr>
        <p:spPr>
          <a:xfrm>
            <a:off x="4197185" y="4854193"/>
            <a:ext cx="3035029" cy="0"/>
          </a:xfrm>
          <a:prstGeom prst="straightConnector1">
            <a:avLst/>
          </a:prstGeom>
          <a:ln w="60325">
            <a:solidFill>
              <a:srgbClr val="C0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>
            <a:extLst>
              <a:ext uri="{FF2B5EF4-FFF2-40B4-BE49-F238E27FC236}">
                <a16:creationId xmlns:a16="http://schemas.microsoft.com/office/drawing/2014/main" id="{100DA846-66F3-B570-67DC-3F891EF29356}"/>
              </a:ext>
            </a:extLst>
          </p:cNvPr>
          <p:cNvCxnSpPr/>
          <p:nvPr/>
        </p:nvCxnSpPr>
        <p:spPr>
          <a:xfrm>
            <a:off x="4212077" y="5562211"/>
            <a:ext cx="3035029" cy="0"/>
          </a:xfrm>
          <a:prstGeom prst="straightConnector1">
            <a:avLst/>
          </a:prstGeom>
          <a:ln w="60325">
            <a:solidFill>
              <a:schemeClr val="accent1">
                <a:lumMod val="50000"/>
              </a:schemeClr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4A318E0D-7789-1473-7764-7FE4EA584FBE}"/>
              </a:ext>
            </a:extLst>
          </p:cNvPr>
          <p:cNvSpPr txBox="1"/>
          <p:nvPr/>
        </p:nvSpPr>
        <p:spPr>
          <a:xfrm>
            <a:off x="5262130" y="1756949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827FCE2-C2E3-A152-88AE-4C5D4B6B801C}"/>
              </a:ext>
            </a:extLst>
          </p:cNvPr>
          <p:cNvSpPr txBox="1"/>
          <p:nvPr/>
        </p:nvSpPr>
        <p:spPr>
          <a:xfrm>
            <a:off x="5262130" y="2431550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SYN/ACK </a:t>
            </a:r>
            <a:r>
              <a:rPr lang="en-US" altLang="ko-KR" sz="1600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</a:t>
            </a:r>
            <a:endParaRPr lang="ko-KR" alt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A111657-F42F-AC92-65A9-FC7E1FC886D8}"/>
              </a:ext>
            </a:extLst>
          </p:cNvPr>
          <p:cNvSpPr txBox="1"/>
          <p:nvPr/>
        </p:nvSpPr>
        <p:spPr>
          <a:xfrm>
            <a:off x="5199296" y="3114108"/>
            <a:ext cx="6558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ACK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52E9B12-59FC-899D-23C2-AC19788AD881}"/>
              </a:ext>
            </a:extLst>
          </p:cNvPr>
          <p:cNvSpPr txBox="1"/>
          <p:nvPr/>
        </p:nvSpPr>
        <p:spPr>
          <a:xfrm>
            <a:off x="5131978" y="3802618"/>
            <a:ext cx="167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Request</a:t>
            </a:r>
            <a:r>
              <a:rPr lang="en-US" altLang="ko-KR" sz="16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solidFill>
                  <a:srgbClr val="FFC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</a:t>
            </a:r>
            <a:endParaRPr lang="ko-KR" altLang="en-US" sz="1600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23CB5A6-2853-FC08-3A07-909E92D73884}"/>
              </a:ext>
            </a:extLst>
          </p:cNvPr>
          <p:cNvSpPr txBox="1"/>
          <p:nvPr/>
        </p:nvSpPr>
        <p:spPr>
          <a:xfrm>
            <a:off x="5290732" y="4510680"/>
            <a:ext cx="9058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ACK </a:t>
            </a:r>
            <a:r>
              <a:rPr lang="en-US" altLang="ko-KR" sz="1600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0E82CD0-BF85-B7EF-F853-D1EFF225B32B}"/>
              </a:ext>
            </a:extLst>
          </p:cNvPr>
          <p:cNvSpPr txBox="1"/>
          <p:nvPr/>
        </p:nvSpPr>
        <p:spPr>
          <a:xfrm>
            <a:off x="5373115" y="5219706"/>
            <a:ext cx="9580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US" altLang="ko-KR" sz="1600" dirty="0">
                <a:solidFill>
                  <a:srgbClr val="0070C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❸</a:t>
            </a:r>
            <a:endParaRPr lang="ko-KR" altLang="en-US" sz="16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C5AEE33E-B720-1EFC-016D-DE068F2F2B5C}"/>
              </a:ext>
            </a:extLst>
          </p:cNvPr>
          <p:cNvSpPr txBox="1"/>
          <p:nvPr/>
        </p:nvSpPr>
        <p:spPr>
          <a:xfrm>
            <a:off x="8461198" y="4915280"/>
            <a:ext cx="2743200" cy="115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C00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 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유선 지연시간</a:t>
            </a:r>
            <a:endParaRPr lang="en-US" altLang="ko-KR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FFC00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 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클라이언트 지연시간</a:t>
            </a:r>
            <a:endParaRPr lang="en-US" altLang="ko-KR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70C0"/>
                </a:solidFill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❸ 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서버 지연시간</a:t>
            </a:r>
            <a:endParaRPr lang="ko-KR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342873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62100" y="1970088"/>
            <a:ext cx="9144000" cy="744537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Sliding window</a:t>
            </a:r>
            <a:endParaRPr lang="ko-KR" altLang="en-US" sz="40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734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5DBBF-35D1-4D56-BF8F-CD0D3754FCBA}" type="slidenum">
              <a:rPr lang="ko-KR" altLang="en-US" smtClean="0"/>
              <a:pPr/>
              <a:t>49</a:t>
            </a:fld>
            <a:endParaRPr lang="en-US" altLang="ko-KR"/>
          </a:p>
        </p:txBody>
      </p:sp>
      <p:pic>
        <p:nvPicPr>
          <p:cNvPr id="59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87929" y="2107379"/>
            <a:ext cx="2061767" cy="1961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" name="표 3">
            <a:extLst>
              <a:ext uri="{FF2B5EF4-FFF2-40B4-BE49-F238E27FC236}">
                <a16:creationId xmlns:a16="http://schemas.microsoft.com/office/drawing/2014/main" id="{75ED7E43-D406-8DCA-9371-2C3520D8EB1F}"/>
              </a:ext>
            </a:extLst>
          </p:cNvPr>
          <p:cNvGraphicFramePr>
            <a:graphicFrameLocks noGrp="1"/>
          </p:cNvGraphicFramePr>
          <p:nvPr/>
        </p:nvGraphicFramePr>
        <p:xfrm>
          <a:off x="5901661" y="2905263"/>
          <a:ext cx="187634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268">
                  <a:extLst>
                    <a:ext uri="{9D8B030D-6E8A-4147-A177-3AD203B41FA5}">
                      <a16:colId xmlns:a16="http://schemas.microsoft.com/office/drawing/2014/main" val="3859464148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4212172684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677731949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1152686568"/>
                    </a:ext>
                  </a:extLst>
                </a:gridCol>
                <a:gridCol w="375268">
                  <a:extLst>
                    <a:ext uri="{9D8B030D-6E8A-4147-A177-3AD203B41FA5}">
                      <a16:colId xmlns:a16="http://schemas.microsoft.com/office/drawing/2014/main" val="2641371559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145244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04EECE66-F0C7-81FF-5681-9732C1BF90AD}"/>
              </a:ext>
            </a:extLst>
          </p:cNvPr>
          <p:cNvGraphicFramePr>
            <a:graphicFrameLocks noGrp="1"/>
          </p:cNvGraphicFramePr>
          <p:nvPr/>
        </p:nvGraphicFramePr>
        <p:xfrm>
          <a:off x="9469534" y="2905263"/>
          <a:ext cx="168506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013">
                  <a:extLst>
                    <a:ext uri="{9D8B030D-6E8A-4147-A177-3AD203B41FA5}">
                      <a16:colId xmlns:a16="http://schemas.microsoft.com/office/drawing/2014/main" val="3859464148"/>
                    </a:ext>
                  </a:extLst>
                </a:gridCol>
                <a:gridCol w="337013">
                  <a:extLst>
                    <a:ext uri="{9D8B030D-6E8A-4147-A177-3AD203B41FA5}">
                      <a16:colId xmlns:a16="http://schemas.microsoft.com/office/drawing/2014/main" val="4212172684"/>
                    </a:ext>
                  </a:extLst>
                </a:gridCol>
                <a:gridCol w="337013">
                  <a:extLst>
                    <a:ext uri="{9D8B030D-6E8A-4147-A177-3AD203B41FA5}">
                      <a16:colId xmlns:a16="http://schemas.microsoft.com/office/drawing/2014/main" val="1677731949"/>
                    </a:ext>
                  </a:extLst>
                </a:gridCol>
                <a:gridCol w="337013">
                  <a:extLst>
                    <a:ext uri="{9D8B030D-6E8A-4147-A177-3AD203B41FA5}">
                      <a16:colId xmlns:a16="http://schemas.microsoft.com/office/drawing/2014/main" val="1152686568"/>
                    </a:ext>
                  </a:extLst>
                </a:gridCol>
                <a:gridCol w="337013">
                  <a:extLst>
                    <a:ext uri="{9D8B030D-6E8A-4147-A177-3AD203B41FA5}">
                      <a16:colId xmlns:a16="http://schemas.microsoft.com/office/drawing/2014/main" val="2641371559"/>
                    </a:ext>
                  </a:extLst>
                </a:gridCol>
              </a:tblGrid>
              <a:tr h="33855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8145244"/>
                  </a:ext>
                </a:extLst>
              </a:tr>
            </a:tbl>
          </a:graphicData>
        </a:graphic>
      </p:graphicFrame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F17DEF57-8816-F576-9EDF-E8B8AC0FE2E8}"/>
              </a:ext>
            </a:extLst>
          </p:cNvPr>
          <p:cNvSpPr/>
          <p:nvPr/>
        </p:nvSpPr>
        <p:spPr>
          <a:xfrm>
            <a:off x="5321242" y="2950409"/>
            <a:ext cx="476656" cy="27546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화살표: 오른쪽 62">
            <a:extLst>
              <a:ext uri="{FF2B5EF4-FFF2-40B4-BE49-F238E27FC236}">
                <a16:creationId xmlns:a16="http://schemas.microsoft.com/office/drawing/2014/main" id="{B9DADA9E-3CEB-B251-F345-8D52D4BA1D98}"/>
              </a:ext>
            </a:extLst>
          </p:cNvPr>
          <p:cNvSpPr/>
          <p:nvPr/>
        </p:nvSpPr>
        <p:spPr>
          <a:xfrm>
            <a:off x="11252506" y="2955273"/>
            <a:ext cx="476656" cy="27546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8FB3007-ED66-F2B2-8423-0D260676792E}"/>
              </a:ext>
            </a:extLst>
          </p:cNvPr>
          <p:cNvSpPr txBox="1"/>
          <p:nvPr/>
        </p:nvSpPr>
        <p:spPr>
          <a:xfrm>
            <a:off x="6325070" y="2572772"/>
            <a:ext cx="12057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EA539EA-2D75-BBEA-7B3B-4807E314189D}"/>
              </a:ext>
            </a:extLst>
          </p:cNvPr>
          <p:cNvSpPr txBox="1"/>
          <p:nvPr/>
        </p:nvSpPr>
        <p:spPr>
          <a:xfrm>
            <a:off x="9708802" y="2574592"/>
            <a:ext cx="13420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ko-KR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endParaRPr lang="ko-KR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9" name="그림 78">
            <a:extLst>
              <a:ext uri="{FF2B5EF4-FFF2-40B4-BE49-F238E27FC236}">
                <a16:creationId xmlns:a16="http://schemas.microsoft.com/office/drawing/2014/main" id="{4C3E173A-A88F-84D9-5B5A-A296402D01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692" y="104046"/>
            <a:ext cx="1948660" cy="2005370"/>
          </a:xfrm>
          <a:prstGeom prst="rect">
            <a:avLst/>
          </a:prstGeom>
        </p:spPr>
      </p:pic>
      <p:sp>
        <p:nvSpPr>
          <p:cNvPr id="84" name="TextBox 83">
            <a:extLst>
              <a:ext uri="{FF2B5EF4-FFF2-40B4-BE49-F238E27FC236}">
                <a16:creationId xmlns:a16="http://schemas.microsoft.com/office/drawing/2014/main" id="{1D1A1764-B21A-66F7-E890-FF4B4488CE58}"/>
              </a:ext>
            </a:extLst>
          </p:cNvPr>
          <p:cNvSpPr txBox="1"/>
          <p:nvPr/>
        </p:nvSpPr>
        <p:spPr>
          <a:xfrm>
            <a:off x="646185" y="3773259"/>
            <a:ext cx="10924160" cy="2878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Output queue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drop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발생 원인</a:t>
            </a:r>
            <a:endParaRPr lang="en-US" altLang="ko-KR" sz="16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대역폭이 부족하면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output queue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제때 비어지지 못하기 때문에 패킷들은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queue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쌓이고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queue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 패킷이 차면 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쌓인 패킷들은 폐기 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인터페이스에 연결된 대역폭이 부족 시 대역폭 업그레이드가 필요 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endParaRPr lang="en-US" altLang="ko-KR" sz="12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Input queue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 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drop</a:t>
            </a:r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발생 원인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CPU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나 메모리 자원이 부족하면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input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queue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에서 제때 메모리로 옮겨지지 못하기 때문에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drop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발생</a:t>
            </a:r>
            <a:endParaRPr lang="en-US" altLang="ko-KR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-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장비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메모리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CPU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성능의 업그레이드가 필요</a:t>
            </a:r>
          </a:p>
        </p:txBody>
      </p:sp>
      <p:sp>
        <p:nvSpPr>
          <p:cNvPr id="85" name="제목 1">
            <a:extLst>
              <a:ext uri="{FF2B5EF4-FFF2-40B4-BE49-F238E27FC236}">
                <a16:creationId xmlns:a16="http://schemas.microsoft.com/office/drawing/2014/main" id="{4F0EE037-9FAD-214B-059C-A440F5B95BC7}"/>
              </a:ext>
            </a:extLst>
          </p:cNvPr>
          <p:cNvSpPr txBox="1">
            <a:spLocks/>
          </p:cNvSpPr>
          <p:nvPr/>
        </p:nvSpPr>
        <p:spPr bwMode="auto">
          <a:xfrm>
            <a:off x="646185" y="583563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지연 발생 원인 </a:t>
            </a:r>
            <a:endParaRPr lang="ko-KR" altLang="en-US" sz="2800" b="1" dirty="0">
              <a:ea typeface="함초롬바탕" panose="02030504000101010101"/>
            </a:endParaRPr>
          </a:p>
        </p:txBody>
      </p:sp>
    </p:spTree>
    <p:extLst>
      <p:ext uri="{BB962C8B-B14F-4D97-AF65-F5344CB8AC3E}">
        <p14:creationId xmlns:p14="http://schemas.microsoft.com/office/powerpoint/2010/main" val="233897991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646185" y="1442633"/>
            <a:ext cx="11090275" cy="36254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폐기된 패킷은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TCP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재전송 메커니즘에 의해 재전송되는데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,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 과정에서 전송속도가 길어 짐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대역폭 부족이나 장비의 성능 부족은 패킷 폐기를 발생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 폐기는 패킷 지연을 발생시킴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 지연은 응답시간을 길게 만들어 사용자의 불만 초래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</a:t>
            </a:r>
            <a:endParaRPr lang="en-US" altLang="ko-KR" sz="18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F78F437-EAB7-C4FF-77C3-476B19A9FBA5}"/>
              </a:ext>
            </a:extLst>
          </p:cNvPr>
          <p:cNvSpPr txBox="1">
            <a:spLocks/>
          </p:cNvSpPr>
          <p:nvPr/>
        </p:nvSpPr>
        <p:spPr bwMode="auto">
          <a:xfrm>
            <a:off x="646185" y="583563"/>
            <a:ext cx="7280275" cy="48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4406" tIns="42203" rIns="84406" bIns="42203" numCol="1" rtlCol="0" anchor="t" anchorCtr="0" compatLnSpc="1">
            <a:prstTxWarp prst="textNoShape">
              <a:avLst/>
            </a:prstTxWarp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8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네트워크 지연 발생 원인 </a:t>
            </a:r>
            <a:endParaRPr lang="ko-KR" altLang="en-US" sz="2800" b="1" dirty="0">
              <a:ea typeface="함초롬바탕" panose="02030504000101010101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AFE39FF6-291E-E923-E79E-C0EE1FEC5AED}"/>
              </a:ext>
            </a:extLst>
          </p:cNvPr>
          <p:cNvSpPr/>
          <p:nvPr/>
        </p:nvSpPr>
        <p:spPr>
          <a:xfrm>
            <a:off x="1990724" y="4342358"/>
            <a:ext cx="476656" cy="275467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54E1DC7C-CDE1-C2E6-CB5F-E7F1FF37A8D2}"/>
              </a:ext>
            </a:extLst>
          </p:cNvPr>
          <p:cNvSpPr txBox="1">
            <a:spLocks/>
          </p:cNvSpPr>
          <p:nvPr/>
        </p:nvSpPr>
        <p:spPr>
          <a:xfrm>
            <a:off x="2649537" y="4119728"/>
            <a:ext cx="7000301" cy="7207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Avoidance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혼잡 회피</a:t>
            </a:r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메커니즘이 필요 </a:t>
            </a:r>
          </a:p>
        </p:txBody>
      </p:sp>
    </p:spTree>
    <p:extLst>
      <p:ext uri="{BB962C8B-B14F-4D97-AF65-F5344CB8AC3E}">
        <p14:creationId xmlns:p14="http://schemas.microsoft.com/office/powerpoint/2010/main" val="411478472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idx="4294967295"/>
          </p:nvPr>
        </p:nvSpPr>
        <p:spPr>
          <a:xfrm>
            <a:off x="1468876" y="948531"/>
            <a:ext cx="6443663" cy="49609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혼잡 제어를 위한 </a:t>
            </a:r>
            <a:r>
              <a:rPr lang="en-US" altLang="ko-KR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</a:t>
            </a:r>
            <a:r>
              <a:rPr lang="ko-KR" altLang="en-US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가지 알고리즘 </a:t>
            </a:r>
            <a:endParaRPr lang="en-US" altLang="ko-KR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ko-KR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Slow start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9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느린시작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Congestion Avoidance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혼잡회피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Fast Retransmission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 재전송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- Fast Recovery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ko-KR" altLang="en-US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 회복</a:t>
            </a:r>
            <a:r>
              <a:rPr lang="en-US" altLang="ko-K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ko-KR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ko-KR" alt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오른쪽 대괄호 4"/>
          <p:cNvSpPr/>
          <p:nvPr/>
        </p:nvSpPr>
        <p:spPr>
          <a:xfrm>
            <a:off x="8368032" y="2304462"/>
            <a:ext cx="103239" cy="1060190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오른쪽 대괄호 5"/>
          <p:cNvSpPr/>
          <p:nvPr/>
        </p:nvSpPr>
        <p:spPr>
          <a:xfrm>
            <a:off x="8368032" y="3864189"/>
            <a:ext cx="103239" cy="1172963"/>
          </a:xfrm>
          <a:prstGeom prst="rightBracke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 flipH="1">
            <a:off x="8618753" y="2826023"/>
            <a:ext cx="212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손실 전 </a:t>
            </a:r>
          </a:p>
        </p:txBody>
      </p:sp>
      <p:sp>
        <p:nvSpPr>
          <p:cNvPr id="8" name="TextBox 7"/>
          <p:cNvSpPr txBox="1"/>
          <p:nvPr/>
        </p:nvSpPr>
        <p:spPr>
          <a:xfrm flipH="1">
            <a:off x="8618753" y="4033483"/>
            <a:ext cx="2122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패킷</a:t>
            </a:r>
            <a:r>
              <a:rPr lang="ko-KR" altLang="en-US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손실 후  </a:t>
            </a:r>
          </a:p>
        </p:txBody>
      </p:sp>
    </p:spTree>
    <p:extLst>
      <p:ext uri="{BB962C8B-B14F-4D97-AF65-F5344CB8AC3E}">
        <p14:creationId xmlns:p14="http://schemas.microsoft.com/office/powerpoint/2010/main" val="159816213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52</a:t>
            </a:fld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339725" y="547688"/>
            <a:ext cx="11852275" cy="569912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Window size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⋅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 없이 보낼 수 있는 패킷의 수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⋅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 size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크기는 송신장치가 계산한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CWND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와 수신 장치가 보낸 중에서 작은 값으로 선정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  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CWND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(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Window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        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-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송신자의 네트워크 상태에 관한 값 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    ❷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RWND(</a:t>
            </a: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Received Window or Advertised Window 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- 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수신 장비의 상태에 값으로 수신 장치의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windows size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 </a:t>
            </a:r>
            <a:r>
              <a:rPr lang="en-US" altLang="ko-KR" sz="20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⋅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큰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RWND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를 보내도 서서히 증가하는</a:t>
            </a:r>
            <a:r>
              <a:rPr lang="ko-KR" altLang="en-US" sz="20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CWND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의 특지 떄문에 보내재는 데이터 양이 느리게 증가함 </a:t>
            </a:r>
            <a:endParaRPr lang="en-US" altLang="ko-KR" sz="20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177800" indent="0">
              <a:lnSpc>
                <a:spcPct val="150000"/>
              </a:lnSpc>
              <a:buNone/>
            </a:pPr>
            <a:r>
              <a:rPr lang="en-US" altLang="ko-KR" sz="21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21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⋅ Slow start 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: CWND </a:t>
            </a:r>
            <a:r>
              <a:rPr lang="ko-KR" altLang="en-US" sz="20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크기 증가 기술 </a:t>
            </a:r>
            <a:endParaRPr lang="en-US" altLang="ko-KR" sz="2000" dirty="0">
              <a:latin typeface="Times New Roman" panose="02020603050405020304" pitchFamily="18" charset="0"/>
              <a:ea typeface="함초롬바탕" panose="02030504000101010101" pitchFamily="18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3370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53</a:t>
            </a:fld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1577975" y="1514475"/>
            <a:ext cx="10614025" cy="4732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정상적인 상태에서의 동작 구현 알고리즘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CWND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크기의 느린 증가를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‘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slow start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’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라고 함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CWND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크기를 서서히 증가 시키는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것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CWND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서서히 증가시키는 이유는 망이 전송 능력을 파악하기 위함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Slow start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혼잡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congestion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원인이 될 수 있음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송수신 </a:t>
            </a: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장치가 속도가 빠른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LAN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연결했다면 문제가 없음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느린 라우터와 같은 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WAN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연결될 경우 혼잡 발생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idx="4294967295"/>
          </p:nvPr>
        </p:nvSpPr>
        <p:spPr>
          <a:xfrm>
            <a:off x="1060315" y="684213"/>
            <a:ext cx="7332663" cy="720725"/>
          </a:xfrm>
        </p:spPr>
        <p:txBody>
          <a:bodyPr>
            <a:noAutofit/>
          </a:bodyPr>
          <a:lstStyle/>
          <a:p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Start </a:t>
            </a:r>
            <a:endParaRPr lang="ko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8488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54</a:t>
            </a:fld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1568450" y="1401763"/>
            <a:ext cx="10623550" cy="531971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altLang="ko-KR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 sz="18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연결에 사용할 수 있는 전송 속도를 탐지하기 위한 것 </a:t>
            </a:r>
            <a:endParaRPr lang="en-US" altLang="ko-KR" sz="18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-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물리적 링크의 데이터 전송속도를 알지 못함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-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TCP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한꺼번에 많은 데이터를 전송할 경우 네트워크 장애 발생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8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적은 수의 세그먼트를 전송하다가 천천히 세그먼트 수를 증가</a:t>
            </a:r>
            <a:endParaRPr lang="en-US" altLang="ko-KR" sz="18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20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Slow start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두 가지 파라미터 </a:t>
            </a:r>
            <a:endParaRPr lang="en-US" altLang="ko-KR" sz="18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- CWND(Congestion Window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혼잡 윈도우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- SSTHRESH(Slow-Start </a:t>
            </a:r>
            <a:r>
              <a:rPr lang="en-US" altLang="ko-KR" sz="18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Thresahhold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Value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 </a:t>
            </a:r>
            <a:r>
              <a:rPr lang="ko-KR" altLang="en-US" sz="18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느린 시작임계값</a:t>
            </a:r>
            <a:r>
              <a:rPr lang="en-US" altLang="ko-KR" sz="18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</a:t>
            </a: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971326" y="489464"/>
            <a:ext cx="7332663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Start </a:t>
            </a:r>
            <a:endParaRPr lang="ko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65379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A22EA7-80FE-42C8-BCF2-09639A4FECEC}" type="slidenum">
              <a:rPr lang="ko-KR" altLang="en-US" smtClean="0"/>
              <a:t>55</a:t>
            </a:fld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4294967295"/>
          </p:nvPr>
        </p:nvSpPr>
        <p:spPr>
          <a:xfrm>
            <a:off x="1401763" y="1797050"/>
            <a:ext cx="10790237" cy="4733925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 </a:t>
            </a:r>
            <a:r>
              <a:rPr lang="ko-KR" altLang="en-US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타이머를 보고 판단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타이머 내에 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ACK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받지 못한 경우</a:t>
            </a:r>
            <a:r>
              <a:rPr lang="ko-KR" altLang="en-US" sz="190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CWND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는 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에서 다시 시작</a:t>
            </a:r>
            <a:endParaRPr lang="en-US" altLang="ko-KR" sz="19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en-US" altLang="ko-KR" sz="19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sshthresh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값은 전송실패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발생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전의 반 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9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sshthresh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=CWND/2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9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en-US" altLang="ko-KR" sz="1900" dirty="0" err="1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sshthresh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될 때까지 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배식 증가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,</a:t>
            </a:r>
            <a:r>
              <a:rPr lang="en-US" altLang="ko-KR" sz="19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 congestion 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이후부터는 </a:t>
            </a:r>
            <a:r>
              <a:rPr lang="en-US" altLang="ko-KR" sz="19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9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씩 증가 </a:t>
            </a:r>
            <a:endParaRPr lang="en-US" altLang="ko-KR" sz="19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z="19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 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</a:t>
            </a:r>
            <a:r>
              <a:rPr lang="ko-KR" altLang="en-US" sz="20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동일한 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20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연속적으로 들어오는 것을 보고 판단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*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한 패킷의 유실은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congestion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이 심각하지 않음 문제로 판단 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 복귀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fast recovery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CWND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크기를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줄이지 않고 반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(0.5)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줄임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-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2000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fast retransmission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: 3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동일한 </a:t>
            </a:r>
            <a:r>
              <a:rPr lang="en-US" altLang="ko-KR" sz="20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20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경우 타임아웃만큼 기다리지 않고 즉시 재전송</a:t>
            </a:r>
            <a:endParaRPr lang="en-US" altLang="ko-KR" sz="20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" name="제목 1"/>
          <p:cNvSpPr txBox="1">
            <a:spLocks/>
          </p:cNvSpPr>
          <p:nvPr/>
        </p:nvSpPr>
        <p:spPr>
          <a:xfrm>
            <a:off x="1085850" y="1077008"/>
            <a:ext cx="7332663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Congestion </a:t>
            </a:r>
            <a:r>
              <a:rPr lang="ko-KR" altLang="en-US" sz="2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확인 방법 </a:t>
            </a:r>
            <a:r>
              <a:rPr lang="en-US" altLang="ko-KR" sz="2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2</a:t>
            </a:r>
            <a:r>
              <a:rPr lang="ko-KR" altLang="en-US" sz="22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가지  </a:t>
            </a:r>
            <a:r>
              <a:rPr lang="en-US" altLang="ko-KR" sz="22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&gt;&gt;</a:t>
            </a:r>
            <a:endParaRPr lang="ko-KR" altLang="en-US" sz="220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6" name="제목 1"/>
          <p:cNvSpPr txBox="1">
            <a:spLocks/>
          </p:cNvSpPr>
          <p:nvPr/>
        </p:nvSpPr>
        <p:spPr>
          <a:xfrm>
            <a:off x="971326" y="356283"/>
            <a:ext cx="7332663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Start </a:t>
            </a:r>
            <a:endParaRPr lang="ko-KR" altLang="en-US" sz="36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9763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9169005" y="6379645"/>
            <a:ext cx="2743200" cy="365125"/>
          </a:xfrm>
        </p:spPr>
        <p:txBody>
          <a:bodyPr/>
          <a:lstStyle/>
          <a:p>
            <a:fld id="{B1F5DBBF-35D1-4D56-BF8F-CD0D3754FCBA}" type="slidenum">
              <a:rPr lang="ko-KR" altLang="en-US" smtClean="0"/>
              <a:pPr/>
              <a:t>56</a:t>
            </a:fld>
            <a:endParaRPr lang="en-US" altLang="ko-KR"/>
          </a:p>
        </p:txBody>
      </p:sp>
      <p:sp>
        <p:nvSpPr>
          <p:cNvPr id="3" name="직사각형 2"/>
          <p:cNvSpPr/>
          <p:nvPr/>
        </p:nvSpPr>
        <p:spPr>
          <a:xfrm>
            <a:off x="6169347" y="1816141"/>
            <a:ext cx="280221" cy="45214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1497837" y="1214950"/>
            <a:ext cx="9856255" cy="5168036"/>
          </a:xfrm>
          <a:custGeom>
            <a:avLst/>
            <a:gdLst>
              <a:gd name="connsiteX0" fmla="*/ 0 w 4365522"/>
              <a:gd name="connsiteY0" fmla="*/ 0 h 4336025"/>
              <a:gd name="connsiteX1" fmla="*/ 0 w 4365522"/>
              <a:gd name="connsiteY1" fmla="*/ 4336025 h 4336025"/>
              <a:gd name="connsiteX2" fmla="*/ 4365522 w 4365522"/>
              <a:gd name="connsiteY2" fmla="*/ 4321277 h 433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5522" h="4336025">
                <a:moveTo>
                  <a:pt x="0" y="0"/>
                </a:moveTo>
                <a:lnTo>
                  <a:pt x="0" y="4336025"/>
                </a:lnTo>
                <a:lnTo>
                  <a:pt x="4365522" y="4321277"/>
                </a:lnTo>
              </a:path>
            </a:pathLst>
          </a:custGeom>
          <a:noFill/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자유형 24"/>
          <p:cNvSpPr/>
          <p:nvPr/>
        </p:nvSpPr>
        <p:spPr>
          <a:xfrm>
            <a:off x="1479360" y="1906079"/>
            <a:ext cx="4652321" cy="4469903"/>
          </a:xfrm>
          <a:custGeom>
            <a:avLst/>
            <a:gdLst>
              <a:gd name="connsiteX0" fmla="*/ 0 w 5265174"/>
              <a:gd name="connsiteY0" fmla="*/ 4911213 h 4911213"/>
              <a:gd name="connsiteX1" fmla="*/ 2477729 w 5265174"/>
              <a:gd name="connsiteY1" fmla="*/ 3937819 h 4911213"/>
              <a:gd name="connsiteX2" fmla="*/ 5265174 w 5265174"/>
              <a:gd name="connsiteY2" fmla="*/ 0 h 4911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65174" h="4911213">
                <a:moveTo>
                  <a:pt x="0" y="4911213"/>
                </a:moveTo>
                <a:cubicBezTo>
                  <a:pt x="800100" y="4833783"/>
                  <a:pt x="1600200" y="4756354"/>
                  <a:pt x="2477729" y="3937819"/>
                </a:cubicBezTo>
                <a:cubicBezTo>
                  <a:pt x="3355258" y="3119283"/>
                  <a:pt x="4310216" y="1559641"/>
                  <a:pt x="5265174" y="0"/>
                </a:cubicBezTo>
              </a:path>
            </a:pathLst>
          </a:cu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1508854" y="1280867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자유형 27"/>
          <p:cNvSpPr/>
          <p:nvPr/>
        </p:nvSpPr>
        <p:spPr>
          <a:xfrm>
            <a:off x="1475716" y="5653311"/>
            <a:ext cx="1979928" cy="693174"/>
          </a:xfrm>
          <a:custGeom>
            <a:avLst/>
            <a:gdLst>
              <a:gd name="connsiteX0" fmla="*/ 0 w 1725561"/>
              <a:gd name="connsiteY0" fmla="*/ 0 h 471948"/>
              <a:gd name="connsiteX1" fmla="*/ 1725561 w 1725561"/>
              <a:gd name="connsiteY1" fmla="*/ 0 h 471948"/>
              <a:gd name="connsiteX2" fmla="*/ 1725561 w 1725561"/>
              <a:gd name="connsiteY2" fmla="*/ 471948 h 471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5561" h="471948">
                <a:moveTo>
                  <a:pt x="0" y="0"/>
                </a:moveTo>
                <a:lnTo>
                  <a:pt x="1725561" y="0"/>
                </a:lnTo>
                <a:lnTo>
                  <a:pt x="1725561" y="471948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자유형 28"/>
          <p:cNvSpPr/>
          <p:nvPr/>
        </p:nvSpPr>
        <p:spPr>
          <a:xfrm>
            <a:off x="1490464" y="5181363"/>
            <a:ext cx="2437128" cy="1179871"/>
          </a:xfrm>
          <a:custGeom>
            <a:avLst/>
            <a:gdLst>
              <a:gd name="connsiteX0" fmla="*/ 0 w 2477729"/>
              <a:gd name="connsiteY0" fmla="*/ 0 h 1179871"/>
              <a:gd name="connsiteX1" fmla="*/ 2477729 w 2477729"/>
              <a:gd name="connsiteY1" fmla="*/ 0 h 1179871"/>
              <a:gd name="connsiteX2" fmla="*/ 2462981 w 2477729"/>
              <a:gd name="connsiteY2" fmla="*/ 1179871 h 1179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729" h="1179871">
                <a:moveTo>
                  <a:pt x="0" y="0"/>
                </a:moveTo>
                <a:lnTo>
                  <a:pt x="2477729" y="0"/>
                </a:lnTo>
                <a:lnTo>
                  <a:pt x="2462981" y="1179871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자유형 29"/>
          <p:cNvSpPr/>
          <p:nvPr/>
        </p:nvSpPr>
        <p:spPr>
          <a:xfrm>
            <a:off x="1468341" y="4443219"/>
            <a:ext cx="3034438" cy="1932763"/>
          </a:xfrm>
          <a:custGeom>
            <a:avLst/>
            <a:gdLst>
              <a:gd name="connsiteX0" fmla="*/ 0 w 2477729"/>
              <a:gd name="connsiteY0" fmla="*/ 0 h 1179871"/>
              <a:gd name="connsiteX1" fmla="*/ 2477729 w 2477729"/>
              <a:gd name="connsiteY1" fmla="*/ 0 h 1179871"/>
              <a:gd name="connsiteX2" fmla="*/ 2462981 w 2477729"/>
              <a:gd name="connsiteY2" fmla="*/ 1179871 h 1179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729" h="1179871">
                <a:moveTo>
                  <a:pt x="0" y="0"/>
                </a:moveTo>
                <a:lnTo>
                  <a:pt x="2477729" y="0"/>
                </a:lnTo>
                <a:lnTo>
                  <a:pt x="2462981" y="1179871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자유형 30"/>
          <p:cNvSpPr/>
          <p:nvPr/>
        </p:nvSpPr>
        <p:spPr>
          <a:xfrm>
            <a:off x="1479360" y="3328784"/>
            <a:ext cx="3760839" cy="3047198"/>
          </a:xfrm>
          <a:custGeom>
            <a:avLst/>
            <a:gdLst>
              <a:gd name="connsiteX0" fmla="*/ 0 w 2477729"/>
              <a:gd name="connsiteY0" fmla="*/ 0 h 1179871"/>
              <a:gd name="connsiteX1" fmla="*/ 2477729 w 2477729"/>
              <a:gd name="connsiteY1" fmla="*/ 0 h 1179871"/>
              <a:gd name="connsiteX2" fmla="*/ 2462981 w 2477729"/>
              <a:gd name="connsiteY2" fmla="*/ 1179871 h 1179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729" h="1179871">
                <a:moveTo>
                  <a:pt x="0" y="0"/>
                </a:moveTo>
                <a:lnTo>
                  <a:pt x="2477729" y="0"/>
                </a:lnTo>
                <a:lnTo>
                  <a:pt x="2462981" y="1179871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 31"/>
          <p:cNvSpPr/>
          <p:nvPr/>
        </p:nvSpPr>
        <p:spPr>
          <a:xfrm>
            <a:off x="1508854" y="1868588"/>
            <a:ext cx="4660492" cy="4492646"/>
          </a:xfrm>
          <a:custGeom>
            <a:avLst/>
            <a:gdLst>
              <a:gd name="connsiteX0" fmla="*/ 0 w 2477729"/>
              <a:gd name="connsiteY0" fmla="*/ 0 h 1179871"/>
              <a:gd name="connsiteX1" fmla="*/ 2477729 w 2477729"/>
              <a:gd name="connsiteY1" fmla="*/ 0 h 1179871"/>
              <a:gd name="connsiteX2" fmla="*/ 2462981 w 2477729"/>
              <a:gd name="connsiteY2" fmla="*/ 1179871 h 1179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729" h="1179871">
                <a:moveTo>
                  <a:pt x="0" y="0"/>
                </a:moveTo>
                <a:lnTo>
                  <a:pt x="2477729" y="0"/>
                </a:lnTo>
                <a:lnTo>
                  <a:pt x="2462981" y="1179871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3393004" y="5623814"/>
            <a:ext cx="125279" cy="1329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3879700" y="5114893"/>
            <a:ext cx="125279" cy="1329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4440139" y="4376749"/>
            <a:ext cx="125279" cy="1329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5188578" y="3275613"/>
            <a:ext cx="125279" cy="1329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1170300" y="5468435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66655" y="4930227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66655" y="425066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90154" y="3090947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108146" y="166917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85560" y="6396335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첫번째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20773" y="6382986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두번째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282756" y="6382986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세번째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960506" y="6368238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네번째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798312" y="6355996"/>
            <a:ext cx="8194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다섯번째</a:t>
            </a:r>
            <a:r>
              <a:rPr lang="ko-KR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ko-K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ko-K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ACK</a:t>
            </a:r>
            <a:endParaRPr lang="ko-KR" alt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603432" y="1100610"/>
            <a:ext cx="4363530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다섯번째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b="1" dirty="0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1600" b="1">
                <a:solidFill>
                  <a:srgbClr val="FF0000"/>
                </a:solidFill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재전송 타이머 내에 받지 못함</a:t>
            </a:r>
            <a:endParaRPr lang="en-US" altLang="ko-KR" sz="1600" b="1" dirty="0">
              <a:solidFill>
                <a:srgbClr val="FF0000"/>
              </a:solidFill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algn="just"/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-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다섯번째 데이터 전송이 실패한다는 의미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2" name="자유형 51"/>
          <p:cNvSpPr/>
          <p:nvPr/>
        </p:nvSpPr>
        <p:spPr>
          <a:xfrm>
            <a:off x="6449568" y="3408553"/>
            <a:ext cx="2613398" cy="2932551"/>
          </a:xfrm>
          <a:custGeom>
            <a:avLst/>
            <a:gdLst>
              <a:gd name="connsiteX0" fmla="*/ 0 w 5265174"/>
              <a:gd name="connsiteY0" fmla="*/ 4911213 h 4911213"/>
              <a:gd name="connsiteX1" fmla="*/ 2477729 w 5265174"/>
              <a:gd name="connsiteY1" fmla="*/ 3937819 h 4911213"/>
              <a:gd name="connsiteX2" fmla="*/ 5265174 w 5265174"/>
              <a:gd name="connsiteY2" fmla="*/ 0 h 4911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65174" h="4911213">
                <a:moveTo>
                  <a:pt x="0" y="4911213"/>
                </a:moveTo>
                <a:cubicBezTo>
                  <a:pt x="800100" y="4833783"/>
                  <a:pt x="1600200" y="4756354"/>
                  <a:pt x="2477729" y="3937819"/>
                </a:cubicBezTo>
                <a:cubicBezTo>
                  <a:pt x="3355258" y="3119283"/>
                  <a:pt x="4310216" y="1559641"/>
                  <a:pt x="5265174" y="0"/>
                </a:cubicBezTo>
              </a:path>
            </a:pathLst>
          </a:cu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자유형 52"/>
          <p:cNvSpPr/>
          <p:nvPr/>
        </p:nvSpPr>
        <p:spPr>
          <a:xfrm>
            <a:off x="6476805" y="3375297"/>
            <a:ext cx="2593535" cy="2954172"/>
          </a:xfrm>
          <a:custGeom>
            <a:avLst/>
            <a:gdLst>
              <a:gd name="connsiteX0" fmla="*/ 0 w 2477729"/>
              <a:gd name="connsiteY0" fmla="*/ 0 h 1179871"/>
              <a:gd name="connsiteX1" fmla="*/ 2477729 w 2477729"/>
              <a:gd name="connsiteY1" fmla="*/ 0 h 1179871"/>
              <a:gd name="connsiteX2" fmla="*/ 2462981 w 2477729"/>
              <a:gd name="connsiteY2" fmla="*/ 1179871 h 1179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77729" h="1179871">
                <a:moveTo>
                  <a:pt x="0" y="0"/>
                </a:moveTo>
                <a:lnTo>
                  <a:pt x="2477729" y="0"/>
                </a:lnTo>
                <a:lnTo>
                  <a:pt x="2462981" y="1179871"/>
                </a:lnTo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6208039" y="1650199"/>
            <a:ext cx="101418" cy="3575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52" idx="2"/>
          </p:cNvCxnSpPr>
          <p:nvPr/>
        </p:nvCxnSpPr>
        <p:spPr>
          <a:xfrm flipV="1">
            <a:off x="9062966" y="2790702"/>
            <a:ext cx="2291126" cy="61785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8280849" y="2958361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ssthresh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8966962" y="3347901"/>
            <a:ext cx="183851" cy="1749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타원 56"/>
          <p:cNvSpPr/>
          <p:nvPr/>
        </p:nvSpPr>
        <p:spPr>
          <a:xfrm>
            <a:off x="5169057" y="3245267"/>
            <a:ext cx="183851" cy="1749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타원 57"/>
          <p:cNvSpPr/>
          <p:nvPr/>
        </p:nvSpPr>
        <p:spPr>
          <a:xfrm>
            <a:off x="4417470" y="4355723"/>
            <a:ext cx="183851" cy="1749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/>
          <p:cNvSpPr/>
          <p:nvPr/>
        </p:nvSpPr>
        <p:spPr>
          <a:xfrm>
            <a:off x="3830979" y="5093789"/>
            <a:ext cx="183851" cy="1749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/>
          <p:cNvSpPr/>
          <p:nvPr/>
        </p:nvSpPr>
        <p:spPr>
          <a:xfrm>
            <a:off x="3359779" y="5596306"/>
            <a:ext cx="183851" cy="174992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/>
          <p:cNvSpPr txBox="1"/>
          <p:nvPr/>
        </p:nvSpPr>
        <p:spPr>
          <a:xfrm>
            <a:off x="7444254" y="5115264"/>
            <a:ext cx="1112340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배씩 증가</a:t>
            </a:r>
            <a:endParaRPr lang="ko-KR" altLang="en-US" sz="1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841824" y="5093789"/>
            <a:ext cx="961208" cy="307777"/>
          </a:xfrm>
          <a:prstGeom prst="rect">
            <a:avLst/>
          </a:prstGeom>
          <a:solidFill>
            <a:srgbClr val="FFC000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씩 증가</a:t>
            </a:r>
            <a:endParaRPr lang="ko-KR" altLang="en-US" sz="1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48" name="제목 1"/>
          <p:cNvSpPr txBox="1">
            <a:spLocks/>
          </p:cNvSpPr>
          <p:nvPr/>
        </p:nvSpPr>
        <p:spPr>
          <a:xfrm>
            <a:off x="1090154" y="300811"/>
            <a:ext cx="7332663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911230" y="194164"/>
            <a:ext cx="41537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❶ </a:t>
            </a:r>
            <a:r>
              <a:rPr lang="ko-KR" altLang="en-US" sz="2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타이머를 보고 판단</a:t>
            </a:r>
            <a:endParaRPr lang="en-US" altLang="ko-KR" sz="2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181082" y="6110331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8916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25322" y="6356349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57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 flipH="1">
            <a:off x="3934079" y="527050"/>
            <a:ext cx="9271" cy="602615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8286750" y="527049"/>
            <a:ext cx="5389" cy="602615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0730" y="67697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6302" y="85725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952875" y="72759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53032" y="550762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3952875" y="1066800"/>
            <a:ext cx="4329065" cy="33337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61972" y="851416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3952874" y="158365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952874" y="183712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71849" y="1426347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62325" y="1692652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8007" y="2055766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3942770" y="2285420"/>
            <a:ext cx="4297912" cy="139678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952874" y="264226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3963074" y="284269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3942770" y="306335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3952297" y="325848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23827" y="2449511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39529" y="2680653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1678" y="2919477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23827" y="3149405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61971" y="3502967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 flipH="1">
            <a:off x="3962975" y="3715821"/>
            <a:ext cx="4293285" cy="13183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33406" y="55377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74633" y="1591796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88670" y="2764207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963074" y="404071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3963074" y="429019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3957041" y="452120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3956396" y="4734400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944907" y="494229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3955107" y="514272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3934803" y="536339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3955107" y="561420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60126" y="3865654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69297" y="4109533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 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61832" y="4325812"/>
            <a:ext cx="6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62007" y="455671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63005" y="4633589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CWND=8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53368" y="4793710"/>
            <a:ext cx="6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68653" y="502140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3711" y="526048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74154" y="5488173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38207" y="5893135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AN=16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 flipH="1">
            <a:off x="6163431" y="6078474"/>
            <a:ext cx="2110077" cy="13183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폭발 1 59"/>
          <p:cNvSpPr/>
          <p:nvPr/>
        </p:nvSpPr>
        <p:spPr>
          <a:xfrm>
            <a:off x="5330248" y="5870164"/>
            <a:ext cx="942975" cy="69380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왼쪽 대괄호 2"/>
          <p:cNvSpPr/>
          <p:nvPr/>
        </p:nvSpPr>
        <p:spPr>
          <a:xfrm>
            <a:off x="3279713" y="1550129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대괄호 53"/>
          <p:cNvSpPr/>
          <p:nvPr/>
        </p:nvSpPr>
        <p:spPr>
          <a:xfrm>
            <a:off x="3260126" y="2581773"/>
            <a:ext cx="92906" cy="756038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왼쪽 대괄호 55"/>
          <p:cNvSpPr/>
          <p:nvPr/>
        </p:nvSpPr>
        <p:spPr>
          <a:xfrm>
            <a:off x="3221286" y="4001591"/>
            <a:ext cx="110391" cy="1609449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736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397251" y="6386594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58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 flipH="1">
            <a:off x="3981704" y="536575"/>
            <a:ext cx="9271" cy="602615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8344710" y="543006"/>
            <a:ext cx="5389" cy="602615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35703" y="2315312"/>
            <a:ext cx="718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21413" y="948384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CWND=1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4000500" y="120172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4010699" y="189214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4003753" y="209377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036883" y="280326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4025394" y="301116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4035594" y="3211593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4015290" y="343225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342491" y="979162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SN=8</a:t>
            </a:r>
            <a:endParaRPr lang="ko-KR" altLang="en-US" sz="16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28608" y="1733688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 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21390" y="1951663"/>
            <a:ext cx="6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38972" y="2914081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293764" y="2626675"/>
            <a:ext cx="713516" cy="981696"/>
            <a:chOff x="3293764" y="2626675"/>
            <a:chExt cx="713516" cy="981696"/>
          </a:xfrm>
        </p:grpSpPr>
        <p:sp>
          <p:nvSpPr>
            <p:cNvPr id="48" name="TextBox 47"/>
            <p:cNvSpPr txBox="1"/>
            <p:nvPr/>
          </p:nvSpPr>
          <p:spPr>
            <a:xfrm>
              <a:off x="3312859" y="2626675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SN=11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304220" y="2863669"/>
              <a:ext cx="6877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SN=12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302651" y="3082742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SN=13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93764" y="3300594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SN=14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3287621" y="4219270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21020" y="491995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AN=16</a:t>
            </a:r>
            <a:endParaRPr lang="ko-KR" altLang="en-US" sz="1600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 flipH="1">
            <a:off x="6201416" y="682163"/>
            <a:ext cx="2110077" cy="13183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폭발 1 59"/>
          <p:cNvSpPr/>
          <p:nvPr/>
        </p:nvSpPr>
        <p:spPr>
          <a:xfrm>
            <a:off x="5404314" y="484924"/>
            <a:ext cx="792742" cy="675507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/>
          <p:cNvCxnSpPr/>
          <p:nvPr/>
        </p:nvCxnSpPr>
        <p:spPr>
          <a:xfrm flipH="1">
            <a:off x="3968626" y="1591592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376822" y="1388947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직선 화살표 연결선 56"/>
          <p:cNvCxnSpPr/>
          <p:nvPr/>
        </p:nvCxnSpPr>
        <p:spPr>
          <a:xfrm flipH="1">
            <a:off x="4003797" y="2496958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380269" y="372285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직선 화살표 연결선 60"/>
          <p:cNvCxnSpPr>
            <a:stCxn id="59" idx="1"/>
          </p:cNvCxnSpPr>
          <p:nvPr/>
        </p:nvCxnSpPr>
        <p:spPr>
          <a:xfrm flipH="1">
            <a:off x="3983987" y="3876745"/>
            <a:ext cx="4396282" cy="22028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144634" y="1821021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4009331" y="4367583"/>
            <a:ext cx="4305209" cy="2829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3978722" y="4590440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3988922" y="479087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3968618" y="501153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>
            <a:off x="3978145" y="5206663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286951" y="444804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286950" y="467066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286949" y="485954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277422" y="5068743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138880" y="4587308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CWND=5</a:t>
            </a:r>
            <a:endParaRPr lang="ko-KR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 flipH="1">
            <a:off x="3985234" y="5749920"/>
            <a:ext cx="4354530" cy="24871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오른쪽 화살표 79"/>
          <p:cNvSpPr/>
          <p:nvPr/>
        </p:nvSpPr>
        <p:spPr>
          <a:xfrm rot="5400000">
            <a:off x="4488225" y="517035"/>
            <a:ext cx="509717" cy="46209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3531761" y="201024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761621" y="116754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3" name="왼쪽 대괄호 82"/>
          <p:cNvSpPr/>
          <p:nvPr/>
        </p:nvSpPr>
        <p:spPr>
          <a:xfrm>
            <a:off x="3249585" y="2739504"/>
            <a:ext cx="92906" cy="756038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왼쪽 대괄호 83"/>
          <p:cNvSpPr/>
          <p:nvPr/>
        </p:nvSpPr>
        <p:spPr>
          <a:xfrm>
            <a:off x="3257053" y="4356239"/>
            <a:ext cx="64337" cy="894535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왼쪽 대괄호 84"/>
          <p:cNvSpPr/>
          <p:nvPr/>
        </p:nvSpPr>
        <p:spPr>
          <a:xfrm>
            <a:off x="3240853" y="1846327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/>
          <p:cNvSpPr txBox="1"/>
          <p:nvPr/>
        </p:nvSpPr>
        <p:spPr>
          <a:xfrm>
            <a:off x="8380269" y="5596031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9015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63881" y="6327885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pPr/>
              <a:t>59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 flipH="1">
            <a:off x="4876133" y="1638797"/>
            <a:ext cx="24040" cy="492460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 flipH="1">
            <a:off x="9241989" y="1645228"/>
            <a:ext cx="11918" cy="491817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924840" y="192211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4913351" y="2130008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009098" y="190070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246399" y="177759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246399" y="2017090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245616" y="2854095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9261508" y="2374065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직선 화살표 연결선 60"/>
          <p:cNvCxnSpPr/>
          <p:nvPr/>
        </p:nvCxnSpPr>
        <p:spPr>
          <a:xfrm flipH="1">
            <a:off x="4899548" y="2540564"/>
            <a:ext cx="4341761" cy="217073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/>
          <p:nvPr/>
        </p:nvCxnSpPr>
        <p:spPr>
          <a:xfrm>
            <a:off x="4939365" y="3035088"/>
            <a:ext cx="2219756" cy="128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4934185" y="3236353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4922339" y="344655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4922338" y="364764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4244946" y="308287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4244945" y="330549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244944" y="3494369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폭발 1 71"/>
          <p:cNvSpPr/>
          <p:nvPr/>
        </p:nvSpPr>
        <p:spPr>
          <a:xfrm>
            <a:off x="7159121" y="2795484"/>
            <a:ext cx="792742" cy="675507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3096875" y="3222133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CWND=4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 flipH="1">
            <a:off x="4884556" y="4097719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/>
          <p:nvPr/>
        </p:nvCxnSpPr>
        <p:spPr>
          <a:xfrm flipH="1">
            <a:off x="4864854" y="4314922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H="1">
            <a:off x="4891520" y="4519153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244745" y="389949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235068" y="4193015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235068" y="4441863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4440956" y="1303246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8670816" y="1218976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3" name="왼쪽 대괄호 82"/>
          <p:cNvSpPr/>
          <p:nvPr/>
        </p:nvSpPr>
        <p:spPr>
          <a:xfrm>
            <a:off x="4137542" y="1858350"/>
            <a:ext cx="83498" cy="38558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왼쪽 대괄호 83"/>
          <p:cNvSpPr/>
          <p:nvPr/>
        </p:nvSpPr>
        <p:spPr>
          <a:xfrm>
            <a:off x="4215048" y="2991065"/>
            <a:ext cx="45719" cy="682282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378205" y="3021316"/>
            <a:ext cx="1465466" cy="7386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세그먼트 하나가</a:t>
            </a:r>
            <a:endParaRPr lang="en-US" altLang="ko-KR" sz="1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유실되었을 때</a:t>
            </a:r>
            <a:endParaRPr lang="en-US" altLang="ko-KR" sz="1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(SN=15)</a:t>
            </a:r>
          </a:p>
        </p:txBody>
      </p:sp>
      <p:sp>
        <p:nvSpPr>
          <p:cNvPr id="7" name="오른쪽 대괄호 6"/>
          <p:cNvSpPr/>
          <p:nvPr/>
        </p:nvSpPr>
        <p:spPr>
          <a:xfrm>
            <a:off x="9969623" y="3976576"/>
            <a:ext cx="53991" cy="670556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  <p:sp>
        <p:nvSpPr>
          <p:cNvPr id="8" name="직사각형 7"/>
          <p:cNvSpPr/>
          <p:nvPr/>
        </p:nvSpPr>
        <p:spPr>
          <a:xfrm>
            <a:off x="522692" y="312615"/>
            <a:ext cx="742966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❷ 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</a:t>
            </a:r>
            <a:r>
              <a:rPr lang="ko-KR" altLang="en-US" sz="20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동일한 </a:t>
            </a:r>
            <a:r>
              <a:rPr lang="en-US" altLang="ko-KR" sz="20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20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가 연속적으로 들어오는 것을 보고 판단 </a:t>
            </a:r>
            <a:endParaRPr lang="en-US" altLang="ko-KR" sz="20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2886549" y="4890244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CWND=2.5</a:t>
            </a:r>
            <a:endParaRPr lang="ko-KR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9" name="직선 화살표 연결선 88"/>
          <p:cNvCxnSpPr/>
          <p:nvPr/>
        </p:nvCxnSpPr>
        <p:spPr>
          <a:xfrm>
            <a:off x="4932443" y="490171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/>
          <p:nvPr/>
        </p:nvCxnSpPr>
        <p:spPr>
          <a:xfrm>
            <a:off x="4922338" y="514411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4261225" y="473635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4261225" y="498571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3" name="직선 화살표 연결선 92"/>
          <p:cNvCxnSpPr/>
          <p:nvPr/>
        </p:nvCxnSpPr>
        <p:spPr>
          <a:xfrm flipH="1">
            <a:off x="4884556" y="5534857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H="1">
            <a:off x="4895935" y="5814053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261508" y="5397923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9264730" y="5634678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왼쪽 대괄호 96"/>
          <p:cNvSpPr/>
          <p:nvPr/>
        </p:nvSpPr>
        <p:spPr>
          <a:xfrm>
            <a:off x="4215048" y="4851341"/>
            <a:ext cx="83498" cy="38558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직사각형 97"/>
          <p:cNvSpPr/>
          <p:nvPr/>
        </p:nvSpPr>
        <p:spPr>
          <a:xfrm>
            <a:off x="1067772" y="5413464"/>
            <a:ext cx="3682761" cy="1061829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4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fast retransmission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: 3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동일한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경우 </a:t>
            </a:r>
            <a:endParaRPr lang="en-US" altLang="ko-KR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    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타임아웃만큰 기다리지 않고 즉시 재전송</a:t>
            </a:r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39959779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00447" y="6273800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60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6279697" y="477547"/>
            <a:ext cx="998" cy="638045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10633431" y="483978"/>
            <a:ext cx="7612" cy="637402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179536" y="2541061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CWND=3.5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173097" y="1283371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CWND=2.5</a:t>
            </a:r>
            <a:endParaRPr lang="ko-KR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219592" y="3630630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CWND=4.5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직선 화살표 연결선 73"/>
          <p:cNvCxnSpPr>
            <a:stCxn id="77" idx="1"/>
          </p:cNvCxnSpPr>
          <p:nvPr/>
        </p:nvCxnSpPr>
        <p:spPr>
          <a:xfrm flipH="1">
            <a:off x="6325985" y="572091"/>
            <a:ext cx="4339018" cy="169952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/>
          <p:nvPr/>
        </p:nvCxnSpPr>
        <p:spPr>
          <a:xfrm flipH="1">
            <a:off x="6325132" y="814096"/>
            <a:ext cx="4299067" cy="116304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H="1">
            <a:off x="6295952" y="1005484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10665003" y="418202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673871" y="657067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10673871" y="88389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직선 화살표 연결선 79"/>
          <p:cNvCxnSpPr/>
          <p:nvPr/>
        </p:nvCxnSpPr>
        <p:spPr>
          <a:xfrm>
            <a:off x="6305622" y="136454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6285902" y="155299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637503" y="118113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634404" y="139689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flipH="1">
            <a:off x="6257735" y="1965703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H="1">
            <a:off x="6257735" y="2158049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10655018" y="1744621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0658240" y="198137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5627626" y="22791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610431" y="25079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610431" y="27367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직선 화살표 연결선 90"/>
          <p:cNvCxnSpPr/>
          <p:nvPr/>
        </p:nvCxnSpPr>
        <p:spPr>
          <a:xfrm>
            <a:off x="6295133" y="247807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6285901" y="268388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6302657" y="288071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H="1">
            <a:off x="6272099" y="3291674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10673871" y="307885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628813" y="337429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5611618" y="360309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5611618" y="3813419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직선 화살표 연결선 98"/>
          <p:cNvCxnSpPr/>
          <p:nvPr/>
        </p:nvCxnSpPr>
        <p:spPr>
          <a:xfrm>
            <a:off x="6295133" y="354851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6295133" y="374433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>
            <a:off x="6303851" y="396305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 flipH="1">
            <a:off x="6272099" y="4545981"/>
            <a:ext cx="4360722" cy="97606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10689548" y="4382472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6294295" y="417080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5620215" y="4031687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226379" y="5041964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CWND=5.5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5637410" y="490627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5626666" y="47079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5620215" y="514609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6303730" y="488119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6303730" y="507700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>
            <a:off x="6312448" y="529572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 flipH="1">
            <a:off x="6248669" y="6229383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10682937" y="6075494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AN=32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직선 화살표 연결선 114"/>
          <p:cNvCxnSpPr/>
          <p:nvPr/>
        </p:nvCxnSpPr>
        <p:spPr>
          <a:xfrm>
            <a:off x="6302892" y="550347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5628812" y="536436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직선 화살표 연결선 116"/>
          <p:cNvCxnSpPr/>
          <p:nvPr/>
        </p:nvCxnSpPr>
        <p:spPr>
          <a:xfrm>
            <a:off x="6301227" y="571405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5637410" y="557237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15732" y="223571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145592" y="139301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8" name="왼쪽 대괄호 57"/>
          <p:cNvSpPr/>
          <p:nvPr/>
        </p:nvSpPr>
        <p:spPr>
          <a:xfrm>
            <a:off x="5551215" y="1268467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왼쪽 대괄호 64"/>
          <p:cNvSpPr/>
          <p:nvPr/>
        </p:nvSpPr>
        <p:spPr>
          <a:xfrm>
            <a:off x="5551215" y="1268125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왼쪽 대괄호 65"/>
          <p:cNvSpPr/>
          <p:nvPr/>
        </p:nvSpPr>
        <p:spPr>
          <a:xfrm>
            <a:off x="5579459" y="2401930"/>
            <a:ext cx="54945" cy="497252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왼쪽 대괄호 71"/>
          <p:cNvSpPr/>
          <p:nvPr/>
        </p:nvSpPr>
        <p:spPr>
          <a:xfrm>
            <a:off x="5560791" y="3449787"/>
            <a:ext cx="73613" cy="760917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왼쪽 대괄호 118"/>
          <p:cNvSpPr/>
          <p:nvPr/>
        </p:nvSpPr>
        <p:spPr>
          <a:xfrm>
            <a:off x="5580040" y="4833589"/>
            <a:ext cx="52164" cy="880466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/>
          <p:cNvSpPr/>
          <p:nvPr/>
        </p:nvSpPr>
        <p:spPr>
          <a:xfrm>
            <a:off x="863206" y="1652703"/>
            <a:ext cx="2947140" cy="1107996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pPr marL="87313">
              <a:lnSpc>
                <a:spcPct val="150000"/>
              </a:lnSpc>
            </a:pPr>
            <a:r>
              <a:rPr lang="en-US" altLang="ko-KR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* </a:t>
            </a:r>
            <a:r>
              <a:rPr lang="ko-KR" altLang="en-US" sz="1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 </a:t>
            </a:r>
            <a:r>
              <a:rPr lang="ko-KR" altLang="en-US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복귀</a:t>
            </a:r>
            <a:r>
              <a:rPr lang="en-US" altLang="ko-KR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fast recovery</a:t>
            </a:r>
            <a:r>
              <a:rPr lang="en-US" altLang="ko-KR" sz="16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en-US" altLang="ko-KR" sz="16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87313">
              <a:lnSpc>
                <a:spcPct val="150000"/>
              </a:lnSpc>
            </a:pP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CWND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크기를 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줄이지 않고 반</a:t>
            </a:r>
            <a:r>
              <a:rPr lang="en-US" altLang="ko-KR" sz="14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(0.5)</a:t>
            </a:r>
            <a:r>
              <a:rPr lang="ko-KR" altLang="en-US" sz="14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줄임</a:t>
            </a:r>
            <a:endParaRPr lang="en-US" altLang="ko-KR" sz="14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51125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022367" y="6370929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pPr/>
              <a:t>61</a:t>
            </a:fld>
            <a:endParaRPr lang="ko-KR" altLang="en-US"/>
          </a:p>
        </p:txBody>
      </p:sp>
      <p:sp>
        <p:nvSpPr>
          <p:cNvPr id="46" name="자유형 45"/>
          <p:cNvSpPr/>
          <p:nvPr/>
        </p:nvSpPr>
        <p:spPr>
          <a:xfrm>
            <a:off x="3629549" y="1643742"/>
            <a:ext cx="5359224" cy="4524513"/>
          </a:xfrm>
          <a:custGeom>
            <a:avLst/>
            <a:gdLst>
              <a:gd name="connsiteX0" fmla="*/ 0 w 4365522"/>
              <a:gd name="connsiteY0" fmla="*/ 0 h 4336025"/>
              <a:gd name="connsiteX1" fmla="*/ 0 w 4365522"/>
              <a:gd name="connsiteY1" fmla="*/ 4336025 h 4336025"/>
              <a:gd name="connsiteX2" fmla="*/ 4365522 w 4365522"/>
              <a:gd name="connsiteY2" fmla="*/ 4321277 h 4336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65522" h="4336025">
                <a:moveTo>
                  <a:pt x="0" y="0"/>
                </a:moveTo>
                <a:lnTo>
                  <a:pt x="0" y="4336025"/>
                </a:lnTo>
                <a:lnTo>
                  <a:pt x="4365522" y="4321277"/>
                </a:lnTo>
              </a:path>
            </a:pathLst>
          </a:custGeom>
          <a:noFill/>
          <a:ln w="254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자유형 53"/>
          <p:cNvSpPr/>
          <p:nvPr/>
        </p:nvSpPr>
        <p:spPr>
          <a:xfrm>
            <a:off x="3640155" y="3050149"/>
            <a:ext cx="2296600" cy="3089426"/>
          </a:xfrm>
          <a:custGeom>
            <a:avLst/>
            <a:gdLst>
              <a:gd name="connsiteX0" fmla="*/ 0 w 5265174"/>
              <a:gd name="connsiteY0" fmla="*/ 4911213 h 4911213"/>
              <a:gd name="connsiteX1" fmla="*/ 2477729 w 5265174"/>
              <a:gd name="connsiteY1" fmla="*/ 3937819 h 4911213"/>
              <a:gd name="connsiteX2" fmla="*/ 5265174 w 5265174"/>
              <a:gd name="connsiteY2" fmla="*/ 0 h 4911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65174" h="4911213">
                <a:moveTo>
                  <a:pt x="0" y="4911213"/>
                </a:moveTo>
                <a:cubicBezTo>
                  <a:pt x="800100" y="4833783"/>
                  <a:pt x="1600200" y="4756354"/>
                  <a:pt x="2477729" y="3937819"/>
                </a:cubicBezTo>
                <a:cubicBezTo>
                  <a:pt x="3355258" y="3119283"/>
                  <a:pt x="4310216" y="1559641"/>
                  <a:pt x="5265174" y="0"/>
                </a:cubicBezTo>
              </a:path>
            </a:pathLst>
          </a:cu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2676848" y="1683733"/>
            <a:ext cx="889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타원 55"/>
          <p:cNvSpPr/>
          <p:nvPr/>
        </p:nvSpPr>
        <p:spPr>
          <a:xfrm>
            <a:off x="5789363" y="2947570"/>
            <a:ext cx="210122" cy="222365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4192507" y="6167372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Start 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5" name="직선 연결선 84"/>
          <p:cNvCxnSpPr/>
          <p:nvPr/>
        </p:nvCxnSpPr>
        <p:spPr>
          <a:xfrm flipV="1">
            <a:off x="5999485" y="2089111"/>
            <a:ext cx="2989288" cy="944087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6472391" y="6181665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Recovery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혼잡회피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endParaRPr lang="ko-KR" altLang="en-US" sz="160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7343651" y="2892516"/>
            <a:ext cx="3357432" cy="1384995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 재전송 이후 바로 혼잡 회피 단계로 전환해 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TCP 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전송 효율을 </a:t>
            </a:r>
            <a:r>
              <a:rPr lang="ko-KR" altLang="en-US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높이는 것 </a:t>
            </a:r>
            <a:endParaRPr lang="en-US" altLang="ko-KR" sz="1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Recovery)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CWND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의 크기를 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로 줄이지 않고 반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(0.5)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으로 줄임 </a:t>
            </a:r>
            <a:endParaRPr lang="ko-KR" altLang="en-US" sz="1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104" name="직선 화살표 연결선 103"/>
          <p:cNvCxnSpPr/>
          <p:nvPr/>
        </p:nvCxnSpPr>
        <p:spPr>
          <a:xfrm flipH="1" flipV="1">
            <a:off x="7825011" y="2468103"/>
            <a:ext cx="174624" cy="411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제목 1"/>
          <p:cNvSpPr txBox="1">
            <a:spLocks/>
          </p:cNvSpPr>
          <p:nvPr/>
        </p:nvSpPr>
        <p:spPr>
          <a:xfrm>
            <a:off x="808060" y="159909"/>
            <a:ext cx="7332663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Retransmission &amp; Fast Recovery</a:t>
            </a:r>
            <a:endParaRPr lang="ko-KR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3206081" y="5270004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202436" y="4731796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202436" y="405223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125935" y="289251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3216863" y="5911900"/>
            <a:ext cx="2872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4225201" y="1252637"/>
            <a:ext cx="3275482" cy="101912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빠른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(</a:t>
            </a:r>
            <a:r>
              <a:rPr lang="en-US" altLang="ko-KR" sz="1400" b="1" dirty="0">
                <a:latin typeface="Times New Roman" panose="02020603050405020304" pitchFamily="18" charset="0"/>
                <a:ea typeface="함초롬바탕" panose="02030504000101010101" pitchFamily="18" charset="-127"/>
                <a:cs typeface="Times New Roman" panose="02020603050405020304" pitchFamily="18" charset="0"/>
              </a:rPr>
              <a:t>fast retransmission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 : 3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개의 동일한 </a:t>
            </a:r>
            <a:r>
              <a:rPr lang="en-US" altLang="ko-KR" sz="1400" b="1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ACK</a:t>
            </a:r>
            <a:r>
              <a:rPr lang="ko-KR" altLang="en-US" sz="1400" b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를 받은 경우 타임아웃만큼 기다리지 않고 즉시 재전송</a:t>
            </a:r>
            <a:endParaRPr lang="en-US" altLang="ko-KR" sz="1400" b="1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cxnSp>
        <p:nvCxnSpPr>
          <p:cNvPr id="112" name="직선 화살표 연결선 111"/>
          <p:cNvCxnSpPr>
            <a:endCxn id="56" idx="1"/>
          </p:cNvCxnSpPr>
          <p:nvPr/>
        </p:nvCxnSpPr>
        <p:spPr>
          <a:xfrm>
            <a:off x="5519057" y="2325361"/>
            <a:ext cx="301078" cy="654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62041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25322" y="6356349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62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 flipH="1">
            <a:off x="3934079" y="527050"/>
            <a:ext cx="9271" cy="602615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8286750" y="527049"/>
            <a:ext cx="5389" cy="602615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90730" y="67697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06302" y="85725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952875" y="72759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353032" y="550762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직선 화살표 연결선 13"/>
          <p:cNvCxnSpPr/>
          <p:nvPr/>
        </p:nvCxnSpPr>
        <p:spPr>
          <a:xfrm flipH="1">
            <a:off x="3952875" y="1066800"/>
            <a:ext cx="4329065" cy="333375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61972" y="851416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3952874" y="158365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952874" y="183712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371849" y="1426347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362325" y="1692652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28007" y="2055766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/>
          <p:cNvCxnSpPr/>
          <p:nvPr/>
        </p:nvCxnSpPr>
        <p:spPr>
          <a:xfrm flipH="1">
            <a:off x="3942770" y="2285420"/>
            <a:ext cx="4297912" cy="139678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/>
          <p:nvPr/>
        </p:nvCxnSpPr>
        <p:spPr>
          <a:xfrm>
            <a:off x="3952874" y="264226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/>
          <p:cNvCxnSpPr/>
          <p:nvPr/>
        </p:nvCxnSpPr>
        <p:spPr>
          <a:xfrm>
            <a:off x="3963074" y="284269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3942770" y="306335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>
            <a:off x="3952297" y="325848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23827" y="2449511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339529" y="2680653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331678" y="2919477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23827" y="3149405"/>
            <a:ext cx="604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61971" y="3502967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직선 화살표 연결선 30"/>
          <p:cNvCxnSpPr/>
          <p:nvPr/>
        </p:nvCxnSpPr>
        <p:spPr>
          <a:xfrm flipH="1">
            <a:off x="3962975" y="3715821"/>
            <a:ext cx="4293285" cy="13183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133406" y="553773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CWND=1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074633" y="1591796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088670" y="2764207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3963074" y="404071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3963074" y="429019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3957041" y="452120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3956396" y="4734400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3944907" y="494229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3955107" y="514272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3934803" y="536339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3955107" y="561420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260126" y="3865654"/>
            <a:ext cx="663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SN=8</a:t>
            </a:r>
            <a:endParaRPr lang="ko-KR" alt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269297" y="4109533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 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261832" y="4325812"/>
            <a:ext cx="6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262007" y="455671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063005" y="4633589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CWND=8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253368" y="4793710"/>
            <a:ext cx="6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268653" y="502140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273711" y="5260481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274154" y="5488173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38207" y="5893135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AN=16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 flipH="1">
            <a:off x="6163431" y="6078474"/>
            <a:ext cx="2110077" cy="13183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폭발 1 59"/>
          <p:cNvSpPr/>
          <p:nvPr/>
        </p:nvSpPr>
        <p:spPr>
          <a:xfrm>
            <a:off x="5330248" y="5870164"/>
            <a:ext cx="942975" cy="693801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왼쪽 대괄호 2"/>
          <p:cNvSpPr/>
          <p:nvPr/>
        </p:nvSpPr>
        <p:spPr>
          <a:xfrm>
            <a:off x="3279713" y="1550129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왼쪽 대괄호 53"/>
          <p:cNvSpPr/>
          <p:nvPr/>
        </p:nvSpPr>
        <p:spPr>
          <a:xfrm>
            <a:off x="3260126" y="2581773"/>
            <a:ext cx="92906" cy="756038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왼쪽 대괄호 55"/>
          <p:cNvSpPr/>
          <p:nvPr/>
        </p:nvSpPr>
        <p:spPr>
          <a:xfrm>
            <a:off x="3221286" y="4001591"/>
            <a:ext cx="110391" cy="1609449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14984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397251" y="6386594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63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 flipH="1">
            <a:off x="3981704" y="536575"/>
            <a:ext cx="9271" cy="602615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8344710" y="543006"/>
            <a:ext cx="5389" cy="6026151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383603" y="2266195"/>
            <a:ext cx="7182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121413" y="948384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CWND=1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직선 화살표 연결선 36"/>
          <p:cNvCxnSpPr/>
          <p:nvPr/>
        </p:nvCxnSpPr>
        <p:spPr>
          <a:xfrm>
            <a:off x="4000500" y="120172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/>
          <p:cNvCxnSpPr/>
          <p:nvPr/>
        </p:nvCxnSpPr>
        <p:spPr>
          <a:xfrm>
            <a:off x="4010699" y="189214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/>
          <p:cNvCxnSpPr/>
          <p:nvPr/>
        </p:nvCxnSpPr>
        <p:spPr>
          <a:xfrm>
            <a:off x="4003753" y="209377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/>
          <p:cNvCxnSpPr/>
          <p:nvPr/>
        </p:nvCxnSpPr>
        <p:spPr>
          <a:xfrm>
            <a:off x="4036883" y="2803266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/>
          <p:nvPr/>
        </p:nvCxnSpPr>
        <p:spPr>
          <a:xfrm>
            <a:off x="4025394" y="301116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4035594" y="3211593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4015290" y="343225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342491" y="979162"/>
            <a:ext cx="6655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SN=8</a:t>
            </a:r>
            <a:endParaRPr lang="ko-KR" altLang="en-US" sz="16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328608" y="1733688"/>
            <a:ext cx="6495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 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321390" y="1951663"/>
            <a:ext cx="6877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138972" y="2914081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CWND=4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3293764" y="2626675"/>
            <a:ext cx="713516" cy="981696"/>
            <a:chOff x="3293764" y="2626675"/>
            <a:chExt cx="713516" cy="981696"/>
          </a:xfrm>
        </p:grpSpPr>
        <p:sp>
          <p:nvSpPr>
            <p:cNvPr id="48" name="TextBox 47"/>
            <p:cNvSpPr txBox="1"/>
            <p:nvPr/>
          </p:nvSpPr>
          <p:spPr>
            <a:xfrm>
              <a:off x="3312859" y="2626675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SN=11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304220" y="2863669"/>
              <a:ext cx="6877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SN=12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3302651" y="3082742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SN=13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293764" y="3300594"/>
              <a:ext cx="6944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SN=14</a:t>
              </a:r>
              <a:endParaRPr lang="ko-KR" altLang="en-US" sz="1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3287621" y="4219270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321020" y="491995"/>
            <a:ext cx="79060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AN=16</a:t>
            </a:r>
            <a:endParaRPr lang="ko-KR" altLang="en-US" sz="1600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직선 화살표 연결선 57"/>
          <p:cNvCxnSpPr/>
          <p:nvPr/>
        </p:nvCxnSpPr>
        <p:spPr>
          <a:xfrm flipH="1">
            <a:off x="6201416" y="682163"/>
            <a:ext cx="2110077" cy="13183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폭발 1 59"/>
          <p:cNvSpPr/>
          <p:nvPr/>
        </p:nvSpPr>
        <p:spPr>
          <a:xfrm>
            <a:off x="5404314" y="484924"/>
            <a:ext cx="792742" cy="675507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화살표 연결선 53"/>
          <p:cNvCxnSpPr/>
          <p:nvPr/>
        </p:nvCxnSpPr>
        <p:spPr>
          <a:xfrm flipH="1">
            <a:off x="3968626" y="1591592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376822" y="1388947"/>
            <a:ext cx="6351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7" name="직선 화살표 연결선 56"/>
          <p:cNvCxnSpPr/>
          <p:nvPr/>
        </p:nvCxnSpPr>
        <p:spPr>
          <a:xfrm flipH="1">
            <a:off x="4003797" y="2496958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8380269" y="372285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1" name="직선 화살표 연결선 60"/>
          <p:cNvCxnSpPr>
            <a:stCxn id="59" idx="1"/>
          </p:cNvCxnSpPr>
          <p:nvPr/>
        </p:nvCxnSpPr>
        <p:spPr>
          <a:xfrm flipH="1">
            <a:off x="3983987" y="3876745"/>
            <a:ext cx="4396282" cy="220289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2144634" y="1821021"/>
            <a:ext cx="1135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CWND=2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직선 화살표 연결선 62"/>
          <p:cNvCxnSpPr/>
          <p:nvPr/>
        </p:nvCxnSpPr>
        <p:spPr>
          <a:xfrm>
            <a:off x="4007401" y="4367525"/>
            <a:ext cx="2219756" cy="12842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/>
          <p:nvPr/>
        </p:nvCxnSpPr>
        <p:spPr>
          <a:xfrm>
            <a:off x="3978722" y="4590440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/>
          <p:nvPr/>
        </p:nvCxnSpPr>
        <p:spPr>
          <a:xfrm>
            <a:off x="3988922" y="4790871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/>
          <p:nvPr/>
        </p:nvCxnSpPr>
        <p:spPr>
          <a:xfrm>
            <a:off x="3968618" y="501153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/>
          <p:nvPr/>
        </p:nvCxnSpPr>
        <p:spPr>
          <a:xfrm>
            <a:off x="3978145" y="5206663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286951" y="444804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3286950" y="4670666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286949" y="485954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277422" y="5068743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폭발 1 71"/>
          <p:cNvSpPr/>
          <p:nvPr/>
        </p:nvSpPr>
        <p:spPr>
          <a:xfrm>
            <a:off x="6153454" y="4126878"/>
            <a:ext cx="792742" cy="675507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/>
          <p:cNvSpPr txBox="1"/>
          <p:nvPr/>
        </p:nvSpPr>
        <p:spPr>
          <a:xfrm>
            <a:off x="2138880" y="4587308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CWND=5</a:t>
            </a:r>
            <a:endParaRPr lang="ko-KR" altLang="en-US" b="1" i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직선 화살표 연결선 73"/>
          <p:cNvCxnSpPr/>
          <p:nvPr/>
        </p:nvCxnSpPr>
        <p:spPr>
          <a:xfrm flipH="1">
            <a:off x="3985234" y="5637145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/>
          <p:nvPr/>
        </p:nvCxnSpPr>
        <p:spPr>
          <a:xfrm flipH="1">
            <a:off x="3985221" y="5864837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H="1">
            <a:off x="3966129" y="6113804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398826" y="5452479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389149" y="5745998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389149" y="5994846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오른쪽 화살표 79"/>
          <p:cNvSpPr/>
          <p:nvPr/>
        </p:nvSpPr>
        <p:spPr>
          <a:xfrm rot="5400000">
            <a:off x="4488225" y="517035"/>
            <a:ext cx="509717" cy="46209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/>
          <p:cNvSpPr txBox="1"/>
          <p:nvPr/>
        </p:nvSpPr>
        <p:spPr>
          <a:xfrm>
            <a:off x="3531761" y="201024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761621" y="116754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83" name="왼쪽 대괄호 82"/>
          <p:cNvSpPr/>
          <p:nvPr/>
        </p:nvSpPr>
        <p:spPr>
          <a:xfrm>
            <a:off x="3249585" y="2739504"/>
            <a:ext cx="92906" cy="756038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왼쪽 대괄호 83"/>
          <p:cNvSpPr/>
          <p:nvPr/>
        </p:nvSpPr>
        <p:spPr>
          <a:xfrm>
            <a:off x="3257053" y="4356239"/>
            <a:ext cx="64337" cy="894535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왼쪽 대괄호 84"/>
          <p:cNvSpPr/>
          <p:nvPr/>
        </p:nvSpPr>
        <p:spPr>
          <a:xfrm>
            <a:off x="3240853" y="1846327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9397251" y="5700411"/>
            <a:ext cx="2619628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세그먼트 하나가 유실되었을 때</a:t>
            </a:r>
            <a:endParaRPr lang="en-US" altLang="ko-KR" sz="1400" b="1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r>
              <a:rPr lang="en-US" altLang="ko-KR" sz="1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(SN=15)</a:t>
            </a:r>
          </a:p>
        </p:txBody>
      </p:sp>
      <p:sp>
        <p:nvSpPr>
          <p:cNvPr id="7" name="오른쪽 대괄호 6"/>
          <p:cNvSpPr/>
          <p:nvPr/>
        </p:nvSpPr>
        <p:spPr>
          <a:xfrm>
            <a:off x="9123704" y="5529559"/>
            <a:ext cx="53991" cy="670556"/>
          </a:xfrm>
          <a:prstGeom prst="righ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sz="1400"/>
          </a:p>
        </p:txBody>
      </p:sp>
    </p:spTree>
    <p:extLst>
      <p:ext uri="{BB962C8B-B14F-4D97-AF65-F5344CB8AC3E}">
        <p14:creationId xmlns:p14="http://schemas.microsoft.com/office/powerpoint/2010/main" val="18128175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9100447" y="6273800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64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3895726" y="455000"/>
            <a:ext cx="998" cy="6380453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/>
          <p:cNvCxnSpPr/>
          <p:nvPr/>
        </p:nvCxnSpPr>
        <p:spPr>
          <a:xfrm>
            <a:off x="8249460" y="461431"/>
            <a:ext cx="7612" cy="6374022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1795565" y="2518514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CWND=3.5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789126" y="1260824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CWND=2.5</a:t>
            </a:r>
            <a:endParaRPr lang="ko-KR" altLang="en-US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835621" y="3608083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CWND=4.5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4" name="직선 화살표 연결선 73"/>
          <p:cNvCxnSpPr>
            <a:stCxn id="77" idx="1"/>
          </p:cNvCxnSpPr>
          <p:nvPr/>
        </p:nvCxnSpPr>
        <p:spPr>
          <a:xfrm flipH="1">
            <a:off x="3942014" y="549544"/>
            <a:ext cx="4339018" cy="169952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/>
          <p:nvPr/>
        </p:nvCxnSpPr>
        <p:spPr>
          <a:xfrm flipH="1">
            <a:off x="3941161" y="791549"/>
            <a:ext cx="4299067" cy="116304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/>
          <p:nvPr/>
        </p:nvCxnSpPr>
        <p:spPr>
          <a:xfrm flipH="1">
            <a:off x="3911981" y="982937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8281032" y="395655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8289900" y="634520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89900" y="861349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직선 화살표 연결선 79"/>
          <p:cNvCxnSpPr/>
          <p:nvPr/>
        </p:nvCxnSpPr>
        <p:spPr>
          <a:xfrm>
            <a:off x="3921651" y="134200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>
            <a:off x="3901931" y="153044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3253532" y="115858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3250433" y="137434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SN=16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4" name="직선 화살표 연결선 83"/>
          <p:cNvCxnSpPr/>
          <p:nvPr/>
        </p:nvCxnSpPr>
        <p:spPr>
          <a:xfrm flipH="1">
            <a:off x="3873764" y="1943156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H="1">
            <a:off x="3873764" y="2135502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8271047" y="1722074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8274269" y="1958829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AN=20</a:t>
            </a:r>
            <a:endParaRPr lang="ko-KR" altLang="en-US" sz="1400" b="1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3243655" y="2256647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3226460" y="2485447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3226460" y="2714247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1" name="직선 화살표 연결선 90"/>
          <p:cNvCxnSpPr/>
          <p:nvPr/>
        </p:nvCxnSpPr>
        <p:spPr>
          <a:xfrm>
            <a:off x="3911162" y="2455530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/>
          <p:nvPr/>
        </p:nvCxnSpPr>
        <p:spPr>
          <a:xfrm>
            <a:off x="3901930" y="266133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/>
          <p:cNvCxnSpPr/>
          <p:nvPr/>
        </p:nvCxnSpPr>
        <p:spPr>
          <a:xfrm>
            <a:off x="3918686" y="285816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/>
          <p:nvPr/>
        </p:nvCxnSpPr>
        <p:spPr>
          <a:xfrm flipH="1">
            <a:off x="3888128" y="3269127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8289900" y="3056309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244842" y="3351745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SN=23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3227647" y="3580545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SN=24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3227647" y="3790872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SN=25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9" name="직선 화살표 연결선 98"/>
          <p:cNvCxnSpPr/>
          <p:nvPr/>
        </p:nvCxnSpPr>
        <p:spPr>
          <a:xfrm>
            <a:off x="3911162" y="3525969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3911162" y="372178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>
            <a:off x="3919880" y="3940507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/>
          <p:nvPr/>
        </p:nvCxnSpPr>
        <p:spPr>
          <a:xfrm flipH="1">
            <a:off x="3888128" y="4523434"/>
            <a:ext cx="4360722" cy="97606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8305577" y="4359925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AN=27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4" name="직선 화살표 연결선 103"/>
          <p:cNvCxnSpPr/>
          <p:nvPr/>
        </p:nvCxnSpPr>
        <p:spPr>
          <a:xfrm>
            <a:off x="3910324" y="4148255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236244" y="4009140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SN=26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842408" y="5019417"/>
            <a:ext cx="13083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CWND=5.5</a:t>
            </a: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3253439" y="4883724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SN=28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3242695" y="4685447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SN=27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3236244" y="5123547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SN=29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0" name="직선 화살표 연결선 109"/>
          <p:cNvCxnSpPr/>
          <p:nvPr/>
        </p:nvCxnSpPr>
        <p:spPr>
          <a:xfrm>
            <a:off x="3919759" y="4858644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화살표 연결선 110"/>
          <p:cNvCxnSpPr/>
          <p:nvPr/>
        </p:nvCxnSpPr>
        <p:spPr>
          <a:xfrm>
            <a:off x="3919759" y="505446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화살표 연결선 111"/>
          <p:cNvCxnSpPr/>
          <p:nvPr/>
        </p:nvCxnSpPr>
        <p:spPr>
          <a:xfrm>
            <a:off x="3928477" y="5273182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화살표 연결선 112"/>
          <p:cNvCxnSpPr/>
          <p:nvPr/>
        </p:nvCxnSpPr>
        <p:spPr>
          <a:xfrm flipH="1">
            <a:off x="3864698" y="6206836"/>
            <a:ext cx="4342868" cy="126941"/>
          </a:xfrm>
          <a:prstGeom prst="straightConnector1">
            <a:avLst/>
          </a:prstGeom>
          <a:ln w="12700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8298966" y="6052947"/>
            <a:ext cx="72487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AN=32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5" name="직선 화살표 연결선 114"/>
          <p:cNvCxnSpPr/>
          <p:nvPr/>
        </p:nvCxnSpPr>
        <p:spPr>
          <a:xfrm>
            <a:off x="3918921" y="5480930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3244841" y="5341815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SN=30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7" name="직선 화살표 연결선 116"/>
          <p:cNvCxnSpPr/>
          <p:nvPr/>
        </p:nvCxnSpPr>
        <p:spPr>
          <a:xfrm>
            <a:off x="3917256" y="5691508"/>
            <a:ext cx="4329065" cy="2476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/>
          <p:cNvSpPr txBox="1"/>
          <p:nvPr/>
        </p:nvSpPr>
        <p:spPr>
          <a:xfrm>
            <a:off x="3253439" y="5549829"/>
            <a:ext cx="6944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SN=31</a:t>
            </a:r>
            <a:endParaRPr lang="ko-KR" alt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오른쪽 화살표 54"/>
          <p:cNvSpPr/>
          <p:nvPr/>
        </p:nvSpPr>
        <p:spPr>
          <a:xfrm rot="5400000">
            <a:off x="4631017" y="155307"/>
            <a:ext cx="509717" cy="462093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/>
          <p:cNvSpPr txBox="1"/>
          <p:nvPr/>
        </p:nvSpPr>
        <p:spPr>
          <a:xfrm>
            <a:off x="3531761" y="201024"/>
            <a:ext cx="8477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Sender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761621" y="116754"/>
            <a:ext cx="9968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Receiver</a:t>
            </a:r>
            <a:r>
              <a:rPr lang="ko-KR" altLang="en-US" sz="1600" b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endParaRPr lang="ko-KR" altLang="en-US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58" name="왼쪽 대괄호 57"/>
          <p:cNvSpPr/>
          <p:nvPr/>
        </p:nvSpPr>
        <p:spPr>
          <a:xfrm>
            <a:off x="3167244" y="1245920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왼쪽 대괄호 64"/>
          <p:cNvSpPr/>
          <p:nvPr/>
        </p:nvSpPr>
        <p:spPr>
          <a:xfrm>
            <a:off x="3167244" y="1245578"/>
            <a:ext cx="83189" cy="350103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왼쪽 대괄호 65"/>
          <p:cNvSpPr/>
          <p:nvPr/>
        </p:nvSpPr>
        <p:spPr>
          <a:xfrm>
            <a:off x="3195488" y="2379383"/>
            <a:ext cx="54945" cy="497252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왼쪽 대괄호 71"/>
          <p:cNvSpPr/>
          <p:nvPr/>
        </p:nvSpPr>
        <p:spPr>
          <a:xfrm>
            <a:off x="3176820" y="3427240"/>
            <a:ext cx="73613" cy="760917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왼쪽 대괄호 118"/>
          <p:cNvSpPr/>
          <p:nvPr/>
        </p:nvSpPr>
        <p:spPr>
          <a:xfrm>
            <a:off x="3196069" y="4811042"/>
            <a:ext cx="52164" cy="880466"/>
          </a:xfrm>
          <a:prstGeom prst="leftBracket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9981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052514"/>
            <a:ext cx="9144000" cy="744537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속도가 느려진 네트워크 복구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65</a:t>
            </a:fld>
            <a:endParaRPr lang="ko-KR" altLang="en-US"/>
          </a:p>
        </p:txBody>
      </p:sp>
      <p:sp>
        <p:nvSpPr>
          <p:cNvPr id="5" name="내용 개체 틀 2"/>
          <p:cNvSpPr txBox="1">
            <a:spLocks/>
          </p:cNvSpPr>
          <p:nvPr/>
        </p:nvSpPr>
        <p:spPr>
          <a:xfrm>
            <a:off x="838200" y="2435225"/>
            <a:ext cx="10515600" cy="2430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네트워크 속도가 느리다고 반드시 네트워크상의 문제만은 아님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네트워크 속도가 느린지 판단이 우선적으로 확인 필요  </a:t>
            </a:r>
          </a:p>
        </p:txBody>
      </p:sp>
    </p:spTree>
    <p:extLst>
      <p:ext uri="{BB962C8B-B14F-4D97-AF65-F5344CB8AC3E}">
        <p14:creationId xmlns:p14="http://schemas.microsoft.com/office/powerpoint/2010/main" val="275474199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TCP</a:t>
            </a:r>
            <a:r>
              <a:rPr lang="en-US" altLang="ko-KR" sz="3200" b="1" dirty="0"/>
              <a:t> </a:t>
            </a:r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재전송</a:t>
            </a:r>
            <a:r>
              <a:rPr lang="ko-KR" altLang="en-US" sz="3200" b="1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25284" y="1401081"/>
            <a:ext cx="10722429" cy="5043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손실 원인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애플리케이션 오작동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라우터 </a:t>
            </a:r>
            <a:r>
              <a:rPr lang="ko-KR" altLang="en-US" sz="18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과부학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트래픽 발생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일시적인 서비스 정지 등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손실은 일시적이기 때문에 </a:t>
            </a:r>
            <a:r>
              <a:rPr lang="ko-KR" altLang="en-US" sz="18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손실을 탐지하고 복구가 중요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재전송 여부를 결정하는 주요 </a:t>
            </a:r>
            <a:r>
              <a:rPr lang="ko-KR" altLang="en-US" sz="18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매커니즘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재전송 타이머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retransmission timer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-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재전송 때마다 재전송 타이머가 동작하고 패킷을 정상을 받았다는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ACK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패킷을 받으면 타이머는 정지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-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RTT(Round Trip Time)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: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전송 시간과 해당 패킷의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ACK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수신 시간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  -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RTO(Retransmission </a:t>
            </a:r>
            <a:r>
              <a:rPr lang="en-US" altLang="ko-KR" sz="18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TimeOut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) : RTT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들의 평균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69591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재전송 타이머를 이용한 </a:t>
            </a:r>
            <a:r>
              <a:rPr lang="ko-KR" altLang="en-US" sz="3200" b="1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</a:t>
            </a:r>
            <a:r>
              <a:rPr lang="ko-KR" altLang="en-US" sz="32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손실 확인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25284" y="1401081"/>
            <a:ext cx="10722429" cy="5043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RTO(Retransmission </a:t>
            </a:r>
            <a:r>
              <a:rPr lang="en-US" altLang="ko-KR" sz="18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TimeOut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값이 결정되기 전까지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RTT 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디폴트 값 사용 </a:t>
            </a:r>
            <a:endParaRPr lang="en-US" altLang="ko-KR" sz="18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수신된 </a:t>
            </a:r>
            <a:r>
              <a:rPr lang="ko-KR" altLang="en-US" sz="18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패킷이</a:t>
            </a:r>
            <a:r>
              <a:rPr lang="ko-KR" altLang="en-US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RTT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를 통해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RTT 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값이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조정되고 이를 기반으로 실제 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RTO </a:t>
            </a:r>
            <a:r>
              <a:rPr lang="ko-KR" altLang="en-US" sz="180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값을 결정 </a:t>
            </a:r>
            <a:endParaRPr lang="en-US" altLang="ko-KR" sz="18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RTO </a:t>
            </a:r>
            <a:r>
              <a:rPr lang="ko-KR" altLang="en-US" sz="18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값이 결정되면 패킷 손실이 발생했는지 확인 가능 </a:t>
            </a:r>
            <a:endParaRPr lang="ko-KR" altLang="en-US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7508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68</a:t>
            </a:fld>
            <a:endParaRPr lang="ko-KR" altLang="en-US"/>
          </a:p>
        </p:txBody>
      </p:sp>
      <p:grpSp>
        <p:nvGrpSpPr>
          <p:cNvPr id="3" name="그룹 2"/>
          <p:cNvGrpSpPr/>
          <p:nvPr/>
        </p:nvGrpSpPr>
        <p:grpSpPr>
          <a:xfrm flipH="1">
            <a:off x="8702220" y="3348319"/>
            <a:ext cx="941018" cy="1023754"/>
            <a:chOff x="1533695" y="4087365"/>
            <a:chExt cx="838200" cy="1011237"/>
          </a:xfrm>
        </p:grpSpPr>
        <p:sp>
          <p:nvSpPr>
            <p:cNvPr id="4" name="Freeform 174"/>
            <p:cNvSpPr>
              <a:spLocks/>
            </p:cNvSpPr>
            <p:nvPr/>
          </p:nvSpPr>
          <p:spPr bwMode="auto">
            <a:xfrm rot="355818">
              <a:off x="2175045" y="4754115"/>
              <a:ext cx="74613" cy="52387"/>
            </a:xfrm>
            <a:custGeom>
              <a:avLst/>
              <a:gdLst>
                <a:gd name="T0" fmla="*/ 1224 w 1224"/>
                <a:gd name="T1" fmla="*/ 755 h 755"/>
                <a:gd name="T2" fmla="*/ 1112 w 1224"/>
                <a:gd name="T3" fmla="*/ 716 h 755"/>
                <a:gd name="T4" fmla="*/ 1051 w 1224"/>
                <a:gd name="T5" fmla="*/ 693 h 755"/>
                <a:gd name="T6" fmla="*/ 1006 w 1224"/>
                <a:gd name="T7" fmla="*/ 671 h 755"/>
                <a:gd name="T8" fmla="*/ 984 w 1224"/>
                <a:gd name="T9" fmla="*/ 660 h 755"/>
                <a:gd name="T10" fmla="*/ 939 w 1224"/>
                <a:gd name="T11" fmla="*/ 626 h 755"/>
                <a:gd name="T12" fmla="*/ 894 w 1224"/>
                <a:gd name="T13" fmla="*/ 548 h 755"/>
                <a:gd name="T14" fmla="*/ 889 w 1224"/>
                <a:gd name="T15" fmla="*/ 531 h 755"/>
                <a:gd name="T16" fmla="*/ 850 w 1224"/>
                <a:gd name="T17" fmla="*/ 509 h 755"/>
                <a:gd name="T18" fmla="*/ 799 w 1224"/>
                <a:gd name="T19" fmla="*/ 481 h 755"/>
                <a:gd name="T20" fmla="*/ 704 w 1224"/>
                <a:gd name="T21" fmla="*/ 453 h 755"/>
                <a:gd name="T22" fmla="*/ 419 w 1224"/>
                <a:gd name="T23" fmla="*/ 442 h 755"/>
                <a:gd name="T24" fmla="*/ 330 w 1224"/>
                <a:gd name="T25" fmla="*/ 408 h 755"/>
                <a:gd name="T26" fmla="*/ 212 w 1224"/>
                <a:gd name="T27" fmla="*/ 279 h 755"/>
                <a:gd name="T28" fmla="*/ 145 w 1224"/>
                <a:gd name="T29" fmla="*/ 134 h 755"/>
                <a:gd name="T30" fmla="*/ 78 w 1224"/>
                <a:gd name="T31" fmla="*/ 39 h 755"/>
                <a:gd name="T32" fmla="*/ 0 w 1224"/>
                <a:gd name="T33" fmla="*/ 0 h 75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224"/>
                <a:gd name="T52" fmla="*/ 0 h 755"/>
                <a:gd name="T53" fmla="*/ 1224 w 1224"/>
                <a:gd name="T54" fmla="*/ 755 h 75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224" h="755">
                  <a:moveTo>
                    <a:pt x="1224" y="755"/>
                  </a:moveTo>
                  <a:cubicBezTo>
                    <a:pt x="1190" y="729"/>
                    <a:pt x="1154" y="724"/>
                    <a:pt x="1112" y="716"/>
                  </a:cubicBezTo>
                  <a:cubicBezTo>
                    <a:pt x="1091" y="705"/>
                    <a:pt x="1072" y="702"/>
                    <a:pt x="1051" y="693"/>
                  </a:cubicBezTo>
                  <a:cubicBezTo>
                    <a:pt x="1036" y="686"/>
                    <a:pt x="1021" y="678"/>
                    <a:pt x="1006" y="671"/>
                  </a:cubicBezTo>
                  <a:cubicBezTo>
                    <a:pt x="999" y="667"/>
                    <a:pt x="984" y="660"/>
                    <a:pt x="984" y="660"/>
                  </a:cubicBezTo>
                  <a:cubicBezTo>
                    <a:pt x="971" y="646"/>
                    <a:pt x="939" y="626"/>
                    <a:pt x="939" y="626"/>
                  </a:cubicBezTo>
                  <a:cubicBezTo>
                    <a:pt x="923" y="602"/>
                    <a:pt x="906" y="575"/>
                    <a:pt x="894" y="548"/>
                  </a:cubicBezTo>
                  <a:cubicBezTo>
                    <a:pt x="892" y="543"/>
                    <a:pt x="893" y="536"/>
                    <a:pt x="889" y="531"/>
                  </a:cubicBezTo>
                  <a:cubicBezTo>
                    <a:pt x="884" y="524"/>
                    <a:pt x="855" y="512"/>
                    <a:pt x="850" y="509"/>
                  </a:cubicBezTo>
                  <a:cubicBezTo>
                    <a:pt x="802" y="480"/>
                    <a:pt x="833" y="491"/>
                    <a:pt x="799" y="481"/>
                  </a:cubicBezTo>
                  <a:cubicBezTo>
                    <a:pt x="764" y="457"/>
                    <a:pt x="751" y="457"/>
                    <a:pt x="704" y="453"/>
                  </a:cubicBezTo>
                  <a:cubicBezTo>
                    <a:pt x="606" y="457"/>
                    <a:pt x="515" y="459"/>
                    <a:pt x="419" y="442"/>
                  </a:cubicBezTo>
                  <a:cubicBezTo>
                    <a:pt x="391" y="426"/>
                    <a:pt x="360" y="419"/>
                    <a:pt x="330" y="408"/>
                  </a:cubicBezTo>
                  <a:cubicBezTo>
                    <a:pt x="287" y="368"/>
                    <a:pt x="245" y="328"/>
                    <a:pt x="212" y="279"/>
                  </a:cubicBezTo>
                  <a:cubicBezTo>
                    <a:pt x="183" y="235"/>
                    <a:pt x="168" y="181"/>
                    <a:pt x="145" y="134"/>
                  </a:cubicBezTo>
                  <a:cubicBezTo>
                    <a:pt x="128" y="100"/>
                    <a:pt x="99" y="71"/>
                    <a:pt x="78" y="39"/>
                  </a:cubicBezTo>
                  <a:cubicBezTo>
                    <a:pt x="70" y="27"/>
                    <a:pt x="15" y="7"/>
                    <a:pt x="0" y="0"/>
                  </a:cubicBezTo>
                </a:path>
              </a:pathLst>
            </a:custGeom>
            <a:noFill/>
            <a:ln w="12700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" name="Freeform 175"/>
            <p:cNvSpPr>
              <a:spLocks/>
            </p:cNvSpPr>
            <p:nvPr/>
          </p:nvSpPr>
          <p:spPr bwMode="auto">
            <a:xfrm rot="355818" flipH="1">
              <a:off x="2235370" y="4801740"/>
              <a:ext cx="136525" cy="82550"/>
            </a:xfrm>
            <a:custGeom>
              <a:avLst/>
              <a:gdLst>
                <a:gd name="T0" fmla="*/ 886 w 971"/>
                <a:gd name="T1" fmla="*/ 33 h 550"/>
                <a:gd name="T2" fmla="*/ 937 w 971"/>
                <a:gd name="T3" fmla="*/ 70 h 550"/>
                <a:gd name="T4" fmla="*/ 971 w 971"/>
                <a:gd name="T5" fmla="*/ 130 h 550"/>
                <a:gd name="T6" fmla="*/ 967 w 971"/>
                <a:gd name="T7" fmla="*/ 218 h 550"/>
                <a:gd name="T8" fmla="*/ 882 w 971"/>
                <a:gd name="T9" fmla="*/ 261 h 550"/>
                <a:gd name="T10" fmla="*/ 791 w 971"/>
                <a:gd name="T11" fmla="*/ 294 h 550"/>
                <a:gd name="T12" fmla="*/ 665 w 971"/>
                <a:gd name="T13" fmla="*/ 382 h 550"/>
                <a:gd name="T14" fmla="*/ 519 w 971"/>
                <a:gd name="T15" fmla="*/ 522 h 550"/>
                <a:gd name="T16" fmla="*/ 397 w 971"/>
                <a:gd name="T17" fmla="*/ 542 h 550"/>
                <a:gd name="T18" fmla="*/ 298 w 971"/>
                <a:gd name="T19" fmla="*/ 550 h 550"/>
                <a:gd name="T20" fmla="*/ 155 w 971"/>
                <a:gd name="T21" fmla="*/ 522 h 550"/>
                <a:gd name="T22" fmla="*/ 34 w 971"/>
                <a:gd name="T23" fmla="*/ 459 h 550"/>
                <a:gd name="T24" fmla="*/ 0 w 971"/>
                <a:gd name="T25" fmla="*/ 393 h 550"/>
                <a:gd name="T26" fmla="*/ 11 w 971"/>
                <a:gd name="T27" fmla="*/ 315 h 550"/>
                <a:gd name="T28" fmla="*/ 63 w 971"/>
                <a:gd name="T29" fmla="*/ 210 h 550"/>
                <a:gd name="T30" fmla="*/ 142 w 971"/>
                <a:gd name="T31" fmla="*/ 147 h 550"/>
                <a:gd name="T32" fmla="*/ 246 w 971"/>
                <a:gd name="T33" fmla="*/ 89 h 550"/>
                <a:gd name="T34" fmla="*/ 445 w 971"/>
                <a:gd name="T35" fmla="*/ 21 h 550"/>
                <a:gd name="T36" fmla="*/ 634 w 971"/>
                <a:gd name="T37" fmla="*/ 0 h 550"/>
                <a:gd name="T38" fmla="*/ 794 w 971"/>
                <a:gd name="T39" fmla="*/ 13 h 550"/>
                <a:gd name="T40" fmla="*/ 886 w 971"/>
                <a:gd name="T41" fmla="*/ 33 h 55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971"/>
                <a:gd name="T64" fmla="*/ 0 h 550"/>
                <a:gd name="T65" fmla="*/ 971 w 971"/>
                <a:gd name="T66" fmla="*/ 550 h 550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971" h="550">
                  <a:moveTo>
                    <a:pt x="886" y="33"/>
                  </a:moveTo>
                  <a:lnTo>
                    <a:pt x="937" y="70"/>
                  </a:lnTo>
                  <a:lnTo>
                    <a:pt x="971" y="130"/>
                  </a:lnTo>
                  <a:lnTo>
                    <a:pt x="967" y="218"/>
                  </a:lnTo>
                  <a:lnTo>
                    <a:pt x="882" y="261"/>
                  </a:lnTo>
                  <a:lnTo>
                    <a:pt x="791" y="294"/>
                  </a:lnTo>
                  <a:lnTo>
                    <a:pt x="665" y="382"/>
                  </a:lnTo>
                  <a:lnTo>
                    <a:pt x="519" y="522"/>
                  </a:lnTo>
                  <a:lnTo>
                    <a:pt x="397" y="542"/>
                  </a:lnTo>
                  <a:lnTo>
                    <a:pt x="298" y="550"/>
                  </a:lnTo>
                  <a:lnTo>
                    <a:pt x="155" y="522"/>
                  </a:lnTo>
                  <a:lnTo>
                    <a:pt x="34" y="459"/>
                  </a:lnTo>
                  <a:lnTo>
                    <a:pt x="0" y="393"/>
                  </a:lnTo>
                  <a:lnTo>
                    <a:pt x="11" y="315"/>
                  </a:lnTo>
                  <a:lnTo>
                    <a:pt x="63" y="210"/>
                  </a:lnTo>
                  <a:lnTo>
                    <a:pt x="142" y="147"/>
                  </a:lnTo>
                  <a:lnTo>
                    <a:pt x="246" y="89"/>
                  </a:lnTo>
                  <a:lnTo>
                    <a:pt x="445" y="21"/>
                  </a:lnTo>
                  <a:lnTo>
                    <a:pt x="634" y="0"/>
                  </a:lnTo>
                  <a:lnTo>
                    <a:pt x="794" y="13"/>
                  </a:lnTo>
                  <a:lnTo>
                    <a:pt x="886" y="33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FFFFFF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6" name="Freeform 176"/>
            <p:cNvSpPr>
              <a:spLocks/>
            </p:cNvSpPr>
            <p:nvPr/>
          </p:nvSpPr>
          <p:spPr bwMode="auto">
            <a:xfrm rot="355818">
              <a:off x="2229020" y="4830315"/>
              <a:ext cx="134938" cy="58737"/>
            </a:xfrm>
            <a:custGeom>
              <a:avLst/>
              <a:gdLst>
                <a:gd name="T0" fmla="*/ 0 w 1432"/>
                <a:gd name="T1" fmla="*/ 0 h 526"/>
                <a:gd name="T2" fmla="*/ 56 w 1432"/>
                <a:gd name="T3" fmla="*/ 118 h 526"/>
                <a:gd name="T4" fmla="*/ 319 w 1432"/>
                <a:gd name="T5" fmla="*/ 302 h 526"/>
                <a:gd name="T6" fmla="*/ 604 w 1432"/>
                <a:gd name="T7" fmla="*/ 448 h 526"/>
                <a:gd name="T8" fmla="*/ 867 w 1432"/>
                <a:gd name="T9" fmla="*/ 526 h 526"/>
                <a:gd name="T10" fmla="*/ 1091 w 1432"/>
                <a:gd name="T11" fmla="*/ 504 h 526"/>
                <a:gd name="T12" fmla="*/ 1270 w 1432"/>
                <a:gd name="T13" fmla="*/ 448 h 526"/>
                <a:gd name="T14" fmla="*/ 1432 w 1432"/>
                <a:gd name="T15" fmla="*/ 353 h 526"/>
                <a:gd name="T16" fmla="*/ 1253 w 1432"/>
                <a:gd name="T17" fmla="*/ 431 h 526"/>
                <a:gd name="T18" fmla="*/ 1108 w 1432"/>
                <a:gd name="T19" fmla="*/ 470 h 526"/>
                <a:gd name="T20" fmla="*/ 951 w 1432"/>
                <a:gd name="T21" fmla="*/ 470 h 526"/>
                <a:gd name="T22" fmla="*/ 789 w 1432"/>
                <a:gd name="T23" fmla="*/ 453 h 526"/>
                <a:gd name="T24" fmla="*/ 699 w 1432"/>
                <a:gd name="T25" fmla="*/ 420 h 526"/>
                <a:gd name="T26" fmla="*/ 560 w 1432"/>
                <a:gd name="T27" fmla="*/ 330 h 526"/>
                <a:gd name="T28" fmla="*/ 437 w 1432"/>
                <a:gd name="T29" fmla="*/ 213 h 526"/>
                <a:gd name="T30" fmla="*/ 274 w 1432"/>
                <a:gd name="T31" fmla="*/ 129 h 526"/>
                <a:gd name="T32" fmla="*/ 140 w 1432"/>
                <a:gd name="T33" fmla="*/ 73 h 526"/>
                <a:gd name="T34" fmla="*/ 0 w 1432"/>
                <a:gd name="T35" fmla="*/ 0 h 52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432"/>
                <a:gd name="T55" fmla="*/ 0 h 526"/>
                <a:gd name="T56" fmla="*/ 1432 w 1432"/>
                <a:gd name="T57" fmla="*/ 526 h 52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432" h="526">
                  <a:moveTo>
                    <a:pt x="0" y="0"/>
                  </a:moveTo>
                  <a:lnTo>
                    <a:pt x="56" y="118"/>
                  </a:lnTo>
                  <a:lnTo>
                    <a:pt x="319" y="302"/>
                  </a:lnTo>
                  <a:lnTo>
                    <a:pt x="604" y="448"/>
                  </a:lnTo>
                  <a:lnTo>
                    <a:pt x="867" y="526"/>
                  </a:lnTo>
                  <a:lnTo>
                    <a:pt x="1091" y="504"/>
                  </a:lnTo>
                  <a:lnTo>
                    <a:pt x="1270" y="448"/>
                  </a:lnTo>
                  <a:lnTo>
                    <a:pt x="1432" y="353"/>
                  </a:lnTo>
                  <a:lnTo>
                    <a:pt x="1253" y="431"/>
                  </a:lnTo>
                  <a:lnTo>
                    <a:pt x="1108" y="470"/>
                  </a:lnTo>
                  <a:lnTo>
                    <a:pt x="951" y="470"/>
                  </a:lnTo>
                  <a:lnTo>
                    <a:pt x="789" y="453"/>
                  </a:lnTo>
                  <a:lnTo>
                    <a:pt x="699" y="420"/>
                  </a:lnTo>
                  <a:lnTo>
                    <a:pt x="560" y="330"/>
                  </a:lnTo>
                  <a:lnTo>
                    <a:pt x="437" y="213"/>
                  </a:lnTo>
                  <a:lnTo>
                    <a:pt x="274" y="129"/>
                  </a:lnTo>
                  <a:lnTo>
                    <a:pt x="140" y="73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808080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7" name="Freeform 177"/>
            <p:cNvSpPr>
              <a:spLocks/>
            </p:cNvSpPr>
            <p:nvPr/>
          </p:nvSpPr>
          <p:spPr bwMode="auto">
            <a:xfrm rot="355818" flipH="1">
              <a:off x="2262358" y="4796977"/>
              <a:ext cx="31750" cy="39688"/>
            </a:xfrm>
            <a:custGeom>
              <a:avLst/>
              <a:gdLst>
                <a:gd name="T0" fmla="*/ 229 w 229"/>
                <a:gd name="T1" fmla="*/ 261 h 261"/>
                <a:gd name="T2" fmla="*/ 115 w 229"/>
                <a:gd name="T3" fmla="*/ 57 h 261"/>
                <a:gd name="T4" fmla="*/ 0 w 229"/>
                <a:gd name="T5" fmla="*/ 0 h 261"/>
                <a:gd name="T6" fmla="*/ 0 60000 65536"/>
                <a:gd name="T7" fmla="*/ 0 60000 65536"/>
                <a:gd name="T8" fmla="*/ 0 60000 65536"/>
                <a:gd name="T9" fmla="*/ 0 w 229"/>
                <a:gd name="T10" fmla="*/ 0 h 261"/>
                <a:gd name="T11" fmla="*/ 229 w 229"/>
                <a:gd name="T12" fmla="*/ 261 h 2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9" h="261">
                  <a:moveTo>
                    <a:pt x="229" y="261"/>
                  </a:moveTo>
                  <a:lnTo>
                    <a:pt x="115" y="57"/>
                  </a:ln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2B2B2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8" name="Freeform 178"/>
            <p:cNvSpPr>
              <a:spLocks/>
            </p:cNvSpPr>
            <p:nvPr/>
          </p:nvSpPr>
          <p:spPr bwMode="auto">
            <a:xfrm rot="355818">
              <a:off x="2248070" y="4795390"/>
              <a:ext cx="42863" cy="7937"/>
            </a:xfrm>
            <a:custGeom>
              <a:avLst/>
              <a:gdLst>
                <a:gd name="T0" fmla="*/ 0 w 560"/>
                <a:gd name="T1" fmla="*/ 79 h 79"/>
                <a:gd name="T2" fmla="*/ 246 w 560"/>
                <a:gd name="T3" fmla="*/ 26 h 79"/>
                <a:gd name="T4" fmla="*/ 408 w 560"/>
                <a:gd name="T5" fmla="*/ 0 h 79"/>
                <a:gd name="T6" fmla="*/ 560 w 560"/>
                <a:gd name="T7" fmla="*/ 26 h 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0"/>
                <a:gd name="T13" fmla="*/ 0 h 79"/>
                <a:gd name="T14" fmla="*/ 560 w 560"/>
                <a:gd name="T15" fmla="*/ 79 h 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0" h="79">
                  <a:moveTo>
                    <a:pt x="0" y="79"/>
                  </a:moveTo>
                  <a:lnTo>
                    <a:pt x="246" y="26"/>
                  </a:lnTo>
                  <a:lnTo>
                    <a:pt x="408" y="0"/>
                  </a:lnTo>
                  <a:lnTo>
                    <a:pt x="560" y="26"/>
                  </a:lnTo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9" name="Oval 179"/>
            <p:cNvSpPr>
              <a:spLocks noChangeArrowheads="1"/>
            </p:cNvSpPr>
            <p:nvPr/>
          </p:nvSpPr>
          <p:spPr bwMode="auto">
            <a:xfrm rot="21219751">
              <a:off x="2267120" y="4792215"/>
              <a:ext cx="19050" cy="9525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0" name="Freeform 180"/>
            <p:cNvSpPr>
              <a:spLocks/>
            </p:cNvSpPr>
            <p:nvPr/>
          </p:nvSpPr>
          <p:spPr bwMode="auto">
            <a:xfrm rot="355818">
              <a:off x="2238545" y="4798565"/>
              <a:ext cx="36513" cy="33337"/>
            </a:xfrm>
            <a:custGeom>
              <a:avLst/>
              <a:gdLst>
                <a:gd name="T0" fmla="*/ 98 w 482"/>
                <a:gd name="T1" fmla="*/ 36 h 367"/>
                <a:gd name="T2" fmla="*/ 320 w 482"/>
                <a:gd name="T3" fmla="*/ 0 h 367"/>
                <a:gd name="T4" fmla="*/ 367 w 482"/>
                <a:gd name="T5" fmla="*/ 26 h 367"/>
                <a:gd name="T6" fmla="*/ 445 w 482"/>
                <a:gd name="T7" fmla="*/ 26 h 367"/>
                <a:gd name="T8" fmla="*/ 482 w 482"/>
                <a:gd name="T9" fmla="*/ 42 h 367"/>
                <a:gd name="T10" fmla="*/ 278 w 482"/>
                <a:gd name="T11" fmla="*/ 367 h 367"/>
                <a:gd name="T12" fmla="*/ 5 w 482"/>
                <a:gd name="T13" fmla="*/ 262 h 367"/>
                <a:gd name="T14" fmla="*/ 0 w 482"/>
                <a:gd name="T15" fmla="*/ 157 h 367"/>
                <a:gd name="T16" fmla="*/ 42 w 482"/>
                <a:gd name="T17" fmla="*/ 74 h 367"/>
                <a:gd name="T18" fmla="*/ 98 w 482"/>
                <a:gd name="T19" fmla="*/ 36 h 36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82"/>
                <a:gd name="T31" fmla="*/ 0 h 367"/>
                <a:gd name="T32" fmla="*/ 482 w 482"/>
                <a:gd name="T33" fmla="*/ 367 h 367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82" h="367">
                  <a:moveTo>
                    <a:pt x="98" y="36"/>
                  </a:moveTo>
                  <a:lnTo>
                    <a:pt x="320" y="0"/>
                  </a:lnTo>
                  <a:lnTo>
                    <a:pt x="367" y="26"/>
                  </a:lnTo>
                  <a:lnTo>
                    <a:pt x="445" y="26"/>
                  </a:lnTo>
                  <a:lnTo>
                    <a:pt x="482" y="42"/>
                  </a:lnTo>
                  <a:lnTo>
                    <a:pt x="278" y="367"/>
                  </a:lnTo>
                  <a:lnTo>
                    <a:pt x="5" y="262"/>
                  </a:lnTo>
                  <a:lnTo>
                    <a:pt x="0" y="157"/>
                  </a:lnTo>
                  <a:lnTo>
                    <a:pt x="42" y="74"/>
                  </a:lnTo>
                  <a:lnTo>
                    <a:pt x="98" y="36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1" name="Freeform 182"/>
            <p:cNvSpPr>
              <a:spLocks/>
            </p:cNvSpPr>
            <p:nvPr/>
          </p:nvSpPr>
          <p:spPr bwMode="auto">
            <a:xfrm flipH="1">
              <a:off x="1760708" y="4763640"/>
              <a:ext cx="190500" cy="334962"/>
            </a:xfrm>
            <a:custGeom>
              <a:avLst/>
              <a:gdLst>
                <a:gd name="T0" fmla="*/ 933 w 933"/>
                <a:gd name="T1" fmla="*/ 135 h 352"/>
                <a:gd name="T2" fmla="*/ 932 w 933"/>
                <a:gd name="T3" fmla="*/ 171 h 352"/>
                <a:gd name="T4" fmla="*/ 762 w 933"/>
                <a:gd name="T5" fmla="*/ 352 h 352"/>
                <a:gd name="T6" fmla="*/ 4 w 933"/>
                <a:gd name="T7" fmla="*/ 195 h 352"/>
                <a:gd name="T8" fmla="*/ 0 w 933"/>
                <a:gd name="T9" fmla="*/ 148 h 352"/>
                <a:gd name="T10" fmla="*/ 244 w 933"/>
                <a:gd name="T11" fmla="*/ 0 h 352"/>
                <a:gd name="T12" fmla="*/ 933 w 933"/>
                <a:gd name="T13" fmla="*/ 135 h 35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33"/>
                <a:gd name="T22" fmla="*/ 0 h 352"/>
                <a:gd name="T23" fmla="*/ 933 w 933"/>
                <a:gd name="T24" fmla="*/ 352 h 35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33" h="352">
                  <a:moveTo>
                    <a:pt x="933" y="135"/>
                  </a:moveTo>
                  <a:lnTo>
                    <a:pt x="932" y="171"/>
                  </a:lnTo>
                  <a:lnTo>
                    <a:pt x="762" y="352"/>
                  </a:lnTo>
                  <a:lnTo>
                    <a:pt x="4" y="195"/>
                  </a:lnTo>
                  <a:lnTo>
                    <a:pt x="0" y="148"/>
                  </a:lnTo>
                  <a:lnTo>
                    <a:pt x="244" y="0"/>
                  </a:lnTo>
                  <a:lnTo>
                    <a:pt x="933" y="135"/>
                  </a:lnTo>
                  <a:close/>
                </a:path>
              </a:pathLst>
            </a:custGeom>
            <a:gradFill rotWithShape="0">
              <a:gsLst>
                <a:gs pos="0">
                  <a:srgbClr val="DDDDDD"/>
                </a:gs>
                <a:gs pos="100000">
                  <a:srgbClr val="F3F3F3"/>
                </a:gs>
              </a:gsLst>
              <a:lin ang="0" scaled="1"/>
            </a:gradFill>
            <a:ln w="6350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2" name="Freeform 183"/>
            <p:cNvSpPr>
              <a:spLocks/>
            </p:cNvSpPr>
            <p:nvPr/>
          </p:nvSpPr>
          <p:spPr bwMode="auto">
            <a:xfrm flipH="1">
              <a:off x="1778170" y="4750940"/>
              <a:ext cx="187325" cy="331787"/>
            </a:xfrm>
            <a:custGeom>
              <a:avLst/>
              <a:gdLst>
                <a:gd name="T0" fmla="*/ 895 w 895"/>
                <a:gd name="T1" fmla="*/ 133 h 294"/>
                <a:gd name="T2" fmla="*/ 232 w 895"/>
                <a:gd name="T3" fmla="*/ 0 h 294"/>
                <a:gd name="T4" fmla="*/ 0 w 895"/>
                <a:gd name="T5" fmla="*/ 143 h 294"/>
                <a:gd name="T6" fmla="*/ 739 w 895"/>
                <a:gd name="T7" fmla="*/ 294 h 294"/>
                <a:gd name="T8" fmla="*/ 895 w 895"/>
                <a:gd name="T9" fmla="*/ 133 h 2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95"/>
                <a:gd name="T16" fmla="*/ 0 h 294"/>
                <a:gd name="T17" fmla="*/ 895 w 895"/>
                <a:gd name="T18" fmla="*/ 294 h 29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95" h="294">
                  <a:moveTo>
                    <a:pt x="895" y="133"/>
                  </a:moveTo>
                  <a:lnTo>
                    <a:pt x="232" y="0"/>
                  </a:lnTo>
                  <a:lnTo>
                    <a:pt x="0" y="143"/>
                  </a:lnTo>
                  <a:lnTo>
                    <a:pt x="739" y="294"/>
                  </a:lnTo>
                  <a:lnTo>
                    <a:pt x="895" y="133"/>
                  </a:lnTo>
                  <a:close/>
                </a:path>
              </a:pathLst>
            </a:custGeom>
            <a:solidFill>
              <a:srgbClr val="FFFFFF"/>
            </a:solidFill>
            <a:ln w="3175">
              <a:solidFill>
                <a:srgbClr val="B2B2B2"/>
              </a:solidFill>
              <a:round/>
              <a:headEnd/>
              <a:tailEnd/>
            </a:ln>
          </p:spPr>
          <p:txBody>
            <a:bodyPr wrap="none" tIns="27432" bIns="27432" anchor="ctr">
              <a:spAutoFit/>
            </a:bodyPr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3" name="Freeform 184"/>
            <p:cNvSpPr>
              <a:spLocks/>
            </p:cNvSpPr>
            <p:nvPr/>
          </p:nvSpPr>
          <p:spPr bwMode="auto">
            <a:xfrm flipH="1">
              <a:off x="1798808" y="4828727"/>
              <a:ext cx="344487" cy="84138"/>
            </a:xfrm>
            <a:custGeom>
              <a:avLst/>
              <a:gdLst>
                <a:gd name="T0" fmla="*/ 0 w 531"/>
                <a:gd name="T1" fmla="*/ 15 h 118"/>
                <a:gd name="T2" fmla="*/ 508 w 531"/>
                <a:gd name="T3" fmla="*/ 118 h 118"/>
                <a:gd name="T4" fmla="*/ 531 w 531"/>
                <a:gd name="T5" fmla="*/ 103 h 118"/>
                <a:gd name="T6" fmla="*/ 23 w 531"/>
                <a:gd name="T7" fmla="*/ 0 h 1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1"/>
                <a:gd name="T13" fmla="*/ 0 h 118"/>
                <a:gd name="T14" fmla="*/ 531 w 531"/>
                <a:gd name="T15" fmla="*/ 118 h 1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1" h="118">
                  <a:moveTo>
                    <a:pt x="0" y="15"/>
                  </a:moveTo>
                  <a:lnTo>
                    <a:pt x="508" y="118"/>
                  </a:lnTo>
                  <a:lnTo>
                    <a:pt x="531" y="103"/>
                  </a:lnTo>
                  <a:lnTo>
                    <a:pt x="23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4" name="Freeform 185"/>
            <p:cNvSpPr>
              <a:spLocks/>
            </p:cNvSpPr>
            <p:nvPr/>
          </p:nvSpPr>
          <p:spPr bwMode="auto">
            <a:xfrm flipH="1">
              <a:off x="1886120" y="4850952"/>
              <a:ext cx="355600" cy="112713"/>
            </a:xfrm>
            <a:custGeom>
              <a:avLst/>
              <a:gdLst>
                <a:gd name="T0" fmla="*/ 0 w 548"/>
                <a:gd name="T1" fmla="*/ 74 h 159"/>
                <a:gd name="T2" fmla="*/ 31 w 548"/>
                <a:gd name="T3" fmla="*/ 78 h 159"/>
                <a:gd name="T4" fmla="*/ 57 w 548"/>
                <a:gd name="T5" fmla="*/ 66 h 159"/>
                <a:gd name="T6" fmla="*/ 76 w 548"/>
                <a:gd name="T7" fmla="*/ 71 h 159"/>
                <a:gd name="T8" fmla="*/ 58 w 548"/>
                <a:gd name="T9" fmla="*/ 81 h 159"/>
                <a:gd name="T10" fmla="*/ 451 w 548"/>
                <a:gd name="T11" fmla="*/ 159 h 159"/>
                <a:gd name="T12" fmla="*/ 548 w 548"/>
                <a:gd name="T13" fmla="*/ 84 h 159"/>
                <a:gd name="T14" fmla="*/ 130 w 548"/>
                <a:gd name="T15" fmla="*/ 0 h 15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548"/>
                <a:gd name="T25" fmla="*/ 0 h 159"/>
                <a:gd name="T26" fmla="*/ 548 w 548"/>
                <a:gd name="T27" fmla="*/ 159 h 15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548" h="159">
                  <a:moveTo>
                    <a:pt x="0" y="74"/>
                  </a:moveTo>
                  <a:lnTo>
                    <a:pt x="31" y="78"/>
                  </a:lnTo>
                  <a:lnTo>
                    <a:pt x="57" y="66"/>
                  </a:lnTo>
                  <a:lnTo>
                    <a:pt x="76" y="71"/>
                  </a:lnTo>
                  <a:lnTo>
                    <a:pt x="58" y="81"/>
                  </a:lnTo>
                  <a:lnTo>
                    <a:pt x="451" y="159"/>
                  </a:lnTo>
                  <a:lnTo>
                    <a:pt x="548" y="84"/>
                  </a:lnTo>
                  <a:lnTo>
                    <a:pt x="130" y="0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86"/>
            <p:cNvSpPr>
              <a:spLocks/>
            </p:cNvSpPr>
            <p:nvPr/>
          </p:nvSpPr>
          <p:spPr bwMode="auto">
            <a:xfrm flipH="1">
              <a:off x="1819445" y="4914452"/>
              <a:ext cx="90488" cy="49213"/>
            </a:xfrm>
            <a:custGeom>
              <a:avLst/>
              <a:gdLst>
                <a:gd name="T0" fmla="*/ 73 w 140"/>
                <a:gd name="T1" fmla="*/ 0 h 70"/>
                <a:gd name="T2" fmla="*/ 140 w 140"/>
                <a:gd name="T3" fmla="*/ 11 h 70"/>
                <a:gd name="T4" fmla="*/ 75 w 140"/>
                <a:gd name="T5" fmla="*/ 70 h 70"/>
                <a:gd name="T6" fmla="*/ 0 w 140"/>
                <a:gd name="T7" fmla="*/ 56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70"/>
                <a:gd name="T14" fmla="*/ 140 w 140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70">
                  <a:moveTo>
                    <a:pt x="73" y="0"/>
                  </a:moveTo>
                  <a:lnTo>
                    <a:pt x="140" y="11"/>
                  </a:lnTo>
                  <a:lnTo>
                    <a:pt x="75" y="70"/>
                  </a:lnTo>
                  <a:lnTo>
                    <a:pt x="0" y="56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6" name="Freeform 187"/>
            <p:cNvSpPr>
              <a:spLocks/>
            </p:cNvSpPr>
            <p:nvPr/>
          </p:nvSpPr>
          <p:spPr bwMode="auto">
            <a:xfrm flipH="1">
              <a:off x="1754358" y="4925565"/>
              <a:ext cx="107950" cy="71437"/>
            </a:xfrm>
            <a:custGeom>
              <a:avLst/>
              <a:gdLst>
                <a:gd name="T0" fmla="*/ 87 w 167"/>
                <a:gd name="T1" fmla="*/ 0 h 101"/>
                <a:gd name="T2" fmla="*/ 167 w 167"/>
                <a:gd name="T3" fmla="*/ 15 h 101"/>
                <a:gd name="T4" fmla="*/ 81 w 167"/>
                <a:gd name="T5" fmla="*/ 101 h 101"/>
                <a:gd name="T6" fmla="*/ 0 w 167"/>
                <a:gd name="T7" fmla="*/ 83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7"/>
                <a:gd name="T13" fmla="*/ 0 h 101"/>
                <a:gd name="T14" fmla="*/ 167 w 167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7" h="101">
                  <a:moveTo>
                    <a:pt x="87" y="0"/>
                  </a:moveTo>
                  <a:lnTo>
                    <a:pt x="167" y="15"/>
                  </a:lnTo>
                  <a:lnTo>
                    <a:pt x="81" y="101"/>
                  </a:lnTo>
                  <a:lnTo>
                    <a:pt x="0" y="83"/>
                  </a:lnTo>
                </a:path>
              </a:pathLst>
            </a:custGeom>
            <a:solidFill>
              <a:srgbClr val="DDDDDD"/>
            </a:solidFill>
            <a:ln w="12700" cap="rnd">
              <a:solidFill>
                <a:srgbClr val="EAEAEA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7" name="Freeform 189"/>
            <p:cNvSpPr>
              <a:spLocks noChangeAspect="1"/>
            </p:cNvSpPr>
            <p:nvPr/>
          </p:nvSpPr>
          <p:spPr bwMode="auto">
            <a:xfrm>
              <a:off x="1533695" y="4523927"/>
              <a:ext cx="144463" cy="354013"/>
            </a:xfrm>
            <a:custGeom>
              <a:avLst/>
              <a:gdLst/>
              <a:ahLst/>
              <a:cxnLst>
                <a:cxn ang="0">
                  <a:pos x="169" y="246"/>
                </a:cxn>
                <a:cxn ang="0">
                  <a:pos x="1" y="0"/>
                </a:cxn>
                <a:cxn ang="0">
                  <a:pos x="0" y="123"/>
                </a:cxn>
                <a:cxn ang="0">
                  <a:pos x="165" y="377"/>
                </a:cxn>
              </a:cxnLst>
              <a:rect l="0" t="0" r="r" b="b"/>
              <a:pathLst>
                <a:path w="169" h="377">
                  <a:moveTo>
                    <a:pt x="169" y="246"/>
                  </a:moveTo>
                  <a:lnTo>
                    <a:pt x="1" y="0"/>
                  </a:lnTo>
                  <a:lnTo>
                    <a:pt x="0" y="123"/>
                  </a:lnTo>
                  <a:lnTo>
                    <a:pt x="165" y="377"/>
                  </a:lnTo>
                </a:path>
              </a:pathLst>
            </a:custGeom>
            <a:gradFill rotWithShape="1">
              <a:gsLst>
                <a:gs pos="0">
                  <a:srgbClr val="EAEAEA"/>
                </a:gs>
                <a:gs pos="100000">
                  <a:srgbClr val="EAEAEA">
                    <a:gamma/>
                    <a:tint val="60784"/>
                    <a:invGamma/>
                  </a:srgbClr>
                </a:gs>
              </a:gsLst>
              <a:lin ang="0" scaled="1"/>
            </a:gra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8" name="Freeform 190"/>
            <p:cNvSpPr>
              <a:spLocks noChangeAspect="1"/>
            </p:cNvSpPr>
            <p:nvPr/>
          </p:nvSpPr>
          <p:spPr bwMode="auto">
            <a:xfrm>
              <a:off x="1536870" y="4465190"/>
              <a:ext cx="619125" cy="288925"/>
            </a:xfrm>
            <a:custGeom>
              <a:avLst/>
              <a:gdLst/>
              <a:ahLst/>
              <a:cxnLst>
                <a:cxn ang="0">
                  <a:pos x="166" y="310"/>
                </a:cxn>
                <a:cxn ang="0">
                  <a:pos x="718" y="211"/>
                </a:cxn>
                <a:cxn ang="0">
                  <a:pos x="444" y="0"/>
                </a:cxn>
                <a:cxn ang="0">
                  <a:pos x="0" y="64"/>
                </a:cxn>
                <a:cxn ang="0">
                  <a:pos x="166" y="310"/>
                </a:cxn>
              </a:cxnLst>
              <a:rect l="0" t="0" r="r" b="b"/>
              <a:pathLst>
                <a:path w="718" h="310">
                  <a:moveTo>
                    <a:pt x="166" y="310"/>
                  </a:moveTo>
                  <a:lnTo>
                    <a:pt x="718" y="211"/>
                  </a:lnTo>
                  <a:lnTo>
                    <a:pt x="444" y="0"/>
                  </a:lnTo>
                  <a:lnTo>
                    <a:pt x="0" y="64"/>
                  </a:lnTo>
                  <a:lnTo>
                    <a:pt x="166" y="310"/>
                  </a:lnTo>
                  <a:close/>
                </a:path>
              </a:pathLst>
            </a:custGeom>
            <a:solidFill>
              <a:srgbClr val="FFFFFF"/>
            </a:solidFill>
            <a:ln w="6350" cap="rnd" cmpd="sng">
              <a:solidFill>
                <a:srgbClr val="96969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19" name="Freeform 191"/>
            <p:cNvSpPr>
              <a:spLocks/>
            </p:cNvSpPr>
            <p:nvPr/>
          </p:nvSpPr>
          <p:spPr bwMode="auto">
            <a:xfrm>
              <a:off x="1671808" y="4660452"/>
              <a:ext cx="477837" cy="214313"/>
            </a:xfrm>
            <a:custGeom>
              <a:avLst/>
              <a:gdLst/>
              <a:ahLst/>
              <a:cxnLst>
                <a:cxn ang="0">
                  <a:pos x="6" y="99"/>
                </a:cxn>
                <a:cxn ang="0">
                  <a:pos x="557" y="0"/>
                </a:cxn>
                <a:cxn ang="0">
                  <a:pos x="549" y="121"/>
                </a:cxn>
                <a:cxn ang="0">
                  <a:pos x="0" y="228"/>
                </a:cxn>
                <a:cxn ang="0">
                  <a:pos x="6" y="99"/>
                </a:cxn>
              </a:cxnLst>
              <a:rect l="0" t="0" r="r" b="b"/>
              <a:pathLst>
                <a:path w="557" h="228">
                  <a:moveTo>
                    <a:pt x="6" y="99"/>
                  </a:moveTo>
                  <a:lnTo>
                    <a:pt x="557" y="0"/>
                  </a:lnTo>
                  <a:lnTo>
                    <a:pt x="549" y="121"/>
                  </a:lnTo>
                  <a:lnTo>
                    <a:pt x="0" y="228"/>
                  </a:lnTo>
                  <a:lnTo>
                    <a:pt x="6" y="99"/>
                  </a:lnTo>
                  <a:close/>
                </a:path>
              </a:pathLst>
            </a:custGeom>
            <a:gradFill rotWithShape="1">
              <a:gsLst>
                <a:gs pos="0">
                  <a:srgbClr val="EAEAEA"/>
                </a:gs>
                <a:gs pos="50000">
                  <a:srgbClr val="EAEAEA">
                    <a:gamma/>
                    <a:tint val="0"/>
                    <a:invGamma/>
                  </a:srgbClr>
                </a:gs>
                <a:gs pos="100000">
                  <a:srgbClr val="EAEAEA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0" name="Freeform 192"/>
            <p:cNvSpPr>
              <a:spLocks/>
            </p:cNvSpPr>
            <p:nvPr/>
          </p:nvSpPr>
          <p:spPr bwMode="auto">
            <a:xfrm>
              <a:off x="1690858" y="4789040"/>
              <a:ext cx="144462" cy="60325"/>
            </a:xfrm>
            <a:custGeom>
              <a:avLst/>
              <a:gdLst/>
              <a:ahLst/>
              <a:cxnLst>
                <a:cxn ang="0">
                  <a:pos x="0" y="32"/>
                </a:cxn>
                <a:cxn ang="0">
                  <a:pos x="0" y="63"/>
                </a:cxn>
                <a:cxn ang="0">
                  <a:pos x="164" y="33"/>
                </a:cxn>
                <a:cxn ang="0">
                  <a:pos x="167" y="0"/>
                </a:cxn>
                <a:cxn ang="0">
                  <a:pos x="0" y="32"/>
                </a:cxn>
              </a:cxnLst>
              <a:rect l="0" t="0" r="r" b="b"/>
              <a:pathLst>
                <a:path w="167" h="63">
                  <a:moveTo>
                    <a:pt x="0" y="32"/>
                  </a:moveTo>
                  <a:lnTo>
                    <a:pt x="0" y="63"/>
                  </a:lnTo>
                  <a:lnTo>
                    <a:pt x="164" y="33"/>
                  </a:lnTo>
                  <a:lnTo>
                    <a:pt x="167" y="0"/>
                  </a:lnTo>
                  <a:lnTo>
                    <a:pt x="0" y="32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/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Oval 193"/>
            <p:cNvSpPr>
              <a:spLocks noChangeArrowheads="1"/>
            </p:cNvSpPr>
            <p:nvPr/>
          </p:nvSpPr>
          <p:spPr bwMode="auto">
            <a:xfrm>
              <a:off x="1809920" y="4796977"/>
              <a:ext cx="15875" cy="20638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2" name="Line 194"/>
            <p:cNvSpPr>
              <a:spLocks noChangeShapeType="1"/>
            </p:cNvSpPr>
            <p:nvPr/>
          </p:nvSpPr>
          <p:spPr bwMode="auto">
            <a:xfrm flipH="1">
              <a:off x="2032170" y="4706490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3" name="Line 195"/>
            <p:cNvSpPr>
              <a:spLocks noChangeShapeType="1"/>
            </p:cNvSpPr>
            <p:nvPr/>
          </p:nvSpPr>
          <p:spPr bwMode="auto">
            <a:xfrm flipH="1">
              <a:off x="2021058" y="4708077"/>
              <a:ext cx="1587" cy="80963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4" name="Line 196"/>
            <p:cNvSpPr>
              <a:spLocks noChangeShapeType="1"/>
            </p:cNvSpPr>
            <p:nvPr/>
          </p:nvSpPr>
          <p:spPr bwMode="auto">
            <a:xfrm flipH="1">
              <a:off x="2044870" y="4704902"/>
              <a:ext cx="4763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Line 197"/>
            <p:cNvSpPr>
              <a:spLocks noChangeShapeType="1"/>
            </p:cNvSpPr>
            <p:nvPr/>
          </p:nvSpPr>
          <p:spPr bwMode="auto">
            <a:xfrm flipH="1">
              <a:off x="2055983" y="4703315"/>
              <a:ext cx="3175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6" name="Line 198"/>
            <p:cNvSpPr>
              <a:spLocks noChangeShapeType="1"/>
            </p:cNvSpPr>
            <p:nvPr/>
          </p:nvSpPr>
          <p:spPr bwMode="auto">
            <a:xfrm flipH="1">
              <a:off x="2065508" y="4701727"/>
              <a:ext cx="6350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7" name="Line 199"/>
            <p:cNvSpPr>
              <a:spLocks noChangeShapeType="1"/>
            </p:cNvSpPr>
            <p:nvPr/>
          </p:nvSpPr>
          <p:spPr bwMode="auto">
            <a:xfrm flipH="1">
              <a:off x="2076620" y="4698552"/>
              <a:ext cx="6350" cy="77788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8" name="Line 200"/>
            <p:cNvSpPr>
              <a:spLocks noChangeShapeType="1"/>
            </p:cNvSpPr>
            <p:nvPr/>
          </p:nvSpPr>
          <p:spPr bwMode="auto">
            <a:xfrm flipH="1">
              <a:off x="2087733" y="469855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29" name="Line 201"/>
            <p:cNvSpPr>
              <a:spLocks noChangeShapeType="1"/>
            </p:cNvSpPr>
            <p:nvPr/>
          </p:nvSpPr>
          <p:spPr bwMode="auto">
            <a:xfrm flipH="1">
              <a:off x="2097258" y="4692202"/>
              <a:ext cx="1587" cy="79375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0" name="Line 202"/>
            <p:cNvSpPr>
              <a:spLocks noChangeShapeType="1"/>
            </p:cNvSpPr>
            <p:nvPr/>
          </p:nvSpPr>
          <p:spPr bwMode="auto">
            <a:xfrm flipH="1">
              <a:off x="2106783" y="4692202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1" name="Line 203"/>
            <p:cNvSpPr>
              <a:spLocks noChangeShapeType="1"/>
            </p:cNvSpPr>
            <p:nvPr/>
          </p:nvSpPr>
          <p:spPr bwMode="auto">
            <a:xfrm flipH="1">
              <a:off x="2117895" y="4690615"/>
              <a:ext cx="1588" cy="77787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2" name="Line 204"/>
            <p:cNvSpPr>
              <a:spLocks noChangeShapeType="1"/>
            </p:cNvSpPr>
            <p:nvPr/>
          </p:nvSpPr>
          <p:spPr bwMode="auto">
            <a:xfrm flipH="1">
              <a:off x="2071064" y="4731896"/>
              <a:ext cx="1587" cy="76200"/>
            </a:xfrm>
            <a:prstGeom prst="line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>
              <a:outerShdw dist="17961" dir="18900000" algn="ctr" rotWithShape="0">
                <a:srgbClr val="969696">
                  <a:alpha val="50000"/>
                </a:srgbClr>
              </a:outer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3" name="Freeform 205"/>
            <p:cNvSpPr>
              <a:spLocks/>
            </p:cNvSpPr>
            <p:nvPr/>
          </p:nvSpPr>
          <p:spPr bwMode="auto">
            <a:xfrm>
              <a:off x="1878183" y="4738240"/>
              <a:ext cx="79375" cy="61912"/>
            </a:xfrm>
            <a:custGeom>
              <a:avLst/>
              <a:gdLst/>
              <a:ahLst/>
              <a:cxnLst>
                <a:cxn ang="0">
                  <a:pos x="2" y="33"/>
                </a:cxn>
                <a:cxn ang="0">
                  <a:pos x="0" y="138"/>
                </a:cxn>
                <a:cxn ang="0">
                  <a:pos x="186" y="104"/>
                </a:cxn>
                <a:cxn ang="0">
                  <a:pos x="186" y="0"/>
                </a:cxn>
                <a:cxn ang="0">
                  <a:pos x="2" y="33"/>
                </a:cxn>
              </a:cxnLst>
              <a:rect l="0" t="0" r="r" b="b"/>
              <a:pathLst>
                <a:path w="186" h="138">
                  <a:moveTo>
                    <a:pt x="2" y="33"/>
                  </a:moveTo>
                  <a:lnTo>
                    <a:pt x="0" y="138"/>
                  </a:lnTo>
                  <a:lnTo>
                    <a:pt x="186" y="104"/>
                  </a:lnTo>
                  <a:lnTo>
                    <a:pt x="186" y="0"/>
                  </a:lnTo>
                  <a:lnTo>
                    <a:pt x="2" y="33"/>
                  </a:lnTo>
                  <a:close/>
                </a:path>
              </a:pathLst>
            </a:custGeom>
            <a:gradFill rotWithShape="1">
              <a:gsLst>
                <a:gs pos="0">
                  <a:srgbClr val="969696"/>
                </a:gs>
                <a:gs pos="100000">
                  <a:srgbClr val="969696">
                    <a:gamma/>
                    <a:shade val="75686"/>
                    <a:invGamma/>
                  </a:srgbClr>
                </a:gs>
              </a:gsLst>
              <a:lin ang="0" scaled="1"/>
            </a:gradFill>
            <a:ln w="3175" cap="flat" cmpd="sng">
              <a:noFill/>
              <a:prstDash val="solid"/>
              <a:round/>
              <a:headEnd type="none" w="med" len="med"/>
              <a:tailEnd type="none" w="med" len="med"/>
            </a:ln>
            <a:effectLst>
              <a:prstShdw prst="shdw17" dist="17961" dir="13500000">
                <a:srgbClr val="969696">
                  <a:alpha val="50000"/>
                </a:srgbClr>
              </a:prstShdw>
            </a:effectLst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4" name="Line 206"/>
            <p:cNvSpPr>
              <a:spLocks noChangeShapeType="1"/>
            </p:cNvSpPr>
            <p:nvPr/>
          </p:nvSpPr>
          <p:spPr bwMode="auto">
            <a:xfrm flipH="1">
              <a:off x="1889295" y="4773165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5" name="Line 207"/>
            <p:cNvSpPr>
              <a:spLocks noChangeShapeType="1"/>
            </p:cNvSpPr>
            <p:nvPr/>
          </p:nvSpPr>
          <p:spPr bwMode="auto">
            <a:xfrm flipH="1">
              <a:off x="1951208" y="4758877"/>
              <a:ext cx="0" cy="1905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6" name="Line 208"/>
            <p:cNvSpPr>
              <a:spLocks noChangeShapeType="1"/>
            </p:cNvSpPr>
            <p:nvPr/>
          </p:nvSpPr>
          <p:spPr bwMode="auto">
            <a:xfrm flipH="1">
              <a:off x="1943270" y="4768402"/>
              <a:ext cx="0" cy="14288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7" name="Line 209"/>
            <p:cNvSpPr>
              <a:spLocks noChangeShapeType="1"/>
            </p:cNvSpPr>
            <p:nvPr/>
          </p:nvSpPr>
          <p:spPr bwMode="auto">
            <a:xfrm flipH="1">
              <a:off x="1898820" y="4781102"/>
              <a:ext cx="0" cy="12700"/>
            </a:xfrm>
            <a:prstGeom prst="line">
              <a:avLst/>
            </a:prstGeom>
            <a:noFill/>
            <a:ln w="9525">
              <a:solidFill>
                <a:srgbClr val="3399FF">
                  <a:alpha val="5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8" name="Line 210"/>
            <p:cNvSpPr>
              <a:spLocks noChangeShapeType="1"/>
            </p:cNvSpPr>
            <p:nvPr/>
          </p:nvSpPr>
          <p:spPr bwMode="auto">
            <a:xfrm flipV="1">
              <a:off x="1908345" y="4782690"/>
              <a:ext cx="25400" cy="6350"/>
            </a:xfrm>
            <a:prstGeom prst="line">
              <a:avLst/>
            </a:prstGeom>
            <a:noFill/>
            <a:ln w="9525">
              <a:solidFill>
                <a:srgbClr val="FFFF99">
                  <a:alpha val="45000"/>
                </a:srgbClr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39" name="Freeform 211"/>
            <p:cNvSpPr>
              <a:spLocks/>
            </p:cNvSpPr>
            <p:nvPr/>
          </p:nvSpPr>
          <p:spPr bwMode="auto">
            <a:xfrm>
              <a:off x="1714670" y="4752527"/>
              <a:ext cx="100013" cy="36513"/>
            </a:xfrm>
            <a:custGeom>
              <a:avLst/>
              <a:gdLst/>
              <a:ahLst/>
              <a:cxnLst>
                <a:cxn ang="0">
                  <a:pos x="0" y="20"/>
                </a:cxn>
                <a:cxn ang="0">
                  <a:pos x="1" y="38"/>
                </a:cxn>
                <a:cxn ang="0">
                  <a:pos x="116" y="19"/>
                </a:cxn>
                <a:cxn ang="0">
                  <a:pos x="116" y="0"/>
                </a:cxn>
                <a:cxn ang="0">
                  <a:pos x="0" y="20"/>
                </a:cxn>
              </a:cxnLst>
              <a:rect l="0" t="0" r="r" b="b"/>
              <a:pathLst>
                <a:path w="116" h="38">
                  <a:moveTo>
                    <a:pt x="0" y="20"/>
                  </a:moveTo>
                  <a:lnTo>
                    <a:pt x="1" y="38"/>
                  </a:lnTo>
                  <a:lnTo>
                    <a:pt x="116" y="19"/>
                  </a:lnTo>
                  <a:lnTo>
                    <a:pt x="116" y="0"/>
                  </a:lnTo>
                  <a:lnTo>
                    <a:pt x="0" y="20"/>
                  </a:lnTo>
                  <a:close/>
                </a:path>
              </a:pathLst>
            </a:custGeom>
            <a:gradFill rotWithShape="1">
              <a:gsLst>
                <a:gs pos="0">
                  <a:srgbClr val="C0C0C0">
                    <a:gamma/>
                    <a:tint val="60784"/>
                    <a:invGamma/>
                  </a:srgbClr>
                </a:gs>
                <a:gs pos="100000">
                  <a:srgbClr val="C0C0C0"/>
                </a:gs>
              </a:gsLst>
              <a:lin ang="0" scaled="1"/>
            </a:gradFill>
            <a:ln w="9525">
              <a:noFill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0" name="Line 212"/>
            <p:cNvSpPr>
              <a:spLocks noChangeShapeType="1"/>
            </p:cNvSpPr>
            <p:nvPr/>
          </p:nvSpPr>
          <p:spPr bwMode="auto">
            <a:xfrm flipV="1">
              <a:off x="1706733" y="4758877"/>
              <a:ext cx="112712" cy="22225"/>
            </a:xfrm>
            <a:prstGeom prst="line">
              <a:avLst/>
            </a:prstGeom>
            <a:noFill/>
            <a:ln w="3175">
              <a:solidFill>
                <a:srgbClr val="5F5F5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grpSp>
          <p:nvGrpSpPr>
            <p:cNvPr id="41" name="Group 150"/>
            <p:cNvGrpSpPr>
              <a:grpSpLocks/>
            </p:cNvGrpSpPr>
            <p:nvPr/>
          </p:nvGrpSpPr>
          <p:grpSpPr bwMode="auto">
            <a:xfrm>
              <a:off x="1598783" y="4144515"/>
              <a:ext cx="328612" cy="369887"/>
              <a:chOff x="685" y="3115"/>
              <a:chExt cx="207" cy="233"/>
            </a:xfrm>
          </p:grpSpPr>
          <p:sp>
            <p:nvSpPr>
              <p:cNvPr id="54" name="Freeform 215"/>
              <p:cNvSpPr>
                <a:spLocks/>
              </p:cNvSpPr>
              <p:nvPr/>
            </p:nvSpPr>
            <p:spPr bwMode="auto">
              <a:xfrm flipH="1">
                <a:off x="686" y="3115"/>
                <a:ext cx="206" cy="30"/>
              </a:xfrm>
              <a:custGeom>
                <a:avLst/>
                <a:gdLst>
                  <a:gd name="T0" fmla="*/ 1205 w 1205"/>
                  <a:gd name="T1" fmla="*/ 151 h 178"/>
                  <a:gd name="T2" fmla="*/ 964 w 1205"/>
                  <a:gd name="T3" fmla="*/ 178 h 178"/>
                  <a:gd name="T4" fmla="*/ 0 w 1205"/>
                  <a:gd name="T5" fmla="*/ 0 h 178"/>
                  <a:gd name="T6" fmla="*/ 1205 w 1205"/>
                  <a:gd name="T7" fmla="*/ 151 h 17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05"/>
                  <a:gd name="T13" fmla="*/ 0 h 178"/>
                  <a:gd name="T14" fmla="*/ 1205 w 1205"/>
                  <a:gd name="T15" fmla="*/ 178 h 17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05" h="178">
                    <a:moveTo>
                      <a:pt x="1205" y="151"/>
                    </a:moveTo>
                    <a:lnTo>
                      <a:pt x="964" y="178"/>
                    </a:lnTo>
                    <a:lnTo>
                      <a:pt x="0" y="0"/>
                    </a:lnTo>
                    <a:lnTo>
                      <a:pt x="1205" y="151"/>
                    </a:lnTo>
                    <a:close/>
                  </a:path>
                </a:pathLst>
              </a:custGeom>
              <a:solidFill>
                <a:srgbClr val="EAEAEA"/>
              </a:soli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55" name="Freeform 216"/>
              <p:cNvSpPr>
                <a:spLocks/>
              </p:cNvSpPr>
              <p:nvPr/>
            </p:nvSpPr>
            <p:spPr bwMode="auto">
              <a:xfrm flipH="1">
                <a:off x="685" y="3141"/>
                <a:ext cx="69" cy="207"/>
              </a:xfrm>
              <a:custGeom>
                <a:avLst/>
                <a:gdLst>
                  <a:gd name="T0" fmla="*/ 405 w 405"/>
                  <a:gd name="T1" fmla="*/ 0 h 1241"/>
                  <a:gd name="T2" fmla="*/ 389 w 405"/>
                  <a:gd name="T3" fmla="*/ 1000 h 1241"/>
                  <a:gd name="T4" fmla="*/ 133 w 405"/>
                  <a:gd name="T5" fmla="*/ 1241 h 1241"/>
                  <a:gd name="T6" fmla="*/ 0 w 405"/>
                  <a:gd name="T7" fmla="*/ 13 h 1241"/>
                  <a:gd name="T8" fmla="*/ 189 w 405"/>
                  <a:gd name="T9" fmla="*/ 24 h 1241"/>
                  <a:gd name="T10" fmla="*/ 405 w 405"/>
                  <a:gd name="T11" fmla="*/ 0 h 12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05"/>
                  <a:gd name="T19" fmla="*/ 0 h 1241"/>
                  <a:gd name="T20" fmla="*/ 405 w 405"/>
                  <a:gd name="T21" fmla="*/ 1241 h 124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05" h="1241">
                    <a:moveTo>
                      <a:pt x="405" y="0"/>
                    </a:moveTo>
                    <a:lnTo>
                      <a:pt x="389" y="1000"/>
                    </a:lnTo>
                    <a:lnTo>
                      <a:pt x="133" y="1241"/>
                    </a:lnTo>
                    <a:lnTo>
                      <a:pt x="0" y="13"/>
                    </a:lnTo>
                    <a:lnTo>
                      <a:pt x="189" y="24"/>
                    </a:lnTo>
                    <a:lnTo>
                      <a:pt x="405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CCCCCC"/>
                  </a:gs>
                  <a:gs pos="100000">
                    <a:srgbClr val="969696"/>
                  </a:gs>
                </a:gsLst>
                <a:lin ang="0" scaled="1"/>
              </a:gradFill>
              <a:ln w="9525">
                <a:solidFill>
                  <a:srgbClr val="969696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pPr eaLnBrk="1" fontAlgn="auto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lang="ko-KR" altLang="en-US" sz="1800" b="0" kern="0">
                  <a:solidFill>
                    <a:sysClr val="windowText" lastClr="000000"/>
                  </a:solidFill>
                  <a:latin typeface="+mn-lt"/>
                  <a:ea typeface="+mn-ea"/>
                </a:endParaRPr>
              </a:p>
            </p:txBody>
          </p:sp>
        </p:grpSp>
        <p:sp>
          <p:nvSpPr>
            <p:cNvPr id="42" name="Oval 217"/>
            <p:cNvSpPr>
              <a:spLocks noChangeArrowheads="1"/>
            </p:cNvSpPr>
            <p:nvPr/>
          </p:nvSpPr>
          <p:spPr bwMode="auto">
            <a:xfrm>
              <a:off x="1682920" y="4542977"/>
              <a:ext cx="298450" cy="93663"/>
            </a:xfrm>
            <a:prstGeom prst="ellipse">
              <a:avLst/>
            </a:prstGeom>
            <a:solidFill>
              <a:srgbClr val="969696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3" name="Oval 218"/>
            <p:cNvSpPr>
              <a:spLocks noChangeArrowheads="1"/>
            </p:cNvSpPr>
            <p:nvPr/>
          </p:nvSpPr>
          <p:spPr bwMode="auto">
            <a:xfrm>
              <a:off x="1682920" y="4536627"/>
              <a:ext cx="298450" cy="92075"/>
            </a:xfrm>
            <a:prstGeom prst="ellipse">
              <a:avLst/>
            </a:prstGeom>
            <a:gradFill rotWithShape="1">
              <a:gsLst>
                <a:gs pos="0">
                  <a:srgbClr val="C0C0C0"/>
                </a:gs>
                <a:gs pos="100000">
                  <a:srgbClr val="EAEAEA"/>
                </a:gs>
              </a:gsLst>
              <a:lin ang="27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4" name="Freeform 219"/>
            <p:cNvSpPr>
              <a:spLocks/>
            </p:cNvSpPr>
            <p:nvPr/>
          </p:nvSpPr>
          <p:spPr bwMode="auto">
            <a:xfrm flipH="1">
              <a:off x="1663870" y="4088952"/>
              <a:ext cx="436563" cy="511175"/>
            </a:xfrm>
            <a:custGeom>
              <a:avLst/>
              <a:gdLst>
                <a:gd name="T0" fmla="*/ 1602 w 1602"/>
                <a:gd name="T1" fmla="*/ 204 h 1734"/>
                <a:gd name="T2" fmla="*/ 5 w 1602"/>
                <a:gd name="T3" fmla="*/ 0 h 1734"/>
                <a:gd name="T4" fmla="*/ 0 w 1602"/>
                <a:gd name="T5" fmla="*/ 1488 h 1734"/>
                <a:gd name="T6" fmla="*/ 1597 w 1602"/>
                <a:gd name="T7" fmla="*/ 1734 h 1734"/>
                <a:gd name="T8" fmla="*/ 1602 w 1602"/>
                <a:gd name="T9" fmla="*/ 204 h 1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02"/>
                <a:gd name="T16" fmla="*/ 0 h 1734"/>
                <a:gd name="T17" fmla="*/ 1602 w 1602"/>
                <a:gd name="T18" fmla="*/ 1734 h 173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02" h="1734">
                  <a:moveTo>
                    <a:pt x="1602" y="204"/>
                  </a:moveTo>
                  <a:lnTo>
                    <a:pt x="5" y="0"/>
                  </a:lnTo>
                  <a:lnTo>
                    <a:pt x="0" y="1488"/>
                  </a:lnTo>
                  <a:lnTo>
                    <a:pt x="1597" y="1734"/>
                  </a:lnTo>
                  <a:lnTo>
                    <a:pt x="1602" y="204"/>
                  </a:lnTo>
                  <a:close/>
                </a:path>
              </a:pathLst>
            </a:custGeom>
            <a:gradFill rotWithShape="1">
              <a:gsLst>
                <a:gs pos="0">
                  <a:srgbClr val="FFFFFF"/>
                </a:gs>
                <a:gs pos="100000">
                  <a:srgbClr val="DDDDD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5" name="Freeform 220"/>
            <p:cNvSpPr>
              <a:spLocks/>
            </p:cNvSpPr>
            <p:nvPr/>
          </p:nvSpPr>
          <p:spPr bwMode="auto">
            <a:xfrm flipH="1">
              <a:off x="1722608" y="4503290"/>
              <a:ext cx="358775" cy="96837"/>
            </a:xfrm>
            <a:custGeom>
              <a:avLst/>
              <a:gdLst>
                <a:gd name="T0" fmla="*/ 1327 w 1330"/>
                <a:gd name="T1" fmla="*/ 200 h 330"/>
                <a:gd name="T2" fmla="*/ 0 w 1330"/>
                <a:gd name="T3" fmla="*/ 0 h 330"/>
                <a:gd name="T4" fmla="*/ 0 w 1330"/>
                <a:gd name="T5" fmla="*/ 115 h 330"/>
                <a:gd name="T6" fmla="*/ 1330 w 1330"/>
                <a:gd name="T7" fmla="*/ 330 h 330"/>
                <a:gd name="T8" fmla="*/ 1327 w 1330"/>
                <a:gd name="T9" fmla="*/ 200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0"/>
                <a:gd name="T16" fmla="*/ 0 h 330"/>
                <a:gd name="T17" fmla="*/ 1330 w 1330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0" h="330">
                  <a:moveTo>
                    <a:pt x="1327" y="200"/>
                  </a:moveTo>
                  <a:lnTo>
                    <a:pt x="0" y="0"/>
                  </a:lnTo>
                  <a:lnTo>
                    <a:pt x="0" y="115"/>
                  </a:lnTo>
                  <a:lnTo>
                    <a:pt x="1330" y="330"/>
                  </a:lnTo>
                  <a:lnTo>
                    <a:pt x="1327" y="200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50000">
                  <a:srgbClr val="FFFFFF"/>
                </a:gs>
                <a:gs pos="100000">
                  <a:srgbClr val="C0C0C0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6" name="Freeform 221"/>
            <p:cNvSpPr>
              <a:spLocks/>
            </p:cNvSpPr>
            <p:nvPr/>
          </p:nvSpPr>
          <p:spPr bwMode="auto">
            <a:xfrm flipH="1">
              <a:off x="1651170" y="4147690"/>
              <a:ext cx="15875" cy="452437"/>
            </a:xfrm>
            <a:custGeom>
              <a:avLst/>
              <a:gdLst>
                <a:gd name="T0" fmla="*/ 4 w 56"/>
                <a:gd name="T1" fmla="*/ 16 h 1536"/>
                <a:gd name="T2" fmla="*/ 56 w 56"/>
                <a:gd name="T3" fmla="*/ 0 h 1536"/>
                <a:gd name="T4" fmla="*/ 46 w 56"/>
                <a:gd name="T5" fmla="*/ 1513 h 1536"/>
                <a:gd name="T6" fmla="*/ 0 w 56"/>
                <a:gd name="T7" fmla="*/ 1536 h 1536"/>
                <a:gd name="T8" fmla="*/ 4 w 56"/>
                <a:gd name="T9" fmla="*/ 16 h 15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536"/>
                <a:gd name="T17" fmla="*/ 56 w 56"/>
                <a:gd name="T18" fmla="*/ 1536 h 1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536">
                  <a:moveTo>
                    <a:pt x="4" y="16"/>
                  </a:moveTo>
                  <a:lnTo>
                    <a:pt x="56" y="0"/>
                  </a:lnTo>
                  <a:lnTo>
                    <a:pt x="46" y="1513"/>
                  </a:lnTo>
                  <a:lnTo>
                    <a:pt x="0" y="1536"/>
                  </a:lnTo>
                  <a:lnTo>
                    <a:pt x="4" y="16"/>
                  </a:lnTo>
                  <a:close/>
                </a:path>
              </a:pathLst>
            </a:cu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7" name="Oval 222"/>
            <p:cNvSpPr>
              <a:spLocks noChangeArrowheads="1"/>
            </p:cNvSpPr>
            <p:nvPr/>
          </p:nvSpPr>
          <p:spPr bwMode="auto">
            <a:xfrm>
              <a:off x="2049633" y="4511227"/>
              <a:ext cx="12700" cy="26988"/>
            </a:xfrm>
            <a:prstGeom prst="ellipse">
              <a:avLst/>
            </a:prstGeom>
            <a:solidFill>
              <a:srgbClr val="777777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8" name="Oval 223"/>
            <p:cNvSpPr>
              <a:spLocks noChangeArrowheads="1"/>
            </p:cNvSpPr>
            <p:nvPr/>
          </p:nvSpPr>
          <p:spPr bwMode="auto">
            <a:xfrm>
              <a:off x="2025820" y="4517577"/>
              <a:ext cx="11113" cy="2222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49" name="Oval 224"/>
            <p:cNvSpPr>
              <a:spLocks noChangeArrowheads="1"/>
            </p:cNvSpPr>
            <p:nvPr/>
          </p:nvSpPr>
          <p:spPr bwMode="auto">
            <a:xfrm>
              <a:off x="1943270" y="4538215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0" name="Oval 225"/>
            <p:cNvSpPr>
              <a:spLocks noChangeArrowheads="1"/>
            </p:cNvSpPr>
            <p:nvPr/>
          </p:nvSpPr>
          <p:spPr bwMode="auto">
            <a:xfrm>
              <a:off x="1917870" y="4542977"/>
              <a:ext cx="12700" cy="17463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Oval 226"/>
            <p:cNvSpPr>
              <a:spLocks noChangeArrowheads="1"/>
            </p:cNvSpPr>
            <p:nvPr/>
          </p:nvSpPr>
          <p:spPr bwMode="auto">
            <a:xfrm>
              <a:off x="1889295" y="4547740"/>
              <a:ext cx="14288" cy="15875"/>
            </a:xfrm>
            <a:prstGeom prst="ellipse">
              <a:avLst/>
            </a:prstGeom>
            <a:solidFill>
              <a:srgbClr val="C0C0C0"/>
            </a:soli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2" name="Freeform 227"/>
            <p:cNvSpPr>
              <a:spLocks/>
            </p:cNvSpPr>
            <p:nvPr/>
          </p:nvSpPr>
          <p:spPr bwMode="auto">
            <a:xfrm flipH="1">
              <a:off x="1705145" y="4139752"/>
              <a:ext cx="361950" cy="401638"/>
            </a:xfrm>
            <a:custGeom>
              <a:avLst/>
              <a:gdLst>
                <a:gd name="T0" fmla="*/ 1330 w 1345"/>
                <a:gd name="T1" fmla="*/ 167 h 1366"/>
                <a:gd name="T2" fmla="*/ 0 w 1345"/>
                <a:gd name="T3" fmla="*/ 0 h 1366"/>
                <a:gd name="T4" fmla="*/ 0 w 1345"/>
                <a:gd name="T5" fmla="*/ 1157 h 1366"/>
                <a:gd name="T6" fmla="*/ 1345 w 1345"/>
                <a:gd name="T7" fmla="*/ 1366 h 1366"/>
                <a:gd name="T8" fmla="*/ 1330 w 1345"/>
                <a:gd name="T9" fmla="*/ 167 h 13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366"/>
                <a:gd name="T17" fmla="*/ 1345 w 1345"/>
                <a:gd name="T18" fmla="*/ 1366 h 136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366">
                  <a:moveTo>
                    <a:pt x="1330" y="167"/>
                  </a:moveTo>
                  <a:lnTo>
                    <a:pt x="0" y="0"/>
                  </a:lnTo>
                  <a:lnTo>
                    <a:pt x="0" y="1157"/>
                  </a:lnTo>
                  <a:lnTo>
                    <a:pt x="1345" y="1366"/>
                  </a:lnTo>
                  <a:lnTo>
                    <a:pt x="1330" y="167"/>
                  </a:lnTo>
                  <a:close/>
                </a:path>
              </a:pathLst>
            </a:custGeom>
            <a:gradFill rotWithShape="1">
              <a:gsLst>
                <a:gs pos="0">
                  <a:srgbClr val="C0C0C0"/>
                </a:gs>
                <a:gs pos="100000">
                  <a:srgbClr val="4D4D4D"/>
                </a:gs>
              </a:gsLst>
              <a:lin ang="5400000" scaled="1"/>
            </a:gradFill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kern="0" dirty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  <p:sp>
          <p:nvSpPr>
            <p:cNvPr id="53" name="Freeform 228"/>
            <p:cNvSpPr>
              <a:spLocks/>
            </p:cNvSpPr>
            <p:nvPr/>
          </p:nvSpPr>
          <p:spPr bwMode="auto">
            <a:xfrm flipH="1">
              <a:off x="1651170" y="4087365"/>
              <a:ext cx="447675" cy="63500"/>
            </a:xfrm>
            <a:custGeom>
              <a:avLst/>
              <a:gdLst>
                <a:gd name="T0" fmla="*/ 0 w 1660"/>
                <a:gd name="T1" fmla="*/ 10 h 214"/>
                <a:gd name="T2" fmla="*/ 68 w 1660"/>
                <a:gd name="T3" fmla="*/ 0 h 214"/>
                <a:gd name="T4" fmla="*/ 1660 w 1660"/>
                <a:gd name="T5" fmla="*/ 199 h 214"/>
                <a:gd name="T6" fmla="*/ 1613 w 1660"/>
                <a:gd name="T7" fmla="*/ 214 h 214"/>
                <a:gd name="T8" fmla="*/ 0 w 1660"/>
                <a:gd name="T9" fmla="*/ 10 h 2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60"/>
                <a:gd name="T16" fmla="*/ 0 h 214"/>
                <a:gd name="T17" fmla="*/ 1660 w 1660"/>
                <a:gd name="T18" fmla="*/ 214 h 2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60" h="214">
                  <a:moveTo>
                    <a:pt x="0" y="10"/>
                  </a:moveTo>
                  <a:lnTo>
                    <a:pt x="68" y="0"/>
                  </a:lnTo>
                  <a:lnTo>
                    <a:pt x="1660" y="199"/>
                  </a:lnTo>
                  <a:lnTo>
                    <a:pt x="1613" y="214"/>
                  </a:lnTo>
                  <a:lnTo>
                    <a:pt x="0" y="10"/>
                  </a:lnTo>
                  <a:close/>
                </a:path>
              </a:pathLst>
            </a:custGeom>
            <a:noFill/>
            <a:ln w="9525">
              <a:solidFill>
                <a:srgbClr val="969696"/>
              </a:solidFill>
              <a:round/>
              <a:headEnd/>
              <a:tailEnd/>
            </a:ln>
          </p:spPr>
          <p:txBody>
            <a:bodyPr/>
            <a:lstStyle/>
            <a:p>
              <a:pPr eaLnBrk="1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lang="ko-KR" altLang="en-US" sz="1800" b="0" kern="0">
                <a:solidFill>
                  <a:sysClr val="windowText" lastClr="000000"/>
                </a:solidFill>
                <a:latin typeface="+mn-lt"/>
                <a:ea typeface="+mn-ea"/>
              </a:endParaRPr>
            </a:p>
          </p:txBody>
        </p:sp>
      </p:grpSp>
      <p:pic>
        <p:nvPicPr>
          <p:cNvPr id="56" name="Picture 2" descr="C:\Users\Toshiba\AppData\Local\Microsoft\Windows\Temporary Internet Files\Content.IE5\TBE21NJN\MC900434845[1]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833656" y="2866919"/>
            <a:ext cx="1583716" cy="15067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2181316" y="4532461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송신호스트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6943" y="4529525"/>
            <a:ext cx="12394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수신호스트 </a:t>
            </a:r>
          </a:p>
        </p:txBody>
      </p:sp>
      <p:sp>
        <p:nvSpPr>
          <p:cNvPr id="59" name="오른쪽 화살표 58"/>
          <p:cNvSpPr/>
          <p:nvPr/>
        </p:nvSpPr>
        <p:spPr>
          <a:xfrm>
            <a:off x="4249443" y="1393617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noFill/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5426171" y="1508765"/>
            <a:ext cx="8418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데이터 </a:t>
            </a:r>
          </a:p>
        </p:txBody>
      </p:sp>
      <p:sp>
        <p:nvSpPr>
          <p:cNvPr id="61" name="오른쪽 화살표 60"/>
          <p:cNvSpPr/>
          <p:nvPr/>
        </p:nvSpPr>
        <p:spPr>
          <a:xfrm>
            <a:off x="4249443" y="2169501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6">
              <a:lumMod val="20000"/>
              <a:lumOff val="80000"/>
            </a:schemeClr>
          </a:solidFill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5219694" y="2300351"/>
            <a:ext cx="15680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1(RTO)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3" name="오른쪽 화살표 62"/>
          <p:cNvSpPr/>
          <p:nvPr/>
        </p:nvSpPr>
        <p:spPr>
          <a:xfrm>
            <a:off x="4240704" y="2945385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6">
              <a:lumMod val="20000"/>
              <a:lumOff val="80000"/>
            </a:schemeClr>
          </a:solidFill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/>
          <p:cNvSpPr txBox="1"/>
          <p:nvPr/>
        </p:nvSpPr>
        <p:spPr>
          <a:xfrm>
            <a:off x="5205154" y="3078816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2(RTO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⨯ 2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5" name="오른쪽 화살표 64"/>
          <p:cNvSpPr/>
          <p:nvPr/>
        </p:nvSpPr>
        <p:spPr>
          <a:xfrm>
            <a:off x="4234904" y="3749500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6">
              <a:lumMod val="20000"/>
              <a:lumOff val="80000"/>
            </a:schemeClr>
          </a:solidFill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5205155" y="3880350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3(RTO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⨯ 4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7" name="오른쪽 화살표 66"/>
          <p:cNvSpPr/>
          <p:nvPr/>
        </p:nvSpPr>
        <p:spPr>
          <a:xfrm>
            <a:off x="4225247" y="4522705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6">
              <a:lumMod val="20000"/>
              <a:lumOff val="80000"/>
            </a:schemeClr>
          </a:solidFill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TextBox 67"/>
          <p:cNvSpPr txBox="1"/>
          <p:nvPr/>
        </p:nvSpPr>
        <p:spPr>
          <a:xfrm>
            <a:off x="5195498" y="4653555"/>
            <a:ext cx="19287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4(RTO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⨯ 8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69" name="오른쪽 화살표 68"/>
          <p:cNvSpPr/>
          <p:nvPr/>
        </p:nvSpPr>
        <p:spPr>
          <a:xfrm>
            <a:off x="4225247" y="5295910"/>
            <a:ext cx="3935976" cy="627995"/>
          </a:xfrm>
          <a:prstGeom prst="rightArrow">
            <a:avLst>
              <a:gd name="adj1" fmla="val 50000"/>
              <a:gd name="adj2" fmla="val 86095"/>
            </a:avLst>
          </a:prstGeom>
          <a:solidFill>
            <a:schemeClr val="accent6">
              <a:lumMod val="20000"/>
              <a:lumOff val="80000"/>
            </a:schemeClr>
          </a:solidFill>
          <a:ln cap="sq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5195498" y="542676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재전송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5(RTO </a:t>
            </a:r>
            <a:r>
              <a:rPr lang="en-US" altLang="ko-K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⨯ 16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)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4225247" y="5986127"/>
            <a:ext cx="3927382" cy="36512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/>
          <p:cNvSpPr txBox="1"/>
          <p:nvPr/>
        </p:nvSpPr>
        <p:spPr>
          <a:xfrm>
            <a:off x="5327624" y="5986164"/>
            <a:ext cx="21916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응답없음</a:t>
            </a:r>
            <a:r>
              <a:rPr lang="ko-KR" altLang="en-US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 </a:t>
            </a:r>
            <a:r>
              <a:rPr lang="en-US" altLang="ko-KR" sz="1600" dirty="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= </a:t>
            </a:r>
            <a:r>
              <a:rPr lang="ko-KR" altLang="en-US" sz="1600">
                <a:latin typeface="함초롬바탕" panose="02030504000101010101" pitchFamily="18" charset="-127"/>
                <a:ea typeface="함초롬바탕" panose="02030504000101010101" pitchFamily="18" charset="-127"/>
                <a:cs typeface="함초롬바탕" panose="02030504000101010101" pitchFamily="18" charset="-127"/>
              </a:rPr>
              <a:t>연결 종료  </a:t>
            </a:r>
            <a:endParaRPr lang="ko-KR" altLang="en-US" sz="1600" dirty="0">
              <a:latin typeface="함초롬바탕" panose="02030504000101010101" pitchFamily="18" charset="-127"/>
              <a:ea typeface="함초롬바탕" panose="02030504000101010101" pitchFamily="18" charset="-127"/>
              <a:cs typeface="함초롬바탕" panose="02030504000101010101" pitchFamily="18" charset="-127"/>
            </a:endParaRPr>
          </a:p>
        </p:txBody>
      </p:sp>
      <p:sp>
        <p:nvSpPr>
          <p:cNvPr id="73" name="제목 1"/>
          <p:cNvSpPr txBox="1">
            <a:spLocks/>
          </p:cNvSpPr>
          <p:nvPr/>
        </p:nvSpPr>
        <p:spPr>
          <a:xfrm>
            <a:off x="852756" y="266398"/>
            <a:ext cx="7332663" cy="7207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 Retransmission Timer</a:t>
            </a:r>
            <a:endParaRPr lang="ko-KR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83304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980251" y="6342362"/>
            <a:ext cx="2743200" cy="365125"/>
          </a:xfrm>
        </p:spPr>
        <p:txBody>
          <a:bodyPr/>
          <a:lstStyle/>
          <a:p>
            <a:fld id="{F100E85C-9068-46D2-A14A-A9DCCDE0C986}" type="slidenum">
              <a:rPr lang="ko-KR" altLang="en-US" smtClean="0"/>
              <a:t>69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911" y="1449060"/>
            <a:ext cx="9735911" cy="30517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83539" y="662605"/>
            <a:ext cx="7115321" cy="4580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&gt; Time Display Format &gt; Second since Previous Captured Packet </a:t>
            </a:r>
            <a:endParaRPr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11613" y="4730938"/>
            <a:ext cx="1547218" cy="1631216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2*0.1=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0.206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2*0.3=</a:t>
            </a:r>
            <a:r>
              <a:rPr lang="en-US" altLang="ko-KR" sz="2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0.6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2*0.6=1.2     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2*1.2=2.4     </a:t>
            </a:r>
          </a:p>
          <a:p>
            <a:r>
              <a:rPr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2*2.4=4.8</a:t>
            </a: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자유형 5"/>
          <p:cNvSpPr/>
          <p:nvPr/>
        </p:nvSpPr>
        <p:spPr>
          <a:xfrm>
            <a:off x="2244697" y="4303234"/>
            <a:ext cx="766916" cy="1371600"/>
          </a:xfrm>
          <a:custGeom>
            <a:avLst/>
            <a:gdLst>
              <a:gd name="connsiteX0" fmla="*/ 0 w 766916"/>
              <a:gd name="connsiteY0" fmla="*/ 0 h 1371600"/>
              <a:gd name="connsiteX1" fmla="*/ 14749 w 766916"/>
              <a:gd name="connsiteY1" fmla="*/ 1371600 h 1371600"/>
              <a:gd name="connsiteX2" fmla="*/ 766916 w 766916"/>
              <a:gd name="connsiteY2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6916" h="1371600">
                <a:moveTo>
                  <a:pt x="0" y="0"/>
                </a:moveTo>
                <a:lnTo>
                  <a:pt x="14749" y="1371600"/>
                </a:lnTo>
                <a:lnTo>
                  <a:pt x="766916" y="1371600"/>
                </a:lnTo>
              </a:path>
            </a:pathLst>
          </a:custGeom>
          <a:noFill/>
          <a:ln>
            <a:solidFill>
              <a:schemeClr val="tx1"/>
            </a:solidFill>
            <a:prstDash val="dashDot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1732682" y="2803651"/>
            <a:ext cx="45719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78401" y="3119337"/>
            <a:ext cx="1140824" cy="1183897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/>
          <p:cNvCxnSpPr/>
          <p:nvPr/>
        </p:nvCxnSpPr>
        <p:spPr>
          <a:xfrm flipH="1">
            <a:off x="3681225" y="5024337"/>
            <a:ext cx="152400" cy="163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/>
          <p:nvPr/>
        </p:nvCxnSpPr>
        <p:spPr>
          <a:xfrm flipH="1">
            <a:off x="3647233" y="5336146"/>
            <a:ext cx="152400" cy="1632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04483" y="5160878"/>
            <a:ext cx="67842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* RTO </a:t>
            </a:r>
            <a:r>
              <a:rPr lang="ko-KR" altLang="en-US" sz="160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값이 재전송 후에 두 배가 되기 때문에 시간이 기하급수적으로 증가</a:t>
            </a:r>
          </a:p>
        </p:txBody>
      </p:sp>
    </p:spTree>
    <p:extLst>
      <p:ext uri="{BB962C8B-B14F-4D97-AF65-F5344CB8AC3E}">
        <p14:creationId xmlns:p14="http://schemas.microsoft.com/office/powerpoint/2010/main" val="88364917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TCP </a:t>
            </a:r>
            <a:r>
              <a:rPr lang="ko-KR" altLang="en-US" sz="24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중복 검사와 빠른 재전송 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 손실을 복구하기 위해 고안된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TCP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기능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수신자가 잘못된 패킷을 받았을 때 보내는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TCP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중복 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ACK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는 패킷이 잘못된 순서로 수신될 때 발생 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20857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246387" y="6291347"/>
            <a:ext cx="2743200" cy="365125"/>
          </a:xfrm>
        </p:spPr>
        <p:txBody>
          <a:bodyPr/>
          <a:lstStyle/>
          <a:p>
            <a:pPr algn="l"/>
            <a:fld id="{F100E85C-9068-46D2-A14A-A9DCCDE0C986}" type="slidenum">
              <a:rPr lang="ko-KR" altLang="en-US" smtClean="0"/>
              <a:pPr algn="l"/>
              <a:t>71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A82E1E-73CC-1D0A-CA10-7FC137958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387" y="269962"/>
            <a:ext cx="11698511" cy="2951017"/>
          </a:xfrm>
          <a:prstGeom prst="rect">
            <a:avLst/>
          </a:prstGeom>
        </p:spPr>
      </p:pic>
      <p:grpSp>
        <p:nvGrpSpPr>
          <p:cNvPr id="85" name="그룹 84">
            <a:extLst>
              <a:ext uri="{FF2B5EF4-FFF2-40B4-BE49-F238E27FC236}">
                <a16:creationId xmlns:a16="http://schemas.microsoft.com/office/drawing/2014/main" id="{AB064451-B624-AAFA-46D4-113743E5013B}"/>
              </a:ext>
            </a:extLst>
          </p:cNvPr>
          <p:cNvGrpSpPr/>
          <p:nvPr/>
        </p:nvGrpSpPr>
        <p:grpSpPr>
          <a:xfrm>
            <a:off x="6880990" y="3429000"/>
            <a:ext cx="3588097" cy="3083460"/>
            <a:chOff x="7528705" y="3510484"/>
            <a:chExt cx="3588097" cy="3083460"/>
          </a:xfrm>
        </p:grpSpPr>
        <p:cxnSp>
          <p:nvCxnSpPr>
            <p:cNvPr id="86" name="직선 연결선 85">
              <a:extLst>
                <a:ext uri="{FF2B5EF4-FFF2-40B4-BE49-F238E27FC236}">
                  <a16:creationId xmlns:a16="http://schemas.microsoft.com/office/drawing/2014/main" id="{66C2E654-F539-2294-89C2-254FAD3D54B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8577" y="3824041"/>
              <a:ext cx="4790" cy="27699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80A91FB3-A369-3AD6-6834-55CB51DB68D0}"/>
                </a:ext>
              </a:extLst>
            </p:cNvPr>
            <p:cNvCxnSpPr>
              <a:cxnSpLocks/>
            </p:cNvCxnSpPr>
            <p:nvPr/>
          </p:nvCxnSpPr>
          <p:spPr>
            <a:xfrm>
              <a:off x="10416852" y="3824041"/>
              <a:ext cx="9721" cy="27699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24">
              <a:extLst>
                <a:ext uri="{FF2B5EF4-FFF2-40B4-BE49-F238E27FC236}">
                  <a16:creationId xmlns:a16="http://schemas.microsoft.com/office/drawing/2014/main" id="{2E4100C3-506F-57A7-22FA-5941DD42C0BC}"/>
                </a:ext>
              </a:extLst>
            </p:cNvPr>
            <p:cNvSpPr txBox="1"/>
            <p:nvPr/>
          </p:nvSpPr>
          <p:spPr>
            <a:xfrm>
              <a:off x="7528705" y="3567347"/>
              <a:ext cx="12170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172.16.136.85</a:t>
              </a:r>
            </a:p>
            <a:p>
              <a:r>
                <a:rPr lang="ko-KR" altLang="en-US" sz="1400" dirty="0"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수신자</a:t>
              </a:r>
            </a:p>
          </p:txBody>
        </p:sp>
        <p:sp>
          <p:nvSpPr>
            <p:cNvPr id="89" name="TextBox 25">
              <a:extLst>
                <a:ext uri="{FF2B5EF4-FFF2-40B4-BE49-F238E27FC236}">
                  <a16:creationId xmlns:a16="http://schemas.microsoft.com/office/drawing/2014/main" id="{0A622B9A-5D56-0E6D-ACFC-73415CF56474}"/>
                </a:ext>
              </a:extLst>
            </p:cNvPr>
            <p:cNvSpPr txBox="1"/>
            <p:nvPr/>
          </p:nvSpPr>
          <p:spPr>
            <a:xfrm>
              <a:off x="9720266" y="3510484"/>
              <a:ext cx="13965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195.81.202.68</a:t>
              </a:r>
            </a:p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ko-KR" altLang="en-US" sz="1400" dirty="0"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송신자</a:t>
              </a:r>
            </a:p>
          </p:txBody>
        </p:sp>
        <p:cxnSp>
          <p:nvCxnSpPr>
            <p:cNvPr id="90" name="직선 화살표 연결선 89">
              <a:extLst>
                <a:ext uri="{FF2B5EF4-FFF2-40B4-BE49-F238E27FC236}">
                  <a16:creationId xmlns:a16="http://schemas.microsoft.com/office/drawing/2014/main" id="{428903BE-AE00-5500-4C9B-425FC82D20BF}"/>
                </a:ext>
              </a:extLst>
            </p:cNvPr>
            <p:cNvCxnSpPr>
              <a:cxnSpLocks/>
            </p:cNvCxnSpPr>
            <p:nvPr/>
          </p:nvCxnSpPr>
          <p:spPr>
            <a:xfrm>
              <a:off x="8291558" y="4002477"/>
              <a:ext cx="2125292" cy="225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29">
              <a:extLst>
                <a:ext uri="{FF2B5EF4-FFF2-40B4-BE49-F238E27FC236}">
                  <a16:creationId xmlns:a16="http://schemas.microsoft.com/office/drawing/2014/main" id="{F5AAAF8C-9681-1EBB-8C31-F5FD2523A91D}"/>
                </a:ext>
              </a:extLst>
            </p:cNvPr>
            <p:cNvSpPr txBox="1"/>
            <p:nvPr/>
          </p:nvSpPr>
          <p:spPr>
            <a:xfrm rot="313428">
              <a:off x="8626414" y="3817339"/>
              <a:ext cx="1591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SN=729 ACK=186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2" name="직선 화살표 연결선 91">
              <a:extLst>
                <a:ext uri="{FF2B5EF4-FFF2-40B4-BE49-F238E27FC236}">
                  <a16:creationId xmlns:a16="http://schemas.microsoft.com/office/drawing/2014/main" id="{D69EE51F-4A03-2C2A-5378-FCDA2091675C}"/>
                </a:ext>
              </a:extLst>
            </p:cNvPr>
            <p:cNvCxnSpPr>
              <a:cxnSpLocks/>
            </p:cNvCxnSpPr>
            <p:nvPr/>
          </p:nvCxnSpPr>
          <p:spPr>
            <a:xfrm>
              <a:off x="8273365" y="4998770"/>
              <a:ext cx="2143485" cy="2082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40">
              <a:extLst>
                <a:ext uri="{FF2B5EF4-FFF2-40B4-BE49-F238E27FC236}">
                  <a16:creationId xmlns:a16="http://schemas.microsoft.com/office/drawing/2014/main" id="{05ADD715-7827-0614-E6A8-962BFBDB210F}"/>
                </a:ext>
              </a:extLst>
            </p:cNvPr>
            <p:cNvSpPr txBox="1"/>
            <p:nvPr/>
          </p:nvSpPr>
          <p:spPr>
            <a:xfrm rot="21207086">
              <a:off x="8537803" y="6172890"/>
              <a:ext cx="205426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[Fast </a:t>
              </a:r>
              <a:r>
                <a:rPr lang="en-US" altLang="ko-KR" sz="1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Retramission</a:t>
              </a:r>
              <a:r>
                <a:rPr lang="en-US" altLang="ko-KR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  <a:endParaRPr lang="ko-KR" alt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4" name="직선 화살표 연결선 93">
              <a:extLst>
                <a:ext uri="{FF2B5EF4-FFF2-40B4-BE49-F238E27FC236}">
                  <a16:creationId xmlns:a16="http://schemas.microsoft.com/office/drawing/2014/main" id="{AA8C51A1-0D8F-C3B4-95F8-3F3D1C8D52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91558" y="4437125"/>
              <a:ext cx="2143485" cy="2103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TextBox 29">
              <a:extLst>
                <a:ext uri="{FF2B5EF4-FFF2-40B4-BE49-F238E27FC236}">
                  <a16:creationId xmlns:a16="http://schemas.microsoft.com/office/drawing/2014/main" id="{594EB695-1592-2F27-E762-A197A5D9238C}"/>
                </a:ext>
              </a:extLst>
            </p:cNvPr>
            <p:cNvSpPr txBox="1"/>
            <p:nvPr/>
          </p:nvSpPr>
          <p:spPr>
            <a:xfrm rot="21320503">
              <a:off x="8516365" y="4248978"/>
              <a:ext cx="1569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SN=130 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ACK=729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TextBox 29">
              <a:extLst>
                <a:ext uri="{FF2B5EF4-FFF2-40B4-BE49-F238E27FC236}">
                  <a16:creationId xmlns:a16="http://schemas.microsoft.com/office/drawing/2014/main" id="{33D26748-11B4-1DE0-F3AE-23D4711EAFB5}"/>
                </a:ext>
              </a:extLst>
            </p:cNvPr>
            <p:cNvSpPr txBox="1"/>
            <p:nvPr/>
          </p:nvSpPr>
          <p:spPr>
            <a:xfrm rot="271128">
              <a:off x="8279059" y="4786509"/>
              <a:ext cx="208396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[Dup] SN=729 ACK=186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7" name="직선 화살표 연결선 96">
              <a:extLst>
                <a:ext uri="{FF2B5EF4-FFF2-40B4-BE49-F238E27FC236}">
                  <a16:creationId xmlns:a16="http://schemas.microsoft.com/office/drawing/2014/main" id="{E9835C32-3577-8EED-AD33-3B2EBA4C2094}"/>
                </a:ext>
              </a:extLst>
            </p:cNvPr>
            <p:cNvCxnSpPr>
              <a:cxnSpLocks/>
            </p:cNvCxnSpPr>
            <p:nvPr/>
          </p:nvCxnSpPr>
          <p:spPr>
            <a:xfrm>
              <a:off x="8282231" y="5361115"/>
              <a:ext cx="2143485" cy="20825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29">
              <a:extLst>
                <a:ext uri="{FF2B5EF4-FFF2-40B4-BE49-F238E27FC236}">
                  <a16:creationId xmlns:a16="http://schemas.microsoft.com/office/drawing/2014/main" id="{07148BEA-1AAF-A075-DDF0-20860FC70088}"/>
                </a:ext>
              </a:extLst>
            </p:cNvPr>
            <p:cNvSpPr txBox="1"/>
            <p:nvPr/>
          </p:nvSpPr>
          <p:spPr>
            <a:xfrm rot="271128">
              <a:off x="8277525" y="5135747"/>
              <a:ext cx="20422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[Dup] SN=729 ACK=186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9" name="직선 화살표 연결선 98">
              <a:extLst>
                <a:ext uri="{FF2B5EF4-FFF2-40B4-BE49-F238E27FC236}">
                  <a16:creationId xmlns:a16="http://schemas.microsoft.com/office/drawing/2014/main" id="{8AC1DE46-7B8B-1798-E6F5-E06ECAD07195}"/>
                </a:ext>
              </a:extLst>
            </p:cNvPr>
            <p:cNvCxnSpPr>
              <a:cxnSpLocks/>
            </p:cNvCxnSpPr>
            <p:nvPr/>
          </p:nvCxnSpPr>
          <p:spPr>
            <a:xfrm>
              <a:off x="8229358" y="5700014"/>
              <a:ext cx="2179024" cy="2202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0" name="TextBox 29">
              <a:extLst>
                <a:ext uri="{FF2B5EF4-FFF2-40B4-BE49-F238E27FC236}">
                  <a16:creationId xmlns:a16="http://schemas.microsoft.com/office/drawing/2014/main" id="{C01FE63B-64CB-9266-8CAC-51BC5124E581}"/>
                </a:ext>
              </a:extLst>
            </p:cNvPr>
            <p:cNvSpPr txBox="1"/>
            <p:nvPr/>
          </p:nvSpPr>
          <p:spPr>
            <a:xfrm rot="391150">
              <a:off x="8278999" y="5522315"/>
              <a:ext cx="21803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[Dup] SN=729 ACK=186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A98A7CDC-EBD6-BE53-6970-8C2BAF073D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3365" y="6129386"/>
              <a:ext cx="2143485" cy="2103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TextBox 29">
              <a:extLst>
                <a:ext uri="{FF2B5EF4-FFF2-40B4-BE49-F238E27FC236}">
                  <a16:creationId xmlns:a16="http://schemas.microsoft.com/office/drawing/2014/main" id="{E0981575-9F8E-EFEA-5643-351C11C03F9C}"/>
                </a:ext>
              </a:extLst>
            </p:cNvPr>
            <p:cNvSpPr txBox="1"/>
            <p:nvPr/>
          </p:nvSpPr>
          <p:spPr>
            <a:xfrm rot="21320503">
              <a:off x="8412125" y="5984288"/>
              <a:ext cx="1614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SN=186  ACK=729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FE09E07-896A-3B74-7A5C-7B61C8BADCD6}"/>
              </a:ext>
            </a:extLst>
          </p:cNvPr>
          <p:cNvGrpSpPr/>
          <p:nvPr/>
        </p:nvGrpSpPr>
        <p:grpSpPr>
          <a:xfrm>
            <a:off x="1624815" y="4180685"/>
            <a:ext cx="3588097" cy="1657076"/>
            <a:chOff x="2470559" y="3549948"/>
            <a:chExt cx="3588097" cy="1657076"/>
          </a:xfrm>
        </p:grpSpPr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9C04B111-41BC-06DE-38D0-BDEB57A578AB}"/>
                </a:ext>
              </a:extLst>
            </p:cNvPr>
            <p:cNvCxnSpPr>
              <a:cxnSpLocks/>
            </p:cNvCxnSpPr>
            <p:nvPr/>
          </p:nvCxnSpPr>
          <p:spPr>
            <a:xfrm>
              <a:off x="3215221" y="3863505"/>
              <a:ext cx="4788" cy="13435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직선 연결선 104">
              <a:extLst>
                <a:ext uri="{FF2B5EF4-FFF2-40B4-BE49-F238E27FC236}">
                  <a16:creationId xmlns:a16="http://schemas.microsoft.com/office/drawing/2014/main" id="{3FC12A7D-A145-785B-740C-25864F950E85}"/>
                </a:ext>
              </a:extLst>
            </p:cNvPr>
            <p:cNvCxnSpPr>
              <a:cxnSpLocks/>
            </p:cNvCxnSpPr>
            <p:nvPr/>
          </p:nvCxnSpPr>
          <p:spPr>
            <a:xfrm>
              <a:off x="5358706" y="3863505"/>
              <a:ext cx="8468" cy="134351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24">
              <a:extLst>
                <a:ext uri="{FF2B5EF4-FFF2-40B4-BE49-F238E27FC236}">
                  <a16:creationId xmlns:a16="http://schemas.microsoft.com/office/drawing/2014/main" id="{AD75473F-CF4E-DDB7-6792-36B5EAC3F2B0}"/>
                </a:ext>
              </a:extLst>
            </p:cNvPr>
            <p:cNvSpPr txBox="1"/>
            <p:nvPr/>
          </p:nvSpPr>
          <p:spPr>
            <a:xfrm>
              <a:off x="2470559" y="3606811"/>
              <a:ext cx="12170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172.16.136.85</a:t>
              </a:r>
            </a:p>
            <a:p>
              <a:r>
                <a:rPr lang="ko-KR" altLang="en-US" sz="1400" dirty="0"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수신자</a:t>
              </a:r>
            </a:p>
          </p:txBody>
        </p:sp>
        <p:sp>
          <p:nvSpPr>
            <p:cNvPr id="107" name="TextBox 25">
              <a:extLst>
                <a:ext uri="{FF2B5EF4-FFF2-40B4-BE49-F238E27FC236}">
                  <a16:creationId xmlns:a16="http://schemas.microsoft.com/office/drawing/2014/main" id="{3650D71B-1461-D0A1-407B-8308FAE8F15E}"/>
                </a:ext>
              </a:extLst>
            </p:cNvPr>
            <p:cNvSpPr txBox="1"/>
            <p:nvPr/>
          </p:nvSpPr>
          <p:spPr>
            <a:xfrm>
              <a:off x="4662120" y="3549948"/>
              <a:ext cx="13965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195.81.202.68</a:t>
              </a:r>
            </a:p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     </a:t>
              </a:r>
              <a:r>
                <a:rPr lang="ko-KR" altLang="en-US" sz="1400" dirty="0"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송신자</a:t>
              </a:r>
            </a:p>
          </p:txBody>
        </p: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775E73B5-349C-7CC6-7F5D-BE28A3BA7FB0}"/>
                </a:ext>
              </a:extLst>
            </p:cNvPr>
            <p:cNvCxnSpPr>
              <a:cxnSpLocks/>
            </p:cNvCxnSpPr>
            <p:nvPr/>
          </p:nvCxnSpPr>
          <p:spPr>
            <a:xfrm>
              <a:off x="3233412" y="4041941"/>
              <a:ext cx="2125292" cy="225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29">
              <a:extLst>
                <a:ext uri="{FF2B5EF4-FFF2-40B4-BE49-F238E27FC236}">
                  <a16:creationId xmlns:a16="http://schemas.microsoft.com/office/drawing/2014/main" id="{E63C6DA4-9BDE-DF72-5E21-D1454CDBE220}"/>
                </a:ext>
              </a:extLst>
            </p:cNvPr>
            <p:cNvSpPr txBox="1"/>
            <p:nvPr/>
          </p:nvSpPr>
          <p:spPr>
            <a:xfrm rot="313428">
              <a:off x="3568268" y="3856803"/>
              <a:ext cx="159184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SN=729 </a:t>
              </a:r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ACK=186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99972AF2-C76F-9065-F044-F9974B31EF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3412" y="4476589"/>
              <a:ext cx="2143485" cy="2103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29">
              <a:extLst>
                <a:ext uri="{FF2B5EF4-FFF2-40B4-BE49-F238E27FC236}">
                  <a16:creationId xmlns:a16="http://schemas.microsoft.com/office/drawing/2014/main" id="{BF8381DF-119A-AFE2-DDE4-CFAED53D7D10}"/>
                </a:ext>
              </a:extLst>
            </p:cNvPr>
            <p:cNvSpPr txBox="1"/>
            <p:nvPr/>
          </p:nvSpPr>
          <p:spPr>
            <a:xfrm rot="21320503">
              <a:off x="3458219" y="4288442"/>
              <a:ext cx="156940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i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SN=186 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ACK=729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B3012EBB-C0EF-01C6-67C7-55AE2CC3BF11}"/>
              </a:ext>
            </a:extLst>
          </p:cNvPr>
          <p:cNvSpPr txBox="1"/>
          <p:nvPr/>
        </p:nvSpPr>
        <p:spPr>
          <a:xfrm>
            <a:off x="2641201" y="6032434"/>
            <a:ext cx="15119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정상 패킷의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SN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B182C24-359C-2472-CD75-AEEC710BC6CB}"/>
              </a:ext>
            </a:extLst>
          </p:cNvPr>
          <p:cNvSpPr txBox="1"/>
          <p:nvPr/>
        </p:nvSpPr>
        <p:spPr>
          <a:xfrm>
            <a:off x="10000143" y="5894013"/>
            <a:ext cx="1686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[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비정상 패킷의 </a:t>
            </a:r>
            <a:r>
              <a:rPr lang="en-US" altLang="ko-KR" sz="14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SN</a:t>
            </a:r>
            <a:r>
              <a:rPr lang="en-US" altLang="ko-KR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]</a:t>
            </a:r>
            <a:endParaRPr lang="ko-KR" altLang="en-US" sz="14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23887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>
            <a:normAutofit/>
          </a:bodyPr>
          <a:lstStyle/>
          <a:p>
            <a:r>
              <a:rPr lang="en-US" altLang="ko-K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TCP </a:t>
            </a:r>
            <a:r>
              <a:rPr lang="en-US" altLang="ko-KR" sz="32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Sliding windows mechanism</a:t>
            </a:r>
            <a:r>
              <a:rPr lang="ko-KR" altLang="en-US" sz="3200" b="1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25284" y="1401081"/>
            <a:ext cx="10722429" cy="50432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패킷 손실을 방지하기 위해 데이터 전송률을 조정하는 기법 </a:t>
            </a:r>
            <a:endParaRPr lang="en-US" altLang="ko-KR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  <a:p>
            <a:pPr marL="0" indent="0">
              <a:lnSpc>
                <a:spcPct val="150000"/>
              </a:lnSpc>
              <a:buNone/>
            </a:pPr>
            <a:endParaRPr lang="ko-KR" altLang="en-US" sz="18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0E85C-9068-46D2-A14A-A9DCCDE0C986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6956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65F0F6E3-2926-DE5A-02E4-A7FE68327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594" y="3974458"/>
            <a:ext cx="10515600" cy="785020"/>
          </a:xfrm>
        </p:spPr>
        <p:txBody>
          <a:bodyPr>
            <a:normAutofit/>
          </a:bodyPr>
          <a:lstStyle/>
          <a:p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Window size 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감소는 호스트로부터의 지연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(</a:t>
            </a:r>
            <a:r>
              <a:rPr lang="en-US" altLang="ko-KR" sz="18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delay</a:t>
            </a:r>
            <a:r>
              <a:rPr lang="en-US" altLang="ko-KR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)</a:t>
            </a:r>
            <a:r>
              <a:rPr lang="ko-KR" altLang="en-US" sz="18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이 증가함을 알려줌 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85874A2-B4F5-5C23-D521-3E63C6B8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85463" y="6395605"/>
            <a:ext cx="2743200" cy="365125"/>
          </a:xfrm>
        </p:spPr>
        <p:txBody>
          <a:bodyPr/>
          <a:lstStyle/>
          <a:p>
            <a:pPr algn="l"/>
            <a:fld id="{F100E85C-9068-46D2-A14A-A9DCCDE0C986}" type="slidenum">
              <a:rPr lang="ko-KR" altLang="en-US" smtClean="0"/>
              <a:pPr algn="l"/>
              <a:t>73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7CE412E-BB97-6357-04EA-0AB5DDA73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4155"/>
            <a:ext cx="12192000" cy="259787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5AD8D01-7E79-7F6D-3BC0-FF1E1400AFC8}"/>
              </a:ext>
            </a:extLst>
          </p:cNvPr>
          <p:cNvSpPr/>
          <p:nvPr/>
        </p:nvSpPr>
        <p:spPr>
          <a:xfrm>
            <a:off x="8949447" y="2204220"/>
            <a:ext cx="894944" cy="690664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7C939F2-FB5E-D479-9925-5C0CE43CFDAC}"/>
              </a:ext>
            </a:extLst>
          </p:cNvPr>
          <p:cNvCxnSpPr>
            <a:cxnSpLocks/>
            <a:stCxn id="10" idx="1"/>
          </p:cNvCxnSpPr>
          <p:nvPr/>
        </p:nvCxnSpPr>
        <p:spPr>
          <a:xfrm flipH="1">
            <a:off x="9319098" y="1954317"/>
            <a:ext cx="420051" cy="240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6DFDD37-04DB-1351-EA2A-5EC9F8DBEEC1}"/>
              </a:ext>
            </a:extLst>
          </p:cNvPr>
          <p:cNvSpPr txBox="1"/>
          <p:nvPr/>
        </p:nvSpPr>
        <p:spPr>
          <a:xfrm>
            <a:off x="9739149" y="1785040"/>
            <a:ext cx="2032801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Window size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감소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1FAF526-DB86-81FF-9FDD-BAB8A65C7A39}"/>
              </a:ext>
            </a:extLst>
          </p:cNvPr>
          <p:cNvSpPr/>
          <p:nvPr/>
        </p:nvSpPr>
        <p:spPr>
          <a:xfrm>
            <a:off x="583660" y="2204220"/>
            <a:ext cx="894944" cy="690664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53CE393-90DE-6460-1A0E-0CB77F899044}"/>
              </a:ext>
            </a:extLst>
          </p:cNvPr>
          <p:cNvSpPr txBox="1"/>
          <p:nvPr/>
        </p:nvSpPr>
        <p:spPr>
          <a:xfrm>
            <a:off x="1288887" y="1614157"/>
            <a:ext cx="3279552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Window size</a:t>
            </a:r>
            <a:r>
              <a:rPr lang="ko-KR" altLang="en-US" sz="1600" b="1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감소가 빠르게 진행됨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F7A524C-CDF8-46D3-ED55-6040D18B90D5}"/>
              </a:ext>
            </a:extLst>
          </p:cNvPr>
          <p:cNvCxnSpPr>
            <a:cxnSpLocks/>
          </p:cNvCxnSpPr>
          <p:nvPr/>
        </p:nvCxnSpPr>
        <p:spPr>
          <a:xfrm flipH="1">
            <a:off x="1293778" y="1952711"/>
            <a:ext cx="486384" cy="251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5CFB46F-43D5-42B3-7EF8-43F3045F4AF4}"/>
              </a:ext>
            </a:extLst>
          </p:cNvPr>
          <p:cNvSpPr/>
          <p:nvPr/>
        </p:nvSpPr>
        <p:spPr>
          <a:xfrm>
            <a:off x="10738417" y="3051525"/>
            <a:ext cx="847226" cy="218978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01772240-9E36-049E-81D8-42EA98FE9898}"/>
              </a:ext>
            </a:extLst>
          </p:cNvPr>
          <p:cNvGrpSpPr/>
          <p:nvPr/>
        </p:nvGrpSpPr>
        <p:grpSpPr>
          <a:xfrm>
            <a:off x="8559624" y="3891305"/>
            <a:ext cx="3446913" cy="2702337"/>
            <a:chOff x="8396508" y="3488365"/>
            <a:chExt cx="3446913" cy="2702337"/>
          </a:xfrm>
        </p:grpSpPr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D61B8266-EB4A-CAB2-3C78-17E4050F470B}"/>
                </a:ext>
              </a:extLst>
            </p:cNvPr>
            <p:cNvCxnSpPr>
              <a:cxnSpLocks/>
            </p:cNvCxnSpPr>
            <p:nvPr/>
          </p:nvCxnSpPr>
          <p:spPr>
            <a:xfrm>
              <a:off x="9032683" y="3909324"/>
              <a:ext cx="2384" cy="228137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9436C9DA-DFE5-4FD1-2D25-382010B72C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164838" y="3909324"/>
              <a:ext cx="11330" cy="224668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4">
              <a:extLst>
                <a:ext uri="{FF2B5EF4-FFF2-40B4-BE49-F238E27FC236}">
                  <a16:creationId xmlns:a16="http://schemas.microsoft.com/office/drawing/2014/main" id="{07FB79C7-0920-C4C0-4A06-47ABD44A9E45}"/>
                </a:ext>
              </a:extLst>
            </p:cNvPr>
            <p:cNvSpPr txBox="1"/>
            <p:nvPr/>
          </p:nvSpPr>
          <p:spPr>
            <a:xfrm>
              <a:off x="8396508" y="3526599"/>
              <a:ext cx="112723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192.168.0.20</a:t>
              </a:r>
            </a:p>
            <a:p>
              <a:r>
                <a:rPr lang="ko-KR" altLang="en-US" sz="1400" dirty="0"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수신자</a:t>
              </a:r>
            </a:p>
          </p:txBody>
        </p:sp>
        <p:sp>
          <p:nvSpPr>
            <p:cNvPr id="23" name="TextBox 25">
              <a:extLst>
                <a:ext uri="{FF2B5EF4-FFF2-40B4-BE49-F238E27FC236}">
                  <a16:creationId xmlns:a16="http://schemas.microsoft.com/office/drawing/2014/main" id="{3691B7E9-8A0B-5941-BAEC-5ABE76EC67BF}"/>
                </a:ext>
              </a:extLst>
            </p:cNvPr>
            <p:cNvSpPr txBox="1"/>
            <p:nvPr/>
          </p:nvSpPr>
          <p:spPr>
            <a:xfrm>
              <a:off x="10685732" y="3488365"/>
              <a:ext cx="11576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192.168.0.30</a:t>
              </a:r>
            </a:p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   </a:t>
              </a:r>
              <a:r>
                <a:rPr lang="ko-KR" altLang="en-US" sz="1400" dirty="0">
                  <a:latin typeface="함초롬바탕" panose="02030604000101010101" pitchFamily="18" charset="-127"/>
                  <a:ea typeface="함초롬바탕" panose="02030604000101010101" pitchFamily="18" charset="-127"/>
                  <a:cs typeface="함초롬바탕" panose="02030604000101010101" pitchFamily="18" charset="-127"/>
                </a:rPr>
                <a:t>송신자</a:t>
              </a:r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86063382-4D20-EC75-4EA9-9D5B8A17EB7A}"/>
                </a:ext>
              </a:extLst>
            </p:cNvPr>
            <p:cNvCxnSpPr>
              <a:cxnSpLocks/>
            </p:cNvCxnSpPr>
            <p:nvPr/>
          </p:nvCxnSpPr>
          <p:spPr>
            <a:xfrm>
              <a:off x="8993453" y="4245700"/>
              <a:ext cx="2143485" cy="2082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0A6C291-E8E5-AFF3-08B6-1BC96156C923}"/>
                </a:ext>
              </a:extLst>
            </p:cNvPr>
            <p:cNvSpPr txBox="1"/>
            <p:nvPr/>
          </p:nvSpPr>
          <p:spPr>
            <a:xfrm rot="271128">
              <a:off x="9555294" y="4033439"/>
              <a:ext cx="9716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Win=8760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6240CBC8-E5FF-1036-D4C1-DE79358332ED}"/>
                </a:ext>
              </a:extLst>
            </p:cNvPr>
            <p:cNvCxnSpPr>
              <a:cxnSpLocks/>
            </p:cNvCxnSpPr>
            <p:nvPr/>
          </p:nvCxnSpPr>
          <p:spPr>
            <a:xfrm>
              <a:off x="9011222" y="4578541"/>
              <a:ext cx="2143485" cy="20825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FD2D84C5-8FC2-BA41-33C6-152A917F4818}"/>
                </a:ext>
              </a:extLst>
            </p:cNvPr>
            <p:cNvCxnSpPr>
              <a:cxnSpLocks/>
            </p:cNvCxnSpPr>
            <p:nvPr/>
          </p:nvCxnSpPr>
          <p:spPr>
            <a:xfrm>
              <a:off x="9030288" y="4942757"/>
              <a:ext cx="2124419" cy="1855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29">
              <a:extLst>
                <a:ext uri="{FF2B5EF4-FFF2-40B4-BE49-F238E27FC236}">
                  <a16:creationId xmlns:a16="http://schemas.microsoft.com/office/drawing/2014/main" id="{7F167CEB-A724-CCBF-24D7-BE0537F15F4D}"/>
                </a:ext>
              </a:extLst>
            </p:cNvPr>
            <p:cNvSpPr txBox="1"/>
            <p:nvPr/>
          </p:nvSpPr>
          <p:spPr>
            <a:xfrm rot="247910">
              <a:off x="9011584" y="5575854"/>
              <a:ext cx="223811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WindowUpdate</a:t>
              </a:r>
              <a:r>
                <a:rPr lang="en-US" altLang="ko-K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] Wi=64240</a:t>
              </a:r>
              <a:endParaRPr lang="ko-KR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0B1A6-B864-C214-C6AC-D0FE6AC6517B}"/>
                </a:ext>
              </a:extLst>
            </p:cNvPr>
            <p:cNvSpPr txBox="1"/>
            <p:nvPr/>
          </p:nvSpPr>
          <p:spPr>
            <a:xfrm rot="271128">
              <a:off x="9566026" y="4434972"/>
              <a:ext cx="9716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Win=5840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1B9D9B4-1CB7-A548-B6C0-EB1355221328}"/>
                </a:ext>
              </a:extLst>
            </p:cNvPr>
            <p:cNvSpPr txBox="1"/>
            <p:nvPr/>
          </p:nvSpPr>
          <p:spPr>
            <a:xfrm rot="271128">
              <a:off x="9535303" y="4794837"/>
              <a:ext cx="97167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Win=2920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47140B1-64AD-0C9E-A026-D09A6C90A712}"/>
                </a:ext>
              </a:extLst>
            </p:cNvPr>
            <p:cNvCxnSpPr>
              <a:cxnSpLocks/>
            </p:cNvCxnSpPr>
            <p:nvPr/>
          </p:nvCxnSpPr>
          <p:spPr>
            <a:xfrm>
              <a:off x="9020754" y="5261967"/>
              <a:ext cx="2124419" cy="1855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BC5AFE2-E2F5-8400-93D2-A753CCD90704}"/>
                </a:ext>
              </a:extLst>
            </p:cNvPr>
            <p:cNvSpPr txBox="1"/>
            <p:nvPr/>
          </p:nvSpPr>
          <p:spPr>
            <a:xfrm rot="271128">
              <a:off x="9243468" y="5095926"/>
              <a:ext cx="15133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[</a:t>
              </a:r>
              <a:r>
                <a:rPr lang="en-US" altLang="ko-KR" sz="1400" b="1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ZeroWin</a:t>
              </a:r>
              <a:r>
                <a:rPr lang="en-US" altLang="ko-KR" sz="14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]Win=0</a:t>
              </a:r>
              <a:endParaRPr lang="ko-KR" altLang="en-US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3914EE70-A10E-5272-AAB7-3DF1A49E3AEC}"/>
                </a:ext>
              </a:extLst>
            </p:cNvPr>
            <p:cNvCxnSpPr>
              <a:cxnSpLocks/>
            </p:cNvCxnSpPr>
            <p:nvPr/>
          </p:nvCxnSpPr>
          <p:spPr>
            <a:xfrm>
              <a:off x="9037743" y="5818992"/>
              <a:ext cx="2124419" cy="18550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4EB316C-9634-30B9-3B3A-E68831A87580}"/>
              </a:ext>
            </a:extLst>
          </p:cNvPr>
          <p:cNvSpPr/>
          <p:nvPr/>
        </p:nvSpPr>
        <p:spPr>
          <a:xfrm>
            <a:off x="4893013" y="2762656"/>
            <a:ext cx="1916348" cy="507848"/>
          </a:xfrm>
          <a:prstGeom prst="rect">
            <a:avLst/>
          </a:prstGeom>
          <a:noFill/>
          <a:ln w="222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제목 1">
            <a:extLst>
              <a:ext uri="{FF2B5EF4-FFF2-40B4-BE49-F238E27FC236}">
                <a16:creationId xmlns:a16="http://schemas.microsoft.com/office/drawing/2014/main" id="{30F06E63-AD82-3BEC-2B33-54C44EC83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817" y="346974"/>
            <a:ext cx="10515600" cy="701675"/>
          </a:xfrm>
        </p:spPr>
        <p:txBody>
          <a:bodyPr>
            <a:normAutofit/>
          </a:bodyPr>
          <a:lstStyle/>
          <a:p>
            <a:r>
              <a:rPr lang="en-US" altLang="ko-KR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ZeroWindow</a:t>
            </a:r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Window Update</a:t>
            </a:r>
            <a:endParaRPr lang="ko-KR" altLang="en-US" sz="26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874D3-0964-C386-6131-1F3234BD58E4}"/>
              </a:ext>
            </a:extLst>
          </p:cNvPr>
          <p:cNvSpPr txBox="1"/>
          <p:nvPr/>
        </p:nvSpPr>
        <p:spPr>
          <a:xfrm>
            <a:off x="509495" y="4427758"/>
            <a:ext cx="7285054" cy="115153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&lt;&lt;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Window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update &gt;&gt;</a:t>
            </a:r>
          </a:p>
          <a:p>
            <a:pPr marL="285750" indent="-198438">
              <a:lnSpc>
                <a:spcPct val="150000"/>
              </a:lnSpc>
              <a:buFontTx/>
              <a:buChar char="-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애플리케이션이 </a:t>
            </a:r>
            <a:r>
              <a:rPr lang="ko-KR" altLang="en-US" sz="16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수신버퍼에서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데이터를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read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할 경우 전송됨</a:t>
            </a:r>
            <a:endParaRPr lang="en-US" altLang="ko-KR" sz="16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pPr marL="285750" indent="-198438">
              <a:lnSpc>
                <a:spcPct val="150000"/>
              </a:lnSpc>
              <a:buFontTx/>
              <a:buChar char="-"/>
            </a:pPr>
            <a:r>
              <a:rPr lang="en-US" altLang="ko-KR" sz="1600" dirty="0" err="1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ZeroWindow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 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발생하면 </a:t>
            </a:r>
            <a:r>
              <a:rPr lang="en-US" altLang="ko-KR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Window update</a:t>
            </a:r>
            <a:r>
              <a:rPr lang="ko-KR" altLang="en-US" sz="16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가 유일한 해결방법 </a:t>
            </a:r>
          </a:p>
        </p:txBody>
      </p:sp>
    </p:spTree>
    <p:extLst>
      <p:ext uri="{BB962C8B-B14F-4D97-AF65-F5344CB8AC3E}">
        <p14:creationId xmlns:p14="http://schemas.microsoft.com/office/powerpoint/2010/main" val="322063708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DA06BCA-9173-A75D-0439-2C31B43F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2817" y="6386079"/>
            <a:ext cx="2743200" cy="365125"/>
          </a:xfrm>
        </p:spPr>
        <p:txBody>
          <a:bodyPr/>
          <a:lstStyle/>
          <a:p>
            <a:pPr algn="l"/>
            <a:fld id="{F100E85C-9068-46D2-A14A-A9DCCDE0C986}" type="slidenum">
              <a:rPr lang="ko-KR" altLang="en-US" smtClean="0"/>
              <a:pPr algn="l"/>
              <a:t>74</a:t>
            </a:fld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30D6A17-6498-9AA7-EE3F-7D6D8019A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78" y="887069"/>
            <a:ext cx="11509443" cy="290124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1FB6641-0C1A-19EB-53EA-4EB7C3587776}"/>
              </a:ext>
            </a:extLst>
          </p:cNvPr>
          <p:cNvSpPr txBox="1">
            <a:spLocks/>
          </p:cNvSpPr>
          <p:nvPr/>
        </p:nvSpPr>
        <p:spPr>
          <a:xfrm>
            <a:off x="222817" y="346974"/>
            <a:ext cx="10515600" cy="7016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ZeroWindow</a:t>
            </a:r>
            <a:r>
              <a:rPr lang="en-US" altLang="ko-K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Keep-Alive</a:t>
            </a:r>
            <a:endParaRPr lang="ko-KR" altLang="en-US" sz="2600" b="1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A04EBE3-BE80-1B0C-D23D-894CAE7B3B40}"/>
              </a:ext>
            </a:extLst>
          </p:cNvPr>
          <p:cNvCxnSpPr>
            <a:cxnSpLocks/>
          </p:cNvCxnSpPr>
          <p:nvPr/>
        </p:nvCxnSpPr>
        <p:spPr>
          <a:xfrm>
            <a:off x="9039983" y="4287263"/>
            <a:ext cx="10263" cy="25707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388AA7E-DACF-A5FF-7AF4-145F37588FBC}"/>
              </a:ext>
            </a:extLst>
          </p:cNvPr>
          <p:cNvCxnSpPr>
            <a:cxnSpLocks/>
          </p:cNvCxnSpPr>
          <p:nvPr/>
        </p:nvCxnSpPr>
        <p:spPr>
          <a:xfrm flipH="1">
            <a:off x="11181084" y="4287263"/>
            <a:ext cx="2384" cy="246394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24">
            <a:extLst>
              <a:ext uri="{FF2B5EF4-FFF2-40B4-BE49-F238E27FC236}">
                <a16:creationId xmlns:a16="http://schemas.microsoft.com/office/drawing/2014/main" id="{8874FE2D-0137-3663-5A37-6F11BE4B723B}"/>
              </a:ext>
            </a:extLst>
          </p:cNvPr>
          <p:cNvSpPr txBox="1"/>
          <p:nvPr/>
        </p:nvSpPr>
        <p:spPr>
          <a:xfrm>
            <a:off x="8403808" y="3904538"/>
            <a:ext cx="1217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172.31.136.85</a:t>
            </a:r>
          </a:p>
          <a:p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수신자</a:t>
            </a:r>
          </a:p>
        </p:txBody>
      </p:sp>
      <p:sp>
        <p:nvSpPr>
          <p:cNvPr id="9" name="TextBox 25">
            <a:extLst>
              <a:ext uri="{FF2B5EF4-FFF2-40B4-BE49-F238E27FC236}">
                <a16:creationId xmlns:a16="http://schemas.microsoft.com/office/drawing/2014/main" id="{8D1916C6-0C19-8F34-0C09-753212066306}"/>
              </a:ext>
            </a:extLst>
          </p:cNvPr>
          <p:cNvSpPr txBox="1"/>
          <p:nvPr/>
        </p:nvSpPr>
        <p:spPr>
          <a:xfrm>
            <a:off x="10693032" y="3866304"/>
            <a:ext cx="12170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195.81.202.68</a:t>
            </a:r>
          </a:p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  <a:r>
              <a:rPr lang="ko-KR" altLang="en-US" sz="1400" dirty="0">
                <a:latin typeface="함초롬바탕" panose="02030604000101010101" pitchFamily="18" charset="-127"/>
                <a:ea typeface="함초롬바탕" panose="02030604000101010101" pitchFamily="18" charset="-127"/>
                <a:cs typeface="함초롬바탕" panose="02030604000101010101" pitchFamily="18" charset="-127"/>
              </a:rPr>
              <a:t>송신자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C2BF8DD5-15BB-1A51-040C-7DC9FAF3B6D9}"/>
              </a:ext>
            </a:extLst>
          </p:cNvPr>
          <p:cNvCxnSpPr>
            <a:cxnSpLocks/>
          </p:cNvCxnSpPr>
          <p:nvPr/>
        </p:nvCxnSpPr>
        <p:spPr>
          <a:xfrm>
            <a:off x="9028653" y="4445438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3F4F1A-76BA-D5B7-87FA-412883EB6C09}"/>
              </a:ext>
            </a:extLst>
          </p:cNvPr>
          <p:cNvSpPr txBox="1"/>
          <p:nvPr/>
        </p:nvSpPr>
        <p:spPr>
          <a:xfrm rot="271128">
            <a:off x="9319654" y="4233177"/>
            <a:ext cx="15133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ZeroWin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]Win=0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C0CED432-675B-D774-BCB6-0576797F34F5}"/>
              </a:ext>
            </a:extLst>
          </p:cNvPr>
          <p:cNvCxnSpPr/>
          <p:nvPr/>
        </p:nvCxnSpPr>
        <p:spPr>
          <a:xfrm flipH="1">
            <a:off x="9039983" y="4824919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F580D85-64A9-1E7F-64E8-6AC42AD8E466}"/>
              </a:ext>
            </a:extLst>
          </p:cNvPr>
          <p:cNvSpPr txBox="1"/>
          <p:nvPr/>
        </p:nvSpPr>
        <p:spPr>
          <a:xfrm rot="21422974">
            <a:off x="9463050" y="4623657"/>
            <a:ext cx="1101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KeepAlive</a:t>
            </a:r>
            <a:r>
              <a:rPr lang="en-US" altLang="ko-KR" sz="1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74D52C0-A950-52A8-63B3-33714AE580ED}"/>
              </a:ext>
            </a:extLst>
          </p:cNvPr>
          <p:cNvCxnSpPr>
            <a:cxnSpLocks/>
          </p:cNvCxnSpPr>
          <p:nvPr/>
        </p:nvCxnSpPr>
        <p:spPr>
          <a:xfrm>
            <a:off x="9039983" y="5229376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0D7EACC-8922-0166-0579-7179C6E766A4}"/>
              </a:ext>
            </a:extLst>
          </p:cNvPr>
          <p:cNvSpPr txBox="1"/>
          <p:nvPr/>
        </p:nvSpPr>
        <p:spPr>
          <a:xfrm rot="271128">
            <a:off x="9369328" y="5017115"/>
            <a:ext cx="1436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ZeroWin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]Win=0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2C19D6C-0035-4E35-E2CC-744478BB0B35}"/>
              </a:ext>
            </a:extLst>
          </p:cNvPr>
          <p:cNvCxnSpPr/>
          <p:nvPr/>
        </p:nvCxnSpPr>
        <p:spPr>
          <a:xfrm flipH="1">
            <a:off x="9051313" y="5608857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4495D66-85DA-AF14-5AD2-2790AA9B2713}"/>
              </a:ext>
            </a:extLst>
          </p:cNvPr>
          <p:cNvSpPr txBox="1"/>
          <p:nvPr/>
        </p:nvSpPr>
        <p:spPr>
          <a:xfrm rot="21422974">
            <a:off x="9474380" y="5407595"/>
            <a:ext cx="1101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KeepAlive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D6E7DC0-D633-210A-2C01-3CF23B61D66F}"/>
              </a:ext>
            </a:extLst>
          </p:cNvPr>
          <p:cNvCxnSpPr>
            <a:cxnSpLocks/>
          </p:cNvCxnSpPr>
          <p:nvPr/>
        </p:nvCxnSpPr>
        <p:spPr>
          <a:xfrm>
            <a:off x="9039983" y="5975455"/>
            <a:ext cx="2143485" cy="2082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78EA48CF-DB31-7387-D1A3-06E7963DCC06}"/>
              </a:ext>
            </a:extLst>
          </p:cNvPr>
          <p:cNvSpPr txBox="1"/>
          <p:nvPr/>
        </p:nvSpPr>
        <p:spPr>
          <a:xfrm rot="271128">
            <a:off x="9369328" y="5763194"/>
            <a:ext cx="14366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ZeroWin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]Win=0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CA23C77-EE40-3FC6-72E8-68C6A964BD37}"/>
              </a:ext>
            </a:extLst>
          </p:cNvPr>
          <p:cNvCxnSpPr/>
          <p:nvPr/>
        </p:nvCxnSpPr>
        <p:spPr>
          <a:xfrm flipH="1">
            <a:off x="9051313" y="6354936"/>
            <a:ext cx="2132155" cy="1945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49F46E1-EA2F-3FDE-FB63-4381B064F8B5}"/>
              </a:ext>
            </a:extLst>
          </p:cNvPr>
          <p:cNvSpPr txBox="1"/>
          <p:nvPr/>
        </p:nvSpPr>
        <p:spPr>
          <a:xfrm rot="21422974">
            <a:off x="9474380" y="6153674"/>
            <a:ext cx="11015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ko-K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KeepAlive</a:t>
            </a:r>
            <a:r>
              <a:rPr lang="en-US" altLang="ko-K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ko-KR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1FB0928-935F-41AF-8A47-5A8BB2D2D12C}"/>
              </a:ext>
            </a:extLst>
          </p:cNvPr>
          <p:cNvSpPr/>
          <p:nvPr/>
        </p:nvSpPr>
        <p:spPr>
          <a:xfrm>
            <a:off x="836578" y="2184765"/>
            <a:ext cx="943583" cy="480614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0F867E4E-71F1-DE55-CCB7-A8E35A778353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1196502" y="2665379"/>
            <a:ext cx="111868" cy="12391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762C18A0-3A4D-114B-68BA-01A388838CB6}"/>
              </a:ext>
            </a:extLst>
          </p:cNvPr>
          <p:cNvSpPr txBox="1"/>
          <p:nvPr/>
        </p:nvSpPr>
        <p:spPr>
          <a:xfrm>
            <a:off x="501181" y="3889137"/>
            <a:ext cx="6830403" cy="33855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KeepAlive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(</a:t>
            </a:r>
            <a:r>
              <a:rPr lang="ko-KR" altLang="en-US" sz="1600" b="1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연결유지패킷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)</a:t>
            </a:r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은</a:t>
            </a:r>
            <a:r>
              <a:rPr lang="en-US" altLang="ko-KR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3.4, 6.8, 13.5</a:t>
            </a:r>
            <a:r>
              <a:rPr lang="ko-KR" altLang="en-US" sz="1600" b="1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초 간격으로 발생</a:t>
            </a:r>
            <a:endParaRPr lang="en-US" altLang="ko-KR" sz="1600" b="1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9FCD54-C47C-A142-E5C4-E014B3502E71}"/>
              </a:ext>
            </a:extLst>
          </p:cNvPr>
          <p:cNvSpPr txBox="1"/>
          <p:nvPr/>
        </p:nvSpPr>
        <p:spPr>
          <a:xfrm>
            <a:off x="509495" y="4427758"/>
            <a:ext cx="7285054" cy="18158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ZeroWindow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발생 원인은 수신 버퍼가 가득 찬 경우 </a:t>
            </a:r>
            <a:endParaRPr lang="en-US" altLang="ko-KR" sz="16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- 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수신 버퍼에서 데이터를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read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하지 않은 애플리케이션 때문</a:t>
            </a:r>
            <a:endParaRPr lang="en-US" altLang="ko-KR" sz="16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endParaRPr lang="en-US" altLang="ko-KR" sz="16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&lt;&lt; 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버퍼에서 데이터를 애플리케이션이 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read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하지 않는 이유</a:t>
            </a:r>
            <a:r>
              <a:rPr lang="en-US" altLang="ko-KR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&gt;&gt; </a:t>
            </a:r>
          </a:p>
          <a:p>
            <a:pPr marL="285750" indent="-198438">
              <a:buFontTx/>
              <a:buChar char="-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애플리케이션의 처리 시간이 부족할 경우 </a:t>
            </a:r>
            <a:endParaRPr lang="en-US" altLang="ko-KR" sz="16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pPr marL="285750" indent="-198438">
              <a:buFontTx/>
              <a:buChar char="-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애플리케이션의 잘못 만들어 졌을 경우 </a:t>
            </a:r>
            <a:endParaRPr lang="en-US" altLang="ko-KR" sz="1600" dirty="0">
              <a:latin typeface="Times New Roman" panose="02020603050405020304" pitchFamily="18" charset="0"/>
              <a:ea typeface="함초롬바탕" panose="02030604000101010101" pitchFamily="18" charset="-127"/>
              <a:cs typeface="Times New Roman" panose="02020603050405020304" pitchFamily="18" charset="0"/>
            </a:endParaRPr>
          </a:p>
          <a:p>
            <a:pPr marL="285750" indent="-198438">
              <a:buFontTx/>
              <a:buChar char="-"/>
            </a:pP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전송 지연을 유발하기 위해 고의로 </a:t>
            </a:r>
            <a:r>
              <a:rPr lang="en-US" altLang="ko-KR" sz="1600" dirty="0" err="1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zerowindow</a:t>
            </a:r>
            <a:r>
              <a:rPr lang="ko-KR" altLang="en-US" sz="1600" dirty="0">
                <a:latin typeface="Times New Roman" panose="02020603050405020304" pitchFamily="18" charset="0"/>
                <a:ea typeface="함초롬바탕" panose="02030604000101010101" pitchFamily="18" charset="-127"/>
                <a:cs typeface="Times New Roman" panose="02020603050405020304" pitchFamily="18" charset="0"/>
              </a:rPr>
              <a:t> 패킷을 발생 할 경우 </a:t>
            </a:r>
            <a:endParaRPr lang="ko-KR" altLang="en-US" sz="1600" dirty="0">
              <a:latin typeface="함초롬바탕" panose="02030604000101010101" pitchFamily="18" charset="-127"/>
              <a:ea typeface="함초롬바탕" panose="02030604000101010101" pitchFamily="18" charset="-127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8034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6932</TotalTime>
  <Words>5152</Words>
  <Application>Microsoft Office PowerPoint</Application>
  <PresentationFormat>와이드스크린</PresentationFormat>
  <Paragraphs>1356</Paragraphs>
  <Slides>74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74</vt:i4>
      </vt:variant>
    </vt:vector>
  </HeadingPairs>
  <TitlesOfParts>
    <vt:vector size="83" baseType="lpstr">
      <vt:lpstr>Spoqa Han Sans</vt:lpstr>
      <vt:lpstr>굴림</vt:lpstr>
      <vt:lpstr>맑은 고딕</vt:lpstr>
      <vt:lpstr>함초롬바탕</vt:lpstr>
      <vt:lpstr>Arial</vt:lpstr>
      <vt:lpstr>Arial Narrow</vt:lpstr>
      <vt:lpstr>Times New Roman</vt:lpstr>
      <vt:lpstr>Wingdings</vt:lpstr>
      <vt:lpstr>Office 테마</vt:lpstr>
      <vt:lpstr>ARP </vt:lpstr>
      <vt:lpstr>ARP Cache table update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TCP 단편화</vt:lpstr>
      <vt:lpstr>PowerPoint 프레젠테이션</vt:lpstr>
      <vt:lpstr>UDP</vt:lpstr>
      <vt:lpstr>PowerPoint 프레젠테이션</vt:lpstr>
      <vt:lpstr>PowerPoint 프레젠테이션</vt:lpstr>
      <vt:lpstr>PowerPoint 프레젠테이션</vt:lpstr>
      <vt:lpstr>PowerPoint 프레젠테이션</vt:lpstr>
      <vt:lpstr>TCP 신뢰성 </vt:lpstr>
      <vt:lpstr>❶ 정상적인 트래픽 전송 과정 </vt:lpstr>
      <vt:lpstr>❷ 비정상적인 트래픽 전송 과정(1) </vt:lpstr>
      <vt:lpstr>❷ 비정상적인 트래픽 전송 과정(2) </vt:lpstr>
      <vt:lpstr>PowerPoint 프레젠테이션</vt:lpstr>
      <vt:lpstr>PowerPoint 프레젠테이션</vt:lpstr>
      <vt:lpstr>PowerPoint 프레젠테이션</vt:lpstr>
      <vt:lpstr>PowerPoint 프레젠테이션</vt:lpstr>
      <vt:lpstr>TCP Header</vt:lpstr>
      <vt:lpstr>TCP Header – option</vt:lpstr>
      <vt:lpstr>TCP Header – option</vt:lpstr>
      <vt:lpstr>TCP Header – option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높은 지연의 근원지 탐색 </vt:lpstr>
      <vt:lpstr>PowerPoint 프레젠테이션</vt:lpstr>
      <vt:lpstr>PowerPoint 프레젠테이션</vt:lpstr>
      <vt:lpstr>PowerPoint 프레젠테이션</vt:lpstr>
      <vt:lpstr>PowerPoint 프레젠테이션</vt:lpstr>
      <vt:lpstr>높은 지연의 근원지 탐색 </vt:lpstr>
      <vt:lpstr>Sliding window</vt:lpstr>
      <vt:lpstr>PowerPoint 프레젠테이션</vt:lpstr>
      <vt:lpstr>PowerPoint 프레젠테이션</vt:lpstr>
      <vt:lpstr>PowerPoint 프레젠테이션</vt:lpstr>
      <vt:lpstr>PowerPoint 프레젠테이션</vt:lpstr>
      <vt:lpstr>Slow Start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속도가 느려진 네트워크 복구 </vt:lpstr>
      <vt:lpstr>1) TCP 재전송 </vt:lpstr>
      <vt:lpstr>재전송 타이머를 이용한 패킷 손실 확인 </vt:lpstr>
      <vt:lpstr>PowerPoint 프레젠테이션</vt:lpstr>
      <vt:lpstr>PowerPoint 프레젠테이션</vt:lpstr>
      <vt:lpstr>TCP 중복 검사와 빠른 재전송 </vt:lpstr>
      <vt:lpstr>PowerPoint 프레젠테이션</vt:lpstr>
      <vt:lpstr>2) TCP Sliding windows mechanism </vt:lpstr>
      <vt:lpstr>ZeroWindow &amp; Window Update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Sora Kwon</dc:creator>
  <cp:lastModifiedBy>Kwon Sora</cp:lastModifiedBy>
  <cp:revision>275</cp:revision>
  <cp:lastPrinted>2020-08-05T04:43:06Z</cp:lastPrinted>
  <dcterms:created xsi:type="dcterms:W3CDTF">2016-06-18T01:38:17Z</dcterms:created>
  <dcterms:modified xsi:type="dcterms:W3CDTF">2023-08-24T22:43:10Z</dcterms:modified>
</cp:coreProperties>
</file>