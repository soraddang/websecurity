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1179" r:id="rId2"/>
    <p:sldId id="1302" r:id="rId3"/>
    <p:sldId id="1303" r:id="rId4"/>
    <p:sldId id="1317" r:id="rId5"/>
    <p:sldId id="1298" r:id="rId6"/>
    <p:sldId id="1299" r:id="rId7"/>
    <p:sldId id="1301" r:id="rId8"/>
    <p:sldId id="1304" r:id="rId9"/>
    <p:sldId id="1305" r:id="rId10"/>
    <p:sldId id="1306" r:id="rId11"/>
    <p:sldId id="1307" r:id="rId12"/>
    <p:sldId id="1308" r:id="rId13"/>
    <p:sldId id="1309" r:id="rId14"/>
    <p:sldId id="1310" r:id="rId15"/>
    <p:sldId id="1316" r:id="rId16"/>
    <p:sldId id="1311" r:id="rId17"/>
    <p:sldId id="1312" r:id="rId18"/>
    <p:sldId id="1313" r:id="rId19"/>
    <p:sldId id="1314" r:id="rId20"/>
    <p:sldId id="1315" r:id="rId21"/>
    <p:sldId id="1211" r:id="rId22"/>
    <p:sldId id="1213" r:id="rId23"/>
    <p:sldId id="1214" r:id="rId24"/>
    <p:sldId id="1215" r:id="rId25"/>
    <p:sldId id="1216" r:id="rId26"/>
    <p:sldId id="1217" r:id="rId27"/>
    <p:sldId id="1218" r:id="rId28"/>
    <p:sldId id="1219" r:id="rId29"/>
    <p:sldId id="1220" r:id="rId30"/>
    <p:sldId id="1221" r:id="rId31"/>
    <p:sldId id="1222" r:id="rId32"/>
    <p:sldId id="1223" r:id="rId33"/>
    <p:sldId id="1224" r:id="rId34"/>
    <p:sldId id="1225" r:id="rId35"/>
    <p:sldId id="1180" r:id="rId36"/>
    <p:sldId id="1181" r:id="rId37"/>
    <p:sldId id="1182" r:id="rId38"/>
    <p:sldId id="1183" r:id="rId39"/>
    <p:sldId id="1184" r:id="rId40"/>
    <p:sldId id="1185" r:id="rId41"/>
    <p:sldId id="1186" r:id="rId42"/>
    <p:sldId id="1187" r:id="rId43"/>
    <p:sldId id="1188" r:id="rId44"/>
    <p:sldId id="1189" r:id="rId45"/>
    <p:sldId id="1190" r:id="rId46"/>
    <p:sldId id="1191" r:id="rId47"/>
    <p:sldId id="1192" r:id="rId48"/>
    <p:sldId id="1193" r:id="rId49"/>
    <p:sldId id="1194" r:id="rId50"/>
    <p:sldId id="1195" r:id="rId51"/>
    <p:sldId id="1196" r:id="rId52"/>
    <p:sldId id="1197" r:id="rId53"/>
    <p:sldId id="1198" r:id="rId54"/>
    <p:sldId id="1199" r:id="rId55"/>
    <p:sldId id="1200" r:id="rId56"/>
    <p:sldId id="1318" r:id="rId57"/>
    <p:sldId id="1319" r:id="rId58"/>
    <p:sldId id="1320" r:id="rId59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43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91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4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r">
              <a:defRPr sz="1200"/>
            </a:lvl1pPr>
          </a:lstStyle>
          <a:p>
            <a:fld id="{6E2CB153-45EF-48E8-99E9-7B97BED85BE4}" type="datetimeFigureOut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8" rIns="94778" bIns="4738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78" tIns="47388" rIns="94778" bIns="4738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r">
              <a:defRPr sz="1200"/>
            </a:lvl1pPr>
          </a:lstStyle>
          <a:p>
            <a:fld id="{5BE81944-C09D-40AD-A756-3B56302354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62025"/>
            <a:ext cx="5837237" cy="43767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93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57250"/>
            <a:ext cx="5875337" cy="440531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75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62025"/>
            <a:ext cx="5886450" cy="44148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3295">
              <a:defRPr/>
            </a:pP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466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17575"/>
            <a:ext cx="5867400" cy="4400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434473"/>
            <a:ext cx="5681980" cy="402987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다음은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17.5.13.180/28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네트워크 주소를 찾는 것인데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이것은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지정된 서브넷 마스크를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&amp;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연산자로  산출한 결과값으로 계산하면 되는데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결과값은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17.6.13.176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이 결과가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속해 있는 네트워크 주소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즉 그룹주소 인데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여기서 한번 더 정리해 보면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 경우 이것을 네트워크 주소라고 합니다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41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81025" y="777875"/>
            <a:ext cx="5803900" cy="43529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55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838200"/>
            <a:ext cx="5783262" cy="43370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487425" y="5434473"/>
            <a:ext cx="5681980" cy="4029879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defTabSz="943295">
              <a:defRPr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86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7863" y="781050"/>
            <a:ext cx="5826125" cy="4368800"/>
          </a:xfrm>
          <a:ln/>
        </p:spPr>
      </p:sp>
      <p:sp>
        <p:nvSpPr>
          <p:cNvPr id="403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0789" y="5474822"/>
            <a:ext cx="5681980" cy="1305610"/>
          </a:xfrm>
          <a:noFill/>
        </p:spPr>
        <p:txBody>
          <a:bodyPr/>
          <a:lstStyle/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address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32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비트체계로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 32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dot(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점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이용하여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비트씩 묶는다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1000" b="1" u="sng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비트로 묶여진 비트그룹을 옥텍이라 한다</a:t>
            </a:r>
            <a:r>
              <a:rPr lang="en-US" altLang="ko-KR" sz="1000" b="1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341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993775"/>
            <a:ext cx="5907087" cy="4429125"/>
          </a:xfrm>
          <a:ln/>
        </p:spPr>
      </p:sp>
      <p:sp>
        <p:nvSpPr>
          <p:cNvPr id="36659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>
              <a:latin typeface="굴림" charset="-127"/>
              <a:ea typeface="굴림" charset="-127"/>
            </a:endParaRPr>
          </a:p>
          <a:p>
            <a:pPr eaLnBrk="1" hangingPunct="1"/>
            <a:endParaRPr lang="en-US" altLang="ko-KR" dirty="0">
              <a:latin typeface="굴림" charset="-127"/>
              <a:ea typeface="굴림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529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7"/>
          <p:cNvSpPr txBox="1">
            <a:spLocks noGrp="1" noChangeArrowheads="1"/>
          </p:cNvSpPr>
          <p:nvPr/>
        </p:nvSpPr>
        <p:spPr bwMode="auto">
          <a:xfrm>
            <a:off x="3551238" y="9282383"/>
            <a:ext cx="3185343" cy="57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687" tIns="48843" rIns="97687" bIns="48843" anchor="b"/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08A94E42-4F88-4CAC-8967-0CB61595D241}" type="slidenum">
              <a:rPr lang="ko-KR" altLang="en-US" sz="1000">
                <a:latin typeface="Times New Roman" pitchFamily="18" charset="0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23</a:t>
            </a:fld>
            <a:endParaRPr lang="en-US" altLang="ko-KR" sz="1000" dirty="0">
              <a:latin typeface="Times New Roman" pitchFamily="18" charset="0"/>
            </a:endParaRPr>
          </a:p>
        </p:txBody>
      </p:sp>
      <p:sp>
        <p:nvSpPr>
          <p:cNvPr id="403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5963" y="915988"/>
            <a:ext cx="5729287" cy="4295775"/>
          </a:xfrm>
          <a:ln/>
        </p:spPr>
      </p:sp>
    </p:spTree>
    <p:extLst>
      <p:ext uri="{BB962C8B-B14F-4D97-AF65-F5344CB8AC3E}">
        <p14:creationId xmlns:p14="http://schemas.microsoft.com/office/powerpoint/2010/main" val="1208557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15988"/>
            <a:ext cx="5826125" cy="4368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479783"/>
            <a:ext cx="5681980" cy="959495"/>
          </a:xfrm>
        </p:spPr>
        <p:txBody>
          <a:bodyPr/>
          <a:lstStyle/>
          <a:p>
            <a:pPr defTabSz="943295">
              <a:defRPr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주소는 총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Class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구분되며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 번째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octet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값에 따라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클래스를 정의한다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defTabSz="943295">
              <a:defRPr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878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50863" y="915988"/>
            <a:ext cx="5915025" cy="4435475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497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62025"/>
            <a:ext cx="5864225" cy="439896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118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7"/>
          <p:cNvSpPr txBox="1">
            <a:spLocks noGrp="1" noChangeArrowheads="1"/>
          </p:cNvSpPr>
          <p:nvPr/>
        </p:nvSpPr>
        <p:spPr bwMode="auto">
          <a:xfrm>
            <a:off x="3676189" y="9296812"/>
            <a:ext cx="3185343" cy="573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687" tIns="48843" rIns="97687" bIns="48843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04808CD3-0882-494B-BB93-27098693FA7D}" type="slidenum">
              <a:rPr kumimoji="1"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27</a:t>
            </a:fld>
            <a:endParaRPr kumimoji="1"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877888"/>
            <a:ext cx="5462588" cy="4097337"/>
          </a:xfrm>
          <a:ln/>
        </p:spPr>
      </p:sp>
      <p:sp>
        <p:nvSpPr>
          <p:cNvPr id="411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975" y="5080093"/>
            <a:ext cx="5392429" cy="206281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클래스별로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마스크는 다르다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클래스의 서브넷마스크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255.0.0.0 </a:t>
            </a:r>
          </a:p>
          <a:p>
            <a:pPr marL="176868" indent="-176868" defTabSz="94329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클래스의 서브넷마스크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255.255.0.0</a:t>
            </a:r>
            <a:endParaRPr lang="ko-KR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6868" indent="-176868" defTabSz="94329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클래스의 서브넷마스크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255.255.255.0 </a:t>
            </a:r>
          </a:p>
          <a:p>
            <a:pPr defTabSz="943295">
              <a:lnSpc>
                <a:spcPct val="150000"/>
              </a:lnSpc>
              <a:defRPr/>
            </a:pPr>
            <a:endParaRPr lang="en-US" altLang="ko-KR" dirty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3326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73125"/>
            <a:ext cx="5656262" cy="4241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434473"/>
            <a:ext cx="5681980" cy="4029879"/>
          </a:xfrm>
        </p:spPr>
        <p:txBody>
          <a:bodyPr/>
          <a:lstStyle/>
          <a:p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주소는 호스트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endParaRPr lang="en-US" altLang="ko-KR" baseline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279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62025"/>
            <a:ext cx="5656262" cy="4241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273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68350" y="877888"/>
            <a:ext cx="5616575" cy="42116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245239"/>
            <a:ext cx="5681980" cy="4029879"/>
          </a:xfrm>
        </p:spPr>
        <p:txBody>
          <a:bodyPr/>
          <a:lstStyle/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Limited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브로드캐스트주소는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네트워크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비트와 호스트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주소이다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진수로 표현하면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255.255.255.255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Limited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브로드캐스트주소는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DHCP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같은 특정 네트워크 업무를 처리하기 위해 사용된다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baseline="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272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12825" y="941388"/>
            <a:ext cx="5313363" cy="3984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202595"/>
            <a:ext cx="5681980" cy="4029879"/>
          </a:xfrm>
        </p:spPr>
        <p:txBody>
          <a:bodyPr/>
          <a:lstStyle/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Direct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브로드캐스트주소는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네트워크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비트는 그대로 두고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변환시켜 놓은 주소이다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예를 들어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172.16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대한 브로드캐스트 주소는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172.16.255.255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192.168.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 주소는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192.168.1.255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endParaRPr lang="ko-KR" altLang="en-US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360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30250" y="703263"/>
            <a:ext cx="5653088" cy="42402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22530" y="5223917"/>
            <a:ext cx="5681980" cy="402987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승에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뺴는데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-2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주소는 네트워크 주소와 브로드캐스트로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주소와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브로드캐스트는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컴퓨터의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할당 불가능한 주소이다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호스트 비트의 수로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 호스트비트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24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 호스트 비트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16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클래의 호스트 비트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145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5963" y="796925"/>
            <a:ext cx="5815012" cy="4360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871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58850"/>
            <a:ext cx="5762625" cy="4321175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0945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30250" y="879475"/>
            <a:ext cx="5778500" cy="4333875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861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6763" y="938213"/>
            <a:ext cx="5707062" cy="4279900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224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17575"/>
            <a:ext cx="5781675" cy="433705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327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796925"/>
            <a:ext cx="5762625" cy="432276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6989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17575"/>
            <a:ext cx="5762625" cy="432276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855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17563"/>
            <a:ext cx="5711825" cy="42830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65954" y="5326765"/>
            <a:ext cx="5681980" cy="673528"/>
          </a:xfrm>
        </p:spPr>
        <p:txBody>
          <a:bodyPr/>
          <a:lstStyle/>
          <a:p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기존 그룹에서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그룹수를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늘리고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 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포함되는 </a:t>
            </a:r>
            <a:r>
              <a:rPr lang="ko-KR" altLang="en-US" sz="100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호스트수를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줄이는 것을 서브넷팅한다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787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62025"/>
            <a:ext cx="5837237" cy="43767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51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38200"/>
            <a:ext cx="5781675" cy="433705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7709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0400" y="898525"/>
            <a:ext cx="5905500" cy="4429125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4267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1038225"/>
            <a:ext cx="5819775" cy="4364038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12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98525"/>
            <a:ext cx="5726112" cy="4294188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649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738188"/>
            <a:ext cx="5867400" cy="4400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434473"/>
            <a:ext cx="5681980" cy="4029879"/>
          </a:xfrm>
        </p:spPr>
        <p:txBody>
          <a:bodyPr/>
          <a:lstStyle/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그림은 하나의 그룹을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개로 분할하고 분할된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그룹마다의 네트워크 주소와 브로드캐스트 주소를 나타낸 것이다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해당 주소들을 계산시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서브넷팅에서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bit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변경하지 않고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비트를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변환하면 해당 주소는 해당 그룹의 네트워크 주소가 되며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변환하면 해당 주소는 해당 그룹의 브로드캐스트 주소이다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각 망에서의 네트워크주소와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주소를 제외하면 해당 망에서 호스트들에게 할당 가능한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범위를 산출 할 수 있다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또한 생성된 그룹간에는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브로트캐스트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전송이 불가능하다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defTabSz="943295">
              <a:lnSpc>
                <a:spcPct val="150000"/>
              </a:lnSpc>
              <a:defRPr/>
            </a:pPr>
            <a:endParaRPr lang="en-US" altLang="ko-KR" baseline="0" dirty="0"/>
          </a:p>
          <a:p>
            <a:pPr defTabSz="943295">
              <a:lnSpc>
                <a:spcPct val="150000"/>
              </a:lnSpc>
              <a:defRPr/>
            </a:pPr>
            <a:endParaRPr lang="en-US" altLang="ko-KR" baseline="0" dirty="0"/>
          </a:p>
          <a:p>
            <a:pPr defTabSz="943295">
              <a:lnSpc>
                <a:spcPct val="150000"/>
              </a:lnSpc>
              <a:defRPr/>
            </a:pPr>
            <a:r>
              <a:rPr lang="en-US" altLang="ko-KR" baseline="0" dirty="0"/>
              <a:t>  </a:t>
            </a:r>
          </a:p>
          <a:p>
            <a:pPr defTabSz="943295">
              <a:lnSpc>
                <a:spcPct val="150000"/>
              </a:lnSpc>
              <a:defRPr/>
            </a:pPr>
            <a:r>
              <a:rPr lang="en-US" altLang="ko-KR" baseline="0" dirty="0"/>
              <a:t>,  </a:t>
            </a:r>
          </a:p>
          <a:p>
            <a:pPr>
              <a:lnSpc>
                <a:spcPct val="150000"/>
              </a:lnSpc>
            </a:pPr>
            <a:endParaRPr lang="en-US" altLang="ko-KR" baseline="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301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6925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클래스 대역대를 사용하는 하나의 네트워크를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서브넷트워크로 분할 시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4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그룹주소와 호스트에게 할당한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나타낸 것이다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marL="176868" indent="-17686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네트워크주소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CIDR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표기법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그리고 브로드캐스트 주소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분할된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망에서의 </a:t>
            </a:r>
            <a:r>
              <a:rPr lang="ko-KR" altLang="en-US" sz="1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사용가능한</a:t>
            </a: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주소들이다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endParaRPr lang="ko-KR" altLang="en-US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3659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1688" y="1036638"/>
            <a:ext cx="5729287" cy="4295775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0027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857250"/>
            <a:ext cx="5875337" cy="4405313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3993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62025"/>
            <a:ext cx="5886450" cy="44148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3295">
              <a:defRPr/>
            </a:pP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2907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17575"/>
            <a:ext cx="5867400" cy="44005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10248" y="5434473"/>
            <a:ext cx="5681980" cy="402987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다음은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17.5.13.180/28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네트워크 주소를 찾는 것인데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이것은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지정된 서브넷 마스크를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&amp;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연산자로  산출한 결과값으로 계산하면 되는데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결과값은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17.6.13.176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이 결과가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속해 있는 네트워크 주소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즉 그룹주소 인데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여기서 한번 더 정리해 보면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 경우 이것을 네트워크 주소라고 합니다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604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81025" y="777875"/>
            <a:ext cx="5803900" cy="43529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32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79438" y="838200"/>
            <a:ext cx="5783262" cy="43370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487425" y="5434473"/>
            <a:ext cx="5681980" cy="4029879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defTabSz="943295">
              <a:defRPr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539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28663" y="958850"/>
            <a:ext cx="5800725" cy="4349750"/>
          </a:xfrm>
        </p:spPr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56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7550" y="960438"/>
            <a:ext cx="5667375" cy="42497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71648" lvl="1">
              <a:lnSpc>
                <a:spcPct val="150000"/>
              </a:lnSpc>
            </a:pP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471648" lvl="1">
              <a:lnSpc>
                <a:spcPct val="150000"/>
              </a:lnSpc>
            </a:pP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0493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7"/>
          <p:cNvSpPr txBox="1">
            <a:spLocks noGrp="1" noChangeArrowheads="1"/>
          </p:cNvSpPr>
          <p:nvPr/>
        </p:nvSpPr>
        <p:spPr bwMode="auto">
          <a:xfrm>
            <a:off x="4025400" y="9722559"/>
            <a:ext cx="3077076" cy="512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671" tIns="45334" rIns="90671" bIns="45334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40C8EF4B-C631-42AF-A9D2-2AA7D1DE6BD7}" type="slidenum">
              <a:rPr kumimoji="1" lang="en-US" altLang="ko-KR" sz="1100">
                <a:latin typeface="Tahoma" pitchFamily="34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57</a:t>
            </a:fld>
            <a:endParaRPr kumimoji="1" lang="en-US" altLang="ko-KR" sz="1100" dirty="0">
              <a:latin typeface="Tahoma" pitchFamily="34" charset="0"/>
            </a:endParaRPr>
          </a:p>
        </p:txBody>
      </p:sp>
      <p:sp>
        <p:nvSpPr>
          <p:cNvPr id="416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6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67" y="4862100"/>
            <a:ext cx="5209144" cy="4605249"/>
          </a:xfrm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8464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/>
          <p:cNvSpPr txBox="1">
            <a:spLocks noGrp="1" noChangeArrowheads="1"/>
          </p:cNvSpPr>
          <p:nvPr/>
        </p:nvSpPr>
        <p:spPr bwMode="auto">
          <a:xfrm>
            <a:off x="4025400" y="9722559"/>
            <a:ext cx="3077076" cy="512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671" tIns="45334" rIns="90671" bIns="45334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51123F9A-A949-490C-ABEF-26396D998073}" type="slidenum">
              <a:rPr kumimoji="1" lang="en-US" altLang="ko-KR" sz="1100">
                <a:latin typeface="Tahoma" pitchFamily="34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58</a:t>
            </a:fld>
            <a:endParaRPr kumimoji="1" lang="en-US" altLang="ko-KR" sz="1100" dirty="0">
              <a:latin typeface="Tahoma" pitchFamily="34" charset="0"/>
            </a:endParaRPr>
          </a:p>
        </p:txBody>
      </p:sp>
      <p:sp>
        <p:nvSpPr>
          <p:cNvPr id="417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667" y="4862100"/>
            <a:ext cx="5209144" cy="4605249"/>
          </a:xfrm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03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A357-EC05-453C-BB93-D2CD92805FB3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4A6AC-2825-4550-B24C-BE85D5A5CCD7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07D1-F386-4842-A375-88F78000DE4E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1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D8-0AFE-4389-9C4F-B247F77E85F4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7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212-090F-4B69-906A-B3CA2BC375ED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26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9AD-719E-4E93-A824-218E0CF9AC3C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28467" y="6356350"/>
            <a:ext cx="2057400" cy="365125"/>
          </a:xfrm>
        </p:spPr>
        <p:txBody>
          <a:bodyPr/>
          <a:lstStyle>
            <a:lvl1pPr>
              <a:defRPr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66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DB05-76DA-4D3A-B078-A583FFDA815D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4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137E-2B0C-4B41-8C2A-0B2B77A08D38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4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AB2C-6FD1-4AD7-B691-D0A8C430C56C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6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29C-B6B2-4F43-A100-EC86E6AEFEE7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58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1C48-D382-4608-8EFC-759E9CA4DA3F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1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7525" y="92075"/>
            <a:ext cx="6448425" cy="3730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28625" y="971550"/>
            <a:ext cx="4067175" cy="55324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71550"/>
            <a:ext cx="4067175" cy="55324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938588" y="6538913"/>
            <a:ext cx="1295400" cy="24606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4870C-26EA-48E6-B006-78871CD704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6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58F3C-ACF1-481F-A305-7EE0320343A1}" type="datetime1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7445" y="63219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44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file:///E:\wonsuk\secure.pe.kr\instruction\tcpip\ipaddressing32.jpg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file:///E:\wonsuk\secure.pe.kr\instruction\tcpip\ipaddressing33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96153" y="418634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IPv4 Address</a:t>
            </a:r>
            <a:endParaRPr lang="ko-KR" altLang="en-US" sz="4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28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6888" y="62290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( 1 1 0 0 1 0 0 0 )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(        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( 1 0 1 1 0 0 1 0 )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35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71351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(172)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(        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(100)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(          )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6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3937" y="680566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Classful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94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0985" y="416955"/>
            <a:ext cx="8103457" cy="62062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6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X. Y. Z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class (1~126)            10.10.10.10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class (128~191)        172.16.10.10 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class (192~223)        192.168.10.10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class (224~239)        230.10.10.10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ko-K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class (240~255)        241.10.10.10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27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1514" y="480778"/>
            <a:ext cx="8474162" cy="6206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class (1~126)    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X. Y.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 </a:t>
            </a: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class (128~191) 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Y. Z  </a:t>
            </a: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class (192~223) 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X. Y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Z  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2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1514" y="480778"/>
            <a:ext cx="8474162" cy="6206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class (1~126)   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X. Y.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    255.0.0.0             /8</a:t>
            </a: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class (128~191)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Y. Z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255.255.0.0         /16</a:t>
            </a: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class (192~223)      </a:t>
            </a:r>
            <a:r>
              <a:rPr lang="en-US" altLang="ko-KR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X. Y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Z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255.255.255.0    /24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641" y="597937"/>
            <a:ext cx="8255977" cy="529003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255.0.0.0    → </a:t>
            </a:r>
            <a:r>
              <a:rPr lang="en-US" altLang="ko-KR" sz="2400" u="sng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1111 1111.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0000 0000.0000 0000.0000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 →  /8</a:t>
            </a: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255.255.0.0 → </a:t>
            </a:r>
            <a:r>
              <a:rPr lang="en-US" altLang="ko-KR" sz="2400" u="sng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1111 1111.1111 1111.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0000 0000.0000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 →  /16</a:t>
            </a: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255.255.255.0 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→ </a:t>
            </a:r>
            <a:r>
              <a:rPr lang="en-US" altLang="ko-KR" sz="2400" u="sng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1111 1111.1111 1111.1111 1111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.0000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 →  /24</a:t>
            </a: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ko-KR" altLang="en-US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ko-KR" altLang="en-US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89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9752" y="39224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09899"/>
              </p:ext>
            </p:extLst>
          </p:nvPr>
        </p:nvGraphicFramePr>
        <p:xfrm>
          <a:off x="4300150" y="1542540"/>
          <a:ext cx="4198724" cy="3820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9362"/>
                <a:gridCol w="2099362"/>
              </a:tblGrid>
              <a:tr h="191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1014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46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9752" y="39224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249461"/>
              </p:ext>
            </p:extLst>
          </p:nvPr>
        </p:nvGraphicFramePr>
        <p:xfrm>
          <a:off x="3805878" y="1468399"/>
          <a:ext cx="5108966" cy="4759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4483"/>
                <a:gridCol w="2554483"/>
              </a:tblGrid>
              <a:tr h="23797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192.168.1.0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192.168.1.64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379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192.168.1.128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192.168.1.192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9752" y="392240"/>
            <a:ext cx="7886700" cy="5929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  <a:endParaRPr lang="en-US" altLang="ko-K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61308"/>
              </p:ext>
            </p:extLst>
          </p:nvPr>
        </p:nvGraphicFramePr>
        <p:xfrm>
          <a:off x="3072714" y="1237739"/>
          <a:ext cx="5842131" cy="505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7598"/>
                <a:gridCol w="2994533"/>
              </a:tblGrid>
              <a:tr h="2371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192.168.1.0  ~  192.168.1.63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192.168.1.64  ~  192.168.1.127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3714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192.168.1.128 ~ 192.168.1.191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192.168.1.192 ~ 192.168.1.255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67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9752" y="392240"/>
            <a:ext cx="7886700" cy="5929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000000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  <a:endParaRPr lang="en-US" altLang="ko-K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</a:t>
            </a: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94589"/>
              </p:ext>
            </p:extLst>
          </p:nvPr>
        </p:nvGraphicFramePr>
        <p:xfrm>
          <a:off x="3072714" y="1237739"/>
          <a:ext cx="5842131" cy="505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7598"/>
                <a:gridCol w="2994533"/>
              </a:tblGrid>
              <a:tr h="2371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192.168.1.0  ~  192.168.1.63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192.168.1.64  ~  192.168.1.127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3714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192.168.1.128 ~ 192.168.1.191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192.168.1.192 ~ 192.168.1.255</a:t>
                      </a:r>
                      <a:endParaRPr lang="ko-KR" altLang="en-US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endParaRPr lang="en-US" altLang="ko-KR" sz="1600" b="1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 flipH="1">
            <a:off x="3302579" y="1902950"/>
            <a:ext cx="519778" cy="518975"/>
            <a:chOff x="809159" y="4814047"/>
            <a:chExt cx="688975" cy="745367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116463" y="2515390"/>
            <a:ext cx="915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</a:t>
            </a:r>
            <a:endParaRPr lang="ko-KR" altLang="en-US" sz="1200" dirty="0"/>
          </a:p>
        </p:txBody>
      </p:sp>
      <p:grpSp>
        <p:nvGrpSpPr>
          <p:cNvPr id="59" name="그룹 58"/>
          <p:cNvGrpSpPr/>
          <p:nvPr/>
        </p:nvGrpSpPr>
        <p:grpSpPr>
          <a:xfrm flipH="1">
            <a:off x="4965635" y="1901116"/>
            <a:ext cx="519778" cy="518975"/>
            <a:chOff x="809159" y="4814047"/>
            <a:chExt cx="688975" cy="745367"/>
          </a:xfrm>
        </p:grpSpPr>
        <p:sp>
          <p:nvSpPr>
            <p:cNvPr id="6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2" name="직사각형 111"/>
          <p:cNvSpPr/>
          <p:nvPr/>
        </p:nvSpPr>
        <p:spPr>
          <a:xfrm>
            <a:off x="4779519" y="2513556"/>
            <a:ext cx="9925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192.168.1.62</a:t>
            </a:r>
            <a:endParaRPr lang="ko-KR" altLang="en-US" sz="1200" dirty="0"/>
          </a:p>
        </p:txBody>
      </p:sp>
      <p:sp>
        <p:nvSpPr>
          <p:cNvPr id="113" name="TextBox 112"/>
          <p:cNvSpPr txBox="1"/>
          <p:nvPr/>
        </p:nvSpPr>
        <p:spPr>
          <a:xfrm>
            <a:off x="4141775" y="1949572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…….</a:t>
            </a:r>
            <a:endParaRPr lang="ko-KR" altLang="en-US" dirty="0"/>
          </a:p>
        </p:txBody>
      </p:sp>
      <p:grpSp>
        <p:nvGrpSpPr>
          <p:cNvPr id="114" name="그룹 113"/>
          <p:cNvGrpSpPr/>
          <p:nvPr/>
        </p:nvGrpSpPr>
        <p:grpSpPr>
          <a:xfrm flipH="1">
            <a:off x="6303222" y="1902950"/>
            <a:ext cx="519778" cy="518975"/>
            <a:chOff x="809159" y="4814047"/>
            <a:chExt cx="688975" cy="745367"/>
          </a:xfrm>
        </p:grpSpPr>
        <p:sp>
          <p:nvSpPr>
            <p:cNvPr id="11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6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7" name="직사각형 166"/>
          <p:cNvSpPr/>
          <p:nvPr/>
        </p:nvSpPr>
        <p:spPr>
          <a:xfrm>
            <a:off x="6117106" y="2515390"/>
            <a:ext cx="9925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192.168.1.65</a:t>
            </a:r>
            <a:endParaRPr lang="ko-KR" altLang="en-US" sz="1200" dirty="0"/>
          </a:p>
        </p:txBody>
      </p:sp>
      <p:grpSp>
        <p:nvGrpSpPr>
          <p:cNvPr id="168" name="그룹 167"/>
          <p:cNvGrpSpPr/>
          <p:nvPr/>
        </p:nvGrpSpPr>
        <p:grpSpPr>
          <a:xfrm flipH="1">
            <a:off x="7966278" y="1901116"/>
            <a:ext cx="519778" cy="518975"/>
            <a:chOff x="809159" y="4814047"/>
            <a:chExt cx="688975" cy="745367"/>
          </a:xfrm>
        </p:grpSpPr>
        <p:sp>
          <p:nvSpPr>
            <p:cNvPr id="169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1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0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1" name="직사각형 220"/>
          <p:cNvSpPr/>
          <p:nvPr/>
        </p:nvSpPr>
        <p:spPr>
          <a:xfrm>
            <a:off x="7780162" y="2513556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192.168.1.126</a:t>
            </a:r>
            <a:endParaRPr lang="ko-KR" altLang="en-US" sz="1200" dirty="0"/>
          </a:p>
        </p:txBody>
      </p:sp>
      <p:sp>
        <p:nvSpPr>
          <p:cNvPr id="222" name="TextBox 221"/>
          <p:cNvSpPr txBox="1"/>
          <p:nvPr/>
        </p:nvSpPr>
        <p:spPr>
          <a:xfrm>
            <a:off x="7142418" y="1949572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…….</a:t>
            </a:r>
            <a:endParaRPr lang="ko-KR" altLang="en-US" dirty="0"/>
          </a:p>
        </p:txBody>
      </p:sp>
      <p:grpSp>
        <p:nvGrpSpPr>
          <p:cNvPr id="223" name="그룹 222"/>
          <p:cNvGrpSpPr/>
          <p:nvPr/>
        </p:nvGrpSpPr>
        <p:grpSpPr>
          <a:xfrm flipH="1">
            <a:off x="3375347" y="4524693"/>
            <a:ext cx="519778" cy="518975"/>
            <a:chOff x="809159" y="4814047"/>
            <a:chExt cx="688975" cy="745367"/>
          </a:xfrm>
        </p:grpSpPr>
        <p:sp>
          <p:nvSpPr>
            <p:cNvPr id="22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6" name="직사각형 275"/>
          <p:cNvSpPr/>
          <p:nvPr/>
        </p:nvSpPr>
        <p:spPr>
          <a:xfrm>
            <a:off x="3189231" y="5137133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192.168.1.129</a:t>
            </a:r>
            <a:endParaRPr lang="ko-KR" altLang="en-US" sz="1200" dirty="0"/>
          </a:p>
        </p:txBody>
      </p:sp>
      <p:grpSp>
        <p:nvGrpSpPr>
          <p:cNvPr id="277" name="그룹 276"/>
          <p:cNvGrpSpPr/>
          <p:nvPr/>
        </p:nvGrpSpPr>
        <p:grpSpPr>
          <a:xfrm flipH="1">
            <a:off x="5038403" y="4522859"/>
            <a:ext cx="519778" cy="518975"/>
            <a:chOff x="809159" y="4814047"/>
            <a:chExt cx="688975" cy="745367"/>
          </a:xfrm>
        </p:grpSpPr>
        <p:sp>
          <p:nvSpPr>
            <p:cNvPr id="27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5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1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2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1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30" name="직사각형 329"/>
          <p:cNvSpPr/>
          <p:nvPr/>
        </p:nvSpPr>
        <p:spPr>
          <a:xfrm>
            <a:off x="4752208" y="5135299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192.168.1.190</a:t>
            </a:r>
            <a:endParaRPr lang="ko-KR" altLang="en-US" sz="1200" dirty="0"/>
          </a:p>
        </p:txBody>
      </p:sp>
      <p:sp>
        <p:nvSpPr>
          <p:cNvPr id="331" name="TextBox 330"/>
          <p:cNvSpPr txBox="1"/>
          <p:nvPr/>
        </p:nvSpPr>
        <p:spPr>
          <a:xfrm>
            <a:off x="4214543" y="457131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…….</a:t>
            </a:r>
            <a:endParaRPr lang="ko-KR" altLang="en-US" dirty="0"/>
          </a:p>
        </p:txBody>
      </p:sp>
      <p:grpSp>
        <p:nvGrpSpPr>
          <p:cNvPr id="332" name="그룹 331"/>
          <p:cNvGrpSpPr/>
          <p:nvPr/>
        </p:nvGrpSpPr>
        <p:grpSpPr>
          <a:xfrm flipH="1">
            <a:off x="6309049" y="4526804"/>
            <a:ext cx="519778" cy="518975"/>
            <a:chOff x="809159" y="4814047"/>
            <a:chExt cx="688975" cy="745367"/>
          </a:xfrm>
        </p:grpSpPr>
        <p:sp>
          <p:nvSpPr>
            <p:cNvPr id="333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4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5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6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7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8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9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0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1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2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3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4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5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6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7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7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8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7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85" name="직사각형 384"/>
          <p:cNvSpPr/>
          <p:nvPr/>
        </p:nvSpPr>
        <p:spPr>
          <a:xfrm>
            <a:off x="5979286" y="5139244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192.168.1.193</a:t>
            </a:r>
            <a:endParaRPr lang="ko-KR" altLang="en-US" sz="1200" dirty="0"/>
          </a:p>
        </p:txBody>
      </p:sp>
      <p:grpSp>
        <p:nvGrpSpPr>
          <p:cNvPr id="386" name="그룹 385"/>
          <p:cNvGrpSpPr/>
          <p:nvPr/>
        </p:nvGrpSpPr>
        <p:grpSpPr>
          <a:xfrm flipH="1">
            <a:off x="7972105" y="4524970"/>
            <a:ext cx="519778" cy="518975"/>
            <a:chOff x="809159" y="4814047"/>
            <a:chExt cx="688975" cy="745367"/>
          </a:xfrm>
        </p:grpSpPr>
        <p:sp>
          <p:nvSpPr>
            <p:cNvPr id="38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5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2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3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2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9" name="직사각형 438"/>
          <p:cNvSpPr/>
          <p:nvPr/>
        </p:nvSpPr>
        <p:spPr>
          <a:xfrm>
            <a:off x="7628632" y="5143975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192.168.1.254</a:t>
            </a:r>
            <a:endParaRPr lang="ko-KR" altLang="en-US" sz="1200" dirty="0"/>
          </a:p>
        </p:txBody>
      </p:sp>
      <p:sp>
        <p:nvSpPr>
          <p:cNvPr id="440" name="TextBox 439"/>
          <p:cNvSpPr txBox="1"/>
          <p:nvPr/>
        </p:nvSpPr>
        <p:spPr>
          <a:xfrm>
            <a:off x="7148245" y="457342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…….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47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9752" y="39224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192.168.1.0/27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바탕체" panose="02030609000101010101" pitchFamily="17" charset="-127"/>
                <a:ea typeface="바탕체" panose="02030609000101010101" pitchFamily="17" charset="-127"/>
                <a:cs typeface="Times New Roman" panose="02020603050405020304" pitchFamily="18" charset="0"/>
                <a:sym typeface="Wingdings" panose="05000000000000000000" pitchFamily="2" charset="2"/>
              </a:rPr>
              <a:t>인 경우</a:t>
            </a:r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바탕체" panose="02030609000101010101" pitchFamily="17" charset="-127"/>
                <a:ea typeface="바탕체" panose="02030609000101010101" pitchFamily="17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ko-KR" dirty="0" smtClean="0">
              <a:latin typeface="바탕체" panose="02030609000101010101" pitchFamily="17" charset="-127"/>
              <a:ea typeface="바탕체" panose="02030609000101010101" pitchFamily="17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83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4952" y="31810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192.168.1.0/27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바탕체" panose="02030609000101010101" pitchFamily="17" charset="-127"/>
                <a:ea typeface="바탕체" panose="02030609000101010101" pitchFamily="17" charset="-127"/>
                <a:cs typeface="Times New Roman" panose="02020603050405020304" pitchFamily="18" charset="0"/>
                <a:sym typeface="Wingdings" panose="05000000000000000000" pitchFamily="2" charset="2"/>
              </a:rPr>
              <a:t>인 경우</a:t>
            </a:r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바탕체" panose="02030609000101010101" pitchFamily="17" charset="-127"/>
                <a:ea typeface="바탕체" panose="02030609000101010101" pitchFamily="17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ko-KR" dirty="0" smtClean="0">
              <a:latin typeface="바탕체" panose="02030609000101010101" pitchFamily="17" charset="-127"/>
              <a:ea typeface="바탕체" panose="02030609000101010101" pitchFamily="17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59954"/>
              </p:ext>
            </p:extLst>
          </p:nvPr>
        </p:nvGraphicFramePr>
        <p:xfrm>
          <a:off x="159092" y="1125145"/>
          <a:ext cx="8861340" cy="5069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5335"/>
                <a:gridCol w="2215335"/>
                <a:gridCol w="2215335"/>
                <a:gridCol w="2215335"/>
              </a:tblGrid>
              <a:tr h="25348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3485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67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95416" y="749642"/>
            <a:ext cx="31598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192.168.   1.10</a:t>
            </a:r>
          </a:p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255.255.255.0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04799" y="1826860"/>
            <a:ext cx="3250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33102" y="749642"/>
            <a:ext cx="35549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192      1100 0000</a:t>
            </a:r>
          </a:p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255      1111 1111</a:t>
            </a:r>
            <a:b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4333102" y="1826860"/>
            <a:ext cx="3641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03485" y="1826860"/>
            <a:ext cx="1913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1100 0000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1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7685" y="646025"/>
            <a:ext cx="7886700" cy="1223597"/>
          </a:xfrm>
        </p:spPr>
        <p:txBody>
          <a:bodyPr>
            <a:normAutofit/>
          </a:bodyPr>
          <a:lstStyle/>
          <a:p>
            <a:r>
              <a:rPr lang="ko-KR" altLang="en-US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연습 문제 </a:t>
            </a:r>
            <a:r>
              <a:rPr lang="en-US" altLang="ko-KR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1. </a:t>
            </a:r>
            <a:endParaRPr lang="ko-KR" altLang="en-US" sz="3323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079" y="1690689"/>
            <a:ext cx="6086665" cy="8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 </a:t>
            </a:r>
            <a:r>
              <a:rPr lang="ko-KR" altLang="en-US" sz="2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일 때 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5842" y="2376440"/>
            <a:ext cx="74331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➀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10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 서브넷 </a:t>
            </a: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마스크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➁ 네트워크 주소 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➂ </a:t>
            </a:r>
            <a:r>
              <a:rPr lang="ko-KR" altLang="en-US" sz="2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 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➃ 17.7.13.180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해당 네트워크에 몇 번째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인가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3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873" y="577724"/>
            <a:ext cx="8455269" cy="870438"/>
          </a:xfrm>
        </p:spPr>
        <p:txBody>
          <a:bodyPr>
            <a:noAutofit/>
          </a:bodyPr>
          <a:lstStyle/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➀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진수 형태의 서브넷 마스크</a:t>
            </a:r>
            <a:endParaRPr lang="en-US" altLang="ko-KR" sz="2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6515798" y="2068710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8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1111 1111. 1111 1111. 1111 1111.</a:t>
            </a:r>
            <a:r>
              <a:rPr lang="en-US" altLang="ko-K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0000</a:t>
            </a:r>
          </a:p>
        </p:txBody>
      </p:sp>
      <p:sp>
        <p:nvSpPr>
          <p:cNvPr id="42" name="Rectangle 49"/>
          <p:cNvSpPr>
            <a:spLocks noChangeArrowheads="1"/>
          </p:cNvSpPr>
          <p:nvPr/>
        </p:nvSpPr>
        <p:spPr bwMode="auto">
          <a:xfrm>
            <a:off x="4440721" y="3244719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255.255.255.240</a:t>
            </a:r>
          </a:p>
        </p:txBody>
      </p:sp>
      <p:sp>
        <p:nvSpPr>
          <p:cNvPr id="2" name="아래쪽 화살표 1"/>
          <p:cNvSpPr/>
          <p:nvPr/>
        </p:nvSpPr>
        <p:spPr>
          <a:xfrm>
            <a:off x="4285738" y="2440184"/>
            <a:ext cx="309966" cy="498796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97521" y="3822384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또는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6222" y="4250935"/>
            <a:ext cx="5720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/28 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➝ 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/24 +4    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➝ 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255.255.255.240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82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5563200" y="4511330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52619" y="683284"/>
            <a:ext cx="7345973" cy="871903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en-US" altLang="ko-KR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➁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네트워크 주소</a:t>
            </a:r>
            <a:endParaRPr lang="en-US" altLang="ko-KR" sz="2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419998" y="2136434"/>
            <a:ext cx="2117725" cy="1938992"/>
          </a:xfrm>
          <a:prstGeom prst="rect">
            <a:avLst/>
          </a:prstGeom>
          <a:solidFill>
            <a:srgbClr val="99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r>
              <a:rPr lang="en-US" altLang="ko-KR" sz="2000"/>
              <a:t> </a:t>
            </a:r>
            <a:r>
              <a:rPr lang="en-US" altLang="ko-KR" sz="2000" u="sng">
                <a:latin typeface="Arial" charset="0"/>
              </a:rPr>
              <a:t>Host </a:t>
            </a:r>
            <a:r>
              <a:rPr lang="ko-KR" altLang="en-US" sz="2000" u="sng">
                <a:latin typeface="Arial" charset="0"/>
              </a:rPr>
              <a:t>주소</a:t>
            </a:r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en-US" altLang="ko-KR" sz="2000"/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4088545" y="4511332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auto">
          <a:xfrm>
            <a:off x="4564960" y="4592298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5</a:t>
            </a: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2623449" y="4511334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6984310" y="4511334"/>
            <a:ext cx="1465263" cy="457200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3021910" y="4592298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17</a:t>
            </a:r>
          </a:p>
        </p:txBody>
      </p:sp>
      <p:sp>
        <p:nvSpPr>
          <p:cNvPr id="13" name="Line 47"/>
          <p:cNvSpPr>
            <a:spLocks noChangeShapeType="1"/>
          </p:cNvSpPr>
          <p:nvPr/>
        </p:nvSpPr>
        <p:spPr bwMode="auto">
          <a:xfrm>
            <a:off x="2688535" y="3754097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2648849" y="2797617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2588524" y="3311185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17" name="Rectangle 51"/>
          <p:cNvSpPr>
            <a:spLocks noChangeArrowheads="1"/>
          </p:cNvSpPr>
          <p:nvPr/>
        </p:nvSpPr>
        <p:spPr bwMode="auto">
          <a:xfrm>
            <a:off x="4147181" y="2796835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4102999" y="3311185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20" name="Rectangle 54"/>
          <p:cNvSpPr>
            <a:spLocks noChangeArrowheads="1"/>
          </p:cNvSpPr>
          <p:nvPr/>
        </p:nvSpPr>
        <p:spPr bwMode="auto">
          <a:xfrm>
            <a:off x="5476185" y="3327059"/>
            <a:ext cx="1400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1111  1111</a:t>
            </a:r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6965528" y="2826997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1011 0100</a:t>
            </a:r>
          </a:p>
        </p:txBody>
      </p:sp>
      <p:sp>
        <p:nvSpPr>
          <p:cNvPr id="23" name="Rectangle 57"/>
          <p:cNvSpPr>
            <a:spLocks noChangeArrowheads="1"/>
          </p:cNvSpPr>
          <p:nvPr/>
        </p:nvSpPr>
        <p:spPr bwMode="auto">
          <a:xfrm>
            <a:off x="6876361" y="3312773"/>
            <a:ext cx="14144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</a:t>
            </a: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5504760" y="2796835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>
            <a:off x="2717110" y="2377734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>
            <a:off x="4088710" y="2377735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Rectangle 63"/>
          <p:cNvSpPr>
            <a:spLocks noChangeArrowheads="1"/>
          </p:cNvSpPr>
          <p:nvPr/>
        </p:nvSpPr>
        <p:spPr bwMode="auto">
          <a:xfrm>
            <a:off x="540648" y="2769848"/>
            <a:ext cx="16938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17.5.13.180</a:t>
            </a:r>
          </a:p>
        </p:txBody>
      </p:sp>
      <p:sp>
        <p:nvSpPr>
          <p:cNvPr id="30" name="Rectangle 64"/>
          <p:cNvSpPr>
            <a:spLocks noChangeArrowheads="1"/>
          </p:cNvSpPr>
          <p:nvPr/>
        </p:nvSpPr>
        <p:spPr bwMode="auto">
          <a:xfrm>
            <a:off x="477148" y="3265148"/>
            <a:ext cx="19986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255.255.</a:t>
            </a:r>
            <a:r>
              <a:rPr lang="en-US" altLang="ko-KR" sz="2000" dirty="0">
                <a:latin typeface="Helvetica" pitchFamily="34" charset="0"/>
                <a:ea typeface="굴림" pitchFamily="50" charset="-127"/>
              </a:rPr>
              <a:t>255.240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6106424" y="4547023"/>
            <a:ext cx="3943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b="0" dirty="0">
                <a:latin typeface="Helvetica" pitchFamily="34" charset="0"/>
              </a:rPr>
              <a:t>13</a:t>
            </a:r>
          </a:p>
        </p:txBody>
      </p:sp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7485271" y="4565694"/>
            <a:ext cx="5370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FF0000"/>
                </a:solidFill>
                <a:latin typeface="Helvetica" pitchFamily="34" charset="0"/>
              </a:rPr>
              <a:t>176</a:t>
            </a:r>
          </a:p>
        </p:txBody>
      </p:sp>
      <p:sp>
        <p:nvSpPr>
          <p:cNvPr id="33" name="Rectangle 67"/>
          <p:cNvSpPr>
            <a:spLocks noChangeArrowheads="1"/>
          </p:cNvSpPr>
          <p:nvPr/>
        </p:nvSpPr>
        <p:spPr bwMode="auto">
          <a:xfrm>
            <a:off x="426349" y="4511334"/>
            <a:ext cx="18970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546999" y="4571659"/>
            <a:ext cx="16944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>
                <a:latin typeface="Arial" charset="0"/>
              </a:rPr>
              <a:t>Network </a:t>
            </a:r>
            <a:r>
              <a:rPr lang="ko-KR" altLang="en-US" sz="2000">
                <a:latin typeface="Arial" charset="0"/>
              </a:rPr>
              <a:t>주소</a:t>
            </a:r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5536510" y="2396785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61"/>
          <p:cNvSpPr>
            <a:spLocks noChangeShapeType="1"/>
          </p:cNvSpPr>
          <p:nvPr/>
        </p:nvSpPr>
        <p:spPr bwMode="auto">
          <a:xfrm>
            <a:off x="7001773" y="2377735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61"/>
          <p:cNvSpPr>
            <a:spLocks noChangeShapeType="1"/>
          </p:cNvSpPr>
          <p:nvPr/>
        </p:nvSpPr>
        <p:spPr bwMode="auto">
          <a:xfrm>
            <a:off x="7714695" y="2377735"/>
            <a:ext cx="0" cy="19145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717110" y="2106735"/>
            <a:ext cx="1371600" cy="7826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60728" y="1679206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088710" y="2120392"/>
            <a:ext cx="3580606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43969" y="1679206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(20)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7689161" y="2120392"/>
            <a:ext cx="601663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83591" y="1671813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2672836" y="3943306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4176818" y="3973172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>
            <a:off x="5542067" y="3973172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54" name="Rectangle 56"/>
          <p:cNvSpPr>
            <a:spLocks noChangeArrowheads="1"/>
          </p:cNvSpPr>
          <p:nvPr/>
        </p:nvSpPr>
        <p:spPr bwMode="auto">
          <a:xfrm>
            <a:off x="6965528" y="3958466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</a:t>
            </a:r>
            <a:r>
              <a:rPr lang="en-US" altLang="ko-KR" sz="2000" b="1" u="sng" dirty="0">
                <a:solidFill>
                  <a:srgbClr val="FF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88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5529224" y="4690907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386022" y="2316011"/>
            <a:ext cx="2117725" cy="1938992"/>
          </a:xfrm>
          <a:prstGeom prst="rect">
            <a:avLst/>
          </a:prstGeom>
          <a:solidFill>
            <a:srgbClr val="99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r>
              <a:rPr lang="en-US" altLang="ko-KR" sz="2000"/>
              <a:t> </a:t>
            </a:r>
            <a:r>
              <a:rPr lang="en-US" altLang="ko-KR" sz="2000" u="sng">
                <a:latin typeface="Arial" charset="0"/>
              </a:rPr>
              <a:t>Host </a:t>
            </a:r>
            <a:r>
              <a:rPr lang="ko-KR" altLang="en-US" sz="2000" u="sng">
                <a:latin typeface="Arial" charset="0"/>
              </a:rPr>
              <a:t>주소</a:t>
            </a:r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en-US" altLang="ko-KR" sz="2000"/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4054569" y="4690909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auto">
          <a:xfrm>
            <a:off x="4530984" y="4771875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5</a:t>
            </a: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2589473" y="4690911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6950335" y="4690911"/>
            <a:ext cx="1465263" cy="457200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2987935" y="4771875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17</a:t>
            </a:r>
          </a:p>
        </p:txBody>
      </p:sp>
      <p:sp>
        <p:nvSpPr>
          <p:cNvPr id="13" name="Line 47"/>
          <p:cNvSpPr>
            <a:spLocks noChangeShapeType="1"/>
          </p:cNvSpPr>
          <p:nvPr/>
        </p:nvSpPr>
        <p:spPr bwMode="auto">
          <a:xfrm>
            <a:off x="2654559" y="3933674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2614873" y="2977194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2554548" y="3490762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17" name="Rectangle 51"/>
          <p:cNvSpPr>
            <a:spLocks noChangeArrowheads="1"/>
          </p:cNvSpPr>
          <p:nvPr/>
        </p:nvSpPr>
        <p:spPr bwMode="auto">
          <a:xfrm>
            <a:off x="4113205" y="2976412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4069023" y="3490762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20" name="Rectangle 54"/>
          <p:cNvSpPr>
            <a:spLocks noChangeArrowheads="1"/>
          </p:cNvSpPr>
          <p:nvPr/>
        </p:nvSpPr>
        <p:spPr bwMode="auto">
          <a:xfrm>
            <a:off x="5442209" y="3506636"/>
            <a:ext cx="1400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1111  1111</a:t>
            </a:r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6931552" y="3006574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1011 0100</a:t>
            </a:r>
          </a:p>
        </p:txBody>
      </p:sp>
      <p:sp>
        <p:nvSpPr>
          <p:cNvPr id="23" name="Rectangle 57"/>
          <p:cNvSpPr>
            <a:spLocks noChangeArrowheads="1"/>
          </p:cNvSpPr>
          <p:nvPr/>
        </p:nvSpPr>
        <p:spPr bwMode="auto">
          <a:xfrm>
            <a:off x="6842385" y="3492350"/>
            <a:ext cx="14144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</a:t>
            </a: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5470784" y="2976412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>
            <a:off x="2683134" y="2557311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>
            <a:off x="4054734" y="2557312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Rectangle 63"/>
          <p:cNvSpPr>
            <a:spLocks noChangeArrowheads="1"/>
          </p:cNvSpPr>
          <p:nvPr/>
        </p:nvSpPr>
        <p:spPr bwMode="auto">
          <a:xfrm>
            <a:off x="506672" y="2949425"/>
            <a:ext cx="16938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17.5.13.180</a:t>
            </a:r>
          </a:p>
        </p:txBody>
      </p:sp>
      <p:sp>
        <p:nvSpPr>
          <p:cNvPr id="30" name="Rectangle 64"/>
          <p:cNvSpPr>
            <a:spLocks noChangeArrowheads="1"/>
          </p:cNvSpPr>
          <p:nvPr/>
        </p:nvSpPr>
        <p:spPr bwMode="auto">
          <a:xfrm>
            <a:off x="443172" y="3444725"/>
            <a:ext cx="19986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255.255.</a:t>
            </a:r>
            <a:r>
              <a:rPr lang="en-US" altLang="ko-KR" sz="2000" dirty="0">
                <a:latin typeface="Helvetica" pitchFamily="34" charset="0"/>
                <a:ea typeface="굴림" pitchFamily="50" charset="-127"/>
              </a:rPr>
              <a:t>255.240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6072448" y="4726600"/>
            <a:ext cx="3943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b="0" dirty="0">
                <a:latin typeface="Helvetica" pitchFamily="34" charset="0"/>
              </a:rPr>
              <a:t>13</a:t>
            </a:r>
          </a:p>
        </p:txBody>
      </p:sp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7451296" y="4745271"/>
            <a:ext cx="5370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FF0000"/>
                </a:solidFill>
                <a:latin typeface="Helvetica" pitchFamily="34" charset="0"/>
              </a:rPr>
              <a:t>191</a:t>
            </a:r>
          </a:p>
        </p:txBody>
      </p:sp>
      <p:sp>
        <p:nvSpPr>
          <p:cNvPr id="33" name="Rectangle 67"/>
          <p:cNvSpPr>
            <a:spLocks noChangeArrowheads="1"/>
          </p:cNvSpPr>
          <p:nvPr/>
        </p:nvSpPr>
        <p:spPr bwMode="auto">
          <a:xfrm>
            <a:off x="392373" y="4690911"/>
            <a:ext cx="18970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452160" y="4742618"/>
            <a:ext cx="175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800" dirty="0">
                <a:latin typeface="Arial" charset="0"/>
              </a:rPr>
              <a:t>Broadcast </a:t>
            </a:r>
            <a:r>
              <a:rPr lang="ko-KR" altLang="en-US" sz="1800">
                <a:latin typeface="Arial" charset="0"/>
              </a:rPr>
              <a:t>주소</a:t>
            </a:r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5502534" y="2576362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61"/>
          <p:cNvSpPr>
            <a:spLocks noChangeShapeType="1"/>
          </p:cNvSpPr>
          <p:nvPr/>
        </p:nvSpPr>
        <p:spPr bwMode="auto">
          <a:xfrm>
            <a:off x="6967797" y="2557312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61"/>
          <p:cNvSpPr>
            <a:spLocks noChangeShapeType="1"/>
          </p:cNvSpPr>
          <p:nvPr/>
        </p:nvSpPr>
        <p:spPr bwMode="auto">
          <a:xfrm>
            <a:off x="7680719" y="2557312"/>
            <a:ext cx="0" cy="19145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683134" y="2286312"/>
            <a:ext cx="1371600" cy="7826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26752" y="1858783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054734" y="2299969"/>
            <a:ext cx="3580606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09993" y="1858783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(20)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7655185" y="2299969"/>
            <a:ext cx="601663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49615" y="185139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2638860" y="4122883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4142842" y="4152749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>
            <a:off x="5508091" y="4152749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54" name="Rectangle 56"/>
          <p:cNvSpPr>
            <a:spLocks noChangeArrowheads="1"/>
          </p:cNvSpPr>
          <p:nvPr/>
        </p:nvSpPr>
        <p:spPr bwMode="auto">
          <a:xfrm>
            <a:off x="6885247" y="4132139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</a:t>
            </a:r>
            <a:r>
              <a:rPr lang="en-US" altLang="ko-KR" sz="2000" b="1" u="sng" dirty="0">
                <a:solidFill>
                  <a:srgbClr val="FF0000"/>
                </a:solidFill>
                <a:latin typeface="Helvetica" pitchFamily="34" charset="0"/>
              </a:rPr>
              <a:t>1111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159542" y="736601"/>
            <a:ext cx="8523717" cy="8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➂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</a:t>
            </a:r>
            <a:r>
              <a:rPr lang="ko-KR" altLang="en-US" sz="2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브로드캐스트</a:t>
            </a: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주소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05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1960957" y="2746173"/>
            <a:ext cx="4891042" cy="2705999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49103" y="1337680"/>
            <a:ext cx="5993369" cy="137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:17.5.13.176</a:t>
            </a:r>
          </a:p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 가능한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17.5.13.177-190</a:t>
            </a:r>
          </a:p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17.5.13.191</a:t>
            </a:r>
            <a:endParaRPr lang="ko-KR" altLang="en-US" sz="1846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 flipH="1">
            <a:off x="2259746" y="3187142"/>
            <a:ext cx="742323" cy="745366"/>
            <a:chOff x="809159" y="4814047"/>
            <a:chExt cx="688975" cy="745367"/>
          </a:xfrm>
        </p:grpSpPr>
        <p:sp>
          <p:nvSpPr>
            <p:cNvPr id="9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2438427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그룹 62"/>
          <p:cNvGrpSpPr/>
          <p:nvPr/>
        </p:nvGrpSpPr>
        <p:grpSpPr>
          <a:xfrm flipH="1">
            <a:off x="3322709" y="3187142"/>
            <a:ext cx="742323" cy="745366"/>
            <a:chOff x="809159" y="4814047"/>
            <a:chExt cx="688975" cy="745367"/>
          </a:xfrm>
        </p:grpSpPr>
        <p:sp>
          <p:nvSpPr>
            <p:cNvPr id="6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3501390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" name="그룹 116"/>
          <p:cNvGrpSpPr/>
          <p:nvPr/>
        </p:nvGrpSpPr>
        <p:grpSpPr>
          <a:xfrm flipH="1">
            <a:off x="4394834" y="3171711"/>
            <a:ext cx="742323" cy="745366"/>
            <a:chOff x="809159" y="4814047"/>
            <a:chExt cx="688975" cy="745367"/>
          </a:xfrm>
        </p:grpSpPr>
        <p:sp>
          <p:nvSpPr>
            <p:cNvPr id="11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6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4573515" y="382812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1" name="그룹 170"/>
          <p:cNvGrpSpPr/>
          <p:nvPr/>
        </p:nvGrpSpPr>
        <p:grpSpPr>
          <a:xfrm flipH="1">
            <a:off x="5364195" y="3187142"/>
            <a:ext cx="742323" cy="745366"/>
            <a:chOff x="809159" y="4814047"/>
            <a:chExt cx="688975" cy="745367"/>
          </a:xfrm>
        </p:grpSpPr>
        <p:sp>
          <p:nvSpPr>
            <p:cNvPr id="17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2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1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5542876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732263" y="4474900"/>
            <a:ext cx="2069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…………….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6" name="그룹 225"/>
          <p:cNvGrpSpPr/>
          <p:nvPr/>
        </p:nvGrpSpPr>
        <p:grpSpPr>
          <a:xfrm flipH="1">
            <a:off x="5402154" y="4416081"/>
            <a:ext cx="742323" cy="745366"/>
            <a:chOff x="809159" y="4814047"/>
            <a:chExt cx="688975" cy="745367"/>
          </a:xfrm>
        </p:grpSpPr>
        <p:sp>
          <p:nvSpPr>
            <p:cNvPr id="22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9" name="TextBox 278"/>
          <p:cNvSpPr txBox="1"/>
          <p:nvPr/>
        </p:nvSpPr>
        <p:spPr>
          <a:xfrm>
            <a:off x="5507860" y="508284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5319741" y="3079061"/>
            <a:ext cx="1067158" cy="102574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50870" y="5558793"/>
            <a:ext cx="5503430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ko-KR" altLang="en-US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17.5.13.176</a:t>
            </a:r>
            <a:r>
              <a:rPr lang="ko-KR" altLang="en-US" sz="1662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</a:t>
            </a:r>
            <a:r>
              <a:rPr lang="ko-KR" altLang="en-US" sz="1662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네 번째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endParaRPr lang="ko-KR" altLang="en-US" sz="1662" b="1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589298" y="327492"/>
            <a:ext cx="8425309" cy="533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➃ 17.7.13.180/28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해당 네트워크에 몇 번째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인가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347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6859" y="340574"/>
            <a:ext cx="7886700" cy="650631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IPv4 Address</a:t>
            </a:r>
            <a:r>
              <a:rPr lang="ko-KR" altLang="en-US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비트열</a:t>
            </a:r>
            <a:r>
              <a:rPr lang="ko-KR" altLang="en-US" sz="2800" dirty="0">
                <a:ea typeface="굴림" pitchFamily="50" charset="-127"/>
              </a:rPr>
              <a:t> 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6859" y="1092316"/>
            <a:ext cx="7886700" cy="7942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총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(32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(</a:t>
            </a:r>
            <a:r>
              <a:rPr lang="en-US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기준으로 </a:t>
            </a:r>
            <a:r>
              <a:rPr lang="ko-KR" altLang="en-US" sz="18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옥텟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구성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1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옥텟은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( 4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옥텟으로 구성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1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00000"/>
              </a:lnSpc>
            </a:pP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688" y="2313434"/>
            <a:ext cx="6494723" cy="417063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232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8596" y="431128"/>
            <a:ext cx="6448425" cy="3730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ko-KR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10</a:t>
            </a:r>
            <a:r>
              <a:rPr lang="ko-KR" altLang="en-US" sz="3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진수를 </a:t>
            </a:r>
            <a:r>
              <a:rPr lang="en-US" altLang="ko-KR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3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</a:t>
            </a:r>
            <a:r>
              <a:rPr lang="en-US" altLang="ko-KR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3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진수로 변환</a:t>
            </a:r>
            <a:endParaRPr lang="en-US" altLang="ko-KR" sz="3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5786" name="Rectangle 29"/>
          <p:cNvSpPr>
            <a:spLocks noChangeArrowheads="1"/>
          </p:cNvSpPr>
          <p:nvPr/>
        </p:nvSpPr>
        <p:spPr bwMode="auto">
          <a:xfrm>
            <a:off x="3542959" y="1625748"/>
            <a:ext cx="1985963" cy="45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584" tIns="51793" rIns="103584" bIns="51793">
            <a:spAutoFit/>
          </a:bodyPr>
          <a:lstStyle/>
          <a:p>
            <a:pPr defTabSz="1028694" eaLnBrk="0" hangingPunct="0">
              <a:lnSpc>
                <a:spcPct val="95000"/>
              </a:lnSpc>
              <a:spcBef>
                <a:spcPct val="50000"/>
              </a:spcBef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</a:t>
            </a:r>
          </a:p>
        </p:txBody>
      </p:sp>
      <p:sp>
        <p:nvSpPr>
          <p:cNvPr id="15" name="Rectangle 53"/>
          <p:cNvSpPr>
            <a:spLocks noChangeArrowheads="1"/>
          </p:cNvSpPr>
          <p:nvPr/>
        </p:nvSpPr>
        <p:spPr bwMode="auto">
          <a:xfrm>
            <a:off x="554707" y="1897361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596" y="2480562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32  16    8    4    2    1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53"/>
          <p:cNvSpPr>
            <a:spLocks noChangeArrowheads="1"/>
          </p:cNvSpPr>
          <p:nvPr/>
        </p:nvSpPr>
        <p:spPr bwMode="auto">
          <a:xfrm>
            <a:off x="2630365" y="1881282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53"/>
          <p:cNvSpPr>
            <a:spLocks noChangeArrowheads="1"/>
          </p:cNvSpPr>
          <p:nvPr/>
        </p:nvSpPr>
        <p:spPr bwMode="auto">
          <a:xfrm>
            <a:off x="4663120" y="1881282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Rectangle 53"/>
          <p:cNvSpPr>
            <a:spLocks noChangeArrowheads="1"/>
          </p:cNvSpPr>
          <p:nvPr/>
        </p:nvSpPr>
        <p:spPr bwMode="auto">
          <a:xfrm>
            <a:off x="6695876" y="1881282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2316" y="2466156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64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16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4    2    1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35941" y="2480562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128    64  32  16    8    4    2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96757" y="2480562"/>
            <a:ext cx="1787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128   64  32  16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572" y="2780124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-128-64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2937" y="2795963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-128+32+8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44228" y="282201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69661" y="279698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-8-2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3632807" y="4100049"/>
            <a:ext cx="1985963" cy="45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584" tIns="51793" rIns="103584" bIns="51793">
            <a:spAutoFit/>
          </a:bodyPr>
          <a:lstStyle/>
          <a:p>
            <a:pPr defTabSz="1028694" eaLnBrk="0" hangingPunct="0">
              <a:lnSpc>
                <a:spcPct val="95000"/>
              </a:lnSpc>
              <a:spcBef>
                <a:spcPct val="50000"/>
              </a:spcBef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172.16.79.116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706" y="1677779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34415" y="4180527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endParaRPr lang="ko-KR" altLang="en-US" dirty="0"/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780526" y="4437287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415" y="4981003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128    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16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8    4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2856185" y="4421208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4888940" y="4421208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9" name="Rectangle 53"/>
          <p:cNvSpPr>
            <a:spLocks noChangeArrowheads="1"/>
          </p:cNvSpPr>
          <p:nvPr/>
        </p:nvSpPr>
        <p:spPr bwMode="auto">
          <a:xfrm>
            <a:off x="6921696" y="4421208"/>
            <a:ext cx="1855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38135" y="4966597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128    64  32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8    4    2    1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61761" y="4981003"/>
            <a:ext cx="18197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64  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32  16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8    4    2    1</a:t>
            </a:r>
            <a:endParaRPr lang="ko-KR" altLang="en-US" sz="1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22576" y="4981003"/>
            <a:ext cx="1787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64  32  16    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   </a:t>
            </a:r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2    1</a:t>
            </a:r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2379" y="5316252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-128-32-8-4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383907" y="530391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-16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88940" y="529714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-64-8-4-2-1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73922" y="5316252"/>
            <a:ext cx="1633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116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-64-32-16-4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7482084" y="6390996"/>
            <a:ext cx="1295400" cy="246062"/>
          </a:xfrm>
        </p:spPr>
        <p:txBody>
          <a:bodyPr/>
          <a:lstStyle/>
          <a:p>
            <a:pPr>
              <a:defRPr/>
            </a:pPr>
            <a:fld id="{F144870C-26EA-48E6-B006-78871CD70451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604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0167" y="263769"/>
            <a:ext cx="7886700" cy="1326174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IPv4 Address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특징</a:t>
            </a:r>
            <a:r>
              <a:rPr lang="ko-KR" altLang="en-US" sz="3200">
                <a:ea typeface="굴림" pitchFamily="50" charset="-127"/>
              </a:rPr>
              <a:t> 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7300" y="1841990"/>
            <a:ext cx="7886700" cy="35374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주소는 총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Class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구분</a:t>
            </a:r>
          </a:p>
          <a:p>
            <a:pPr>
              <a:lnSpc>
                <a:spcPct val="14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각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Class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네트워크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호스트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다르게 구성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 Address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고유해야 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631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3620" y="27518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IPv4 Class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7993" y="2983043"/>
            <a:ext cx="4002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X. Y. Z</a:t>
            </a:r>
            <a:endParaRPr lang="ko-KR" alt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4230" y="4421625"/>
            <a:ext cx="6463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 번째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octet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값에 따라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클래스를 정의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364229" y="1752992"/>
            <a:ext cx="4851008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8" indent="-285748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주소는 총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Class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구분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837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2983" y="437207"/>
            <a:ext cx="7886700" cy="1326174"/>
          </a:xfrm>
        </p:spPr>
        <p:txBody>
          <a:bodyPr anchor="t">
            <a:normAutofit/>
          </a:bodyPr>
          <a:lstStyle/>
          <a:p>
            <a:pPr eaLnBrk="1" hangingPunct="1"/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4)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첫번째 </a:t>
            </a:r>
            <a:r>
              <a:rPr lang="ko-KR" altLang="en-US" sz="3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옥텟을</a:t>
            </a:r>
            <a:r>
              <a:rPr lang="ko-KR" altLang="en-US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기반한 클래스 분류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38" y="1239983"/>
            <a:ext cx="89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739" y="2226058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Class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2063" y="321213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Class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890" y="557973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Class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627" y="4501790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Class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1" y="4311059"/>
            <a:ext cx="6981825" cy="1123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5758" y="487178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224</a:t>
            </a:r>
            <a:endParaRPr lang="ko-KR" altLang="en-US" b="1"/>
          </a:p>
        </p:txBody>
      </p:sp>
      <p:sp>
        <p:nvSpPr>
          <p:cNvPr id="16" name="TextBox 15"/>
          <p:cNvSpPr txBox="1"/>
          <p:nvPr/>
        </p:nvSpPr>
        <p:spPr>
          <a:xfrm>
            <a:off x="3845758" y="515339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239</a:t>
            </a:r>
            <a:endParaRPr lang="ko-KR" altLang="en-US" b="1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5496665"/>
            <a:ext cx="6934200" cy="1025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5758" y="594908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240</a:t>
            </a:r>
            <a:endParaRPr lang="ko-KR" altLang="en-US" b="1"/>
          </a:p>
        </p:txBody>
      </p:sp>
      <p:sp>
        <p:nvSpPr>
          <p:cNvPr id="19" name="TextBox 18"/>
          <p:cNvSpPr txBox="1"/>
          <p:nvPr/>
        </p:nvSpPr>
        <p:spPr>
          <a:xfrm>
            <a:off x="3845758" y="623200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255</a:t>
            </a:r>
            <a:endParaRPr lang="ko-KR" altLang="en-US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1" y="1139277"/>
            <a:ext cx="6962775" cy="320992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749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699" y="510600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7)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 </a:t>
            </a:r>
            <a:r>
              <a:rPr lang="ko-KR" altLang="en-US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가능한 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address</a:t>
            </a:r>
            <a:endParaRPr lang="ko-KR" altLang="en-US" sz="3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187" y="1836163"/>
            <a:ext cx="6381652" cy="328304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297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7286" y="466168"/>
            <a:ext cx="7381143" cy="329711"/>
          </a:xfrm>
        </p:spPr>
        <p:txBody>
          <a:bodyPr anchor="t">
            <a:noAutofit/>
          </a:bodyPr>
          <a:lstStyle/>
          <a:p>
            <a:pPr eaLnBrk="1" hangingPunct="1"/>
            <a:r>
              <a:rPr lang="en-US" altLang="ko-KR" sz="4000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Subnet Mask</a:t>
            </a:r>
          </a:p>
        </p:txBody>
      </p:sp>
      <p:sp>
        <p:nvSpPr>
          <p:cNvPr id="113668" name="Rectangle 3"/>
          <p:cNvSpPr>
            <a:spLocks noChangeArrowheads="1"/>
          </p:cNvSpPr>
          <p:nvPr/>
        </p:nvSpPr>
        <p:spPr bwMode="auto">
          <a:xfrm>
            <a:off x="2000250" y="2390776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2057400" y="2352676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auto">
          <a:xfrm>
            <a:off x="1828800" y="230981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2" name="Rectangle 7"/>
          <p:cNvSpPr>
            <a:spLocks noChangeArrowheads="1"/>
          </p:cNvSpPr>
          <p:nvPr/>
        </p:nvSpPr>
        <p:spPr bwMode="auto">
          <a:xfrm>
            <a:off x="1890713" y="219551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3" name="Rectangle 8"/>
          <p:cNvSpPr>
            <a:spLocks noChangeArrowheads="1"/>
          </p:cNvSpPr>
          <p:nvPr/>
        </p:nvSpPr>
        <p:spPr bwMode="auto">
          <a:xfrm>
            <a:off x="1890713" y="2195513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4" name="Rectangle 10"/>
          <p:cNvSpPr>
            <a:spLocks noChangeArrowheads="1"/>
          </p:cNvSpPr>
          <p:nvPr/>
        </p:nvSpPr>
        <p:spPr bwMode="auto">
          <a:xfrm>
            <a:off x="2085975" y="207168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13676" name="Rectangle 12"/>
          <p:cNvSpPr>
            <a:spLocks noChangeArrowheads="1"/>
          </p:cNvSpPr>
          <p:nvPr/>
        </p:nvSpPr>
        <p:spPr bwMode="auto">
          <a:xfrm>
            <a:off x="736730" y="1075466"/>
            <a:ext cx="79121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kumimoji="1" lang="en-US" altLang="ko-KR" sz="2000" dirty="0">
                <a:latin typeface="맑은 고딕" panose="020B0503020000020004" pitchFamily="50" charset="-127"/>
                <a:cs typeface="함초롬바탕" panose="02030504000101010101" pitchFamily="18" charset="-127"/>
              </a:rPr>
              <a:t>∙ </a:t>
            </a:r>
            <a:r>
              <a:rPr kumimoji="1"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서브넷마스크 </a:t>
            </a:r>
            <a:r>
              <a:rPr kumimoji="1"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kumimoji="1"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네트워크비트</a:t>
            </a:r>
            <a:r>
              <a:rPr kumimoji="1"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=1, </a:t>
            </a:r>
            <a:r>
              <a:rPr kumimoji="1"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호스트비트</a:t>
            </a:r>
            <a:r>
              <a:rPr kumimoji="1"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=0 </a:t>
            </a:r>
            <a:r>
              <a:rPr kumimoji="1"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채움</a:t>
            </a:r>
            <a:endParaRPr kumimoji="1"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91" y="1750640"/>
            <a:ext cx="8522580" cy="445293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431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0514" y="357679"/>
            <a:ext cx="7886700" cy="819150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 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12581" y="1398417"/>
            <a:ext cx="8131419" cy="4840165"/>
          </a:xfrm>
        </p:spPr>
        <p:txBody>
          <a:bodyPr>
            <a:normAutofit/>
          </a:bodyPr>
          <a:lstStyle/>
          <a:p>
            <a:pPr lvl="1">
              <a:lnSpc>
                <a:spcPct val="125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네트워크를 대표하는 주소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즉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그룹주소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25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주소</a:t>
            </a:r>
          </a:p>
        </p:txBody>
      </p:sp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6404465" y="321048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Rectangle 107"/>
          <p:cNvSpPr>
            <a:spLocks noChangeArrowheads="1"/>
          </p:cNvSpPr>
          <p:nvPr/>
        </p:nvSpPr>
        <p:spPr bwMode="auto">
          <a:xfrm>
            <a:off x="1151427" y="321048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2892915" y="321048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Rectangle 68"/>
          <p:cNvSpPr>
            <a:spLocks noChangeArrowheads="1"/>
          </p:cNvSpPr>
          <p:nvPr/>
        </p:nvSpPr>
        <p:spPr bwMode="auto">
          <a:xfrm>
            <a:off x="4651865" y="321048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Rectangle 70"/>
          <p:cNvSpPr>
            <a:spLocks noChangeArrowheads="1"/>
          </p:cNvSpPr>
          <p:nvPr/>
        </p:nvSpPr>
        <p:spPr bwMode="auto">
          <a:xfrm>
            <a:off x="1524376" y="3107528"/>
            <a:ext cx="68707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172      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	     </a:t>
            </a:r>
            <a:r>
              <a:rPr lang="en-US" altLang="ko-KR" sz="2400" dirty="0">
                <a:latin typeface="Helvetica" pitchFamily="34" charset="0"/>
              </a:rPr>
              <a:t>16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                  0                     0</a:t>
            </a:r>
          </a:p>
        </p:txBody>
      </p:sp>
      <p:sp>
        <p:nvSpPr>
          <p:cNvPr id="12" name="Rectangle 71"/>
          <p:cNvSpPr>
            <a:spLocks noChangeArrowheads="1"/>
          </p:cNvSpPr>
          <p:nvPr/>
        </p:nvSpPr>
        <p:spPr bwMode="auto">
          <a:xfrm>
            <a:off x="1138727" y="3731388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10101100</a:t>
            </a:r>
          </a:p>
        </p:txBody>
      </p:sp>
      <p:sp>
        <p:nvSpPr>
          <p:cNvPr id="13" name="Rectangle 72"/>
          <p:cNvSpPr>
            <a:spLocks noChangeArrowheads="1"/>
          </p:cNvSpPr>
          <p:nvPr/>
        </p:nvSpPr>
        <p:spPr bwMode="auto">
          <a:xfrm>
            <a:off x="2975466" y="3725151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00010000</a:t>
            </a:r>
          </a:p>
        </p:txBody>
      </p:sp>
      <p:sp>
        <p:nvSpPr>
          <p:cNvPr id="14" name="Rectangle 73"/>
          <p:cNvSpPr>
            <a:spLocks noChangeArrowheads="1"/>
          </p:cNvSpPr>
          <p:nvPr/>
        </p:nvSpPr>
        <p:spPr bwMode="auto">
          <a:xfrm>
            <a:off x="4689966" y="3731388"/>
            <a:ext cx="1855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00000000</a:t>
            </a:r>
          </a:p>
        </p:txBody>
      </p:sp>
      <p:sp>
        <p:nvSpPr>
          <p:cNvPr id="15" name="Rectangle 74"/>
          <p:cNvSpPr>
            <a:spLocks noChangeArrowheads="1"/>
          </p:cNvSpPr>
          <p:nvPr/>
        </p:nvSpPr>
        <p:spPr bwMode="auto">
          <a:xfrm>
            <a:off x="6472331" y="3722957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00000000</a:t>
            </a:r>
          </a:p>
        </p:txBody>
      </p:sp>
      <p:sp>
        <p:nvSpPr>
          <p:cNvPr id="18" name="Text Box 77"/>
          <p:cNvSpPr txBox="1">
            <a:spLocks noChangeArrowheads="1"/>
          </p:cNvSpPr>
          <p:nvPr/>
        </p:nvSpPr>
        <p:spPr bwMode="auto">
          <a:xfrm>
            <a:off x="2194415" y="2838370"/>
            <a:ext cx="1399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Network</a:t>
            </a:r>
          </a:p>
        </p:txBody>
      </p:sp>
      <p:sp>
        <p:nvSpPr>
          <p:cNvPr id="19" name="Text Box 78"/>
          <p:cNvSpPr txBox="1">
            <a:spLocks noChangeArrowheads="1"/>
          </p:cNvSpPr>
          <p:nvPr/>
        </p:nvSpPr>
        <p:spPr bwMode="auto">
          <a:xfrm>
            <a:off x="5907579" y="2825670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Host</a:t>
            </a:r>
            <a:endParaRPr kumimoji="0" lang="en-US" altLang="ko-KR" sz="2400" dirty="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24" name="Line 83"/>
          <p:cNvSpPr>
            <a:spLocks noChangeShapeType="1"/>
          </p:cNvSpPr>
          <p:nvPr/>
        </p:nvSpPr>
        <p:spPr bwMode="auto">
          <a:xfrm flipH="1">
            <a:off x="4667287" y="3032859"/>
            <a:ext cx="6577" cy="1117913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47" name="Rectangle 108"/>
          <p:cNvSpPr>
            <a:spLocks noChangeArrowheads="1"/>
          </p:cNvSpPr>
          <p:nvPr/>
        </p:nvSpPr>
        <p:spPr bwMode="auto">
          <a:xfrm>
            <a:off x="6404465" y="5311331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8" name="Rectangle 107"/>
          <p:cNvSpPr>
            <a:spLocks noChangeArrowheads="1"/>
          </p:cNvSpPr>
          <p:nvPr/>
        </p:nvSpPr>
        <p:spPr bwMode="auto">
          <a:xfrm>
            <a:off x="1151427" y="5311331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9" name="Rectangle 67"/>
          <p:cNvSpPr>
            <a:spLocks noChangeArrowheads="1"/>
          </p:cNvSpPr>
          <p:nvPr/>
        </p:nvSpPr>
        <p:spPr bwMode="auto">
          <a:xfrm>
            <a:off x="2892915" y="5311331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0" name="Rectangle 68"/>
          <p:cNvSpPr>
            <a:spLocks noChangeArrowheads="1"/>
          </p:cNvSpPr>
          <p:nvPr/>
        </p:nvSpPr>
        <p:spPr bwMode="auto">
          <a:xfrm>
            <a:off x="4651865" y="5311331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1" name="Rectangle 70"/>
          <p:cNvSpPr>
            <a:spLocks noChangeArrowheads="1"/>
          </p:cNvSpPr>
          <p:nvPr/>
        </p:nvSpPr>
        <p:spPr bwMode="auto">
          <a:xfrm>
            <a:off x="1524376" y="5208371"/>
            <a:ext cx="68707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 192       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	     </a:t>
            </a:r>
            <a:r>
              <a:rPr lang="en-US" altLang="ko-KR" sz="2400" dirty="0">
                <a:latin typeface="Helvetica" pitchFamily="34" charset="0"/>
              </a:rPr>
              <a:t>16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8                 1                   0</a:t>
            </a:r>
          </a:p>
        </p:txBody>
      </p:sp>
      <p:sp>
        <p:nvSpPr>
          <p:cNvPr id="52" name="Rectangle 71"/>
          <p:cNvSpPr>
            <a:spLocks noChangeArrowheads="1"/>
          </p:cNvSpPr>
          <p:nvPr/>
        </p:nvSpPr>
        <p:spPr bwMode="auto">
          <a:xfrm>
            <a:off x="1138727" y="5832231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1100 0000</a:t>
            </a:r>
          </a:p>
        </p:txBody>
      </p:sp>
      <p:sp>
        <p:nvSpPr>
          <p:cNvPr id="53" name="Rectangle 72"/>
          <p:cNvSpPr>
            <a:spLocks noChangeArrowheads="1"/>
          </p:cNvSpPr>
          <p:nvPr/>
        </p:nvSpPr>
        <p:spPr bwMode="auto">
          <a:xfrm>
            <a:off x="2909131" y="5823800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1010 1000</a:t>
            </a:r>
          </a:p>
        </p:txBody>
      </p:sp>
      <p:sp>
        <p:nvSpPr>
          <p:cNvPr id="54" name="Rectangle 73"/>
          <p:cNvSpPr>
            <a:spLocks noChangeArrowheads="1"/>
          </p:cNvSpPr>
          <p:nvPr/>
        </p:nvSpPr>
        <p:spPr bwMode="auto">
          <a:xfrm>
            <a:off x="4720352" y="5830383"/>
            <a:ext cx="1855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0000 0001</a:t>
            </a:r>
          </a:p>
        </p:txBody>
      </p:sp>
      <p:sp>
        <p:nvSpPr>
          <p:cNvPr id="55" name="Rectangle 74"/>
          <p:cNvSpPr>
            <a:spLocks noChangeArrowheads="1"/>
          </p:cNvSpPr>
          <p:nvPr/>
        </p:nvSpPr>
        <p:spPr bwMode="auto">
          <a:xfrm>
            <a:off x="6472331" y="5823800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00000000</a:t>
            </a:r>
          </a:p>
        </p:txBody>
      </p:sp>
      <p:sp>
        <p:nvSpPr>
          <p:cNvPr id="56" name="Text Box 77"/>
          <p:cNvSpPr txBox="1">
            <a:spLocks noChangeArrowheads="1"/>
          </p:cNvSpPr>
          <p:nvPr/>
        </p:nvSpPr>
        <p:spPr bwMode="auto">
          <a:xfrm>
            <a:off x="3425747" y="4825140"/>
            <a:ext cx="1399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Network</a:t>
            </a:r>
          </a:p>
        </p:txBody>
      </p:sp>
      <p:sp>
        <p:nvSpPr>
          <p:cNvPr id="57" name="Text Box 78"/>
          <p:cNvSpPr txBox="1">
            <a:spLocks noChangeArrowheads="1"/>
          </p:cNvSpPr>
          <p:nvPr/>
        </p:nvSpPr>
        <p:spPr bwMode="auto">
          <a:xfrm>
            <a:off x="6769591" y="4878642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Host</a:t>
            </a:r>
            <a:endParaRPr kumimoji="0" lang="en-US" altLang="ko-KR" sz="2400" dirty="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58" name="Line 83"/>
          <p:cNvSpPr>
            <a:spLocks noChangeShapeType="1"/>
          </p:cNvSpPr>
          <p:nvPr/>
        </p:nvSpPr>
        <p:spPr bwMode="auto">
          <a:xfrm flipH="1">
            <a:off x="6428534" y="5034767"/>
            <a:ext cx="6577" cy="1117913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78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3754" y="103007"/>
            <a:ext cx="7886700" cy="1326174"/>
          </a:xfrm>
        </p:spPr>
        <p:txBody>
          <a:bodyPr>
            <a:normAutofit/>
          </a:bodyPr>
          <a:lstStyle/>
          <a:p>
            <a:r>
              <a:rPr lang="ko-KR" altLang="en-US" sz="40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4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 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3754" y="1570893"/>
            <a:ext cx="8710246" cy="48401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내의 불특정 다수에게 </a:t>
            </a:r>
            <a:r>
              <a:rPr lang="ko-KR" altLang="en-US" sz="24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트래픽을</a:t>
            </a: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전송하기 위한 주소</a:t>
            </a:r>
            <a:endParaRPr lang="en-US" altLang="ko-KR" sz="2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Limited Broadcast </a:t>
            </a:r>
            <a:r>
              <a:rPr lang="ko-KR" altLang="en-US" sz="2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  <a:endParaRPr lang="en-US" altLang="ko-KR" sz="2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Direct Broadcast 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</a:p>
          <a:p>
            <a:pPr>
              <a:lnSpc>
                <a:spcPct val="150000"/>
              </a:lnSpc>
            </a:pPr>
            <a:endParaRPr lang="en-US" altLang="ko-KR" sz="2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198" lvl="1" indent="0">
              <a:lnSpc>
                <a:spcPct val="150000"/>
              </a:lnSpc>
              <a:buNone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66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12582" y="814754"/>
            <a:ext cx="8131419" cy="48401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Broadcast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  <a:endParaRPr lang="en-US" altLang="ko-KR" sz="3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-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비트와 호스트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주소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Tx/>
              <a:buChar char="-"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6432664" y="379384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Rectangle 107"/>
          <p:cNvSpPr>
            <a:spLocks noChangeArrowheads="1"/>
          </p:cNvSpPr>
          <p:nvPr/>
        </p:nvSpPr>
        <p:spPr bwMode="auto">
          <a:xfrm>
            <a:off x="1179626" y="379384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Rectangle 67"/>
          <p:cNvSpPr>
            <a:spLocks noChangeArrowheads="1"/>
          </p:cNvSpPr>
          <p:nvPr/>
        </p:nvSpPr>
        <p:spPr bwMode="auto">
          <a:xfrm>
            <a:off x="2921114" y="379384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4680064" y="3793848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Rectangle 70"/>
          <p:cNvSpPr>
            <a:spLocks noChangeArrowheads="1"/>
          </p:cNvSpPr>
          <p:nvPr/>
        </p:nvSpPr>
        <p:spPr bwMode="auto">
          <a:xfrm>
            <a:off x="1552575" y="3690888"/>
            <a:ext cx="68707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255     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	          255                255              255</a:t>
            </a:r>
          </a:p>
        </p:txBody>
      </p:sp>
      <p:sp>
        <p:nvSpPr>
          <p:cNvPr id="9" name="Rectangle 71"/>
          <p:cNvSpPr>
            <a:spLocks noChangeArrowheads="1"/>
          </p:cNvSpPr>
          <p:nvPr/>
        </p:nvSpPr>
        <p:spPr bwMode="auto">
          <a:xfrm>
            <a:off x="1166926" y="4314748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10" name="Rectangle 72"/>
          <p:cNvSpPr>
            <a:spLocks noChangeArrowheads="1"/>
          </p:cNvSpPr>
          <p:nvPr/>
        </p:nvSpPr>
        <p:spPr bwMode="auto">
          <a:xfrm>
            <a:off x="3003665" y="4308511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11" name="Rectangle 73"/>
          <p:cNvSpPr>
            <a:spLocks noChangeArrowheads="1"/>
          </p:cNvSpPr>
          <p:nvPr/>
        </p:nvSpPr>
        <p:spPr bwMode="auto">
          <a:xfrm>
            <a:off x="4718165" y="4314748"/>
            <a:ext cx="1855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12" name="Rectangle 74"/>
          <p:cNvSpPr>
            <a:spLocks noChangeArrowheads="1"/>
          </p:cNvSpPr>
          <p:nvPr/>
        </p:nvSpPr>
        <p:spPr bwMode="auto">
          <a:xfrm>
            <a:off x="6500530" y="4306317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13" name="Text Box 77"/>
          <p:cNvSpPr txBox="1">
            <a:spLocks noChangeArrowheads="1"/>
          </p:cNvSpPr>
          <p:nvPr/>
        </p:nvSpPr>
        <p:spPr bwMode="auto">
          <a:xfrm>
            <a:off x="2222614" y="3421730"/>
            <a:ext cx="1399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Network</a:t>
            </a:r>
          </a:p>
        </p:txBody>
      </p:sp>
      <p:sp>
        <p:nvSpPr>
          <p:cNvPr id="14" name="Text Box 78"/>
          <p:cNvSpPr txBox="1">
            <a:spLocks noChangeArrowheads="1"/>
          </p:cNvSpPr>
          <p:nvPr/>
        </p:nvSpPr>
        <p:spPr bwMode="auto">
          <a:xfrm>
            <a:off x="5935778" y="3409030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Host</a:t>
            </a:r>
            <a:endParaRPr kumimoji="0" lang="en-US" altLang="ko-KR" sz="2400" dirty="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747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12582" y="420566"/>
            <a:ext cx="8131419" cy="484016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Broadcast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</a:p>
          <a:p>
            <a:pPr marL="457198" lvl="1" indent="0">
              <a:lnSpc>
                <a:spcPct val="200000"/>
              </a:lnSpc>
              <a:buNone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비트가 모두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 주소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198" lvl="1" indent="0">
              <a:lnSpc>
                <a:spcPct val="200000"/>
              </a:lnSpc>
              <a:buNone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6" name="Rectangle 108"/>
          <p:cNvSpPr>
            <a:spLocks noChangeArrowheads="1"/>
          </p:cNvSpPr>
          <p:nvPr/>
        </p:nvSpPr>
        <p:spPr bwMode="auto">
          <a:xfrm>
            <a:off x="6404908" y="2865135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" name="Rectangle 107"/>
          <p:cNvSpPr>
            <a:spLocks noChangeArrowheads="1"/>
          </p:cNvSpPr>
          <p:nvPr/>
        </p:nvSpPr>
        <p:spPr bwMode="auto">
          <a:xfrm>
            <a:off x="1151870" y="2865135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2893358" y="2865135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9" name="Rectangle 68"/>
          <p:cNvSpPr>
            <a:spLocks noChangeArrowheads="1"/>
          </p:cNvSpPr>
          <p:nvPr/>
        </p:nvSpPr>
        <p:spPr bwMode="auto">
          <a:xfrm>
            <a:off x="4652308" y="2865135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Rectangle 70"/>
          <p:cNvSpPr>
            <a:spLocks noChangeArrowheads="1"/>
          </p:cNvSpPr>
          <p:nvPr/>
        </p:nvSpPr>
        <p:spPr bwMode="auto">
          <a:xfrm>
            <a:off x="1524819" y="2762175"/>
            <a:ext cx="68707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172      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	     </a:t>
            </a:r>
            <a:r>
              <a:rPr lang="en-US" altLang="ko-KR" sz="2400" dirty="0">
                <a:latin typeface="Helvetica" pitchFamily="34" charset="0"/>
              </a:rPr>
              <a:t>16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                  </a:t>
            </a: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255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             </a:t>
            </a: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255</a:t>
            </a:r>
          </a:p>
        </p:txBody>
      </p:sp>
      <p:sp>
        <p:nvSpPr>
          <p:cNvPr id="21" name="Rectangle 71"/>
          <p:cNvSpPr>
            <a:spLocks noChangeArrowheads="1"/>
          </p:cNvSpPr>
          <p:nvPr/>
        </p:nvSpPr>
        <p:spPr bwMode="auto">
          <a:xfrm>
            <a:off x="1139170" y="3386035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10101100</a:t>
            </a:r>
          </a:p>
        </p:txBody>
      </p:sp>
      <p:sp>
        <p:nvSpPr>
          <p:cNvPr id="22" name="Rectangle 72"/>
          <p:cNvSpPr>
            <a:spLocks noChangeArrowheads="1"/>
          </p:cNvSpPr>
          <p:nvPr/>
        </p:nvSpPr>
        <p:spPr bwMode="auto">
          <a:xfrm>
            <a:off x="2975909" y="3379798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00010000</a:t>
            </a:r>
          </a:p>
        </p:txBody>
      </p:sp>
      <p:sp>
        <p:nvSpPr>
          <p:cNvPr id="25" name="Text Box 77"/>
          <p:cNvSpPr txBox="1">
            <a:spLocks noChangeArrowheads="1"/>
          </p:cNvSpPr>
          <p:nvPr/>
        </p:nvSpPr>
        <p:spPr bwMode="auto">
          <a:xfrm>
            <a:off x="2194858" y="2493017"/>
            <a:ext cx="1399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Network</a:t>
            </a:r>
          </a:p>
        </p:txBody>
      </p:sp>
      <p:sp>
        <p:nvSpPr>
          <p:cNvPr id="26" name="Text Box 78"/>
          <p:cNvSpPr txBox="1">
            <a:spLocks noChangeArrowheads="1"/>
          </p:cNvSpPr>
          <p:nvPr/>
        </p:nvSpPr>
        <p:spPr bwMode="auto">
          <a:xfrm>
            <a:off x="5908022" y="2480317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Host</a:t>
            </a:r>
            <a:endParaRPr kumimoji="0" lang="en-US" altLang="ko-KR" sz="2400" dirty="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27" name="Line 83"/>
          <p:cNvSpPr>
            <a:spLocks noChangeShapeType="1"/>
          </p:cNvSpPr>
          <p:nvPr/>
        </p:nvSpPr>
        <p:spPr bwMode="auto">
          <a:xfrm flipH="1">
            <a:off x="4667730" y="2687506"/>
            <a:ext cx="6577" cy="1117913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28" name="Rectangle 108"/>
          <p:cNvSpPr>
            <a:spLocks noChangeArrowheads="1"/>
          </p:cNvSpPr>
          <p:nvPr/>
        </p:nvSpPr>
        <p:spPr bwMode="auto">
          <a:xfrm>
            <a:off x="6448706" y="4956536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9" name="Rectangle 107"/>
          <p:cNvSpPr>
            <a:spLocks noChangeArrowheads="1"/>
          </p:cNvSpPr>
          <p:nvPr/>
        </p:nvSpPr>
        <p:spPr bwMode="auto">
          <a:xfrm>
            <a:off x="1195668" y="4956536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" name="Rectangle 67"/>
          <p:cNvSpPr>
            <a:spLocks noChangeArrowheads="1"/>
          </p:cNvSpPr>
          <p:nvPr/>
        </p:nvSpPr>
        <p:spPr bwMode="auto">
          <a:xfrm>
            <a:off x="2937156" y="4956536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1" name="Rectangle 68"/>
          <p:cNvSpPr>
            <a:spLocks noChangeArrowheads="1"/>
          </p:cNvSpPr>
          <p:nvPr/>
        </p:nvSpPr>
        <p:spPr bwMode="auto">
          <a:xfrm>
            <a:off x="4696106" y="4956536"/>
            <a:ext cx="1758950" cy="608012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8879" tIns="69246" rIns="48879" bIns="69246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2" name="Rectangle 70"/>
          <p:cNvSpPr>
            <a:spLocks noChangeArrowheads="1"/>
          </p:cNvSpPr>
          <p:nvPr/>
        </p:nvSpPr>
        <p:spPr bwMode="auto">
          <a:xfrm>
            <a:off x="1568617" y="4853576"/>
            <a:ext cx="68707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 192       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	     </a:t>
            </a:r>
            <a:r>
              <a:rPr lang="en-US" altLang="ko-KR" sz="2400" dirty="0">
                <a:latin typeface="Helvetica" pitchFamily="34" charset="0"/>
              </a:rPr>
              <a:t>16</a:t>
            </a:r>
            <a:r>
              <a:rPr lang="en-US" altLang="ko-KR" sz="2400" dirty="0">
                <a:solidFill>
                  <a:srgbClr val="000000"/>
                </a:solidFill>
                <a:latin typeface="Helvetica" pitchFamily="34" charset="0"/>
              </a:rPr>
              <a:t>8                 1                </a:t>
            </a: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255</a:t>
            </a:r>
          </a:p>
        </p:txBody>
      </p:sp>
      <p:sp>
        <p:nvSpPr>
          <p:cNvPr id="33" name="Rectangle 71"/>
          <p:cNvSpPr>
            <a:spLocks noChangeArrowheads="1"/>
          </p:cNvSpPr>
          <p:nvPr/>
        </p:nvSpPr>
        <p:spPr bwMode="auto">
          <a:xfrm>
            <a:off x="1182968" y="5477436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1100 0000</a:t>
            </a:r>
          </a:p>
        </p:txBody>
      </p:sp>
      <p:sp>
        <p:nvSpPr>
          <p:cNvPr id="34" name="Rectangle 72"/>
          <p:cNvSpPr>
            <a:spLocks noChangeArrowheads="1"/>
          </p:cNvSpPr>
          <p:nvPr/>
        </p:nvSpPr>
        <p:spPr bwMode="auto">
          <a:xfrm>
            <a:off x="2953372" y="5469005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1010 1000</a:t>
            </a:r>
          </a:p>
        </p:txBody>
      </p:sp>
      <p:sp>
        <p:nvSpPr>
          <p:cNvPr id="35" name="Rectangle 73"/>
          <p:cNvSpPr>
            <a:spLocks noChangeArrowheads="1"/>
          </p:cNvSpPr>
          <p:nvPr/>
        </p:nvSpPr>
        <p:spPr bwMode="auto">
          <a:xfrm>
            <a:off x="4764594" y="5475588"/>
            <a:ext cx="1855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dirty="0">
                <a:latin typeface="Helvetica" pitchFamily="34" charset="0"/>
              </a:rPr>
              <a:t> 0000 0001</a:t>
            </a:r>
          </a:p>
        </p:txBody>
      </p:sp>
      <p:sp>
        <p:nvSpPr>
          <p:cNvPr id="37" name="Text Box 77"/>
          <p:cNvSpPr txBox="1">
            <a:spLocks noChangeArrowheads="1"/>
          </p:cNvSpPr>
          <p:nvPr/>
        </p:nvSpPr>
        <p:spPr bwMode="auto">
          <a:xfrm>
            <a:off x="3469988" y="4470345"/>
            <a:ext cx="13997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Network</a:t>
            </a:r>
          </a:p>
        </p:txBody>
      </p:sp>
      <p:sp>
        <p:nvSpPr>
          <p:cNvPr id="38" name="Text Box 78"/>
          <p:cNvSpPr txBox="1">
            <a:spLocks noChangeArrowheads="1"/>
          </p:cNvSpPr>
          <p:nvPr/>
        </p:nvSpPr>
        <p:spPr bwMode="auto">
          <a:xfrm>
            <a:off x="6813832" y="4523847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0" lang="en-US" altLang="ko-KR" sz="2400" dirty="0">
                <a:latin typeface="Helvetica" pitchFamily="34" charset="0"/>
              </a:rPr>
              <a:t>Host</a:t>
            </a:r>
            <a:endParaRPr kumimoji="0" lang="en-US" altLang="ko-KR" sz="2400" dirty="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39" name="Line 83"/>
          <p:cNvSpPr>
            <a:spLocks noChangeShapeType="1"/>
          </p:cNvSpPr>
          <p:nvPr/>
        </p:nvSpPr>
        <p:spPr bwMode="auto">
          <a:xfrm flipH="1">
            <a:off x="6472775" y="4679971"/>
            <a:ext cx="6577" cy="1117913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40" name="Rectangle 74"/>
          <p:cNvSpPr>
            <a:spLocks noChangeArrowheads="1"/>
          </p:cNvSpPr>
          <p:nvPr/>
        </p:nvSpPr>
        <p:spPr bwMode="auto">
          <a:xfrm>
            <a:off x="6531938" y="5477436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41" name="Rectangle 74"/>
          <p:cNvSpPr>
            <a:spLocks noChangeArrowheads="1"/>
          </p:cNvSpPr>
          <p:nvPr/>
        </p:nvSpPr>
        <p:spPr bwMode="auto">
          <a:xfrm>
            <a:off x="4794390" y="3405340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42" name="Rectangle 74"/>
          <p:cNvSpPr>
            <a:spLocks noChangeArrowheads="1"/>
          </p:cNvSpPr>
          <p:nvPr/>
        </p:nvSpPr>
        <p:spPr bwMode="auto">
          <a:xfrm>
            <a:off x="6411259" y="3420960"/>
            <a:ext cx="18557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8879" tIns="69246" rIns="48879" bIns="69246"/>
          <a:lstStyle/>
          <a:p>
            <a:pPr defTabSz="1028694" eaLnBrk="0" hangingPunct="0">
              <a:lnSpc>
                <a:spcPts val="48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400" b="1" dirty="0">
                <a:solidFill>
                  <a:srgbClr val="FF0000"/>
                </a:solidFill>
                <a:latin typeface="Helvetica" pitchFamily="34" charset="0"/>
              </a:rPr>
              <a:t> 1111 1111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35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그룹 337"/>
          <p:cNvGrpSpPr/>
          <p:nvPr/>
        </p:nvGrpSpPr>
        <p:grpSpPr>
          <a:xfrm>
            <a:off x="2982486" y="1273596"/>
            <a:ext cx="3243196" cy="1209304"/>
            <a:chOff x="2521020" y="1690689"/>
            <a:chExt cx="3243196" cy="1209305"/>
          </a:xfrm>
        </p:grpSpPr>
        <p:grpSp>
          <p:nvGrpSpPr>
            <p:cNvPr id="336" name="그룹 335"/>
            <p:cNvGrpSpPr/>
            <p:nvPr/>
          </p:nvGrpSpPr>
          <p:grpSpPr>
            <a:xfrm>
              <a:off x="3104932" y="1690689"/>
              <a:ext cx="1467068" cy="830998"/>
              <a:chOff x="3086100" y="2841171"/>
              <a:chExt cx="1467068" cy="830998"/>
            </a:xfrm>
          </p:grpSpPr>
          <p:sp>
            <p:nvSpPr>
              <p:cNvPr id="333" name="TextBox 332"/>
              <p:cNvSpPr txBox="1"/>
              <p:nvPr/>
            </p:nvSpPr>
            <p:spPr>
              <a:xfrm>
                <a:off x="3086100" y="2841171"/>
                <a:ext cx="1467068" cy="830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- 2</a:t>
                </a:r>
                <a:endParaRPr lang="ko-KR" altLang="en-US" sz="4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TextBox 334"/>
              <p:cNvSpPr txBox="1"/>
              <p:nvPr/>
            </p:nvSpPr>
            <p:spPr>
              <a:xfrm>
                <a:off x="3381307" y="2841171"/>
                <a:ext cx="380232" cy="46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함초롬바탕" panose="02030504000101010101" pitchFamily="18" charset="-127"/>
                    <a:ea typeface="함초롬바탕" panose="02030504000101010101" pitchFamily="18" charset="-127"/>
                    <a:cs typeface="함초롬바탕" panose="02030504000101010101" pitchFamily="18" charset="-127"/>
                  </a:rPr>
                  <a:t>h</a:t>
                </a:r>
                <a:endParaRPr lang="ko-KR" altLang="en-US" sz="2400" b="1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endParaRPr>
              </a:p>
            </p:txBody>
          </p:sp>
        </p:grpSp>
        <p:sp>
          <p:nvSpPr>
            <p:cNvPr id="337" name="TextBox 336"/>
            <p:cNvSpPr txBox="1"/>
            <p:nvPr/>
          </p:nvSpPr>
          <p:spPr>
            <a:xfrm>
              <a:off x="2521020" y="2438329"/>
              <a:ext cx="32431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(h : </a:t>
              </a:r>
              <a:r>
                <a:rPr lang="ko-KR" altLang="en-US" sz="240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호스트</a:t>
              </a:r>
              <a:r>
                <a:rPr lang="en-US" altLang="ko-KR" sz="24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ID </a:t>
              </a:r>
              <a:r>
                <a:rPr lang="ko-KR" altLang="en-US" sz="240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비트 수</a:t>
              </a:r>
              <a:r>
                <a:rPr lang="en-US" altLang="ko-KR" sz="24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)</a:t>
              </a:r>
              <a:r>
                <a:rPr lang="ko-KR" altLang="en-US" sz="240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</a:t>
              </a:r>
            </a:p>
          </p:txBody>
        </p:sp>
      </p:grpSp>
      <p:pic>
        <p:nvPicPr>
          <p:cNvPr id="339" name="그림 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49" y="2599158"/>
            <a:ext cx="4062325" cy="3102497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24356" y="52677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3)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 </a:t>
            </a:r>
            <a:r>
              <a:rPr lang="ko-KR" altLang="en-US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가능한 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3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97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13830" y="3402259"/>
            <a:ext cx="4171950" cy="2578589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13828" y="2939504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65124" y="3698403"/>
            <a:ext cx="688975" cy="745366"/>
            <a:chOff x="809159" y="4814047"/>
            <a:chExt cx="688975" cy="745367"/>
          </a:xfrm>
        </p:grpSpPr>
        <p:sp>
          <p:nvSpPr>
            <p:cNvPr id="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738263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99561" y="1416157"/>
            <a:ext cx="4818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500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대의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2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할당할 경우 </a:t>
            </a:r>
            <a:endParaRPr lang="ko-KR" altLang="en-US" sz="2400" kern="3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859137" y="3698403"/>
            <a:ext cx="688975" cy="745366"/>
            <a:chOff x="809159" y="4814047"/>
            <a:chExt cx="688975" cy="745367"/>
          </a:xfrm>
        </p:grpSpPr>
        <p:sp>
          <p:nvSpPr>
            <p:cNvPr id="6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1832277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113" name="그룹 112"/>
          <p:cNvGrpSpPr/>
          <p:nvPr/>
        </p:nvGrpSpPr>
        <p:grpSpPr>
          <a:xfrm>
            <a:off x="2821673" y="3698403"/>
            <a:ext cx="688975" cy="745366"/>
            <a:chOff x="809159" y="4814047"/>
            <a:chExt cx="688975" cy="745367"/>
          </a:xfrm>
        </p:grpSpPr>
        <p:sp>
          <p:nvSpPr>
            <p:cNvPr id="11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6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6" name="TextBox 165"/>
          <p:cNvSpPr txBox="1"/>
          <p:nvPr/>
        </p:nvSpPr>
        <p:spPr>
          <a:xfrm>
            <a:off x="2794812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168" name="그룹 167"/>
          <p:cNvGrpSpPr/>
          <p:nvPr/>
        </p:nvGrpSpPr>
        <p:grpSpPr>
          <a:xfrm flipH="1">
            <a:off x="1553163" y="4882256"/>
            <a:ext cx="724968" cy="745366"/>
            <a:chOff x="809159" y="4814047"/>
            <a:chExt cx="688975" cy="745367"/>
          </a:xfrm>
        </p:grpSpPr>
        <p:sp>
          <p:nvSpPr>
            <p:cNvPr id="169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1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0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21" name="그룹 220"/>
          <p:cNvGrpSpPr/>
          <p:nvPr/>
        </p:nvGrpSpPr>
        <p:grpSpPr>
          <a:xfrm flipH="1">
            <a:off x="2594167" y="4882256"/>
            <a:ext cx="724968" cy="745366"/>
            <a:chOff x="809159" y="4814047"/>
            <a:chExt cx="688975" cy="745367"/>
          </a:xfrm>
        </p:grpSpPr>
        <p:sp>
          <p:nvSpPr>
            <p:cNvPr id="22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5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4" name="그룹 273"/>
          <p:cNvGrpSpPr/>
          <p:nvPr/>
        </p:nvGrpSpPr>
        <p:grpSpPr>
          <a:xfrm flipH="1">
            <a:off x="3650060" y="4861841"/>
            <a:ext cx="724968" cy="745366"/>
            <a:chOff x="809159" y="4814047"/>
            <a:chExt cx="688975" cy="745367"/>
          </a:xfrm>
        </p:grpSpPr>
        <p:sp>
          <p:nvSpPr>
            <p:cNvPr id="27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1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2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1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27" name="TextBox 326"/>
          <p:cNvSpPr txBox="1"/>
          <p:nvPr/>
        </p:nvSpPr>
        <p:spPr>
          <a:xfrm>
            <a:off x="517303" y="506126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…………….</a:t>
            </a:r>
            <a:endParaRPr lang="ko-KR" altLang="en-US"/>
          </a:p>
        </p:txBody>
      </p:sp>
      <p:sp>
        <p:nvSpPr>
          <p:cNvPr id="328" name="TextBox 327"/>
          <p:cNvSpPr txBox="1"/>
          <p:nvPr/>
        </p:nvSpPr>
        <p:spPr>
          <a:xfrm>
            <a:off x="1690780" y="560905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252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2740603" y="556461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253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3783660" y="554763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254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517303" y="6042630"/>
            <a:ext cx="1787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192.168.1.255 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모서리가 둥근 직사각형 334"/>
          <p:cNvSpPr/>
          <p:nvPr/>
        </p:nvSpPr>
        <p:spPr>
          <a:xfrm>
            <a:off x="4772645" y="3402259"/>
            <a:ext cx="4171950" cy="2578589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TextBox 335"/>
          <p:cNvSpPr txBox="1"/>
          <p:nvPr/>
        </p:nvSpPr>
        <p:spPr>
          <a:xfrm>
            <a:off x="4772645" y="2939504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192.168.2.0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7" name="그룹 336"/>
          <p:cNvGrpSpPr/>
          <p:nvPr/>
        </p:nvGrpSpPr>
        <p:grpSpPr>
          <a:xfrm>
            <a:off x="5123939" y="3698403"/>
            <a:ext cx="688975" cy="745366"/>
            <a:chOff x="809159" y="4814047"/>
            <a:chExt cx="688975" cy="745367"/>
          </a:xfrm>
        </p:grpSpPr>
        <p:sp>
          <p:nvSpPr>
            <p:cNvPr id="33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5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6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7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8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7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90" name="TextBox 389"/>
          <p:cNvSpPr txBox="1"/>
          <p:nvPr/>
        </p:nvSpPr>
        <p:spPr>
          <a:xfrm>
            <a:off x="5097079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391" name="그룹 390"/>
          <p:cNvGrpSpPr/>
          <p:nvPr/>
        </p:nvGrpSpPr>
        <p:grpSpPr>
          <a:xfrm>
            <a:off x="6217953" y="3698403"/>
            <a:ext cx="688975" cy="745366"/>
            <a:chOff x="809159" y="4814047"/>
            <a:chExt cx="688975" cy="745367"/>
          </a:xfrm>
        </p:grpSpPr>
        <p:sp>
          <p:nvSpPr>
            <p:cNvPr id="39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9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0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2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4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3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4" name="TextBox 443"/>
          <p:cNvSpPr txBox="1"/>
          <p:nvPr/>
        </p:nvSpPr>
        <p:spPr>
          <a:xfrm>
            <a:off x="6191092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45" name="그룹 444"/>
          <p:cNvGrpSpPr/>
          <p:nvPr/>
        </p:nvGrpSpPr>
        <p:grpSpPr>
          <a:xfrm>
            <a:off x="7180488" y="3698403"/>
            <a:ext cx="688975" cy="745366"/>
            <a:chOff x="809159" y="4814047"/>
            <a:chExt cx="688975" cy="745367"/>
          </a:xfrm>
        </p:grpSpPr>
        <p:sp>
          <p:nvSpPr>
            <p:cNvPr id="44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8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9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8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98" name="TextBox 497"/>
          <p:cNvSpPr txBox="1"/>
          <p:nvPr/>
        </p:nvSpPr>
        <p:spPr>
          <a:xfrm>
            <a:off x="7153628" y="4419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99" name="그룹 498"/>
          <p:cNvGrpSpPr/>
          <p:nvPr/>
        </p:nvGrpSpPr>
        <p:grpSpPr>
          <a:xfrm flipH="1">
            <a:off x="5911979" y="4882256"/>
            <a:ext cx="724968" cy="745366"/>
            <a:chOff x="809159" y="4814047"/>
            <a:chExt cx="688975" cy="745367"/>
          </a:xfrm>
        </p:grpSpPr>
        <p:sp>
          <p:nvSpPr>
            <p:cNvPr id="50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7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8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3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5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3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52" name="그룹 551"/>
          <p:cNvGrpSpPr/>
          <p:nvPr/>
        </p:nvGrpSpPr>
        <p:grpSpPr>
          <a:xfrm flipH="1">
            <a:off x="6952983" y="4882256"/>
            <a:ext cx="724968" cy="745366"/>
            <a:chOff x="809159" y="4814047"/>
            <a:chExt cx="688975" cy="745367"/>
          </a:xfrm>
        </p:grpSpPr>
        <p:sp>
          <p:nvSpPr>
            <p:cNvPr id="553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4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5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6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7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8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9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0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1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2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3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4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5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6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7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9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0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9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05" name="그룹 604"/>
          <p:cNvGrpSpPr/>
          <p:nvPr/>
        </p:nvGrpSpPr>
        <p:grpSpPr>
          <a:xfrm flipH="1">
            <a:off x="8008876" y="4861841"/>
            <a:ext cx="724968" cy="745366"/>
            <a:chOff x="809159" y="4814047"/>
            <a:chExt cx="688975" cy="745367"/>
          </a:xfrm>
        </p:grpSpPr>
        <p:sp>
          <p:nvSpPr>
            <p:cNvPr id="60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3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4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4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58" name="TextBox 657"/>
          <p:cNvSpPr txBox="1"/>
          <p:nvPr/>
        </p:nvSpPr>
        <p:spPr>
          <a:xfrm>
            <a:off x="4876119" y="506126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…………….</a:t>
            </a:r>
            <a:endParaRPr lang="ko-KR" altLang="en-US"/>
          </a:p>
        </p:txBody>
      </p:sp>
      <p:sp>
        <p:nvSpPr>
          <p:cNvPr id="659" name="TextBox 658"/>
          <p:cNvSpPr txBox="1"/>
          <p:nvPr/>
        </p:nvSpPr>
        <p:spPr>
          <a:xfrm>
            <a:off x="5983088" y="556089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244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62" name="TextBox 661"/>
          <p:cNvSpPr txBox="1"/>
          <p:nvPr/>
        </p:nvSpPr>
        <p:spPr>
          <a:xfrm>
            <a:off x="4876119" y="6042630"/>
            <a:ext cx="1787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192.168.1.255 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3" name="TextBox 662"/>
          <p:cNvSpPr txBox="1"/>
          <p:nvPr/>
        </p:nvSpPr>
        <p:spPr>
          <a:xfrm>
            <a:off x="6979970" y="557011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245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64" name="TextBox 663"/>
          <p:cNvSpPr txBox="1"/>
          <p:nvPr/>
        </p:nvSpPr>
        <p:spPr>
          <a:xfrm>
            <a:off x="8105156" y="558709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246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65" name="Rectangle 2"/>
          <p:cNvSpPr txBox="1">
            <a:spLocks noChangeArrowheads="1"/>
          </p:cNvSpPr>
          <p:nvPr/>
        </p:nvSpPr>
        <p:spPr>
          <a:xfrm>
            <a:off x="413829" y="646338"/>
            <a:ext cx="851535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 가능한 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3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3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3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3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934481" y="1795189"/>
            <a:ext cx="3038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65535-500 = 65,035</a:t>
            </a:r>
          </a:p>
          <a:p>
            <a:pPr marL="342898" indent="-342898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254-500= -246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슬라이드 번호 개체 틀 1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20505" y="263769"/>
            <a:ext cx="7886700" cy="1326174"/>
          </a:xfrm>
        </p:spPr>
        <p:txBody>
          <a:bodyPr>
            <a:normAutofit/>
          </a:bodyPr>
          <a:lstStyle/>
          <a:p>
            <a:r>
              <a:rPr lang="en-US" altLang="ko-KR" sz="3323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4) Loopback </a:t>
            </a:r>
            <a:r>
              <a:rPr lang="ko-KR" altLang="en-US" sz="3323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</a:t>
            </a:r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93582"/>
            <a:ext cx="7886700" cy="4352192"/>
          </a:xfrm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Network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부분의 값이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Class A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속한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127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이며 호스트 부분의 값은 지정되지 않은 값</a:t>
            </a:r>
          </a:p>
          <a:p>
            <a:pPr lvl="1">
              <a:lnSpc>
                <a:spcPct val="200000"/>
              </a:lnSpc>
            </a:pP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송수신 과정에 대한 시스템 내부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test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 주로 사용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345" y="3569479"/>
            <a:ext cx="4962220" cy="2800862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875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6055" y="630797"/>
            <a:ext cx="7886700" cy="795700"/>
          </a:xfrm>
        </p:spPr>
        <p:txBody>
          <a:bodyPr>
            <a:normAutofit/>
          </a:bodyPr>
          <a:lstStyle/>
          <a:p>
            <a:r>
              <a:rPr lang="ko-KR" altLang="en-US" sz="36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도메인  </a:t>
            </a:r>
          </a:p>
        </p:txBody>
      </p:sp>
      <p:sp>
        <p:nvSpPr>
          <p:cNvPr id="379" name="직사각형 378"/>
          <p:cNvSpPr/>
          <p:nvPr/>
        </p:nvSpPr>
        <p:spPr>
          <a:xfrm>
            <a:off x="962337" y="1614756"/>
            <a:ext cx="7584888" cy="245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5261" indent="-19526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전달 영역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범위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95261" indent="-19526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브로드캐스트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도메인 크기가 큼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당 수신되는 </a:t>
            </a: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수가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많을 경우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898" indent="-34289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 Broadcast domain = A Network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551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377081" y="325308"/>
            <a:ext cx="7886700" cy="795700"/>
          </a:xfrm>
        </p:spPr>
        <p:txBody>
          <a:bodyPr>
            <a:normAutofit/>
          </a:bodyPr>
          <a:lstStyle/>
          <a:p>
            <a:r>
              <a:rPr lang="ko-KR" altLang="en-US" sz="3323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3323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도메인 크기 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390248" y="988370"/>
            <a:ext cx="6468437" cy="255454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호스트 당 수신되는 </a:t>
            </a:r>
            <a:r>
              <a:rPr lang="ko-KR" altLang="en-US" sz="20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수가 많을 경우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-  Network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연결된 모든 장비의 성능 저하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- 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문제해결 어려움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관리비용 증가</a:t>
            </a:r>
            <a:endParaRPr lang="ko-KR" altLang="en-US" sz="2000" dirty="0"/>
          </a:p>
        </p:txBody>
      </p:sp>
      <p:sp>
        <p:nvSpPr>
          <p:cNvPr id="5" name="아래쪽 화살표 4"/>
          <p:cNvSpPr/>
          <p:nvPr/>
        </p:nvSpPr>
        <p:spPr>
          <a:xfrm>
            <a:off x="4141125" y="3453980"/>
            <a:ext cx="659566" cy="612731"/>
          </a:xfrm>
          <a:prstGeom prst="downArrow">
            <a:avLst>
              <a:gd name="adj1" fmla="val 46093"/>
              <a:gd name="adj2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517845" y="4066712"/>
            <a:ext cx="6190938" cy="954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도메인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크기를 줄임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8" name="아래쪽 화살표 7"/>
          <p:cNvSpPr/>
          <p:nvPr/>
        </p:nvSpPr>
        <p:spPr>
          <a:xfrm>
            <a:off x="4141125" y="5020819"/>
            <a:ext cx="659566" cy="612731"/>
          </a:xfrm>
          <a:prstGeom prst="downArrow">
            <a:avLst>
              <a:gd name="adj1" fmla="val 46093"/>
              <a:gd name="adj2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517845" y="5633550"/>
            <a:ext cx="6190938" cy="954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20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20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Subnetting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90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7740" y="696110"/>
            <a:ext cx="7886700" cy="943412"/>
          </a:xfrm>
        </p:spPr>
        <p:txBody>
          <a:bodyPr>
            <a:normAutofit/>
          </a:bodyPr>
          <a:lstStyle/>
          <a:p>
            <a:r>
              <a:rPr lang="ko-KR" altLang="en-US" sz="36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en-US" altLang="ko-KR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3600" b="1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Subnetting</a:t>
            </a:r>
            <a:r>
              <a:rPr lang="en-US" altLang="ko-KR" sz="3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3600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740" y="1639522"/>
            <a:ext cx="837346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도메인의 크기를 줄이는 기술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트래픽을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제어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기존 보다 그룹수가 늘어나지만 그룹당 포함되는 </a:t>
            </a: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호스트수를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줄임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자원을 효율적으로 사용하여 네트워크 성능향상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네트어크 자원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Bandwidth,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장비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사용률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관리 비용 감소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300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직선 연결선 353"/>
          <p:cNvCxnSpPr/>
          <p:nvPr/>
        </p:nvCxnSpPr>
        <p:spPr>
          <a:xfrm flipH="1">
            <a:off x="1171319" y="3381232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직선 연결선 355"/>
          <p:cNvCxnSpPr/>
          <p:nvPr/>
        </p:nvCxnSpPr>
        <p:spPr>
          <a:xfrm>
            <a:off x="1919370" y="3291175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/>
          <p:cNvCxnSpPr>
            <a:endCxn id="263" idx="0"/>
          </p:cNvCxnSpPr>
          <p:nvPr/>
        </p:nvCxnSpPr>
        <p:spPr>
          <a:xfrm flipH="1">
            <a:off x="6802745" y="3406913"/>
            <a:ext cx="14431" cy="12866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연결선 359"/>
          <p:cNvCxnSpPr>
            <a:stCxn id="348" idx="3"/>
          </p:cNvCxnSpPr>
          <p:nvPr/>
        </p:nvCxnSpPr>
        <p:spPr>
          <a:xfrm>
            <a:off x="7459267" y="3318255"/>
            <a:ext cx="266888" cy="1187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/>
          <p:cNvCxnSpPr/>
          <p:nvPr/>
        </p:nvCxnSpPr>
        <p:spPr>
          <a:xfrm>
            <a:off x="2247282" y="3141224"/>
            <a:ext cx="1697201" cy="0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0477" y="193956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 sz="3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ko-KR" altLang="en-US" sz="3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적용 예제 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508070" y="2690616"/>
            <a:ext cx="8287012" cy="2746205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931222" y="4338695"/>
            <a:ext cx="688975" cy="745366"/>
            <a:chOff x="809159" y="4814047"/>
            <a:chExt cx="688975" cy="745367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96918" y="50674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2025236" y="4338695"/>
            <a:ext cx="688975" cy="745366"/>
            <a:chOff x="809159" y="4814047"/>
            <a:chExt cx="688975" cy="745367"/>
          </a:xfrm>
        </p:grpSpPr>
        <p:sp>
          <p:nvSpPr>
            <p:cNvPr id="6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4755930" y="29856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……………………..</a:t>
            </a:r>
            <a:endParaRPr lang="ko-KR" altLang="en-US"/>
          </a:p>
        </p:txBody>
      </p:sp>
      <p:grpSp>
        <p:nvGrpSpPr>
          <p:cNvPr id="221" name="그룹 220"/>
          <p:cNvGrpSpPr/>
          <p:nvPr/>
        </p:nvGrpSpPr>
        <p:grpSpPr>
          <a:xfrm flipH="1">
            <a:off x="6241869" y="4359110"/>
            <a:ext cx="724968" cy="745366"/>
            <a:chOff x="809159" y="4814047"/>
            <a:chExt cx="688975" cy="745367"/>
          </a:xfrm>
        </p:grpSpPr>
        <p:sp>
          <p:nvSpPr>
            <p:cNvPr id="22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5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4" name="그룹 273"/>
          <p:cNvGrpSpPr/>
          <p:nvPr/>
        </p:nvGrpSpPr>
        <p:grpSpPr>
          <a:xfrm flipH="1">
            <a:off x="7297762" y="4338695"/>
            <a:ext cx="724968" cy="745366"/>
            <a:chOff x="809159" y="4814047"/>
            <a:chExt cx="688975" cy="745367"/>
          </a:xfrm>
        </p:grpSpPr>
        <p:sp>
          <p:nvSpPr>
            <p:cNvPr id="27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1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2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1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38" name="AutoShape 26"/>
          <p:cNvSpPr>
            <a:spLocks noChangeArrowheads="1"/>
          </p:cNvSpPr>
          <p:nvPr/>
        </p:nvSpPr>
        <p:spPr bwMode="auto">
          <a:xfrm>
            <a:off x="1193381" y="2904554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9" name="Freeform 27"/>
          <p:cNvSpPr>
            <a:spLocks/>
          </p:cNvSpPr>
          <p:nvPr/>
        </p:nvSpPr>
        <p:spPr bwMode="auto">
          <a:xfrm>
            <a:off x="1191792" y="291457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0" name="WordArt 28"/>
          <p:cNvSpPr>
            <a:spLocks noChangeArrowheads="1" noChangeShapeType="1" noTextEdit="1"/>
          </p:cNvSpPr>
          <p:nvPr/>
        </p:nvSpPr>
        <p:spPr bwMode="auto">
          <a:xfrm>
            <a:off x="1280291" y="3203916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" name="Freeform 29"/>
          <p:cNvSpPr>
            <a:spLocks/>
          </p:cNvSpPr>
          <p:nvPr/>
        </p:nvSpPr>
        <p:spPr bwMode="auto">
          <a:xfrm>
            <a:off x="1329906" y="2925686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2" name="AutoShape 26"/>
          <p:cNvSpPr>
            <a:spLocks noChangeArrowheads="1"/>
          </p:cNvSpPr>
          <p:nvPr/>
        </p:nvSpPr>
        <p:spPr bwMode="auto">
          <a:xfrm>
            <a:off x="3245349" y="2878299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3" name="Freeform 27"/>
          <p:cNvSpPr>
            <a:spLocks/>
          </p:cNvSpPr>
          <p:nvPr/>
        </p:nvSpPr>
        <p:spPr bwMode="auto">
          <a:xfrm>
            <a:off x="3243761" y="2888318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4" name="WordArt 28"/>
          <p:cNvSpPr>
            <a:spLocks noChangeArrowheads="1" noChangeShapeType="1" noTextEdit="1"/>
          </p:cNvSpPr>
          <p:nvPr/>
        </p:nvSpPr>
        <p:spPr bwMode="auto">
          <a:xfrm>
            <a:off x="3332259" y="3177661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5" name="Freeform 29"/>
          <p:cNvSpPr>
            <a:spLocks/>
          </p:cNvSpPr>
          <p:nvPr/>
        </p:nvSpPr>
        <p:spPr bwMode="auto">
          <a:xfrm>
            <a:off x="3381875" y="2899431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6" name="AutoShape 26"/>
          <p:cNvSpPr>
            <a:spLocks noChangeArrowheads="1"/>
          </p:cNvSpPr>
          <p:nvPr/>
        </p:nvSpPr>
        <p:spPr bwMode="auto">
          <a:xfrm>
            <a:off x="6492274" y="2930235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7" name="Freeform 27"/>
          <p:cNvSpPr>
            <a:spLocks/>
          </p:cNvSpPr>
          <p:nvPr/>
        </p:nvSpPr>
        <p:spPr bwMode="auto">
          <a:xfrm>
            <a:off x="6490687" y="2940254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" name="WordArt 28"/>
          <p:cNvSpPr>
            <a:spLocks noChangeArrowheads="1" noChangeShapeType="1" noTextEdit="1"/>
          </p:cNvSpPr>
          <p:nvPr/>
        </p:nvSpPr>
        <p:spPr bwMode="auto">
          <a:xfrm>
            <a:off x="6579184" y="3229597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9" name="Freeform 29"/>
          <p:cNvSpPr>
            <a:spLocks/>
          </p:cNvSpPr>
          <p:nvPr/>
        </p:nvSpPr>
        <p:spPr bwMode="auto">
          <a:xfrm>
            <a:off x="6628800" y="2951367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61" name="표 360"/>
          <p:cNvGraphicFramePr>
            <a:graphicFrameLocks noGrp="1"/>
          </p:cNvGraphicFramePr>
          <p:nvPr>
            <p:extLst/>
          </p:nvPr>
        </p:nvGraphicFramePr>
        <p:xfrm>
          <a:off x="268742" y="5555700"/>
          <a:ext cx="2903179" cy="654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4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8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541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192.168.1.1</a:t>
                      </a:r>
                      <a:endParaRPr lang="ko-KR" altLang="en-US" sz="18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192.168.1.255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62" name="TextBox 361"/>
          <p:cNvSpPr txBox="1"/>
          <p:nvPr/>
        </p:nvSpPr>
        <p:spPr>
          <a:xfrm>
            <a:off x="527717" y="5904594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     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63" name="타원 362"/>
          <p:cNvSpPr/>
          <p:nvPr/>
        </p:nvSpPr>
        <p:spPr>
          <a:xfrm>
            <a:off x="611587" y="4071848"/>
            <a:ext cx="1108743" cy="112609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5" name="직선 화살표 연결선 364"/>
          <p:cNvCxnSpPr/>
          <p:nvPr/>
        </p:nvCxnSpPr>
        <p:spPr>
          <a:xfrm flipV="1">
            <a:off x="1053880" y="3433168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화살표 연결선 366"/>
          <p:cNvCxnSpPr/>
          <p:nvPr/>
        </p:nvCxnSpPr>
        <p:spPr>
          <a:xfrm>
            <a:off x="2078736" y="3433168"/>
            <a:ext cx="28315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화살표 연결선 368"/>
          <p:cNvCxnSpPr/>
          <p:nvPr/>
        </p:nvCxnSpPr>
        <p:spPr>
          <a:xfrm>
            <a:off x="2764227" y="2985644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화살표 연결선 370"/>
          <p:cNvCxnSpPr/>
          <p:nvPr/>
        </p:nvCxnSpPr>
        <p:spPr>
          <a:xfrm>
            <a:off x="3657791" y="3433168"/>
            <a:ext cx="17253" cy="63868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화살표 연결선 372"/>
          <p:cNvCxnSpPr/>
          <p:nvPr/>
        </p:nvCxnSpPr>
        <p:spPr>
          <a:xfrm>
            <a:off x="5124280" y="2985644"/>
            <a:ext cx="111490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화살표 연결선 374"/>
          <p:cNvCxnSpPr/>
          <p:nvPr/>
        </p:nvCxnSpPr>
        <p:spPr>
          <a:xfrm flipH="1">
            <a:off x="6579184" y="3574876"/>
            <a:ext cx="49616" cy="63835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화살표 연결선 376"/>
          <p:cNvCxnSpPr/>
          <p:nvPr/>
        </p:nvCxnSpPr>
        <p:spPr>
          <a:xfrm>
            <a:off x="7363668" y="3574876"/>
            <a:ext cx="162020" cy="63835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1904933" y="50842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5744449" y="50316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192.168.1.253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7196790" y="50492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192.168.1.254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0709" y="1941476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254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3404976" y="1403796"/>
            <a:ext cx="296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263247" y="5659549"/>
            <a:ext cx="465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</a:t>
            </a:r>
            <a:r>
              <a:rPr lang="ko-KR" altLang="en-US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호스트당 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254</a:t>
            </a:r>
            <a:r>
              <a:rPr lang="ko-KR" altLang="en-US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브로드캐스트 패킷 수신 </a:t>
            </a:r>
          </a:p>
        </p:txBody>
      </p:sp>
      <p:sp>
        <p:nvSpPr>
          <p:cNvPr id="330" name="슬라이드 번호 개체 틀 3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255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1289" y="1918999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126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3525556" y="1381318"/>
            <a:ext cx="296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</a:p>
        </p:txBody>
      </p:sp>
      <p:sp>
        <p:nvSpPr>
          <p:cNvPr id="330" name="모서리가 둥근 직사각형 329"/>
          <p:cNvSpPr/>
          <p:nvPr/>
        </p:nvSpPr>
        <p:spPr>
          <a:xfrm>
            <a:off x="293216" y="2794768"/>
            <a:ext cx="4107305" cy="2953062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3" name="직선 연결선 332"/>
          <p:cNvCxnSpPr/>
          <p:nvPr/>
        </p:nvCxnSpPr>
        <p:spPr>
          <a:xfrm flipH="1">
            <a:off x="747374" y="3750852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/>
          <p:nvPr/>
        </p:nvCxnSpPr>
        <p:spPr>
          <a:xfrm>
            <a:off x="1495425" y="3660796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5" name="그룹 334"/>
          <p:cNvGrpSpPr/>
          <p:nvPr/>
        </p:nvGrpSpPr>
        <p:grpSpPr>
          <a:xfrm>
            <a:off x="507276" y="4708315"/>
            <a:ext cx="688975" cy="745366"/>
            <a:chOff x="809159" y="4814047"/>
            <a:chExt cx="688975" cy="745367"/>
          </a:xfrm>
        </p:grpSpPr>
        <p:sp>
          <p:nvSpPr>
            <p:cNvPr id="33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9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0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1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0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15" name="TextBox 414"/>
          <p:cNvSpPr txBox="1"/>
          <p:nvPr/>
        </p:nvSpPr>
        <p:spPr>
          <a:xfrm>
            <a:off x="252523" y="5483540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16" name="그룹 415"/>
          <p:cNvGrpSpPr/>
          <p:nvPr/>
        </p:nvGrpSpPr>
        <p:grpSpPr>
          <a:xfrm>
            <a:off x="1601290" y="4708315"/>
            <a:ext cx="688975" cy="745366"/>
            <a:chOff x="809159" y="4814047"/>
            <a:chExt cx="688975" cy="745367"/>
          </a:xfrm>
        </p:grpSpPr>
        <p:sp>
          <p:nvSpPr>
            <p:cNvPr id="41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4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5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5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6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5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69" name="AutoShape 26"/>
          <p:cNvSpPr>
            <a:spLocks noChangeArrowheads="1"/>
          </p:cNvSpPr>
          <p:nvPr/>
        </p:nvSpPr>
        <p:spPr bwMode="auto">
          <a:xfrm>
            <a:off x="769435" y="3274174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0" name="Freeform 27"/>
          <p:cNvSpPr>
            <a:spLocks/>
          </p:cNvSpPr>
          <p:nvPr/>
        </p:nvSpPr>
        <p:spPr bwMode="auto">
          <a:xfrm>
            <a:off x="767847" y="328419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" name="WordArt 28"/>
          <p:cNvSpPr>
            <a:spLocks noChangeArrowheads="1" noChangeShapeType="1" noTextEdit="1"/>
          </p:cNvSpPr>
          <p:nvPr/>
        </p:nvSpPr>
        <p:spPr bwMode="auto">
          <a:xfrm>
            <a:off x="856345" y="3573536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" name="Freeform 29"/>
          <p:cNvSpPr>
            <a:spLocks/>
          </p:cNvSpPr>
          <p:nvPr/>
        </p:nvSpPr>
        <p:spPr bwMode="auto">
          <a:xfrm>
            <a:off x="905961" y="3295306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3" name="타원 472"/>
          <p:cNvSpPr/>
          <p:nvPr/>
        </p:nvSpPr>
        <p:spPr>
          <a:xfrm>
            <a:off x="359462" y="4574844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4" name="직선 화살표 연결선 473"/>
          <p:cNvCxnSpPr/>
          <p:nvPr/>
        </p:nvCxnSpPr>
        <p:spPr>
          <a:xfrm flipV="1">
            <a:off x="629935" y="3802788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직선 화살표 연결선 474"/>
          <p:cNvCxnSpPr/>
          <p:nvPr/>
        </p:nvCxnSpPr>
        <p:spPr>
          <a:xfrm>
            <a:off x="1654791" y="3802788"/>
            <a:ext cx="28315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/>
          <p:cNvCxnSpPr/>
          <p:nvPr/>
        </p:nvCxnSpPr>
        <p:spPr>
          <a:xfrm>
            <a:off x="2340282" y="3355265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346537" y="5440053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478" name="직선 연결선 477"/>
          <p:cNvCxnSpPr/>
          <p:nvPr/>
        </p:nvCxnSpPr>
        <p:spPr>
          <a:xfrm>
            <a:off x="3664793" y="3643353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AutoShape 26"/>
          <p:cNvSpPr>
            <a:spLocks noChangeArrowheads="1"/>
          </p:cNvSpPr>
          <p:nvPr/>
        </p:nvSpPr>
        <p:spPr bwMode="auto">
          <a:xfrm>
            <a:off x="2892912" y="3255333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0" name="Freeform 27"/>
          <p:cNvSpPr>
            <a:spLocks/>
          </p:cNvSpPr>
          <p:nvPr/>
        </p:nvSpPr>
        <p:spPr bwMode="auto">
          <a:xfrm>
            <a:off x="2891324" y="326535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1" name="WordArt 28"/>
          <p:cNvSpPr>
            <a:spLocks noChangeArrowheads="1" noChangeShapeType="1" noTextEdit="1"/>
          </p:cNvSpPr>
          <p:nvPr/>
        </p:nvSpPr>
        <p:spPr bwMode="auto">
          <a:xfrm>
            <a:off x="2979822" y="3554695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2" name="Freeform 29"/>
          <p:cNvSpPr>
            <a:spLocks/>
          </p:cNvSpPr>
          <p:nvPr/>
        </p:nvSpPr>
        <p:spPr bwMode="auto">
          <a:xfrm>
            <a:off x="3029438" y="3276465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83" name="그룹 482"/>
          <p:cNvGrpSpPr/>
          <p:nvPr/>
        </p:nvGrpSpPr>
        <p:grpSpPr>
          <a:xfrm flipH="1">
            <a:off x="3246627" y="4748586"/>
            <a:ext cx="724968" cy="745366"/>
            <a:chOff x="809159" y="4814047"/>
            <a:chExt cx="688975" cy="745367"/>
          </a:xfrm>
        </p:grpSpPr>
        <p:sp>
          <p:nvSpPr>
            <p:cNvPr id="48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1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2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2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3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2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36" name="모서리가 둥근 직사각형 535"/>
          <p:cNvSpPr/>
          <p:nvPr/>
        </p:nvSpPr>
        <p:spPr>
          <a:xfrm>
            <a:off x="4879840" y="2794768"/>
            <a:ext cx="4107305" cy="2953062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7" name="직선 연결선 536"/>
          <p:cNvCxnSpPr/>
          <p:nvPr/>
        </p:nvCxnSpPr>
        <p:spPr>
          <a:xfrm flipH="1">
            <a:off x="5333998" y="3750852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>
            <a:off x="6082048" y="3660796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9" name="그룹 538"/>
          <p:cNvGrpSpPr/>
          <p:nvPr/>
        </p:nvGrpSpPr>
        <p:grpSpPr>
          <a:xfrm>
            <a:off x="5093901" y="4708315"/>
            <a:ext cx="688975" cy="745366"/>
            <a:chOff x="809159" y="4814047"/>
            <a:chExt cx="688975" cy="745367"/>
          </a:xfrm>
        </p:grpSpPr>
        <p:sp>
          <p:nvSpPr>
            <p:cNvPr id="54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7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9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7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92" name="TextBox 591"/>
          <p:cNvSpPr txBox="1"/>
          <p:nvPr/>
        </p:nvSpPr>
        <p:spPr>
          <a:xfrm>
            <a:off x="4830933" y="5436720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192.168.1.128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3" name="그룹 592"/>
          <p:cNvGrpSpPr/>
          <p:nvPr/>
        </p:nvGrpSpPr>
        <p:grpSpPr>
          <a:xfrm>
            <a:off x="6187915" y="4708315"/>
            <a:ext cx="688975" cy="745366"/>
            <a:chOff x="809159" y="4814047"/>
            <a:chExt cx="688975" cy="745367"/>
          </a:xfrm>
        </p:grpSpPr>
        <p:sp>
          <p:nvSpPr>
            <p:cNvPr id="59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1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2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4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3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6" name="AutoShape 26"/>
          <p:cNvSpPr>
            <a:spLocks noChangeArrowheads="1"/>
          </p:cNvSpPr>
          <p:nvPr/>
        </p:nvSpPr>
        <p:spPr bwMode="auto">
          <a:xfrm>
            <a:off x="5356059" y="3274174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7" name="Freeform 27"/>
          <p:cNvSpPr>
            <a:spLocks/>
          </p:cNvSpPr>
          <p:nvPr/>
        </p:nvSpPr>
        <p:spPr bwMode="auto">
          <a:xfrm>
            <a:off x="5354471" y="328419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8" name="WordArt 28"/>
          <p:cNvSpPr>
            <a:spLocks noChangeArrowheads="1" noChangeShapeType="1" noTextEdit="1"/>
          </p:cNvSpPr>
          <p:nvPr/>
        </p:nvSpPr>
        <p:spPr bwMode="auto">
          <a:xfrm>
            <a:off x="5442969" y="3573536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9" name="Freeform 29"/>
          <p:cNvSpPr>
            <a:spLocks/>
          </p:cNvSpPr>
          <p:nvPr/>
        </p:nvSpPr>
        <p:spPr bwMode="auto">
          <a:xfrm>
            <a:off x="5492584" y="3295306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0" name="타원 649"/>
          <p:cNvSpPr/>
          <p:nvPr/>
        </p:nvSpPr>
        <p:spPr>
          <a:xfrm>
            <a:off x="4946086" y="4574844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1" name="직선 화살표 연결선 650"/>
          <p:cNvCxnSpPr/>
          <p:nvPr/>
        </p:nvCxnSpPr>
        <p:spPr>
          <a:xfrm flipV="1">
            <a:off x="5216558" y="3802788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직선 화살표 연결선 651"/>
          <p:cNvCxnSpPr/>
          <p:nvPr/>
        </p:nvCxnSpPr>
        <p:spPr>
          <a:xfrm>
            <a:off x="6241415" y="3802788"/>
            <a:ext cx="28315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직선 화살표 연결선 652"/>
          <p:cNvCxnSpPr/>
          <p:nvPr/>
        </p:nvCxnSpPr>
        <p:spPr>
          <a:xfrm>
            <a:off x="6926906" y="3355265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054255" y="5425384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192.168.1.129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655" name="직선 연결선 654"/>
          <p:cNvCxnSpPr/>
          <p:nvPr/>
        </p:nvCxnSpPr>
        <p:spPr>
          <a:xfrm>
            <a:off x="8251416" y="3643353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AutoShape 26"/>
          <p:cNvSpPr>
            <a:spLocks noChangeArrowheads="1"/>
          </p:cNvSpPr>
          <p:nvPr/>
        </p:nvSpPr>
        <p:spPr bwMode="auto">
          <a:xfrm>
            <a:off x="7479536" y="3255333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" name="Freeform 27"/>
          <p:cNvSpPr>
            <a:spLocks/>
          </p:cNvSpPr>
          <p:nvPr/>
        </p:nvSpPr>
        <p:spPr bwMode="auto">
          <a:xfrm>
            <a:off x="7477948" y="326535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8" name="WordArt 28"/>
          <p:cNvSpPr>
            <a:spLocks noChangeArrowheads="1" noChangeShapeType="1" noTextEdit="1"/>
          </p:cNvSpPr>
          <p:nvPr/>
        </p:nvSpPr>
        <p:spPr bwMode="auto">
          <a:xfrm>
            <a:off x="7566446" y="3554695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9" name="Freeform 29"/>
          <p:cNvSpPr>
            <a:spLocks/>
          </p:cNvSpPr>
          <p:nvPr/>
        </p:nvSpPr>
        <p:spPr bwMode="auto">
          <a:xfrm>
            <a:off x="7616062" y="3276465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60" name="그룹 659"/>
          <p:cNvGrpSpPr/>
          <p:nvPr/>
        </p:nvGrpSpPr>
        <p:grpSpPr>
          <a:xfrm flipH="1">
            <a:off x="7833251" y="4748586"/>
            <a:ext cx="724968" cy="745366"/>
            <a:chOff x="809159" y="4814047"/>
            <a:chExt cx="688975" cy="745367"/>
          </a:xfrm>
        </p:grpSpPr>
        <p:sp>
          <p:nvSpPr>
            <p:cNvPr id="661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2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3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4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6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8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9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0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1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2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3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5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6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7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8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9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0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1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2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3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4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5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6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7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8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9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0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1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2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3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4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5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6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7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98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1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99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0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1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2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3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4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5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6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7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8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9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0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13" name="TextBox 712"/>
          <p:cNvSpPr txBox="1"/>
          <p:nvPr/>
        </p:nvSpPr>
        <p:spPr>
          <a:xfrm>
            <a:off x="2981689" y="5425367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7647202" y="5483540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17" name="TextBox 716"/>
          <p:cNvSpPr txBox="1"/>
          <p:nvPr/>
        </p:nvSpPr>
        <p:spPr>
          <a:xfrm>
            <a:off x="2620771" y="6053791"/>
            <a:ext cx="4695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호스트당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126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브로드캐스트 패킷 수신 </a:t>
            </a:r>
          </a:p>
        </p:txBody>
      </p:sp>
      <p:sp>
        <p:nvSpPr>
          <p:cNvPr id="718" name="제목 1"/>
          <p:cNvSpPr>
            <a:spLocks noGrp="1"/>
          </p:cNvSpPr>
          <p:nvPr>
            <p:ph type="title"/>
          </p:nvPr>
        </p:nvSpPr>
        <p:spPr>
          <a:xfrm>
            <a:off x="440477" y="193956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 sz="3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ko-KR" altLang="en-US" sz="3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적용 예제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712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6295" y="663916"/>
            <a:ext cx="100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: 62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711505" y="311112"/>
            <a:ext cx="2319866" cy="376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46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846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</a:t>
            </a:r>
            <a:r>
              <a:rPr lang="en-US" altLang="ko-KR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1846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</a:p>
        </p:txBody>
      </p:sp>
      <p:sp>
        <p:nvSpPr>
          <p:cNvPr id="330" name="모서리가 둥근 직사각형 329"/>
          <p:cNvSpPr/>
          <p:nvPr/>
        </p:nvSpPr>
        <p:spPr>
          <a:xfrm>
            <a:off x="316068" y="1074855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3" name="직선 연결선 332"/>
          <p:cNvCxnSpPr/>
          <p:nvPr/>
        </p:nvCxnSpPr>
        <p:spPr>
          <a:xfrm flipH="1">
            <a:off x="770225" y="1812875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/>
          <p:nvPr/>
        </p:nvCxnSpPr>
        <p:spPr>
          <a:xfrm>
            <a:off x="1518275" y="1722819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5" name="그룹 334"/>
          <p:cNvGrpSpPr/>
          <p:nvPr/>
        </p:nvGrpSpPr>
        <p:grpSpPr>
          <a:xfrm>
            <a:off x="530128" y="2770338"/>
            <a:ext cx="688975" cy="745366"/>
            <a:chOff x="809159" y="4814047"/>
            <a:chExt cx="688975" cy="745367"/>
          </a:xfrm>
        </p:grpSpPr>
        <p:sp>
          <p:nvSpPr>
            <p:cNvPr id="33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9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0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1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0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15" name="TextBox 414"/>
          <p:cNvSpPr txBox="1"/>
          <p:nvPr/>
        </p:nvSpPr>
        <p:spPr>
          <a:xfrm>
            <a:off x="275375" y="3545563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16" name="그룹 415"/>
          <p:cNvGrpSpPr/>
          <p:nvPr/>
        </p:nvGrpSpPr>
        <p:grpSpPr>
          <a:xfrm>
            <a:off x="1624141" y="2770338"/>
            <a:ext cx="688975" cy="745366"/>
            <a:chOff x="809159" y="4814047"/>
            <a:chExt cx="688975" cy="745367"/>
          </a:xfrm>
        </p:grpSpPr>
        <p:sp>
          <p:nvSpPr>
            <p:cNvPr id="41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4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5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5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6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5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69" name="AutoShape 26"/>
          <p:cNvSpPr>
            <a:spLocks noChangeArrowheads="1"/>
          </p:cNvSpPr>
          <p:nvPr/>
        </p:nvSpPr>
        <p:spPr bwMode="auto">
          <a:xfrm>
            <a:off x="792286" y="1336197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0" name="Freeform 27"/>
          <p:cNvSpPr>
            <a:spLocks/>
          </p:cNvSpPr>
          <p:nvPr/>
        </p:nvSpPr>
        <p:spPr bwMode="auto">
          <a:xfrm>
            <a:off x="790698" y="1346217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" name="WordArt 28"/>
          <p:cNvSpPr>
            <a:spLocks noChangeArrowheads="1" noChangeShapeType="1" noTextEdit="1"/>
          </p:cNvSpPr>
          <p:nvPr/>
        </p:nvSpPr>
        <p:spPr bwMode="auto">
          <a:xfrm>
            <a:off x="879196" y="1635559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" name="Freeform 29"/>
          <p:cNvSpPr>
            <a:spLocks/>
          </p:cNvSpPr>
          <p:nvPr/>
        </p:nvSpPr>
        <p:spPr bwMode="auto">
          <a:xfrm>
            <a:off x="928812" y="1357329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3" name="타원 472"/>
          <p:cNvSpPr/>
          <p:nvPr/>
        </p:nvSpPr>
        <p:spPr>
          <a:xfrm>
            <a:off x="382313" y="2636867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4" name="직선 화살표 연결선 473"/>
          <p:cNvCxnSpPr/>
          <p:nvPr/>
        </p:nvCxnSpPr>
        <p:spPr>
          <a:xfrm flipV="1">
            <a:off x="652786" y="1864811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/>
          <p:cNvCxnSpPr/>
          <p:nvPr/>
        </p:nvCxnSpPr>
        <p:spPr>
          <a:xfrm>
            <a:off x="2363133" y="1417288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369389" y="3502076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478" name="직선 연결선 477"/>
          <p:cNvCxnSpPr/>
          <p:nvPr/>
        </p:nvCxnSpPr>
        <p:spPr>
          <a:xfrm>
            <a:off x="3687644" y="1705376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AutoShape 26"/>
          <p:cNvSpPr>
            <a:spLocks noChangeArrowheads="1"/>
          </p:cNvSpPr>
          <p:nvPr/>
        </p:nvSpPr>
        <p:spPr bwMode="auto">
          <a:xfrm>
            <a:off x="2915763" y="1317356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0" name="Freeform 27"/>
          <p:cNvSpPr>
            <a:spLocks/>
          </p:cNvSpPr>
          <p:nvPr/>
        </p:nvSpPr>
        <p:spPr bwMode="auto">
          <a:xfrm>
            <a:off x="2914175" y="1327376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1" name="WordArt 28"/>
          <p:cNvSpPr>
            <a:spLocks noChangeArrowheads="1" noChangeShapeType="1" noTextEdit="1"/>
          </p:cNvSpPr>
          <p:nvPr/>
        </p:nvSpPr>
        <p:spPr bwMode="auto">
          <a:xfrm>
            <a:off x="3002673" y="1616718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2" name="Freeform 29"/>
          <p:cNvSpPr>
            <a:spLocks/>
          </p:cNvSpPr>
          <p:nvPr/>
        </p:nvSpPr>
        <p:spPr bwMode="auto">
          <a:xfrm>
            <a:off x="3052288" y="1338488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83" name="그룹 482"/>
          <p:cNvGrpSpPr/>
          <p:nvPr/>
        </p:nvGrpSpPr>
        <p:grpSpPr>
          <a:xfrm flipH="1">
            <a:off x="3269478" y="2810609"/>
            <a:ext cx="724968" cy="745366"/>
            <a:chOff x="809159" y="4814047"/>
            <a:chExt cx="688975" cy="745367"/>
          </a:xfrm>
        </p:grpSpPr>
        <p:sp>
          <p:nvSpPr>
            <p:cNvPr id="48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1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2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2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3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2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36" name="모서리가 둥근 직사각형 535"/>
          <p:cNvSpPr/>
          <p:nvPr/>
        </p:nvSpPr>
        <p:spPr>
          <a:xfrm>
            <a:off x="4694542" y="1074855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7" name="직선 연결선 536"/>
          <p:cNvCxnSpPr/>
          <p:nvPr/>
        </p:nvCxnSpPr>
        <p:spPr>
          <a:xfrm flipH="1">
            <a:off x="5148699" y="1812875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>
            <a:off x="5896750" y="1722819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9" name="그룹 538"/>
          <p:cNvGrpSpPr/>
          <p:nvPr/>
        </p:nvGrpSpPr>
        <p:grpSpPr>
          <a:xfrm>
            <a:off x="4908601" y="2770338"/>
            <a:ext cx="688975" cy="745366"/>
            <a:chOff x="809159" y="4814047"/>
            <a:chExt cx="688975" cy="745367"/>
          </a:xfrm>
        </p:grpSpPr>
        <p:sp>
          <p:nvSpPr>
            <p:cNvPr id="54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7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9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7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92" name="TextBox 591"/>
          <p:cNvSpPr txBox="1"/>
          <p:nvPr/>
        </p:nvSpPr>
        <p:spPr>
          <a:xfrm>
            <a:off x="4645634" y="3498743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192.168.1.65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3" name="그룹 592"/>
          <p:cNvGrpSpPr/>
          <p:nvPr/>
        </p:nvGrpSpPr>
        <p:grpSpPr>
          <a:xfrm>
            <a:off x="6002615" y="2770338"/>
            <a:ext cx="688975" cy="745366"/>
            <a:chOff x="809159" y="4814047"/>
            <a:chExt cx="688975" cy="745367"/>
          </a:xfrm>
        </p:grpSpPr>
        <p:sp>
          <p:nvSpPr>
            <p:cNvPr id="59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1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2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4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3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6" name="AutoShape 26"/>
          <p:cNvSpPr>
            <a:spLocks noChangeArrowheads="1"/>
          </p:cNvSpPr>
          <p:nvPr/>
        </p:nvSpPr>
        <p:spPr bwMode="auto">
          <a:xfrm>
            <a:off x="5170760" y="1336197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7" name="Freeform 27"/>
          <p:cNvSpPr>
            <a:spLocks/>
          </p:cNvSpPr>
          <p:nvPr/>
        </p:nvSpPr>
        <p:spPr bwMode="auto">
          <a:xfrm>
            <a:off x="5169172" y="1346217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8" name="WordArt 28"/>
          <p:cNvSpPr>
            <a:spLocks noChangeArrowheads="1" noChangeShapeType="1" noTextEdit="1"/>
          </p:cNvSpPr>
          <p:nvPr/>
        </p:nvSpPr>
        <p:spPr bwMode="auto">
          <a:xfrm>
            <a:off x="5257670" y="1635559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9" name="Freeform 29"/>
          <p:cNvSpPr>
            <a:spLocks/>
          </p:cNvSpPr>
          <p:nvPr/>
        </p:nvSpPr>
        <p:spPr bwMode="auto">
          <a:xfrm>
            <a:off x="5307286" y="1357329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0" name="타원 649"/>
          <p:cNvSpPr/>
          <p:nvPr/>
        </p:nvSpPr>
        <p:spPr>
          <a:xfrm>
            <a:off x="4760787" y="2636867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1" name="직선 화살표 연결선 650"/>
          <p:cNvCxnSpPr/>
          <p:nvPr/>
        </p:nvCxnSpPr>
        <p:spPr>
          <a:xfrm flipV="1">
            <a:off x="5031260" y="1864811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직선 화살표 연결선 652"/>
          <p:cNvCxnSpPr/>
          <p:nvPr/>
        </p:nvCxnSpPr>
        <p:spPr>
          <a:xfrm>
            <a:off x="6741607" y="1417288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5868956" y="3487407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655" name="직선 연결선 654"/>
          <p:cNvCxnSpPr/>
          <p:nvPr/>
        </p:nvCxnSpPr>
        <p:spPr>
          <a:xfrm>
            <a:off x="8066118" y="1705376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AutoShape 26"/>
          <p:cNvSpPr>
            <a:spLocks noChangeArrowheads="1"/>
          </p:cNvSpPr>
          <p:nvPr/>
        </p:nvSpPr>
        <p:spPr bwMode="auto">
          <a:xfrm>
            <a:off x="7294237" y="1317356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" name="Freeform 27"/>
          <p:cNvSpPr>
            <a:spLocks/>
          </p:cNvSpPr>
          <p:nvPr/>
        </p:nvSpPr>
        <p:spPr bwMode="auto">
          <a:xfrm>
            <a:off x="7292649" y="1327376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8" name="WordArt 28"/>
          <p:cNvSpPr>
            <a:spLocks noChangeArrowheads="1" noChangeShapeType="1" noTextEdit="1"/>
          </p:cNvSpPr>
          <p:nvPr/>
        </p:nvSpPr>
        <p:spPr bwMode="auto">
          <a:xfrm>
            <a:off x="7381147" y="1616718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9" name="Freeform 29"/>
          <p:cNvSpPr>
            <a:spLocks/>
          </p:cNvSpPr>
          <p:nvPr/>
        </p:nvSpPr>
        <p:spPr bwMode="auto">
          <a:xfrm>
            <a:off x="7430762" y="1338488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60" name="그룹 659"/>
          <p:cNvGrpSpPr/>
          <p:nvPr/>
        </p:nvGrpSpPr>
        <p:grpSpPr>
          <a:xfrm flipH="1">
            <a:off x="7647952" y="2810609"/>
            <a:ext cx="724968" cy="745366"/>
            <a:chOff x="809159" y="4814047"/>
            <a:chExt cx="688975" cy="745367"/>
          </a:xfrm>
        </p:grpSpPr>
        <p:sp>
          <p:nvSpPr>
            <p:cNvPr id="661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2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3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4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6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8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9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0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1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2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3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5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6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7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8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9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0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1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2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3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4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5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6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7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8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9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0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1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2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3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4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5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6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7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98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1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99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0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1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2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3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4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5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6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7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8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9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0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13" name="TextBox 712"/>
          <p:cNvSpPr txBox="1"/>
          <p:nvPr/>
        </p:nvSpPr>
        <p:spPr>
          <a:xfrm>
            <a:off x="3004541" y="3487390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192.168.1.62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7477785" y="3484680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61" name="모서리가 둥근 직사각형 360"/>
          <p:cNvSpPr/>
          <p:nvPr/>
        </p:nvSpPr>
        <p:spPr>
          <a:xfrm>
            <a:off x="330733" y="3871114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2" name="직선 연결선 361"/>
          <p:cNvCxnSpPr/>
          <p:nvPr/>
        </p:nvCxnSpPr>
        <p:spPr>
          <a:xfrm flipH="1">
            <a:off x="784890" y="4609133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/>
          <p:cNvCxnSpPr/>
          <p:nvPr/>
        </p:nvCxnSpPr>
        <p:spPr>
          <a:xfrm>
            <a:off x="1532940" y="4519077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그룹 364"/>
          <p:cNvGrpSpPr/>
          <p:nvPr/>
        </p:nvGrpSpPr>
        <p:grpSpPr>
          <a:xfrm>
            <a:off x="544793" y="5566596"/>
            <a:ext cx="688975" cy="745366"/>
            <a:chOff x="809159" y="4814047"/>
            <a:chExt cx="688975" cy="745367"/>
          </a:xfrm>
        </p:grpSpPr>
        <p:sp>
          <p:nvSpPr>
            <p:cNvPr id="36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6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7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4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5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4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61" name="TextBox 760"/>
          <p:cNvSpPr txBox="1"/>
          <p:nvPr/>
        </p:nvSpPr>
        <p:spPr>
          <a:xfrm>
            <a:off x="260273" y="6266887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192.168.1.129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762" name="그룹 761"/>
          <p:cNvGrpSpPr/>
          <p:nvPr/>
        </p:nvGrpSpPr>
        <p:grpSpPr>
          <a:xfrm>
            <a:off x="1638806" y="5566596"/>
            <a:ext cx="688975" cy="745366"/>
            <a:chOff x="809159" y="4814047"/>
            <a:chExt cx="688975" cy="745367"/>
          </a:xfrm>
        </p:grpSpPr>
        <p:sp>
          <p:nvSpPr>
            <p:cNvPr id="763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4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5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6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7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8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9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0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1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2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3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4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5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6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7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0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81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1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0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15" name="AutoShape 26"/>
          <p:cNvSpPr>
            <a:spLocks noChangeArrowheads="1"/>
          </p:cNvSpPr>
          <p:nvPr/>
        </p:nvSpPr>
        <p:spPr bwMode="auto">
          <a:xfrm>
            <a:off x="806951" y="4132456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6" name="Freeform 27"/>
          <p:cNvSpPr>
            <a:spLocks/>
          </p:cNvSpPr>
          <p:nvPr/>
        </p:nvSpPr>
        <p:spPr bwMode="auto">
          <a:xfrm>
            <a:off x="805363" y="4142475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7" name="WordArt 28"/>
          <p:cNvSpPr>
            <a:spLocks noChangeArrowheads="1" noChangeShapeType="1" noTextEdit="1"/>
          </p:cNvSpPr>
          <p:nvPr/>
        </p:nvSpPr>
        <p:spPr bwMode="auto">
          <a:xfrm>
            <a:off x="893861" y="4431817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8" name="Freeform 29"/>
          <p:cNvSpPr>
            <a:spLocks/>
          </p:cNvSpPr>
          <p:nvPr/>
        </p:nvSpPr>
        <p:spPr bwMode="auto">
          <a:xfrm>
            <a:off x="943477" y="4153587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" name="타원 818"/>
          <p:cNvSpPr/>
          <p:nvPr/>
        </p:nvSpPr>
        <p:spPr>
          <a:xfrm>
            <a:off x="396978" y="5433125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0" name="직선 화살표 연결선 819"/>
          <p:cNvCxnSpPr/>
          <p:nvPr/>
        </p:nvCxnSpPr>
        <p:spPr>
          <a:xfrm flipV="1">
            <a:off x="667451" y="4661070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직선 화살표 연결선 821"/>
          <p:cNvCxnSpPr/>
          <p:nvPr/>
        </p:nvCxnSpPr>
        <p:spPr>
          <a:xfrm>
            <a:off x="2377798" y="4213546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" name="TextBox 822"/>
          <p:cNvSpPr txBox="1"/>
          <p:nvPr/>
        </p:nvSpPr>
        <p:spPr>
          <a:xfrm>
            <a:off x="1489186" y="6269937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192.168.1.130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824" name="직선 연결선 823"/>
          <p:cNvCxnSpPr/>
          <p:nvPr/>
        </p:nvCxnSpPr>
        <p:spPr>
          <a:xfrm>
            <a:off x="3702308" y="4501634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5" name="AutoShape 26"/>
          <p:cNvSpPr>
            <a:spLocks noChangeArrowheads="1"/>
          </p:cNvSpPr>
          <p:nvPr/>
        </p:nvSpPr>
        <p:spPr bwMode="auto">
          <a:xfrm>
            <a:off x="2930428" y="4113615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6" name="Freeform 27"/>
          <p:cNvSpPr>
            <a:spLocks/>
          </p:cNvSpPr>
          <p:nvPr/>
        </p:nvSpPr>
        <p:spPr bwMode="auto">
          <a:xfrm>
            <a:off x="2928840" y="412363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" name="WordArt 28"/>
          <p:cNvSpPr>
            <a:spLocks noChangeArrowheads="1" noChangeShapeType="1" noTextEdit="1"/>
          </p:cNvSpPr>
          <p:nvPr/>
        </p:nvSpPr>
        <p:spPr bwMode="auto">
          <a:xfrm>
            <a:off x="3017338" y="4412976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8" name="Freeform 29"/>
          <p:cNvSpPr>
            <a:spLocks/>
          </p:cNvSpPr>
          <p:nvPr/>
        </p:nvSpPr>
        <p:spPr bwMode="auto">
          <a:xfrm>
            <a:off x="3066953" y="4134746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29" name="그룹 828"/>
          <p:cNvGrpSpPr/>
          <p:nvPr/>
        </p:nvGrpSpPr>
        <p:grpSpPr>
          <a:xfrm flipH="1">
            <a:off x="3284143" y="5606867"/>
            <a:ext cx="724968" cy="745366"/>
            <a:chOff x="809159" y="4814047"/>
            <a:chExt cx="688975" cy="745367"/>
          </a:xfrm>
        </p:grpSpPr>
        <p:sp>
          <p:nvSpPr>
            <p:cNvPr id="83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7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8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6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88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8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6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82" name="TextBox 881"/>
          <p:cNvSpPr txBox="1"/>
          <p:nvPr/>
        </p:nvSpPr>
        <p:spPr>
          <a:xfrm>
            <a:off x="3019205" y="6283648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192.168.1.190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83" name="모서리가 둥근 직사각형 882"/>
          <p:cNvSpPr/>
          <p:nvPr/>
        </p:nvSpPr>
        <p:spPr>
          <a:xfrm>
            <a:off x="4760787" y="3855724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4" name="직선 연결선 883"/>
          <p:cNvCxnSpPr/>
          <p:nvPr/>
        </p:nvCxnSpPr>
        <p:spPr>
          <a:xfrm flipH="1">
            <a:off x="5214944" y="4593744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직선 연결선 884"/>
          <p:cNvCxnSpPr/>
          <p:nvPr/>
        </p:nvCxnSpPr>
        <p:spPr>
          <a:xfrm>
            <a:off x="5962994" y="4503688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6" name="그룹 885"/>
          <p:cNvGrpSpPr/>
          <p:nvPr/>
        </p:nvGrpSpPr>
        <p:grpSpPr>
          <a:xfrm>
            <a:off x="4974847" y="5551207"/>
            <a:ext cx="688975" cy="745366"/>
            <a:chOff x="809159" y="4814047"/>
            <a:chExt cx="688975" cy="745367"/>
          </a:xfrm>
        </p:grpSpPr>
        <p:sp>
          <p:nvSpPr>
            <p:cNvPr id="88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4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5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2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93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2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39" name="TextBox 938"/>
          <p:cNvSpPr txBox="1"/>
          <p:nvPr/>
        </p:nvSpPr>
        <p:spPr>
          <a:xfrm>
            <a:off x="4692360" y="6265952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192.168.1.193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940" name="그룹 939"/>
          <p:cNvGrpSpPr/>
          <p:nvPr/>
        </p:nvGrpSpPr>
        <p:grpSpPr>
          <a:xfrm>
            <a:off x="6068861" y="5551207"/>
            <a:ext cx="688975" cy="745366"/>
            <a:chOff x="809159" y="4814047"/>
            <a:chExt cx="688975" cy="745367"/>
          </a:xfrm>
        </p:grpSpPr>
        <p:sp>
          <p:nvSpPr>
            <p:cNvPr id="941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2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3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4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6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8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9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0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1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2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3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5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6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7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8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9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0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1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2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3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4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5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6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7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8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9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0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1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2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3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4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5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6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7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8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99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79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0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1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2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4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5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6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7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8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9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0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93" name="AutoShape 26"/>
          <p:cNvSpPr>
            <a:spLocks noChangeArrowheads="1"/>
          </p:cNvSpPr>
          <p:nvPr/>
        </p:nvSpPr>
        <p:spPr bwMode="auto">
          <a:xfrm>
            <a:off x="5237005" y="4117066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4" name="Freeform 27"/>
          <p:cNvSpPr>
            <a:spLocks/>
          </p:cNvSpPr>
          <p:nvPr/>
        </p:nvSpPr>
        <p:spPr bwMode="auto">
          <a:xfrm>
            <a:off x="5235417" y="4127085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5" name="WordArt 28"/>
          <p:cNvSpPr>
            <a:spLocks noChangeArrowheads="1" noChangeShapeType="1" noTextEdit="1"/>
          </p:cNvSpPr>
          <p:nvPr/>
        </p:nvSpPr>
        <p:spPr bwMode="auto">
          <a:xfrm>
            <a:off x="5323915" y="4416428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6" name="Freeform 29"/>
          <p:cNvSpPr>
            <a:spLocks/>
          </p:cNvSpPr>
          <p:nvPr/>
        </p:nvSpPr>
        <p:spPr bwMode="auto">
          <a:xfrm>
            <a:off x="5373530" y="4138198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7" name="타원 996"/>
          <p:cNvSpPr/>
          <p:nvPr/>
        </p:nvSpPr>
        <p:spPr>
          <a:xfrm>
            <a:off x="4827032" y="5417736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8" name="직선 화살표 연결선 997"/>
          <p:cNvCxnSpPr/>
          <p:nvPr/>
        </p:nvCxnSpPr>
        <p:spPr>
          <a:xfrm flipV="1">
            <a:off x="5097504" y="4645680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직선 화살표 연결선 999"/>
          <p:cNvCxnSpPr/>
          <p:nvPr/>
        </p:nvCxnSpPr>
        <p:spPr>
          <a:xfrm>
            <a:off x="6807852" y="4198157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TextBox 1000"/>
          <p:cNvSpPr txBox="1"/>
          <p:nvPr/>
        </p:nvSpPr>
        <p:spPr>
          <a:xfrm>
            <a:off x="5963568" y="6236684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192.168.1.194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002" name="직선 연결선 1001"/>
          <p:cNvCxnSpPr/>
          <p:nvPr/>
        </p:nvCxnSpPr>
        <p:spPr>
          <a:xfrm>
            <a:off x="8132362" y="4486245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" name="AutoShape 26"/>
          <p:cNvSpPr>
            <a:spLocks noChangeArrowheads="1"/>
          </p:cNvSpPr>
          <p:nvPr/>
        </p:nvSpPr>
        <p:spPr bwMode="auto">
          <a:xfrm>
            <a:off x="7360482" y="4098225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4" name="Freeform 27"/>
          <p:cNvSpPr>
            <a:spLocks/>
          </p:cNvSpPr>
          <p:nvPr/>
        </p:nvSpPr>
        <p:spPr bwMode="auto">
          <a:xfrm>
            <a:off x="7358894" y="4108245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5" name="WordArt 28"/>
          <p:cNvSpPr>
            <a:spLocks noChangeArrowheads="1" noChangeShapeType="1" noTextEdit="1"/>
          </p:cNvSpPr>
          <p:nvPr/>
        </p:nvSpPr>
        <p:spPr bwMode="auto">
          <a:xfrm>
            <a:off x="7447392" y="4397587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6" name="Freeform 29"/>
          <p:cNvSpPr>
            <a:spLocks/>
          </p:cNvSpPr>
          <p:nvPr/>
        </p:nvSpPr>
        <p:spPr bwMode="auto">
          <a:xfrm>
            <a:off x="7497007" y="4119357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07" name="그룹 1006"/>
          <p:cNvGrpSpPr/>
          <p:nvPr/>
        </p:nvGrpSpPr>
        <p:grpSpPr>
          <a:xfrm flipH="1">
            <a:off x="7714197" y="5591478"/>
            <a:ext cx="724968" cy="745366"/>
            <a:chOff x="809159" y="4814047"/>
            <a:chExt cx="688975" cy="745367"/>
          </a:xfrm>
        </p:grpSpPr>
        <p:sp>
          <p:nvSpPr>
            <p:cNvPr id="100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5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6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4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05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4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60" name="TextBox 1059"/>
          <p:cNvSpPr txBox="1"/>
          <p:nvPr/>
        </p:nvSpPr>
        <p:spPr>
          <a:xfrm>
            <a:off x="7449259" y="6268259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192.168.1.254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4461436" y="355645"/>
            <a:ext cx="456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호스트당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62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브로드캐스트 패킷 수신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791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161" y="439616"/>
            <a:ext cx="7886700" cy="854319"/>
          </a:xfrm>
        </p:spPr>
        <p:txBody>
          <a:bodyPr>
            <a:normAutofit/>
          </a:bodyPr>
          <a:lstStyle/>
          <a:p>
            <a:r>
              <a:rPr lang="en-US" altLang="ko-KR" sz="3323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2) CIDR </a:t>
            </a:r>
            <a:r>
              <a:rPr lang="ko-KR" altLang="en-US" sz="3323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표기법</a:t>
            </a:r>
            <a:r>
              <a:rPr lang="ko-KR" altLang="en-US" sz="3323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88024" y="1293936"/>
            <a:ext cx="8255977" cy="5290038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Classless Inter-Domain Routing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약자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20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마스크 표기 방법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개수를 서브넷 마스크로 표시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비트수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255.255.255.0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→ </a:t>
            </a:r>
            <a:r>
              <a:rPr lang="en-US" altLang="ko-KR" sz="2000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1111 1111.1111 1111.1111 1111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.0000 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                1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개수가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24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 이므로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CIDR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/24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255.255.0.0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→ </a:t>
            </a:r>
            <a:r>
              <a:rPr lang="en-US" altLang="ko-KR" sz="2000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1111 1111.1111 1111.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0000 0000.0000 0000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                1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개수가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16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 이므로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CIDR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/16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255.0.0.0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→ </a:t>
            </a:r>
            <a:r>
              <a:rPr lang="en-US" altLang="ko-KR" sz="2000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1111 1111.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0000 0000.0000 0000.0000 0000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                1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개수가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 이므로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CIDR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/8</a:t>
            </a:r>
            <a:endParaRPr lang="ko-KR" altLang="en-US" sz="2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76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943" y="488195"/>
            <a:ext cx="7886700" cy="854319"/>
          </a:xfrm>
        </p:spPr>
        <p:txBody>
          <a:bodyPr>
            <a:normAutofit/>
          </a:bodyPr>
          <a:lstStyle/>
          <a:p>
            <a:r>
              <a:rPr lang="en-US" altLang="ko-KR" sz="3323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CIDR </a:t>
            </a:r>
            <a:r>
              <a:rPr lang="ko-KR" altLang="en-US" sz="3323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표기법</a:t>
            </a:r>
            <a:r>
              <a:rPr lang="ko-KR" altLang="en-US" sz="3323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3323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예제</a:t>
            </a:r>
            <a:r>
              <a:rPr lang="ko-KR" altLang="en-US" sz="3323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729788" y="1643965"/>
            <a:ext cx="8414212" cy="40609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1. </a:t>
            </a:r>
            <a:r>
              <a:rPr lang="ko-KR" altLang="en-US" sz="2215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CIDR </a:t>
            </a:r>
            <a:r>
              <a:rPr lang="ko-KR" altLang="en-US" sz="2215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표기법을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2215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진수 서브넷 마스크로 표시하라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.  </a:t>
            </a:r>
          </a:p>
          <a:p>
            <a:pPr marL="266698" indent="0">
              <a:lnSpc>
                <a:spcPct val="150000"/>
              </a:lnSpc>
              <a:buNone/>
            </a:pPr>
            <a:r>
              <a:rPr lang="ko-KR" altLang="en-US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➀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/18</a:t>
            </a:r>
          </a:p>
          <a:p>
            <a:pPr marL="266698" indent="0">
              <a:lnSpc>
                <a:spcPct val="150000"/>
              </a:lnSpc>
              <a:buNone/>
            </a:pPr>
            <a:r>
              <a:rPr lang="ko-KR" altLang="en-US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➁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/26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2.  10</a:t>
            </a:r>
            <a:r>
              <a:rPr lang="ko-KR" altLang="en-US" sz="2215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진수 서브넷마스크를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CIDR </a:t>
            </a:r>
            <a:r>
              <a:rPr lang="ko-KR" altLang="en-US" sz="2215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표기법으로 표시하라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.  </a:t>
            </a:r>
          </a:p>
          <a:p>
            <a:pPr marL="266698" indent="0">
              <a:lnSpc>
                <a:spcPct val="150000"/>
              </a:lnSpc>
              <a:buNone/>
            </a:pPr>
            <a:r>
              <a:rPr lang="ko-KR" altLang="en-US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➀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255.255.240.0</a:t>
            </a:r>
          </a:p>
          <a:p>
            <a:pPr marL="266698" indent="0">
              <a:lnSpc>
                <a:spcPct val="150000"/>
              </a:lnSpc>
              <a:buNone/>
            </a:pPr>
            <a:r>
              <a:rPr lang="ko-KR" altLang="en-US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➁ </a:t>
            </a:r>
            <a:r>
              <a:rPr lang="en-US" altLang="ko-KR" sz="2215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255.255.255.240</a:t>
            </a:r>
          </a:p>
          <a:p>
            <a:pPr marL="266698" indent="0">
              <a:lnSpc>
                <a:spcPct val="150000"/>
              </a:lnSpc>
              <a:buNone/>
            </a:pPr>
            <a:endParaRPr lang="en-US" altLang="ko-KR" sz="2215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66698" indent="0">
              <a:lnSpc>
                <a:spcPct val="150000"/>
              </a:lnSpc>
              <a:buNone/>
            </a:pPr>
            <a:endParaRPr lang="en-US" altLang="ko-KR" sz="2215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441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0"/>
          <p:cNvSpPr>
            <a:spLocks noChangeArrowheads="1"/>
          </p:cNvSpPr>
          <p:nvPr/>
        </p:nvSpPr>
        <p:spPr bwMode="auto">
          <a:xfrm>
            <a:off x="1940598" y="207700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19598" y="347791"/>
            <a:ext cx="7886700" cy="854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323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CIDR</a:t>
            </a:r>
            <a:r>
              <a:rPr lang="ko-KR" altLang="en-US" sz="3323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기반의 서브넷팅</a:t>
            </a:r>
            <a:endParaRPr lang="ko-KR" altLang="en-US" sz="3323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443887" y="2944530"/>
          <a:ext cx="8149600" cy="829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</a:tblGrid>
              <a:tr h="457200"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2" name="직선 화살표 연결선 11"/>
          <p:cNvCxnSpPr/>
          <p:nvPr/>
        </p:nvCxnSpPr>
        <p:spPr>
          <a:xfrm>
            <a:off x="6595495" y="3936137"/>
            <a:ext cx="482138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443886" y="2713440"/>
            <a:ext cx="6134888" cy="19934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6578774" y="2713440"/>
            <a:ext cx="2014712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23305" y="2353470"/>
            <a:ext cx="2573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bit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(24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6565" y="2366287"/>
            <a:ext cx="1899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 bit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90024" y="4024347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SubnetIDbit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ko-K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2336" y="1399860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적용예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2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7197311" y="3945691"/>
            <a:ext cx="1433246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3971" y="3998579"/>
            <a:ext cx="1784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HostIDbit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22731" y="1441766"/>
            <a:ext cx="4607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192.168.1.0/24  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62312" y="4571384"/>
            <a:ext cx="8445825" cy="1796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8" indent="-2857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디폴트 </a:t>
            </a: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마스크에서 네트워크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비트수를 늘리고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수를 줄이는 것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디폴트 그룹보다 그룹 수 증가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 호스트 수 감소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85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직선 연결선 353"/>
          <p:cNvCxnSpPr/>
          <p:nvPr/>
        </p:nvCxnSpPr>
        <p:spPr>
          <a:xfrm flipH="1">
            <a:off x="1114878" y="3862914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직선 연결선 355"/>
          <p:cNvCxnSpPr/>
          <p:nvPr/>
        </p:nvCxnSpPr>
        <p:spPr>
          <a:xfrm>
            <a:off x="1862928" y="3772857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/>
          <p:cNvCxnSpPr>
            <a:endCxn id="263" idx="0"/>
          </p:cNvCxnSpPr>
          <p:nvPr/>
        </p:nvCxnSpPr>
        <p:spPr>
          <a:xfrm flipH="1">
            <a:off x="6746303" y="3888596"/>
            <a:ext cx="14431" cy="12866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연결선 359"/>
          <p:cNvCxnSpPr>
            <a:stCxn id="348" idx="3"/>
          </p:cNvCxnSpPr>
          <p:nvPr/>
        </p:nvCxnSpPr>
        <p:spPr>
          <a:xfrm>
            <a:off x="7402826" y="3799937"/>
            <a:ext cx="266888" cy="1187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/>
          <p:cNvCxnSpPr/>
          <p:nvPr/>
        </p:nvCxnSpPr>
        <p:spPr>
          <a:xfrm>
            <a:off x="2190841" y="3622907"/>
            <a:ext cx="1697201" cy="0"/>
          </a:xfrm>
          <a:prstGeom prst="line">
            <a:avLst/>
          </a:prstGeom>
          <a:ln w="317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0477" y="193956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 sz="3323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ko-KR" altLang="en-US" sz="3323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적용 예제 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451628" y="3172299"/>
            <a:ext cx="8287012" cy="2746205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74781" y="4820377"/>
            <a:ext cx="688975" cy="745366"/>
            <a:chOff x="809159" y="4814047"/>
            <a:chExt cx="688975" cy="745367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40478" y="55491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192.168.130.1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968795" y="4820377"/>
            <a:ext cx="688975" cy="745366"/>
            <a:chOff x="809159" y="4814047"/>
            <a:chExt cx="688975" cy="745367"/>
          </a:xfrm>
        </p:grpSpPr>
        <p:sp>
          <p:nvSpPr>
            <p:cNvPr id="6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4699489" y="34673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……………………..</a:t>
            </a:r>
            <a:endParaRPr lang="ko-KR" altLang="en-US"/>
          </a:p>
        </p:txBody>
      </p:sp>
      <p:grpSp>
        <p:nvGrpSpPr>
          <p:cNvPr id="221" name="그룹 220"/>
          <p:cNvGrpSpPr/>
          <p:nvPr/>
        </p:nvGrpSpPr>
        <p:grpSpPr>
          <a:xfrm flipH="1">
            <a:off x="6185428" y="4840792"/>
            <a:ext cx="724968" cy="745366"/>
            <a:chOff x="809159" y="4814047"/>
            <a:chExt cx="688975" cy="745367"/>
          </a:xfrm>
        </p:grpSpPr>
        <p:sp>
          <p:nvSpPr>
            <p:cNvPr id="22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5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4" name="그룹 273"/>
          <p:cNvGrpSpPr/>
          <p:nvPr/>
        </p:nvGrpSpPr>
        <p:grpSpPr>
          <a:xfrm flipH="1">
            <a:off x="7241321" y="4820377"/>
            <a:ext cx="724968" cy="745366"/>
            <a:chOff x="809159" y="4814047"/>
            <a:chExt cx="688975" cy="745367"/>
          </a:xfrm>
        </p:grpSpPr>
        <p:sp>
          <p:nvSpPr>
            <p:cNvPr id="27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2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1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32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31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38" name="AutoShape 26"/>
          <p:cNvSpPr>
            <a:spLocks noChangeArrowheads="1"/>
          </p:cNvSpPr>
          <p:nvPr/>
        </p:nvSpPr>
        <p:spPr bwMode="auto">
          <a:xfrm>
            <a:off x="1136939" y="3386237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9" name="Freeform 27"/>
          <p:cNvSpPr>
            <a:spLocks/>
          </p:cNvSpPr>
          <p:nvPr/>
        </p:nvSpPr>
        <p:spPr bwMode="auto">
          <a:xfrm>
            <a:off x="1135351" y="3396256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0" name="WordArt 28"/>
          <p:cNvSpPr>
            <a:spLocks noChangeArrowheads="1" noChangeShapeType="1" noTextEdit="1"/>
          </p:cNvSpPr>
          <p:nvPr/>
        </p:nvSpPr>
        <p:spPr bwMode="auto">
          <a:xfrm>
            <a:off x="1223849" y="3685598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1" name="Freeform 29"/>
          <p:cNvSpPr>
            <a:spLocks/>
          </p:cNvSpPr>
          <p:nvPr/>
        </p:nvSpPr>
        <p:spPr bwMode="auto">
          <a:xfrm>
            <a:off x="1273465" y="3407368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2" name="AutoShape 26"/>
          <p:cNvSpPr>
            <a:spLocks noChangeArrowheads="1"/>
          </p:cNvSpPr>
          <p:nvPr/>
        </p:nvSpPr>
        <p:spPr bwMode="auto">
          <a:xfrm>
            <a:off x="3188908" y="3359982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3" name="Freeform 27"/>
          <p:cNvSpPr>
            <a:spLocks/>
          </p:cNvSpPr>
          <p:nvPr/>
        </p:nvSpPr>
        <p:spPr bwMode="auto">
          <a:xfrm>
            <a:off x="3187320" y="3370001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4" name="WordArt 28"/>
          <p:cNvSpPr>
            <a:spLocks noChangeArrowheads="1" noChangeShapeType="1" noTextEdit="1"/>
          </p:cNvSpPr>
          <p:nvPr/>
        </p:nvSpPr>
        <p:spPr bwMode="auto">
          <a:xfrm>
            <a:off x="3275818" y="3659343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5" name="Freeform 29"/>
          <p:cNvSpPr>
            <a:spLocks/>
          </p:cNvSpPr>
          <p:nvPr/>
        </p:nvSpPr>
        <p:spPr bwMode="auto">
          <a:xfrm>
            <a:off x="3325433" y="3381113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6" name="AutoShape 26"/>
          <p:cNvSpPr>
            <a:spLocks noChangeArrowheads="1"/>
          </p:cNvSpPr>
          <p:nvPr/>
        </p:nvSpPr>
        <p:spPr bwMode="auto">
          <a:xfrm>
            <a:off x="6435833" y="3411918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7" name="Freeform 27"/>
          <p:cNvSpPr>
            <a:spLocks/>
          </p:cNvSpPr>
          <p:nvPr/>
        </p:nvSpPr>
        <p:spPr bwMode="auto">
          <a:xfrm>
            <a:off x="6434245" y="3421937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" name="WordArt 28"/>
          <p:cNvSpPr>
            <a:spLocks noChangeArrowheads="1" noChangeShapeType="1" noTextEdit="1"/>
          </p:cNvSpPr>
          <p:nvPr/>
        </p:nvSpPr>
        <p:spPr bwMode="auto">
          <a:xfrm>
            <a:off x="6522743" y="3711279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9" name="Freeform 29"/>
          <p:cNvSpPr>
            <a:spLocks/>
          </p:cNvSpPr>
          <p:nvPr/>
        </p:nvSpPr>
        <p:spPr bwMode="auto">
          <a:xfrm>
            <a:off x="6572358" y="3433049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3" name="타원 362"/>
          <p:cNvSpPr/>
          <p:nvPr/>
        </p:nvSpPr>
        <p:spPr>
          <a:xfrm>
            <a:off x="555146" y="4553530"/>
            <a:ext cx="1108743" cy="112609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5" name="직선 화살표 연결선 364"/>
          <p:cNvCxnSpPr/>
          <p:nvPr/>
        </p:nvCxnSpPr>
        <p:spPr>
          <a:xfrm flipV="1">
            <a:off x="997439" y="3914851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화살표 연결선 366"/>
          <p:cNvCxnSpPr/>
          <p:nvPr/>
        </p:nvCxnSpPr>
        <p:spPr>
          <a:xfrm>
            <a:off x="2022294" y="3914851"/>
            <a:ext cx="28315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직선 화살표 연결선 368"/>
          <p:cNvCxnSpPr/>
          <p:nvPr/>
        </p:nvCxnSpPr>
        <p:spPr>
          <a:xfrm>
            <a:off x="2707786" y="3467327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화살표 연결선 370"/>
          <p:cNvCxnSpPr/>
          <p:nvPr/>
        </p:nvCxnSpPr>
        <p:spPr>
          <a:xfrm>
            <a:off x="3601349" y="3914851"/>
            <a:ext cx="17253" cy="63868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화살표 연결선 372"/>
          <p:cNvCxnSpPr/>
          <p:nvPr/>
        </p:nvCxnSpPr>
        <p:spPr>
          <a:xfrm>
            <a:off x="5067838" y="3467327"/>
            <a:ext cx="111490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화살표 연결선 374"/>
          <p:cNvCxnSpPr/>
          <p:nvPr/>
        </p:nvCxnSpPr>
        <p:spPr>
          <a:xfrm flipH="1">
            <a:off x="6522743" y="4056558"/>
            <a:ext cx="49616" cy="63835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화살표 연결선 376"/>
          <p:cNvCxnSpPr/>
          <p:nvPr/>
        </p:nvCxnSpPr>
        <p:spPr>
          <a:xfrm>
            <a:off x="7307227" y="4056558"/>
            <a:ext cx="162020" cy="63835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6758481" y="553155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192.168.130.254</a:t>
            </a:r>
            <a:endParaRPr lang="ko-KR" altLang="en-US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2087539" y="2299592"/>
            <a:ext cx="4450257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15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2215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215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2215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그룹당호스트수 </a:t>
            </a:r>
            <a:r>
              <a:rPr lang="en-US" altLang="ko-KR" sz="2215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 1 : 254</a:t>
            </a:r>
            <a:endParaRPr lang="ko-KR" altLang="en-US" sz="2215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637952" y="1606638"/>
            <a:ext cx="2664512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en-US" altLang="ko-KR" sz="2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192.168.1.0/24</a:t>
            </a:r>
            <a:r>
              <a:rPr lang="ko-KR" altLang="en-US" sz="2215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</a:t>
            </a:r>
            <a:r>
              <a:rPr lang="ko-KR" altLang="en-US" sz="2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21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086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0477" y="193956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 sz="3323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서브넷팅</a:t>
            </a:r>
            <a:r>
              <a:rPr lang="ko-KR" altLang="en-US" sz="3323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적용 예제 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087539" y="2299593"/>
            <a:ext cx="3599062" cy="376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46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846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그룹당호스트수 </a:t>
            </a:r>
            <a:r>
              <a:rPr lang="en-US" altLang="ko-KR" sz="1846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 4 : 62</a:t>
            </a:r>
            <a:endParaRPr lang="ko-KR" altLang="en-US" sz="1846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637953" y="1606638"/>
            <a:ext cx="2820003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en-US" altLang="ko-KR" sz="2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 </a:t>
            </a:r>
            <a:r>
              <a:rPr lang="ko-KR" altLang="en-US" sz="2215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</a:t>
            </a:r>
            <a:r>
              <a:rPr lang="ko-KR" altLang="en-US" sz="2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21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" name="표 326"/>
          <p:cNvGraphicFramePr>
            <a:graphicFrameLocks noGrp="1"/>
          </p:cNvGraphicFramePr>
          <p:nvPr>
            <p:extLst/>
          </p:nvPr>
        </p:nvGraphicFramePr>
        <p:xfrm>
          <a:off x="637953" y="3303996"/>
          <a:ext cx="8149602" cy="829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54675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</a:tblGrid>
              <a:tr h="457200"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331" name="직선 화살표 연결선 330"/>
          <p:cNvCxnSpPr/>
          <p:nvPr/>
        </p:nvCxnSpPr>
        <p:spPr>
          <a:xfrm>
            <a:off x="6722539" y="4284297"/>
            <a:ext cx="482138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/>
          <p:cNvSpPr txBox="1"/>
          <p:nvPr/>
        </p:nvSpPr>
        <p:spPr>
          <a:xfrm>
            <a:off x="5933364" y="4319600"/>
            <a:ext cx="15376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SubnetIDbit</a:t>
            </a:r>
            <a:endParaRPr lang="en-US" altLang="ko-K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(2</a:t>
            </a:r>
            <a:r>
              <a:rPr lang="ko-KR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직선 화살표 연결선 333"/>
          <p:cNvCxnSpPr/>
          <p:nvPr/>
        </p:nvCxnSpPr>
        <p:spPr>
          <a:xfrm>
            <a:off x="7354307" y="4284297"/>
            <a:ext cx="1433246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7470965" y="4337185"/>
            <a:ext cx="12795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HostIDbit</a:t>
            </a:r>
            <a:endParaRPr lang="en-US" altLang="ko-K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(6</a:t>
            </a:r>
            <a:r>
              <a:rPr lang="ko-KR" alt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585577" y="5236152"/>
            <a:ext cx="792556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lnSpc>
                <a:spcPct val="150000"/>
              </a:lnSpc>
              <a:buFontTx/>
              <a:buChar char="-"/>
            </a:pP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Subnet ID bit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수가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개이므로 생성 가능한 그룹 수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2  =4</a:t>
            </a:r>
          </a:p>
          <a:p>
            <a:pPr marL="342898" indent="-342898">
              <a:lnSpc>
                <a:spcPct val="150000"/>
              </a:lnSpc>
              <a:buFontTx/>
              <a:buChar char="-"/>
            </a:pP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Host ID bit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수가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개이므로 생성 가능한 호스트 수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2 -2=62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7278773" y="5293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7278773" y="58186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489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모서리가 둥근 직사각형 329"/>
          <p:cNvSpPr/>
          <p:nvPr/>
        </p:nvSpPr>
        <p:spPr>
          <a:xfrm>
            <a:off x="332692" y="1243828"/>
            <a:ext cx="4107305" cy="2399772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" name="모서리가 둥근 직사각형 535"/>
          <p:cNvSpPr/>
          <p:nvPr/>
        </p:nvSpPr>
        <p:spPr>
          <a:xfrm>
            <a:off x="4711167" y="1243828"/>
            <a:ext cx="4107305" cy="2399772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61" name="모서리가 둥근 직사각형 360"/>
          <p:cNvSpPr/>
          <p:nvPr/>
        </p:nvSpPr>
        <p:spPr>
          <a:xfrm>
            <a:off x="332692" y="3839655"/>
            <a:ext cx="4107305" cy="2599749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3" name="모서리가 둥근 직사각형 882"/>
          <p:cNvSpPr/>
          <p:nvPr/>
        </p:nvSpPr>
        <p:spPr>
          <a:xfrm>
            <a:off x="4711166" y="3825486"/>
            <a:ext cx="4107305" cy="261391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21" name="TextBox 820"/>
          <p:cNvSpPr txBox="1"/>
          <p:nvPr/>
        </p:nvSpPr>
        <p:spPr>
          <a:xfrm>
            <a:off x="1980335" y="656021"/>
            <a:ext cx="4628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그룹수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그룹당호스트수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 4 : 62</a:t>
            </a:r>
            <a:endParaRPr lang="ko-KR" altLang="en-US" sz="2400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26582" y="1730030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000000)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520753" y="1733967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000000)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4" name="TextBox 1113"/>
          <p:cNvSpPr txBox="1"/>
          <p:nvPr/>
        </p:nvSpPr>
        <p:spPr>
          <a:xfrm>
            <a:off x="393396" y="4400577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000000)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5" name="TextBox 1114"/>
          <p:cNvSpPr txBox="1"/>
          <p:nvPr/>
        </p:nvSpPr>
        <p:spPr>
          <a:xfrm>
            <a:off x="4826581" y="4501456"/>
            <a:ext cx="1826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000000)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2616680" y="1730030"/>
            <a:ext cx="179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111111)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7" name="TextBox 1116"/>
          <p:cNvSpPr txBox="1"/>
          <p:nvPr/>
        </p:nvSpPr>
        <p:spPr>
          <a:xfrm>
            <a:off x="7137883" y="1730030"/>
            <a:ext cx="1622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111111)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8" name="TextBox 1117"/>
          <p:cNvSpPr txBox="1"/>
          <p:nvPr/>
        </p:nvSpPr>
        <p:spPr>
          <a:xfrm>
            <a:off x="2704696" y="4396639"/>
            <a:ext cx="179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111111)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7258021" y="4449047"/>
            <a:ext cx="1610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altLang="ko-KR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111111)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06171" y="1736812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∽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6607637" y="1698827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∽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2155350" y="431054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∽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6731079" y="4362956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7324" y="2514121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할당 가능한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 범위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192.168.1.1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192.168.1.62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23" name="TextBox 1122"/>
          <p:cNvSpPr txBox="1"/>
          <p:nvPr/>
        </p:nvSpPr>
        <p:spPr>
          <a:xfrm>
            <a:off x="5191309" y="2597518"/>
            <a:ext cx="3400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할당 가능한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 범위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192.168.1.65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192.168.1.126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24" name="TextBox 1123"/>
          <p:cNvSpPr txBox="1"/>
          <p:nvPr/>
        </p:nvSpPr>
        <p:spPr>
          <a:xfrm>
            <a:off x="812837" y="5523177"/>
            <a:ext cx="3526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할당 가능한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 범위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192.168.1.129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192.168.1.190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064672" y="5630068"/>
            <a:ext cx="3526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할당 가능한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 범위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192.168.1.193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192.168.1.254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60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모서리가 둥근 직사각형 329"/>
          <p:cNvSpPr/>
          <p:nvPr/>
        </p:nvSpPr>
        <p:spPr>
          <a:xfrm>
            <a:off x="332692" y="908602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3" name="직선 연결선 332"/>
          <p:cNvCxnSpPr/>
          <p:nvPr/>
        </p:nvCxnSpPr>
        <p:spPr>
          <a:xfrm flipH="1">
            <a:off x="786850" y="1646621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/>
          <p:nvPr/>
        </p:nvCxnSpPr>
        <p:spPr>
          <a:xfrm>
            <a:off x="1534900" y="1556565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5" name="그룹 334"/>
          <p:cNvGrpSpPr/>
          <p:nvPr/>
        </p:nvGrpSpPr>
        <p:grpSpPr>
          <a:xfrm>
            <a:off x="546753" y="2604084"/>
            <a:ext cx="688975" cy="745366"/>
            <a:chOff x="809159" y="4814047"/>
            <a:chExt cx="688975" cy="745367"/>
          </a:xfrm>
        </p:grpSpPr>
        <p:sp>
          <p:nvSpPr>
            <p:cNvPr id="33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9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0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1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0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15" name="TextBox 414"/>
          <p:cNvSpPr txBox="1"/>
          <p:nvPr/>
        </p:nvSpPr>
        <p:spPr>
          <a:xfrm>
            <a:off x="291999" y="3379309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16" name="그룹 415"/>
          <p:cNvGrpSpPr/>
          <p:nvPr/>
        </p:nvGrpSpPr>
        <p:grpSpPr>
          <a:xfrm>
            <a:off x="1640767" y="2604084"/>
            <a:ext cx="688975" cy="745366"/>
            <a:chOff x="809159" y="4814047"/>
            <a:chExt cx="688975" cy="745367"/>
          </a:xfrm>
        </p:grpSpPr>
        <p:sp>
          <p:nvSpPr>
            <p:cNvPr id="41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4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5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5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46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5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69" name="AutoShape 26"/>
          <p:cNvSpPr>
            <a:spLocks noChangeArrowheads="1"/>
          </p:cNvSpPr>
          <p:nvPr/>
        </p:nvSpPr>
        <p:spPr bwMode="auto">
          <a:xfrm>
            <a:off x="808911" y="1169944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0" name="Freeform 27"/>
          <p:cNvSpPr>
            <a:spLocks/>
          </p:cNvSpPr>
          <p:nvPr/>
        </p:nvSpPr>
        <p:spPr bwMode="auto">
          <a:xfrm>
            <a:off x="807323" y="117996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" name="WordArt 28"/>
          <p:cNvSpPr>
            <a:spLocks noChangeArrowheads="1" noChangeShapeType="1" noTextEdit="1"/>
          </p:cNvSpPr>
          <p:nvPr/>
        </p:nvSpPr>
        <p:spPr bwMode="auto">
          <a:xfrm>
            <a:off x="895821" y="1469305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2" name="Freeform 29"/>
          <p:cNvSpPr>
            <a:spLocks/>
          </p:cNvSpPr>
          <p:nvPr/>
        </p:nvSpPr>
        <p:spPr bwMode="auto">
          <a:xfrm>
            <a:off x="945436" y="1191075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3" name="타원 472"/>
          <p:cNvSpPr/>
          <p:nvPr/>
        </p:nvSpPr>
        <p:spPr>
          <a:xfrm>
            <a:off x="398938" y="2470613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4" name="직선 화살표 연결선 473"/>
          <p:cNvCxnSpPr/>
          <p:nvPr/>
        </p:nvCxnSpPr>
        <p:spPr>
          <a:xfrm flipV="1">
            <a:off x="669410" y="1698558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/>
          <p:cNvCxnSpPr/>
          <p:nvPr/>
        </p:nvCxnSpPr>
        <p:spPr>
          <a:xfrm>
            <a:off x="2379758" y="1251034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386013" y="3335823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478" name="직선 연결선 477"/>
          <p:cNvCxnSpPr/>
          <p:nvPr/>
        </p:nvCxnSpPr>
        <p:spPr>
          <a:xfrm>
            <a:off x="3704268" y="1539122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AutoShape 26"/>
          <p:cNvSpPr>
            <a:spLocks noChangeArrowheads="1"/>
          </p:cNvSpPr>
          <p:nvPr/>
        </p:nvSpPr>
        <p:spPr bwMode="auto">
          <a:xfrm>
            <a:off x="2932388" y="1151103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0" name="Freeform 27"/>
          <p:cNvSpPr>
            <a:spLocks/>
          </p:cNvSpPr>
          <p:nvPr/>
        </p:nvSpPr>
        <p:spPr bwMode="auto">
          <a:xfrm>
            <a:off x="2930800" y="1161121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1" name="WordArt 28"/>
          <p:cNvSpPr>
            <a:spLocks noChangeArrowheads="1" noChangeShapeType="1" noTextEdit="1"/>
          </p:cNvSpPr>
          <p:nvPr/>
        </p:nvSpPr>
        <p:spPr bwMode="auto">
          <a:xfrm>
            <a:off x="3019298" y="1450464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2" name="Freeform 29"/>
          <p:cNvSpPr>
            <a:spLocks/>
          </p:cNvSpPr>
          <p:nvPr/>
        </p:nvSpPr>
        <p:spPr bwMode="auto">
          <a:xfrm>
            <a:off x="3068914" y="1172234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83" name="그룹 482"/>
          <p:cNvGrpSpPr/>
          <p:nvPr/>
        </p:nvGrpSpPr>
        <p:grpSpPr>
          <a:xfrm flipH="1">
            <a:off x="3286103" y="2644355"/>
            <a:ext cx="724968" cy="745366"/>
            <a:chOff x="809159" y="4814047"/>
            <a:chExt cx="688975" cy="745367"/>
          </a:xfrm>
        </p:grpSpPr>
        <p:sp>
          <p:nvSpPr>
            <p:cNvPr id="48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1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2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2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3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2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36" name="모서리가 둥근 직사각형 535"/>
          <p:cNvSpPr/>
          <p:nvPr/>
        </p:nvSpPr>
        <p:spPr>
          <a:xfrm>
            <a:off x="4711167" y="908602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7" name="직선 연결선 536"/>
          <p:cNvCxnSpPr/>
          <p:nvPr/>
        </p:nvCxnSpPr>
        <p:spPr>
          <a:xfrm flipH="1">
            <a:off x="5165324" y="1646621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>
            <a:off x="5913374" y="1556565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9" name="그룹 538"/>
          <p:cNvGrpSpPr/>
          <p:nvPr/>
        </p:nvGrpSpPr>
        <p:grpSpPr>
          <a:xfrm>
            <a:off x="4925227" y="2604084"/>
            <a:ext cx="688975" cy="745366"/>
            <a:chOff x="809159" y="4814047"/>
            <a:chExt cx="688975" cy="745367"/>
          </a:xfrm>
        </p:grpSpPr>
        <p:sp>
          <p:nvSpPr>
            <p:cNvPr id="54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7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9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7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92" name="TextBox 591"/>
          <p:cNvSpPr txBox="1"/>
          <p:nvPr/>
        </p:nvSpPr>
        <p:spPr>
          <a:xfrm>
            <a:off x="4662259" y="3332489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192.168.1.65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593" name="그룹 592"/>
          <p:cNvGrpSpPr/>
          <p:nvPr/>
        </p:nvGrpSpPr>
        <p:grpSpPr>
          <a:xfrm>
            <a:off x="6019241" y="2604084"/>
            <a:ext cx="688975" cy="745366"/>
            <a:chOff x="809159" y="4814047"/>
            <a:chExt cx="688975" cy="745367"/>
          </a:xfrm>
        </p:grpSpPr>
        <p:sp>
          <p:nvSpPr>
            <p:cNvPr id="59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1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2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4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3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46" name="AutoShape 26"/>
          <p:cNvSpPr>
            <a:spLocks noChangeArrowheads="1"/>
          </p:cNvSpPr>
          <p:nvPr/>
        </p:nvSpPr>
        <p:spPr bwMode="auto">
          <a:xfrm>
            <a:off x="5187385" y="1169944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7" name="Freeform 27"/>
          <p:cNvSpPr>
            <a:spLocks/>
          </p:cNvSpPr>
          <p:nvPr/>
        </p:nvSpPr>
        <p:spPr bwMode="auto">
          <a:xfrm>
            <a:off x="5185797" y="1179963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8" name="WordArt 28"/>
          <p:cNvSpPr>
            <a:spLocks noChangeArrowheads="1" noChangeShapeType="1" noTextEdit="1"/>
          </p:cNvSpPr>
          <p:nvPr/>
        </p:nvSpPr>
        <p:spPr bwMode="auto">
          <a:xfrm>
            <a:off x="5274295" y="1469305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9" name="Freeform 29"/>
          <p:cNvSpPr>
            <a:spLocks/>
          </p:cNvSpPr>
          <p:nvPr/>
        </p:nvSpPr>
        <p:spPr bwMode="auto">
          <a:xfrm>
            <a:off x="5323910" y="1191075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0" name="타원 649"/>
          <p:cNvSpPr/>
          <p:nvPr/>
        </p:nvSpPr>
        <p:spPr>
          <a:xfrm>
            <a:off x="4777412" y="2470613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1" name="직선 화살표 연결선 650"/>
          <p:cNvCxnSpPr/>
          <p:nvPr/>
        </p:nvCxnSpPr>
        <p:spPr>
          <a:xfrm flipV="1">
            <a:off x="5047884" y="1698558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직선 화살표 연결선 652"/>
          <p:cNvCxnSpPr/>
          <p:nvPr/>
        </p:nvCxnSpPr>
        <p:spPr>
          <a:xfrm>
            <a:off x="6758232" y="1251034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5885581" y="3321152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655" name="직선 연결선 654"/>
          <p:cNvCxnSpPr/>
          <p:nvPr/>
        </p:nvCxnSpPr>
        <p:spPr>
          <a:xfrm>
            <a:off x="8082742" y="1539122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AutoShape 26"/>
          <p:cNvSpPr>
            <a:spLocks noChangeArrowheads="1"/>
          </p:cNvSpPr>
          <p:nvPr/>
        </p:nvSpPr>
        <p:spPr bwMode="auto">
          <a:xfrm>
            <a:off x="7310862" y="1151103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7" name="Freeform 27"/>
          <p:cNvSpPr>
            <a:spLocks/>
          </p:cNvSpPr>
          <p:nvPr/>
        </p:nvSpPr>
        <p:spPr bwMode="auto">
          <a:xfrm>
            <a:off x="7309274" y="1161121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8" name="WordArt 28"/>
          <p:cNvSpPr>
            <a:spLocks noChangeArrowheads="1" noChangeShapeType="1" noTextEdit="1"/>
          </p:cNvSpPr>
          <p:nvPr/>
        </p:nvSpPr>
        <p:spPr bwMode="auto">
          <a:xfrm>
            <a:off x="7397772" y="1450464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9" name="Freeform 29"/>
          <p:cNvSpPr>
            <a:spLocks/>
          </p:cNvSpPr>
          <p:nvPr/>
        </p:nvSpPr>
        <p:spPr bwMode="auto">
          <a:xfrm>
            <a:off x="7447387" y="1172234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60" name="그룹 659"/>
          <p:cNvGrpSpPr/>
          <p:nvPr/>
        </p:nvGrpSpPr>
        <p:grpSpPr>
          <a:xfrm flipH="1">
            <a:off x="7664577" y="2644355"/>
            <a:ext cx="724968" cy="745366"/>
            <a:chOff x="809159" y="4814047"/>
            <a:chExt cx="688975" cy="745367"/>
          </a:xfrm>
        </p:grpSpPr>
        <p:sp>
          <p:nvSpPr>
            <p:cNvPr id="661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2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3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4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6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8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9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0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1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2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3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5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6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7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8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9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0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1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2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3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4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5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6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7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8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9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0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1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2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3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4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5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6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7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98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1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99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0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1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2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3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4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5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6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7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8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9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0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13" name="TextBox 712"/>
          <p:cNvSpPr txBox="1"/>
          <p:nvPr/>
        </p:nvSpPr>
        <p:spPr>
          <a:xfrm>
            <a:off x="3021165" y="3321136"/>
            <a:ext cx="1101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192.168.1.62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7494410" y="3318426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192.168.1.126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61" name="모서리가 둥근 직사각형 360"/>
          <p:cNvSpPr/>
          <p:nvPr/>
        </p:nvSpPr>
        <p:spPr>
          <a:xfrm>
            <a:off x="332692" y="3839655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2" name="직선 연결선 361"/>
          <p:cNvCxnSpPr/>
          <p:nvPr/>
        </p:nvCxnSpPr>
        <p:spPr>
          <a:xfrm flipH="1">
            <a:off x="786850" y="4577675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/>
          <p:cNvCxnSpPr/>
          <p:nvPr/>
        </p:nvCxnSpPr>
        <p:spPr>
          <a:xfrm>
            <a:off x="1534900" y="4487619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그룹 364"/>
          <p:cNvGrpSpPr/>
          <p:nvPr/>
        </p:nvGrpSpPr>
        <p:grpSpPr>
          <a:xfrm>
            <a:off x="546753" y="5535138"/>
            <a:ext cx="688975" cy="745366"/>
            <a:chOff x="809159" y="4814047"/>
            <a:chExt cx="688975" cy="745367"/>
          </a:xfrm>
        </p:grpSpPr>
        <p:sp>
          <p:nvSpPr>
            <p:cNvPr id="36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6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7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4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5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74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61" name="TextBox 760"/>
          <p:cNvSpPr txBox="1"/>
          <p:nvPr/>
        </p:nvSpPr>
        <p:spPr>
          <a:xfrm>
            <a:off x="262233" y="6235429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192.168.1.129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762" name="그룹 761"/>
          <p:cNvGrpSpPr/>
          <p:nvPr/>
        </p:nvGrpSpPr>
        <p:grpSpPr>
          <a:xfrm>
            <a:off x="1640767" y="5535138"/>
            <a:ext cx="688975" cy="745366"/>
            <a:chOff x="809159" y="4814047"/>
            <a:chExt cx="688975" cy="745367"/>
          </a:xfrm>
        </p:grpSpPr>
        <p:sp>
          <p:nvSpPr>
            <p:cNvPr id="763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4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5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6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7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8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9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0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1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2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3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4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5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6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7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8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9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0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1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2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3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4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5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6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7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8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9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0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1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2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3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4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5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6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7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8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9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00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813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14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01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2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3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4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5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6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7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8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9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0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1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2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15" name="AutoShape 26"/>
          <p:cNvSpPr>
            <a:spLocks noChangeArrowheads="1"/>
          </p:cNvSpPr>
          <p:nvPr/>
        </p:nvSpPr>
        <p:spPr bwMode="auto">
          <a:xfrm>
            <a:off x="808911" y="4100997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6" name="Freeform 27"/>
          <p:cNvSpPr>
            <a:spLocks/>
          </p:cNvSpPr>
          <p:nvPr/>
        </p:nvSpPr>
        <p:spPr bwMode="auto">
          <a:xfrm>
            <a:off x="807323" y="4111017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7" name="WordArt 28"/>
          <p:cNvSpPr>
            <a:spLocks noChangeArrowheads="1" noChangeShapeType="1" noTextEdit="1"/>
          </p:cNvSpPr>
          <p:nvPr/>
        </p:nvSpPr>
        <p:spPr bwMode="auto">
          <a:xfrm>
            <a:off x="895821" y="4400359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8" name="Freeform 29"/>
          <p:cNvSpPr>
            <a:spLocks/>
          </p:cNvSpPr>
          <p:nvPr/>
        </p:nvSpPr>
        <p:spPr bwMode="auto">
          <a:xfrm>
            <a:off x="945436" y="4122129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" name="타원 818"/>
          <p:cNvSpPr/>
          <p:nvPr/>
        </p:nvSpPr>
        <p:spPr>
          <a:xfrm>
            <a:off x="398938" y="5401667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0" name="직선 화살표 연결선 819"/>
          <p:cNvCxnSpPr/>
          <p:nvPr/>
        </p:nvCxnSpPr>
        <p:spPr>
          <a:xfrm flipV="1">
            <a:off x="669410" y="4629611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직선 화살표 연결선 821"/>
          <p:cNvCxnSpPr/>
          <p:nvPr/>
        </p:nvCxnSpPr>
        <p:spPr>
          <a:xfrm>
            <a:off x="2379758" y="4182088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" name="TextBox 822"/>
          <p:cNvSpPr txBox="1"/>
          <p:nvPr/>
        </p:nvSpPr>
        <p:spPr>
          <a:xfrm>
            <a:off x="1491146" y="6238480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192.168.1.130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824" name="직선 연결선 823"/>
          <p:cNvCxnSpPr/>
          <p:nvPr/>
        </p:nvCxnSpPr>
        <p:spPr>
          <a:xfrm>
            <a:off x="3704268" y="4470176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5" name="AutoShape 26"/>
          <p:cNvSpPr>
            <a:spLocks noChangeArrowheads="1"/>
          </p:cNvSpPr>
          <p:nvPr/>
        </p:nvSpPr>
        <p:spPr bwMode="auto">
          <a:xfrm>
            <a:off x="2932388" y="4082156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6" name="Freeform 27"/>
          <p:cNvSpPr>
            <a:spLocks/>
          </p:cNvSpPr>
          <p:nvPr/>
        </p:nvSpPr>
        <p:spPr bwMode="auto">
          <a:xfrm>
            <a:off x="2930800" y="4092176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" name="WordArt 28"/>
          <p:cNvSpPr>
            <a:spLocks noChangeArrowheads="1" noChangeShapeType="1" noTextEdit="1"/>
          </p:cNvSpPr>
          <p:nvPr/>
        </p:nvSpPr>
        <p:spPr bwMode="auto">
          <a:xfrm>
            <a:off x="3019298" y="4381518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8" name="Freeform 29"/>
          <p:cNvSpPr>
            <a:spLocks/>
          </p:cNvSpPr>
          <p:nvPr/>
        </p:nvSpPr>
        <p:spPr bwMode="auto">
          <a:xfrm>
            <a:off x="3068914" y="4103288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29" name="그룹 828"/>
          <p:cNvGrpSpPr/>
          <p:nvPr/>
        </p:nvGrpSpPr>
        <p:grpSpPr>
          <a:xfrm flipH="1">
            <a:off x="3286103" y="5575409"/>
            <a:ext cx="724968" cy="745366"/>
            <a:chOff x="809159" y="4814047"/>
            <a:chExt cx="688975" cy="745367"/>
          </a:xfrm>
        </p:grpSpPr>
        <p:sp>
          <p:nvSpPr>
            <p:cNvPr id="83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7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8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6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88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8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6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82" name="TextBox 881"/>
          <p:cNvSpPr txBox="1"/>
          <p:nvPr/>
        </p:nvSpPr>
        <p:spPr>
          <a:xfrm>
            <a:off x="3021165" y="6252190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192.168.1.190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83" name="모서리가 둥근 직사각형 882"/>
          <p:cNvSpPr/>
          <p:nvPr/>
        </p:nvSpPr>
        <p:spPr>
          <a:xfrm>
            <a:off x="4762746" y="3824267"/>
            <a:ext cx="4107305" cy="2734998"/>
          </a:xfrm>
          <a:prstGeom prst="roundRect">
            <a:avLst>
              <a:gd name="adj" fmla="val 54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4" name="직선 연결선 883"/>
          <p:cNvCxnSpPr/>
          <p:nvPr/>
        </p:nvCxnSpPr>
        <p:spPr>
          <a:xfrm flipH="1">
            <a:off x="5216904" y="4562286"/>
            <a:ext cx="158586" cy="1126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직선 연결선 884"/>
          <p:cNvCxnSpPr/>
          <p:nvPr/>
        </p:nvCxnSpPr>
        <p:spPr>
          <a:xfrm>
            <a:off x="5964955" y="4472229"/>
            <a:ext cx="344582" cy="1332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6" name="그룹 885"/>
          <p:cNvGrpSpPr/>
          <p:nvPr/>
        </p:nvGrpSpPr>
        <p:grpSpPr>
          <a:xfrm>
            <a:off x="4976806" y="5519749"/>
            <a:ext cx="688975" cy="745366"/>
            <a:chOff x="809159" y="4814047"/>
            <a:chExt cx="688975" cy="745367"/>
          </a:xfrm>
        </p:grpSpPr>
        <p:sp>
          <p:nvSpPr>
            <p:cNvPr id="88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4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5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2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93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2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39" name="TextBox 938"/>
          <p:cNvSpPr txBox="1"/>
          <p:nvPr/>
        </p:nvSpPr>
        <p:spPr>
          <a:xfrm>
            <a:off x="4694320" y="6234495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192.168.1.193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940" name="그룹 939"/>
          <p:cNvGrpSpPr/>
          <p:nvPr/>
        </p:nvGrpSpPr>
        <p:grpSpPr>
          <a:xfrm>
            <a:off x="6070821" y="5519749"/>
            <a:ext cx="688975" cy="745366"/>
            <a:chOff x="809159" y="4814047"/>
            <a:chExt cx="688975" cy="745367"/>
          </a:xfrm>
        </p:grpSpPr>
        <p:sp>
          <p:nvSpPr>
            <p:cNvPr id="941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2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3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4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5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6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7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8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9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0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1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2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3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4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5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6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7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8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9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0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1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2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3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4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5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6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7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8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9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0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1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2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3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4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5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6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7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978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99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979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0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1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2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4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5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6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7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8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9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0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93" name="AutoShape 26"/>
          <p:cNvSpPr>
            <a:spLocks noChangeArrowheads="1"/>
          </p:cNvSpPr>
          <p:nvPr/>
        </p:nvSpPr>
        <p:spPr bwMode="auto">
          <a:xfrm>
            <a:off x="5238965" y="4085609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4" name="Freeform 27"/>
          <p:cNvSpPr>
            <a:spLocks/>
          </p:cNvSpPr>
          <p:nvPr/>
        </p:nvSpPr>
        <p:spPr bwMode="auto">
          <a:xfrm>
            <a:off x="5237377" y="4095628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5" name="WordArt 28"/>
          <p:cNvSpPr>
            <a:spLocks noChangeArrowheads="1" noChangeShapeType="1" noTextEdit="1"/>
          </p:cNvSpPr>
          <p:nvPr/>
        </p:nvSpPr>
        <p:spPr bwMode="auto">
          <a:xfrm>
            <a:off x="5325875" y="4384970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6" name="Freeform 29"/>
          <p:cNvSpPr>
            <a:spLocks/>
          </p:cNvSpPr>
          <p:nvPr/>
        </p:nvSpPr>
        <p:spPr bwMode="auto">
          <a:xfrm>
            <a:off x="5375490" y="4106740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7" name="타원 996"/>
          <p:cNvSpPr/>
          <p:nvPr/>
        </p:nvSpPr>
        <p:spPr>
          <a:xfrm>
            <a:off x="4828992" y="5386278"/>
            <a:ext cx="850540" cy="89174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8" name="직선 화살표 연결선 997"/>
          <p:cNvCxnSpPr/>
          <p:nvPr/>
        </p:nvCxnSpPr>
        <p:spPr>
          <a:xfrm flipV="1">
            <a:off x="5099464" y="4614223"/>
            <a:ext cx="125268" cy="78006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직선 화살표 연결선 999"/>
          <p:cNvCxnSpPr/>
          <p:nvPr/>
        </p:nvCxnSpPr>
        <p:spPr>
          <a:xfrm>
            <a:off x="6809812" y="4166699"/>
            <a:ext cx="407693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TextBox 1000"/>
          <p:cNvSpPr txBox="1"/>
          <p:nvPr/>
        </p:nvSpPr>
        <p:spPr>
          <a:xfrm>
            <a:off x="5965528" y="6205227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192.168.1.194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002" name="직선 연결선 1001"/>
          <p:cNvCxnSpPr/>
          <p:nvPr/>
        </p:nvCxnSpPr>
        <p:spPr>
          <a:xfrm>
            <a:off x="8134323" y="4454787"/>
            <a:ext cx="14073" cy="14200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" name="AutoShape 26"/>
          <p:cNvSpPr>
            <a:spLocks noChangeArrowheads="1"/>
          </p:cNvSpPr>
          <p:nvPr/>
        </p:nvSpPr>
        <p:spPr bwMode="auto">
          <a:xfrm>
            <a:off x="7362442" y="4066768"/>
            <a:ext cx="1311770" cy="502933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4" name="Freeform 27"/>
          <p:cNvSpPr>
            <a:spLocks/>
          </p:cNvSpPr>
          <p:nvPr/>
        </p:nvSpPr>
        <p:spPr bwMode="auto">
          <a:xfrm>
            <a:off x="7360854" y="4076787"/>
            <a:ext cx="1313163" cy="282631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rgbClr val="777777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5" name="WordArt 28"/>
          <p:cNvSpPr>
            <a:spLocks noChangeArrowheads="1" noChangeShapeType="1" noTextEdit="1"/>
          </p:cNvSpPr>
          <p:nvPr/>
        </p:nvSpPr>
        <p:spPr bwMode="auto">
          <a:xfrm>
            <a:off x="7449352" y="4366129"/>
            <a:ext cx="880083" cy="1773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endParaRPr lang="ko-KR" altLang="en-US" sz="1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6" name="Freeform 29"/>
          <p:cNvSpPr>
            <a:spLocks/>
          </p:cNvSpPr>
          <p:nvPr/>
        </p:nvSpPr>
        <p:spPr bwMode="auto">
          <a:xfrm>
            <a:off x="7498968" y="4087899"/>
            <a:ext cx="1077824" cy="241795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4D4D4D"/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600" kern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07" name="그룹 1006"/>
          <p:cNvGrpSpPr/>
          <p:nvPr/>
        </p:nvGrpSpPr>
        <p:grpSpPr>
          <a:xfrm flipH="1">
            <a:off x="7716157" y="5560020"/>
            <a:ext cx="724968" cy="745366"/>
            <a:chOff x="809159" y="4814047"/>
            <a:chExt cx="688975" cy="745367"/>
          </a:xfrm>
        </p:grpSpPr>
        <p:sp>
          <p:nvSpPr>
            <p:cNvPr id="100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5" name="Freeform 182"/>
            <p:cNvSpPr>
              <a:spLocks/>
            </p:cNvSpPr>
            <p:nvPr/>
          </p:nvSpPr>
          <p:spPr bwMode="auto">
            <a:xfrm flipH="1">
              <a:off x="972042" y="5257793"/>
              <a:ext cx="175560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6" name="Freeform 183"/>
            <p:cNvSpPr>
              <a:spLocks/>
            </p:cNvSpPr>
            <p:nvPr/>
          </p:nvSpPr>
          <p:spPr bwMode="auto">
            <a:xfrm flipH="1">
              <a:off x="986393" y="5247727"/>
              <a:ext cx="175560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4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05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4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60" name="TextBox 1059"/>
          <p:cNvSpPr txBox="1"/>
          <p:nvPr/>
        </p:nvSpPr>
        <p:spPr>
          <a:xfrm>
            <a:off x="7451219" y="6236801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192.168.1.254</a:t>
            </a:r>
            <a:endParaRPr lang="ko-KR" altLang="en-US" sz="13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99" name="TextBox 998"/>
          <p:cNvSpPr txBox="1"/>
          <p:nvPr/>
        </p:nvSpPr>
        <p:spPr>
          <a:xfrm>
            <a:off x="6351369" y="1794577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192.168.1.64/26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1634536" y="179553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1776419" y="4885375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192.168.1.128/26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6286225" y="4712600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192.168.1.192/26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004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322518" y="1250691"/>
            <a:ext cx="6429442" cy="4514352"/>
            <a:chOff x="1337204" y="1160463"/>
            <a:chExt cx="6429442" cy="4514352"/>
          </a:xfrm>
        </p:grpSpPr>
        <p:sp>
          <p:nvSpPr>
            <p:cNvPr id="87044" name="Rectangle 52"/>
            <p:cNvSpPr>
              <a:spLocks noChangeArrowheads="1"/>
            </p:cNvSpPr>
            <p:nvPr/>
          </p:nvSpPr>
          <p:spPr bwMode="auto">
            <a:xfrm>
              <a:off x="1491191" y="2017713"/>
              <a:ext cx="6275455" cy="3657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6532" tIns="58267" rIns="116532" bIns="58267">
              <a:spAutoFit/>
            </a:bodyPr>
            <a:lstStyle/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	0	0	0	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128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	0	0	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192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	0	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224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	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240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248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1	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	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252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1	1	1	1	</a:t>
              </a:r>
              <a:r>
                <a:rPr lang="en-US" altLang="ko-KR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=	254</a:t>
              </a:r>
            </a:p>
            <a:p>
              <a:pPr defTabSz="1028694" eaLnBrk="0" hangingPunct="0">
                <a:spcBef>
                  <a:spcPct val="50000"/>
                </a:spcBef>
                <a:tabLst>
                  <a:tab pos="647696" algn="ctr"/>
                  <a:tab pos="1285867" algn="ctr"/>
                  <a:tab pos="1933564" algn="ctr"/>
                  <a:tab pos="2571735" algn="ctr"/>
                  <a:tab pos="3219431" algn="ctr"/>
                  <a:tab pos="3857603" algn="ctr"/>
                  <a:tab pos="4505299" algn="ctr"/>
                  <a:tab pos="5143471" algn="ctr"/>
                  <a:tab pos="5791167" algn="ctr"/>
                </a:tabLst>
              </a:pPr>
              <a:r>
                <a: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	1	1	1	1	1	1	1	=	255</a:t>
              </a:r>
            </a:p>
          </p:txBody>
        </p:sp>
        <p:sp>
          <p:nvSpPr>
            <p:cNvPr id="87045" name="Rectangle 53"/>
            <p:cNvSpPr>
              <a:spLocks noChangeArrowheads="1"/>
            </p:cNvSpPr>
            <p:nvPr/>
          </p:nvSpPr>
          <p:spPr bwMode="auto">
            <a:xfrm>
              <a:off x="1337204" y="1160463"/>
              <a:ext cx="4973817" cy="425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6532" tIns="58267" rIns="116532" bIns="58267">
              <a:spAutoFit/>
            </a:bodyPr>
            <a:lstStyle/>
            <a:p>
              <a:pPr defTabSz="1028694" eaLnBrk="0" hangingPunct="0">
                <a:spcBef>
                  <a:spcPct val="50000"/>
                </a:spcBef>
                <a:tabLst>
                  <a:tab pos="771521" algn="ctr"/>
                  <a:tab pos="1419216" algn="ctr"/>
                  <a:tab pos="2057388" algn="ctr"/>
                  <a:tab pos="2705085" algn="ctr"/>
                  <a:tab pos="3343256" algn="ctr"/>
                  <a:tab pos="3990952" algn="ctr"/>
                  <a:tab pos="4629123" algn="ctr"/>
                  <a:tab pos="5143471" algn="ctr"/>
                  <a:tab pos="5791167" algn="ctr"/>
                </a:tabLst>
              </a:pPr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128  	64	32	16	8	4	2	1</a:t>
              </a:r>
            </a:p>
          </p:txBody>
        </p:sp>
        <p:sp>
          <p:nvSpPr>
            <p:cNvPr id="87054" name="Line 62"/>
            <p:cNvSpPr>
              <a:spLocks noChangeShapeType="1"/>
            </p:cNvSpPr>
            <p:nvPr/>
          </p:nvSpPr>
          <p:spPr bwMode="auto">
            <a:xfrm>
              <a:off x="1422929" y="1958975"/>
              <a:ext cx="4973637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16532" tIns="58267" rIns="116532" bIns="58267">
              <a:spAutoFit/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8239" name="Line 63"/>
            <p:cNvSpPr>
              <a:spLocks noChangeShapeType="1"/>
            </p:cNvSpPr>
            <p:nvPr/>
          </p:nvSpPr>
          <p:spPr bwMode="auto">
            <a:xfrm>
              <a:off x="1680104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0" name="Line 64"/>
            <p:cNvSpPr>
              <a:spLocks noChangeShapeType="1"/>
            </p:cNvSpPr>
            <p:nvPr/>
          </p:nvSpPr>
          <p:spPr bwMode="auto">
            <a:xfrm>
              <a:off x="2221441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1" name="Line 65"/>
            <p:cNvSpPr>
              <a:spLocks noChangeShapeType="1"/>
            </p:cNvSpPr>
            <p:nvPr/>
          </p:nvSpPr>
          <p:spPr bwMode="auto">
            <a:xfrm>
              <a:off x="2880254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2" name="Line 66"/>
            <p:cNvSpPr>
              <a:spLocks noChangeShapeType="1"/>
            </p:cNvSpPr>
            <p:nvPr/>
          </p:nvSpPr>
          <p:spPr bwMode="auto">
            <a:xfrm>
              <a:off x="3507316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3" name="Line 67"/>
            <p:cNvSpPr>
              <a:spLocks noChangeShapeType="1"/>
            </p:cNvSpPr>
            <p:nvPr/>
          </p:nvSpPr>
          <p:spPr bwMode="auto">
            <a:xfrm>
              <a:off x="4166129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4" name="Line 68"/>
            <p:cNvSpPr>
              <a:spLocks noChangeShapeType="1"/>
            </p:cNvSpPr>
            <p:nvPr/>
          </p:nvSpPr>
          <p:spPr bwMode="auto">
            <a:xfrm>
              <a:off x="4793191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5" name="Line 69"/>
            <p:cNvSpPr>
              <a:spLocks noChangeShapeType="1"/>
            </p:cNvSpPr>
            <p:nvPr/>
          </p:nvSpPr>
          <p:spPr bwMode="auto">
            <a:xfrm>
              <a:off x="5453591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818246" name="Line 70"/>
            <p:cNvSpPr>
              <a:spLocks noChangeShapeType="1"/>
            </p:cNvSpPr>
            <p:nvPr/>
          </p:nvSpPr>
          <p:spPr bwMode="auto">
            <a:xfrm>
              <a:off x="6080654" y="1530350"/>
              <a:ext cx="0" cy="4286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116532" tIns="58267" rIns="116532" bIns="58267">
              <a:spAutoFit/>
            </a:bodyPr>
            <a:lstStyle/>
            <a:p>
              <a:pPr>
                <a:defRPr/>
              </a:pPr>
              <a:endParaRPr lang="ko-KR" altLang="en-US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87063" name="Text Box 71"/>
          <p:cNvSpPr txBox="1">
            <a:spLocks noChangeArrowheads="1"/>
          </p:cNvSpPr>
          <p:nvPr/>
        </p:nvSpPr>
        <p:spPr bwMode="auto">
          <a:xfrm>
            <a:off x="935331" y="6025962"/>
            <a:ext cx="698433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r>
              <a:rPr lang="en-US" altLang="ko-KR" sz="1662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Host Bit</a:t>
            </a:r>
            <a:r>
              <a:rPr lang="ko-KR" altLang="en-US" sz="1662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로부터 빌려오는 </a:t>
            </a:r>
            <a:r>
              <a:rPr lang="en-US" altLang="ko-KR" sz="1662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662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개수에 따라 </a:t>
            </a:r>
            <a:r>
              <a:rPr lang="en-US" altLang="ko-KR" sz="1662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Subnet Mask</a:t>
            </a:r>
            <a:r>
              <a:rPr lang="ko-KR" altLang="en-US" sz="1662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값이 달라진다</a:t>
            </a:r>
            <a:r>
              <a:rPr lang="en-US" altLang="ko-KR" sz="1662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522670" y="347404"/>
            <a:ext cx="7886700" cy="1325563"/>
          </a:xfrm>
        </p:spPr>
        <p:txBody>
          <a:bodyPr>
            <a:normAutofit/>
          </a:bodyPr>
          <a:lstStyle/>
          <a:p>
            <a:pPr marL="571497" indent="-571497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가중치 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747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7685" y="646025"/>
            <a:ext cx="7886700" cy="1223597"/>
          </a:xfrm>
        </p:spPr>
        <p:txBody>
          <a:bodyPr>
            <a:normAutofit/>
          </a:bodyPr>
          <a:lstStyle/>
          <a:p>
            <a:r>
              <a:rPr lang="ko-KR" altLang="en-US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연습 문제 </a:t>
            </a:r>
            <a:r>
              <a:rPr lang="en-US" altLang="ko-KR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1. </a:t>
            </a:r>
            <a:endParaRPr lang="ko-KR" altLang="en-US" sz="3323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079" y="1690689"/>
            <a:ext cx="6086665" cy="8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 </a:t>
            </a:r>
            <a:r>
              <a:rPr lang="ko-KR" altLang="en-US" sz="2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일 때 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5842" y="2376440"/>
            <a:ext cx="74331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➀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10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 서브넷 </a:t>
            </a: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마스크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➁ 네트워크 주소 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➂ </a:t>
            </a:r>
            <a:r>
              <a:rPr lang="ko-KR" altLang="en-US" sz="2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 </a:t>
            </a:r>
            <a:endParaRPr lang="en-US" altLang="ko-KR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➃ 17.7.13.180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해당 네트워크에 몇 번째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인가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2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217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873" y="577724"/>
            <a:ext cx="8455269" cy="870438"/>
          </a:xfrm>
        </p:spPr>
        <p:txBody>
          <a:bodyPr>
            <a:noAutofit/>
          </a:bodyPr>
          <a:lstStyle/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➀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진수 형태의 서브넷 마스크</a:t>
            </a:r>
            <a:endParaRPr lang="en-US" altLang="ko-KR" sz="2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6515798" y="2068710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8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1111 1111. 1111 1111. 1111 1111.</a:t>
            </a:r>
            <a:r>
              <a:rPr lang="en-US" altLang="ko-KR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0000</a:t>
            </a:r>
          </a:p>
        </p:txBody>
      </p:sp>
      <p:sp>
        <p:nvSpPr>
          <p:cNvPr id="42" name="Rectangle 49"/>
          <p:cNvSpPr>
            <a:spLocks noChangeArrowheads="1"/>
          </p:cNvSpPr>
          <p:nvPr/>
        </p:nvSpPr>
        <p:spPr bwMode="auto">
          <a:xfrm>
            <a:off x="4440721" y="3244719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255.255.255.240</a:t>
            </a:r>
          </a:p>
        </p:txBody>
      </p:sp>
      <p:sp>
        <p:nvSpPr>
          <p:cNvPr id="2" name="아래쪽 화살표 1"/>
          <p:cNvSpPr/>
          <p:nvPr/>
        </p:nvSpPr>
        <p:spPr>
          <a:xfrm>
            <a:off x="4285738" y="2440184"/>
            <a:ext cx="309966" cy="498796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97521" y="3822384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또는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6222" y="4250935"/>
            <a:ext cx="5720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/28 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➝ 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/24 +4    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➝ 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255.255.255.240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7706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5612627" y="5335114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52619" y="683284"/>
            <a:ext cx="7345973" cy="871903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en-US" altLang="ko-KR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➁ </a:t>
            </a:r>
            <a:r>
              <a:rPr lang="en-US" altLang="ko-KR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네트워크 주소</a:t>
            </a:r>
            <a:endParaRPr lang="en-US" altLang="ko-KR" sz="2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469425" y="2960218"/>
            <a:ext cx="2117725" cy="1938992"/>
          </a:xfrm>
          <a:prstGeom prst="rect">
            <a:avLst/>
          </a:prstGeom>
          <a:solidFill>
            <a:srgbClr val="99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r>
              <a:rPr lang="en-US" altLang="ko-KR" sz="2000"/>
              <a:t> </a:t>
            </a:r>
            <a:r>
              <a:rPr lang="en-US" altLang="ko-KR" sz="2000" u="sng">
                <a:latin typeface="Arial" charset="0"/>
              </a:rPr>
              <a:t>Host </a:t>
            </a:r>
            <a:r>
              <a:rPr lang="ko-KR" altLang="en-US" sz="2000" u="sng">
                <a:latin typeface="Arial" charset="0"/>
              </a:rPr>
              <a:t>주소</a:t>
            </a:r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en-US" altLang="ko-KR" sz="2000"/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4137972" y="5335116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auto">
          <a:xfrm>
            <a:off x="4614387" y="5416082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5</a:t>
            </a: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2672876" y="5335118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7033737" y="5335118"/>
            <a:ext cx="1465263" cy="457200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3071337" y="5416082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17</a:t>
            </a:r>
          </a:p>
        </p:txBody>
      </p:sp>
      <p:sp>
        <p:nvSpPr>
          <p:cNvPr id="13" name="Line 47"/>
          <p:cNvSpPr>
            <a:spLocks noChangeShapeType="1"/>
          </p:cNvSpPr>
          <p:nvPr/>
        </p:nvSpPr>
        <p:spPr bwMode="auto">
          <a:xfrm>
            <a:off x="2737962" y="4577881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2698276" y="3621401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2637951" y="4134969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17" name="Rectangle 51"/>
          <p:cNvSpPr>
            <a:spLocks noChangeArrowheads="1"/>
          </p:cNvSpPr>
          <p:nvPr/>
        </p:nvSpPr>
        <p:spPr bwMode="auto">
          <a:xfrm>
            <a:off x="4196608" y="3620619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4152426" y="4134969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20" name="Rectangle 54"/>
          <p:cNvSpPr>
            <a:spLocks noChangeArrowheads="1"/>
          </p:cNvSpPr>
          <p:nvPr/>
        </p:nvSpPr>
        <p:spPr bwMode="auto">
          <a:xfrm>
            <a:off x="5525612" y="4150843"/>
            <a:ext cx="1400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1111  1111</a:t>
            </a:r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7014955" y="3650781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1011 0100</a:t>
            </a:r>
          </a:p>
        </p:txBody>
      </p:sp>
      <p:sp>
        <p:nvSpPr>
          <p:cNvPr id="23" name="Rectangle 57"/>
          <p:cNvSpPr>
            <a:spLocks noChangeArrowheads="1"/>
          </p:cNvSpPr>
          <p:nvPr/>
        </p:nvSpPr>
        <p:spPr bwMode="auto">
          <a:xfrm>
            <a:off x="6925788" y="4136557"/>
            <a:ext cx="14144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</a:t>
            </a: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5554187" y="3620619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>
            <a:off x="2766537" y="3201518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>
            <a:off x="4138137" y="3201519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Rectangle 63"/>
          <p:cNvSpPr>
            <a:spLocks noChangeArrowheads="1"/>
          </p:cNvSpPr>
          <p:nvPr/>
        </p:nvSpPr>
        <p:spPr bwMode="auto">
          <a:xfrm>
            <a:off x="590075" y="3593632"/>
            <a:ext cx="16938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17.5.13.180</a:t>
            </a:r>
          </a:p>
        </p:txBody>
      </p:sp>
      <p:sp>
        <p:nvSpPr>
          <p:cNvPr id="30" name="Rectangle 64"/>
          <p:cNvSpPr>
            <a:spLocks noChangeArrowheads="1"/>
          </p:cNvSpPr>
          <p:nvPr/>
        </p:nvSpPr>
        <p:spPr bwMode="auto">
          <a:xfrm>
            <a:off x="526575" y="4088932"/>
            <a:ext cx="19986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255.255.</a:t>
            </a:r>
            <a:r>
              <a:rPr lang="en-US" altLang="ko-KR" sz="2000" dirty="0">
                <a:latin typeface="Helvetica" pitchFamily="34" charset="0"/>
                <a:ea typeface="굴림" pitchFamily="50" charset="-127"/>
              </a:rPr>
              <a:t>255.240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6155851" y="5370807"/>
            <a:ext cx="3943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b="0" dirty="0">
                <a:latin typeface="Helvetica" pitchFamily="34" charset="0"/>
              </a:rPr>
              <a:t>13</a:t>
            </a:r>
          </a:p>
        </p:txBody>
      </p:sp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7534698" y="5389478"/>
            <a:ext cx="5370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FF0000"/>
                </a:solidFill>
                <a:latin typeface="Helvetica" pitchFamily="34" charset="0"/>
              </a:rPr>
              <a:t>176</a:t>
            </a:r>
          </a:p>
        </p:txBody>
      </p:sp>
      <p:sp>
        <p:nvSpPr>
          <p:cNvPr id="33" name="Rectangle 67"/>
          <p:cNvSpPr>
            <a:spLocks noChangeArrowheads="1"/>
          </p:cNvSpPr>
          <p:nvPr/>
        </p:nvSpPr>
        <p:spPr bwMode="auto">
          <a:xfrm>
            <a:off x="475776" y="5335118"/>
            <a:ext cx="18970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596426" y="5395443"/>
            <a:ext cx="16944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>
                <a:latin typeface="Arial" charset="0"/>
              </a:rPr>
              <a:t>Network </a:t>
            </a:r>
            <a:r>
              <a:rPr lang="ko-KR" altLang="en-US" sz="2000">
                <a:latin typeface="Arial" charset="0"/>
              </a:rPr>
              <a:t>주소</a:t>
            </a:r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5585937" y="3220569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61"/>
          <p:cNvSpPr>
            <a:spLocks noChangeShapeType="1"/>
          </p:cNvSpPr>
          <p:nvPr/>
        </p:nvSpPr>
        <p:spPr bwMode="auto">
          <a:xfrm>
            <a:off x="7051200" y="3201519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61"/>
          <p:cNvSpPr>
            <a:spLocks noChangeShapeType="1"/>
          </p:cNvSpPr>
          <p:nvPr/>
        </p:nvSpPr>
        <p:spPr bwMode="auto">
          <a:xfrm>
            <a:off x="7764122" y="3201519"/>
            <a:ext cx="0" cy="19145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766537" y="2930519"/>
            <a:ext cx="1371600" cy="7826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10155" y="250299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138137" y="2944176"/>
            <a:ext cx="3580606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93396" y="2502990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(20)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7738588" y="2944176"/>
            <a:ext cx="601663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33018" y="2495597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2722263" y="4767090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4226245" y="4796956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>
            <a:off x="5591494" y="4796956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54" name="Rectangle 56"/>
          <p:cNvSpPr>
            <a:spLocks noChangeArrowheads="1"/>
          </p:cNvSpPr>
          <p:nvPr/>
        </p:nvSpPr>
        <p:spPr bwMode="auto">
          <a:xfrm>
            <a:off x="7014955" y="4782250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</a:t>
            </a:r>
            <a:r>
              <a:rPr lang="en-US" altLang="ko-KR" sz="2000" b="1" u="sng" dirty="0">
                <a:solidFill>
                  <a:srgbClr val="FF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770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39"/>
          <p:cNvSpPr>
            <a:spLocks noChangeArrowheads="1"/>
          </p:cNvSpPr>
          <p:nvPr/>
        </p:nvSpPr>
        <p:spPr bwMode="auto">
          <a:xfrm>
            <a:off x="5644476" y="5382886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501274" y="3007990"/>
            <a:ext cx="2117725" cy="1938992"/>
          </a:xfrm>
          <a:prstGeom prst="rect">
            <a:avLst/>
          </a:prstGeom>
          <a:solidFill>
            <a:srgbClr val="99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/>
            <a:r>
              <a:rPr lang="en-US" altLang="ko-KR" sz="2000"/>
              <a:t> </a:t>
            </a:r>
            <a:r>
              <a:rPr lang="en-US" altLang="ko-KR" sz="2000" u="sng">
                <a:latin typeface="Arial" charset="0"/>
              </a:rPr>
              <a:t>Host </a:t>
            </a:r>
            <a:r>
              <a:rPr lang="ko-KR" altLang="en-US" sz="2000" u="sng">
                <a:latin typeface="Arial" charset="0"/>
              </a:rPr>
              <a:t>주소</a:t>
            </a:r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ko-KR" altLang="en-US" sz="2000"/>
          </a:p>
          <a:p>
            <a:pPr algn="l" eaLnBrk="1" hangingPunct="1"/>
            <a:endParaRPr lang="en-US" altLang="ko-KR" sz="2000"/>
          </a:p>
        </p:txBody>
      </p:sp>
      <p:sp>
        <p:nvSpPr>
          <p:cNvPr id="5" name="Rectangle 39"/>
          <p:cNvSpPr>
            <a:spLocks noChangeArrowheads="1"/>
          </p:cNvSpPr>
          <p:nvPr/>
        </p:nvSpPr>
        <p:spPr bwMode="auto">
          <a:xfrm>
            <a:off x="4169821" y="5382888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auto">
          <a:xfrm>
            <a:off x="4646236" y="5463854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5</a:t>
            </a:r>
          </a:p>
        </p:txBody>
      </p:sp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2704725" y="5382890"/>
            <a:ext cx="14652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7065587" y="5382890"/>
            <a:ext cx="1465263" cy="457200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3103187" y="5463854"/>
            <a:ext cx="742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17</a:t>
            </a:r>
          </a:p>
        </p:txBody>
      </p:sp>
      <p:sp>
        <p:nvSpPr>
          <p:cNvPr id="13" name="Line 47"/>
          <p:cNvSpPr>
            <a:spLocks noChangeShapeType="1"/>
          </p:cNvSpPr>
          <p:nvPr/>
        </p:nvSpPr>
        <p:spPr bwMode="auto">
          <a:xfrm>
            <a:off x="2769811" y="4625653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2730125" y="3669173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15" name="Rectangle 49"/>
          <p:cNvSpPr>
            <a:spLocks noChangeArrowheads="1"/>
          </p:cNvSpPr>
          <p:nvPr/>
        </p:nvSpPr>
        <p:spPr bwMode="auto">
          <a:xfrm>
            <a:off x="2669800" y="4182741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17" name="Rectangle 51"/>
          <p:cNvSpPr>
            <a:spLocks noChangeArrowheads="1"/>
          </p:cNvSpPr>
          <p:nvPr/>
        </p:nvSpPr>
        <p:spPr bwMode="auto">
          <a:xfrm>
            <a:off x="4228457" y="3668391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4184275" y="4182741"/>
            <a:ext cx="12858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1111 1111</a:t>
            </a:r>
          </a:p>
        </p:txBody>
      </p:sp>
      <p:sp>
        <p:nvSpPr>
          <p:cNvPr id="20" name="Rectangle 54"/>
          <p:cNvSpPr>
            <a:spLocks noChangeArrowheads="1"/>
          </p:cNvSpPr>
          <p:nvPr/>
        </p:nvSpPr>
        <p:spPr bwMode="auto">
          <a:xfrm>
            <a:off x="5557461" y="4198615"/>
            <a:ext cx="14001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1111  1111</a:t>
            </a:r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7046804" y="3698553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1011 0100</a:t>
            </a:r>
          </a:p>
        </p:txBody>
      </p:sp>
      <p:sp>
        <p:nvSpPr>
          <p:cNvPr id="23" name="Rectangle 57"/>
          <p:cNvSpPr>
            <a:spLocks noChangeArrowheads="1"/>
          </p:cNvSpPr>
          <p:nvPr/>
        </p:nvSpPr>
        <p:spPr bwMode="auto">
          <a:xfrm>
            <a:off x="6957637" y="4184329"/>
            <a:ext cx="14144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025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latin typeface="Helvetica" pitchFamily="34" charset="0"/>
              </a:rPr>
              <a:t>1111</a:t>
            </a: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</a:t>
            </a:r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5586036" y="3668391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>
            <a:off x="2798386" y="3249290"/>
            <a:ext cx="5657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7" name="Line 61"/>
          <p:cNvSpPr>
            <a:spLocks noChangeShapeType="1"/>
          </p:cNvSpPr>
          <p:nvPr/>
        </p:nvSpPr>
        <p:spPr bwMode="auto">
          <a:xfrm>
            <a:off x="4169986" y="3249291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Rectangle 63"/>
          <p:cNvSpPr>
            <a:spLocks noChangeArrowheads="1"/>
          </p:cNvSpPr>
          <p:nvPr/>
        </p:nvSpPr>
        <p:spPr bwMode="auto">
          <a:xfrm>
            <a:off x="621924" y="3641404"/>
            <a:ext cx="16938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17.5.13.180</a:t>
            </a:r>
          </a:p>
        </p:txBody>
      </p:sp>
      <p:sp>
        <p:nvSpPr>
          <p:cNvPr id="30" name="Rectangle 64"/>
          <p:cNvSpPr>
            <a:spLocks noChangeArrowheads="1"/>
          </p:cNvSpPr>
          <p:nvPr/>
        </p:nvSpPr>
        <p:spPr bwMode="auto">
          <a:xfrm>
            <a:off x="558424" y="4136704"/>
            <a:ext cx="1998662" cy="36988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21431" tIns="30362" rIns="21431" bIns="30362"/>
          <a:lstStyle/>
          <a:p>
            <a:pPr defTabSz="1028694" eaLnBrk="0" hangingPunct="0">
              <a:lnSpc>
                <a:spcPts val="2363"/>
              </a:lnSpc>
              <a:tabLst>
                <a:tab pos="514347" algn="l"/>
                <a:tab pos="1028694" algn="l"/>
                <a:tab pos="1543041" algn="l"/>
              </a:tabLst>
              <a:defRPr/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  <a:ea typeface="굴림" pitchFamily="50" charset="-127"/>
              </a:rPr>
              <a:t>255.255.</a:t>
            </a:r>
            <a:r>
              <a:rPr lang="en-US" altLang="ko-KR" sz="2000" dirty="0">
                <a:latin typeface="Helvetica" pitchFamily="34" charset="0"/>
                <a:ea typeface="굴림" pitchFamily="50" charset="-127"/>
              </a:rPr>
              <a:t>255.240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6187700" y="5418579"/>
            <a:ext cx="3943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b="0" dirty="0">
                <a:latin typeface="Helvetica" pitchFamily="34" charset="0"/>
              </a:rPr>
              <a:t>13</a:t>
            </a:r>
          </a:p>
        </p:txBody>
      </p:sp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7566548" y="5437250"/>
            <a:ext cx="5370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FF0000"/>
                </a:solidFill>
                <a:latin typeface="Helvetica" pitchFamily="34" charset="0"/>
              </a:rPr>
              <a:t>191</a:t>
            </a:r>
          </a:p>
        </p:txBody>
      </p:sp>
      <p:sp>
        <p:nvSpPr>
          <p:cNvPr id="33" name="Rectangle 67"/>
          <p:cNvSpPr>
            <a:spLocks noChangeArrowheads="1"/>
          </p:cNvSpPr>
          <p:nvPr/>
        </p:nvSpPr>
        <p:spPr bwMode="auto">
          <a:xfrm>
            <a:off x="507625" y="5382890"/>
            <a:ext cx="1897062" cy="4572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382450" tIns="691241" rIns="1382450" bIns="691241" anchor="ctr"/>
          <a:lstStyle/>
          <a:p>
            <a:pPr defTabSz="1028694" eaLnBrk="0" hangingPunct="0">
              <a:defRPr/>
            </a:pPr>
            <a:endParaRPr lang="ko-KR" altLang="ko-KR" sz="3200">
              <a:latin typeface="Helvetica" pitchFamily="34" charset="0"/>
              <a:ea typeface="굴림" pitchFamily="50" charset="-127"/>
            </a:endParaRP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567412" y="5434597"/>
            <a:ext cx="175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rIns="5400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800" dirty="0">
                <a:latin typeface="Arial" charset="0"/>
              </a:rPr>
              <a:t>Broadcast </a:t>
            </a:r>
            <a:r>
              <a:rPr lang="ko-KR" altLang="en-US" sz="1800">
                <a:latin typeface="Arial" charset="0"/>
              </a:rPr>
              <a:t>주소</a:t>
            </a:r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5617786" y="3268341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61"/>
          <p:cNvSpPr>
            <a:spLocks noChangeShapeType="1"/>
          </p:cNvSpPr>
          <p:nvPr/>
        </p:nvSpPr>
        <p:spPr bwMode="auto">
          <a:xfrm>
            <a:off x="7083049" y="3249291"/>
            <a:ext cx="0" cy="1914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61"/>
          <p:cNvSpPr>
            <a:spLocks noChangeShapeType="1"/>
          </p:cNvSpPr>
          <p:nvPr/>
        </p:nvSpPr>
        <p:spPr bwMode="auto">
          <a:xfrm>
            <a:off x="7795971" y="3249291"/>
            <a:ext cx="0" cy="19145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2798386" y="2978291"/>
            <a:ext cx="1371600" cy="7826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42004" y="255076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169986" y="2991948"/>
            <a:ext cx="3580606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5245" y="2550762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SubNetwork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(20)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7770437" y="2991948"/>
            <a:ext cx="601663" cy="1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64867" y="254336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2754112" y="4814862"/>
            <a:ext cx="1285875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     0001 0001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4258094" y="4844728"/>
            <a:ext cx="1271587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0000 0101</a:t>
            </a:r>
          </a:p>
        </p:txBody>
      </p:sp>
      <p:sp>
        <p:nvSpPr>
          <p:cNvPr id="53" name="Rectangle 59"/>
          <p:cNvSpPr>
            <a:spLocks noChangeArrowheads="1"/>
          </p:cNvSpPr>
          <p:nvPr/>
        </p:nvSpPr>
        <p:spPr bwMode="auto">
          <a:xfrm>
            <a:off x="5623343" y="4844728"/>
            <a:ext cx="13430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0000 1101</a:t>
            </a:r>
          </a:p>
        </p:txBody>
      </p:sp>
      <p:sp>
        <p:nvSpPr>
          <p:cNvPr id="54" name="Rectangle 56"/>
          <p:cNvSpPr>
            <a:spLocks noChangeArrowheads="1"/>
          </p:cNvSpPr>
          <p:nvPr/>
        </p:nvSpPr>
        <p:spPr bwMode="auto">
          <a:xfrm>
            <a:off x="7000499" y="4824118"/>
            <a:ext cx="1371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1431" tIns="30362" rIns="21431" bIns="30362"/>
          <a:lstStyle/>
          <a:p>
            <a:pPr algn="r" defTabSz="1028694" eaLnBrk="0" hangingPunct="0">
              <a:lnSpc>
                <a:spcPts val="2138"/>
              </a:lnSpc>
              <a:tabLst>
                <a:tab pos="514347" algn="l"/>
                <a:tab pos="1028694" algn="l"/>
                <a:tab pos="1543041" algn="l"/>
              </a:tabLst>
            </a:pPr>
            <a:r>
              <a:rPr lang="en-US" altLang="ko-KR" sz="2000" dirty="0">
                <a:solidFill>
                  <a:srgbClr val="000000"/>
                </a:solidFill>
                <a:latin typeface="Helvetica" pitchFamily="34" charset="0"/>
              </a:rPr>
              <a:t>1011 </a:t>
            </a:r>
            <a:r>
              <a:rPr lang="en-US" altLang="ko-KR" sz="2000" b="1" u="sng" dirty="0">
                <a:solidFill>
                  <a:srgbClr val="FF0000"/>
                </a:solidFill>
                <a:latin typeface="Helvetica" pitchFamily="34" charset="0"/>
              </a:rPr>
              <a:t>1111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159542" y="736601"/>
            <a:ext cx="8523717" cy="871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➂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17.5.13.180/28</a:t>
            </a:r>
            <a:r>
              <a:rPr lang="ko-KR" altLang="en-US" sz="2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브로드캐스트 주소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8779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1960957" y="2746173"/>
            <a:ext cx="4891042" cy="2705999"/>
          </a:xfrm>
          <a:prstGeom prst="roundRect">
            <a:avLst>
              <a:gd name="adj" fmla="val 42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49103" y="1337680"/>
            <a:ext cx="5993369" cy="137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:17.5.13.176</a:t>
            </a:r>
          </a:p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 가능한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17.5.13.177-190</a:t>
            </a:r>
          </a:p>
          <a:p>
            <a:pPr marL="342898" indent="-34289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17.5.13.191</a:t>
            </a:r>
            <a:endParaRPr lang="ko-KR" altLang="en-US" sz="1846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 flipH="1">
            <a:off x="2259746" y="3187142"/>
            <a:ext cx="742323" cy="745366"/>
            <a:chOff x="809159" y="4814047"/>
            <a:chExt cx="688975" cy="745367"/>
          </a:xfrm>
        </p:grpSpPr>
        <p:sp>
          <p:nvSpPr>
            <p:cNvPr id="9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6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9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7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2438427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177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그룹 62"/>
          <p:cNvGrpSpPr/>
          <p:nvPr/>
        </p:nvGrpSpPr>
        <p:grpSpPr>
          <a:xfrm flipH="1">
            <a:off x="3322709" y="3187142"/>
            <a:ext cx="742323" cy="745366"/>
            <a:chOff x="809159" y="4814047"/>
            <a:chExt cx="688975" cy="745367"/>
          </a:xfrm>
        </p:grpSpPr>
        <p:sp>
          <p:nvSpPr>
            <p:cNvPr id="6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3501390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" name="그룹 116"/>
          <p:cNvGrpSpPr/>
          <p:nvPr/>
        </p:nvGrpSpPr>
        <p:grpSpPr>
          <a:xfrm flipH="1">
            <a:off x="4394834" y="3171711"/>
            <a:ext cx="742323" cy="745366"/>
            <a:chOff x="809159" y="4814047"/>
            <a:chExt cx="688975" cy="745367"/>
          </a:xfrm>
        </p:grpSpPr>
        <p:sp>
          <p:nvSpPr>
            <p:cNvPr id="11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6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4573515" y="382812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1" name="그룹 170"/>
          <p:cNvGrpSpPr/>
          <p:nvPr/>
        </p:nvGrpSpPr>
        <p:grpSpPr>
          <a:xfrm flipH="1">
            <a:off x="5364195" y="3187142"/>
            <a:ext cx="742323" cy="745366"/>
            <a:chOff x="809159" y="4814047"/>
            <a:chExt cx="688975" cy="745367"/>
          </a:xfrm>
        </p:grpSpPr>
        <p:sp>
          <p:nvSpPr>
            <p:cNvPr id="17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2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1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r>
                <a:rPr lang="en-US" altLang="ko-KR" sz="1600" kern="0" dirty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5542876" y="384355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732263" y="4474900"/>
            <a:ext cx="2069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…………….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6" name="그룹 225"/>
          <p:cNvGrpSpPr/>
          <p:nvPr/>
        </p:nvGrpSpPr>
        <p:grpSpPr>
          <a:xfrm flipH="1">
            <a:off x="5402154" y="4416081"/>
            <a:ext cx="742323" cy="745366"/>
            <a:chOff x="809159" y="4814047"/>
            <a:chExt cx="688975" cy="745367"/>
          </a:xfrm>
        </p:grpSpPr>
        <p:sp>
          <p:nvSpPr>
            <p:cNvPr id="227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Freeform 182"/>
            <p:cNvSpPr>
              <a:spLocks/>
            </p:cNvSpPr>
            <p:nvPr/>
          </p:nvSpPr>
          <p:spPr bwMode="auto">
            <a:xfrm flipH="1">
              <a:off x="976145" y="5257793"/>
              <a:ext cx="171455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Freeform 183"/>
            <p:cNvSpPr>
              <a:spLocks/>
            </p:cNvSpPr>
            <p:nvPr/>
          </p:nvSpPr>
          <p:spPr bwMode="auto">
            <a:xfrm flipH="1">
              <a:off x="990498" y="5247727"/>
              <a:ext cx="171455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9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0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1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2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3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4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7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8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9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0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1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2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3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0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4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7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5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6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4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9" name="TextBox 278"/>
          <p:cNvSpPr txBox="1"/>
          <p:nvPr/>
        </p:nvSpPr>
        <p:spPr>
          <a:xfrm>
            <a:off x="5507860" y="508284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5319741" y="3079061"/>
            <a:ext cx="1067158" cy="102574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50870" y="5558793"/>
            <a:ext cx="5503430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8" indent="-342898">
              <a:buFont typeface="Arial" panose="020B0604020202020204" pitchFamily="34" charset="0"/>
              <a:buChar char="•"/>
            </a:pPr>
            <a:r>
              <a:rPr lang="ko-KR" altLang="en-US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17.5.13.176</a:t>
            </a:r>
            <a:r>
              <a:rPr lang="ko-KR" altLang="en-US" sz="1662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17.5.13.180</a:t>
            </a:r>
            <a:r>
              <a:rPr lang="ko-KR" altLang="en-US" sz="1662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네 번째 </a:t>
            </a:r>
            <a:r>
              <a:rPr lang="en-US" altLang="ko-KR" sz="1662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endParaRPr lang="ko-KR" altLang="en-US" sz="1662" b="1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589298" y="327492"/>
            <a:ext cx="8425309" cy="533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➃ 17.7.13.180/28 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해당 네트워크에 몇 번째 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sz="2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인가</a:t>
            </a: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378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1596" y="480683"/>
            <a:ext cx="7886700" cy="1223597"/>
          </a:xfrm>
        </p:spPr>
        <p:txBody>
          <a:bodyPr>
            <a:normAutofit/>
          </a:bodyPr>
          <a:lstStyle/>
          <a:p>
            <a:r>
              <a:rPr lang="ko-KR" altLang="en-US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연습 문제 </a:t>
            </a:r>
            <a:r>
              <a:rPr lang="en-US" altLang="ko-KR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2. </a:t>
            </a:r>
            <a:endParaRPr lang="ko-KR" altLang="en-US" sz="3323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2652" y="2467899"/>
            <a:ext cx="74331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➀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+2 = 8    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( 6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호스트 개수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8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 전체 필요한 개수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➁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 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 8      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( 3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호스트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ID 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비트 수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➂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32 –</a:t>
            </a:r>
            <a:r>
              <a:rPr lang="en-US" altLang="ko-K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3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= </a:t>
            </a:r>
            <a:r>
              <a:rPr lang="en-US" altLang="ko-KR" sz="2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29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(29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 네트워크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ID </a:t>
            </a:r>
            <a:r>
              <a:rPr lang="ko-KR" altLang="en-US" sz="22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비트 수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➃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/29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➝ 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 /24+5 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➝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255.255.255.248</a:t>
            </a:r>
            <a:endParaRPr lang="ko-KR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5577" y="35297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10924" y="1570110"/>
            <a:ext cx="7759209" cy="556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대의 호스트에게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할당하기 위한 서브넷 </a:t>
            </a:r>
            <a:r>
              <a:rPr lang="ko-KR" altLang="en-US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마스크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4872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8360" y="276496"/>
            <a:ext cx="7886700" cy="1324708"/>
          </a:xfrm>
        </p:spPr>
        <p:txBody>
          <a:bodyPr>
            <a:normAutofit/>
          </a:bodyPr>
          <a:lstStyle/>
          <a:p>
            <a:r>
              <a:rPr lang="ko-KR" altLang="en-US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연습 문제 풀이 </a:t>
            </a:r>
            <a:r>
              <a:rPr lang="en-US" altLang="ko-KR" sz="3323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3. </a:t>
            </a:r>
            <a:endParaRPr lang="ko-KR" altLang="en-US" sz="3323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95851" y="1512444"/>
            <a:ext cx="7759209" cy="556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98" lvl="1" indent="0">
              <a:lnSpc>
                <a:spcPct val="150000"/>
              </a:lnSpc>
              <a:buNone/>
            </a:pPr>
            <a:r>
              <a:rPr lang="ko-KR" altLang="en-US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네트워크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192.168.1.0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개의 네트워크로 분할 시  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457198" lvl="1" indent="0">
              <a:lnSpc>
                <a:spcPct val="150000"/>
              </a:lnSpc>
              <a:buNone/>
            </a:pPr>
            <a:r>
              <a:rPr lang="ko-KR" altLang="en-US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사용되는 </a:t>
            </a:r>
            <a:r>
              <a:rPr lang="ko-KR" altLang="en-US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서브넷</a:t>
            </a:r>
            <a:r>
              <a:rPr lang="ko-KR" altLang="en-US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마스크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154589" y="2993450"/>
            <a:ext cx="7433176" cy="2677656"/>
            <a:chOff x="1230377" y="2492291"/>
            <a:chExt cx="7433176" cy="2677656"/>
          </a:xfrm>
        </p:grpSpPr>
        <p:sp>
          <p:nvSpPr>
            <p:cNvPr id="9" name="TextBox 8"/>
            <p:cNvSpPr txBox="1"/>
            <p:nvPr/>
          </p:nvSpPr>
          <p:spPr>
            <a:xfrm>
              <a:off x="1230377" y="2492291"/>
              <a:ext cx="74331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➀ 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2   </a:t>
              </a:r>
              <a:r>
                <a:rPr lang="en-US" altLang="ko-KR" sz="28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=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4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    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( </a:t>
              </a:r>
              <a:r>
                <a:rPr lang="en-US" altLang="ko-KR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2</a:t>
              </a:r>
              <a:r>
                <a:rPr lang="ko-KR" altLang="en-US" sz="220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는 서브넷 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ID </a:t>
              </a:r>
              <a:r>
                <a:rPr lang="ko-KR" altLang="en-US" sz="220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비트 수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, </a:t>
              </a:r>
              <a:r>
                <a:rPr lang="en-US" altLang="ko-KR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4</a:t>
              </a:r>
              <a:r>
                <a:rPr lang="ko-KR" altLang="en-US" sz="220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는 그룹 개 수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➁ 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24</a:t>
              </a:r>
              <a:r>
                <a:rPr lang="en-US" altLang="ko-KR" sz="26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+ </a:t>
              </a:r>
              <a:r>
                <a:rPr lang="en-US" altLang="ko-KR" sz="2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26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= </a:t>
              </a:r>
              <a:r>
                <a:rPr lang="en-US" altLang="ko-KR" sz="2600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26</a:t>
              </a:r>
              <a:r>
                <a:rPr lang="en-US" altLang="ko-KR" sz="26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4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   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(2 : </a:t>
              </a:r>
              <a:r>
                <a:rPr lang="ko-KR" altLang="en-US" sz="220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네트워크 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ID </a:t>
              </a:r>
              <a:r>
                <a:rPr lang="ko-KR" altLang="en-US" sz="220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비트 수 </a:t>
              </a:r>
              <a:r>
                <a:rPr lang="en-US" altLang="ko-KR" sz="22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) 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➂ 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/26 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altLang="ko-KR" sz="28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  <a:sym typeface="Wingdings" panose="05000000000000000000" pitchFamily="2" charset="2"/>
                </a:rPr>
                <a:t>➝ 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 /24+2 </a:t>
              </a:r>
              <a:r>
                <a:rPr lang="en-US" altLang="ko-KR" sz="28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  <a:sym typeface="Wingdings" panose="05000000000000000000" pitchFamily="2" charset="2"/>
                </a:rPr>
                <a:t>➝</a:t>
              </a:r>
              <a:r>
                <a:rPr lang="en-US" altLang="ko-KR" sz="2800" dirty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  </a:t>
              </a:r>
              <a:r>
                <a:rPr lang="en-US" altLang="ko-KR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255.255.255.192</a:t>
              </a:r>
              <a:endParaRPr lang="ko-KR" altLang="en-US" sz="2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68285" y="27270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3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7526" y="439738"/>
            <a:ext cx="8183562" cy="733742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effectLst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FLSM( Fixed Length Subnet Mask ) example</a:t>
            </a:r>
          </a:p>
        </p:txBody>
      </p:sp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125" y="1352839"/>
            <a:ext cx="7840663" cy="477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562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2000250" y="239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2400300" y="2657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205740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1828800" y="2309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3" name="Rectangle 7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4" name="Rectangle 8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5" name="Rectangle 9"/>
          <p:cNvSpPr>
            <a:spLocks noChangeArrowheads="1"/>
          </p:cNvSpPr>
          <p:nvPr/>
        </p:nvSpPr>
        <p:spPr bwMode="auto">
          <a:xfrm>
            <a:off x="2457450" y="1871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6" name="Rectangle 10"/>
          <p:cNvSpPr>
            <a:spLocks noChangeArrowheads="1"/>
          </p:cNvSpPr>
          <p:nvPr/>
        </p:nvSpPr>
        <p:spPr bwMode="auto">
          <a:xfrm>
            <a:off x="2085975" y="2071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7" name="Rectangle 11"/>
          <p:cNvSpPr>
            <a:spLocks noChangeArrowheads="1"/>
          </p:cNvSpPr>
          <p:nvPr/>
        </p:nvSpPr>
        <p:spPr bwMode="auto">
          <a:xfrm>
            <a:off x="2124075" y="2786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8" name="Rectangle 12"/>
          <p:cNvSpPr>
            <a:spLocks noChangeArrowheads="1"/>
          </p:cNvSpPr>
          <p:nvPr/>
        </p:nvSpPr>
        <p:spPr bwMode="auto">
          <a:xfrm>
            <a:off x="1719263" y="1628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9" name="Rectangle 13"/>
          <p:cNvSpPr>
            <a:spLocks noChangeArrowheads="1"/>
          </p:cNvSpPr>
          <p:nvPr/>
        </p:nvSpPr>
        <p:spPr bwMode="auto">
          <a:xfrm>
            <a:off x="2014538" y="2005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70" name="Rectangle 14"/>
          <p:cNvSpPr>
            <a:spLocks noChangeArrowheads="1"/>
          </p:cNvSpPr>
          <p:nvPr/>
        </p:nvSpPr>
        <p:spPr bwMode="auto">
          <a:xfrm>
            <a:off x="2224088" y="1914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pic>
        <p:nvPicPr>
          <p:cNvPr id="121871" name="Picture 15" descr="E:\wonsuk\secure.pe.kr\instruction\tcpip\ipaddressing32.jpg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467013" y="1260764"/>
            <a:ext cx="8209501" cy="491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872" name="Rectangle 16"/>
          <p:cNvSpPr>
            <a:spLocks noChangeArrowheads="1"/>
          </p:cNvSpPr>
          <p:nvPr/>
        </p:nvSpPr>
        <p:spPr bwMode="auto">
          <a:xfrm>
            <a:off x="539552" y="332656"/>
            <a:ext cx="81899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DC0081"/>
              </a:buClr>
              <a:buSzTx/>
              <a:buFont typeface="Wingdings" pitchFamily="2" charset="2"/>
              <a:buNone/>
            </a:pPr>
            <a:r>
              <a:rPr lang="en-US" altLang="ko-KR" sz="3000" dirty="0">
                <a:latin typeface="Times New Roman" pitchFamily="18" charset="0"/>
                <a:cs typeface="Times New Roman" pitchFamily="18" charset="0"/>
              </a:rPr>
              <a:t>VLSM( Variable Length Subnet Mask ) example</a:t>
            </a:r>
          </a:p>
        </p:txBody>
      </p:sp>
    </p:spTree>
    <p:extLst>
      <p:ext uri="{BB962C8B-B14F-4D97-AF65-F5344CB8AC3E}">
        <p14:creationId xmlns:p14="http://schemas.microsoft.com/office/powerpoint/2010/main" val="68411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3"/>
          <p:cNvSpPr>
            <a:spLocks noChangeArrowheads="1"/>
          </p:cNvSpPr>
          <p:nvPr/>
        </p:nvSpPr>
        <p:spPr bwMode="auto">
          <a:xfrm>
            <a:off x="2000250" y="239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5" name="Rectangle 4"/>
          <p:cNvSpPr>
            <a:spLocks noChangeArrowheads="1"/>
          </p:cNvSpPr>
          <p:nvPr/>
        </p:nvSpPr>
        <p:spPr bwMode="auto">
          <a:xfrm>
            <a:off x="2400300" y="2657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6" name="Rectangle 5"/>
          <p:cNvSpPr>
            <a:spLocks noChangeArrowheads="1"/>
          </p:cNvSpPr>
          <p:nvPr/>
        </p:nvSpPr>
        <p:spPr bwMode="auto">
          <a:xfrm>
            <a:off x="205740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7" name="Rectangle 6"/>
          <p:cNvSpPr>
            <a:spLocks noChangeArrowheads="1"/>
          </p:cNvSpPr>
          <p:nvPr/>
        </p:nvSpPr>
        <p:spPr bwMode="auto">
          <a:xfrm>
            <a:off x="1828800" y="2309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8" name="Rectangle 7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9" name="Rectangle 8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0" name="Rectangle 9"/>
          <p:cNvSpPr>
            <a:spLocks noChangeArrowheads="1"/>
          </p:cNvSpPr>
          <p:nvPr/>
        </p:nvSpPr>
        <p:spPr bwMode="auto">
          <a:xfrm>
            <a:off x="2457450" y="1871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1" name="Rectangle 10"/>
          <p:cNvSpPr>
            <a:spLocks noChangeArrowheads="1"/>
          </p:cNvSpPr>
          <p:nvPr/>
        </p:nvSpPr>
        <p:spPr bwMode="auto">
          <a:xfrm>
            <a:off x="2085975" y="2071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2" name="Rectangle 11"/>
          <p:cNvSpPr>
            <a:spLocks noChangeArrowheads="1"/>
          </p:cNvSpPr>
          <p:nvPr/>
        </p:nvSpPr>
        <p:spPr bwMode="auto">
          <a:xfrm>
            <a:off x="2124075" y="2786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3" name="Rectangle 12"/>
          <p:cNvSpPr>
            <a:spLocks noChangeArrowheads="1"/>
          </p:cNvSpPr>
          <p:nvPr/>
        </p:nvSpPr>
        <p:spPr bwMode="auto">
          <a:xfrm>
            <a:off x="1719263" y="1628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4" name="Rectangle 13"/>
          <p:cNvSpPr>
            <a:spLocks noChangeArrowheads="1"/>
          </p:cNvSpPr>
          <p:nvPr/>
        </p:nvSpPr>
        <p:spPr bwMode="auto">
          <a:xfrm>
            <a:off x="2014538" y="2005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5" name="Rectangle 14"/>
          <p:cNvSpPr>
            <a:spLocks noChangeArrowheads="1"/>
          </p:cNvSpPr>
          <p:nvPr/>
        </p:nvSpPr>
        <p:spPr bwMode="auto">
          <a:xfrm>
            <a:off x="2224088" y="1914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6" name="Rectangle 15"/>
          <p:cNvSpPr>
            <a:spLocks noChangeArrowheads="1"/>
          </p:cNvSpPr>
          <p:nvPr/>
        </p:nvSpPr>
        <p:spPr bwMode="auto">
          <a:xfrm>
            <a:off x="1947863" y="1619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pic>
        <p:nvPicPr>
          <p:cNvPr id="122897" name="Picture 16" descr="E:\wonsuk\secure.pe.kr\instruction\tcpip\ipaddressing33.jpg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578138" y="1388382"/>
            <a:ext cx="7887436" cy="4775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467544" y="332656"/>
            <a:ext cx="81899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DC0081"/>
              </a:buClr>
              <a:buSzTx/>
              <a:buFont typeface="Wingdings" pitchFamily="2" charset="2"/>
              <a:buNone/>
            </a:pPr>
            <a:r>
              <a:rPr lang="en-US" altLang="ko-KR" sz="3000" dirty="0">
                <a:latin typeface="Times New Roman" pitchFamily="18" charset="0"/>
                <a:cs typeface="Times New Roman" pitchFamily="18" charset="0"/>
              </a:rPr>
              <a:t>VLSM( Variable Length Subnet Mask ) example</a:t>
            </a:r>
          </a:p>
        </p:txBody>
      </p:sp>
    </p:spTree>
    <p:extLst>
      <p:ext uri="{BB962C8B-B14F-4D97-AF65-F5344CB8AC3E}">
        <p14:creationId xmlns:p14="http://schemas.microsoft.com/office/powerpoint/2010/main" val="230297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6027</TotalTime>
  <Words>2647</Words>
  <Application>Microsoft Office PowerPoint</Application>
  <PresentationFormat>화면 슬라이드 쇼(4:3)</PresentationFormat>
  <Paragraphs>879</Paragraphs>
  <Slides>58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70" baseType="lpstr">
      <vt:lpstr>굴림</vt:lpstr>
      <vt:lpstr>맑은 고딕</vt:lpstr>
      <vt:lpstr>바탕체</vt:lpstr>
      <vt:lpstr>함초롬바탕</vt:lpstr>
      <vt:lpstr>Arial</vt:lpstr>
      <vt:lpstr>Calibri</vt:lpstr>
      <vt:lpstr>Calibri Light</vt:lpstr>
      <vt:lpstr>Helvetica</vt:lpstr>
      <vt:lpstr>Tahoma</vt:lpstr>
      <vt:lpstr>Times New Roman</vt:lpstr>
      <vt:lpstr>Wingdings</vt:lpstr>
      <vt:lpstr>Office 테마</vt:lpstr>
      <vt:lpstr>IPv4 Address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연습 문제 1. </vt:lpstr>
      <vt:lpstr>PowerPoint 프레젠테이션</vt:lpstr>
      <vt:lpstr>PowerPoint 프레젠테이션</vt:lpstr>
      <vt:lpstr>PowerPoint 프레젠테이션</vt:lpstr>
      <vt:lpstr>PowerPoint 프레젠테이션</vt:lpstr>
      <vt:lpstr> IPv4 Address의 비트열 </vt:lpstr>
      <vt:lpstr>10진수를 8비트 2진수로 변환</vt:lpstr>
      <vt:lpstr> IPv4 Address 특징 </vt:lpstr>
      <vt:lpstr>3) IPv4 Class 분류</vt:lpstr>
      <vt:lpstr>4) 첫번째 옥텟을 기반한 클래스 분류 </vt:lpstr>
      <vt:lpstr>7) 사용 가능한 IP address</vt:lpstr>
      <vt:lpstr>Subnet Mask</vt:lpstr>
      <vt:lpstr>네트워크 주소 </vt:lpstr>
      <vt:lpstr>브로드캐스트 주소 </vt:lpstr>
      <vt:lpstr>PowerPoint 프레젠테이션</vt:lpstr>
      <vt:lpstr>PowerPoint 프레젠테이션</vt:lpstr>
      <vt:lpstr>PowerPoint 프레젠테이션</vt:lpstr>
      <vt:lpstr>PowerPoint 프레젠테이션</vt:lpstr>
      <vt:lpstr>4) Loopback 주소 </vt:lpstr>
      <vt:lpstr>브로드캐스트 도메인  </vt:lpstr>
      <vt:lpstr>브로드캐스트 도메인 크기  </vt:lpstr>
      <vt:lpstr>서브넷팅(Subnetting)</vt:lpstr>
      <vt:lpstr>서브넷팅 적용 예제 </vt:lpstr>
      <vt:lpstr>서브넷팅 적용 예제 </vt:lpstr>
      <vt:lpstr>PowerPoint 프레젠테이션</vt:lpstr>
      <vt:lpstr>2) CIDR 표기법 </vt:lpstr>
      <vt:lpstr>CIDR 표기법 예제 </vt:lpstr>
      <vt:lpstr>PowerPoint 프레젠테이션</vt:lpstr>
      <vt:lpstr>서브넷팅 적용 예제 </vt:lpstr>
      <vt:lpstr>서브넷팅 적용 예제 </vt:lpstr>
      <vt:lpstr>PowerPoint 프레젠테이션</vt:lpstr>
      <vt:lpstr>PowerPoint 프레젠테이션</vt:lpstr>
      <vt:lpstr>비트 가중치 합</vt:lpstr>
      <vt:lpstr>연습 문제 1. </vt:lpstr>
      <vt:lpstr>PowerPoint 프레젠테이션</vt:lpstr>
      <vt:lpstr>PowerPoint 프레젠테이션</vt:lpstr>
      <vt:lpstr>PowerPoint 프레젠테이션</vt:lpstr>
      <vt:lpstr>PowerPoint 프레젠테이션</vt:lpstr>
      <vt:lpstr>연습 문제 2. </vt:lpstr>
      <vt:lpstr>연습 문제 풀이 3. </vt:lpstr>
      <vt:lpstr>FLSM( Fixed Length Subnet Mask ) example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Microsoft 계정</cp:lastModifiedBy>
  <cp:revision>210</cp:revision>
  <cp:lastPrinted>2020-07-19T23:44:49Z</cp:lastPrinted>
  <dcterms:created xsi:type="dcterms:W3CDTF">2016-06-18T01:38:17Z</dcterms:created>
  <dcterms:modified xsi:type="dcterms:W3CDTF">2023-08-18T06:01:21Z</dcterms:modified>
</cp:coreProperties>
</file>