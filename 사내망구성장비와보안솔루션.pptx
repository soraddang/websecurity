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1501" r:id="rId2"/>
    <p:sldId id="1622" r:id="rId3"/>
    <p:sldId id="1502" r:id="rId4"/>
    <p:sldId id="1503" r:id="rId5"/>
    <p:sldId id="1559" r:id="rId6"/>
    <p:sldId id="1361" r:id="rId7"/>
    <p:sldId id="1362" r:id="rId8"/>
    <p:sldId id="1363" r:id="rId9"/>
    <p:sldId id="1364" r:id="rId10"/>
    <p:sldId id="1367" r:id="rId11"/>
    <p:sldId id="1369" r:id="rId12"/>
    <p:sldId id="1368" r:id="rId13"/>
    <p:sldId id="1579" r:id="rId14"/>
    <p:sldId id="1581" r:id="rId15"/>
    <p:sldId id="1582" r:id="rId16"/>
    <p:sldId id="1583" r:id="rId17"/>
    <p:sldId id="1584" r:id="rId18"/>
    <p:sldId id="1585" r:id="rId19"/>
    <p:sldId id="1587" r:id="rId20"/>
    <p:sldId id="1624" r:id="rId21"/>
    <p:sldId id="1625" r:id="rId22"/>
    <p:sldId id="1627" r:id="rId23"/>
    <p:sldId id="1628" r:id="rId24"/>
    <p:sldId id="1629" r:id="rId25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4493" autoAdjust="0"/>
    <p:restoredTop sz="83488" autoAdjust="0"/>
  </p:normalViewPr>
  <p:slideViewPr>
    <p:cSldViewPr snapToGrid="0">
      <p:cViewPr varScale="1">
        <p:scale>
          <a:sx n="70" d="100"/>
          <a:sy n="70" d="100"/>
        </p:scale>
        <p:origin x="2222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3432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55" d="100"/>
        <a:sy n="5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4" Type="http://schemas.openxmlformats.org/officeDocument/2006/relationships/image" Target="../media/image15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45659" cy="498135"/>
          </a:xfrm>
          <a:prstGeom prst="rect">
            <a:avLst/>
          </a:prstGeom>
        </p:spPr>
        <p:txBody>
          <a:bodyPr vert="horz" lIns="91432" tIns="45715" rIns="91432" bIns="45715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5" y="0"/>
            <a:ext cx="2945659" cy="498135"/>
          </a:xfrm>
          <a:prstGeom prst="rect">
            <a:avLst/>
          </a:prstGeom>
        </p:spPr>
        <p:txBody>
          <a:bodyPr vert="horz" lIns="91432" tIns="45715" rIns="91432" bIns="45715" rtlCol="0"/>
          <a:lstStyle>
            <a:lvl1pPr algn="r">
              <a:defRPr sz="1200"/>
            </a:lvl1pPr>
          </a:lstStyle>
          <a:p>
            <a:fld id="{6E2CB153-45EF-48E8-99E9-7B97BED85BE4}" type="datetimeFigureOut">
              <a:rPr lang="ko-KR" altLang="en-US" smtClean="0"/>
              <a:t>2023-08-18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2" tIns="45715" rIns="91432" bIns="4571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32" tIns="45715" rIns="91432" bIns="45715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9430093"/>
            <a:ext cx="2945659" cy="498134"/>
          </a:xfrm>
          <a:prstGeom prst="rect">
            <a:avLst/>
          </a:prstGeom>
        </p:spPr>
        <p:txBody>
          <a:bodyPr vert="horz" lIns="91432" tIns="45715" rIns="91432" bIns="45715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5" y="9430093"/>
            <a:ext cx="2945659" cy="498134"/>
          </a:xfrm>
          <a:prstGeom prst="rect">
            <a:avLst/>
          </a:prstGeom>
        </p:spPr>
        <p:txBody>
          <a:bodyPr vert="horz" lIns="91432" tIns="45715" rIns="91432" bIns="45715" rtlCol="0" anchor="b"/>
          <a:lstStyle>
            <a:lvl1pPr algn="r">
              <a:defRPr sz="1200"/>
            </a:lvl1pPr>
          </a:lstStyle>
          <a:p>
            <a:fld id="{5BE81944-C09D-40AD-A756-3B56302354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8431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40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lnSpc>
                <a:spcPct val="150000"/>
              </a:lnSpc>
              <a:spcBef>
                <a:spcPct val="30000"/>
              </a:spcBef>
              <a:buFont typeface="Wingdings" panose="05000000000000000000" pitchFamily="2" charset="2"/>
              <a:buChar char="l"/>
              <a:defRPr kumimoji="1" sz="900" b="1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defRPr>
            </a:lvl1pPr>
            <a:lvl2pPr marL="716724" indent="-275663">
              <a:lnSpc>
                <a:spcPct val="150000"/>
              </a:lnSpc>
              <a:spcBef>
                <a:spcPct val="30000"/>
              </a:spcBef>
              <a:buFont typeface="Wingdings" panose="05000000000000000000" pitchFamily="2" charset="2"/>
              <a:buChar char="§"/>
              <a:defRPr kumimoji="1" sz="90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defRPr>
            </a:lvl2pPr>
            <a:lvl3pPr marL="1102652" indent="-220530">
              <a:lnSpc>
                <a:spcPct val="150000"/>
              </a:lnSpc>
              <a:spcBef>
                <a:spcPct val="30000"/>
              </a:spcBef>
              <a:buFont typeface="맑은 고딕" panose="020B0503020000020004" pitchFamily="50" charset="-127"/>
              <a:buChar char="-"/>
              <a:defRPr kumimoji="1" sz="90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defRPr>
            </a:lvl3pPr>
            <a:lvl4pPr marL="1543713" indent="-220530">
              <a:lnSpc>
                <a:spcPct val="150000"/>
              </a:lnSpc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defRPr>
            </a:lvl4pPr>
            <a:lvl5pPr marL="1984774" indent="-22053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함초롬바탕" panose="02030504000101010101" pitchFamily="18" charset="-127"/>
              </a:defRPr>
            </a:lvl5pPr>
            <a:lvl6pPr marL="2425835" indent="-22053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함초롬바탕" panose="02030504000101010101" pitchFamily="18" charset="-127"/>
              </a:defRPr>
            </a:lvl6pPr>
            <a:lvl7pPr marL="2866895" indent="-22053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함초롬바탕" panose="02030504000101010101" pitchFamily="18" charset="-127"/>
              </a:defRPr>
            </a:lvl7pPr>
            <a:lvl8pPr marL="3307956" indent="-22053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함초롬바탕" panose="02030504000101010101" pitchFamily="18" charset="-127"/>
              </a:defRPr>
            </a:lvl8pPr>
            <a:lvl9pPr marL="3749017" indent="-22053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함초롬바탕" panose="02030504000101010101" pitchFamily="18" charset="-127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67798AC2-C6AB-4598-8BF9-25BC4D17F11C}" type="slidenum">
              <a:rPr lang="en-US" altLang="ko-KR" b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</a:t>
            </a:fld>
            <a:endParaRPr lang="en-US" altLang="ko-KR" b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5523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24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 smtClean="0"/>
              <a:t>일반적으로 대부분의 </a:t>
            </a:r>
            <a:r>
              <a:rPr lang="en-US" altLang="ko-KR" smtClean="0"/>
              <a:t>LAN </a:t>
            </a:r>
            <a:r>
              <a:rPr lang="ko-KR" altLang="en-US" smtClean="0"/>
              <a:t>환경에서는 </a:t>
            </a:r>
            <a:r>
              <a:rPr lang="en-US" altLang="ko-KR" smtClean="0"/>
              <a:t>Switch</a:t>
            </a:r>
            <a:r>
              <a:rPr lang="ko-KR" altLang="en-US" smtClean="0"/>
              <a:t>가 많이 사용되며 기능과 용도에 따라 세분화 되어 사용되고 있다</a:t>
            </a:r>
            <a:r>
              <a:rPr lang="en-US" altLang="ko-KR" smtClean="0"/>
              <a:t>.</a:t>
            </a:r>
          </a:p>
        </p:txBody>
      </p:sp>
      <p:grpSp>
        <p:nvGrpSpPr>
          <p:cNvPr id="235525" name="Group 8"/>
          <p:cNvGrpSpPr>
            <a:grpSpLocks/>
          </p:cNvGrpSpPr>
          <p:nvPr/>
        </p:nvGrpSpPr>
        <p:grpSpPr bwMode="auto">
          <a:xfrm>
            <a:off x="319068" y="383454"/>
            <a:ext cx="6028872" cy="349574"/>
            <a:chOff x="210" y="249"/>
            <a:chExt cx="3968" cy="227"/>
          </a:xfrm>
        </p:grpSpPr>
        <p:sp>
          <p:nvSpPr>
            <p:cNvPr id="235526" name="Rectangle 9"/>
            <p:cNvSpPr>
              <a:spLocks noChangeArrowheads="1"/>
            </p:cNvSpPr>
            <p:nvPr/>
          </p:nvSpPr>
          <p:spPr bwMode="auto">
            <a:xfrm>
              <a:off x="210" y="249"/>
              <a:ext cx="3968" cy="2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46800" rIns="0" bIns="46800" anchor="ctr"/>
            <a:lstStyle>
              <a:lvl1pPr>
                <a:lnSpc>
                  <a:spcPct val="150000"/>
                </a:lnSpc>
                <a:spcBef>
                  <a:spcPct val="30000"/>
                </a:spcBef>
                <a:buFont typeface="Wingdings" panose="05000000000000000000" pitchFamily="2" charset="2"/>
                <a:buChar char="l"/>
                <a:defRPr kumimoji="1" sz="900" b="1">
                  <a:solidFill>
                    <a:schemeClr val="tx1"/>
                  </a:solidFill>
                  <a:latin typeface="함초롬바탕" panose="02030504000101010101" pitchFamily="18" charset="-127"/>
                  <a:ea typeface="함초롬바탕" panose="02030504000101010101" pitchFamily="18" charset="-127"/>
                  <a:cs typeface="함초롬바탕" panose="02030504000101010101" pitchFamily="18" charset="-127"/>
                </a:defRPr>
              </a:lvl1pPr>
              <a:lvl2pPr marL="742950" indent="-285750">
                <a:lnSpc>
                  <a:spcPct val="150000"/>
                </a:lnSpc>
                <a:spcBef>
                  <a:spcPct val="30000"/>
                </a:spcBef>
                <a:buFont typeface="Wingdings" panose="05000000000000000000" pitchFamily="2" charset="2"/>
                <a:buChar char="§"/>
                <a:defRPr kumimoji="1" sz="900">
                  <a:solidFill>
                    <a:schemeClr val="tx1"/>
                  </a:solidFill>
                  <a:latin typeface="함초롬바탕" panose="02030504000101010101" pitchFamily="18" charset="-127"/>
                  <a:ea typeface="함초롬바탕" panose="02030504000101010101" pitchFamily="18" charset="-127"/>
                  <a:cs typeface="함초롬바탕" panose="02030504000101010101" pitchFamily="18" charset="-127"/>
                </a:defRPr>
              </a:lvl2pPr>
              <a:lvl3pPr marL="1143000" indent="-228600">
                <a:lnSpc>
                  <a:spcPct val="150000"/>
                </a:lnSpc>
                <a:spcBef>
                  <a:spcPct val="30000"/>
                </a:spcBef>
                <a:buFont typeface="맑은 고딕" panose="020B0503020000020004" pitchFamily="50" charset="-127"/>
                <a:buChar char="-"/>
                <a:defRPr kumimoji="1" sz="900">
                  <a:solidFill>
                    <a:schemeClr val="tx1"/>
                  </a:solidFill>
                  <a:latin typeface="함초롬바탕" panose="02030504000101010101" pitchFamily="18" charset="-127"/>
                  <a:ea typeface="함초롬바탕" panose="02030504000101010101" pitchFamily="18" charset="-127"/>
                  <a:cs typeface="함초롬바탕" panose="02030504000101010101" pitchFamily="18" charset="-127"/>
                </a:defRPr>
              </a:lvl3pPr>
              <a:lvl4pPr marL="1600200" indent="-228600">
                <a:lnSpc>
                  <a:spcPct val="150000"/>
                </a:lnSpc>
                <a:spcBef>
                  <a:spcPct val="30000"/>
                </a:spcBef>
                <a:buChar char="•"/>
                <a:defRPr kumimoji="1" sz="1200">
                  <a:solidFill>
                    <a:schemeClr val="tx1"/>
                  </a:solidFill>
                  <a:latin typeface="함초롬바탕" panose="02030504000101010101" pitchFamily="18" charset="-127"/>
                  <a:ea typeface="함초롬바탕" panose="02030504000101010101" pitchFamily="18" charset="-127"/>
                  <a:cs typeface="함초롬바탕" panose="02030504000101010101" pitchFamily="18" charset="-127"/>
                </a:defRPr>
              </a:lvl4pPr>
              <a:lvl5pPr marL="2057400" indent="-228600" latinLnBrk="1">
                <a:spcBef>
                  <a:spcPct val="30000"/>
                </a:spcBef>
                <a:defRPr kumimoji="1" sz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함초롬바탕" panose="02030504000101010101" pitchFamily="18" charset="-127"/>
                </a:defRPr>
              </a:lvl5pPr>
              <a:lvl6pPr marL="2514600" indent="-228600" eaLnBrk="0" fontAlgn="base" hangingPunct="0">
                <a:spcBef>
                  <a:spcPct val="3000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함초롬바탕" panose="02030504000101010101" pitchFamily="18" charset="-127"/>
                </a:defRPr>
              </a:lvl6pPr>
              <a:lvl7pPr marL="2971800" indent="-228600" eaLnBrk="0" fontAlgn="base" hangingPunct="0">
                <a:spcBef>
                  <a:spcPct val="3000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함초롬바탕" panose="02030504000101010101" pitchFamily="18" charset="-127"/>
                </a:defRPr>
              </a:lvl7pPr>
              <a:lvl8pPr marL="3429000" indent="-228600" eaLnBrk="0" fontAlgn="base" hangingPunct="0">
                <a:spcBef>
                  <a:spcPct val="3000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함초롬바탕" panose="02030504000101010101" pitchFamily="18" charset="-127"/>
                </a:defRPr>
              </a:lvl8pPr>
              <a:lvl9pPr marL="3886200" indent="-228600" eaLnBrk="0" fontAlgn="base" hangingPunct="0">
                <a:spcBef>
                  <a:spcPct val="3000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함초롬바탕" panose="02030504000101010101" pitchFamily="18" charset="-127"/>
                </a:defRPr>
              </a:lvl9pPr>
            </a:lstStyle>
            <a:p>
              <a:pPr eaLnBrk="1" latin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ko-KR" altLang="en-US" sz="2700" b="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endParaRPr>
            </a:p>
          </p:txBody>
        </p:sp>
        <p:sp>
          <p:nvSpPr>
            <p:cNvPr id="235527" name="Line 10"/>
            <p:cNvSpPr>
              <a:spLocks noChangeShapeType="1"/>
            </p:cNvSpPr>
            <p:nvPr/>
          </p:nvSpPr>
          <p:spPr bwMode="auto">
            <a:xfrm>
              <a:off x="323" y="453"/>
              <a:ext cx="3674" cy="0"/>
            </a:xfrm>
            <a:prstGeom prst="line">
              <a:avLst/>
            </a:prstGeom>
            <a:noFill/>
            <a:ln w="9525">
              <a:solidFill>
                <a:srgbClr val="3333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850012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E81944-C09D-40AD-A756-3B56302354E3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07934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648521" y="9930750"/>
            <a:ext cx="2791184" cy="522767"/>
          </a:xfrm>
          <a:prstGeom prst="rect">
            <a:avLst/>
          </a:prstGeom>
          <a:noFill/>
        </p:spPr>
        <p:txBody>
          <a:bodyPr lIns="85108" tIns="42554" rIns="85108" bIns="42554"/>
          <a:lstStyle/>
          <a:p>
            <a:fld id="{F0B93E85-FF42-4626-A3D4-BD16D8B6B4BE}" type="slidenum">
              <a:rPr lang="en-US" altLang="ko-KR" smtClean="0">
                <a:latin typeface="굴림" pitchFamily="50" charset="-127"/>
                <a:ea typeface="굴림" pitchFamily="50" charset="-127"/>
              </a:rPr>
              <a:pPr/>
              <a:t>10</a:t>
            </a:fld>
            <a:endParaRPr lang="en-US" altLang="ko-KR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17563" y="1220788"/>
            <a:ext cx="4933950" cy="3700462"/>
          </a:xfrm>
          <a:ln/>
        </p:spPr>
      </p:sp>
      <p:pic>
        <p:nvPicPr>
          <p:cNvPr id="25604" name="Picture 3" descr="책제목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36565" y="704286"/>
            <a:ext cx="5030692" cy="4047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605" name="Text Box 4"/>
          <p:cNvSpPr txBox="1">
            <a:spLocks noChangeArrowheads="1"/>
          </p:cNvSpPr>
          <p:nvPr/>
        </p:nvSpPr>
        <p:spPr bwMode="auto">
          <a:xfrm>
            <a:off x="1338937" y="873095"/>
            <a:ext cx="3855771" cy="15388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lIns="0" tIns="0" rIns="0" bIns="0">
            <a:spAutoFit/>
          </a:bodyPr>
          <a:lstStyle/>
          <a:p>
            <a:pPr defTabSz="934865">
              <a:spcBef>
                <a:spcPct val="50000"/>
              </a:spcBef>
            </a:pPr>
            <a:r>
              <a:rPr lang="ko-KR" altLang="en-US" sz="1000" dirty="0">
                <a:latin typeface="HY울릉도L"/>
                <a:ea typeface="HY울릉도L"/>
                <a:cs typeface="HY울릉도L"/>
              </a:rPr>
              <a:t>업무에 바로 쓰는 네트워크 기술</a:t>
            </a:r>
          </a:p>
        </p:txBody>
      </p:sp>
      <p:sp>
        <p:nvSpPr>
          <p:cNvPr id="25606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042222" y="5165950"/>
            <a:ext cx="4492434" cy="4919087"/>
          </a:xfrm>
          <a:noFill/>
          <a:ln/>
        </p:spPr>
        <p:txBody>
          <a:bodyPr lIns="0" tIns="0" rIns="0" bIns="0"/>
          <a:lstStyle/>
          <a:p>
            <a:pPr eaLnBrk="1" hangingPunct="1"/>
            <a:endParaRPr lang="en-US" altLang="ko-KR" dirty="0"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259970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4" name="Rectangle 7"/>
          <p:cNvSpPr txBox="1">
            <a:spLocks noGrp="1" noChangeArrowheads="1"/>
          </p:cNvSpPr>
          <p:nvPr/>
        </p:nvSpPr>
        <p:spPr bwMode="auto">
          <a:xfrm>
            <a:off x="3518427" y="9018500"/>
            <a:ext cx="3048645" cy="5559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239" tIns="47119" rIns="94239" bIns="47119" anchor="b"/>
          <a:lstStyle/>
          <a:p>
            <a:pPr algn="r" eaLnBrk="1" latin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Wingdings" pitchFamily="2" charset="2"/>
              <a:buNone/>
            </a:pPr>
            <a:fld id="{2FA2C64C-3D9A-48BD-98FD-8E5EAEE6F119}" type="slidenum">
              <a:rPr kumimoji="1" lang="en-US" altLang="ko-KR" sz="1000">
                <a:latin typeface="Times New Roman" panose="02020603050405020304" pitchFamily="18" charset="0"/>
                <a:cs typeface="Times New Roman" panose="02020603050405020304" pitchFamily="18" charset="0"/>
              </a:rPr>
              <a:pPr algn="r" eaLnBrk="1" latin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Wingdings" pitchFamily="2" charset="2"/>
                <a:buNone/>
              </a:pPr>
              <a:t>12</a:t>
            </a:fld>
            <a:endParaRPr kumimoji="1" lang="en-US" altLang="ko-KR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2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35013" y="930275"/>
            <a:ext cx="5513387" cy="4137025"/>
          </a:xfrm>
          <a:ln/>
        </p:spPr>
      </p:sp>
    </p:spTree>
    <p:extLst>
      <p:ext uri="{BB962C8B-B14F-4D97-AF65-F5344CB8AC3E}">
        <p14:creationId xmlns:p14="http://schemas.microsoft.com/office/powerpoint/2010/main" val="27658271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4" name="Rectangle 7"/>
          <p:cNvSpPr txBox="1">
            <a:spLocks noGrp="1" noChangeArrowheads="1"/>
          </p:cNvSpPr>
          <p:nvPr/>
        </p:nvSpPr>
        <p:spPr bwMode="auto">
          <a:xfrm>
            <a:off x="3518427" y="9018500"/>
            <a:ext cx="3048645" cy="5559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239" tIns="47119" rIns="94239" bIns="47119" anchor="b"/>
          <a:lstStyle/>
          <a:p>
            <a:pPr algn="r" eaLnBrk="1" latin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Wingdings" pitchFamily="2" charset="2"/>
              <a:buNone/>
            </a:pPr>
            <a:fld id="{2FA2C64C-3D9A-48BD-98FD-8E5EAEE6F119}" type="slidenum">
              <a:rPr kumimoji="1" lang="en-US" altLang="ko-KR" sz="1000">
                <a:latin typeface="Times New Roman" panose="02020603050405020304" pitchFamily="18" charset="0"/>
                <a:cs typeface="Times New Roman" panose="02020603050405020304" pitchFamily="18" charset="0"/>
              </a:rPr>
              <a:pPr algn="r" eaLnBrk="1" latin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Wingdings" pitchFamily="2" charset="2"/>
                <a:buNone/>
              </a:pPr>
              <a:t>13</a:t>
            </a:fld>
            <a:endParaRPr kumimoji="1" lang="en-US" altLang="ko-KR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2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35013" y="930275"/>
            <a:ext cx="5513387" cy="4137025"/>
          </a:xfrm>
          <a:ln/>
        </p:spPr>
      </p:sp>
    </p:spTree>
    <p:extLst>
      <p:ext uri="{BB962C8B-B14F-4D97-AF65-F5344CB8AC3E}">
        <p14:creationId xmlns:p14="http://schemas.microsoft.com/office/powerpoint/2010/main" val="23966029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93725" y="852488"/>
            <a:ext cx="5746750" cy="4310062"/>
          </a:xfrm>
          <a:ln/>
        </p:spPr>
      </p:sp>
      <p:sp>
        <p:nvSpPr>
          <p:cNvPr id="402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4261" y="5317355"/>
            <a:ext cx="5161015" cy="1939011"/>
          </a:xfrm>
          <a:noFill/>
        </p:spPr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변환하는 주소 필드가 무엇이냐에 따라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SNAT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와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DNAT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로 분류</a:t>
            </a:r>
            <a:endParaRPr lang="en-US" altLang="ko-KR" sz="1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 SNAT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는 송신지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 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필드에 주소를 다른 주소로 변환 </a:t>
            </a:r>
            <a:endParaRPr lang="en-US" altLang="ko-KR" sz="1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 DNAT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는 수신지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 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필드에 주소를 다른 주소으로 변환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B8371-AA50-4CA5-BBD3-755C5D0A7E11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71417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57213" y="773113"/>
            <a:ext cx="5748337" cy="4311650"/>
          </a:xfrm>
          <a:ln/>
        </p:spPr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B8371-AA50-4CA5-BBD3-755C5D0A7E11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56199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50888" y="715963"/>
            <a:ext cx="5534025" cy="4151312"/>
          </a:xfrm>
          <a:ln/>
        </p:spPr>
      </p:sp>
      <p:sp>
        <p:nvSpPr>
          <p:cNvPr id="402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1090" y="5123353"/>
            <a:ext cx="5474674" cy="2760828"/>
          </a:xfrm>
          <a:noFill/>
        </p:spPr>
        <p:txBody>
          <a:bodyPr/>
          <a:lstStyle/>
          <a:p>
            <a:pPr eaLnBrk="1" hangingPunct="1"/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192.168.1.30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이라는 사설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주소는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30.1.120.8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이라는 공인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로 변환하여 웹서버에 서비스를 받게 된다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. </a:t>
            </a:r>
          </a:p>
          <a:p>
            <a:pPr eaLnBrk="1" hangingPunct="1"/>
            <a:r>
              <a:rPr lang="en-US" altLang="ko-KR" baseline="0" dirty="0">
                <a:latin typeface="굴림" pitchFamily="50" charset="-127"/>
                <a:ea typeface="굴림" pitchFamily="50" charset="-127"/>
              </a:rPr>
              <a:t> </a:t>
            </a:r>
          </a:p>
          <a:p>
            <a:pPr eaLnBrk="1" hangingPunct="1"/>
            <a:endParaRPr lang="ko-KR" altLang="ko-KR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B8371-AA50-4CA5-BBD3-755C5D0A7E11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90242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7700" y="903288"/>
            <a:ext cx="5502275" cy="4127500"/>
          </a:xfrm>
          <a:ln/>
        </p:spPr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B8371-AA50-4CA5-BBD3-755C5D0A7E11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65635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E81944-C09D-40AD-A756-3B56302354E3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00247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93725" y="871538"/>
            <a:ext cx="5729288" cy="4297362"/>
          </a:xfrm>
          <a:ln/>
        </p:spPr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B8371-AA50-4CA5-BBD3-755C5D0A7E11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0181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770" name="Rectangle 7"/>
          <p:cNvSpPr txBox="1">
            <a:spLocks noGrp="1" noChangeArrowheads="1"/>
          </p:cNvSpPr>
          <p:nvPr/>
        </p:nvSpPr>
        <p:spPr bwMode="auto">
          <a:xfrm>
            <a:off x="3852652" y="9431500"/>
            <a:ext cx="2945024" cy="4967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361" tIns="45680" rIns="91361" bIns="45680" anchor="b"/>
          <a:lstStyle/>
          <a:p>
            <a:pPr algn="r" eaLnBrk="1" latin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Wingdings" pitchFamily="2" charset="2"/>
              <a:buNone/>
            </a:pPr>
            <a:fld id="{40C8EF4B-C631-42AF-A9D2-2AA7D1DE6BD7}" type="slidenum">
              <a:rPr kumimoji="1" lang="en-US" altLang="ko-KR" sz="1200">
                <a:latin typeface="Tahoma" pitchFamily="34" charset="0"/>
              </a:rPr>
              <a:pPr algn="r" eaLnBrk="1" latin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Wingdings" pitchFamily="2" charset="2"/>
                <a:buNone/>
              </a:pPr>
              <a:t>23</a:t>
            </a:fld>
            <a:endParaRPr kumimoji="1" lang="en-US" altLang="ko-KR" sz="1200" dirty="0">
              <a:latin typeface="Tahoma" pitchFamily="34" charset="0"/>
            </a:endParaRPr>
          </a:p>
        </p:txBody>
      </p:sp>
      <p:sp>
        <p:nvSpPr>
          <p:cNvPr id="416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6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041" y="4716546"/>
            <a:ext cx="4985596" cy="4467384"/>
          </a:xfrm>
          <a:noFill/>
        </p:spPr>
        <p:txBody>
          <a:bodyPr/>
          <a:lstStyle/>
          <a:p>
            <a:pPr eaLnBrk="1" hangingPunct="1"/>
            <a:endParaRPr lang="ko-KR" altLang="ko-KR" smtClean="0"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798809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7"/>
          <p:cNvSpPr txBox="1">
            <a:spLocks noGrp="1" noChangeArrowheads="1"/>
          </p:cNvSpPr>
          <p:nvPr/>
        </p:nvSpPr>
        <p:spPr bwMode="auto">
          <a:xfrm>
            <a:off x="3852652" y="9431500"/>
            <a:ext cx="2945024" cy="4967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361" tIns="45680" rIns="91361" bIns="45680" anchor="b"/>
          <a:lstStyle/>
          <a:p>
            <a:pPr algn="r" eaLnBrk="1" latin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Wingdings" pitchFamily="2" charset="2"/>
              <a:buNone/>
            </a:pPr>
            <a:fld id="{51123F9A-A949-490C-ABEF-26396D998073}" type="slidenum">
              <a:rPr kumimoji="1" lang="en-US" altLang="ko-KR" sz="1200">
                <a:latin typeface="Tahoma" pitchFamily="34" charset="0"/>
              </a:rPr>
              <a:pPr algn="r" eaLnBrk="1" latin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Wingdings" pitchFamily="2" charset="2"/>
                <a:buNone/>
              </a:pPr>
              <a:t>24</a:t>
            </a:fld>
            <a:endParaRPr kumimoji="1" lang="en-US" altLang="ko-KR" sz="1200" dirty="0">
              <a:latin typeface="Tahoma" pitchFamily="34" charset="0"/>
            </a:endParaRPr>
          </a:p>
        </p:txBody>
      </p:sp>
      <p:sp>
        <p:nvSpPr>
          <p:cNvPr id="417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7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041" y="4716546"/>
            <a:ext cx="4985596" cy="4467384"/>
          </a:xfrm>
          <a:noFill/>
        </p:spPr>
        <p:txBody>
          <a:bodyPr/>
          <a:lstStyle/>
          <a:p>
            <a:pPr eaLnBrk="1" hangingPunct="1"/>
            <a:endParaRPr lang="ko-KR" altLang="ko-KR" smtClean="0"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89693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9781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7238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6818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4071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5268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928467" y="6356350"/>
            <a:ext cx="2057400" cy="365125"/>
          </a:xfrm>
        </p:spPr>
        <p:txBody>
          <a:bodyPr/>
          <a:lstStyle>
            <a:lvl1pPr>
              <a:defRPr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defRPr>
            </a:lvl1pPr>
          </a:lstStyle>
          <a:p>
            <a:fld id="{F100E85C-9068-46D2-A14A-A9DCCDE0C98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5664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649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4640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0164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3583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46159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슬라이드 번호 개체 틀 10"/>
          <p:cNvSpPr>
            <a:spLocks noGrp="1"/>
          </p:cNvSpPr>
          <p:nvPr>
            <p:ph type="sldNum" sz="quarter" idx="12"/>
          </p:nvPr>
        </p:nvSpPr>
        <p:spPr>
          <a:xfrm>
            <a:off x="6821934" y="6408475"/>
            <a:ext cx="2057400" cy="365125"/>
          </a:xfrm>
        </p:spPr>
        <p:txBody>
          <a:bodyPr/>
          <a:lstStyle>
            <a:lvl1pPr>
              <a:defRPr sz="11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7B2209E9-2AE8-42A0-AB53-D13299BB30A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87584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57445" y="632192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F100E85C-9068-46D2-A14A-A9DCCDE0C98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61445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6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wmf"/><Relationship Id="rId4" Type="http://schemas.openxmlformats.org/officeDocument/2006/relationships/image" Target="../media/image2.w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13" Type="http://schemas.openxmlformats.org/officeDocument/2006/relationships/image" Target="../media/image14.wmf"/><Relationship Id="rId18" Type="http://schemas.openxmlformats.org/officeDocument/2006/relationships/oleObject" Target="../embeddings/oleObject7.bin"/><Relationship Id="rId3" Type="http://schemas.openxmlformats.org/officeDocument/2006/relationships/notesSlide" Target="../notesSlides/notesSlide3.xml"/><Relationship Id="rId21" Type="http://schemas.openxmlformats.org/officeDocument/2006/relationships/oleObject" Target="../embeddings/oleObject9.bin"/><Relationship Id="rId7" Type="http://schemas.openxmlformats.org/officeDocument/2006/relationships/image" Target="../media/image1.wmf"/><Relationship Id="rId12" Type="http://schemas.openxmlformats.org/officeDocument/2006/relationships/oleObject" Target="../embeddings/oleObject3.bin"/><Relationship Id="rId17" Type="http://schemas.openxmlformats.org/officeDocument/2006/relationships/image" Target="../media/image19.png"/><Relationship Id="rId25" Type="http://schemas.openxmlformats.org/officeDocument/2006/relationships/image" Target="../media/image20.png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6.bin"/><Relationship Id="rId20" Type="http://schemas.openxmlformats.org/officeDocument/2006/relationships/image" Target="../media/image15.png"/><Relationship Id="rId1" Type="http://schemas.openxmlformats.org/officeDocument/2006/relationships/vmlDrawing" Target="../drawings/vmlDrawing1.vml"/><Relationship Id="rId6" Type="http://schemas.openxmlformats.org/officeDocument/2006/relationships/image" Target="../media/image18.png"/><Relationship Id="rId11" Type="http://schemas.openxmlformats.org/officeDocument/2006/relationships/image" Target="../media/image13.wmf"/><Relationship Id="rId24" Type="http://schemas.openxmlformats.org/officeDocument/2006/relationships/image" Target="../media/image3.wmf"/><Relationship Id="rId5" Type="http://schemas.openxmlformats.org/officeDocument/2006/relationships/image" Target="../media/image17.png"/><Relationship Id="rId15" Type="http://schemas.openxmlformats.org/officeDocument/2006/relationships/oleObject" Target="../embeddings/oleObject5.bin"/><Relationship Id="rId23" Type="http://schemas.openxmlformats.org/officeDocument/2006/relationships/image" Target="../media/image2.wmf"/><Relationship Id="rId10" Type="http://schemas.openxmlformats.org/officeDocument/2006/relationships/oleObject" Target="../embeddings/oleObject2.bin"/><Relationship Id="rId19" Type="http://schemas.openxmlformats.org/officeDocument/2006/relationships/oleObject" Target="../embeddings/oleObject8.bin"/><Relationship Id="rId4" Type="http://schemas.openxmlformats.org/officeDocument/2006/relationships/image" Target="../media/image16.png"/><Relationship Id="rId9" Type="http://schemas.openxmlformats.org/officeDocument/2006/relationships/image" Target="../media/image12.wmf"/><Relationship Id="rId14" Type="http://schemas.openxmlformats.org/officeDocument/2006/relationships/oleObject" Target="../embeddings/oleObject4.bin"/><Relationship Id="rId22" Type="http://schemas.openxmlformats.org/officeDocument/2006/relationships/oleObject" Target="../embeddings/oleObject10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file:///E:\wonsuk\secure.pe.kr\instruction\tcpip\ipaddressing32.jpg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file:///E:\wonsuk\secure.pe.kr\instruction\tcpip\ipaddressing33.jp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9332" name="Group 84"/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773549259"/>
              </p:ext>
            </p:extLst>
          </p:nvPr>
        </p:nvGraphicFramePr>
        <p:xfrm>
          <a:off x="388854" y="1301313"/>
          <a:ext cx="8388495" cy="438478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5156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923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75923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75923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75923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524253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나눔고딕" pitchFamily="50" charset="-127"/>
                        <a:defRPr kumimoji="1" sz="1600" b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Wingdings" pitchFamily="2" charset="2"/>
                        <a:defRPr kumimoji="1" sz="14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맑은 고딕" pitchFamily="50" charset="-127"/>
                        <a:defRPr kumimoji="1" sz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3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구분</a:t>
                      </a:r>
                      <a:endParaRPr kumimoji="1" lang="ko-KR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marL="84406" marR="84406" marT="42186" marB="42186" anchor="ctr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나눔고딕" pitchFamily="50" charset="-127"/>
                        <a:defRPr kumimoji="1" sz="1600" b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Wingdings" pitchFamily="2" charset="2"/>
                        <a:defRPr kumimoji="1" sz="14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맑은 고딕" pitchFamily="50" charset="-127"/>
                        <a:defRPr kumimoji="1" sz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3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L2 Switch</a:t>
                      </a:r>
                      <a:endParaRPr kumimoji="1" lang="en-US" altLang="ko-KR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함초롬바탕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84406" marR="84406" marT="42186" marB="42186" anchor="ctr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나눔고딕" pitchFamily="50" charset="-127"/>
                        <a:defRPr kumimoji="1" sz="1600" b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Wingdings" pitchFamily="2" charset="2"/>
                        <a:defRPr kumimoji="1" sz="14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맑은 고딕" pitchFamily="50" charset="-127"/>
                        <a:defRPr kumimoji="1" sz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3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L3 Switch</a:t>
                      </a:r>
                      <a:endParaRPr kumimoji="1" lang="en-US" altLang="ko-KR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함초롬바탕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84406" marR="84406" marT="42186" marB="42186" anchor="ctr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나눔고딕" pitchFamily="50" charset="-127"/>
                        <a:defRPr kumimoji="1" sz="1600" b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Wingdings" pitchFamily="2" charset="2"/>
                        <a:defRPr kumimoji="1" sz="14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맑은 고딕" pitchFamily="50" charset="-127"/>
                        <a:defRPr kumimoji="1" sz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3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L4 Switch</a:t>
                      </a:r>
                      <a:endParaRPr kumimoji="1" lang="en-US" altLang="ko-KR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함초롬바탕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84406" marR="84406" marT="42186" marB="42186" anchor="ctr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나눔고딕" pitchFamily="50" charset="-127"/>
                        <a:defRPr kumimoji="1" sz="1600" b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Wingdings" pitchFamily="2" charset="2"/>
                        <a:defRPr kumimoji="1" sz="14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맑은 고딕" pitchFamily="50" charset="-127"/>
                        <a:defRPr kumimoji="1" sz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3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L7 Switch</a:t>
                      </a:r>
                      <a:endParaRPr kumimoji="1" lang="en-US" altLang="ko-KR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함초롬바탕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84406" marR="84406" marT="42186" marB="42186" anchor="ctr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90554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나눔고딕" pitchFamily="50" charset="-127"/>
                        <a:defRPr kumimoji="1" sz="1600" b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Wingdings" pitchFamily="2" charset="2"/>
                        <a:defRPr kumimoji="1" sz="14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맑은 고딕" pitchFamily="50" charset="-127"/>
                        <a:defRPr kumimoji="1" sz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3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포워딩기준</a:t>
                      </a:r>
                      <a:endParaRPr kumimoji="1" lang="en-US" altLang="ko-KR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84406" marR="84406" marT="42186" marB="42186" anchor="ctr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나눔고딕" pitchFamily="50" charset="-127"/>
                        <a:defRPr kumimoji="1" sz="1600" b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Wingdings" pitchFamily="2" charset="2"/>
                        <a:defRPr kumimoji="1" sz="14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맑은 고딕" pitchFamily="50" charset="-127"/>
                        <a:defRPr kumimoji="1" sz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3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1" lang="ko-KR" altLang="en-US" sz="1800" b="0" u="none" strike="noStrike" cap="none" normalizeH="0" baseline="0" smtClean="0">
                          <a:ln>
                            <a:noFill/>
                          </a:ln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계층</a:t>
                      </a:r>
                      <a:r>
                        <a:rPr kumimoji="1" lang="ko-KR" altLang="en-US" sz="1800" b="0" u="none" strike="noStrike" cap="none" normalizeH="0" baseline="0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/>
                      </a:r>
                      <a:br>
                        <a:rPr kumimoji="1" lang="ko-KR" altLang="en-US" sz="1800" b="0" u="none" strike="noStrike" cap="none" normalizeH="0" baseline="0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kumimoji="1" lang="en-US" altLang="ko-KR" sz="1600" b="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(MAC Address)</a:t>
                      </a:r>
                      <a:endParaRPr kumimoji="1" lang="en-US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함초롬바탕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84406" marR="84406" marT="42186" marB="42186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나눔고딕" pitchFamily="50" charset="-127"/>
                        <a:defRPr kumimoji="1" sz="1600" b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Wingdings" pitchFamily="2" charset="2"/>
                        <a:defRPr kumimoji="1" sz="14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맑은 고딕" pitchFamily="50" charset="-127"/>
                        <a:defRPr kumimoji="1" sz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3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1" lang="ko-KR" altLang="en-US" sz="1800" b="0" u="none" strike="noStrike" cap="none" normalizeH="0" baseline="0" smtClean="0">
                          <a:ln>
                            <a:noFill/>
                          </a:ln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계층</a:t>
                      </a:r>
                      <a:r>
                        <a:rPr kumimoji="1" lang="ko-KR" altLang="en-US" sz="1800" b="0" u="none" strike="noStrike" cap="none" normalizeH="0" baseline="0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/>
                      </a:r>
                      <a:br>
                        <a:rPr kumimoji="1" lang="ko-KR" altLang="en-US" sz="1800" b="0" u="none" strike="noStrike" cap="none" normalizeH="0" baseline="0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kumimoji="1" lang="en-US" altLang="ko-KR" sz="1600" b="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(IP Address)</a:t>
                      </a:r>
                      <a:endParaRPr kumimoji="1" lang="en-US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함초롬바탕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84406" marR="84406" marT="42186" marB="42186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나눔고딕" pitchFamily="50" charset="-127"/>
                        <a:defRPr kumimoji="1" sz="1600" b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Wingdings" pitchFamily="2" charset="2"/>
                        <a:defRPr kumimoji="1" sz="14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맑은 고딕" pitchFamily="50" charset="-127"/>
                        <a:defRPr kumimoji="1" sz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3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kumimoji="1" lang="ko-KR" altLang="en-US" sz="1800" b="0" u="none" strike="noStrike" cap="none" normalizeH="0" baseline="0" smtClean="0">
                          <a:ln>
                            <a:noFill/>
                          </a:ln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계층</a:t>
                      </a:r>
                      <a:r>
                        <a:rPr kumimoji="1" lang="ko-KR" altLang="en-US" sz="1800" b="0" u="none" strike="noStrike" cap="none" normalizeH="0" baseline="0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/>
                      </a:r>
                      <a:br>
                        <a:rPr kumimoji="1" lang="ko-KR" altLang="en-US" sz="1800" b="0" u="none" strike="noStrike" cap="none" normalizeH="0" baseline="0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kumimoji="1" lang="en-US" altLang="ko-KR" sz="1600" b="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(IP address + Port </a:t>
                      </a:r>
                      <a:r>
                        <a:rPr kumimoji="1" lang="ko-KR" altLang="en-US" sz="1600" b="0" u="none" strike="noStrike" cap="none" normalizeH="0" baseline="0" smtClean="0">
                          <a:ln>
                            <a:noFill/>
                          </a:ln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번호</a:t>
                      </a:r>
                      <a:r>
                        <a:rPr kumimoji="1" lang="ko-KR" altLang="en-US" sz="1600" b="0" u="none" strike="noStrike" cap="none" normalizeH="0" baseline="0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altLang="ko-KR" sz="1600" b="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kumimoji="1" lang="en-US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함초롬바탕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84406" marR="84406" marT="42186" marB="42186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나눔고딕" pitchFamily="50" charset="-127"/>
                        <a:defRPr kumimoji="1" sz="1600" b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Wingdings" pitchFamily="2" charset="2"/>
                        <a:defRPr kumimoji="1" sz="14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맑은 고딕" pitchFamily="50" charset="-127"/>
                        <a:defRPr kumimoji="1" sz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3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800" b="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r>
                        <a:rPr kumimoji="1" lang="ko-KR" altLang="en-US" sz="1800" b="0" u="none" strike="noStrike" cap="none" normalizeH="0" baseline="0" smtClean="0">
                          <a:ln>
                            <a:noFill/>
                          </a:ln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계층</a:t>
                      </a:r>
                      <a:r>
                        <a:rPr kumimoji="1" lang="ko-KR" altLang="en-US" sz="1800" b="0" u="none" strike="noStrike" cap="none" normalizeH="0" baseline="0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/>
                      </a:r>
                      <a:br>
                        <a:rPr kumimoji="1" lang="ko-KR" altLang="en-US" sz="1800" b="0" u="none" strike="noStrike" cap="none" normalizeH="0" baseline="0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kumimoji="1" lang="en-US" altLang="ko-KR" sz="1600" b="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(IP address + Port </a:t>
                      </a:r>
                      <a:r>
                        <a:rPr kumimoji="1" lang="ko-KR" altLang="en-US" sz="1600" b="0" u="none" strike="noStrike" cap="none" normalizeH="0" baseline="0" smtClean="0">
                          <a:ln>
                            <a:noFill/>
                          </a:ln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번호</a:t>
                      </a:r>
                      <a:r>
                        <a:rPr kumimoji="1" lang="en-US" altLang="ko-KR" sz="1600" b="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+ Content</a:t>
                      </a:r>
                      <a:r>
                        <a:rPr kumimoji="1" lang="en-US" altLang="ko-KR" sz="1600" b="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kumimoji="1" lang="en-US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함초롬바탕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84406" marR="84406" marT="42186" marB="42186" anchor="ctr" horzOverflow="overflow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66814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나눔고딕" pitchFamily="50" charset="-127"/>
                        <a:defRPr kumimoji="1" sz="1600" b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Wingdings" pitchFamily="2" charset="2"/>
                        <a:defRPr kumimoji="1" sz="14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맑은 고딕" pitchFamily="50" charset="-127"/>
                        <a:defRPr kumimoji="1" sz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3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기능</a:t>
                      </a:r>
                      <a:endParaRPr kumimoji="1" lang="ko-KR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marL="84406" marR="84406" marT="42186" marB="42186" anchor="ctr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180975" indent="-180975"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나눔고딕" pitchFamily="50" charset="-127"/>
                        <a:defRPr kumimoji="1" sz="1600" b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Wingdings" pitchFamily="2" charset="2"/>
                        <a:defRPr kumimoji="1" sz="14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맑은 고딕" pitchFamily="50" charset="-127"/>
                        <a:defRPr kumimoji="1" sz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3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Switching</a:t>
                      </a:r>
                    </a:p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Learning</a:t>
                      </a:r>
                    </a:p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Forwarding</a:t>
                      </a:r>
                    </a:p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Filtering</a:t>
                      </a:r>
                      <a:endParaRPr kumimoji="1" lang="en-US" altLang="ko-KR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함초롬바탕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84406" marR="84406" marT="42186" marB="42186" anchor="ctr" horzOverflow="overflow"/>
                </a:tc>
                <a:tc>
                  <a:txBody>
                    <a:bodyPr/>
                    <a:lstStyle>
                      <a:lvl1pPr marL="180975" indent="-180975"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나눔고딕" pitchFamily="50" charset="-127"/>
                        <a:defRPr kumimoji="1" sz="1600" b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Wingdings" pitchFamily="2" charset="2"/>
                        <a:defRPr kumimoji="1" sz="14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맑은 고딕" pitchFamily="50" charset="-127"/>
                        <a:defRPr kumimoji="1" sz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3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u="none" strike="noStrike" cap="none" normalizeH="0" baseline="0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Switching</a:t>
                      </a:r>
                    </a:p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u="none" strike="noStrike" cap="none" normalizeH="0" baseline="0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Routing</a:t>
                      </a:r>
                      <a:endParaRPr kumimoji="1" lang="en-US" altLang="ko-K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함초롬바탕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84406" marR="84406" marT="42186" marB="42186" anchor="ctr" horzOverflow="overflow"/>
                </a:tc>
                <a:tc>
                  <a:txBody>
                    <a:bodyPr/>
                    <a:lstStyle>
                      <a:lvl1pPr marL="180975" indent="-180975"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나눔고딕" pitchFamily="50" charset="-127"/>
                        <a:defRPr kumimoji="1" sz="1600" b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Wingdings" pitchFamily="2" charset="2"/>
                        <a:defRPr kumimoji="1" sz="14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맑은 고딕" pitchFamily="50" charset="-127"/>
                        <a:defRPr kumimoji="1" sz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3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L3 Switch</a:t>
                      </a:r>
                    </a:p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Load Balance</a:t>
                      </a:r>
                      <a:endParaRPr kumimoji="1" lang="en-US" altLang="ko-KR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함초롬바탕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84406" marR="84406" marT="42186" marB="42186" anchor="ctr" horzOverflow="overflow"/>
                </a:tc>
                <a:tc>
                  <a:txBody>
                    <a:bodyPr/>
                    <a:lstStyle>
                      <a:lvl1pPr marL="180975" indent="-180975"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나눔고딕" pitchFamily="50" charset="-127"/>
                        <a:defRPr kumimoji="1" sz="1600" b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Wingdings" pitchFamily="2" charset="2"/>
                        <a:defRPr kumimoji="1" sz="14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맑은 고딕" pitchFamily="50" charset="-127"/>
                        <a:defRPr kumimoji="1" sz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3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u="none" strike="noStrike" cap="none" normalizeH="0" baseline="0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L4 Switch</a:t>
                      </a:r>
                    </a:p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u="none" strike="noStrike" cap="none" normalizeH="0" baseline="0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Security</a:t>
                      </a:r>
                    </a:p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u="none" strike="noStrike" cap="none" normalizeH="0" baseline="0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Content </a:t>
                      </a:r>
                      <a:r>
                        <a:rPr kumimoji="1" lang="ko-KR" altLang="en-US" sz="1800" b="0" u="none" strike="noStrike" cap="none" normalizeH="0" baseline="0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인식</a:t>
                      </a:r>
                      <a:endParaRPr kumimoji="1" lang="ko-KR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함초롬바탕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84406" marR="84406" marT="42186" marB="42186" anchor="ctr" horzOverflow="overflow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286844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나눔고딕" pitchFamily="50" charset="-127"/>
                        <a:defRPr kumimoji="1" sz="1600" b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Wingdings" pitchFamily="2" charset="2"/>
                        <a:defRPr kumimoji="1" sz="14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맑은 고딕" pitchFamily="50" charset="-127"/>
                        <a:defRPr kumimoji="1" sz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3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주요 용도</a:t>
                      </a:r>
                      <a:endParaRPr kumimoji="1" lang="ko-KR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marL="84406" marR="84406" marT="42186" marB="42186" anchor="ctr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나눔고딕" pitchFamily="50" charset="-127"/>
                        <a:defRPr kumimoji="1" sz="1600" b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Wingdings" pitchFamily="2" charset="2"/>
                        <a:defRPr kumimoji="1" sz="14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맑은 고딕" pitchFamily="50" charset="-127"/>
                        <a:defRPr kumimoji="1" sz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3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Frame </a:t>
                      </a:r>
                      <a:r>
                        <a:rPr kumimoji="1" lang="ko-KR" altLang="en-US" sz="1800" b="0" u="none" strike="noStrike" cap="none" normalizeH="0" baseline="0" smtClean="0">
                          <a:ln>
                            <a:noFill/>
                          </a:ln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전송</a:t>
                      </a:r>
                      <a:endParaRPr kumimoji="1" lang="ko-KR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marL="84406" marR="84406" marT="42186" marB="42186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나눔고딕" pitchFamily="50" charset="-127"/>
                        <a:defRPr kumimoji="1" sz="1600" b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Wingdings" pitchFamily="2" charset="2"/>
                        <a:defRPr kumimoji="1" sz="14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맑은 고딕" pitchFamily="50" charset="-127"/>
                        <a:defRPr kumimoji="1" sz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3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Packet </a:t>
                      </a:r>
                      <a:r>
                        <a:rPr kumimoji="1" lang="ko-KR" altLang="en-US" sz="1800" b="0" u="none" strike="noStrike" cap="none" normalizeH="0" baseline="0" smtClean="0">
                          <a:ln>
                            <a:noFill/>
                          </a:ln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전송</a:t>
                      </a:r>
                      <a:endParaRPr kumimoji="1" lang="ko-KR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marL="84406" marR="84406" marT="42186" marB="42186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나눔고딕" pitchFamily="50" charset="-127"/>
                        <a:defRPr kumimoji="1" sz="1600" b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Wingdings" pitchFamily="2" charset="2"/>
                        <a:defRPr kumimoji="1" sz="14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맑은 고딕" pitchFamily="50" charset="-127"/>
                        <a:defRPr kumimoji="1" sz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3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u="none" strike="noStrike" cap="none" normalizeH="0" baseline="0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FLB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u="none" strike="noStrike" cap="none" normalizeH="0" baseline="0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SLB</a:t>
                      </a:r>
                      <a:endParaRPr kumimoji="1" lang="en-US" altLang="ko-K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함초롬바탕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84406" marR="84406" marT="42186" marB="42186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나눔고딕" pitchFamily="50" charset="-127"/>
                        <a:defRPr kumimoji="1" sz="1600" b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Wingdings" pitchFamily="2" charset="2"/>
                        <a:defRPr kumimoji="1" sz="14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맑은 고딕" pitchFamily="50" charset="-127"/>
                        <a:defRPr kumimoji="1" sz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3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FLB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SLB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800" b="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Security</a:t>
                      </a:r>
                      <a:endParaRPr kumimoji="1" lang="en-US" altLang="ko-KR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함초롬바탕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84406" marR="84406" marT="42186" marB="42186" anchor="ctr" horzOverflow="overflow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6" name="Rectangle 55"/>
          <p:cNvSpPr>
            <a:spLocks noChangeArrowheads="1"/>
          </p:cNvSpPr>
          <p:nvPr/>
        </p:nvSpPr>
        <p:spPr bwMode="auto">
          <a:xfrm>
            <a:off x="388854" y="507724"/>
            <a:ext cx="7581283" cy="31332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31579" indent="-331579" eaLnBrk="0" latinLnBrk="0" hangingPunct="0">
              <a:lnSpc>
                <a:spcPct val="95000"/>
              </a:lnSpc>
              <a:spcBef>
                <a:spcPct val="50000"/>
              </a:spcBef>
              <a:buClr>
                <a:srgbClr val="00B0DF"/>
              </a:buClr>
              <a:tabLst>
                <a:tab pos="1125220" algn="l"/>
              </a:tabLst>
            </a:pPr>
            <a:r>
              <a:rPr lang="en-US" altLang="ko-KR" sz="3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Multilayer Switch</a:t>
            </a:r>
            <a:r>
              <a:rPr lang="en-US" altLang="ko-KR" sz="2600" dirty="0" smtClean="0">
                <a:solidFill>
                  <a:srgbClr val="00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(</a:t>
            </a:r>
            <a:r>
              <a:rPr lang="ko-KR" altLang="en-US" sz="2600" smtClean="0">
                <a:solidFill>
                  <a:srgbClr val="00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다계층스위치</a:t>
            </a:r>
            <a:r>
              <a:rPr lang="en-US" altLang="ko-KR" sz="2600" dirty="0" smtClean="0">
                <a:solidFill>
                  <a:srgbClr val="00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)</a:t>
            </a:r>
            <a:endParaRPr lang="en-US" altLang="ko-KR" sz="2600" dirty="0">
              <a:solidFill>
                <a:srgbClr val="000000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331579" indent="-331579" eaLnBrk="0" latinLnBrk="0" hangingPunct="0">
              <a:spcBef>
                <a:spcPct val="50000"/>
              </a:spcBef>
              <a:buClr>
                <a:srgbClr val="00B0DF"/>
              </a:buClr>
              <a:tabLst>
                <a:tab pos="1125220" algn="l"/>
              </a:tabLst>
            </a:pPr>
            <a:endParaRPr lang="en-US" altLang="ko-KR" sz="3200" b="1" dirty="0">
              <a:solidFill>
                <a:srgbClr val="000000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209E9-2AE8-42A0-AB53-D13299BB30AF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grpSp>
        <p:nvGrpSpPr>
          <p:cNvPr id="5" name="Group 123"/>
          <p:cNvGrpSpPr>
            <a:grpSpLocks/>
          </p:cNvGrpSpPr>
          <p:nvPr/>
        </p:nvGrpSpPr>
        <p:grpSpPr bwMode="auto">
          <a:xfrm>
            <a:off x="2183669" y="6103723"/>
            <a:ext cx="710259" cy="398329"/>
            <a:chOff x="3379" y="965"/>
            <a:chExt cx="367" cy="190"/>
          </a:xfrm>
        </p:grpSpPr>
        <p:pic>
          <p:nvPicPr>
            <p:cNvPr id="7" name="Picture 124"/>
            <p:cNvPicPr>
              <a:picLocks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379" y="965"/>
              <a:ext cx="367" cy="1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" name="Rectangle 125"/>
            <p:cNvSpPr>
              <a:spLocks noChangeArrowheads="1"/>
            </p:cNvSpPr>
            <p:nvPr/>
          </p:nvSpPr>
          <p:spPr bwMode="auto">
            <a:xfrm>
              <a:off x="3493" y="1036"/>
              <a:ext cx="43" cy="1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41049" tIns="20524" rIns="41049" bIns="20524">
              <a:spAutoFit/>
            </a:bodyPr>
            <a:lstStyle/>
            <a:p>
              <a:pPr algn="ctr" defTabSz="182680">
                <a:defRPr/>
              </a:pPr>
              <a:endParaRPr lang="ko-KR" altLang="ko-KR" sz="1354" b="1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돋움" pitchFamily="50" charset="-127"/>
                <a:cs typeface="Times New Roman" pitchFamily="18" charset="0"/>
              </a:endParaRPr>
            </a:p>
          </p:txBody>
        </p:sp>
      </p:grpSp>
      <p:grpSp>
        <p:nvGrpSpPr>
          <p:cNvPr id="17" name="Group 187"/>
          <p:cNvGrpSpPr>
            <a:grpSpLocks/>
          </p:cNvGrpSpPr>
          <p:nvPr/>
        </p:nvGrpSpPr>
        <p:grpSpPr bwMode="auto">
          <a:xfrm>
            <a:off x="5229625" y="6058965"/>
            <a:ext cx="684034" cy="572663"/>
            <a:chOff x="3581" y="1641"/>
            <a:chExt cx="410" cy="404"/>
          </a:xfrm>
        </p:grpSpPr>
        <p:pic>
          <p:nvPicPr>
            <p:cNvPr id="18" name="Picture 188"/>
            <p:cNvPicPr>
              <a:picLocks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581" y="1641"/>
              <a:ext cx="410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" name="Rectangle 189"/>
            <p:cNvSpPr>
              <a:spLocks noChangeArrowheads="1"/>
            </p:cNvSpPr>
            <p:nvPr/>
          </p:nvSpPr>
          <p:spPr bwMode="auto">
            <a:xfrm>
              <a:off x="3602" y="1721"/>
              <a:ext cx="120" cy="2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79350" tIns="39676" rIns="79350" bIns="39676">
              <a:spAutoFit/>
            </a:bodyPr>
            <a:lstStyle/>
            <a:p>
              <a:pPr defTabSz="1205073">
                <a:spcBef>
                  <a:spcPct val="50000"/>
                </a:spcBef>
              </a:pPr>
              <a:endParaRPr lang="ko-KR" altLang="ko-KR" sz="1354" b="1">
                <a:solidFill>
                  <a:schemeClr val="hlink"/>
                </a:solidFill>
                <a:latin typeface="Times New Roman" pitchFamily="18" charset="0"/>
                <a:ea typeface="돋움" pitchFamily="50" charset="-127"/>
                <a:cs typeface="Times New Roman" pitchFamily="18" charset="0"/>
              </a:endParaRPr>
            </a:p>
          </p:txBody>
        </p:sp>
      </p:grpSp>
      <p:grpSp>
        <p:nvGrpSpPr>
          <p:cNvPr id="28" name="Group 186"/>
          <p:cNvGrpSpPr>
            <a:grpSpLocks/>
          </p:cNvGrpSpPr>
          <p:nvPr/>
        </p:nvGrpSpPr>
        <p:grpSpPr bwMode="auto">
          <a:xfrm>
            <a:off x="6096190" y="6040003"/>
            <a:ext cx="553902" cy="715681"/>
            <a:chOff x="3577" y="1478"/>
            <a:chExt cx="415" cy="567"/>
          </a:xfrm>
        </p:grpSpPr>
        <p:grpSp>
          <p:nvGrpSpPr>
            <p:cNvPr id="29" name="Group 187"/>
            <p:cNvGrpSpPr>
              <a:grpSpLocks/>
            </p:cNvGrpSpPr>
            <p:nvPr/>
          </p:nvGrpSpPr>
          <p:grpSpPr bwMode="auto">
            <a:xfrm>
              <a:off x="3581" y="1641"/>
              <a:ext cx="410" cy="404"/>
              <a:chOff x="3581" y="1641"/>
              <a:chExt cx="410" cy="404"/>
            </a:xfrm>
          </p:grpSpPr>
          <p:pic>
            <p:nvPicPr>
              <p:cNvPr id="31" name="Picture 188"/>
              <p:cNvPicPr>
                <a:picLocks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3581" y="1641"/>
                <a:ext cx="410" cy="4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32" name="Rectangle 189"/>
              <p:cNvSpPr>
                <a:spLocks noChangeArrowheads="1"/>
              </p:cNvSpPr>
              <p:nvPr/>
            </p:nvSpPr>
            <p:spPr bwMode="auto">
              <a:xfrm>
                <a:off x="3602" y="1721"/>
                <a:ext cx="120" cy="22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79350" tIns="39676" rIns="79350" bIns="39676">
                <a:spAutoFit/>
              </a:bodyPr>
              <a:lstStyle/>
              <a:p>
                <a:pPr defTabSz="1205073">
                  <a:spcBef>
                    <a:spcPct val="50000"/>
                  </a:spcBef>
                </a:pPr>
                <a:endParaRPr lang="ko-KR" altLang="ko-KR" sz="1354" b="1">
                  <a:solidFill>
                    <a:schemeClr val="hlink"/>
                  </a:solidFill>
                  <a:latin typeface="Times New Roman" pitchFamily="18" charset="0"/>
                  <a:ea typeface="돋움" pitchFamily="50" charset="-127"/>
                  <a:cs typeface="Times New Roman" pitchFamily="18" charset="0"/>
                </a:endParaRPr>
              </a:p>
            </p:txBody>
          </p:sp>
        </p:grpSp>
        <p:pic>
          <p:nvPicPr>
            <p:cNvPr id="30" name="Picture 190"/>
            <p:cNvPicPr>
              <a:picLocks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3577" y="1478"/>
              <a:ext cx="415" cy="2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3" name="오른쪽 대괄호 2"/>
          <p:cNvSpPr/>
          <p:nvPr/>
        </p:nvSpPr>
        <p:spPr>
          <a:xfrm rot="5400000">
            <a:off x="6056137" y="3691311"/>
            <a:ext cx="230254" cy="4263815"/>
          </a:xfrm>
          <a:prstGeom prst="rightBracke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오른쪽 대괄호 32"/>
          <p:cNvSpPr/>
          <p:nvPr/>
        </p:nvSpPr>
        <p:spPr>
          <a:xfrm rot="5400000">
            <a:off x="2514151" y="4963063"/>
            <a:ext cx="230254" cy="1720311"/>
          </a:xfrm>
          <a:prstGeom prst="rightBracke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258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2</a:t>
            </a:fld>
            <a:endParaRPr lang="ko-KR" altLang="en-US"/>
          </a:p>
        </p:txBody>
      </p:sp>
      <p:grpSp>
        <p:nvGrpSpPr>
          <p:cNvPr id="3" name="그룹 2"/>
          <p:cNvGrpSpPr/>
          <p:nvPr/>
        </p:nvGrpSpPr>
        <p:grpSpPr>
          <a:xfrm>
            <a:off x="3238356" y="1621327"/>
            <a:ext cx="2913681" cy="619932"/>
            <a:chOff x="666427" y="2820692"/>
            <a:chExt cx="2913681" cy="619932"/>
          </a:xfrm>
        </p:grpSpPr>
        <p:sp>
          <p:nvSpPr>
            <p:cNvPr id="4" name="직사각형 3"/>
            <p:cNvSpPr/>
            <p:nvPr/>
          </p:nvSpPr>
          <p:spPr bwMode="auto">
            <a:xfrm>
              <a:off x="666427" y="2820692"/>
              <a:ext cx="2913681" cy="6199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rgbClr val="5F5F5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54000" tIns="45720" rIns="5400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395" fontAlgn="base" latinLnBrk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200" b="1"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5" name="직사각형 4"/>
            <p:cNvSpPr/>
            <p:nvPr/>
          </p:nvSpPr>
          <p:spPr bwMode="auto">
            <a:xfrm>
              <a:off x="852407" y="2998922"/>
              <a:ext cx="263471" cy="263471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rgbClr val="5F5F5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54000" tIns="45720" rIns="5400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395" fontAlgn="base" latinLnBrk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200" b="1"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6" name="직사각형 5"/>
            <p:cNvSpPr/>
            <p:nvPr/>
          </p:nvSpPr>
          <p:spPr bwMode="auto">
            <a:xfrm>
              <a:off x="1580827" y="2998922"/>
              <a:ext cx="263471" cy="263471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rgbClr val="5F5F5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54000" tIns="45720" rIns="5400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395" fontAlgn="base" latinLnBrk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200" b="1"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7" name="직사각형 6"/>
            <p:cNvSpPr/>
            <p:nvPr/>
          </p:nvSpPr>
          <p:spPr bwMode="auto">
            <a:xfrm>
              <a:off x="2309247" y="2998922"/>
              <a:ext cx="263471" cy="263471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rgbClr val="5F5F5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54000" tIns="45720" rIns="5400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395" fontAlgn="base" latinLnBrk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200" b="1"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8" name="직사각형 7"/>
            <p:cNvSpPr/>
            <p:nvPr/>
          </p:nvSpPr>
          <p:spPr bwMode="auto">
            <a:xfrm>
              <a:off x="3084162" y="2998922"/>
              <a:ext cx="263471" cy="263471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rgbClr val="5F5F5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54000" tIns="45720" rIns="5400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395" fontAlgn="base" latinLnBrk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200" b="1">
                <a:latin typeface="굴림" pitchFamily="50" charset="-127"/>
                <a:ea typeface="굴림" pitchFamily="50" charset="-127"/>
              </a:endParaRPr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3207360" y="3410913"/>
            <a:ext cx="688994" cy="830577"/>
            <a:chOff x="809159" y="4814047"/>
            <a:chExt cx="688975" cy="760915"/>
          </a:xfrm>
        </p:grpSpPr>
        <p:sp>
          <p:nvSpPr>
            <p:cNvPr id="10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" name="Freeform 182"/>
            <p:cNvSpPr>
              <a:spLocks/>
            </p:cNvSpPr>
            <p:nvPr/>
          </p:nvSpPr>
          <p:spPr bwMode="auto">
            <a:xfrm flipH="1">
              <a:off x="979315" y="5242246"/>
              <a:ext cx="184726" cy="332716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" name="Freeform 183"/>
            <p:cNvSpPr>
              <a:spLocks/>
            </p:cNvSpPr>
            <p:nvPr/>
          </p:nvSpPr>
          <p:spPr bwMode="auto">
            <a:xfrm flipH="1">
              <a:off x="993669" y="5232180"/>
              <a:ext cx="184726" cy="332716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1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2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3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4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6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3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4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47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60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20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1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20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48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9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0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1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3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20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9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62" name="TextBox 61"/>
          <p:cNvSpPr txBox="1"/>
          <p:nvPr/>
        </p:nvSpPr>
        <p:spPr>
          <a:xfrm>
            <a:off x="3171229" y="3418142"/>
            <a:ext cx="6623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A.M</a:t>
            </a:r>
            <a:endParaRPr lang="ko-KR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3" name="그룹 62"/>
          <p:cNvGrpSpPr/>
          <p:nvPr/>
        </p:nvGrpSpPr>
        <p:grpSpPr>
          <a:xfrm>
            <a:off x="4059766" y="3418146"/>
            <a:ext cx="688994" cy="830577"/>
            <a:chOff x="809159" y="4814047"/>
            <a:chExt cx="688975" cy="760915"/>
          </a:xfrm>
        </p:grpSpPr>
        <p:sp>
          <p:nvSpPr>
            <p:cNvPr id="64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5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6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7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8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9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0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1" name="Freeform 182"/>
            <p:cNvSpPr>
              <a:spLocks/>
            </p:cNvSpPr>
            <p:nvPr/>
          </p:nvSpPr>
          <p:spPr bwMode="auto">
            <a:xfrm flipH="1">
              <a:off x="979315" y="5242246"/>
              <a:ext cx="184726" cy="332716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2" name="Freeform 183"/>
            <p:cNvSpPr>
              <a:spLocks/>
            </p:cNvSpPr>
            <p:nvPr/>
          </p:nvSpPr>
          <p:spPr bwMode="auto">
            <a:xfrm flipH="1">
              <a:off x="993669" y="5232180"/>
              <a:ext cx="184726" cy="332716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3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4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5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6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7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8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9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0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1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2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3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4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5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6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7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8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9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0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1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2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3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4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5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6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7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8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9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0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101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114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20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5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20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102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3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4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5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6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7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8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9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0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1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2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20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3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16" name="TextBox 115"/>
          <p:cNvSpPr txBox="1"/>
          <p:nvPr/>
        </p:nvSpPr>
        <p:spPr>
          <a:xfrm>
            <a:off x="4030847" y="3425375"/>
            <a:ext cx="6479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B.M</a:t>
            </a:r>
            <a:endParaRPr lang="ko-KR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7" name="그룹 116"/>
          <p:cNvGrpSpPr/>
          <p:nvPr/>
        </p:nvGrpSpPr>
        <p:grpSpPr>
          <a:xfrm>
            <a:off x="4842385" y="3403680"/>
            <a:ext cx="688994" cy="830577"/>
            <a:chOff x="809159" y="4814047"/>
            <a:chExt cx="688975" cy="760915"/>
          </a:xfrm>
        </p:grpSpPr>
        <p:sp>
          <p:nvSpPr>
            <p:cNvPr id="118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9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0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1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2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3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4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5" name="Freeform 182"/>
            <p:cNvSpPr>
              <a:spLocks/>
            </p:cNvSpPr>
            <p:nvPr/>
          </p:nvSpPr>
          <p:spPr bwMode="auto">
            <a:xfrm flipH="1">
              <a:off x="979315" y="5242246"/>
              <a:ext cx="184726" cy="332716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6" name="Freeform 183"/>
            <p:cNvSpPr>
              <a:spLocks/>
            </p:cNvSpPr>
            <p:nvPr/>
          </p:nvSpPr>
          <p:spPr bwMode="auto">
            <a:xfrm flipH="1">
              <a:off x="993669" y="5232180"/>
              <a:ext cx="184726" cy="332716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7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8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9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0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1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2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3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4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5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6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7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8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9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0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1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2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3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4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5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6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7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8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9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0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1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2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3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4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155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168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20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69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20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156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7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8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9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0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1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2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3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4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5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6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20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7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70" name="TextBox 169"/>
          <p:cNvSpPr txBox="1"/>
          <p:nvPr/>
        </p:nvSpPr>
        <p:spPr>
          <a:xfrm>
            <a:off x="4806253" y="3410909"/>
            <a:ext cx="6479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C.M</a:t>
            </a:r>
            <a:endParaRPr lang="ko-KR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71" name="그룹 170"/>
          <p:cNvGrpSpPr/>
          <p:nvPr/>
        </p:nvGrpSpPr>
        <p:grpSpPr>
          <a:xfrm>
            <a:off x="5587438" y="3371441"/>
            <a:ext cx="688994" cy="830577"/>
            <a:chOff x="809159" y="4814047"/>
            <a:chExt cx="688975" cy="760915"/>
          </a:xfrm>
        </p:grpSpPr>
        <p:sp>
          <p:nvSpPr>
            <p:cNvPr id="172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3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4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5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6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7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8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9" name="Freeform 182"/>
            <p:cNvSpPr>
              <a:spLocks/>
            </p:cNvSpPr>
            <p:nvPr/>
          </p:nvSpPr>
          <p:spPr bwMode="auto">
            <a:xfrm flipH="1">
              <a:off x="979315" y="5242246"/>
              <a:ext cx="184726" cy="332716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0" name="Freeform 183"/>
            <p:cNvSpPr>
              <a:spLocks/>
            </p:cNvSpPr>
            <p:nvPr/>
          </p:nvSpPr>
          <p:spPr bwMode="auto">
            <a:xfrm flipH="1">
              <a:off x="993669" y="5232180"/>
              <a:ext cx="184726" cy="332716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1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2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3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4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5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6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7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8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9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0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1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2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3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4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5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6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7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8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9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0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1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2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3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4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5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6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7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8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209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222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20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23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20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210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1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2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3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4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5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6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7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8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9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0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20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1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20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24" name="TextBox 223"/>
          <p:cNvSpPr txBox="1"/>
          <p:nvPr/>
        </p:nvSpPr>
        <p:spPr>
          <a:xfrm>
            <a:off x="5551307" y="3378670"/>
            <a:ext cx="6623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D.M</a:t>
            </a:r>
            <a:endParaRPr lang="ko-KR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5" name="직선 연결선 224"/>
          <p:cNvCxnSpPr>
            <a:stCxn id="5" idx="2"/>
            <a:endCxn id="62" idx="0"/>
          </p:cNvCxnSpPr>
          <p:nvPr/>
        </p:nvCxnSpPr>
        <p:spPr bwMode="auto">
          <a:xfrm flipH="1">
            <a:off x="3502410" y="2063028"/>
            <a:ext cx="53662" cy="1355114"/>
          </a:xfrm>
          <a:prstGeom prst="line">
            <a:avLst/>
          </a:prstGeom>
          <a:solidFill>
            <a:schemeClr val="bg2"/>
          </a:solidFill>
          <a:ln w="9525" cap="flat" cmpd="sng" algn="ctr">
            <a:solidFill>
              <a:srgbClr val="5F5F5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6" name="직선 연결선 225"/>
          <p:cNvCxnSpPr>
            <a:endCxn id="114" idx="2"/>
          </p:cNvCxnSpPr>
          <p:nvPr/>
        </p:nvCxnSpPr>
        <p:spPr bwMode="auto">
          <a:xfrm>
            <a:off x="4329442" y="2028760"/>
            <a:ext cx="53942" cy="1433340"/>
          </a:xfrm>
          <a:prstGeom prst="line">
            <a:avLst/>
          </a:prstGeom>
          <a:solidFill>
            <a:schemeClr val="bg2"/>
          </a:solidFill>
          <a:ln w="9525" cap="flat" cmpd="sng" algn="ctr">
            <a:solidFill>
              <a:srgbClr val="5F5F5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7" name="직선 연결선 226"/>
          <p:cNvCxnSpPr>
            <a:endCxn id="170" idx="0"/>
          </p:cNvCxnSpPr>
          <p:nvPr/>
        </p:nvCxnSpPr>
        <p:spPr bwMode="auto">
          <a:xfrm>
            <a:off x="5059466" y="1968316"/>
            <a:ext cx="70754" cy="1442593"/>
          </a:xfrm>
          <a:prstGeom prst="line">
            <a:avLst/>
          </a:prstGeom>
          <a:solidFill>
            <a:schemeClr val="bg2"/>
          </a:solidFill>
          <a:ln w="9525" cap="flat" cmpd="sng" algn="ctr">
            <a:solidFill>
              <a:srgbClr val="5F5F5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8" name="직선 연결선 227"/>
          <p:cNvCxnSpPr>
            <a:endCxn id="224" idx="0"/>
          </p:cNvCxnSpPr>
          <p:nvPr/>
        </p:nvCxnSpPr>
        <p:spPr bwMode="auto">
          <a:xfrm>
            <a:off x="5795963" y="1949012"/>
            <a:ext cx="86525" cy="1429658"/>
          </a:xfrm>
          <a:prstGeom prst="line">
            <a:avLst/>
          </a:prstGeom>
          <a:solidFill>
            <a:schemeClr val="bg2"/>
          </a:solidFill>
          <a:ln w="9525" cap="flat" cmpd="sng" algn="ctr">
            <a:solidFill>
              <a:srgbClr val="5F5F5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33" name="TextBox 232"/>
          <p:cNvSpPr txBox="1"/>
          <p:nvPr/>
        </p:nvSpPr>
        <p:spPr>
          <a:xfrm>
            <a:off x="3425304" y="148482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4" name="TextBox 233"/>
          <p:cNvSpPr txBox="1"/>
          <p:nvPr/>
        </p:nvSpPr>
        <p:spPr>
          <a:xfrm>
            <a:off x="4166684" y="152825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5" name="TextBox 234"/>
          <p:cNvSpPr txBox="1"/>
          <p:nvPr/>
        </p:nvSpPr>
        <p:spPr>
          <a:xfrm>
            <a:off x="4898344" y="149639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6" name="TextBox 235"/>
          <p:cNvSpPr txBox="1"/>
          <p:nvPr/>
        </p:nvSpPr>
        <p:spPr>
          <a:xfrm>
            <a:off x="5655318" y="149400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37" name="표 2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1959604"/>
              </p:ext>
            </p:extLst>
          </p:nvPr>
        </p:nvGraphicFramePr>
        <p:xfrm>
          <a:off x="5827542" y="4978832"/>
          <a:ext cx="1339212" cy="3484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8283"/>
                <a:gridCol w="650929"/>
              </a:tblGrid>
              <a:tr h="3484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A.M</a:t>
                      </a:r>
                      <a:endParaRPr lang="ko-KR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D.M</a:t>
                      </a:r>
                      <a:endParaRPr lang="ko-KR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38" name="TextBox 237"/>
          <p:cNvSpPr txBox="1"/>
          <p:nvPr/>
        </p:nvSpPr>
        <p:spPr>
          <a:xfrm>
            <a:off x="5827542" y="5311012"/>
            <a:ext cx="13115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송</a:t>
            </a:r>
            <a:r>
              <a:rPr lang="en-US" altLang="ko-KR" sz="12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MAC   </a:t>
            </a:r>
            <a:r>
              <a:rPr lang="ko-KR" altLang="en-US" sz="12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수</a:t>
            </a:r>
            <a:r>
              <a:rPr lang="en-US" altLang="ko-KR" sz="12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MAC</a:t>
            </a:r>
            <a:endParaRPr lang="ko-KR" altLang="en-US" sz="120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239" name="TextBox 238"/>
          <p:cNvSpPr txBox="1"/>
          <p:nvPr/>
        </p:nvSpPr>
        <p:spPr>
          <a:xfrm>
            <a:off x="2052789" y="4022758"/>
            <a:ext cx="12618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192.168.1.10</a:t>
            </a:r>
            <a:endParaRPr lang="ko-KR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0" name="TextBox 239"/>
          <p:cNvSpPr txBox="1"/>
          <p:nvPr/>
        </p:nvSpPr>
        <p:spPr>
          <a:xfrm>
            <a:off x="3607971" y="4156259"/>
            <a:ext cx="12618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192.168.1.20</a:t>
            </a:r>
            <a:endParaRPr lang="ko-KR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1" name="TextBox 240"/>
          <p:cNvSpPr txBox="1"/>
          <p:nvPr/>
        </p:nvSpPr>
        <p:spPr>
          <a:xfrm>
            <a:off x="6271946" y="3968851"/>
            <a:ext cx="12618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192.168.1.40</a:t>
            </a:r>
            <a:endParaRPr lang="ko-KR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2" name="TextBox 241"/>
          <p:cNvSpPr txBox="1"/>
          <p:nvPr/>
        </p:nvSpPr>
        <p:spPr>
          <a:xfrm>
            <a:off x="4813956" y="4155720"/>
            <a:ext cx="12618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192.168.1.30</a:t>
            </a:r>
            <a:endParaRPr lang="ko-KR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43" name="표 2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1347112"/>
              </p:ext>
            </p:extLst>
          </p:nvPr>
        </p:nvGraphicFramePr>
        <p:xfrm>
          <a:off x="3083407" y="4978832"/>
          <a:ext cx="2744135" cy="3484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0338"/>
                <a:gridCol w="1333797"/>
              </a:tblGrid>
              <a:tr h="3484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192.168.1.10</a:t>
                      </a:r>
                      <a:endParaRPr lang="ko-KR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192.168.4.10</a:t>
                      </a:r>
                      <a:endParaRPr lang="ko-KR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44" name="TextBox 243"/>
          <p:cNvSpPr txBox="1"/>
          <p:nvPr/>
        </p:nvSpPr>
        <p:spPr>
          <a:xfrm>
            <a:off x="3434604" y="5327234"/>
            <a:ext cx="1994457" cy="2911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92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송신지</a:t>
            </a:r>
            <a:r>
              <a:rPr lang="en-US" altLang="ko-KR" sz="1292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       </a:t>
            </a:r>
            <a:r>
              <a:rPr lang="en-US" altLang="ko-KR" sz="1292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</a:t>
            </a:r>
            <a:r>
              <a:rPr lang="ko-KR" altLang="en-US" sz="1292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수신지</a:t>
            </a:r>
            <a:r>
              <a:rPr lang="en-US" altLang="ko-KR" sz="1292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</a:t>
            </a:r>
            <a:endParaRPr lang="ko-KR" altLang="en-US" sz="1292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graphicFrame>
        <p:nvGraphicFramePr>
          <p:cNvPr id="247" name="표 2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145694"/>
              </p:ext>
            </p:extLst>
          </p:nvPr>
        </p:nvGraphicFramePr>
        <p:xfrm>
          <a:off x="1757902" y="4978832"/>
          <a:ext cx="1337366" cy="3484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4158"/>
                <a:gridCol w="473208"/>
              </a:tblGrid>
              <a:tr h="3484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50010</a:t>
                      </a:r>
                      <a:endParaRPr lang="ko-KR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ko-KR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48" name="표 2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1347065"/>
              </p:ext>
            </p:extLst>
          </p:nvPr>
        </p:nvGraphicFramePr>
        <p:xfrm>
          <a:off x="424939" y="4978832"/>
          <a:ext cx="1337366" cy="3484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37366"/>
              </a:tblGrid>
              <a:tr h="3484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www.test.com</a:t>
                      </a:r>
                      <a:endParaRPr lang="ko-KR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49" name="TextBox 248"/>
          <p:cNvSpPr txBox="1"/>
          <p:nvPr/>
        </p:nvSpPr>
        <p:spPr>
          <a:xfrm>
            <a:off x="1855028" y="5327234"/>
            <a:ext cx="1423788" cy="2911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92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송</a:t>
            </a:r>
            <a:r>
              <a:rPr lang="en-US" altLang="ko-KR" sz="1292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Port     </a:t>
            </a:r>
            <a:r>
              <a:rPr lang="ko-KR" altLang="en-US" sz="1292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수</a:t>
            </a:r>
            <a:r>
              <a:rPr lang="en-US" altLang="ko-KR" sz="1292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Port</a:t>
            </a:r>
            <a:endParaRPr lang="ko-KR" altLang="en-US" sz="1292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5725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4" name="직선 연결선 93"/>
          <p:cNvCxnSpPr/>
          <p:nvPr/>
        </p:nvCxnSpPr>
        <p:spPr>
          <a:xfrm>
            <a:off x="1142672" y="2954044"/>
            <a:ext cx="1719905" cy="66343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/>
          <p:cNvCxnSpPr/>
          <p:nvPr/>
        </p:nvCxnSpPr>
        <p:spPr>
          <a:xfrm flipV="1">
            <a:off x="1240699" y="3790572"/>
            <a:ext cx="1719905" cy="44347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/>
          <p:cNvCxnSpPr/>
          <p:nvPr/>
        </p:nvCxnSpPr>
        <p:spPr>
          <a:xfrm>
            <a:off x="6417176" y="4551061"/>
            <a:ext cx="1099394" cy="1128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/>
          <p:cNvCxnSpPr/>
          <p:nvPr/>
        </p:nvCxnSpPr>
        <p:spPr>
          <a:xfrm>
            <a:off x="6381354" y="2855622"/>
            <a:ext cx="1099394" cy="1128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자유형 52"/>
          <p:cNvSpPr/>
          <p:nvPr/>
        </p:nvSpPr>
        <p:spPr>
          <a:xfrm>
            <a:off x="6381354" y="1327349"/>
            <a:ext cx="1446576" cy="4854222"/>
          </a:xfrm>
          <a:custGeom>
            <a:avLst/>
            <a:gdLst>
              <a:gd name="connsiteX0" fmla="*/ 688622 w 1354666"/>
              <a:gd name="connsiteY0" fmla="*/ 0 h 4854222"/>
              <a:gd name="connsiteX1" fmla="*/ 0 w 1354666"/>
              <a:gd name="connsiteY1" fmla="*/ 0 h 4854222"/>
              <a:gd name="connsiteX2" fmla="*/ 22577 w 1354666"/>
              <a:gd name="connsiteY2" fmla="*/ 4831645 h 4854222"/>
              <a:gd name="connsiteX3" fmla="*/ 982133 w 1354666"/>
              <a:gd name="connsiteY3" fmla="*/ 4831645 h 4854222"/>
              <a:gd name="connsiteX4" fmla="*/ 982133 w 1354666"/>
              <a:gd name="connsiteY4" fmla="*/ 4831645 h 4854222"/>
              <a:gd name="connsiteX5" fmla="*/ 1354666 w 1354666"/>
              <a:gd name="connsiteY5" fmla="*/ 4854222 h 48542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54666" h="4854222">
                <a:moveTo>
                  <a:pt x="688622" y="0"/>
                </a:moveTo>
                <a:lnTo>
                  <a:pt x="0" y="0"/>
                </a:lnTo>
                <a:lnTo>
                  <a:pt x="22577" y="4831645"/>
                </a:lnTo>
                <a:lnTo>
                  <a:pt x="982133" y="4831645"/>
                </a:lnTo>
                <a:lnTo>
                  <a:pt x="982133" y="4831645"/>
                </a:lnTo>
                <a:lnTo>
                  <a:pt x="1354666" y="4854222"/>
                </a:lnTo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1" name="직선 연결선 50"/>
          <p:cNvCxnSpPr/>
          <p:nvPr/>
        </p:nvCxnSpPr>
        <p:spPr>
          <a:xfrm flipV="1">
            <a:off x="3036703" y="3647312"/>
            <a:ext cx="1716388" cy="757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C:\Users\Toshiba\AppData\Local\Microsoft\Windows\Temporary Internet Files\Content.IE5\TBE21NJN\MC900428971[1]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54150" y="2427761"/>
            <a:ext cx="632257" cy="932397"/>
          </a:xfrm>
          <a:prstGeom prst="rect">
            <a:avLst/>
          </a:prstGeom>
          <a:noFill/>
        </p:spPr>
      </p:pic>
      <p:pic>
        <p:nvPicPr>
          <p:cNvPr id="5" name="Picture 2" descr="C:\Users\Toshiba\AppData\Local\Microsoft\Windows\Temporary Internet Files\Content.IE5\TBE21NJN\MC900428971[1]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2429" y="4078865"/>
            <a:ext cx="655701" cy="966970"/>
          </a:xfrm>
          <a:prstGeom prst="rect">
            <a:avLst/>
          </a:prstGeom>
          <a:noFill/>
        </p:spPr>
      </p:pic>
      <p:pic>
        <p:nvPicPr>
          <p:cNvPr id="6" name="Picture 2" descr="C:\Users\Toshiba\AppData\Local\Microsoft\Windows\Temporary Internet Files\Content.IE5\TBE21NJN\MC900428971[1]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88420" y="5651745"/>
            <a:ext cx="639510" cy="943092"/>
          </a:xfrm>
          <a:prstGeom prst="rect">
            <a:avLst/>
          </a:prstGeom>
          <a:noFill/>
        </p:spPr>
      </p:pic>
      <p:grpSp>
        <p:nvGrpSpPr>
          <p:cNvPr id="7" name="그룹 79"/>
          <p:cNvGrpSpPr/>
          <p:nvPr/>
        </p:nvGrpSpPr>
        <p:grpSpPr>
          <a:xfrm>
            <a:off x="4230186" y="3250514"/>
            <a:ext cx="802068" cy="791047"/>
            <a:chOff x="3995738" y="404813"/>
            <a:chExt cx="1476375" cy="1450975"/>
          </a:xfrm>
        </p:grpSpPr>
        <p:sp>
          <p:nvSpPr>
            <p:cNvPr id="8" name="AutoShape 3"/>
            <p:cNvSpPr>
              <a:spLocks noChangeAspect="1" noChangeArrowheads="1" noTextEdit="1"/>
            </p:cNvSpPr>
            <p:nvPr/>
          </p:nvSpPr>
          <p:spPr bwMode="auto">
            <a:xfrm>
              <a:off x="3995738" y="404813"/>
              <a:ext cx="1476375" cy="1450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 5"/>
            <p:cNvSpPr>
              <a:spLocks noChangeArrowheads="1"/>
            </p:cNvSpPr>
            <p:nvPr/>
          </p:nvSpPr>
          <p:spPr bwMode="auto">
            <a:xfrm>
              <a:off x="3995738" y="558801"/>
              <a:ext cx="1298575" cy="1285875"/>
            </a:xfrm>
            <a:prstGeom prst="rect">
              <a:avLst/>
            </a:prstGeom>
            <a:solidFill>
              <a:srgbClr val="0096D5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Rectangle 6"/>
            <p:cNvSpPr>
              <a:spLocks noChangeArrowheads="1"/>
            </p:cNvSpPr>
            <p:nvPr/>
          </p:nvSpPr>
          <p:spPr bwMode="auto">
            <a:xfrm>
              <a:off x="4000501" y="563563"/>
              <a:ext cx="1289050" cy="127635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1113">
              <a:solidFill>
                <a:schemeClr val="tx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Freeform 7"/>
            <p:cNvSpPr>
              <a:spLocks/>
            </p:cNvSpPr>
            <p:nvPr/>
          </p:nvSpPr>
          <p:spPr bwMode="auto">
            <a:xfrm>
              <a:off x="3995738" y="404813"/>
              <a:ext cx="1465263" cy="153988"/>
            </a:xfrm>
            <a:custGeom>
              <a:avLst/>
              <a:gdLst/>
              <a:ahLst/>
              <a:cxnLst>
                <a:cxn ang="0">
                  <a:pos x="0" y="97"/>
                </a:cxn>
                <a:cxn ang="0">
                  <a:pos x="104" y="0"/>
                </a:cxn>
                <a:cxn ang="0">
                  <a:pos x="923" y="0"/>
                </a:cxn>
                <a:cxn ang="0">
                  <a:pos x="818" y="97"/>
                </a:cxn>
                <a:cxn ang="0">
                  <a:pos x="0" y="97"/>
                </a:cxn>
              </a:cxnLst>
              <a:rect l="0" t="0" r="r" b="b"/>
              <a:pathLst>
                <a:path w="923" h="97">
                  <a:moveTo>
                    <a:pt x="0" y="97"/>
                  </a:moveTo>
                  <a:lnTo>
                    <a:pt x="104" y="0"/>
                  </a:lnTo>
                  <a:lnTo>
                    <a:pt x="923" y="0"/>
                  </a:lnTo>
                  <a:lnTo>
                    <a:pt x="818" y="97"/>
                  </a:lnTo>
                  <a:lnTo>
                    <a:pt x="0" y="97"/>
                  </a:lnTo>
                  <a:close/>
                </a:path>
              </a:pathLst>
            </a:custGeom>
            <a:solidFill>
              <a:srgbClr val="00B4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Freeform 8"/>
            <p:cNvSpPr>
              <a:spLocks/>
            </p:cNvSpPr>
            <p:nvPr/>
          </p:nvSpPr>
          <p:spPr bwMode="auto">
            <a:xfrm>
              <a:off x="3995738" y="404813"/>
              <a:ext cx="1465263" cy="153988"/>
            </a:xfrm>
            <a:custGeom>
              <a:avLst/>
              <a:gdLst/>
              <a:ahLst/>
              <a:cxnLst>
                <a:cxn ang="0">
                  <a:pos x="0" y="97"/>
                </a:cxn>
                <a:cxn ang="0">
                  <a:pos x="104" y="0"/>
                </a:cxn>
                <a:cxn ang="0">
                  <a:pos x="923" y="0"/>
                </a:cxn>
                <a:cxn ang="0">
                  <a:pos x="818" y="97"/>
                </a:cxn>
                <a:cxn ang="0">
                  <a:pos x="0" y="97"/>
                </a:cxn>
              </a:cxnLst>
              <a:rect l="0" t="0" r="r" b="b"/>
              <a:pathLst>
                <a:path w="923" h="97">
                  <a:moveTo>
                    <a:pt x="0" y="97"/>
                  </a:moveTo>
                  <a:lnTo>
                    <a:pt x="104" y="0"/>
                  </a:lnTo>
                  <a:lnTo>
                    <a:pt x="923" y="0"/>
                  </a:lnTo>
                  <a:lnTo>
                    <a:pt x="818" y="97"/>
                  </a:lnTo>
                  <a:lnTo>
                    <a:pt x="0" y="97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11113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Freeform 9"/>
            <p:cNvSpPr>
              <a:spLocks/>
            </p:cNvSpPr>
            <p:nvPr/>
          </p:nvSpPr>
          <p:spPr bwMode="auto">
            <a:xfrm>
              <a:off x="5294313" y="404813"/>
              <a:ext cx="166688" cy="1427163"/>
            </a:xfrm>
            <a:custGeom>
              <a:avLst/>
              <a:gdLst/>
              <a:ahLst/>
              <a:cxnLst>
                <a:cxn ang="0">
                  <a:pos x="0" y="97"/>
                </a:cxn>
                <a:cxn ang="0">
                  <a:pos x="105" y="0"/>
                </a:cxn>
                <a:cxn ang="0">
                  <a:pos x="105" y="803"/>
                </a:cxn>
                <a:cxn ang="0">
                  <a:pos x="0" y="899"/>
                </a:cxn>
                <a:cxn ang="0">
                  <a:pos x="0" y="97"/>
                </a:cxn>
              </a:cxnLst>
              <a:rect l="0" t="0" r="r" b="b"/>
              <a:pathLst>
                <a:path w="105" h="899">
                  <a:moveTo>
                    <a:pt x="0" y="97"/>
                  </a:moveTo>
                  <a:lnTo>
                    <a:pt x="105" y="0"/>
                  </a:lnTo>
                  <a:lnTo>
                    <a:pt x="105" y="803"/>
                  </a:lnTo>
                  <a:lnTo>
                    <a:pt x="0" y="899"/>
                  </a:lnTo>
                  <a:lnTo>
                    <a:pt x="0" y="97"/>
                  </a:lnTo>
                  <a:close/>
                </a:path>
              </a:pathLst>
            </a:custGeom>
            <a:solidFill>
              <a:srgbClr val="005A8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Freeform 10"/>
            <p:cNvSpPr>
              <a:spLocks/>
            </p:cNvSpPr>
            <p:nvPr/>
          </p:nvSpPr>
          <p:spPr bwMode="auto">
            <a:xfrm>
              <a:off x="5294313" y="404813"/>
              <a:ext cx="166688" cy="1427163"/>
            </a:xfrm>
            <a:custGeom>
              <a:avLst/>
              <a:gdLst/>
              <a:ahLst/>
              <a:cxnLst>
                <a:cxn ang="0">
                  <a:pos x="0" y="97"/>
                </a:cxn>
                <a:cxn ang="0">
                  <a:pos x="105" y="0"/>
                </a:cxn>
                <a:cxn ang="0">
                  <a:pos x="105" y="803"/>
                </a:cxn>
                <a:cxn ang="0">
                  <a:pos x="0" y="899"/>
                </a:cxn>
                <a:cxn ang="0">
                  <a:pos x="0" y="97"/>
                </a:cxn>
              </a:cxnLst>
              <a:rect l="0" t="0" r="r" b="b"/>
              <a:pathLst>
                <a:path w="105" h="899">
                  <a:moveTo>
                    <a:pt x="0" y="97"/>
                  </a:moveTo>
                  <a:lnTo>
                    <a:pt x="105" y="0"/>
                  </a:lnTo>
                  <a:lnTo>
                    <a:pt x="105" y="803"/>
                  </a:lnTo>
                  <a:lnTo>
                    <a:pt x="0" y="899"/>
                  </a:lnTo>
                  <a:lnTo>
                    <a:pt x="0" y="97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1113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Freeform 11"/>
            <p:cNvSpPr>
              <a:spLocks/>
            </p:cNvSpPr>
            <p:nvPr/>
          </p:nvSpPr>
          <p:spPr bwMode="auto">
            <a:xfrm>
              <a:off x="4054476" y="1089026"/>
              <a:ext cx="449263" cy="200025"/>
            </a:xfrm>
            <a:custGeom>
              <a:avLst/>
              <a:gdLst/>
              <a:ahLst/>
              <a:cxnLst>
                <a:cxn ang="0">
                  <a:pos x="283" y="30"/>
                </a:cxn>
                <a:cxn ang="0">
                  <a:pos x="67" y="30"/>
                </a:cxn>
                <a:cxn ang="0">
                  <a:pos x="67" y="0"/>
                </a:cxn>
                <a:cxn ang="0">
                  <a:pos x="0" y="59"/>
                </a:cxn>
                <a:cxn ang="0">
                  <a:pos x="67" y="126"/>
                </a:cxn>
                <a:cxn ang="0">
                  <a:pos x="67" y="97"/>
                </a:cxn>
                <a:cxn ang="0">
                  <a:pos x="283" y="97"/>
                </a:cxn>
                <a:cxn ang="0">
                  <a:pos x="283" y="30"/>
                </a:cxn>
              </a:cxnLst>
              <a:rect l="0" t="0" r="r" b="b"/>
              <a:pathLst>
                <a:path w="283" h="126">
                  <a:moveTo>
                    <a:pt x="283" y="30"/>
                  </a:moveTo>
                  <a:lnTo>
                    <a:pt x="67" y="30"/>
                  </a:lnTo>
                  <a:lnTo>
                    <a:pt x="67" y="0"/>
                  </a:lnTo>
                  <a:lnTo>
                    <a:pt x="0" y="59"/>
                  </a:lnTo>
                  <a:lnTo>
                    <a:pt x="67" y="126"/>
                  </a:lnTo>
                  <a:lnTo>
                    <a:pt x="67" y="97"/>
                  </a:lnTo>
                  <a:lnTo>
                    <a:pt x="283" y="97"/>
                  </a:lnTo>
                  <a:lnTo>
                    <a:pt x="283" y="3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Freeform 12"/>
            <p:cNvSpPr>
              <a:spLocks/>
            </p:cNvSpPr>
            <p:nvPr/>
          </p:nvSpPr>
          <p:spPr bwMode="auto">
            <a:xfrm>
              <a:off x="4054476" y="1089026"/>
              <a:ext cx="449263" cy="200025"/>
            </a:xfrm>
            <a:custGeom>
              <a:avLst/>
              <a:gdLst/>
              <a:ahLst/>
              <a:cxnLst>
                <a:cxn ang="0">
                  <a:pos x="283" y="30"/>
                </a:cxn>
                <a:cxn ang="0">
                  <a:pos x="67" y="30"/>
                </a:cxn>
                <a:cxn ang="0">
                  <a:pos x="67" y="0"/>
                </a:cxn>
                <a:cxn ang="0">
                  <a:pos x="0" y="59"/>
                </a:cxn>
                <a:cxn ang="0">
                  <a:pos x="67" y="126"/>
                </a:cxn>
                <a:cxn ang="0">
                  <a:pos x="67" y="97"/>
                </a:cxn>
                <a:cxn ang="0">
                  <a:pos x="283" y="97"/>
                </a:cxn>
                <a:cxn ang="0">
                  <a:pos x="283" y="30"/>
                </a:cxn>
              </a:cxnLst>
              <a:rect l="0" t="0" r="r" b="b"/>
              <a:pathLst>
                <a:path w="283" h="126">
                  <a:moveTo>
                    <a:pt x="283" y="30"/>
                  </a:moveTo>
                  <a:lnTo>
                    <a:pt x="67" y="30"/>
                  </a:lnTo>
                  <a:lnTo>
                    <a:pt x="67" y="0"/>
                  </a:lnTo>
                  <a:lnTo>
                    <a:pt x="0" y="59"/>
                  </a:lnTo>
                  <a:lnTo>
                    <a:pt x="67" y="126"/>
                  </a:lnTo>
                  <a:lnTo>
                    <a:pt x="67" y="97"/>
                  </a:lnTo>
                  <a:lnTo>
                    <a:pt x="283" y="97"/>
                  </a:lnTo>
                  <a:lnTo>
                    <a:pt x="283" y="3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Freeform 13"/>
            <p:cNvSpPr>
              <a:spLocks/>
            </p:cNvSpPr>
            <p:nvPr/>
          </p:nvSpPr>
          <p:spPr bwMode="auto">
            <a:xfrm>
              <a:off x="4219576" y="782638"/>
              <a:ext cx="355600" cy="354013"/>
            </a:xfrm>
            <a:custGeom>
              <a:avLst/>
              <a:gdLst/>
              <a:ahLst/>
              <a:cxnLst>
                <a:cxn ang="0">
                  <a:pos x="224" y="178"/>
                </a:cxn>
                <a:cxn ang="0">
                  <a:pos x="67" y="22"/>
                </a:cxn>
                <a:cxn ang="0">
                  <a:pos x="90" y="0"/>
                </a:cxn>
                <a:cxn ang="0">
                  <a:pos x="0" y="0"/>
                </a:cxn>
                <a:cxn ang="0">
                  <a:pos x="0" y="89"/>
                </a:cxn>
                <a:cxn ang="0">
                  <a:pos x="23" y="67"/>
                </a:cxn>
                <a:cxn ang="0">
                  <a:pos x="179" y="223"/>
                </a:cxn>
                <a:cxn ang="0">
                  <a:pos x="224" y="178"/>
                </a:cxn>
              </a:cxnLst>
              <a:rect l="0" t="0" r="r" b="b"/>
              <a:pathLst>
                <a:path w="224" h="223">
                  <a:moveTo>
                    <a:pt x="224" y="178"/>
                  </a:moveTo>
                  <a:lnTo>
                    <a:pt x="67" y="22"/>
                  </a:lnTo>
                  <a:lnTo>
                    <a:pt x="90" y="0"/>
                  </a:lnTo>
                  <a:lnTo>
                    <a:pt x="0" y="0"/>
                  </a:lnTo>
                  <a:lnTo>
                    <a:pt x="0" y="89"/>
                  </a:lnTo>
                  <a:lnTo>
                    <a:pt x="23" y="67"/>
                  </a:lnTo>
                  <a:lnTo>
                    <a:pt x="179" y="223"/>
                  </a:lnTo>
                  <a:lnTo>
                    <a:pt x="224" y="17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Freeform 14"/>
            <p:cNvSpPr>
              <a:spLocks/>
            </p:cNvSpPr>
            <p:nvPr/>
          </p:nvSpPr>
          <p:spPr bwMode="auto">
            <a:xfrm>
              <a:off x="4219576" y="782638"/>
              <a:ext cx="355600" cy="354013"/>
            </a:xfrm>
            <a:custGeom>
              <a:avLst/>
              <a:gdLst/>
              <a:ahLst/>
              <a:cxnLst>
                <a:cxn ang="0">
                  <a:pos x="224" y="178"/>
                </a:cxn>
                <a:cxn ang="0">
                  <a:pos x="67" y="22"/>
                </a:cxn>
                <a:cxn ang="0">
                  <a:pos x="90" y="0"/>
                </a:cxn>
                <a:cxn ang="0">
                  <a:pos x="0" y="0"/>
                </a:cxn>
                <a:cxn ang="0">
                  <a:pos x="0" y="89"/>
                </a:cxn>
                <a:cxn ang="0">
                  <a:pos x="23" y="67"/>
                </a:cxn>
                <a:cxn ang="0">
                  <a:pos x="179" y="223"/>
                </a:cxn>
                <a:cxn ang="0">
                  <a:pos x="224" y="178"/>
                </a:cxn>
              </a:cxnLst>
              <a:rect l="0" t="0" r="r" b="b"/>
              <a:pathLst>
                <a:path w="224" h="223">
                  <a:moveTo>
                    <a:pt x="224" y="178"/>
                  </a:moveTo>
                  <a:lnTo>
                    <a:pt x="67" y="22"/>
                  </a:lnTo>
                  <a:lnTo>
                    <a:pt x="90" y="0"/>
                  </a:lnTo>
                  <a:lnTo>
                    <a:pt x="0" y="0"/>
                  </a:lnTo>
                  <a:lnTo>
                    <a:pt x="0" y="89"/>
                  </a:lnTo>
                  <a:lnTo>
                    <a:pt x="23" y="67"/>
                  </a:lnTo>
                  <a:lnTo>
                    <a:pt x="179" y="223"/>
                  </a:lnTo>
                  <a:lnTo>
                    <a:pt x="224" y="17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Freeform 15"/>
            <p:cNvSpPr>
              <a:spLocks/>
            </p:cNvSpPr>
            <p:nvPr/>
          </p:nvSpPr>
          <p:spPr bwMode="auto">
            <a:xfrm>
              <a:off x="4527551" y="617538"/>
              <a:ext cx="200025" cy="447675"/>
            </a:xfrm>
            <a:custGeom>
              <a:avLst/>
              <a:gdLst/>
              <a:ahLst/>
              <a:cxnLst>
                <a:cxn ang="0">
                  <a:pos x="97" y="282"/>
                </a:cxn>
                <a:cxn ang="0">
                  <a:pos x="97" y="59"/>
                </a:cxn>
                <a:cxn ang="0">
                  <a:pos x="126" y="59"/>
                </a:cxn>
                <a:cxn ang="0">
                  <a:pos x="67" y="0"/>
                </a:cxn>
                <a:cxn ang="0">
                  <a:pos x="0" y="59"/>
                </a:cxn>
                <a:cxn ang="0">
                  <a:pos x="30" y="59"/>
                </a:cxn>
                <a:cxn ang="0">
                  <a:pos x="30" y="282"/>
                </a:cxn>
                <a:cxn ang="0">
                  <a:pos x="97" y="282"/>
                </a:cxn>
              </a:cxnLst>
              <a:rect l="0" t="0" r="r" b="b"/>
              <a:pathLst>
                <a:path w="126" h="282">
                  <a:moveTo>
                    <a:pt x="97" y="282"/>
                  </a:moveTo>
                  <a:lnTo>
                    <a:pt x="97" y="59"/>
                  </a:lnTo>
                  <a:lnTo>
                    <a:pt x="126" y="59"/>
                  </a:lnTo>
                  <a:lnTo>
                    <a:pt x="67" y="0"/>
                  </a:lnTo>
                  <a:lnTo>
                    <a:pt x="0" y="59"/>
                  </a:lnTo>
                  <a:lnTo>
                    <a:pt x="30" y="59"/>
                  </a:lnTo>
                  <a:lnTo>
                    <a:pt x="30" y="282"/>
                  </a:lnTo>
                  <a:lnTo>
                    <a:pt x="97" y="28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Freeform 16"/>
            <p:cNvSpPr>
              <a:spLocks/>
            </p:cNvSpPr>
            <p:nvPr/>
          </p:nvSpPr>
          <p:spPr bwMode="auto">
            <a:xfrm>
              <a:off x="4527551" y="617538"/>
              <a:ext cx="200025" cy="447675"/>
            </a:xfrm>
            <a:custGeom>
              <a:avLst/>
              <a:gdLst/>
              <a:ahLst/>
              <a:cxnLst>
                <a:cxn ang="0">
                  <a:pos x="97" y="282"/>
                </a:cxn>
                <a:cxn ang="0">
                  <a:pos x="97" y="59"/>
                </a:cxn>
                <a:cxn ang="0">
                  <a:pos x="126" y="59"/>
                </a:cxn>
                <a:cxn ang="0">
                  <a:pos x="67" y="0"/>
                </a:cxn>
                <a:cxn ang="0">
                  <a:pos x="0" y="59"/>
                </a:cxn>
                <a:cxn ang="0">
                  <a:pos x="30" y="59"/>
                </a:cxn>
                <a:cxn ang="0">
                  <a:pos x="30" y="282"/>
                </a:cxn>
                <a:cxn ang="0">
                  <a:pos x="97" y="282"/>
                </a:cxn>
              </a:cxnLst>
              <a:rect l="0" t="0" r="r" b="b"/>
              <a:pathLst>
                <a:path w="126" h="282">
                  <a:moveTo>
                    <a:pt x="97" y="282"/>
                  </a:moveTo>
                  <a:lnTo>
                    <a:pt x="97" y="59"/>
                  </a:lnTo>
                  <a:lnTo>
                    <a:pt x="126" y="59"/>
                  </a:lnTo>
                  <a:lnTo>
                    <a:pt x="67" y="0"/>
                  </a:lnTo>
                  <a:lnTo>
                    <a:pt x="0" y="59"/>
                  </a:lnTo>
                  <a:lnTo>
                    <a:pt x="30" y="59"/>
                  </a:lnTo>
                  <a:lnTo>
                    <a:pt x="30" y="282"/>
                  </a:lnTo>
                  <a:lnTo>
                    <a:pt x="97" y="28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Freeform 17"/>
            <p:cNvSpPr>
              <a:spLocks/>
            </p:cNvSpPr>
            <p:nvPr/>
          </p:nvSpPr>
          <p:spPr bwMode="auto">
            <a:xfrm>
              <a:off x="4681538" y="782638"/>
              <a:ext cx="354013" cy="354013"/>
            </a:xfrm>
            <a:custGeom>
              <a:avLst/>
              <a:gdLst/>
              <a:ahLst/>
              <a:cxnLst>
                <a:cxn ang="0">
                  <a:pos x="44" y="223"/>
                </a:cxn>
                <a:cxn ang="0">
                  <a:pos x="200" y="67"/>
                </a:cxn>
                <a:cxn ang="0">
                  <a:pos x="223" y="89"/>
                </a:cxn>
                <a:cxn ang="0">
                  <a:pos x="223" y="0"/>
                </a:cxn>
                <a:cxn ang="0">
                  <a:pos x="133" y="0"/>
                </a:cxn>
                <a:cxn ang="0">
                  <a:pos x="156" y="22"/>
                </a:cxn>
                <a:cxn ang="0">
                  <a:pos x="0" y="178"/>
                </a:cxn>
                <a:cxn ang="0">
                  <a:pos x="44" y="223"/>
                </a:cxn>
              </a:cxnLst>
              <a:rect l="0" t="0" r="r" b="b"/>
              <a:pathLst>
                <a:path w="223" h="223">
                  <a:moveTo>
                    <a:pt x="44" y="223"/>
                  </a:moveTo>
                  <a:lnTo>
                    <a:pt x="200" y="67"/>
                  </a:lnTo>
                  <a:lnTo>
                    <a:pt x="223" y="89"/>
                  </a:lnTo>
                  <a:lnTo>
                    <a:pt x="223" y="0"/>
                  </a:lnTo>
                  <a:lnTo>
                    <a:pt x="133" y="0"/>
                  </a:lnTo>
                  <a:lnTo>
                    <a:pt x="156" y="22"/>
                  </a:lnTo>
                  <a:lnTo>
                    <a:pt x="0" y="178"/>
                  </a:lnTo>
                  <a:lnTo>
                    <a:pt x="44" y="22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Freeform 18"/>
            <p:cNvSpPr>
              <a:spLocks/>
            </p:cNvSpPr>
            <p:nvPr/>
          </p:nvSpPr>
          <p:spPr bwMode="auto">
            <a:xfrm>
              <a:off x="4681538" y="782638"/>
              <a:ext cx="354013" cy="354013"/>
            </a:xfrm>
            <a:custGeom>
              <a:avLst/>
              <a:gdLst/>
              <a:ahLst/>
              <a:cxnLst>
                <a:cxn ang="0">
                  <a:pos x="44" y="223"/>
                </a:cxn>
                <a:cxn ang="0">
                  <a:pos x="200" y="67"/>
                </a:cxn>
                <a:cxn ang="0">
                  <a:pos x="223" y="89"/>
                </a:cxn>
                <a:cxn ang="0">
                  <a:pos x="223" y="0"/>
                </a:cxn>
                <a:cxn ang="0">
                  <a:pos x="133" y="0"/>
                </a:cxn>
                <a:cxn ang="0">
                  <a:pos x="156" y="22"/>
                </a:cxn>
                <a:cxn ang="0">
                  <a:pos x="0" y="178"/>
                </a:cxn>
                <a:cxn ang="0">
                  <a:pos x="44" y="223"/>
                </a:cxn>
              </a:cxnLst>
              <a:rect l="0" t="0" r="r" b="b"/>
              <a:pathLst>
                <a:path w="223" h="223">
                  <a:moveTo>
                    <a:pt x="44" y="223"/>
                  </a:moveTo>
                  <a:lnTo>
                    <a:pt x="200" y="67"/>
                  </a:lnTo>
                  <a:lnTo>
                    <a:pt x="223" y="89"/>
                  </a:lnTo>
                  <a:lnTo>
                    <a:pt x="223" y="0"/>
                  </a:lnTo>
                  <a:lnTo>
                    <a:pt x="133" y="0"/>
                  </a:lnTo>
                  <a:lnTo>
                    <a:pt x="156" y="22"/>
                  </a:lnTo>
                  <a:lnTo>
                    <a:pt x="0" y="178"/>
                  </a:lnTo>
                  <a:lnTo>
                    <a:pt x="44" y="22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Freeform 19"/>
            <p:cNvSpPr>
              <a:spLocks/>
            </p:cNvSpPr>
            <p:nvPr/>
          </p:nvSpPr>
          <p:spPr bwMode="auto">
            <a:xfrm>
              <a:off x="4751388" y="1089026"/>
              <a:ext cx="449263" cy="200025"/>
            </a:xfrm>
            <a:custGeom>
              <a:avLst/>
              <a:gdLst/>
              <a:ahLst/>
              <a:cxnLst>
                <a:cxn ang="0">
                  <a:pos x="0" y="97"/>
                </a:cxn>
                <a:cxn ang="0">
                  <a:pos x="223" y="97"/>
                </a:cxn>
                <a:cxn ang="0">
                  <a:pos x="223" y="126"/>
                </a:cxn>
                <a:cxn ang="0">
                  <a:pos x="283" y="59"/>
                </a:cxn>
                <a:cxn ang="0">
                  <a:pos x="223" y="0"/>
                </a:cxn>
                <a:cxn ang="0">
                  <a:pos x="223" y="30"/>
                </a:cxn>
                <a:cxn ang="0">
                  <a:pos x="0" y="30"/>
                </a:cxn>
                <a:cxn ang="0">
                  <a:pos x="0" y="97"/>
                </a:cxn>
              </a:cxnLst>
              <a:rect l="0" t="0" r="r" b="b"/>
              <a:pathLst>
                <a:path w="283" h="126">
                  <a:moveTo>
                    <a:pt x="0" y="97"/>
                  </a:moveTo>
                  <a:lnTo>
                    <a:pt x="223" y="97"/>
                  </a:lnTo>
                  <a:lnTo>
                    <a:pt x="223" y="126"/>
                  </a:lnTo>
                  <a:lnTo>
                    <a:pt x="283" y="59"/>
                  </a:lnTo>
                  <a:lnTo>
                    <a:pt x="223" y="0"/>
                  </a:lnTo>
                  <a:lnTo>
                    <a:pt x="223" y="30"/>
                  </a:lnTo>
                  <a:lnTo>
                    <a:pt x="0" y="30"/>
                  </a:lnTo>
                  <a:lnTo>
                    <a:pt x="0" y="9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Freeform 20"/>
            <p:cNvSpPr>
              <a:spLocks/>
            </p:cNvSpPr>
            <p:nvPr/>
          </p:nvSpPr>
          <p:spPr bwMode="auto">
            <a:xfrm>
              <a:off x="4751388" y="1089026"/>
              <a:ext cx="449263" cy="200025"/>
            </a:xfrm>
            <a:custGeom>
              <a:avLst/>
              <a:gdLst/>
              <a:ahLst/>
              <a:cxnLst>
                <a:cxn ang="0">
                  <a:pos x="0" y="97"/>
                </a:cxn>
                <a:cxn ang="0">
                  <a:pos x="223" y="97"/>
                </a:cxn>
                <a:cxn ang="0">
                  <a:pos x="223" y="126"/>
                </a:cxn>
                <a:cxn ang="0">
                  <a:pos x="283" y="59"/>
                </a:cxn>
                <a:cxn ang="0">
                  <a:pos x="223" y="0"/>
                </a:cxn>
                <a:cxn ang="0">
                  <a:pos x="223" y="30"/>
                </a:cxn>
                <a:cxn ang="0">
                  <a:pos x="0" y="30"/>
                </a:cxn>
                <a:cxn ang="0">
                  <a:pos x="0" y="97"/>
                </a:cxn>
              </a:cxnLst>
              <a:rect l="0" t="0" r="r" b="b"/>
              <a:pathLst>
                <a:path w="283" h="126">
                  <a:moveTo>
                    <a:pt x="0" y="97"/>
                  </a:moveTo>
                  <a:lnTo>
                    <a:pt x="223" y="97"/>
                  </a:lnTo>
                  <a:lnTo>
                    <a:pt x="223" y="126"/>
                  </a:lnTo>
                  <a:lnTo>
                    <a:pt x="283" y="59"/>
                  </a:lnTo>
                  <a:lnTo>
                    <a:pt x="223" y="0"/>
                  </a:lnTo>
                  <a:lnTo>
                    <a:pt x="223" y="30"/>
                  </a:lnTo>
                  <a:lnTo>
                    <a:pt x="0" y="30"/>
                  </a:lnTo>
                  <a:lnTo>
                    <a:pt x="0" y="9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Freeform 21"/>
            <p:cNvSpPr>
              <a:spLocks/>
            </p:cNvSpPr>
            <p:nvPr/>
          </p:nvSpPr>
          <p:spPr bwMode="auto">
            <a:xfrm>
              <a:off x="4681538" y="1243013"/>
              <a:ext cx="354013" cy="354013"/>
            </a:xfrm>
            <a:custGeom>
              <a:avLst/>
              <a:gdLst/>
              <a:ahLst/>
              <a:cxnLst>
                <a:cxn ang="0">
                  <a:pos x="0" y="44"/>
                </a:cxn>
                <a:cxn ang="0">
                  <a:pos x="156" y="200"/>
                </a:cxn>
                <a:cxn ang="0">
                  <a:pos x="133" y="223"/>
                </a:cxn>
                <a:cxn ang="0">
                  <a:pos x="223" y="215"/>
                </a:cxn>
                <a:cxn ang="0">
                  <a:pos x="223" y="133"/>
                </a:cxn>
                <a:cxn ang="0">
                  <a:pos x="200" y="156"/>
                </a:cxn>
                <a:cxn ang="0">
                  <a:pos x="44" y="0"/>
                </a:cxn>
                <a:cxn ang="0">
                  <a:pos x="0" y="44"/>
                </a:cxn>
              </a:cxnLst>
              <a:rect l="0" t="0" r="r" b="b"/>
              <a:pathLst>
                <a:path w="223" h="223">
                  <a:moveTo>
                    <a:pt x="0" y="44"/>
                  </a:moveTo>
                  <a:lnTo>
                    <a:pt x="156" y="200"/>
                  </a:lnTo>
                  <a:lnTo>
                    <a:pt x="133" y="223"/>
                  </a:lnTo>
                  <a:lnTo>
                    <a:pt x="223" y="215"/>
                  </a:lnTo>
                  <a:lnTo>
                    <a:pt x="223" y="133"/>
                  </a:lnTo>
                  <a:lnTo>
                    <a:pt x="200" y="156"/>
                  </a:lnTo>
                  <a:lnTo>
                    <a:pt x="44" y="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Freeform 22"/>
            <p:cNvSpPr>
              <a:spLocks/>
            </p:cNvSpPr>
            <p:nvPr/>
          </p:nvSpPr>
          <p:spPr bwMode="auto">
            <a:xfrm>
              <a:off x="4681538" y="1243013"/>
              <a:ext cx="354013" cy="354013"/>
            </a:xfrm>
            <a:custGeom>
              <a:avLst/>
              <a:gdLst/>
              <a:ahLst/>
              <a:cxnLst>
                <a:cxn ang="0">
                  <a:pos x="0" y="44"/>
                </a:cxn>
                <a:cxn ang="0">
                  <a:pos x="156" y="200"/>
                </a:cxn>
                <a:cxn ang="0">
                  <a:pos x="133" y="223"/>
                </a:cxn>
                <a:cxn ang="0">
                  <a:pos x="223" y="215"/>
                </a:cxn>
                <a:cxn ang="0">
                  <a:pos x="223" y="133"/>
                </a:cxn>
                <a:cxn ang="0">
                  <a:pos x="200" y="156"/>
                </a:cxn>
                <a:cxn ang="0">
                  <a:pos x="44" y="0"/>
                </a:cxn>
                <a:cxn ang="0">
                  <a:pos x="0" y="44"/>
                </a:cxn>
              </a:cxnLst>
              <a:rect l="0" t="0" r="r" b="b"/>
              <a:pathLst>
                <a:path w="223" h="223">
                  <a:moveTo>
                    <a:pt x="0" y="44"/>
                  </a:moveTo>
                  <a:lnTo>
                    <a:pt x="156" y="200"/>
                  </a:lnTo>
                  <a:lnTo>
                    <a:pt x="133" y="223"/>
                  </a:lnTo>
                  <a:lnTo>
                    <a:pt x="223" y="215"/>
                  </a:lnTo>
                  <a:lnTo>
                    <a:pt x="223" y="133"/>
                  </a:lnTo>
                  <a:lnTo>
                    <a:pt x="200" y="156"/>
                  </a:lnTo>
                  <a:lnTo>
                    <a:pt x="44" y="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Freeform 23"/>
            <p:cNvSpPr>
              <a:spLocks/>
            </p:cNvSpPr>
            <p:nvPr/>
          </p:nvSpPr>
          <p:spPr bwMode="auto">
            <a:xfrm>
              <a:off x="4527551" y="1312863"/>
              <a:ext cx="200025" cy="449263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30" y="223"/>
                </a:cxn>
                <a:cxn ang="0">
                  <a:pos x="0" y="223"/>
                </a:cxn>
                <a:cxn ang="0">
                  <a:pos x="67" y="283"/>
                </a:cxn>
                <a:cxn ang="0">
                  <a:pos x="126" y="223"/>
                </a:cxn>
                <a:cxn ang="0">
                  <a:pos x="97" y="223"/>
                </a:cxn>
                <a:cxn ang="0">
                  <a:pos x="97" y="0"/>
                </a:cxn>
                <a:cxn ang="0">
                  <a:pos x="30" y="0"/>
                </a:cxn>
              </a:cxnLst>
              <a:rect l="0" t="0" r="r" b="b"/>
              <a:pathLst>
                <a:path w="126" h="283">
                  <a:moveTo>
                    <a:pt x="30" y="0"/>
                  </a:moveTo>
                  <a:lnTo>
                    <a:pt x="30" y="223"/>
                  </a:lnTo>
                  <a:lnTo>
                    <a:pt x="0" y="223"/>
                  </a:lnTo>
                  <a:lnTo>
                    <a:pt x="67" y="283"/>
                  </a:lnTo>
                  <a:lnTo>
                    <a:pt x="126" y="223"/>
                  </a:lnTo>
                  <a:lnTo>
                    <a:pt x="97" y="223"/>
                  </a:lnTo>
                  <a:lnTo>
                    <a:pt x="97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Freeform 24"/>
            <p:cNvSpPr>
              <a:spLocks/>
            </p:cNvSpPr>
            <p:nvPr/>
          </p:nvSpPr>
          <p:spPr bwMode="auto">
            <a:xfrm>
              <a:off x="4527551" y="1312863"/>
              <a:ext cx="200025" cy="449263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30" y="223"/>
                </a:cxn>
                <a:cxn ang="0">
                  <a:pos x="0" y="223"/>
                </a:cxn>
                <a:cxn ang="0">
                  <a:pos x="67" y="283"/>
                </a:cxn>
                <a:cxn ang="0">
                  <a:pos x="126" y="223"/>
                </a:cxn>
                <a:cxn ang="0">
                  <a:pos x="97" y="223"/>
                </a:cxn>
                <a:cxn ang="0">
                  <a:pos x="97" y="0"/>
                </a:cxn>
                <a:cxn ang="0">
                  <a:pos x="30" y="0"/>
                </a:cxn>
              </a:cxnLst>
              <a:rect l="0" t="0" r="r" b="b"/>
              <a:pathLst>
                <a:path w="126" h="283">
                  <a:moveTo>
                    <a:pt x="30" y="0"/>
                  </a:moveTo>
                  <a:lnTo>
                    <a:pt x="30" y="223"/>
                  </a:lnTo>
                  <a:lnTo>
                    <a:pt x="0" y="223"/>
                  </a:lnTo>
                  <a:lnTo>
                    <a:pt x="67" y="283"/>
                  </a:lnTo>
                  <a:lnTo>
                    <a:pt x="126" y="223"/>
                  </a:lnTo>
                  <a:lnTo>
                    <a:pt x="97" y="223"/>
                  </a:lnTo>
                  <a:lnTo>
                    <a:pt x="97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Freeform 25"/>
            <p:cNvSpPr>
              <a:spLocks/>
            </p:cNvSpPr>
            <p:nvPr/>
          </p:nvSpPr>
          <p:spPr bwMode="auto">
            <a:xfrm>
              <a:off x="4219576" y="1243013"/>
              <a:ext cx="355600" cy="354013"/>
            </a:xfrm>
            <a:custGeom>
              <a:avLst/>
              <a:gdLst/>
              <a:ahLst/>
              <a:cxnLst>
                <a:cxn ang="0">
                  <a:pos x="179" y="0"/>
                </a:cxn>
                <a:cxn ang="0">
                  <a:pos x="23" y="156"/>
                </a:cxn>
                <a:cxn ang="0">
                  <a:pos x="0" y="133"/>
                </a:cxn>
                <a:cxn ang="0">
                  <a:pos x="0" y="223"/>
                </a:cxn>
                <a:cxn ang="0">
                  <a:pos x="90" y="223"/>
                </a:cxn>
                <a:cxn ang="0">
                  <a:pos x="67" y="200"/>
                </a:cxn>
                <a:cxn ang="0">
                  <a:pos x="224" y="44"/>
                </a:cxn>
                <a:cxn ang="0">
                  <a:pos x="179" y="0"/>
                </a:cxn>
              </a:cxnLst>
              <a:rect l="0" t="0" r="r" b="b"/>
              <a:pathLst>
                <a:path w="224" h="223">
                  <a:moveTo>
                    <a:pt x="179" y="0"/>
                  </a:moveTo>
                  <a:lnTo>
                    <a:pt x="23" y="156"/>
                  </a:lnTo>
                  <a:lnTo>
                    <a:pt x="0" y="133"/>
                  </a:lnTo>
                  <a:lnTo>
                    <a:pt x="0" y="223"/>
                  </a:lnTo>
                  <a:lnTo>
                    <a:pt x="90" y="223"/>
                  </a:lnTo>
                  <a:lnTo>
                    <a:pt x="67" y="200"/>
                  </a:lnTo>
                  <a:lnTo>
                    <a:pt x="224" y="44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Freeform 26"/>
            <p:cNvSpPr>
              <a:spLocks/>
            </p:cNvSpPr>
            <p:nvPr/>
          </p:nvSpPr>
          <p:spPr bwMode="auto">
            <a:xfrm>
              <a:off x="4219576" y="1243013"/>
              <a:ext cx="355600" cy="354013"/>
            </a:xfrm>
            <a:custGeom>
              <a:avLst/>
              <a:gdLst/>
              <a:ahLst/>
              <a:cxnLst>
                <a:cxn ang="0">
                  <a:pos x="179" y="0"/>
                </a:cxn>
                <a:cxn ang="0">
                  <a:pos x="23" y="156"/>
                </a:cxn>
                <a:cxn ang="0">
                  <a:pos x="0" y="133"/>
                </a:cxn>
                <a:cxn ang="0">
                  <a:pos x="0" y="223"/>
                </a:cxn>
                <a:cxn ang="0">
                  <a:pos x="90" y="223"/>
                </a:cxn>
                <a:cxn ang="0">
                  <a:pos x="67" y="200"/>
                </a:cxn>
                <a:cxn ang="0">
                  <a:pos x="224" y="44"/>
                </a:cxn>
                <a:cxn ang="0">
                  <a:pos x="179" y="0"/>
                </a:cxn>
              </a:cxnLst>
              <a:rect l="0" t="0" r="r" b="b"/>
              <a:pathLst>
                <a:path w="224" h="223">
                  <a:moveTo>
                    <a:pt x="179" y="0"/>
                  </a:moveTo>
                  <a:lnTo>
                    <a:pt x="23" y="156"/>
                  </a:lnTo>
                  <a:lnTo>
                    <a:pt x="0" y="133"/>
                  </a:lnTo>
                  <a:lnTo>
                    <a:pt x="0" y="223"/>
                  </a:lnTo>
                  <a:lnTo>
                    <a:pt x="90" y="223"/>
                  </a:lnTo>
                  <a:lnTo>
                    <a:pt x="67" y="200"/>
                  </a:lnTo>
                  <a:lnTo>
                    <a:pt x="224" y="44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Freeform 27"/>
            <p:cNvSpPr>
              <a:spLocks/>
            </p:cNvSpPr>
            <p:nvPr/>
          </p:nvSpPr>
          <p:spPr bwMode="auto">
            <a:xfrm>
              <a:off x="4067176" y="1100138"/>
              <a:ext cx="447675" cy="201613"/>
            </a:xfrm>
            <a:custGeom>
              <a:avLst/>
              <a:gdLst/>
              <a:ahLst/>
              <a:cxnLst>
                <a:cxn ang="0">
                  <a:pos x="282" y="30"/>
                </a:cxn>
                <a:cxn ang="0">
                  <a:pos x="67" y="30"/>
                </a:cxn>
                <a:cxn ang="0">
                  <a:pos x="67" y="0"/>
                </a:cxn>
                <a:cxn ang="0">
                  <a:pos x="0" y="60"/>
                </a:cxn>
                <a:cxn ang="0">
                  <a:pos x="67" y="127"/>
                </a:cxn>
                <a:cxn ang="0">
                  <a:pos x="67" y="97"/>
                </a:cxn>
                <a:cxn ang="0">
                  <a:pos x="282" y="97"/>
                </a:cxn>
                <a:cxn ang="0">
                  <a:pos x="282" y="30"/>
                </a:cxn>
              </a:cxnLst>
              <a:rect l="0" t="0" r="r" b="b"/>
              <a:pathLst>
                <a:path w="282" h="127">
                  <a:moveTo>
                    <a:pt x="282" y="30"/>
                  </a:moveTo>
                  <a:lnTo>
                    <a:pt x="67" y="30"/>
                  </a:lnTo>
                  <a:lnTo>
                    <a:pt x="67" y="0"/>
                  </a:lnTo>
                  <a:lnTo>
                    <a:pt x="0" y="60"/>
                  </a:lnTo>
                  <a:lnTo>
                    <a:pt x="67" y="127"/>
                  </a:lnTo>
                  <a:lnTo>
                    <a:pt x="67" y="97"/>
                  </a:lnTo>
                  <a:lnTo>
                    <a:pt x="282" y="97"/>
                  </a:lnTo>
                  <a:lnTo>
                    <a:pt x="282" y="3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Freeform 28"/>
            <p:cNvSpPr>
              <a:spLocks/>
            </p:cNvSpPr>
            <p:nvPr/>
          </p:nvSpPr>
          <p:spPr bwMode="auto">
            <a:xfrm>
              <a:off x="4067176" y="1100138"/>
              <a:ext cx="447675" cy="201613"/>
            </a:xfrm>
            <a:custGeom>
              <a:avLst/>
              <a:gdLst/>
              <a:ahLst/>
              <a:cxnLst>
                <a:cxn ang="0">
                  <a:pos x="282" y="30"/>
                </a:cxn>
                <a:cxn ang="0">
                  <a:pos x="67" y="30"/>
                </a:cxn>
                <a:cxn ang="0">
                  <a:pos x="67" y="0"/>
                </a:cxn>
                <a:cxn ang="0">
                  <a:pos x="0" y="60"/>
                </a:cxn>
                <a:cxn ang="0">
                  <a:pos x="67" y="127"/>
                </a:cxn>
                <a:cxn ang="0">
                  <a:pos x="67" y="97"/>
                </a:cxn>
                <a:cxn ang="0">
                  <a:pos x="282" y="97"/>
                </a:cxn>
                <a:cxn ang="0">
                  <a:pos x="282" y="30"/>
                </a:cxn>
              </a:cxnLst>
              <a:rect l="0" t="0" r="r" b="b"/>
              <a:pathLst>
                <a:path w="282" h="127">
                  <a:moveTo>
                    <a:pt x="282" y="30"/>
                  </a:moveTo>
                  <a:lnTo>
                    <a:pt x="67" y="30"/>
                  </a:lnTo>
                  <a:lnTo>
                    <a:pt x="67" y="0"/>
                  </a:lnTo>
                  <a:lnTo>
                    <a:pt x="0" y="60"/>
                  </a:lnTo>
                  <a:lnTo>
                    <a:pt x="67" y="127"/>
                  </a:lnTo>
                  <a:lnTo>
                    <a:pt x="67" y="97"/>
                  </a:lnTo>
                  <a:lnTo>
                    <a:pt x="282" y="97"/>
                  </a:lnTo>
                  <a:lnTo>
                    <a:pt x="282" y="3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Freeform 29"/>
            <p:cNvSpPr>
              <a:spLocks/>
            </p:cNvSpPr>
            <p:nvPr/>
          </p:nvSpPr>
          <p:spPr bwMode="auto">
            <a:xfrm>
              <a:off x="4232276" y="793751"/>
              <a:ext cx="354013" cy="354013"/>
            </a:xfrm>
            <a:custGeom>
              <a:avLst/>
              <a:gdLst/>
              <a:ahLst/>
              <a:cxnLst>
                <a:cxn ang="0">
                  <a:pos x="223" y="179"/>
                </a:cxn>
                <a:cxn ang="0">
                  <a:pos x="67" y="23"/>
                </a:cxn>
                <a:cxn ang="0">
                  <a:pos x="89" y="0"/>
                </a:cxn>
                <a:cxn ang="0">
                  <a:pos x="0" y="0"/>
                </a:cxn>
                <a:cxn ang="0">
                  <a:pos x="0" y="89"/>
                </a:cxn>
                <a:cxn ang="0">
                  <a:pos x="22" y="67"/>
                </a:cxn>
                <a:cxn ang="0">
                  <a:pos x="178" y="223"/>
                </a:cxn>
                <a:cxn ang="0">
                  <a:pos x="223" y="179"/>
                </a:cxn>
              </a:cxnLst>
              <a:rect l="0" t="0" r="r" b="b"/>
              <a:pathLst>
                <a:path w="223" h="223">
                  <a:moveTo>
                    <a:pt x="223" y="179"/>
                  </a:moveTo>
                  <a:lnTo>
                    <a:pt x="67" y="23"/>
                  </a:lnTo>
                  <a:lnTo>
                    <a:pt x="89" y="0"/>
                  </a:lnTo>
                  <a:lnTo>
                    <a:pt x="0" y="0"/>
                  </a:lnTo>
                  <a:lnTo>
                    <a:pt x="0" y="89"/>
                  </a:lnTo>
                  <a:lnTo>
                    <a:pt x="22" y="67"/>
                  </a:lnTo>
                  <a:lnTo>
                    <a:pt x="178" y="223"/>
                  </a:lnTo>
                  <a:lnTo>
                    <a:pt x="223" y="17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Freeform 30"/>
            <p:cNvSpPr>
              <a:spLocks/>
            </p:cNvSpPr>
            <p:nvPr/>
          </p:nvSpPr>
          <p:spPr bwMode="auto">
            <a:xfrm>
              <a:off x="4232276" y="793751"/>
              <a:ext cx="354013" cy="354013"/>
            </a:xfrm>
            <a:custGeom>
              <a:avLst/>
              <a:gdLst/>
              <a:ahLst/>
              <a:cxnLst>
                <a:cxn ang="0">
                  <a:pos x="223" y="179"/>
                </a:cxn>
                <a:cxn ang="0">
                  <a:pos x="67" y="23"/>
                </a:cxn>
                <a:cxn ang="0">
                  <a:pos x="89" y="0"/>
                </a:cxn>
                <a:cxn ang="0">
                  <a:pos x="0" y="0"/>
                </a:cxn>
                <a:cxn ang="0">
                  <a:pos x="0" y="89"/>
                </a:cxn>
                <a:cxn ang="0">
                  <a:pos x="22" y="67"/>
                </a:cxn>
                <a:cxn ang="0">
                  <a:pos x="178" y="223"/>
                </a:cxn>
                <a:cxn ang="0">
                  <a:pos x="223" y="179"/>
                </a:cxn>
              </a:cxnLst>
              <a:rect l="0" t="0" r="r" b="b"/>
              <a:pathLst>
                <a:path w="223" h="223">
                  <a:moveTo>
                    <a:pt x="223" y="179"/>
                  </a:moveTo>
                  <a:lnTo>
                    <a:pt x="67" y="23"/>
                  </a:lnTo>
                  <a:lnTo>
                    <a:pt x="89" y="0"/>
                  </a:lnTo>
                  <a:lnTo>
                    <a:pt x="0" y="0"/>
                  </a:lnTo>
                  <a:lnTo>
                    <a:pt x="0" y="89"/>
                  </a:lnTo>
                  <a:lnTo>
                    <a:pt x="22" y="67"/>
                  </a:lnTo>
                  <a:lnTo>
                    <a:pt x="178" y="223"/>
                  </a:lnTo>
                  <a:lnTo>
                    <a:pt x="223" y="17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Freeform 31"/>
            <p:cNvSpPr>
              <a:spLocks/>
            </p:cNvSpPr>
            <p:nvPr/>
          </p:nvSpPr>
          <p:spPr bwMode="auto">
            <a:xfrm>
              <a:off x="4538663" y="628651"/>
              <a:ext cx="201613" cy="449263"/>
            </a:xfrm>
            <a:custGeom>
              <a:avLst/>
              <a:gdLst/>
              <a:ahLst/>
              <a:cxnLst>
                <a:cxn ang="0">
                  <a:pos x="97" y="283"/>
                </a:cxn>
                <a:cxn ang="0">
                  <a:pos x="97" y="60"/>
                </a:cxn>
                <a:cxn ang="0">
                  <a:pos x="127" y="60"/>
                </a:cxn>
                <a:cxn ang="0">
                  <a:pos x="67" y="0"/>
                </a:cxn>
                <a:cxn ang="0">
                  <a:pos x="0" y="60"/>
                </a:cxn>
                <a:cxn ang="0">
                  <a:pos x="30" y="60"/>
                </a:cxn>
                <a:cxn ang="0">
                  <a:pos x="30" y="283"/>
                </a:cxn>
                <a:cxn ang="0">
                  <a:pos x="97" y="283"/>
                </a:cxn>
              </a:cxnLst>
              <a:rect l="0" t="0" r="r" b="b"/>
              <a:pathLst>
                <a:path w="127" h="283">
                  <a:moveTo>
                    <a:pt x="97" y="283"/>
                  </a:moveTo>
                  <a:lnTo>
                    <a:pt x="97" y="60"/>
                  </a:lnTo>
                  <a:lnTo>
                    <a:pt x="127" y="60"/>
                  </a:lnTo>
                  <a:lnTo>
                    <a:pt x="67" y="0"/>
                  </a:lnTo>
                  <a:lnTo>
                    <a:pt x="0" y="60"/>
                  </a:lnTo>
                  <a:lnTo>
                    <a:pt x="30" y="60"/>
                  </a:lnTo>
                  <a:lnTo>
                    <a:pt x="30" y="283"/>
                  </a:lnTo>
                  <a:lnTo>
                    <a:pt x="97" y="28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Freeform 32"/>
            <p:cNvSpPr>
              <a:spLocks/>
            </p:cNvSpPr>
            <p:nvPr/>
          </p:nvSpPr>
          <p:spPr bwMode="auto">
            <a:xfrm>
              <a:off x="4538663" y="628651"/>
              <a:ext cx="201613" cy="449263"/>
            </a:xfrm>
            <a:custGeom>
              <a:avLst/>
              <a:gdLst/>
              <a:ahLst/>
              <a:cxnLst>
                <a:cxn ang="0">
                  <a:pos x="97" y="283"/>
                </a:cxn>
                <a:cxn ang="0">
                  <a:pos x="97" y="60"/>
                </a:cxn>
                <a:cxn ang="0">
                  <a:pos x="127" y="60"/>
                </a:cxn>
                <a:cxn ang="0">
                  <a:pos x="67" y="0"/>
                </a:cxn>
                <a:cxn ang="0">
                  <a:pos x="0" y="60"/>
                </a:cxn>
                <a:cxn ang="0">
                  <a:pos x="30" y="60"/>
                </a:cxn>
                <a:cxn ang="0">
                  <a:pos x="30" y="283"/>
                </a:cxn>
                <a:cxn ang="0">
                  <a:pos x="97" y="283"/>
                </a:cxn>
              </a:cxnLst>
              <a:rect l="0" t="0" r="r" b="b"/>
              <a:pathLst>
                <a:path w="127" h="283">
                  <a:moveTo>
                    <a:pt x="97" y="283"/>
                  </a:moveTo>
                  <a:lnTo>
                    <a:pt x="97" y="60"/>
                  </a:lnTo>
                  <a:lnTo>
                    <a:pt x="127" y="60"/>
                  </a:lnTo>
                  <a:lnTo>
                    <a:pt x="67" y="0"/>
                  </a:lnTo>
                  <a:lnTo>
                    <a:pt x="0" y="60"/>
                  </a:lnTo>
                  <a:lnTo>
                    <a:pt x="30" y="60"/>
                  </a:lnTo>
                  <a:lnTo>
                    <a:pt x="30" y="283"/>
                  </a:lnTo>
                  <a:lnTo>
                    <a:pt x="97" y="28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Freeform 33"/>
            <p:cNvSpPr>
              <a:spLocks/>
            </p:cNvSpPr>
            <p:nvPr/>
          </p:nvSpPr>
          <p:spPr bwMode="auto">
            <a:xfrm>
              <a:off x="4692651" y="793751"/>
              <a:ext cx="354013" cy="354013"/>
            </a:xfrm>
            <a:custGeom>
              <a:avLst/>
              <a:gdLst/>
              <a:ahLst/>
              <a:cxnLst>
                <a:cxn ang="0">
                  <a:pos x="45" y="223"/>
                </a:cxn>
                <a:cxn ang="0">
                  <a:pos x="201" y="67"/>
                </a:cxn>
                <a:cxn ang="0">
                  <a:pos x="223" y="89"/>
                </a:cxn>
                <a:cxn ang="0">
                  <a:pos x="223" y="0"/>
                </a:cxn>
                <a:cxn ang="0">
                  <a:pos x="134" y="0"/>
                </a:cxn>
                <a:cxn ang="0">
                  <a:pos x="156" y="23"/>
                </a:cxn>
                <a:cxn ang="0">
                  <a:pos x="0" y="179"/>
                </a:cxn>
                <a:cxn ang="0">
                  <a:pos x="45" y="223"/>
                </a:cxn>
              </a:cxnLst>
              <a:rect l="0" t="0" r="r" b="b"/>
              <a:pathLst>
                <a:path w="223" h="223">
                  <a:moveTo>
                    <a:pt x="45" y="223"/>
                  </a:moveTo>
                  <a:lnTo>
                    <a:pt x="201" y="67"/>
                  </a:lnTo>
                  <a:lnTo>
                    <a:pt x="223" y="89"/>
                  </a:lnTo>
                  <a:lnTo>
                    <a:pt x="223" y="0"/>
                  </a:lnTo>
                  <a:lnTo>
                    <a:pt x="134" y="0"/>
                  </a:lnTo>
                  <a:lnTo>
                    <a:pt x="156" y="23"/>
                  </a:lnTo>
                  <a:lnTo>
                    <a:pt x="0" y="179"/>
                  </a:lnTo>
                  <a:lnTo>
                    <a:pt x="45" y="22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Freeform 34"/>
            <p:cNvSpPr>
              <a:spLocks/>
            </p:cNvSpPr>
            <p:nvPr/>
          </p:nvSpPr>
          <p:spPr bwMode="auto">
            <a:xfrm>
              <a:off x="4692651" y="793751"/>
              <a:ext cx="354013" cy="354013"/>
            </a:xfrm>
            <a:custGeom>
              <a:avLst/>
              <a:gdLst/>
              <a:ahLst/>
              <a:cxnLst>
                <a:cxn ang="0">
                  <a:pos x="45" y="223"/>
                </a:cxn>
                <a:cxn ang="0">
                  <a:pos x="201" y="67"/>
                </a:cxn>
                <a:cxn ang="0">
                  <a:pos x="223" y="89"/>
                </a:cxn>
                <a:cxn ang="0">
                  <a:pos x="223" y="0"/>
                </a:cxn>
                <a:cxn ang="0">
                  <a:pos x="134" y="0"/>
                </a:cxn>
                <a:cxn ang="0">
                  <a:pos x="156" y="23"/>
                </a:cxn>
                <a:cxn ang="0">
                  <a:pos x="0" y="179"/>
                </a:cxn>
                <a:cxn ang="0">
                  <a:pos x="45" y="223"/>
                </a:cxn>
              </a:cxnLst>
              <a:rect l="0" t="0" r="r" b="b"/>
              <a:pathLst>
                <a:path w="223" h="223">
                  <a:moveTo>
                    <a:pt x="45" y="223"/>
                  </a:moveTo>
                  <a:lnTo>
                    <a:pt x="201" y="67"/>
                  </a:lnTo>
                  <a:lnTo>
                    <a:pt x="223" y="89"/>
                  </a:lnTo>
                  <a:lnTo>
                    <a:pt x="223" y="0"/>
                  </a:lnTo>
                  <a:lnTo>
                    <a:pt x="134" y="0"/>
                  </a:lnTo>
                  <a:lnTo>
                    <a:pt x="156" y="23"/>
                  </a:lnTo>
                  <a:lnTo>
                    <a:pt x="0" y="179"/>
                  </a:lnTo>
                  <a:lnTo>
                    <a:pt x="45" y="22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Freeform 35"/>
            <p:cNvSpPr>
              <a:spLocks/>
            </p:cNvSpPr>
            <p:nvPr/>
          </p:nvSpPr>
          <p:spPr bwMode="auto">
            <a:xfrm>
              <a:off x="4764088" y="1100138"/>
              <a:ext cx="447675" cy="201613"/>
            </a:xfrm>
            <a:custGeom>
              <a:avLst/>
              <a:gdLst/>
              <a:ahLst/>
              <a:cxnLst>
                <a:cxn ang="0">
                  <a:pos x="0" y="97"/>
                </a:cxn>
                <a:cxn ang="0">
                  <a:pos x="223" y="97"/>
                </a:cxn>
                <a:cxn ang="0">
                  <a:pos x="223" y="127"/>
                </a:cxn>
                <a:cxn ang="0">
                  <a:pos x="282" y="60"/>
                </a:cxn>
                <a:cxn ang="0">
                  <a:pos x="223" y="0"/>
                </a:cxn>
                <a:cxn ang="0">
                  <a:pos x="223" y="30"/>
                </a:cxn>
                <a:cxn ang="0">
                  <a:pos x="0" y="30"/>
                </a:cxn>
                <a:cxn ang="0">
                  <a:pos x="0" y="97"/>
                </a:cxn>
              </a:cxnLst>
              <a:rect l="0" t="0" r="r" b="b"/>
              <a:pathLst>
                <a:path w="282" h="127">
                  <a:moveTo>
                    <a:pt x="0" y="97"/>
                  </a:moveTo>
                  <a:lnTo>
                    <a:pt x="223" y="97"/>
                  </a:lnTo>
                  <a:lnTo>
                    <a:pt x="223" y="127"/>
                  </a:lnTo>
                  <a:lnTo>
                    <a:pt x="282" y="60"/>
                  </a:lnTo>
                  <a:lnTo>
                    <a:pt x="223" y="0"/>
                  </a:lnTo>
                  <a:lnTo>
                    <a:pt x="223" y="30"/>
                  </a:lnTo>
                  <a:lnTo>
                    <a:pt x="0" y="30"/>
                  </a:lnTo>
                  <a:lnTo>
                    <a:pt x="0" y="97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Freeform 36"/>
            <p:cNvSpPr>
              <a:spLocks/>
            </p:cNvSpPr>
            <p:nvPr/>
          </p:nvSpPr>
          <p:spPr bwMode="auto">
            <a:xfrm>
              <a:off x="4764088" y="1100138"/>
              <a:ext cx="447675" cy="201613"/>
            </a:xfrm>
            <a:custGeom>
              <a:avLst/>
              <a:gdLst/>
              <a:ahLst/>
              <a:cxnLst>
                <a:cxn ang="0">
                  <a:pos x="0" y="97"/>
                </a:cxn>
                <a:cxn ang="0">
                  <a:pos x="223" y="97"/>
                </a:cxn>
                <a:cxn ang="0">
                  <a:pos x="223" y="127"/>
                </a:cxn>
                <a:cxn ang="0">
                  <a:pos x="282" y="60"/>
                </a:cxn>
                <a:cxn ang="0">
                  <a:pos x="223" y="0"/>
                </a:cxn>
                <a:cxn ang="0">
                  <a:pos x="223" y="30"/>
                </a:cxn>
                <a:cxn ang="0">
                  <a:pos x="0" y="30"/>
                </a:cxn>
                <a:cxn ang="0">
                  <a:pos x="0" y="97"/>
                </a:cxn>
              </a:cxnLst>
              <a:rect l="0" t="0" r="r" b="b"/>
              <a:pathLst>
                <a:path w="282" h="127">
                  <a:moveTo>
                    <a:pt x="0" y="97"/>
                  </a:moveTo>
                  <a:lnTo>
                    <a:pt x="223" y="97"/>
                  </a:lnTo>
                  <a:lnTo>
                    <a:pt x="223" y="127"/>
                  </a:lnTo>
                  <a:lnTo>
                    <a:pt x="282" y="60"/>
                  </a:lnTo>
                  <a:lnTo>
                    <a:pt x="223" y="0"/>
                  </a:lnTo>
                  <a:lnTo>
                    <a:pt x="223" y="30"/>
                  </a:lnTo>
                  <a:lnTo>
                    <a:pt x="0" y="30"/>
                  </a:lnTo>
                  <a:lnTo>
                    <a:pt x="0" y="97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Freeform 37"/>
            <p:cNvSpPr>
              <a:spLocks/>
            </p:cNvSpPr>
            <p:nvPr/>
          </p:nvSpPr>
          <p:spPr bwMode="auto">
            <a:xfrm>
              <a:off x="4692651" y="1254126"/>
              <a:ext cx="354013" cy="354013"/>
            </a:xfrm>
            <a:custGeom>
              <a:avLst/>
              <a:gdLst/>
              <a:ahLst/>
              <a:cxnLst>
                <a:cxn ang="0">
                  <a:pos x="0" y="45"/>
                </a:cxn>
                <a:cxn ang="0">
                  <a:pos x="156" y="201"/>
                </a:cxn>
                <a:cxn ang="0">
                  <a:pos x="134" y="223"/>
                </a:cxn>
                <a:cxn ang="0">
                  <a:pos x="223" y="216"/>
                </a:cxn>
                <a:cxn ang="0">
                  <a:pos x="223" y="134"/>
                </a:cxn>
                <a:cxn ang="0">
                  <a:pos x="201" y="156"/>
                </a:cxn>
                <a:cxn ang="0">
                  <a:pos x="45" y="0"/>
                </a:cxn>
                <a:cxn ang="0">
                  <a:pos x="0" y="45"/>
                </a:cxn>
              </a:cxnLst>
              <a:rect l="0" t="0" r="r" b="b"/>
              <a:pathLst>
                <a:path w="223" h="223">
                  <a:moveTo>
                    <a:pt x="0" y="45"/>
                  </a:moveTo>
                  <a:lnTo>
                    <a:pt x="156" y="201"/>
                  </a:lnTo>
                  <a:lnTo>
                    <a:pt x="134" y="223"/>
                  </a:lnTo>
                  <a:lnTo>
                    <a:pt x="223" y="216"/>
                  </a:lnTo>
                  <a:lnTo>
                    <a:pt x="223" y="134"/>
                  </a:lnTo>
                  <a:lnTo>
                    <a:pt x="201" y="156"/>
                  </a:lnTo>
                  <a:lnTo>
                    <a:pt x="45" y="0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Freeform 38"/>
            <p:cNvSpPr>
              <a:spLocks/>
            </p:cNvSpPr>
            <p:nvPr/>
          </p:nvSpPr>
          <p:spPr bwMode="auto">
            <a:xfrm>
              <a:off x="4692651" y="1254126"/>
              <a:ext cx="354013" cy="354013"/>
            </a:xfrm>
            <a:custGeom>
              <a:avLst/>
              <a:gdLst/>
              <a:ahLst/>
              <a:cxnLst>
                <a:cxn ang="0">
                  <a:pos x="0" y="45"/>
                </a:cxn>
                <a:cxn ang="0">
                  <a:pos x="156" y="201"/>
                </a:cxn>
                <a:cxn ang="0">
                  <a:pos x="134" y="223"/>
                </a:cxn>
                <a:cxn ang="0">
                  <a:pos x="223" y="216"/>
                </a:cxn>
                <a:cxn ang="0">
                  <a:pos x="223" y="134"/>
                </a:cxn>
                <a:cxn ang="0">
                  <a:pos x="201" y="156"/>
                </a:cxn>
                <a:cxn ang="0">
                  <a:pos x="45" y="0"/>
                </a:cxn>
                <a:cxn ang="0">
                  <a:pos x="0" y="45"/>
                </a:cxn>
              </a:cxnLst>
              <a:rect l="0" t="0" r="r" b="b"/>
              <a:pathLst>
                <a:path w="223" h="223">
                  <a:moveTo>
                    <a:pt x="0" y="45"/>
                  </a:moveTo>
                  <a:lnTo>
                    <a:pt x="156" y="201"/>
                  </a:lnTo>
                  <a:lnTo>
                    <a:pt x="134" y="223"/>
                  </a:lnTo>
                  <a:lnTo>
                    <a:pt x="223" y="216"/>
                  </a:lnTo>
                  <a:lnTo>
                    <a:pt x="223" y="134"/>
                  </a:lnTo>
                  <a:lnTo>
                    <a:pt x="201" y="156"/>
                  </a:lnTo>
                  <a:lnTo>
                    <a:pt x="45" y="0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Freeform 39"/>
            <p:cNvSpPr>
              <a:spLocks/>
            </p:cNvSpPr>
            <p:nvPr/>
          </p:nvSpPr>
          <p:spPr bwMode="auto">
            <a:xfrm>
              <a:off x="4538663" y="1325563"/>
              <a:ext cx="201613" cy="447675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30" y="223"/>
                </a:cxn>
                <a:cxn ang="0">
                  <a:pos x="0" y="223"/>
                </a:cxn>
                <a:cxn ang="0">
                  <a:pos x="67" y="282"/>
                </a:cxn>
                <a:cxn ang="0">
                  <a:pos x="127" y="223"/>
                </a:cxn>
                <a:cxn ang="0">
                  <a:pos x="97" y="223"/>
                </a:cxn>
                <a:cxn ang="0">
                  <a:pos x="97" y="0"/>
                </a:cxn>
                <a:cxn ang="0">
                  <a:pos x="30" y="0"/>
                </a:cxn>
              </a:cxnLst>
              <a:rect l="0" t="0" r="r" b="b"/>
              <a:pathLst>
                <a:path w="127" h="282">
                  <a:moveTo>
                    <a:pt x="30" y="0"/>
                  </a:moveTo>
                  <a:lnTo>
                    <a:pt x="30" y="223"/>
                  </a:lnTo>
                  <a:lnTo>
                    <a:pt x="0" y="223"/>
                  </a:lnTo>
                  <a:lnTo>
                    <a:pt x="67" y="282"/>
                  </a:lnTo>
                  <a:lnTo>
                    <a:pt x="127" y="223"/>
                  </a:lnTo>
                  <a:lnTo>
                    <a:pt x="97" y="223"/>
                  </a:lnTo>
                  <a:lnTo>
                    <a:pt x="97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Freeform 40"/>
            <p:cNvSpPr>
              <a:spLocks/>
            </p:cNvSpPr>
            <p:nvPr/>
          </p:nvSpPr>
          <p:spPr bwMode="auto">
            <a:xfrm>
              <a:off x="4538663" y="1325563"/>
              <a:ext cx="201613" cy="447675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30" y="223"/>
                </a:cxn>
                <a:cxn ang="0">
                  <a:pos x="0" y="223"/>
                </a:cxn>
                <a:cxn ang="0">
                  <a:pos x="67" y="282"/>
                </a:cxn>
                <a:cxn ang="0">
                  <a:pos x="127" y="223"/>
                </a:cxn>
                <a:cxn ang="0">
                  <a:pos x="97" y="223"/>
                </a:cxn>
                <a:cxn ang="0">
                  <a:pos x="97" y="0"/>
                </a:cxn>
                <a:cxn ang="0">
                  <a:pos x="30" y="0"/>
                </a:cxn>
              </a:cxnLst>
              <a:rect l="0" t="0" r="r" b="b"/>
              <a:pathLst>
                <a:path w="127" h="282">
                  <a:moveTo>
                    <a:pt x="30" y="0"/>
                  </a:moveTo>
                  <a:lnTo>
                    <a:pt x="30" y="223"/>
                  </a:lnTo>
                  <a:lnTo>
                    <a:pt x="0" y="223"/>
                  </a:lnTo>
                  <a:lnTo>
                    <a:pt x="67" y="282"/>
                  </a:lnTo>
                  <a:lnTo>
                    <a:pt x="127" y="223"/>
                  </a:lnTo>
                  <a:lnTo>
                    <a:pt x="97" y="223"/>
                  </a:lnTo>
                  <a:lnTo>
                    <a:pt x="97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Freeform 41"/>
            <p:cNvSpPr>
              <a:spLocks/>
            </p:cNvSpPr>
            <p:nvPr/>
          </p:nvSpPr>
          <p:spPr bwMode="auto">
            <a:xfrm>
              <a:off x="4232276" y="1254126"/>
              <a:ext cx="354013" cy="354013"/>
            </a:xfrm>
            <a:custGeom>
              <a:avLst/>
              <a:gdLst/>
              <a:ahLst/>
              <a:cxnLst>
                <a:cxn ang="0">
                  <a:pos x="178" y="0"/>
                </a:cxn>
                <a:cxn ang="0">
                  <a:pos x="22" y="156"/>
                </a:cxn>
                <a:cxn ang="0">
                  <a:pos x="0" y="134"/>
                </a:cxn>
                <a:cxn ang="0">
                  <a:pos x="0" y="223"/>
                </a:cxn>
                <a:cxn ang="0">
                  <a:pos x="89" y="223"/>
                </a:cxn>
                <a:cxn ang="0">
                  <a:pos x="67" y="201"/>
                </a:cxn>
                <a:cxn ang="0">
                  <a:pos x="223" y="45"/>
                </a:cxn>
                <a:cxn ang="0">
                  <a:pos x="178" y="0"/>
                </a:cxn>
              </a:cxnLst>
              <a:rect l="0" t="0" r="r" b="b"/>
              <a:pathLst>
                <a:path w="223" h="223">
                  <a:moveTo>
                    <a:pt x="178" y="0"/>
                  </a:moveTo>
                  <a:lnTo>
                    <a:pt x="22" y="156"/>
                  </a:lnTo>
                  <a:lnTo>
                    <a:pt x="0" y="134"/>
                  </a:lnTo>
                  <a:lnTo>
                    <a:pt x="0" y="223"/>
                  </a:lnTo>
                  <a:lnTo>
                    <a:pt x="89" y="223"/>
                  </a:lnTo>
                  <a:lnTo>
                    <a:pt x="67" y="201"/>
                  </a:lnTo>
                  <a:lnTo>
                    <a:pt x="223" y="45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Freeform 42"/>
            <p:cNvSpPr>
              <a:spLocks/>
            </p:cNvSpPr>
            <p:nvPr/>
          </p:nvSpPr>
          <p:spPr bwMode="auto">
            <a:xfrm>
              <a:off x="4232276" y="1254126"/>
              <a:ext cx="354013" cy="354013"/>
            </a:xfrm>
            <a:custGeom>
              <a:avLst/>
              <a:gdLst/>
              <a:ahLst/>
              <a:cxnLst>
                <a:cxn ang="0">
                  <a:pos x="178" y="0"/>
                </a:cxn>
                <a:cxn ang="0">
                  <a:pos x="22" y="156"/>
                </a:cxn>
                <a:cxn ang="0">
                  <a:pos x="0" y="134"/>
                </a:cxn>
                <a:cxn ang="0">
                  <a:pos x="0" y="223"/>
                </a:cxn>
                <a:cxn ang="0">
                  <a:pos x="89" y="223"/>
                </a:cxn>
                <a:cxn ang="0">
                  <a:pos x="67" y="201"/>
                </a:cxn>
                <a:cxn ang="0">
                  <a:pos x="223" y="45"/>
                </a:cxn>
                <a:cxn ang="0">
                  <a:pos x="178" y="0"/>
                </a:cxn>
              </a:cxnLst>
              <a:rect l="0" t="0" r="r" b="b"/>
              <a:pathLst>
                <a:path w="223" h="223">
                  <a:moveTo>
                    <a:pt x="178" y="0"/>
                  </a:moveTo>
                  <a:lnTo>
                    <a:pt x="22" y="156"/>
                  </a:lnTo>
                  <a:lnTo>
                    <a:pt x="0" y="134"/>
                  </a:lnTo>
                  <a:lnTo>
                    <a:pt x="0" y="223"/>
                  </a:lnTo>
                  <a:lnTo>
                    <a:pt x="89" y="223"/>
                  </a:lnTo>
                  <a:lnTo>
                    <a:pt x="67" y="201"/>
                  </a:lnTo>
                  <a:lnTo>
                    <a:pt x="223" y="45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Oval 43"/>
            <p:cNvSpPr>
              <a:spLocks noChangeArrowheads="1"/>
            </p:cNvSpPr>
            <p:nvPr/>
          </p:nvSpPr>
          <p:spPr bwMode="auto">
            <a:xfrm>
              <a:off x="4432301" y="1006476"/>
              <a:ext cx="390525" cy="388938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Oval 44"/>
            <p:cNvSpPr>
              <a:spLocks noChangeArrowheads="1"/>
            </p:cNvSpPr>
            <p:nvPr/>
          </p:nvSpPr>
          <p:spPr bwMode="auto">
            <a:xfrm>
              <a:off x="4456113" y="1030288"/>
              <a:ext cx="390525" cy="388938"/>
            </a:xfrm>
            <a:prstGeom prst="ellipse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Oval 45"/>
            <p:cNvSpPr>
              <a:spLocks noChangeArrowheads="1"/>
            </p:cNvSpPr>
            <p:nvPr/>
          </p:nvSpPr>
          <p:spPr bwMode="auto">
            <a:xfrm>
              <a:off x="4445001" y="1017588"/>
              <a:ext cx="388938" cy="390525"/>
            </a:xfrm>
            <a:prstGeom prst="ellipse">
              <a:avLst/>
            </a:prstGeom>
            <a:solidFill>
              <a:srgbClr val="E5405C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55" name="직선 연결선 54"/>
          <p:cNvCxnSpPr/>
          <p:nvPr/>
        </p:nvCxnSpPr>
        <p:spPr>
          <a:xfrm>
            <a:off x="5032254" y="3646038"/>
            <a:ext cx="13491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7784678" y="1170114"/>
            <a:ext cx="6896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Web#1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7773120" y="2781451"/>
            <a:ext cx="6896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Web#2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7774686" y="4489074"/>
            <a:ext cx="6896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Web#3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7" name="Picture 2" descr="C:\Users\Toshiba\AppData\Local\Microsoft\Windows\Temporary Internet Files\Content.IE5\TBE21NJN\MC900428971[1]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2429" y="1013666"/>
            <a:ext cx="632257" cy="932397"/>
          </a:xfrm>
          <a:prstGeom prst="rect">
            <a:avLst/>
          </a:prstGeom>
          <a:noFill/>
        </p:spPr>
      </p:pic>
      <p:sp>
        <p:nvSpPr>
          <p:cNvPr id="50" name="TextBox 49"/>
          <p:cNvSpPr txBox="1"/>
          <p:nvPr/>
        </p:nvSpPr>
        <p:spPr>
          <a:xfrm>
            <a:off x="4142629" y="4003480"/>
            <a:ext cx="10567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200.1.1.10</a:t>
            </a:r>
            <a:endParaRPr lang="ko-KR" altLang="en-US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6870094" y="670903"/>
            <a:ext cx="12170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192.168.10.10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6825210" y="2139146"/>
            <a:ext cx="12170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192.168.10.20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6912198" y="3803987"/>
            <a:ext cx="12170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192.168.10.30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6896773" y="5421935"/>
            <a:ext cx="12170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192.168.10.40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2" name="그림 5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2699" y="2435163"/>
            <a:ext cx="823518" cy="814053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7798130" y="6060956"/>
            <a:ext cx="6896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Web#4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8" name="표 87"/>
          <p:cNvGraphicFramePr>
            <a:graphicFrameLocks noGrp="1"/>
          </p:cNvGraphicFramePr>
          <p:nvPr>
            <p:extLst/>
          </p:nvPr>
        </p:nvGraphicFramePr>
        <p:xfrm>
          <a:off x="3465085" y="4399002"/>
          <a:ext cx="2722678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48105"/>
                <a:gridCol w="1474573"/>
              </a:tblGrid>
              <a:tr h="27210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200.1.1.10:80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192.168.10.10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27210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192.168.10.20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27210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200.1.1.10:443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192.168.10.30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27210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192.168.10.40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9" name="구름 88"/>
          <p:cNvSpPr/>
          <p:nvPr/>
        </p:nvSpPr>
        <p:spPr>
          <a:xfrm>
            <a:off x="2423794" y="3304885"/>
            <a:ext cx="1194487" cy="785296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TextBox 96"/>
          <p:cNvSpPr txBox="1"/>
          <p:nvPr/>
        </p:nvSpPr>
        <p:spPr>
          <a:xfrm>
            <a:off x="454823" y="2350080"/>
            <a:ext cx="13756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http://200.1.1.10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452361" y="4673481"/>
            <a:ext cx="14462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https://200.1.1.10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Rectangle 55"/>
          <p:cNvSpPr>
            <a:spLocks noChangeArrowheads="1"/>
          </p:cNvSpPr>
          <p:nvPr/>
        </p:nvSpPr>
        <p:spPr bwMode="auto">
          <a:xfrm>
            <a:off x="470697" y="318536"/>
            <a:ext cx="7839805" cy="324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898" indent="-342898" eaLnBrk="0" latinLnBrk="0" hangingPunct="0">
              <a:lnSpc>
                <a:spcPct val="95000"/>
              </a:lnSpc>
              <a:spcBef>
                <a:spcPct val="50000"/>
              </a:spcBef>
              <a:buClr>
                <a:srgbClr val="00B0DF"/>
              </a:buClr>
              <a:tabLst>
                <a:tab pos="1163631" algn="l"/>
              </a:tabLst>
            </a:pPr>
            <a:r>
              <a:rPr lang="en-US" altLang="ko-KR" sz="3323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L4 Switch</a:t>
            </a:r>
            <a:endParaRPr lang="en-US" altLang="ko-KR" sz="2400" b="1" dirty="0">
              <a:solidFill>
                <a:srgbClr val="000000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342898" indent="-342898" eaLnBrk="0" latinLnBrk="0" hangingPunct="0">
              <a:spcBef>
                <a:spcPct val="50000"/>
              </a:spcBef>
              <a:buClr>
                <a:srgbClr val="00B0DF"/>
              </a:buClr>
              <a:tabLst>
                <a:tab pos="1163631" algn="l"/>
              </a:tabLst>
            </a:pPr>
            <a:endParaRPr lang="en-US" altLang="ko-KR" sz="3323" b="1" dirty="0">
              <a:solidFill>
                <a:srgbClr val="000000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grpSp>
        <p:nvGrpSpPr>
          <p:cNvPr id="134" name="그룹 133"/>
          <p:cNvGrpSpPr/>
          <p:nvPr/>
        </p:nvGrpSpPr>
        <p:grpSpPr>
          <a:xfrm>
            <a:off x="604267" y="3937837"/>
            <a:ext cx="851871" cy="740464"/>
            <a:chOff x="809159" y="4814047"/>
            <a:chExt cx="688975" cy="732719"/>
          </a:xfrm>
        </p:grpSpPr>
        <p:sp>
          <p:nvSpPr>
            <p:cNvPr id="135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6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7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8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9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0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1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2" name="Freeform 182"/>
            <p:cNvSpPr>
              <a:spLocks/>
            </p:cNvSpPr>
            <p:nvPr/>
          </p:nvSpPr>
          <p:spPr bwMode="auto">
            <a:xfrm flipH="1">
              <a:off x="995757" y="5270442"/>
              <a:ext cx="184726" cy="276324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3" name="Freeform 183"/>
            <p:cNvSpPr>
              <a:spLocks/>
            </p:cNvSpPr>
            <p:nvPr/>
          </p:nvSpPr>
          <p:spPr bwMode="auto">
            <a:xfrm flipH="1">
              <a:off x="1010110" y="5260375"/>
              <a:ext cx="184726" cy="276324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4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5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6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7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8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9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0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1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2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3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4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5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6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7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8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9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0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1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2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3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4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5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6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7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8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9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0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1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172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185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86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173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4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5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6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7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8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9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0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1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2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3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4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87" name="그룹 186"/>
          <p:cNvGrpSpPr/>
          <p:nvPr/>
        </p:nvGrpSpPr>
        <p:grpSpPr>
          <a:xfrm>
            <a:off x="573476" y="2632083"/>
            <a:ext cx="851871" cy="740464"/>
            <a:chOff x="809159" y="4814047"/>
            <a:chExt cx="688975" cy="732719"/>
          </a:xfrm>
        </p:grpSpPr>
        <p:sp>
          <p:nvSpPr>
            <p:cNvPr id="188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9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0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1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2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3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4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5" name="Freeform 182"/>
            <p:cNvSpPr>
              <a:spLocks/>
            </p:cNvSpPr>
            <p:nvPr/>
          </p:nvSpPr>
          <p:spPr bwMode="auto">
            <a:xfrm flipH="1">
              <a:off x="995757" y="5270442"/>
              <a:ext cx="184726" cy="276324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6" name="Freeform 183"/>
            <p:cNvSpPr>
              <a:spLocks/>
            </p:cNvSpPr>
            <p:nvPr/>
          </p:nvSpPr>
          <p:spPr bwMode="auto">
            <a:xfrm flipH="1">
              <a:off x="1010110" y="5260375"/>
              <a:ext cx="184726" cy="276324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7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8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9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0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1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2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3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4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5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6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7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8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9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0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1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2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3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4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5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6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7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8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9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0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1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2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3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4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225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238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39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226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7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8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9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0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1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2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3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4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5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6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7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3549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4" name="직선 연결선 93"/>
          <p:cNvCxnSpPr/>
          <p:nvPr/>
        </p:nvCxnSpPr>
        <p:spPr>
          <a:xfrm>
            <a:off x="1142672" y="2954044"/>
            <a:ext cx="1719905" cy="66343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/>
          <p:cNvCxnSpPr/>
          <p:nvPr/>
        </p:nvCxnSpPr>
        <p:spPr>
          <a:xfrm flipV="1">
            <a:off x="1240699" y="3790572"/>
            <a:ext cx="1719905" cy="44347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/>
          <p:cNvCxnSpPr/>
          <p:nvPr/>
        </p:nvCxnSpPr>
        <p:spPr>
          <a:xfrm>
            <a:off x="6417176" y="4551061"/>
            <a:ext cx="1099394" cy="1128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/>
          <p:cNvCxnSpPr/>
          <p:nvPr/>
        </p:nvCxnSpPr>
        <p:spPr>
          <a:xfrm>
            <a:off x="6381354" y="2855622"/>
            <a:ext cx="1099394" cy="1128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자유형 52"/>
          <p:cNvSpPr/>
          <p:nvPr/>
        </p:nvSpPr>
        <p:spPr>
          <a:xfrm>
            <a:off x="6381354" y="1327349"/>
            <a:ext cx="1446576" cy="4854222"/>
          </a:xfrm>
          <a:custGeom>
            <a:avLst/>
            <a:gdLst>
              <a:gd name="connsiteX0" fmla="*/ 688622 w 1354666"/>
              <a:gd name="connsiteY0" fmla="*/ 0 h 4854222"/>
              <a:gd name="connsiteX1" fmla="*/ 0 w 1354666"/>
              <a:gd name="connsiteY1" fmla="*/ 0 h 4854222"/>
              <a:gd name="connsiteX2" fmla="*/ 22577 w 1354666"/>
              <a:gd name="connsiteY2" fmla="*/ 4831645 h 4854222"/>
              <a:gd name="connsiteX3" fmla="*/ 982133 w 1354666"/>
              <a:gd name="connsiteY3" fmla="*/ 4831645 h 4854222"/>
              <a:gd name="connsiteX4" fmla="*/ 982133 w 1354666"/>
              <a:gd name="connsiteY4" fmla="*/ 4831645 h 4854222"/>
              <a:gd name="connsiteX5" fmla="*/ 1354666 w 1354666"/>
              <a:gd name="connsiteY5" fmla="*/ 4854222 h 48542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54666" h="4854222">
                <a:moveTo>
                  <a:pt x="688622" y="0"/>
                </a:moveTo>
                <a:lnTo>
                  <a:pt x="0" y="0"/>
                </a:lnTo>
                <a:lnTo>
                  <a:pt x="22577" y="4831645"/>
                </a:lnTo>
                <a:lnTo>
                  <a:pt x="982133" y="4831645"/>
                </a:lnTo>
                <a:lnTo>
                  <a:pt x="982133" y="4831645"/>
                </a:lnTo>
                <a:lnTo>
                  <a:pt x="1354666" y="4854222"/>
                </a:lnTo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1" name="직선 연결선 50"/>
          <p:cNvCxnSpPr/>
          <p:nvPr/>
        </p:nvCxnSpPr>
        <p:spPr>
          <a:xfrm flipV="1">
            <a:off x="3036703" y="3647312"/>
            <a:ext cx="1716388" cy="757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C:\Users\Toshiba\AppData\Local\Microsoft\Windows\Temporary Internet Files\Content.IE5\TBE21NJN\MC900428971[1]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54150" y="2427761"/>
            <a:ext cx="632257" cy="932397"/>
          </a:xfrm>
          <a:prstGeom prst="rect">
            <a:avLst/>
          </a:prstGeom>
          <a:noFill/>
        </p:spPr>
      </p:pic>
      <p:pic>
        <p:nvPicPr>
          <p:cNvPr id="5" name="Picture 2" descr="C:\Users\Toshiba\AppData\Local\Microsoft\Windows\Temporary Internet Files\Content.IE5\TBE21NJN\MC900428971[1]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2429" y="4078865"/>
            <a:ext cx="655701" cy="966970"/>
          </a:xfrm>
          <a:prstGeom prst="rect">
            <a:avLst/>
          </a:prstGeom>
          <a:noFill/>
        </p:spPr>
      </p:pic>
      <p:pic>
        <p:nvPicPr>
          <p:cNvPr id="6" name="Picture 2" descr="C:\Users\Toshiba\AppData\Local\Microsoft\Windows\Temporary Internet Files\Content.IE5\TBE21NJN\MC900428971[1]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88420" y="5651745"/>
            <a:ext cx="639510" cy="943092"/>
          </a:xfrm>
          <a:prstGeom prst="rect">
            <a:avLst/>
          </a:prstGeom>
          <a:noFill/>
        </p:spPr>
      </p:pic>
      <p:grpSp>
        <p:nvGrpSpPr>
          <p:cNvPr id="7" name="그룹 79"/>
          <p:cNvGrpSpPr/>
          <p:nvPr/>
        </p:nvGrpSpPr>
        <p:grpSpPr>
          <a:xfrm>
            <a:off x="4230186" y="3250514"/>
            <a:ext cx="802068" cy="791047"/>
            <a:chOff x="3995738" y="404813"/>
            <a:chExt cx="1476375" cy="1450975"/>
          </a:xfrm>
        </p:grpSpPr>
        <p:sp>
          <p:nvSpPr>
            <p:cNvPr id="8" name="AutoShape 3"/>
            <p:cNvSpPr>
              <a:spLocks noChangeAspect="1" noChangeArrowheads="1" noTextEdit="1"/>
            </p:cNvSpPr>
            <p:nvPr/>
          </p:nvSpPr>
          <p:spPr bwMode="auto">
            <a:xfrm>
              <a:off x="3995738" y="404813"/>
              <a:ext cx="1476375" cy="1450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 5"/>
            <p:cNvSpPr>
              <a:spLocks noChangeArrowheads="1"/>
            </p:cNvSpPr>
            <p:nvPr/>
          </p:nvSpPr>
          <p:spPr bwMode="auto">
            <a:xfrm>
              <a:off x="3995738" y="558801"/>
              <a:ext cx="1298575" cy="1285875"/>
            </a:xfrm>
            <a:prstGeom prst="rect">
              <a:avLst/>
            </a:prstGeom>
            <a:solidFill>
              <a:srgbClr val="0096D5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Rectangle 6"/>
            <p:cNvSpPr>
              <a:spLocks noChangeArrowheads="1"/>
            </p:cNvSpPr>
            <p:nvPr/>
          </p:nvSpPr>
          <p:spPr bwMode="auto">
            <a:xfrm>
              <a:off x="4000501" y="563563"/>
              <a:ext cx="1289050" cy="127635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1113">
              <a:solidFill>
                <a:schemeClr val="tx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Freeform 7"/>
            <p:cNvSpPr>
              <a:spLocks/>
            </p:cNvSpPr>
            <p:nvPr/>
          </p:nvSpPr>
          <p:spPr bwMode="auto">
            <a:xfrm>
              <a:off x="3995738" y="404813"/>
              <a:ext cx="1465263" cy="153988"/>
            </a:xfrm>
            <a:custGeom>
              <a:avLst/>
              <a:gdLst/>
              <a:ahLst/>
              <a:cxnLst>
                <a:cxn ang="0">
                  <a:pos x="0" y="97"/>
                </a:cxn>
                <a:cxn ang="0">
                  <a:pos x="104" y="0"/>
                </a:cxn>
                <a:cxn ang="0">
                  <a:pos x="923" y="0"/>
                </a:cxn>
                <a:cxn ang="0">
                  <a:pos x="818" y="97"/>
                </a:cxn>
                <a:cxn ang="0">
                  <a:pos x="0" y="97"/>
                </a:cxn>
              </a:cxnLst>
              <a:rect l="0" t="0" r="r" b="b"/>
              <a:pathLst>
                <a:path w="923" h="97">
                  <a:moveTo>
                    <a:pt x="0" y="97"/>
                  </a:moveTo>
                  <a:lnTo>
                    <a:pt x="104" y="0"/>
                  </a:lnTo>
                  <a:lnTo>
                    <a:pt x="923" y="0"/>
                  </a:lnTo>
                  <a:lnTo>
                    <a:pt x="818" y="97"/>
                  </a:lnTo>
                  <a:lnTo>
                    <a:pt x="0" y="97"/>
                  </a:lnTo>
                  <a:close/>
                </a:path>
              </a:pathLst>
            </a:custGeom>
            <a:solidFill>
              <a:srgbClr val="00B4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Freeform 8"/>
            <p:cNvSpPr>
              <a:spLocks/>
            </p:cNvSpPr>
            <p:nvPr/>
          </p:nvSpPr>
          <p:spPr bwMode="auto">
            <a:xfrm>
              <a:off x="3995738" y="404813"/>
              <a:ext cx="1465263" cy="153988"/>
            </a:xfrm>
            <a:custGeom>
              <a:avLst/>
              <a:gdLst/>
              <a:ahLst/>
              <a:cxnLst>
                <a:cxn ang="0">
                  <a:pos x="0" y="97"/>
                </a:cxn>
                <a:cxn ang="0">
                  <a:pos x="104" y="0"/>
                </a:cxn>
                <a:cxn ang="0">
                  <a:pos x="923" y="0"/>
                </a:cxn>
                <a:cxn ang="0">
                  <a:pos x="818" y="97"/>
                </a:cxn>
                <a:cxn ang="0">
                  <a:pos x="0" y="97"/>
                </a:cxn>
              </a:cxnLst>
              <a:rect l="0" t="0" r="r" b="b"/>
              <a:pathLst>
                <a:path w="923" h="97">
                  <a:moveTo>
                    <a:pt x="0" y="97"/>
                  </a:moveTo>
                  <a:lnTo>
                    <a:pt x="104" y="0"/>
                  </a:lnTo>
                  <a:lnTo>
                    <a:pt x="923" y="0"/>
                  </a:lnTo>
                  <a:lnTo>
                    <a:pt x="818" y="97"/>
                  </a:lnTo>
                  <a:lnTo>
                    <a:pt x="0" y="97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11113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Freeform 9"/>
            <p:cNvSpPr>
              <a:spLocks/>
            </p:cNvSpPr>
            <p:nvPr/>
          </p:nvSpPr>
          <p:spPr bwMode="auto">
            <a:xfrm>
              <a:off x="5294313" y="404813"/>
              <a:ext cx="166688" cy="1427163"/>
            </a:xfrm>
            <a:custGeom>
              <a:avLst/>
              <a:gdLst/>
              <a:ahLst/>
              <a:cxnLst>
                <a:cxn ang="0">
                  <a:pos x="0" y="97"/>
                </a:cxn>
                <a:cxn ang="0">
                  <a:pos x="105" y="0"/>
                </a:cxn>
                <a:cxn ang="0">
                  <a:pos x="105" y="803"/>
                </a:cxn>
                <a:cxn ang="0">
                  <a:pos x="0" y="899"/>
                </a:cxn>
                <a:cxn ang="0">
                  <a:pos x="0" y="97"/>
                </a:cxn>
              </a:cxnLst>
              <a:rect l="0" t="0" r="r" b="b"/>
              <a:pathLst>
                <a:path w="105" h="899">
                  <a:moveTo>
                    <a:pt x="0" y="97"/>
                  </a:moveTo>
                  <a:lnTo>
                    <a:pt x="105" y="0"/>
                  </a:lnTo>
                  <a:lnTo>
                    <a:pt x="105" y="803"/>
                  </a:lnTo>
                  <a:lnTo>
                    <a:pt x="0" y="899"/>
                  </a:lnTo>
                  <a:lnTo>
                    <a:pt x="0" y="97"/>
                  </a:lnTo>
                  <a:close/>
                </a:path>
              </a:pathLst>
            </a:custGeom>
            <a:solidFill>
              <a:srgbClr val="005A8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Freeform 10"/>
            <p:cNvSpPr>
              <a:spLocks/>
            </p:cNvSpPr>
            <p:nvPr/>
          </p:nvSpPr>
          <p:spPr bwMode="auto">
            <a:xfrm>
              <a:off x="5294313" y="404813"/>
              <a:ext cx="166688" cy="1427163"/>
            </a:xfrm>
            <a:custGeom>
              <a:avLst/>
              <a:gdLst/>
              <a:ahLst/>
              <a:cxnLst>
                <a:cxn ang="0">
                  <a:pos x="0" y="97"/>
                </a:cxn>
                <a:cxn ang="0">
                  <a:pos x="105" y="0"/>
                </a:cxn>
                <a:cxn ang="0">
                  <a:pos x="105" y="803"/>
                </a:cxn>
                <a:cxn ang="0">
                  <a:pos x="0" y="899"/>
                </a:cxn>
                <a:cxn ang="0">
                  <a:pos x="0" y="97"/>
                </a:cxn>
              </a:cxnLst>
              <a:rect l="0" t="0" r="r" b="b"/>
              <a:pathLst>
                <a:path w="105" h="899">
                  <a:moveTo>
                    <a:pt x="0" y="97"/>
                  </a:moveTo>
                  <a:lnTo>
                    <a:pt x="105" y="0"/>
                  </a:lnTo>
                  <a:lnTo>
                    <a:pt x="105" y="803"/>
                  </a:lnTo>
                  <a:lnTo>
                    <a:pt x="0" y="899"/>
                  </a:lnTo>
                  <a:lnTo>
                    <a:pt x="0" y="97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1113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Freeform 11"/>
            <p:cNvSpPr>
              <a:spLocks/>
            </p:cNvSpPr>
            <p:nvPr/>
          </p:nvSpPr>
          <p:spPr bwMode="auto">
            <a:xfrm>
              <a:off x="4054476" y="1089026"/>
              <a:ext cx="449263" cy="200025"/>
            </a:xfrm>
            <a:custGeom>
              <a:avLst/>
              <a:gdLst/>
              <a:ahLst/>
              <a:cxnLst>
                <a:cxn ang="0">
                  <a:pos x="283" y="30"/>
                </a:cxn>
                <a:cxn ang="0">
                  <a:pos x="67" y="30"/>
                </a:cxn>
                <a:cxn ang="0">
                  <a:pos x="67" y="0"/>
                </a:cxn>
                <a:cxn ang="0">
                  <a:pos x="0" y="59"/>
                </a:cxn>
                <a:cxn ang="0">
                  <a:pos x="67" y="126"/>
                </a:cxn>
                <a:cxn ang="0">
                  <a:pos x="67" y="97"/>
                </a:cxn>
                <a:cxn ang="0">
                  <a:pos x="283" y="97"/>
                </a:cxn>
                <a:cxn ang="0">
                  <a:pos x="283" y="30"/>
                </a:cxn>
              </a:cxnLst>
              <a:rect l="0" t="0" r="r" b="b"/>
              <a:pathLst>
                <a:path w="283" h="126">
                  <a:moveTo>
                    <a:pt x="283" y="30"/>
                  </a:moveTo>
                  <a:lnTo>
                    <a:pt x="67" y="30"/>
                  </a:lnTo>
                  <a:lnTo>
                    <a:pt x="67" y="0"/>
                  </a:lnTo>
                  <a:lnTo>
                    <a:pt x="0" y="59"/>
                  </a:lnTo>
                  <a:lnTo>
                    <a:pt x="67" y="126"/>
                  </a:lnTo>
                  <a:lnTo>
                    <a:pt x="67" y="97"/>
                  </a:lnTo>
                  <a:lnTo>
                    <a:pt x="283" y="97"/>
                  </a:lnTo>
                  <a:lnTo>
                    <a:pt x="283" y="3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Freeform 12"/>
            <p:cNvSpPr>
              <a:spLocks/>
            </p:cNvSpPr>
            <p:nvPr/>
          </p:nvSpPr>
          <p:spPr bwMode="auto">
            <a:xfrm>
              <a:off x="4054476" y="1089026"/>
              <a:ext cx="449263" cy="200025"/>
            </a:xfrm>
            <a:custGeom>
              <a:avLst/>
              <a:gdLst/>
              <a:ahLst/>
              <a:cxnLst>
                <a:cxn ang="0">
                  <a:pos x="283" y="30"/>
                </a:cxn>
                <a:cxn ang="0">
                  <a:pos x="67" y="30"/>
                </a:cxn>
                <a:cxn ang="0">
                  <a:pos x="67" y="0"/>
                </a:cxn>
                <a:cxn ang="0">
                  <a:pos x="0" y="59"/>
                </a:cxn>
                <a:cxn ang="0">
                  <a:pos x="67" y="126"/>
                </a:cxn>
                <a:cxn ang="0">
                  <a:pos x="67" y="97"/>
                </a:cxn>
                <a:cxn ang="0">
                  <a:pos x="283" y="97"/>
                </a:cxn>
                <a:cxn ang="0">
                  <a:pos x="283" y="30"/>
                </a:cxn>
              </a:cxnLst>
              <a:rect l="0" t="0" r="r" b="b"/>
              <a:pathLst>
                <a:path w="283" h="126">
                  <a:moveTo>
                    <a:pt x="283" y="30"/>
                  </a:moveTo>
                  <a:lnTo>
                    <a:pt x="67" y="30"/>
                  </a:lnTo>
                  <a:lnTo>
                    <a:pt x="67" y="0"/>
                  </a:lnTo>
                  <a:lnTo>
                    <a:pt x="0" y="59"/>
                  </a:lnTo>
                  <a:lnTo>
                    <a:pt x="67" y="126"/>
                  </a:lnTo>
                  <a:lnTo>
                    <a:pt x="67" y="97"/>
                  </a:lnTo>
                  <a:lnTo>
                    <a:pt x="283" y="97"/>
                  </a:lnTo>
                  <a:lnTo>
                    <a:pt x="283" y="3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Freeform 13"/>
            <p:cNvSpPr>
              <a:spLocks/>
            </p:cNvSpPr>
            <p:nvPr/>
          </p:nvSpPr>
          <p:spPr bwMode="auto">
            <a:xfrm>
              <a:off x="4219576" y="782638"/>
              <a:ext cx="355600" cy="354013"/>
            </a:xfrm>
            <a:custGeom>
              <a:avLst/>
              <a:gdLst/>
              <a:ahLst/>
              <a:cxnLst>
                <a:cxn ang="0">
                  <a:pos x="224" y="178"/>
                </a:cxn>
                <a:cxn ang="0">
                  <a:pos x="67" y="22"/>
                </a:cxn>
                <a:cxn ang="0">
                  <a:pos x="90" y="0"/>
                </a:cxn>
                <a:cxn ang="0">
                  <a:pos x="0" y="0"/>
                </a:cxn>
                <a:cxn ang="0">
                  <a:pos x="0" y="89"/>
                </a:cxn>
                <a:cxn ang="0">
                  <a:pos x="23" y="67"/>
                </a:cxn>
                <a:cxn ang="0">
                  <a:pos x="179" y="223"/>
                </a:cxn>
                <a:cxn ang="0">
                  <a:pos x="224" y="178"/>
                </a:cxn>
              </a:cxnLst>
              <a:rect l="0" t="0" r="r" b="b"/>
              <a:pathLst>
                <a:path w="224" h="223">
                  <a:moveTo>
                    <a:pt x="224" y="178"/>
                  </a:moveTo>
                  <a:lnTo>
                    <a:pt x="67" y="22"/>
                  </a:lnTo>
                  <a:lnTo>
                    <a:pt x="90" y="0"/>
                  </a:lnTo>
                  <a:lnTo>
                    <a:pt x="0" y="0"/>
                  </a:lnTo>
                  <a:lnTo>
                    <a:pt x="0" y="89"/>
                  </a:lnTo>
                  <a:lnTo>
                    <a:pt x="23" y="67"/>
                  </a:lnTo>
                  <a:lnTo>
                    <a:pt x="179" y="223"/>
                  </a:lnTo>
                  <a:lnTo>
                    <a:pt x="224" y="17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Freeform 14"/>
            <p:cNvSpPr>
              <a:spLocks/>
            </p:cNvSpPr>
            <p:nvPr/>
          </p:nvSpPr>
          <p:spPr bwMode="auto">
            <a:xfrm>
              <a:off x="4219576" y="782638"/>
              <a:ext cx="355600" cy="354013"/>
            </a:xfrm>
            <a:custGeom>
              <a:avLst/>
              <a:gdLst/>
              <a:ahLst/>
              <a:cxnLst>
                <a:cxn ang="0">
                  <a:pos x="224" y="178"/>
                </a:cxn>
                <a:cxn ang="0">
                  <a:pos x="67" y="22"/>
                </a:cxn>
                <a:cxn ang="0">
                  <a:pos x="90" y="0"/>
                </a:cxn>
                <a:cxn ang="0">
                  <a:pos x="0" y="0"/>
                </a:cxn>
                <a:cxn ang="0">
                  <a:pos x="0" y="89"/>
                </a:cxn>
                <a:cxn ang="0">
                  <a:pos x="23" y="67"/>
                </a:cxn>
                <a:cxn ang="0">
                  <a:pos x="179" y="223"/>
                </a:cxn>
                <a:cxn ang="0">
                  <a:pos x="224" y="178"/>
                </a:cxn>
              </a:cxnLst>
              <a:rect l="0" t="0" r="r" b="b"/>
              <a:pathLst>
                <a:path w="224" h="223">
                  <a:moveTo>
                    <a:pt x="224" y="178"/>
                  </a:moveTo>
                  <a:lnTo>
                    <a:pt x="67" y="22"/>
                  </a:lnTo>
                  <a:lnTo>
                    <a:pt x="90" y="0"/>
                  </a:lnTo>
                  <a:lnTo>
                    <a:pt x="0" y="0"/>
                  </a:lnTo>
                  <a:lnTo>
                    <a:pt x="0" y="89"/>
                  </a:lnTo>
                  <a:lnTo>
                    <a:pt x="23" y="67"/>
                  </a:lnTo>
                  <a:lnTo>
                    <a:pt x="179" y="223"/>
                  </a:lnTo>
                  <a:lnTo>
                    <a:pt x="224" y="17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Freeform 15"/>
            <p:cNvSpPr>
              <a:spLocks/>
            </p:cNvSpPr>
            <p:nvPr/>
          </p:nvSpPr>
          <p:spPr bwMode="auto">
            <a:xfrm>
              <a:off x="4527551" y="617538"/>
              <a:ext cx="200025" cy="447675"/>
            </a:xfrm>
            <a:custGeom>
              <a:avLst/>
              <a:gdLst/>
              <a:ahLst/>
              <a:cxnLst>
                <a:cxn ang="0">
                  <a:pos x="97" y="282"/>
                </a:cxn>
                <a:cxn ang="0">
                  <a:pos x="97" y="59"/>
                </a:cxn>
                <a:cxn ang="0">
                  <a:pos x="126" y="59"/>
                </a:cxn>
                <a:cxn ang="0">
                  <a:pos x="67" y="0"/>
                </a:cxn>
                <a:cxn ang="0">
                  <a:pos x="0" y="59"/>
                </a:cxn>
                <a:cxn ang="0">
                  <a:pos x="30" y="59"/>
                </a:cxn>
                <a:cxn ang="0">
                  <a:pos x="30" y="282"/>
                </a:cxn>
                <a:cxn ang="0">
                  <a:pos x="97" y="282"/>
                </a:cxn>
              </a:cxnLst>
              <a:rect l="0" t="0" r="r" b="b"/>
              <a:pathLst>
                <a:path w="126" h="282">
                  <a:moveTo>
                    <a:pt x="97" y="282"/>
                  </a:moveTo>
                  <a:lnTo>
                    <a:pt x="97" y="59"/>
                  </a:lnTo>
                  <a:lnTo>
                    <a:pt x="126" y="59"/>
                  </a:lnTo>
                  <a:lnTo>
                    <a:pt x="67" y="0"/>
                  </a:lnTo>
                  <a:lnTo>
                    <a:pt x="0" y="59"/>
                  </a:lnTo>
                  <a:lnTo>
                    <a:pt x="30" y="59"/>
                  </a:lnTo>
                  <a:lnTo>
                    <a:pt x="30" y="282"/>
                  </a:lnTo>
                  <a:lnTo>
                    <a:pt x="97" y="28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Freeform 16"/>
            <p:cNvSpPr>
              <a:spLocks/>
            </p:cNvSpPr>
            <p:nvPr/>
          </p:nvSpPr>
          <p:spPr bwMode="auto">
            <a:xfrm>
              <a:off x="4527551" y="617538"/>
              <a:ext cx="200025" cy="447675"/>
            </a:xfrm>
            <a:custGeom>
              <a:avLst/>
              <a:gdLst/>
              <a:ahLst/>
              <a:cxnLst>
                <a:cxn ang="0">
                  <a:pos x="97" y="282"/>
                </a:cxn>
                <a:cxn ang="0">
                  <a:pos x="97" y="59"/>
                </a:cxn>
                <a:cxn ang="0">
                  <a:pos x="126" y="59"/>
                </a:cxn>
                <a:cxn ang="0">
                  <a:pos x="67" y="0"/>
                </a:cxn>
                <a:cxn ang="0">
                  <a:pos x="0" y="59"/>
                </a:cxn>
                <a:cxn ang="0">
                  <a:pos x="30" y="59"/>
                </a:cxn>
                <a:cxn ang="0">
                  <a:pos x="30" y="282"/>
                </a:cxn>
                <a:cxn ang="0">
                  <a:pos x="97" y="282"/>
                </a:cxn>
              </a:cxnLst>
              <a:rect l="0" t="0" r="r" b="b"/>
              <a:pathLst>
                <a:path w="126" h="282">
                  <a:moveTo>
                    <a:pt x="97" y="282"/>
                  </a:moveTo>
                  <a:lnTo>
                    <a:pt x="97" y="59"/>
                  </a:lnTo>
                  <a:lnTo>
                    <a:pt x="126" y="59"/>
                  </a:lnTo>
                  <a:lnTo>
                    <a:pt x="67" y="0"/>
                  </a:lnTo>
                  <a:lnTo>
                    <a:pt x="0" y="59"/>
                  </a:lnTo>
                  <a:lnTo>
                    <a:pt x="30" y="59"/>
                  </a:lnTo>
                  <a:lnTo>
                    <a:pt x="30" y="282"/>
                  </a:lnTo>
                  <a:lnTo>
                    <a:pt x="97" y="28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Freeform 17"/>
            <p:cNvSpPr>
              <a:spLocks/>
            </p:cNvSpPr>
            <p:nvPr/>
          </p:nvSpPr>
          <p:spPr bwMode="auto">
            <a:xfrm>
              <a:off x="4681538" y="782638"/>
              <a:ext cx="354013" cy="354013"/>
            </a:xfrm>
            <a:custGeom>
              <a:avLst/>
              <a:gdLst/>
              <a:ahLst/>
              <a:cxnLst>
                <a:cxn ang="0">
                  <a:pos x="44" y="223"/>
                </a:cxn>
                <a:cxn ang="0">
                  <a:pos x="200" y="67"/>
                </a:cxn>
                <a:cxn ang="0">
                  <a:pos x="223" y="89"/>
                </a:cxn>
                <a:cxn ang="0">
                  <a:pos x="223" y="0"/>
                </a:cxn>
                <a:cxn ang="0">
                  <a:pos x="133" y="0"/>
                </a:cxn>
                <a:cxn ang="0">
                  <a:pos x="156" y="22"/>
                </a:cxn>
                <a:cxn ang="0">
                  <a:pos x="0" y="178"/>
                </a:cxn>
                <a:cxn ang="0">
                  <a:pos x="44" y="223"/>
                </a:cxn>
              </a:cxnLst>
              <a:rect l="0" t="0" r="r" b="b"/>
              <a:pathLst>
                <a:path w="223" h="223">
                  <a:moveTo>
                    <a:pt x="44" y="223"/>
                  </a:moveTo>
                  <a:lnTo>
                    <a:pt x="200" y="67"/>
                  </a:lnTo>
                  <a:lnTo>
                    <a:pt x="223" y="89"/>
                  </a:lnTo>
                  <a:lnTo>
                    <a:pt x="223" y="0"/>
                  </a:lnTo>
                  <a:lnTo>
                    <a:pt x="133" y="0"/>
                  </a:lnTo>
                  <a:lnTo>
                    <a:pt x="156" y="22"/>
                  </a:lnTo>
                  <a:lnTo>
                    <a:pt x="0" y="178"/>
                  </a:lnTo>
                  <a:lnTo>
                    <a:pt x="44" y="22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Freeform 18"/>
            <p:cNvSpPr>
              <a:spLocks/>
            </p:cNvSpPr>
            <p:nvPr/>
          </p:nvSpPr>
          <p:spPr bwMode="auto">
            <a:xfrm>
              <a:off x="4681538" y="782638"/>
              <a:ext cx="354013" cy="354013"/>
            </a:xfrm>
            <a:custGeom>
              <a:avLst/>
              <a:gdLst/>
              <a:ahLst/>
              <a:cxnLst>
                <a:cxn ang="0">
                  <a:pos x="44" y="223"/>
                </a:cxn>
                <a:cxn ang="0">
                  <a:pos x="200" y="67"/>
                </a:cxn>
                <a:cxn ang="0">
                  <a:pos x="223" y="89"/>
                </a:cxn>
                <a:cxn ang="0">
                  <a:pos x="223" y="0"/>
                </a:cxn>
                <a:cxn ang="0">
                  <a:pos x="133" y="0"/>
                </a:cxn>
                <a:cxn ang="0">
                  <a:pos x="156" y="22"/>
                </a:cxn>
                <a:cxn ang="0">
                  <a:pos x="0" y="178"/>
                </a:cxn>
                <a:cxn ang="0">
                  <a:pos x="44" y="223"/>
                </a:cxn>
              </a:cxnLst>
              <a:rect l="0" t="0" r="r" b="b"/>
              <a:pathLst>
                <a:path w="223" h="223">
                  <a:moveTo>
                    <a:pt x="44" y="223"/>
                  </a:moveTo>
                  <a:lnTo>
                    <a:pt x="200" y="67"/>
                  </a:lnTo>
                  <a:lnTo>
                    <a:pt x="223" y="89"/>
                  </a:lnTo>
                  <a:lnTo>
                    <a:pt x="223" y="0"/>
                  </a:lnTo>
                  <a:lnTo>
                    <a:pt x="133" y="0"/>
                  </a:lnTo>
                  <a:lnTo>
                    <a:pt x="156" y="22"/>
                  </a:lnTo>
                  <a:lnTo>
                    <a:pt x="0" y="178"/>
                  </a:lnTo>
                  <a:lnTo>
                    <a:pt x="44" y="22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Freeform 19"/>
            <p:cNvSpPr>
              <a:spLocks/>
            </p:cNvSpPr>
            <p:nvPr/>
          </p:nvSpPr>
          <p:spPr bwMode="auto">
            <a:xfrm>
              <a:off x="4751388" y="1089026"/>
              <a:ext cx="449263" cy="200025"/>
            </a:xfrm>
            <a:custGeom>
              <a:avLst/>
              <a:gdLst/>
              <a:ahLst/>
              <a:cxnLst>
                <a:cxn ang="0">
                  <a:pos x="0" y="97"/>
                </a:cxn>
                <a:cxn ang="0">
                  <a:pos x="223" y="97"/>
                </a:cxn>
                <a:cxn ang="0">
                  <a:pos x="223" y="126"/>
                </a:cxn>
                <a:cxn ang="0">
                  <a:pos x="283" y="59"/>
                </a:cxn>
                <a:cxn ang="0">
                  <a:pos x="223" y="0"/>
                </a:cxn>
                <a:cxn ang="0">
                  <a:pos x="223" y="30"/>
                </a:cxn>
                <a:cxn ang="0">
                  <a:pos x="0" y="30"/>
                </a:cxn>
                <a:cxn ang="0">
                  <a:pos x="0" y="97"/>
                </a:cxn>
              </a:cxnLst>
              <a:rect l="0" t="0" r="r" b="b"/>
              <a:pathLst>
                <a:path w="283" h="126">
                  <a:moveTo>
                    <a:pt x="0" y="97"/>
                  </a:moveTo>
                  <a:lnTo>
                    <a:pt x="223" y="97"/>
                  </a:lnTo>
                  <a:lnTo>
                    <a:pt x="223" y="126"/>
                  </a:lnTo>
                  <a:lnTo>
                    <a:pt x="283" y="59"/>
                  </a:lnTo>
                  <a:lnTo>
                    <a:pt x="223" y="0"/>
                  </a:lnTo>
                  <a:lnTo>
                    <a:pt x="223" y="30"/>
                  </a:lnTo>
                  <a:lnTo>
                    <a:pt x="0" y="30"/>
                  </a:lnTo>
                  <a:lnTo>
                    <a:pt x="0" y="9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Freeform 20"/>
            <p:cNvSpPr>
              <a:spLocks/>
            </p:cNvSpPr>
            <p:nvPr/>
          </p:nvSpPr>
          <p:spPr bwMode="auto">
            <a:xfrm>
              <a:off x="4751388" y="1089026"/>
              <a:ext cx="449263" cy="200025"/>
            </a:xfrm>
            <a:custGeom>
              <a:avLst/>
              <a:gdLst/>
              <a:ahLst/>
              <a:cxnLst>
                <a:cxn ang="0">
                  <a:pos x="0" y="97"/>
                </a:cxn>
                <a:cxn ang="0">
                  <a:pos x="223" y="97"/>
                </a:cxn>
                <a:cxn ang="0">
                  <a:pos x="223" y="126"/>
                </a:cxn>
                <a:cxn ang="0">
                  <a:pos x="283" y="59"/>
                </a:cxn>
                <a:cxn ang="0">
                  <a:pos x="223" y="0"/>
                </a:cxn>
                <a:cxn ang="0">
                  <a:pos x="223" y="30"/>
                </a:cxn>
                <a:cxn ang="0">
                  <a:pos x="0" y="30"/>
                </a:cxn>
                <a:cxn ang="0">
                  <a:pos x="0" y="97"/>
                </a:cxn>
              </a:cxnLst>
              <a:rect l="0" t="0" r="r" b="b"/>
              <a:pathLst>
                <a:path w="283" h="126">
                  <a:moveTo>
                    <a:pt x="0" y="97"/>
                  </a:moveTo>
                  <a:lnTo>
                    <a:pt x="223" y="97"/>
                  </a:lnTo>
                  <a:lnTo>
                    <a:pt x="223" y="126"/>
                  </a:lnTo>
                  <a:lnTo>
                    <a:pt x="283" y="59"/>
                  </a:lnTo>
                  <a:lnTo>
                    <a:pt x="223" y="0"/>
                  </a:lnTo>
                  <a:lnTo>
                    <a:pt x="223" y="30"/>
                  </a:lnTo>
                  <a:lnTo>
                    <a:pt x="0" y="30"/>
                  </a:lnTo>
                  <a:lnTo>
                    <a:pt x="0" y="9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Freeform 21"/>
            <p:cNvSpPr>
              <a:spLocks/>
            </p:cNvSpPr>
            <p:nvPr/>
          </p:nvSpPr>
          <p:spPr bwMode="auto">
            <a:xfrm>
              <a:off x="4681538" y="1243013"/>
              <a:ext cx="354013" cy="354013"/>
            </a:xfrm>
            <a:custGeom>
              <a:avLst/>
              <a:gdLst/>
              <a:ahLst/>
              <a:cxnLst>
                <a:cxn ang="0">
                  <a:pos x="0" y="44"/>
                </a:cxn>
                <a:cxn ang="0">
                  <a:pos x="156" y="200"/>
                </a:cxn>
                <a:cxn ang="0">
                  <a:pos x="133" y="223"/>
                </a:cxn>
                <a:cxn ang="0">
                  <a:pos x="223" y="215"/>
                </a:cxn>
                <a:cxn ang="0">
                  <a:pos x="223" y="133"/>
                </a:cxn>
                <a:cxn ang="0">
                  <a:pos x="200" y="156"/>
                </a:cxn>
                <a:cxn ang="0">
                  <a:pos x="44" y="0"/>
                </a:cxn>
                <a:cxn ang="0">
                  <a:pos x="0" y="44"/>
                </a:cxn>
              </a:cxnLst>
              <a:rect l="0" t="0" r="r" b="b"/>
              <a:pathLst>
                <a:path w="223" h="223">
                  <a:moveTo>
                    <a:pt x="0" y="44"/>
                  </a:moveTo>
                  <a:lnTo>
                    <a:pt x="156" y="200"/>
                  </a:lnTo>
                  <a:lnTo>
                    <a:pt x="133" y="223"/>
                  </a:lnTo>
                  <a:lnTo>
                    <a:pt x="223" y="215"/>
                  </a:lnTo>
                  <a:lnTo>
                    <a:pt x="223" y="133"/>
                  </a:lnTo>
                  <a:lnTo>
                    <a:pt x="200" y="156"/>
                  </a:lnTo>
                  <a:lnTo>
                    <a:pt x="44" y="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Freeform 22"/>
            <p:cNvSpPr>
              <a:spLocks/>
            </p:cNvSpPr>
            <p:nvPr/>
          </p:nvSpPr>
          <p:spPr bwMode="auto">
            <a:xfrm>
              <a:off x="4681538" y="1243013"/>
              <a:ext cx="354013" cy="354013"/>
            </a:xfrm>
            <a:custGeom>
              <a:avLst/>
              <a:gdLst/>
              <a:ahLst/>
              <a:cxnLst>
                <a:cxn ang="0">
                  <a:pos x="0" y="44"/>
                </a:cxn>
                <a:cxn ang="0">
                  <a:pos x="156" y="200"/>
                </a:cxn>
                <a:cxn ang="0">
                  <a:pos x="133" y="223"/>
                </a:cxn>
                <a:cxn ang="0">
                  <a:pos x="223" y="215"/>
                </a:cxn>
                <a:cxn ang="0">
                  <a:pos x="223" y="133"/>
                </a:cxn>
                <a:cxn ang="0">
                  <a:pos x="200" y="156"/>
                </a:cxn>
                <a:cxn ang="0">
                  <a:pos x="44" y="0"/>
                </a:cxn>
                <a:cxn ang="0">
                  <a:pos x="0" y="44"/>
                </a:cxn>
              </a:cxnLst>
              <a:rect l="0" t="0" r="r" b="b"/>
              <a:pathLst>
                <a:path w="223" h="223">
                  <a:moveTo>
                    <a:pt x="0" y="44"/>
                  </a:moveTo>
                  <a:lnTo>
                    <a:pt x="156" y="200"/>
                  </a:lnTo>
                  <a:lnTo>
                    <a:pt x="133" y="223"/>
                  </a:lnTo>
                  <a:lnTo>
                    <a:pt x="223" y="215"/>
                  </a:lnTo>
                  <a:lnTo>
                    <a:pt x="223" y="133"/>
                  </a:lnTo>
                  <a:lnTo>
                    <a:pt x="200" y="156"/>
                  </a:lnTo>
                  <a:lnTo>
                    <a:pt x="44" y="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Freeform 23"/>
            <p:cNvSpPr>
              <a:spLocks/>
            </p:cNvSpPr>
            <p:nvPr/>
          </p:nvSpPr>
          <p:spPr bwMode="auto">
            <a:xfrm>
              <a:off x="4527551" y="1312863"/>
              <a:ext cx="200025" cy="449263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30" y="223"/>
                </a:cxn>
                <a:cxn ang="0">
                  <a:pos x="0" y="223"/>
                </a:cxn>
                <a:cxn ang="0">
                  <a:pos x="67" y="283"/>
                </a:cxn>
                <a:cxn ang="0">
                  <a:pos x="126" y="223"/>
                </a:cxn>
                <a:cxn ang="0">
                  <a:pos x="97" y="223"/>
                </a:cxn>
                <a:cxn ang="0">
                  <a:pos x="97" y="0"/>
                </a:cxn>
                <a:cxn ang="0">
                  <a:pos x="30" y="0"/>
                </a:cxn>
              </a:cxnLst>
              <a:rect l="0" t="0" r="r" b="b"/>
              <a:pathLst>
                <a:path w="126" h="283">
                  <a:moveTo>
                    <a:pt x="30" y="0"/>
                  </a:moveTo>
                  <a:lnTo>
                    <a:pt x="30" y="223"/>
                  </a:lnTo>
                  <a:lnTo>
                    <a:pt x="0" y="223"/>
                  </a:lnTo>
                  <a:lnTo>
                    <a:pt x="67" y="283"/>
                  </a:lnTo>
                  <a:lnTo>
                    <a:pt x="126" y="223"/>
                  </a:lnTo>
                  <a:lnTo>
                    <a:pt x="97" y="223"/>
                  </a:lnTo>
                  <a:lnTo>
                    <a:pt x="97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Freeform 24"/>
            <p:cNvSpPr>
              <a:spLocks/>
            </p:cNvSpPr>
            <p:nvPr/>
          </p:nvSpPr>
          <p:spPr bwMode="auto">
            <a:xfrm>
              <a:off x="4527551" y="1312863"/>
              <a:ext cx="200025" cy="449263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30" y="223"/>
                </a:cxn>
                <a:cxn ang="0">
                  <a:pos x="0" y="223"/>
                </a:cxn>
                <a:cxn ang="0">
                  <a:pos x="67" y="283"/>
                </a:cxn>
                <a:cxn ang="0">
                  <a:pos x="126" y="223"/>
                </a:cxn>
                <a:cxn ang="0">
                  <a:pos x="97" y="223"/>
                </a:cxn>
                <a:cxn ang="0">
                  <a:pos x="97" y="0"/>
                </a:cxn>
                <a:cxn ang="0">
                  <a:pos x="30" y="0"/>
                </a:cxn>
              </a:cxnLst>
              <a:rect l="0" t="0" r="r" b="b"/>
              <a:pathLst>
                <a:path w="126" h="283">
                  <a:moveTo>
                    <a:pt x="30" y="0"/>
                  </a:moveTo>
                  <a:lnTo>
                    <a:pt x="30" y="223"/>
                  </a:lnTo>
                  <a:lnTo>
                    <a:pt x="0" y="223"/>
                  </a:lnTo>
                  <a:lnTo>
                    <a:pt x="67" y="283"/>
                  </a:lnTo>
                  <a:lnTo>
                    <a:pt x="126" y="223"/>
                  </a:lnTo>
                  <a:lnTo>
                    <a:pt x="97" y="223"/>
                  </a:lnTo>
                  <a:lnTo>
                    <a:pt x="97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Freeform 25"/>
            <p:cNvSpPr>
              <a:spLocks/>
            </p:cNvSpPr>
            <p:nvPr/>
          </p:nvSpPr>
          <p:spPr bwMode="auto">
            <a:xfrm>
              <a:off x="4219576" y="1243013"/>
              <a:ext cx="355600" cy="354013"/>
            </a:xfrm>
            <a:custGeom>
              <a:avLst/>
              <a:gdLst/>
              <a:ahLst/>
              <a:cxnLst>
                <a:cxn ang="0">
                  <a:pos x="179" y="0"/>
                </a:cxn>
                <a:cxn ang="0">
                  <a:pos x="23" y="156"/>
                </a:cxn>
                <a:cxn ang="0">
                  <a:pos x="0" y="133"/>
                </a:cxn>
                <a:cxn ang="0">
                  <a:pos x="0" y="223"/>
                </a:cxn>
                <a:cxn ang="0">
                  <a:pos x="90" y="223"/>
                </a:cxn>
                <a:cxn ang="0">
                  <a:pos x="67" y="200"/>
                </a:cxn>
                <a:cxn ang="0">
                  <a:pos x="224" y="44"/>
                </a:cxn>
                <a:cxn ang="0">
                  <a:pos x="179" y="0"/>
                </a:cxn>
              </a:cxnLst>
              <a:rect l="0" t="0" r="r" b="b"/>
              <a:pathLst>
                <a:path w="224" h="223">
                  <a:moveTo>
                    <a:pt x="179" y="0"/>
                  </a:moveTo>
                  <a:lnTo>
                    <a:pt x="23" y="156"/>
                  </a:lnTo>
                  <a:lnTo>
                    <a:pt x="0" y="133"/>
                  </a:lnTo>
                  <a:lnTo>
                    <a:pt x="0" y="223"/>
                  </a:lnTo>
                  <a:lnTo>
                    <a:pt x="90" y="223"/>
                  </a:lnTo>
                  <a:lnTo>
                    <a:pt x="67" y="200"/>
                  </a:lnTo>
                  <a:lnTo>
                    <a:pt x="224" y="44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Freeform 26"/>
            <p:cNvSpPr>
              <a:spLocks/>
            </p:cNvSpPr>
            <p:nvPr/>
          </p:nvSpPr>
          <p:spPr bwMode="auto">
            <a:xfrm>
              <a:off x="4219576" y="1243013"/>
              <a:ext cx="355600" cy="354013"/>
            </a:xfrm>
            <a:custGeom>
              <a:avLst/>
              <a:gdLst/>
              <a:ahLst/>
              <a:cxnLst>
                <a:cxn ang="0">
                  <a:pos x="179" y="0"/>
                </a:cxn>
                <a:cxn ang="0">
                  <a:pos x="23" y="156"/>
                </a:cxn>
                <a:cxn ang="0">
                  <a:pos x="0" y="133"/>
                </a:cxn>
                <a:cxn ang="0">
                  <a:pos x="0" y="223"/>
                </a:cxn>
                <a:cxn ang="0">
                  <a:pos x="90" y="223"/>
                </a:cxn>
                <a:cxn ang="0">
                  <a:pos x="67" y="200"/>
                </a:cxn>
                <a:cxn ang="0">
                  <a:pos x="224" y="44"/>
                </a:cxn>
                <a:cxn ang="0">
                  <a:pos x="179" y="0"/>
                </a:cxn>
              </a:cxnLst>
              <a:rect l="0" t="0" r="r" b="b"/>
              <a:pathLst>
                <a:path w="224" h="223">
                  <a:moveTo>
                    <a:pt x="179" y="0"/>
                  </a:moveTo>
                  <a:lnTo>
                    <a:pt x="23" y="156"/>
                  </a:lnTo>
                  <a:lnTo>
                    <a:pt x="0" y="133"/>
                  </a:lnTo>
                  <a:lnTo>
                    <a:pt x="0" y="223"/>
                  </a:lnTo>
                  <a:lnTo>
                    <a:pt x="90" y="223"/>
                  </a:lnTo>
                  <a:lnTo>
                    <a:pt x="67" y="200"/>
                  </a:lnTo>
                  <a:lnTo>
                    <a:pt x="224" y="44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Freeform 27"/>
            <p:cNvSpPr>
              <a:spLocks/>
            </p:cNvSpPr>
            <p:nvPr/>
          </p:nvSpPr>
          <p:spPr bwMode="auto">
            <a:xfrm>
              <a:off x="4067176" y="1100138"/>
              <a:ext cx="447675" cy="201613"/>
            </a:xfrm>
            <a:custGeom>
              <a:avLst/>
              <a:gdLst/>
              <a:ahLst/>
              <a:cxnLst>
                <a:cxn ang="0">
                  <a:pos x="282" y="30"/>
                </a:cxn>
                <a:cxn ang="0">
                  <a:pos x="67" y="30"/>
                </a:cxn>
                <a:cxn ang="0">
                  <a:pos x="67" y="0"/>
                </a:cxn>
                <a:cxn ang="0">
                  <a:pos x="0" y="60"/>
                </a:cxn>
                <a:cxn ang="0">
                  <a:pos x="67" y="127"/>
                </a:cxn>
                <a:cxn ang="0">
                  <a:pos x="67" y="97"/>
                </a:cxn>
                <a:cxn ang="0">
                  <a:pos x="282" y="97"/>
                </a:cxn>
                <a:cxn ang="0">
                  <a:pos x="282" y="30"/>
                </a:cxn>
              </a:cxnLst>
              <a:rect l="0" t="0" r="r" b="b"/>
              <a:pathLst>
                <a:path w="282" h="127">
                  <a:moveTo>
                    <a:pt x="282" y="30"/>
                  </a:moveTo>
                  <a:lnTo>
                    <a:pt x="67" y="30"/>
                  </a:lnTo>
                  <a:lnTo>
                    <a:pt x="67" y="0"/>
                  </a:lnTo>
                  <a:lnTo>
                    <a:pt x="0" y="60"/>
                  </a:lnTo>
                  <a:lnTo>
                    <a:pt x="67" y="127"/>
                  </a:lnTo>
                  <a:lnTo>
                    <a:pt x="67" y="97"/>
                  </a:lnTo>
                  <a:lnTo>
                    <a:pt x="282" y="97"/>
                  </a:lnTo>
                  <a:lnTo>
                    <a:pt x="282" y="3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Freeform 28"/>
            <p:cNvSpPr>
              <a:spLocks/>
            </p:cNvSpPr>
            <p:nvPr/>
          </p:nvSpPr>
          <p:spPr bwMode="auto">
            <a:xfrm>
              <a:off x="4067176" y="1100138"/>
              <a:ext cx="447675" cy="201613"/>
            </a:xfrm>
            <a:custGeom>
              <a:avLst/>
              <a:gdLst/>
              <a:ahLst/>
              <a:cxnLst>
                <a:cxn ang="0">
                  <a:pos x="282" y="30"/>
                </a:cxn>
                <a:cxn ang="0">
                  <a:pos x="67" y="30"/>
                </a:cxn>
                <a:cxn ang="0">
                  <a:pos x="67" y="0"/>
                </a:cxn>
                <a:cxn ang="0">
                  <a:pos x="0" y="60"/>
                </a:cxn>
                <a:cxn ang="0">
                  <a:pos x="67" y="127"/>
                </a:cxn>
                <a:cxn ang="0">
                  <a:pos x="67" y="97"/>
                </a:cxn>
                <a:cxn ang="0">
                  <a:pos x="282" y="97"/>
                </a:cxn>
                <a:cxn ang="0">
                  <a:pos x="282" y="30"/>
                </a:cxn>
              </a:cxnLst>
              <a:rect l="0" t="0" r="r" b="b"/>
              <a:pathLst>
                <a:path w="282" h="127">
                  <a:moveTo>
                    <a:pt x="282" y="30"/>
                  </a:moveTo>
                  <a:lnTo>
                    <a:pt x="67" y="30"/>
                  </a:lnTo>
                  <a:lnTo>
                    <a:pt x="67" y="0"/>
                  </a:lnTo>
                  <a:lnTo>
                    <a:pt x="0" y="60"/>
                  </a:lnTo>
                  <a:lnTo>
                    <a:pt x="67" y="127"/>
                  </a:lnTo>
                  <a:lnTo>
                    <a:pt x="67" y="97"/>
                  </a:lnTo>
                  <a:lnTo>
                    <a:pt x="282" y="97"/>
                  </a:lnTo>
                  <a:lnTo>
                    <a:pt x="282" y="3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Freeform 29"/>
            <p:cNvSpPr>
              <a:spLocks/>
            </p:cNvSpPr>
            <p:nvPr/>
          </p:nvSpPr>
          <p:spPr bwMode="auto">
            <a:xfrm>
              <a:off x="4232276" y="793751"/>
              <a:ext cx="354013" cy="354013"/>
            </a:xfrm>
            <a:custGeom>
              <a:avLst/>
              <a:gdLst/>
              <a:ahLst/>
              <a:cxnLst>
                <a:cxn ang="0">
                  <a:pos x="223" y="179"/>
                </a:cxn>
                <a:cxn ang="0">
                  <a:pos x="67" y="23"/>
                </a:cxn>
                <a:cxn ang="0">
                  <a:pos x="89" y="0"/>
                </a:cxn>
                <a:cxn ang="0">
                  <a:pos x="0" y="0"/>
                </a:cxn>
                <a:cxn ang="0">
                  <a:pos x="0" y="89"/>
                </a:cxn>
                <a:cxn ang="0">
                  <a:pos x="22" y="67"/>
                </a:cxn>
                <a:cxn ang="0">
                  <a:pos x="178" y="223"/>
                </a:cxn>
                <a:cxn ang="0">
                  <a:pos x="223" y="179"/>
                </a:cxn>
              </a:cxnLst>
              <a:rect l="0" t="0" r="r" b="b"/>
              <a:pathLst>
                <a:path w="223" h="223">
                  <a:moveTo>
                    <a:pt x="223" y="179"/>
                  </a:moveTo>
                  <a:lnTo>
                    <a:pt x="67" y="23"/>
                  </a:lnTo>
                  <a:lnTo>
                    <a:pt x="89" y="0"/>
                  </a:lnTo>
                  <a:lnTo>
                    <a:pt x="0" y="0"/>
                  </a:lnTo>
                  <a:lnTo>
                    <a:pt x="0" y="89"/>
                  </a:lnTo>
                  <a:lnTo>
                    <a:pt x="22" y="67"/>
                  </a:lnTo>
                  <a:lnTo>
                    <a:pt x="178" y="223"/>
                  </a:lnTo>
                  <a:lnTo>
                    <a:pt x="223" y="17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Freeform 30"/>
            <p:cNvSpPr>
              <a:spLocks/>
            </p:cNvSpPr>
            <p:nvPr/>
          </p:nvSpPr>
          <p:spPr bwMode="auto">
            <a:xfrm>
              <a:off x="4232276" y="793751"/>
              <a:ext cx="354013" cy="354013"/>
            </a:xfrm>
            <a:custGeom>
              <a:avLst/>
              <a:gdLst/>
              <a:ahLst/>
              <a:cxnLst>
                <a:cxn ang="0">
                  <a:pos x="223" y="179"/>
                </a:cxn>
                <a:cxn ang="0">
                  <a:pos x="67" y="23"/>
                </a:cxn>
                <a:cxn ang="0">
                  <a:pos x="89" y="0"/>
                </a:cxn>
                <a:cxn ang="0">
                  <a:pos x="0" y="0"/>
                </a:cxn>
                <a:cxn ang="0">
                  <a:pos x="0" y="89"/>
                </a:cxn>
                <a:cxn ang="0">
                  <a:pos x="22" y="67"/>
                </a:cxn>
                <a:cxn ang="0">
                  <a:pos x="178" y="223"/>
                </a:cxn>
                <a:cxn ang="0">
                  <a:pos x="223" y="179"/>
                </a:cxn>
              </a:cxnLst>
              <a:rect l="0" t="0" r="r" b="b"/>
              <a:pathLst>
                <a:path w="223" h="223">
                  <a:moveTo>
                    <a:pt x="223" y="179"/>
                  </a:moveTo>
                  <a:lnTo>
                    <a:pt x="67" y="23"/>
                  </a:lnTo>
                  <a:lnTo>
                    <a:pt x="89" y="0"/>
                  </a:lnTo>
                  <a:lnTo>
                    <a:pt x="0" y="0"/>
                  </a:lnTo>
                  <a:lnTo>
                    <a:pt x="0" y="89"/>
                  </a:lnTo>
                  <a:lnTo>
                    <a:pt x="22" y="67"/>
                  </a:lnTo>
                  <a:lnTo>
                    <a:pt x="178" y="223"/>
                  </a:lnTo>
                  <a:lnTo>
                    <a:pt x="223" y="17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Freeform 31"/>
            <p:cNvSpPr>
              <a:spLocks/>
            </p:cNvSpPr>
            <p:nvPr/>
          </p:nvSpPr>
          <p:spPr bwMode="auto">
            <a:xfrm>
              <a:off x="4538663" y="628651"/>
              <a:ext cx="201613" cy="449263"/>
            </a:xfrm>
            <a:custGeom>
              <a:avLst/>
              <a:gdLst/>
              <a:ahLst/>
              <a:cxnLst>
                <a:cxn ang="0">
                  <a:pos x="97" y="283"/>
                </a:cxn>
                <a:cxn ang="0">
                  <a:pos x="97" y="60"/>
                </a:cxn>
                <a:cxn ang="0">
                  <a:pos x="127" y="60"/>
                </a:cxn>
                <a:cxn ang="0">
                  <a:pos x="67" y="0"/>
                </a:cxn>
                <a:cxn ang="0">
                  <a:pos x="0" y="60"/>
                </a:cxn>
                <a:cxn ang="0">
                  <a:pos x="30" y="60"/>
                </a:cxn>
                <a:cxn ang="0">
                  <a:pos x="30" y="283"/>
                </a:cxn>
                <a:cxn ang="0">
                  <a:pos x="97" y="283"/>
                </a:cxn>
              </a:cxnLst>
              <a:rect l="0" t="0" r="r" b="b"/>
              <a:pathLst>
                <a:path w="127" h="283">
                  <a:moveTo>
                    <a:pt x="97" y="283"/>
                  </a:moveTo>
                  <a:lnTo>
                    <a:pt x="97" y="60"/>
                  </a:lnTo>
                  <a:lnTo>
                    <a:pt x="127" y="60"/>
                  </a:lnTo>
                  <a:lnTo>
                    <a:pt x="67" y="0"/>
                  </a:lnTo>
                  <a:lnTo>
                    <a:pt x="0" y="60"/>
                  </a:lnTo>
                  <a:lnTo>
                    <a:pt x="30" y="60"/>
                  </a:lnTo>
                  <a:lnTo>
                    <a:pt x="30" y="283"/>
                  </a:lnTo>
                  <a:lnTo>
                    <a:pt x="97" y="28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Freeform 32"/>
            <p:cNvSpPr>
              <a:spLocks/>
            </p:cNvSpPr>
            <p:nvPr/>
          </p:nvSpPr>
          <p:spPr bwMode="auto">
            <a:xfrm>
              <a:off x="4538663" y="628651"/>
              <a:ext cx="201613" cy="449263"/>
            </a:xfrm>
            <a:custGeom>
              <a:avLst/>
              <a:gdLst/>
              <a:ahLst/>
              <a:cxnLst>
                <a:cxn ang="0">
                  <a:pos x="97" y="283"/>
                </a:cxn>
                <a:cxn ang="0">
                  <a:pos x="97" y="60"/>
                </a:cxn>
                <a:cxn ang="0">
                  <a:pos x="127" y="60"/>
                </a:cxn>
                <a:cxn ang="0">
                  <a:pos x="67" y="0"/>
                </a:cxn>
                <a:cxn ang="0">
                  <a:pos x="0" y="60"/>
                </a:cxn>
                <a:cxn ang="0">
                  <a:pos x="30" y="60"/>
                </a:cxn>
                <a:cxn ang="0">
                  <a:pos x="30" y="283"/>
                </a:cxn>
                <a:cxn ang="0">
                  <a:pos x="97" y="283"/>
                </a:cxn>
              </a:cxnLst>
              <a:rect l="0" t="0" r="r" b="b"/>
              <a:pathLst>
                <a:path w="127" h="283">
                  <a:moveTo>
                    <a:pt x="97" y="283"/>
                  </a:moveTo>
                  <a:lnTo>
                    <a:pt x="97" y="60"/>
                  </a:lnTo>
                  <a:lnTo>
                    <a:pt x="127" y="60"/>
                  </a:lnTo>
                  <a:lnTo>
                    <a:pt x="67" y="0"/>
                  </a:lnTo>
                  <a:lnTo>
                    <a:pt x="0" y="60"/>
                  </a:lnTo>
                  <a:lnTo>
                    <a:pt x="30" y="60"/>
                  </a:lnTo>
                  <a:lnTo>
                    <a:pt x="30" y="283"/>
                  </a:lnTo>
                  <a:lnTo>
                    <a:pt x="97" y="28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Freeform 33"/>
            <p:cNvSpPr>
              <a:spLocks/>
            </p:cNvSpPr>
            <p:nvPr/>
          </p:nvSpPr>
          <p:spPr bwMode="auto">
            <a:xfrm>
              <a:off x="4692651" y="793751"/>
              <a:ext cx="354013" cy="354013"/>
            </a:xfrm>
            <a:custGeom>
              <a:avLst/>
              <a:gdLst/>
              <a:ahLst/>
              <a:cxnLst>
                <a:cxn ang="0">
                  <a:pos x="45" y="223"/>
                </a:cxn>
                <a:cxn ang="0">
                  <a:pos x="201" y="67"/>
                </a:cxn>
                <a:cxn ang="0">
                  <a:pos x="223" y="89"/>
                </a:cxn>
                <a:cxn ang="0">
                  <a:pos x="223" y="0"/>
                </a:cxn>
                <a:cxn ang="0">
                  <a:pos x="134" y="0"/>
                </a:cxn>
                <a:cxn ang="0">
                  <a:pos x="156" y="23"/>
                </a:cxn>
                <a:cxn ang="0">
                  <a:pos x="0" y="179"/>
                </a:cxn>
                <a:cxn ang="0">
                  <a:pos x="45" y="223"/>
                </a:cxn>
              </a:cxnLst>
              <a:rect l="0" t="0" r="r" b="b"/>
              <a:pathLst>
                <a:path w="223" h="223">
                  <a:moveTo>
                    <a:pt x="45" y="223"/>
                  </a:moveTo>
                  <a:lnTo>
                    <a:pt x="201" y="67"/>
                  </a:lnTo>
                  <a:lnTo>
                    <a:pt x="223" y="89"/>
                  </a:lnTo>
                  <a:lnTo>
                    <a:pt x="223" y="0"/>
                  </a:lnTo>
                  <a:lnTo>
                    <a:pt x="134" y="0"/>
                  </a:lnTo>
                  <a:lnTo>
                    <a:pt x="156" y="23"/>
                  </a:lnTo>
                  <a:lnTo>
                    <a:pt x="0" y="179"/>
                  </a:lnTo>
                  <a:lnTo>
                    <a:pt x="45" y="22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Freeform 34"/>
            <p:cNvSpPr>
              <a:spLocks/>
            </p:cNvSpPr>
            <p:nvPr/>
          </p:nvSpPr>
          <p:spPr bwMode="auto">
            <a:xfrm>
              <a:off x="4692651" y="793751"/>
              <a:ext cx="354013" cy="354013"/>
            </a:xfrm>
            <a:custGeom>
              <a:avLst/>
              <a:gdLst/>
              <a:ahLst/>
              <a:cxnLst>
                <a:cxn ang="0">
                  <a:pos x="45" y="223"/>
                </a:cxn>
                <a:cxn ang="0">
                  <a:pos x="201" y="67"/>
                </a:cxn>
                <a:cxn ang="0">
                  <a:pos x="223" y="89"/>
                </a:cxn>
                <a:cxn ang="0">
                  <a:pos x="223" y="0"/>
                </a:cxn>
                <a:cxn ang="0">
                  <a:pos x="134" y="0"/>
                </a:cxn>
                <a:cxn ang="0">
                  <a:pos x="156" y="23"/>
                </a:cxn>
                <a:cxn ang="0">
                  <a:pos x="0" y="179"/>
                </a:cxn>
                <a:cxn ang="0">
                  <a:pos x="45" y="223"/>
                </a:cxn>
              </a:cxnLst>
              <a:rect l="0" t="0" r="r" b="b"/>
              <a:pathLst>
                <a:path w="223" h="223">
                  <a:moveTo>
                    <a:pt x="45" y="223"/>
                  </a:moveTo>
                  <a:lnTo>
                    <a:pt x="201" y="67"/>
                  </a:lnTo>
                  <a:lnTo>
                    <a:pt x="223" y="89"/>
                  </a:lnTo>
                  <a:lnTo>
                    <a:pt x="223" y="0"/>
                  </a:lnTo>
                  <a:lnTo>
                    <a:pt x="134" y="0"/>
                  </a:lnTo>
                  <a:lnTo>
                    <a:pt x="156" y="23"/>
                  </a:lnTo>
                  <a:lnTo>
                    <a:pt x="0" y="179"/>
                  </a:lnTo>
                  <a:lnTo>
                    <a:pt x="45" y="22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Freeform 35"/>
            <p:cNvSpPr>
              <a:spLocks/>
            </p:cNvSpPr>
            <p:nvPr/>
          </p:nvSpPr>
          <p:spPr bwMode="auto">
            <a:xfrm>
              <a:off x="4764088" y="1100138"/>
              <a:ext cx="447675" cy="201613"/>
            </a:xfrm>
            <a:custGeom>
              <a:avLst/>
              <a:gdLst/>
              <a:ahLst/>
              <a:cxnLst>
                <a:cxn ang="0">
                  <a:pos x="0" y="97"/>
                </a:cxn>
                <a:cxn ang="0">
                  <a:pos x="223" y="97"/>
                </a:cxn>
                <a:cxn ang="0">
                  <a:pos x="223" y="127"/>
                </a:cxn>
                <a:cxn ang="0">
                  <a:pos x="282" y="60"/>
                </a:cxn>
                <a:cxn ang="0">
                  <a:pos x="223" y="0"/>
                </a:cxn>
                <a:cxn ang="0">
                  <a:pos x="223" y="30"/>
                </a:cxn>
                <a:cxn ang="0">
                  <a:pos x="0" y="30"/>
                </a:cxn>
                <a:cxn ang="0">
                  <a:pos x="0" y="97"/>
                </a:cxn>
              </a:cxnLst>
              <a:rect l="0" t="0" r="r" b="b"/>
              <a:pathLst>
                <a:path w="282" h="127">
                  <a:moveTo>
                    <a:pt x="0" y="97"/>
                  </a:moveTo>
                  <a:lnTo>
                    <a:pt x="223" y="97"/>
                  </a:lnTo>
                  <a:lnTo>
                    <a:pt x="223" y="127"/>
                  </a:lnTo>
                  <a:lnTo>
                    <a:pt x="282" y="60"/>
                  </a:lnTo>
                  <a:lnTo>
                    <a:pt x="223" y="0"/>
                  </a:lnTo>
                  <a:lnTo>
                    <a:pt x="223" y="30"/>
                  </a:lnTo>
                  <a:lnTo>
                    <a:pt x="0" y="30"/>
                  </a:lnTo>
                  <a:lnTo>
                    <a:pt x="0" y="97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Freeform 36"/>
            <p:cNvSpPr>
              <a:spLocks/>
            </p:cNvSpPr>
            <p:nvPr/>
          </p:nvSpPr>
          <p:spPr bwMode="auto">
            <a:xfrm>
              <a:off x="4764088" y="1100138"/>
              <a:ext cx="447675" cy="201613"/>
            </a:xfrm>
            <a:custGeom>
              <a:avLst/>
              <a:gdLst/>
              <a:ahLst/>
              <a:cxnLst>
                <a:cxn ang="0">
                  <a:pos x="0" y="97"/>
                </a:cxn>
                <a:cxn ang="0">
                  <a:pos x="223" y="97"/>
                </a:cxn>
                <a:cxn ang="0">
                  <a:pos x="223" y="127"/>
                </a:cxn>
                <a:cxn ang="0">
                  <a:pos x="282" y="60"/>
                </a:cxn>
                <a:cxn ang="0">
                  <a:pos x="223" y="0"/>
                </a:cxn>
                <a:cxn ang="0">
                  <a:pos x="223" y="30"/>
                </a:cxn>
                <a:cxn ang="0">
                  <a:pos x="0" y="30"/>
                </a:cxn>
                <a:cxn ang="0">
                  <a:pos x="0" y="97"/>
                </a:cxn>
              </a:cxnLst>
              <a:rect l="0" t="0" r="r" b="b"/>
              <a:pathLst>
                <a:path w="282" h="127">
                  <a:moveTo>
                    <a:pt x="0" y="97"/>
                  </a:moveTo>
                  <a:lnTo>
                    <a:pt x="223" y="97"/>
                  </a:lnTo>
                  <a:lnTo>
                    <a:pt x="223" y="127"/>
                  </a:lnTo>
                  <a:lnTo>
                    <a:pt x="282" y="60"/>
                  </a:lnTo>
                  <a:lnTo>
                    <a:pt x="223" y="0"/>
                  </a:lnTo>
                  <a:lnTo>
                    <a:pt x="223" y="30"/>
                  </a:lnTo>
                  <a:lnTo>
                    <a:pt x="0" y="30"/>
                  </a:lnTo>
                  <a:lnTo>
                    <a:pt x="0" y="97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Freeform 37"/>
            <p:cNvSpPr>
              <a:spLocks/>
            </p:cNvSpPr>
            <p:nvPr/>
          </p:nvSpPr>
          <p:spPr bwMode="auto">
            <a:xfrm>
              <a:off x="4692651" y="1254126"/>
              <a:ext cx="354013" cy="354013"/>
            </a:xfrm>
            <a:custGeom>
              <a:avLst/>
              <a:gdLst/>
              <a:ahLst/>
              <a:cxnLst>
                <a:cxn ang="0">
                  <a:pos x="0" y="45"/>
                </a:cxn>
                <a:cxn ang="0">
                  <a:pos x="156" y="201"/>
                </a:cxn>
                <a:cxn ang="0">
                  <a:pos x="134" y="223"/>
                </a:cxn>
                <a:cxn ang="0">
                  <a:pos x="223" y="216"/>
                </a:cxn>
                <a:cxn ang="0">
                  <a:pos x="223" y="134"/>
                </a:cxn>
                <a:cxn ang="0">
                  <a:pos x="201" y="156"/>
                </a:cxn>
                <a:cxn ang="0">
                  <a:pos x="45" y="0"/>
                </a:cxn>
                <a:cxn ang="0">
                  <a:pos x="0" y="45"/>
                </a:cxn>
              </a:cxnLst>
              <a:rect l="0" t="0" r="r" b="b"/>
              <a:pathLst>
                <a:path w="223" h="223">
                  <a:moveTo>
                    <a:pt x="0" y="45"/>
                  </a:moveTo>
                  <a:lnTo>
                    <a:pt x="156" y="201"/>
                  </a:lnTo>
                  <a:lnTo>
                    <a:pt x="134" y="223"/>
                  </a:lnTo>
                  <a:lnTo>
                    <a:pt x="223" y="216"/>
                  </a:lnTo>
                  <a:lnTo>
                    <a:pt x="223" y="134"/>
                  </a:lnTo>
                  <a:lnTo>
                    <a:pt x="201" y="156"/>
                  </a:lnTo>
                  <a:lnTo>
                    <a:pt x="45" y="0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Freeform 38"/>
            <p:cNvSpPr>
              <a:spLocks/>
            </p:cNvSpPr>
            <p:nvPr/>
          </p:nvSpPr>
          <p:spPr bwMode="auto">
            <a:xfrm>
              <a:off x="4692651" y="1254126"/>
              <a:ext cx="354013" cy="354013"/>
            </a:xfrm>
            <a:custGeom>
              <a:avLst/>
              <a:gdLst/>
              <a:ahLst/>
              <a:cxnLst>
                <a:cxn ang="0">
                  <a:pos x="0" y="45"/>
                </a:cxn>
                <a:cxn ang="0">
                  <a:pos x="156" y="201"/>
                </a:cxn>
                <a:cxn ang="0">
                  <a:pos x="134" y="223"/>
                </a:cxn>
                <a:cxn ang="0">
                  <a:pos x="223" y="216"/>
                </a:cxn>
                <a:cxn ang="0">
                  <a:pos x="223" y="134"/>
                </a:cxn>
                <a:cxn ang="0">
                  <a:pos x="201" y="156"/>
                </a:cxn>
                <a:cxn ang="0">
                  <a:pos x="45" y="0"/>
                </a:cxn>
                <a:cxn ang="0">
                  <a:pos x="0" y="45"/>
                </a:cxn>
              </a:cxnLst>
              <a:rect l="0" t="0" r="r" b="b"/>
              <a:pathLst>
                <a:path w="223" h="223">
                  <a:moveTo>
                    <a:pt x="0" y="45"/>
                  </a:moveTo>
                  <a:lnTo>
                    <a:pt x="156" y="201"/>
                  </a:lnTo>
                  <a:lnTo>
                    <a:pt x="134" y="223"/>
                  </a:lnTo>
                  <a:lnTo>
                    <a:pt x="223" y="216"/>
                  </a:lnTo>
                  <a:lnTo>
                    <a:pt x="223" y="134"/>
                  </a:lnTo>
                  <a:lnTo>
                    <a:pt x="201" y="156"/>
                  </a:lnTo>
                  <a:lnTo>
                    <a:pt x="45" y="0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Freeform 39"/>
            <p:cNvSpPr>
              <a:spLocks/>
            </p:cNvSpPr>
            <p:nvPr/>
          </p:nvSpPr>
          <p:spPr bwMode="auto">
            <a:xfrm>
              <a:off x="4538663" y="1325563"/>
              <a:ext cx="201613" cy="447675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30" y="223"/>
                </a:cxn>
                <a:cxn ang="0">
                  <a:pos x="0" y="223"/>
                </a:cxn>
                <a:cxn ang="0">
                  <a:pos x="67" y="282"/>
                </a:cxn>
                <a:cxn ang="0">
                  <a:pos x="127" y="223"/>
                </a:cxn>
                <a:cxn ang="0">
                  <a:pos x="97" y="223"/>
                </a:cxn>
                <a:cxn ang="0">
                  <a:pos x="97" y="0"/>
                </a:cxn>
                <a:cxn ang="0">
                  <a:pos x="30" y="0"/>
                </a:cxn>
              </a:cxnLst>
              <a:rect l="0" t="0" r="r" b="b"/>
              <a:pathLst>
                <a:path w="127" h="282">
                  <a:moveTo>
                    <a:pt x="30" y="0"/>
                  </a:moveTo>
                  <a:lnTo>
                    <a:pt x="30" y="223"/>
                  </a:lnTo>
                  <a:lnTo>
                    <a:pt x="0" y="223"/>
                  </a:lnTo>
                  <a:lnTo>
                    <a:pt x="67" y="282"/>
                  </a:lnTo>
                  <a:lnTo>
                    <a:pt x="127" y="223"/>
                  </a:lnTo>
                  <a:lnTo>
                    <a:pt x="97" y="223"/>
                  </a:lnTo>
                  <a:lnTo>
                    <a:pt x="97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Freeform 40"/>
            <p:cNvSpPr>
              <a:spLocks/>
            </p:cNvSpPr>
            <p:nvPr/>
          </p:nvSpPr>
          <p:spPr bwMode="auto">
            <a:xfrm>
              <a:off x="4538663" y="1325563"/>
              <a:ext cx="201613" cy="447675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30" y="223"/>
                </a:cxn>
                <a:cxn ang="0">
                  <a:pos x="0" y="223"/>
                </a:cxn>
                <a:cxn ang="0">
                  <a:pos x="67" y="282"/>
                </a:cxn>
                <a:cxn ang="0">
                  <a:pos x="127" y="223"/>
                </a:cxn>
                <a:cxn ang="0">
                  <a:pos x="97" y="223"/>
                </a:cxn>
                <a:cxn ang="0">
                  <a:pos x="97" y="0"/>
                </a:cxn>
                <a:cxn ang="0">
                  <a:pos x="30" y="0"/>
                </a:cxn>
              </a:cxnLst>
              <a:rect l="0" t="0" r="r" b="b"/>
              <a:pathLst>
                <a:path w="127" h="282">
                  <a:moveTo>
                    <a:pt x="30" y="0"/>
                  </a:moveTo>
                  <a:lnTo>
                    <a:pt x="30" y="223"/>
                  </a:lnTo>
                  <a:lnTo>
                    <a:pt x="0" y="223"/>
                  </a:lnTo>
                  <a:lnTo>
                    <a:pt x="67" y="282"/>
                  </a:lnTo>
                  <a:lnTo>
                    <a:pt x="127" y="223"/>
                  </a:lnTo>
                  <a:lnTo>
                    <a:pt x="97" y="223"/>
                  </a:lnTo>
                  <a:lnTo>
                    <a:pt x="97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Freeform 41"/>
            <p:cNvSpPr>
              <a:spLocks/>
            </p:cNvSpPr>
            <p:nvPr/>
          </p:nvSpPr>
          <p:spPr bwMode="auto">
            <a:xfrm>
              <a:off x="4232276" y="1254126"/>
              <a:ext cx="354013" cy="354013"/>
            </a:xfrm>
            <a:custGeom>
              <a:avLst/>
              <a:gdLst/>
              <a:ahLst/>
              <a:cxnLst>
                <a:cxn ang="0">
                  <a:pos x="178" y="0"/>
                </a:cxn>
                <a:cxn ang="0">
                  <a:pos x="22" y="156"/>
                </a:cxn>
                <a:cxn ang="0">
                  <a:pos x="0" y="134"/>
                </a:cxn>
                <a:cxn ang="0">
                  <a:pos x="0" y="223"/>
                </a:cxn>
                <a:cxn ang="0">
                  <a:pos x="89" y="223"/>
                </a:cxn>
                <a:cxn ang="0">
                  <a:pos x="67" y="201"/>
                </a:cxn>
                <a:cxn ang="0">
                  <a:pos x="223" y="45"/>
                </a:cxn>
                <a:cxn ang="0">
                  <a:pos x="178" y="0"/>
                </a:cxn>
              </a:cxnLst>
              <a:rect l="0" t="0" r="r" b="b"/>
              <a:pathLst>
                <a:path w="223" h="223">
                  <a:moveTo>
                    <a:pt x="178" y="0"/>
                  </a:moveTo>
                  <a:lnTo>
                    <a:pt x="22" y="156"/>
                  </a:lnTo>
                  <a:lnTo>
                    <a:pt x="0" y="134"/>
                  </a:lnTo>
                  <a:lnTo>
                    <a:pt x="0" y="223"/>
                  </a:lnTo>
                  <a:lnTo>
                    <a:pt x="89" y="223"/>
                  </a:lnTo>
                  <a:lnTo>
                    <a:pt x="67" y="201"/>
                  </a:lnTo>
                  <a:lnTo>
                    <a:pt x="223" y="45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Freeform 42"/>
            <p:cNvSpPr>
              <a:spLocks/>
            </p:cNvSpPr>
            <p:nvPr/>
          </p:nvSpPr>
          <p:spPr bwMode="auto">
            <a:xfrm>
              <a:off x="4232276" y="1254126"/>
              <a:ext cx="354013" cy="354013"/>
            </a:xfrm>
            <a:custGeom>
              <a:avLst/>
              <a:gdLst/>
              <a:ahLst/>
              <a:cxnLst>
                <a:cxn ang="0">
                  <a:pos x="178" y="0"/>
                </a:cxn>
                <a:cxn ang="0">
                  <a:pos x="22" y="156"/>
                </a:cxn>
                <a:cxn ang="0">
                  <a:pos x="0" y="134"/>
                </a:cxn>
                <a:cxn ang="0">
                  <a:pos x="0" y="223"/>
                </a:cxn>
                <a:cxn ang="0">
                  <a:pos x="89" y="223"/>
                </a:cxn>
                <a:cxn ang="0">
                  <a:pos x="67" y="201"/>
                </a:cxn>
                <a:cxn ang="0">
                  <a:pos x="223" y="45"/>
                </a:cxn>
                <a:cxn ang="0">
                  <a:pos x="178" y="0"/>
                </a:cxn>
              </a:cxnLst>
              <a:rect l="0" t="0" r="r" b="b"/>
              <a:pathLst>
                <a:path w="223" h="223">
                  <a:moveTo>
                    <a:pt x="178" y="0"/>
                  </a:moveTo>
                  <a:lnTo>
                    <a:pt x="22" y="156"/>
                  </a:lnTo>
                  <a:lnTo>
                    <a:pt x="0" y="134"/>
                  </a:lnTo>
                  <a:lnTo>
                    <a:pt x="0" y="223"/>
                  </a:lnTo>
                  <a:lnTo>
                    <a:pt x="89" y="223"/>
                  </a:lnTo>
                  <a:lnTo>
                    <a:pt x="67" y="201"/>
                  </a:lnTo>
                  <a:lnTo>
                    <a:pt x="223" y="45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Oval 43"/>
            <p:cNvSpPr>
              <a:spLocks noChangeArrowheads="1"/>
            </p:cNvSpPr>
            <p:nvPr/>
          </p:nvSpPr>
          <p:spPr bwMode="auto">
            <a:xfrm>
              <a:off x="4432301" y="1006476"/>
              <a:ext cx="390525" cy="388938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Oval 44"/>
            <p:cNvSpPr>
              <a:spLocks noChangeArrowheads="1"/>
            </p:cNvSpPr>
            <p:nvPr/>
          </p:nvSpPr>
          <p:spPr bwMode="auto">
            <a:xfrm>
              <a:off x="4456113" y="1030288"/>
              <a:ext cx="390525" cy="388938"/>
            </a:xfrm>
            <a:prstGeom prst="ellipse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Oval 45"/>
            <p:cNvSpPr>
              <a:spLocks noChangeArrowheads="1"/>
            </p:cNvSpPr>
            <p:nvPr/>
          </p:nvSpPr>
          <p:spPr bwMode="auto">
            <a:xfrm>
              <a:off x="4445001" y="1017588"/>
              <a:ext cx="388938" cy="390525"/>
            </a:xfrm>
            <a:prstGeom prst="ellipse">
              <a:avLst/>
            </a:prstGeom>
            <a:solidFill>
              <a:srgbClr val="E5405C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55" name="직선 연결선 54"/>
          <p:cNvCxnSpPr/>
          <p:nvPr/>
        </p:nvCxnSpPr>
        <p:spPr>
          <a:xfrm>
            <a:off x="5032254" y="3646038"/>
            <a:ext cx="13491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7784678" y="1170114"/>
            <a:ext cx="6896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Web#1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7773120" y="2781451"/>
            <a:ext cx="6896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Web#2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7774686" y="4489074"/>
            <a:ext cx="6896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Web#3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7" name="Picture 2" descr="C:\Users\Toshiba\AppData\Local\Microsoft\Windows\Temporary Internet Files\Content.IE5\TBE21NJN\MC900428971[1]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2429" y="1013666"/>
            <a:ext cx="632257" cy="932397"/>
          </a:xfrm>
          <a:prstGeom prst="rect">
            <a:avLst/>
          </a:prstGeom>
          <a:noFill/>
        </p:spPr>
      </p:pic>
      <p:sp>
        <p:nvSpPr>
          <p:cNvPr id="50" name="TextBox 49"/>
          <p:cNvSpPr txBox="1"/>
          <p:nvPr/>
        </p:nvSpPr>
        <p:spPr>
          <a:xfrm>
            <a:off x="4142629" y="4003480"/>
            <a:ext cx="10567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200.1.1.10</a:t>
            </a:r>
            <a:endParaRPr lang="ko-KR" altLang="en-US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6870094" y="670903"/>
            <a:ext cx="12170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192.168.10.10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6825210" y="2139146"/>
            <a:ext cx="12170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192.168.10.20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6912198" y="3803987"/>
            <a:ext cx="12170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192.168.10.30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6896773" y="5421935"/>
            <a:ext cx="12170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192.168.10.40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2" name="그림 5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2699" y="2435163"/>
            <a:ext cx="823518" cy="814053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7798130" y="6060956"/>
            <a:ext cx="6896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Web#4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8" name="표 8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9742151"/>
              </p:ext>
            </p:extLst>
          </p:nvPr>
        </p:nvGraphicFramePr>
        <p:xfrm>
          <a:off x="3465085" y="4399002"/>
          <a:ext cx="2722678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48105"/>
                <a:gridCol w="1474573"/>
              </a:tblGrid>
              <a:tr h="27210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www.test.com</a:t>
                      </a:r>
                    </a:p>
                    <a:p>
                      <a:pPr latinLnBrk="1"/>
                      <a:r>
                        <a:rPr lang="en-US" altLang="ko-KR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200.1.1.10:443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192.168.10.10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27210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192.168.10.20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27210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m.test.com </a:t>
                      </a:r>
                    </a:p>
                    <a:p>
                      <a:pPr latinLnBrk="1"/>
                      <a:r>
                        <a:rPr lang="en-US" altLang="ko-KR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200.1.1.10:443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192.168.10.30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27210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192.168.10.40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9" name="구름 88"/>
          <p:cNvSpPr/>
          <p:nvPr/>
        </p:nvSpPr>
        <p:spPr>
          <a:xfrm>
            <a:off x="2423794" y="3304885"/>
            <a:ext cx="1194487" cy="785296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TextBox 96"/>
          <p:cNvSpPr txBox="1"/>
          <p:nvPr/>
        </p:nvSpPr>
        <p:spPr>
          <a:xfrm>
            <a:off x="454823" y="2350080"/>
            <a:ext cx="17102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https://www.test.com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332849" y="4891946"/>
            <a:ext cx="14718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https://m.test.com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Rectangle 55"/>
          <p:cNvSpPr>
            <a:spLocks noChangeArrowheads="1"/>
          </p:cNvSpPr>
          <p:nvPr/>
        </p:nvSpPr>
        <p:spPr bwMode="auto">
          <a:xfrm>
            <a:off x="470697" y="318536"/>
            <a:ext cx="7839805" cy="324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898" indent="-342898" eaLnBrk="0" latinLnBrk="0" hangingPunct="0">
              <a:lnSpc>
                <a:spcPct val="95000"/>
              </a:lnSpc>
              <a:spcBef>
                <a:spcPct val="50000"/>
              </a:spcBef>
              <a:buClr>
                <a:srgbClr val="00B0DF"/>
              </a:buClr>
              <a:tabLst>
                <a:tab pos="1163631" algn="l"/>
              </a:tabLst>
            </a:pPr>
            <a:r>
              <a:rPr lang="en-US" altLang="ko-KR" sz="3323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L7 Switch</a:t>
            </a:r>
            <a:endParaRPr lang="en-US" altLang="ko-KR" sz="2400" b="1" dirty="0">
              <a:solidFill>
                <a:srgbClr val="000000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342898" indent="-342898" eaLnBrk="0" latinLnBrk="0" hangingPunct="0">
              <a:spcBef>
                <a:spcPct val="50000"/>
              </a:spcBef>
              <a:buClr>
                <a:srgbClr val="00B0DF"/>
              </a:buClr>
              <a:tabLst>
                <a:tab pos="1163631" algn="l"/>
              </a:tabLst>
            </a:pPr>
            <a:endParaRPr lang="en-US" altLang="ko-KR" sz="3323" b="1" dirty="0">
              <a:solidFill>
                <a:srgbClr val="000000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grpSp>
        <p:nvGrpSpPr>
          <p:cNvPr id="187" name="그룹 186"/>
          <p:cNvGrpSpPr/>
          <p:nvPr/>
        </p:nvGrpSpPr>
        <p:grpSpPr>
          <a:xfrm>
            <a:off x="573476" y="2632083"/>
            <a:ext cx="851871" cy="740464"/>
            <a:chOff x="809159" y="4814047"/>
            <a:chExt cx="688975" cy="732719"/>
          </a:xfrm>
        </p:grpSpPr>
        <p:sp>
          <p:nvSpPr>
            <p:cNvPr id="188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9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0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1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2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3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4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5" name="Freeform 182"/>
            <p:cNvSpPr>
              <a:spLocks/>
            </p:cNvSpPr>
            <p:nvPr/>
          </p:nvSpPr>
          <p:spPr bwMode="auto">
            <a:xfrm flipH="1">
              <a:off x="995757" y="5270442"/>
              <a:ext cx="184726" cy="276324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6" name="Freeform 183"/>
            <p:cNvSpPr>
              <a:spLocks/>
            </p:cNvSpPr>
            <p:nvPr/>
          </p:nvSpPr>
          <p:spPr bwMode="auto">
            <a:xfrm flipH="1">
              <a:off x="1010110" y="5260375"/>
              <a:ext cx="184726" cy="276324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7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8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9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0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1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2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3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4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5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6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7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8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9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0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1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2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3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4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5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6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7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8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9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0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1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2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3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4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225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238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39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226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7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8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9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0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1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2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3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4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5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6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7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pic>
        <p:nvPicPr>
          <p:cNvPr id="2" name="그림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316" y="3917137"/>
            <a:ext cx="1032159" cy="738639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3806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22EA7-80FE-42C8-BCF2-09639A4FECEC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2352"/>
            <a:ext cx="9144000" cy="51430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7746" y="454493"/>
            <a:ext cx="27751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사내망</a:t>
            </a:r>
            <a:r>
              <a:rPr lang="ko-KR" altLang="en-US" sz="3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구성도 </a:t>
            </a:r>
            <a:endParaRPr lang="ko-KR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1472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6" descr="314P_15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308" y="1188712"/>
            <a:ext cx="8793256" cy="5447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50744" y="138236"/>
            <a:ext cx="7886700" cy="686518"/>
          </a:xfrm>
        </p:spPr>
        <p:txBody>
          <a:bodyPr>
            <a:normAutofit/>
          </a:bodyPr>
          <a:lstStyle/>
          <a:p>
            <a:r>
              <a:rPr lang="ko-KR" altLang="en-US" sz="2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❶ </a:t>
            </a:r>
            <a:r>
              <a:rPr lang="ko-KR" altLang="en-US" sz="2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구성도 </a:t>
            </a:r>
            <a:endParaRPr lang="ko-KR" altLang="en-US" sz="2800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4427668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39DCD-5DF0-4288-A2ED-56841372C868}" type="slidenum">
              <a:rPr lang="ko-KR" altLang="en-US" smtClean="0"/>
              <a:pPr/>
              <a:t>7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64683"/>
            <a:ext cx="9144000" cy="5029930"/>
          </a:xfrm>
          <a:prstGeom prst="rect">
            <a:avLst/>
          </a:prstGeom>
        </p:spPr>
      </p:pic>
      <p:sp>
        <p:nvSpPr>
          <p:cNvPr id="7" name="제목 1"/>
          <p:cNvSpPr txBox="1">
            <a:spLocks/>
          </p:cNvSpPr>
          <p:nvPr/>
        </p:nvSpPr>
        <p:spPr>
          <a:xfrm>
            <a:off x="350744" y="264303"/>
            <a:ext cx="7886700" cy="68651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❷ </a:t>
            </a:r>
            <a:r>
              <a:rPr lang="ko-KR" altLang="en-US" sz="2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구성도 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354505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1504"/>
            <a:ext cx="9029727" cy="5606693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22EA7-80FE-42C8-BCF2-09639A4FECEC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5" name="제목 1"/>
          <p:cNvSpPr txBox="1">
            <a:spLocks/>
          </p:cNvSpPr>
          <p:nvPr/>
        </p:nvSpPr>
        <p:spPr>
          <a:xfrm>
            <a:off x="350744" y="344986"/>
            <a:ext cx="7886700" cy="68651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❸ </a:t>
            </a:r>
            <a:r>
              <a:rPr lang="ko-KR" altLang="en-US" sz="2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구성도 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142439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3592"/>
            <a:ext cx="9144000" cy="5687763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22EA7-80FE-42C8-BCF2-09639A4FECEC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5" name="제목 1"/>
          <p:cNvSpPr txBox="1">
            <a:spLocks/>
          </p:cNvSpPr>
          <p:nvPr/>
        </p:nvSpPr>
        <p:spPr>
          <a:xfrm>
            <a:off x="395567" y="417074"/>
            <a:ext cx="7886700" cy="68651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❹ </a:t>
            </a:r>
            <a:r>
              <a:rPr lang="ko-KR" altLang="en-US" sz="2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구성도 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075742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모서리가 둥근 직사각형 1023"/>
          <p:cNvSpPr/>
          <p:nvPr/>
        </p:nvSpPr>
        <p:spPr>
          <a:xfrm>
            <a:off x="3320416" y="1139096"/>
            <a:ext cx="2834044" cy="1717242"/>
          </a:xfrm>
          <a:prstGeom prst="roundRect">
            <a:avLst>
              <a:gd name="adj" fmla="val 9936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976"/>
          </a:p>
        </p:txBody>
      </p:sp>
      <p:sp>
        <p:nvSpPr>
          <p:cNvPr id="1037" name="Rectangle 2"/>
          <p:cNvSpPr>
            <a:spLocks noChangeArrowheads="1"/>
          </p:cNvSpPr>
          <p:nvPr/>
        </p:nvSpPr>
        <p:spPr bwMode="auto">
          <a:xfrm>
            <a:off x="3384498" y="2945517"/>
            <a:ext cx="2821074" cy="2381664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noFill/>
            <a:miter lim="800000"/>
            <a:headEnd/>
            <a:tailEnd/>
          </a:ln>
        </p:spPr>
        <p:txBody>
          <a:bodyPr wrap="none" lIns="52219" rIns="52219" anchor="ctr"/>
          <a:lstStyle/>
          <a:p>
            <a:endParaRPr lang="ko-KR" altLang="en-US" sz="1976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38" name="Picture 3" descr="Big_Cloud"/>
          <p:cNvPicPr preferRelativeResize="0">
            <a:picLocks noChangeArrowheads="1"/>
          </p:cNvPicPr>
          <p:nvPr/>
        </p:nvPicPr>
        <p:blipFill>
          <a:blip r:embed="rId4" cstate="print">
            <a:lum bright="20000" contrast="-20000"/>
          </a:blip>
          <a:srcRect/>
          <a:stretch>
            <a:fillRect/>
          </a:stretch>
        </p:blipFill>
        <p:spPr bwMode="auto">
          <a:xfrm>
            <a:off x="4783392" y="264174"/>
            <a:ext cx="1017982" cy="46529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</p:pic>
      <p:sp>
        <p:nvSpPr>
          <p:cNvPr id="1039" name="Text Box 5"/>
          <p:cNvSpPr txBox="1">
            <a:spLocks noChangeArrowheads="1"/>
          </p:cNvSpPr>
          <p:nvPr/>
        </p:nvSpPr>
        <p:spPr bwMode="auto">
          <a:xfrm>
            <a:off x="4849926" y="354866"/>
            <a:ext cx="859888" cy="25904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rIns="87032">
            <a:spAutoFit/>
          </a:bodyPr>
          <a:lstStyle/>
          <a:p>
            <a:pPr>
              <a:lnSpc>
                <a:spcPct val="80000"/>
              </a:lnSpc>
              <a:spcBef>
                <a:spcPct val="10000"/>
              </a:spcBef>
            </a:pPr>
            <a:r>
              <a:rPr lang="ko-KR" altLang="en-US" sz="1354" b="1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과천센터</a:t>
            </a:r>
          </a:p>
        </p:txBody>
      </p:sp>
      <p:sp>
        <p:nvSpPr>
          <p:cNvPr id="1041" name="Rectangle 7"/>
          <p:cNvSpPr>
            <a:spLocks noChangeArrowheads="1"/>
          </p:cNvSpPr>
          <p:nvPr/>
        </p:nvSpPr>
        <p:spPr bwMode="auto">
          <a:xfrm>
            <a:off x="3404458" y="5555883"/>
            <a:ext cx="2789471" cy="1050851"/>
          </a:xfrm>
          <a:prstGeom prst="rect">
            <a:avLst/>
          </a:prstGeom>
          <a:gradFill rotWithShape="0">
            <a:gsLst>
              <a:gs pos="0">
                <a:srgbClr val="CCFF33"/>
              </a:gs>
              <a:gs pos="50000">
                <a:srgbClr val="AFDB2C"/>
              </a:gs>
              <a:gs pos="100000">
                <a:srgbClr val="CCFF33"/>
              </a:gs>
            </a:gsLst>
            <a:lin ang="5400000" scaled="1"/>
          </a:gradFill>
          <a:ln w="6350">
            <a:solidFill>
              <a:srgbClr val="B6B6B6"/>
            </a:solidFill>
            <a:miter lim="800000"/>
            <a:headEnd/>
            <a:tailEnd/>
          </a:ln>
        </p:spPr>
        <p:txBody>
          <a:bodyPr wrap="none" rIns="87032" anchor="ctr"/>
          <a:lstStyle/>
          <a:p>
            <a:pPr algn="ctr">
              <a:lnSpc>
                <a:spcPct val="80000"/>
              </a:lnSpc>
              <a:spcBef>
                <a:spcPct val="10000"/>
              </a:spcBef>
            </a:pPr>
            <a:endParaRPr lang="en-US" altLang="ko-KR" sz="1354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algn="ctr">
              <a:lnSpc>
                <a:spcPct val="80000"/>
              </a:lnSpc>
              <a:spcBef>
                <a:spcPct val="10000"/>
              </a:spcBef>
            </a:pPr>
            <a:endParaRPr lang="en-US" altLang="ko-KR" sz="1354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algn="ctr">
              <a:lnSpc>
                <a:spcPct val="80000"/>
              </a:lnSpc>
              <a:spcBef>
                <a:spcPct val="10000"/>
              </a:spcBef>
            </a:pPr>
            <a:endParaRPr lang="en-US" altLang="ko-KR" sz="1354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algn="ctr">
              <a:lnSpc>
                <a:spcPct val="80000"/>
              </a:lnSpc>
              <a:spcBef>
                <a:spcPct val="10000"/>
              </a:spcBef>
            </a:pPr>
            <a:endParaRPr lang="en-US" altLang="ko-KR" sz="1354" b="1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algn="ctr">
              <a:lnSpc>
                <a:spcPct val="80000"/>
              </a:lnSpc>
              <a:spcBef>
                <a:spcPct val="10000"/>
              </a:spcBef>
            </a:pPr>
            <a:endParaRPr lang="en-US" altLang="ko-KR" sz="1354" b="1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algn="ctr">
              <a:lnSpc>
                <a:spcPct val="80000"/>
              </a:lnSpc>
              <a:spcBef>
                <a:spcPct val="10000"/>
              </a:spcBef>
            </a:pPr>
            <a:endParaRPr lang="en-US" altLang="ko-KR" sz="1354" b="1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algn="ctr">
              <a:lnSpc>
                <a:spcPct val="80000"/>
              </a:lnSpc>
              <a:spcBef>
                <a:spcPct val="10000"/>
              </a:spcBef>
            </a:pPr>
            <a:endParaRPr lang="en-US" altLang="ko-KR" sz="1354" b="1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algn="ctr">
              <a:lnSpc>
                <a:spcPct val="80000"/>
              </a:lnSpc>
              <a:spcBef>
                <a:spcPct val="10000"/>
              </a:spcBef>
            </a:pPr>
            <a:r>
              <a:rPr lang="en-US" altLang="ko-KR" sz="1354" b="1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4</a:t>
            </a:r>
            <a:r>
              <a:rPr lang="ko-KR" altLang="en-US" sz="1354" b="1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층 서버 </a:t>
            </a:r>
            <a:r>
              <a:rPr lang="en-US" altLang="ko-KR" sz="1354" b="1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Farm(26</a:t>
            </a:r>
            <a:r>
              <a:rPr lang="ko-KR" altLang="en-US" sz="1354" b="1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대</a:t>
            </a:r>
            <a:r>
              <a:rPr lang="en-US" altLang="ko-KR" sz="1354" b="1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)</a:t>
            </a:r>
          </a:p>
        </p:txBody>
      </p:sp>
      <p:cxnSp>
        <p:nvCxnSpPr>
          <p:cNvPr id="1042" name="AutoShape 8"/>
          <p:cNvCxnSpPr>
            <a:cxnSpLocks noChangeShapeType="1"/>
          </p:cNvCxnSpPr>
          <p:nvPr/>
        </p:nvCxnSpPr>
        <p:spPr bwMode="auto">
          <a:xfrm>
            <a:off x="4126360" y="3316173"/>
            <a:ext cx="1330695" cy="3943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043" name="AutoShape 9"/>
          <p:cNvCxnSpPr>
            <a:cxnSpLocks noChangeShapeType="1"/>
          </p:cNvCxnSpPr>
          <p:nvPr/>
        </p:nvCxnSpPr>
        <p:spPr bwMode="auto">
          <a:xfrm flipV="1">
            <a:off x="5734839" y="3903703"/>
            <a:ext cx="1663" cy="59344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pic>
        <p:nvPicPr>
          <p:cNvPr id="1044" name="Picture 10" descr="AP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922711" y="1384029"/>
            <a:ext cx="958101" cy="540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45" name="Picture 11" descr="AP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800970" y="1206587"/>
            <a:ext cx="944794" cy="346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046" name="AutoShape 12"/>
          <p:cNvCxnSpPr>
            <a:cxnSpLocks noChangeShapeType="1"/>
          </p:cNvCxnSpPr>
          <p:nvPr/>
        </p:nvCxnSpPr>
        <p:spPr bwMode="auto">
          <a:xfrm flipH="1" flipV="1">
            <a:off x="2273367" y="1553585"/>
            <a:ext cx="407526" cy="1064651"/>
          </a:xfrm>
          <a:prstGeom prst="straightConnector1">
            <a:avLst/>
          </a:prstGeom>
          <a:noFill/>
          <a:ln w="19050">
            <a:solidFill>
              <a:srgbClr val="333399"/>
            </a:solidFill>
            <a:round/>
            <a:headEnd/>
            <a:tailEnd/>
          </a:ln>
        </p:spPr>
      </p:cxnSp>
      <p:sp>
        <p:nvSpPr>
          <p:cNvPr id="1047" name="Rectangle 13"/>
          <p:cNvSpPr>
            <a:spLocks noChangeArrowheads="1"/>
          </p:cNvSpPr>
          <p:nvPr/>
        </p:nvSpPr>
        <p:spPr bwMode="auto">
          <a:xfrm>
            <a:off x="681617" y="5857535"/>
            <a:ext cx="2558168" cy="74722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 w="6350">
            <a:solidFill>
              <a:srgbClr val="B6B6B6"/>
            </a:solidFill>
            <a:miter lim="800000"/>
            <a:headEnd/>
            <a:tailEnd/>
          </a:ln>
        </p:spPr>
        <p:txBody>
          <a:bodyPr wrap="none" rIns="87032"/>
          <a:lstStyle/>
          <a:p>
            <a:pPr>
              <a:lnSpc>
                <a:spcPct val="80000"/>
              </a:lnSpc>
              <a:spcBef>
                <a:spcPct val="10000"/>
              </a:spcBef>
            </a:pPr>
            <a:r>
              <a:rPr lang="en-US" altLang="ko-KR" sz="1354" b="1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14</a:t>
            </a:r>
            <a:r>
              <a:rPr lang="ko-KR" altLang="en-US" sz="1354" b="1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층</a:t>
            </a:r>
          </a:p>
        </p:txBody>
      </p:sp>
      <p:grpSp>
        <p:nvGrpSpPr>
          <p:cNvPr id="3" name="Group 14"/>
          <p:cNvGrpSpPr>
            <a:grpSpLocks/>
          </p:cNvGrpSpPr>
          <p:nvPr/>
        </p:nvGrpSpPr>
        <p:grpSpPr bwMode="auto">
          <a:xfrm>
            <a:off x="2323268" y="5898938"/>
            <a:ext cx="710259" cy="398330"/>
            <a:chOff x="3379" y="965"/>
            <a:chExt cx="367" cy="190"/>
          </a:xfrm>
        </p:grpSpPr>
        <p:pic>
          <p:nvPicPr>
            <p:cNvPr id="1225" name="Picture 15"/>
            <p:cNvPicPr>
              <a:picLocks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3379" y="965"/>
              <a:ext cx="367" cy="1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088" name="Rectangle 16"/>
            <p:cNvSpPr>
              <a:spLocks noChangeArrowheads="1"/>
            </p:cNvSpPr>
            <p:nvPr/>
          </p:nvSpPr>
          <p:spPr bwMode="auto">
            <a:xfrm>
              <a:off x="3492" y="1036"/>
              <a:ext cx="43" cy="1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41049" tIns="20524" rIns="41049" bIns="20524">
              <a:spAutoFit/>
            </a:bodyPr>
            <a:lstStyle/>
            <a:p>
              <a:pPr algn="ctr" defTabSz="182680">
                <a:defRPr/>
              </a:pPr>
              <a:endParaRPr lang="ko-KR" altLang="ko-KR" sz="1354" b="1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돋움" pitchFamily="50" charset="-127"/>
                <a:cs typeface="Times New Roman" pitchFamily="18" charset="0"/>
              </a:endParaRPr>
            </a:p>
          </p:txBody>
        </p:sp>
      </p:grpSp>
      <p:grpSp>
        <p:nvGrpSpPr>
          <p:cNvPr id="4" name="Group 17"/>
          <p:cNvGrpSpPr>
            <a:grpSpLocks/>
          </p:cNvGrpSpPr>
          <p:nvPr/>
        </p:nvGrpSpPr>
        <p:grpSpPr bwMode="auto">
          <a:xfrm>
            <a:off x="2323268" y="6222274"/>
            <a:ext cx="710259" cy="402015"/>
            <a:chOff x="3379" y="965"/>
            <a:chExt cx="367" cy="191"/>
          </a:xfrm>
        </p:grpSpPr>
        <p:pic>
          <p:nvPicPr>
            <p:cNvPr id="1223" name="Picture 18"/>
            <p:cNvPicPr>
              <a:picLocks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3379" y="965"/>
              <a:ext cx="367" cy="1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091" name="Rectangle 19"/>
            <p:cNvSpPr>
              <a:spLocks noChangeArrowheads="1"/>
            </p:cNvSpPr>
            <p:nvPr/>
          </p:nvSpPr>
          <p:spPr bwMode="auto">
            <a:xfrm>
              <a:off x="3492" y="1037"/>
              <a:ext cx="43" cy="1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41049" tIns="20524" rIns="41049" bIns="20524">
              <a:spAutoFit/>
            </a:bodyPr>
            <a:lstStyle/>
            <a:p>
              <a:pPr algn="ctr" defTabSz="182680">
                <a:defRPr/>
              </a:pPr>
              <a:endParaRPr lang="ko-KR" altLang="ko-KR" sz="1354" b="1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돋움" pitchFamily="50" charset="-127"/>
                <a:cs typeface="Times New Roman" pitchFamily="18" charset="0"/>
              </a:endParaRPr>
            </a:p>
          </p:txBody>
        </p:sp>
      </p:grpSp>
      <p:cxnSp>
        <p:nvCxnSpPr>
          <p:cNvPr id="1050" name="AutoShape 20"/>
          <p:cNvCxnSpPr>
            <a:cxnSpLocks noChangeShapeType="1"/>
          </p:cNvCxnSpPr>
          <p:nvPr/>
        </p:nvCxnSpPr>
        <p:spPr bwMode="auto">
          <a:xfrm rot="10800000" flipH="1" flipV="1">
            <a:off x="2323268" y="6058636"/>
            <a:ext cx="3327" cy="323338"/>
          </a:xfrm>
          <a:prstGeom prst="bentConnector3">
            <a:avLst>
              <a:gd name="adj1" fmla="val -8400005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1052" name="Text Box 22"/>
          <p:cNvSpPr txBox="1">
            <a:spLocks noChangeArrowheads="1"/>
          </p:cNvSpPr>
          <p:nvPr/>
        </p:nvSpPr>
        <p:spPr bwMode="auto">
          <a:xfrm>
            <a:off x="1864178" y="1774401"/>
            <a:ext cx="411047" cy="25904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rIns="87032">
            <a:spAutoFit/>
          </a:bodyPr>
          <a:lstStyle/>
          <a:p>
            <a:pPr>
              <a:lnSpc>
                <a:spcPct val="80000"/>
              </a:lnSpc>
              <a:spcBef>
                <a:spcPct val="10000"/>
              </a:spcBef>
            </a:pPr>
            <a:r>
              <a:rPr lang="en-US" altLang="ko-KR" sz="1354" b="1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AP</a:t>
            </a:r>
          </a:p>
        </p:txBody>
      </p:sp>
      <p:cxnSp>
        <p:nvCxnSpPr>
          <p:cNvPr id="1055" name="AutoShape 25"/>
          <p:cNvCxnSpPr>
            <a:cxnSpLocks noChangeShapeType="1"/>
          </p:cNvCxnSpPr>
          <p:nvPr/>
        </p:nvCxnSpPr>
        <p:spPr bwMode="auto">
          <a:xfrm rot="16200000" flipH="1">
            <a:off x="4913894" y="3101218"/>
            <a:ext cx="926641" cy="169664"/>
          </a:xfrm>
          <a:prstGeom prst="bentConnector2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1056" name="AutoShape 26"/>
          <p:cNvCxnSpPr>
            <a:cxnSpLocks noChangeShapeType="1"/>
          </p:cNvCxnSpPr>
          <p:nvPr/>
        </p:nvCxnSpPr>
        <p:spPr bwMode="auto">
          <a:xfrm>
            <a:off x="4016578" y="2263352"/>
            <a:ext cx="244516" cy="388401"/>
          </a:xfrm>
          <a:prstGeom prst="straightConnector1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</p:spPr>
      </p:cxnSp>
      <p:cxnSp>
        <p:nvCxnSpPr>
          <p:cNvPr id="1057" name="AutoShape 27"/>
          <p:cNvCxnSpPr>
            <a:cxnSpLocks noChangeShapeType="1"/>
            <a:stCxn id="1029" idx="0"/>
          </p:cNvCxnSpPr>
          <p:nvPr/>
        </p:nvCxnSpPr>
        <p:spPr bwMode="auto">
          <a:xfrm>
            <a:off x="5289055" y="966055"/>
            <a:ext cx="3328" cy="1764561"/>
          </a:xfrm>
          <a:prstGeom prst="straightConnector1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</p:spPr>
      </p:cxnSp>
      <p:cxnSp>
        <p:nvCxnSpPr>
          <p:cNvPr id="1058" name="AutoShape 28"/>
          <p:cNvCxnSpPr>
            <a:cxnSpLocks noChangeShapeType="1"/>
          </p:cNvCxnSpPr>
          <p:nvPr/>
        </p:nvCxnSpPr>
        <p:spPr bwMode="auto">
          <a:xfrm flipH="1">
            <a:off x="4016578" y="1683709"/>
            <a:ext cx="277783" cy="335168"/>
          </a:xfrm>
          <a:prstGeom prst="straightConnector1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</p:spPr>
      </p:cxnSp>
      <p:graphicFrame>
        <p:nvGraphicFramePr>
          <p:cNvPr id="1026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7168303"/>
              </p:ext>
            </p:extLst>
          </p:nvPr>
        </p:nvGraphicFramePr>
        <p:xfrm>
          <a:off x="4349252" y="2018876"/>
          <a:ext cx="442456" cy="2602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6" name="훈민정음" r:id="rId8" imgW="590400" imgH="324000" progId="hunmin.doc">
                  <p:embed/>
                </p:oleObj>
              </mc:Choice>
              <mc:Fallback>
                <p:oleObj name="훈민정음" r:id="rId8" imgW="590400" imgH="324000" progId="hunmin.doc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9252" y="2018876"/>
                        <a:ext cx="442456" cy="2602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480279"/>
              </p:ext>
            </p:extLst>
          </p:nvPr>
        </p:nvGraphicFramePr>
        <p:xfrm>
          <a:off x="5067827" y="2030706"/>
          <a:ext cx="442456" cy="2898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7" name="그림" r:id="rId10" imgW="528480" imgH="311040" progId="StaticMetafile">
                  <p:embed/>
                </p:oleObj>
              </mc:Choice>
              <mc:Fallback>
                <p:oleObj name="그림" r:id="rId10" imgW="528480" imgH="311040" progId="StaticMetafil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7827" y="2030706"/>
                        <a:ext cx="442456" cy="2898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99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61" name="AutoShape 33"/>
          <p:cNvCxnSpPr>
            <a:cxnSpLocks noChangeShapeType="1"/>
          </p:cNvCxnSpPr>
          <p:nvPr/>
        </p:nvCxnSpPr>
        <p:spPr bwMode="auto">
          <a:xfrm flipH="1">
            <a:off x="4261094" y="2279124"/>
            <a:ext cx="309387" cy="388401"/>
          </a:xfrm>
          <a:prstGeom prst="straightConnector1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</p:spPr>
      </p:cxnSp>
      <p:cxnSp>
        <p:nvCxnSpPr>
          <p:cNvPr id="1062" name="AutoShape 34"/>
          <p:cNvCxnSpPr>
            <a:cxnSpLocks noChangeShapeType="1"/>
          </p:cNvCxnSpPr>
          <p:nvPr/>
        </p:nvCxnSpPr>
        <p:spPr bwMode="auto">
          <a:xfrm>
            <a:off x="4294361" y="1683709"/>
            <a:ext cx="276119" cy="335168"/>
          </a:xfrm>
          <a:prstGeom prst="straightConnector1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</p:spPr>
      </p:cxnSp>
      <p:cxnSp>
        <p:nvCxnSpPr>
          <p:cNvPr id="1063" name="AutoShape 35"/>
          <p:cNvCxnSpPr>
            <a:cxnSpLocks noChangeShapeType="1"/>
          </p:cNvCxnSpPr>
          <p:nvPr/>
        </p:nvCxnSpPr>
        <p:spPr bwMode="auto">
          <a:xfrm>
            <a:off x="4016578" y="1240105"/>
            <a:ext cx="277783" cy="341082"/>
          </a:xfrm>
          <a:prstGeom prst="straightConnector1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</p:spPr>
      </p:cxnSp>
      <p:cxnSp>
        <p:nvCxnSpPr>
          <p:cNvPr id="1064" name="AutoShape 36"/>
          <p:cNvCxnSpPr>
            <a:cxnSpLocks noChangeShapeType="1"/>
          </p:cNvCxnSpPr>
          <p:nvPr/>
        </p:nvCxnSpPr>
        <p:spPr bwMode="auto">
          <a:xfrm flipH="1">
            <a:off x="4294361" y="1224332"/>
            <a:ext cx="276119" cy="341082"/>
          </a:xfrm>
          <a:prstGeom prst="straightConnector1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</p:spPr>
      </p:cxnSp>
      <p:graphicFrame>
        <p:nvGraphicFramePr>
          <p:cNvPr id="1028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9809099"/>
              </p:ext>
            </p:extLst>
          </p:nvPr>
        </p:nvGraphicFramePr>
        <p:xfrm>
          <a:off x="5067827" y="1466835"/>
          <a:ext cx="442456" cy="2779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8" name="훈민정음" r:id="rId12" imgW="590400" imgH="324000" progId="hunmin.doc">
                  <p:embed/>
                </p:oleObj>
              </mc:Choice>
              <mc:Fallback>
                <p:oleObj name="훈민정음" r:id="rId12" imgW="590400" imgH="324000" progId="hunmin.doc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7827" y="1466835"/>
                        <a:ext cx="442456" cy="2779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2" name="Line 45"/>
          <p:cNvSpPr>
            <a:spLocks noChangeShapeType="1"/>
          </p:cNvSpPr>
          <p:nvPr/>
        </p:nvSpPr>
        <p:spPr bwMode="auto">
          <a:xfrm>
            <a:off x="5222521" y="719609"/>
            <a:ext cx="0" cy="34699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rIns="87032" anchor="ctr"/>
          <a:lstStyle/>
          <a:p>
            <a:endParaRPr lang="ko-KR" altLang="en-US" sz="1976"/>
          </a:p>
        </p:txBody>
      </p:sp>
      <p:sp>
        <p:nvSpPr>
          <p:cNvPr id="1073" name="Line 46"/>
          <p:cNvSpPr>
            <a:spLocks noChangeShapeType="1"/>
          </p:cNvSpPr>
          <p:nvPr/>
        </p:nvSpPr>
        <p:spPr bwMode="auto">
          <a:xfrm>
            <a:off x="5360580" y="719609"/>
            <a:ext cx="0" cy="34699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rIns="87032" anchor="ctr"/>
          <a:lstStyle/>
          <a:p>
            <a:endParaRPr lang="ko-KR" altLang="en-US" sz="1976"/>
          </a:p>
        </p:txBody>
      </p:sp>
      <p:graphicFrame>
        <p:nvGraphicFramePr>
          <p:cNvPr id="1029" name="Objec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3605668"/>
              </p:ext>
            </p:extLst>
          </p:nvPr>
        </p:nvGraphicFramePr>
        <p:xfrm>
          <a:off x="5067827" y="966055"/>
          <a:ext cx="442456" cy="2582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9" name="Picture" r:id="rId14" imgW="528480" imgH="311040" progId="StaticMetafile">
                  <p:embed/>
                </p:oleObj>
              </mc:Choice>
              <mc:Fallback>
                <p:oleObj name="Picture" r:id="rId14" imgW="528480" imgH="311040" progId="StaticMetafil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7827" y="966055"/>
                        <a:ext cx="442456" cy="2582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99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4" name="Line 48"/>
          <p:cNvSpPr>
            <a:spLocks noChangeShapeType="1"/>
          </p:cNvSpPr>
          <p:nvPr/>
        </p:nvSpPr>
        <p:spPr bwMode="auto">
          <a:xfrm>
            <a:off x="4016578" y="650603"/>
            <a:ext cx="0" cy="41600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rIns="87032" anchor="ctr"/>
          <a:lstStyle/>
          <a:p>
            <a:endParaRPr lang="ko-KR" altLang="en-US" sz="1976"/>
          </a:p>
        </p:txBody>
      </p:sp>
      <p:sp>
        <p:nvSpPr>
          <p:cNvPr id="1075" name="Line 49"/>
          <p:cNvSpPr>
            <a:spLocks noChangeShapeType="1"/>
          </p:cNvSpPr>
          <p:nvPr/>
        </p:nvSpPr>
        <p:spPr bwMode="auto">
          <a:xfrm>
            <a:off x="4570480" y="650603"/>
            <a:ext cx="0" cy="41600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rIns="87032" anchor="ctr"/>
          <a:lstStyle/>
          <a:p>
            <a:endParaRPr lang="ko-KR" altLang="en-US" sz="1976"/>
          </a:p>
        </p:txBody>
      </p:sp>
      <p:graphicFrame>
        <p:nvGraphicFramePr>
          <p:cNvPr id="1030" name="Object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0579140"/>
              </p:ext>
            </p:extLst>
          </p:nvPr>
        </p:nvGraphicFramePr>
        <p:xfrm>
          <a:off x="4349252" y="966055"/>
          <a:ext cx="442456" cy="2582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0" name="Picture" r:id="rId15" imgW="528480" imgH="311040" progId="StaticMetafile">
                  <p:embed/>
                </p:oleObj>
              </mc:Choice>
              <mc:Fallback>
                <p:oleObj name="Picture" r:id="rId15" imgW="528480" imgH="311040" progId="StaticMetafil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9252" y="966055"/>
                        <a:ext cx="442456" cy="2582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99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1" name="Object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3945981"/>
              </p:ext>
            </p:extLst>
          </p:nvPr>
        </p:nvGraphicFramePr>
        <p:xfrm>
          <a:off x="3793686" y="950282"/>
          <a:ext cx="444120" cy="2898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1" name="Picture" r:id="rId16" imgW="528480" imgH="311040" progId="StaticMetafile">
                  <p:embed/>
                </p:oleObj>
              </mc:Choice>
              <mc:Fallback>
                <p:oleObj name="Picture" r:id="rId16" imgW="528480" imgH="311040" progId="StaticMetafil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3686" y="950282"/>
                        <a:ext cx="444120" cy="2898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99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80" name="AutoShape 56"/>
          <p:cNvCxnSpPr>
            <a:cxnSpLocks noChangeShapeType="1"/>
          </p:cNvCxnSpPr>
          <p:nvPr/>
        </p:nvCxnSpPr>
        <p:spPr bwMode="auto">
          <a:xfrm flipH="1">
            <a:off x="4237807" y="1096179"/>
            <a:ext cx="111445" cy="0"/>
          </a:xfrm>
          <a:prstGeom prst="straightConnector1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</p:spPr>
      </p:cxnSp>
      <p:pic>
        <p:nvPicPr>
          <p:cNvPr id="1081" name="Picture 57" descr="Big_Cloud"/>
          <p:cNvPicPr preferRelativeResize="0">
            <a:picLocks noChangeArrowheads="1"/>
          </p:cNvPicPr>
          <p:nvPr/>
        </p:nvPicPr>
        <p:blipFill>
          <a:blip r:embed="rId17" cstate="print">
            <a:lum bright="20000" contrast="-20000"/>
          </a:blip>
          <a:srcRect/>
          <a:stretch>
            <a:fillRect/>
          </a:stretch>
        </p:blipFill>
        <p:spPr bwMode="auto">
          <a:xfrm>
            <a:off x="3665607" y="264174"/>
            <a:ext cx="1097824" cy="46529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</p:pic>
      <p:sp>
        <p:nvSpPr>
          <p:cNvPr id="1082" name="Text Box 58"/>
          <p:cNvSpPr txBox="1">
            <a:spLocks noChangeArrowheads="1"/>
          </p:cNvSpPr>
          <p:nvPr/>
        </p:nvSpPr>
        <p:spPr bwMode="auto">
          <a:xfrm>
            <a:off x="3780379" y="345009"/>
            <a:ext cx="786150" cy="25904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rIns="87032">
            <a:spAutoFit/>
          </a:bodyPr>
          <a:lstStyle/>
          <a:p>
            <a:pPr>
              <a:lnSpc>
                <a:spcPct val="80000"/>
              </a:lnSpc>
              <a:spcBef>
                <a:spcPct val="10000"/>
              </a:spcBef>
            </a:pPr>
            <a:r>
              <a:rPr lang="en-US" altLang="ko-KR" sz="1354" b="1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Internet</a:t>
            </a:r>
          </a:p>
        </p:txBody>
      </p:sp>
      <p:sp>
        <p:nvSpPr>
          <p:cNvPr id="1083" name="Rectangle 59"/>
          <p:cNvSpPr>
            <a:spLocks noChangeArrowheads="1"/>
          </p:cNvSpPr>
          <p:nvPr/>
        </p:nvSpPr>
        <p:spPr bwMode="auto">
          <a:xfrm>
            <a:off x="681617" y="4706135"/>
            <a:ext cx="2558168" cy="74722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 w="6350">
            <a:solidFill>
              <a:srgbClr val="B6B6B6"/>
            </a:solidFill>
            <a:miter lim="800000"/>
            <a:headEnd/>
            <a:tailEnd/>
          </a:ln>
        </p:spPr>
        <p:txBody>
          <a:bodyPr wrap="none" rIns="87032"/>
          <a:lstStyle/>
          <a:p>
            <a:pPr>
              <a:lnSpc>
                <a:spcPct val="80000"/>
              </a:lnSpc>
              <a:spcBef>
                <a:spcPct val="10000"/>
              </a:spcBef>
            </a:pPr>
            <a:r>
              <a:rPr lang="en-US" altLang="ko-KR" sz="1354" b="1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15</a:t>
            </a:r>
            <a:r>
              <a:rPr lang="ko-KR" altLang="en-US" sz="1354" b="1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층</a:t>
            </a:r>
          </a:p>
        </p:txBody>
      </p:sp>
      <p:grpSp>
        <p:nvGrpSpPr>
          <p:cNvPr id="5" name="Group 60"/>
          <p:cNvGrpSpPr>
            <a:grpSpLocks/>
          </p:cNvGrpSpPr>
          <p:nvPr/>
        </p:nvGrpSpPr>
        <p:grpSpPr bwMode="auto">
          <a:xfrm>
            <a:off x="2323268" y="4763110"/>
            <a:ext cx="710259" cy="704921"/>
            <a:chOff x="672" y="3713"/>
            <a:chExt cx="240" cy="181"/>
          </a:xfrm>
        </p:grpSpPr>
        <p:grpSp>
          <p:nvGrpSpPr>
            <p:cNvPr id="6" name="Group 61"/>
            <p:cNvGrpSpPr>
              <a:grpSpLocks/>
            </p:cNvGrpSpPr>
            <p:nvPr/>
          </p:nvGrpSpPr>
          <p:grpSpPr bwMode="auto">
            <a:xfrm>
              <a:off x="672" y="3713"/>
              <a:ext cx="240" cy="103"/>
              <a:chOff x="3379" y="965"/>
              <a:chExt cx="367" cy="190"/>
            </a:xfrm>
          </p:grpSpPr>
          <p:pic>
            <p:nvPicPr>
              <p:cNvPr id="1221" name="Picture 62"/>
              <p:cNvPicPr>
                <a:picLocks noChangeArrowheads="1"/>
              </p:cNvPicPr>
              <p:nvPr/>
            </p:nvPicPr>
            <p:blipFill>
              <a:blip r:embed="rId7" cstate="print"/>
              <a:srcRect/>
              <a:stretch>
                <a:fillRect/>
              </a:stretch>
            </p:blipFill>
            <p:spPr bwMode="auto">
              <a:xfrm>
                <a:off x="3379" y="965"/>
                <a:ext cx="367" cy="15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3135" name="Rectangle 63"/>
              <p:cNvSpPr>
                <a:spLocks noChangeArrowheads="1"/>
              </p:cNvSpPr>
              <p:nvPr/>
            </p:nvSpPr>
            <p:spPr bwMode="auto">
              <a:xfrm>
                <a:off x="3492" y="1036"/>
                <a:ext cx="43" cy="11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41049" tIns="20524" rIns="41049" bIns="20524">
                <a:spAutoFit/>
              </a:bodyPr>
              <a:lstStyle/>
              <a:p>
                <a:pPr algn="ctr" defTabSz="182680">
                  <a:defRPr/>
                </a:pPr>
                <a:endParaRPr lang="ko-KR" altLang="ko-KR" sz="1354" b="1">
                  <a:solidFill>
                    <a:srgbClr val="FFFF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돋움" pitchFamily="50" charset="-127"/>
                  <a:cs typeface="Times New Roman" pitchFamily="18" charset="0"/>
                </a:endParaRPr>
              </a:p>
            </p:txBody>
          </p:sp>
        </p:grpSp>
        <p:grpSp>
          <p:nvGrpSpPr>
            <p:cNvPr id="7" name="Group 64"/>
            <p:cNvGrpSpPr>
              <a:grpSpLocks/>
            </p:cNvGrpSpPr>
            <p:nvPr/>
          </p:nvGrpSpPr>
          <p:grpSpPr bwMode="auto">
            <a:xfrm>
              <a:off x="672" y="3791"/>
              <a:ext cx="240" cy="103"/>
              <a:chOff x="3379" y="965"/>
              <a:chExt cx="367" cy="191"/>
            </a:xfrm>
          </p:grpSpPr>
          <p:pic>
            <p:nvPicPr>
              <p:cNvPr id="1219" name="Picture 65"/>
              <p:cNvPicPr>
                <a:picLocks noChangeArrowheads="1"/>
              </p:cNvPicPr>
              <p:nvPr/>
            </p:nvPicPr>
            <p:blipFill>
              <a:blip r:embed="rId7" cstate="print"/>
              <a:srcRect/>
              <a:stretch>
                <a:fillRect/>
              </a:stretch>
            </p:blipFill>
            <p:spPr bwMode="auto">
              <a:xfrm>
                <a:off x="3379" y="965"/>
                <a:ext cx="367" cy="15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3138" name="Rectangle 66"/>
              <p:cNvSpPr>
                <a:spLocks noChangeArrowheads="1"/>
              </p:cNvSpPr>
              <p:nvPr/>
            </p:nvSpPr>
            <p:spPr bwMode="auto">
              <a:xfrm>
                <a:off x="3492" y="1037"/>
                <a:ext cx="43" cy="11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41049" tIns="20524" rIns="41049" bIns="20524">
                <a:spAutoFit/>
              </a:bodyPr>
              <a:lstStyle/>
              <a:p>
                <a:pPr algn="ctr" defTabSz="182680">
                  <a:defRPr/>
                </a:pPr>
                <a:endParaRPr lang="ko-KR" altLang="ko-KR" sz="1354" b="1">
                  <a:solidFill>
                    <a:srgbClr val="FFFF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돋움" pitchFamily="50" charset="-127"/>
                  <a:cs typeface="Times New Roman" pitchFamily="18" charset="0"/>
                </a:endParaRPr>
              </a:p>
            </p:txBody>
          </p:sp>
        </p:grpSp>
        <p:cxnSp>
          <p:nvCxnSpPr>
            <p:cNvPr id="1218" name="AutoShape 67"/>
            <p:cNvCxnSpPr>
              <a:cxnSpLocks noChangeShapeType="1"/>
            </p:cNvCxnSpPr>
            <p:nvPr/>
          </p:nvCxnSpPr>
          <p:spPr bwMode="auto">
            <a:xfrm rot="10800000" flipH="1" flipV="1">
              <a:off x="672" y="3750"/>
              <a:ext cx="1" cy="83"/>
            </a:xfrm>
            <a:prstGeom prst="bentConnector3">
              <a:avLst>
                <a:gd name="adj1" fmla="val -8400005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</p:cxnSp>
      </p:grpSp>
      <p:sp>
        <p:nvSpPr>
          <p:cNvPr id="1087" name="Rectangle 70"/>
          <p:cNvSpPr>
            <a:spLocks noChangeArrowheads="1"/>
          </p:cNvSpPr>
          <p:nvPr/>
        </p:nvSpPr>
        <p:spPr bwMode="auto">
          <a:xfrm>
            <a:off x="681617" y="3538962"/>
            <a:ext cx="2558167" cy="74722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 w="6350">
            <a:solidFill>
              <a:srgbClr val="B6B6B6"/>
            </a:solidFill>
            <a:miter lim="800000"/>
            <a:headEnd/>
            <a:tailEnd/>
          </a:ln>
        </p:spPr>
        <p:txBody>
          <a:bodyPr wrap="none" rIns="87032"/>
          <a:lstStyle/>
          <a:p>
            <a:pPr>
              <a:lnSpc>
                <a:spcPct val="80000"/>
              </a:lnSpc>
              <a:spcBef>
                <a:spcPct val="10000"/>
              </a:spcBef>
            </a:pPr>
            <a:r>
              <a:rPr lang="en-US" altLang="ko-KR" sz="1354" b="1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16</a:t>
            </a:r>
            <a:r>
              <a:rPr lang="ko-KR" altLang="en-US" sz="1354" b="1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층</a:t>
            </a:r>
          </a:p>
        </p:txBody>
      </p:sp>
      <p:grpSp>
        <p:nvGrpSpPr>
          <p:cNvPr id="8" name="Group 71"/>
          <p:cNvGrpSpPr>
            <a:grpSpLocks/>
          </p:cNvGrpSpPr>
          <p:nvPr/>
        </p:nvGrpSpPr>
        <p:grpSpPr bwMode="auto">
          <a:xfrm>
            <a:off x="2323268" y="3595937"/>
            <a:ext cx="710259" cy="704921"/>
            <a:chOff x="672" y="3713"/>
            <a:chExt cx="240" cy="181"/>
          </a:xfrm>
        </p:grpSpPr>
        <p:grpSp>
          <p:nvGrpSpPr>
            <p:cNvPr id="9" name="Group 72"/>
            <p:cNvGrpSpPr>
              <a:grpSpLocks/>
            </p:cNvGrpSpPr>
            <p:nvPr/>
          </p:nvGrpSpPr>
          <p:grpSpPr bwMode="auto">
            <a:xfrm>
              <a:off x="672" y="3713"/>
              <a:ext cx="240" cy="103"/>
              <a:chOff x="3379" y="965"/>
              <a:chExt cx="367" cy="190"/>
            </a:xfrm>
          </p:grpSpPr>
          <p:pic>
            <p:nvPicPr>
              <p:cNvPr id="1214" name="Picture 73"/>
              <p:cNvPicPr>
                <a:picLocks noChangeArrowheads="1"/>
              </p:cNvPicPr>
              <p:nvPr/>
            </p:nvPicPr>
            <p:blipFill>
              <a:blip r:embed="rId7" cstate="print"/>
              <a:srcRect/>
              <a:stretch>
                <a:fillRect/>
              </a:stretch>
            </p:blipFill>
            <p:spPr bwMode="auto">
              <a:xfrm>
                <a:off x="3379" y="965"/>
                <a:ext cx="367" cy="15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3146" name="Rectangle 74"/>
              <p:cNvSpPr>
                <a:spLocks noChangeArrowheads="1"/>
              </p:cNvSpPr>
              <p:nvPr/>
            </p:nvSpPr>
            <p:spPr bwMode="auto">
              <a:xfrm>
                <a:off x="3492" y="1036"/>
                <a:ext cx="43" cy="11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41049" tIns="20524" rIns="41049" bIns="20524">
                <a:spAutoFit/>
              </a:bodyPr>
              <a:lstStyle/>
              <a:p>
                <a:pPr algn="ctr" defTabSz="182680">
                  <a:defRPr/>
                </a:pPr>
                <a:endParaRPr lang="ko-KR" altLang="ko-KR" sz="1354" b="1">
                  <a:solidFill>
                    <a:srgbClr val="FFFF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돋움" pitchFamily="50" charset="-127"/>
                  <a:cs typeface="Times New Roman" pitchFamily="18" charset="0"/>
                </a:endParaRPr>
              </a:p>
            </p:txBody>
          </p:sp>
        </p:grpSp>
        <p:grpSp>
          <p:nvGrpSpPr>
            <p:cNvPr id="10" name="Group 75"/>
            <p:cNvGrpSpPr>
              <a:grpSpLocks/>
            </p:cNvGrpSpPr>
            <p:nvPr/>
          </p:nvGrpSpPr>
          <p:grpSpPr bwMode="auto">
            <a:xfrm>
              <a:off x="672" y="3791"/>
              <a:ext cx="240" cy="103"/>
              <a:chOff x="3379" y="965"/>
              <a:chExt cx="367" cy="191"/>
            </a:xfrm>
          </p:grpSpPr>
          <p:pic>
            <p:nvPicPr>
              <p:cNvPr id="1212" name="Picture 76"/>
              <p:cNvPicPr>
                <a:picLocks noChangeArrowheads="1"/>
              </p:cNvPicPr>
              <p:nvPr/>
            </p:nvPicPr>
            <p:blipFill>
              <a:blip r:embed="rId7" cstate="print"/>
              <a:srcRect/>
              <a:stretch>
                <a:fillRect/>
              </a:stretch>
            </p:blipFill>
            <p:spPr bwMode="auto">
              <a:xfrm>
                <a:off x="3379" y="965"/>
                <a:ext cx="367" cy="15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3149" name="Rectangle 77"/>
              <p:cNvSpPr>
                <a:spLocks noChangeArrowheads="1"/>
              </p:cNvSpPr>
              <p:nvPr/>
            </p:nvSpPr>
            <p:spPr bwMode="auto">
              <a:xfrm>
                <a:off x="3492" y="1037"/>
                <a:ext cx="43" cy="11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41049" tIns="20524" rIns="41049" bIns="20524">
                <a:spAutoFit/>
              </a:bodyPr>
              <a:lstStyle/>
              <a:p>
                <a:pPr algn="ctr" defTabSz="182680">
                  <a:defRPr/>
                </a:pPr>
                <a:endParaRPr lang="ko-KR" altLang="ko-KR" sz="1354" b="1">
                  <a:solidFill>
                    <a:srgbClr val="FFFF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돋움" pitchFamily="50" charset="-127"/>
                  <a:cs typeface="Times New Roman" pitchFamily="18" charset="0"/>
                </a:endParaRPr>
              </a:p>
            </p:txBody>
          </p:sp>
        </p:grpSp>
        <p:cxnSp>
          <p:nvCxnSpPr>
            <p:cNvPr id="1211" name="AutoShape 78"/>
            <p:cNvCxnSpPr>
              <a:cxnSpLocks noChangeShapeType="1"/>
            </p:cNvCxnSpPr>
            <p:nvPr/>
          </p:nvCxnSpPr>
          <p:spPr bwMode="auto">
            <a:xfrm rot="10800000" flipH="1" flipV="1">
              <a:off x="672" y="3750"/>
              <a:ext cx="1" cy="83"/>
            </a:xfrm>
            <a:prstGeom prst="bentConnector3">
              <a:avLst>
                <a:gd name="adj1" fmla="val -8400005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</p:cxnSp>
      </p:grpSp>
      <p:sp>
        <p:nvSpPr>
          <p:cNvPr id="1091" name="Rectangle 81"/>
          <p:cNvSpPr>
            <a:spLocks noChangeArrowheads="1"/>
          </p:cNvSpPr>
          <p:nvPr/>
        </p:nvSpPr>
        <p:spPr bwMode="auto">
          <a:xfrm>
            <a:off x="681617" y="2403334"/>
            <a:ext cx="2558168" cy="74722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 w="6350">
            <a:solidFill>
              <a:srgbClr val="B6B6B6"/>
            </a:solidFill>
            <a:miter lim="800000"/>
            <a:headEnd/>
            <a:tailEnd/>
          </a:ln>
        </p:spPr>
        <p:txBody>
          <a:bodyPr wrap="none" rIns="87032"/>
          <a:lstStyle/>
          <a:p>
            <a:pPr>
              <a:lnSpc>
                <a:spcPct val="80000"/>
              </a:lnSpc>
              <a:spcBef>
                <a:spcPct val="10000"/>
              </a:spcBef>
            </a:pPr>
            <a:r>
              <a:rPr lang="en-US" altLang="ko-KR" sz="1354" b="1" dirty="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17</a:t>
            </a:r>
            <a:r>
              <a:rPr lang="ko-KR" altLang="en-US" sz="1354" b="1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층</a:t>
            </a:r>
          </a:p>
        </p:txBody>
      </p:sp>
      <p:grpSp>
        <p:nvGrpSpPr>
          <p:cNvPr id="11" name="Group 82"/>
          <p:cNvGrpSpPr>
            <a:grpSpLocks/>
          </p:cNvGrpSpPr>
          <p:nvPr/>
        </p:nvGrpSpPr>
        <p:grpSpPr bwMode="auto">
          <a:xfrm>
            <a:off x="2323268" y="2448635"/>
            <a:ext cx="710259" cy="716605"/>
            <a:chOff x="672" y="3710"/>
            <a:chExt cx="240" cy="184"/>
          </a:xfrm>
        </p:grpSpPr>
        <p:grpSp>
          <p:nvGrpSpPr>
            <p:cNvPr id="12" name="Group 83"/>
            <p:cNvGrpSpPr>
              <a:grpSpLocks/>
            </p:cNvGrpSpPr>
            <p:nvPr/>
          </p:nvGrpSpPr>
          <p:grpSpPr bwMode="auto">
            <a:xfrm>
              <a:off x="672" y="3710"/>
              <a:ext cx="240" cy="102"/>
              <a:chOff x="3379" y="965"/>
              <a:chExt cx="367" cy="189"/>
            </a:xfrm>
          </p:grpSpPr>
          <p:pic>
            <p:nvPicPr>
              <p:cNvPr id="1207" name="Picture 84"/>
              <p:cNvPicPr>
                <a:picLocks noChangeArrowheads="1"/>
              </p:cNvPicPr>
              <p:nvPr/>
            </p:nvPicPr>
            <p:blipFill>
              <a:blip r:embed="rId7" cstate="print"/>
              <a:srcRect/>
              <a:stretch>
                <a:fillRect/>
              </a:stretch>
            </p:blipFill>
            <p:spPr bwMode="auto">
              <a:xfrm>
                <a:off x="3379" y="965"/>
                <a:ext cx="367" cy="15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3157" name="Rectangle 85"/>
              <p:cNvSpPr>
                <a:spLocks noChangeArrowheads="1"/>
              </p:cNvSpPr>
              <p:nvPr/>
            </p:nvSpPr>
            <p:spPr bwMode="auto">
              <a:xfrm>
                <a:off x="3492" y="1035"/>
                <a:ext cx="43" cy="11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41049" tIns="20524" rIns="41049" bIns="20524">
                <a:spAutoFit/>
              </a:bodyPr>
              <a:lstStyle/>
              <a:p>
                <a:pPr algn="ctr" defTabSz="182680">
                  <a:defRPr/>
                </a:pPr>
                <a:endParaRPr lang="ko-KR" altLang="ko-KR" sz="1354" b="1">
                  <a:solidFill>
                    <a:srgbClr val="FFFF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돋움" pitchFamily="50" charset="-127"/>
                  <a:cs typeface="Times New Roman" pitchFamily="18" charset="0"/>
                </a:endParaRPr>
              </a:p>
            </p:txBody>
          </p:sp>
        </p:grpSp>
        <p:grpSp>
          <p:nvGrpSpPr>
            <p:cNvPr id="13" name="Group 86"/>
            <p:cNvGrpSpPr>
              <a:grpSpLocks/>
            </p:cNvGrpSpPr>
            <p:nvPr/>
          </p:nvGrpSpPr>
          <p:grpSpPr bwMode="auto">
            <a:xfrm>
              <a:off x="672" y="3791"/>
              <a:ext cx="240" cy="103"/>
              <a:chOff x="3379" y="965"/>
              <a:chExt cx="367" cy="191"/>
            </a:xfrm>
          </p:grpSpPr>
          <p:pic>
            <p:nvPicPr>
              <p:cNvPr id="1205" name="Picture 87"/>
              <p:cNvPicPr>
                <a:picLocks noChangeArrowheads="1"/>
              </p:cNvPicPr>
              <p:nvPr/>
            </p:nvPicPr>
            <p:blipFill>
              <a:blip r:embed="rId7" cstate="print"/>
              <a:srcRect/>
              <a:stretch>
                <a:fillRect/>
              </a:stretch>
            </p:blipFill>
            <p:spPr bwMode="auto">
              <a:xfrm>
                <a:off x="3379" y="965"/>
                <a:ext cx="367" cy="15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3160" name="Rectangle 88"/>
              <p:cNvSpPr>
                <a:spLocks noChangeArrowheads="1"/>
              </p:cNvSpPr>
              <p:nvPr/>
            </p:nvSpPr>
            <p:spPr bwMode="auto">
              <a:xfrm>
                <a:off x="3492" y="1037"/>
                <a:ext cx="43" cy="11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41049" tIns="20524" rIns="41049" bIns="20524">
                <a:spAutoFit/>
              </a:bodyPr>
              <a:lstStyle/>
              <a:p>
                <a:pPr algn="ctr" defTabSz="182680">
                  <a:defRPr/>
                </a:pPr>
                <a:endParaRPr lang="ko-KR" altLang="ko-KR" sz="1354" b="1">
                  <a:solidFill>
                    <a:srgbClr val="FFFF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돋움" pitchFamily="50" charset="-127"/>
                  <a:cs typeface="Times New Roman" pitchFamily="18" charset="0"/>
                </a:endParaRPr>
              </a:p>
            </p:txBody>
          </p:sp>
        </p:grpSp>
        <p:cxnSp>
          <p:nvCxnSpPr>
            <p:cNvPr id="1204" name="AutoShape 89"/>
            <p:cNvCxnSpPr>
              <a:cxnSpLocks noChangeShapeType="1"/>
            </p:cNvCxnSpPr>
            <p:nvPr/>
          </p:nvCxnSpPr>
          <p:spPr bwMode="auto">
            <a:xfrm rot="10800000" flipH="1" flipV="1">
              <a:off x="672" y="3750"/>
              <a:ext cx="1" cy="83"/>
            </a:xfrm>
            <a:prstGeom prst="bentConnector3">
              <a:avLst>
                <a:gd name="adj1" fmla="val -8400005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</p:cxnSp>
      </p:grpSp>
      <p:sp>
        <p:nvSpPr>
          <p:cNvPr id="1095" name="Rectangle 92"/>
          <p:cNvSpPr>
            <a:spLocks noChangeArrowheads="1"/>
          </p:cNvSpPr>
          <p:nvPr/>
        </p:nvSpPr>
        <p:spPr bwMode="auto">
          <a:xfrm>
            <a:off x="6403513" y="5841763"/>
            <a:ext cx="2238764" cy="74722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 w="6350">
            <a:solidFill>
              <a:srgbClr val="B6B6B6"/>
            </a:solidFill>
            <a:miter lim="800000"/>
            <a:headEnd/>
            <a:tailEnd/>
          </a:ln>
        </p:spPr>
        <p:txBody>
          <a:bodyPr wrap="none" rIns="87032"/>
          <a:lstStyle/>
          <a:p>
            <a:pPr>
              <a:lnSpc>
                <a:spcPct val="80000"/>
              </a:lnSpc>
              <a:spcBef>
                <a:spcPct val="10000"/>
              </a:spcBef>
            </a:pPr>
            <a:r>
              <a:rPr lang="en-US" altLang="ko-KR" sz="1354" b="1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                                    1</a:t>
            </a:r>
            <a:r>
              <a:rPr lang="ko-KR" altLang="en-US" sz="1354" b="1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층</a:t>
            </a:r>
          </a:p>
        </p:txBody>
      </p:sp>
      <p:grpSp>
        <p:nvGrpSpPr>
          <p:cNvPr id="14" name="Group 93"/>
          <p:cNvGrpSpPr>
            <a:grpSpLocks/>
          </p:cNvGrpSpPr>
          <p:nvPr/>
        </p:nvGrpSpPr>
        <p:grpSpPr bwMode="auto">
          <a:xfrm>
            <a:off x="6608107" y="5881194"/>
            <a:ext cx="710259" cy="398329"/>
            <a:chOff x="3379" y="965"/>
            <a:chExt cx="367" cy="190"/>
          </a:xfrm>
        </p:grpSpPr>
        <p:pic>
          <p:nvPicPr>
            <p:cNvPr id="1200" name="Picture 94"/>
            <p:cNvPicPr>
              <a:picLocks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3379" y="965"/>
              <a:ext cx="367" cy="1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167" name="Rectangle 95"/>
            <p:cNvSpPr>
              <a:spLocks noChangeArrowheads="1"/>
            </p:cNvSpPr>
            <p:nvPr/>
          </p:nvSpPr>
          <p:spPr bwMode="auto">
            <a:xfrm>
              <a:off x="3493" y="1036"/>
              <a:ext cx="43" cy="1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41049" tIns="20524" rIns="41049" bIns="20524">
              <a:spAutoFit/>
            </a:bodyPr>
            <a:lstStyle/>
            <a:p>
              <a:pPr algn="ctr" defTabSz="182680">
                <a:defRPr/>
              </a:pPr>
              <a:endParaRPr lang="ko-KR" altLang="ko-KR" sz="1354" b="1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돋움" pitchFamily="50" charset="-127"/>
                <a:cs typeface="Times New Roman" pitchFamily="18" charset="0"/>
              </a:endParaRPr>
            </a:p>
          </p:txBody>
        </p:sp>
      </p:grpSp>
      <p:grpSp>
        <p:nvGrpSpPr>
          <p:cNvPr id="15" name="Group 96"/>
          <p:cNvGrpSpPr>
            <a:grpSpLocks/>
          </p:cNvGrpSpPr>
          <p:nvPr/>
        </p:nvGrpSpPr>
        <p:grpSpPr bwMode="auto">
          <a:xfrm>
            <a:off x="6608107" y="6204537"/>
            <a:ext cx="710259" cy="404120"/>
            <a:chOff x="3379" y="965"/>
            <a:chExt cx="367" cy="192"/>
          </a:xfrm>
        </p:grpSpPr>
        <p:pic>
          <p:nvPicPr>
            <p:cNvPr id="1198" name="Picture 97"/>
            <p:cNvPicPr>
              <a:picLocks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3379" y="965"/>
              <a:ext cx="367" cy="1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170" name="Rectangle 98"/>
            <p:cNvSpPr>
              <a:spLocks noChangeArrowheads="1"/>
            </p:cNvSpPr>
            <p:nvPr/>
          </p:nvSpPr>
          <p:spPr bwMode="auto">
            <a:xfrm>
              <a:off x="3493" y="1038"/>
              <a:ext cx="43" cy="1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41049" tIns="20524" rIns="41049" bIns="20524">
              <a:spAutoFit/>
            </a:bodyPr>
            <a:lstStyle/>
            <a:p>
              <a:pPr algn="ctr" defTabSz="182680">
                <a:defRPr/>
              </a:pPr>
              <a:endParaRPr lang="ko-KR" altLang="ko-KR" sz="1354" b="1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돋움" pitchFamily="50" charset="-127"/>
                <a:cs typeface="Times New Roman" pitchFamily="18" charset="0"/>
              </a:endParaRPr>
            </a:p>
          </p:txBody>
        </p:sp>
      </p:grpSp>
      <p:cxnSp>
        <p:nvCxnSpPr>
          <p:cNvPr id="1098" name="AutoShape 99"/>
          <p:cNvCxnSpPr>
            <a:cxnSpLocks noChangeShapeType="1"/>
          </p:cNvCxnSpPr>
          <p:nvPr/>
        </p:nvCxnSpPr>
        <p:spPr bwMode="auto">
          <a:xfrm>
            <a:off x="7318366" y="6042863"/>
            <a:ext cx="1663" cy="323338"/>
          </a:xfrm>
          <a:prstGeom prst="bentConnector3">
            <a:avLst>
              <a:gd name="adj1" fmla="val 14300005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1101" name="Rectangle 102"/>
          <p:cNvSpPr>
            <a:spLocks noChangeArrowheads="1"/>
          </p:cNvSpPr>
          <p:nvPr/>
        </p:nvSpPr>
        <p:spPr bwMode="auto">
          <a:xfrm>
            <a:off x="6406840" y="4690362"/>
            <a:ext cx="2235437" cy="74722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 w="6350">
            <a:solidFill>
              <a:srgbClr val="B6B6B6"/>
            </a:solidFill>
            <a:miter lim="800000"/>
            <a:headEnd/>
            <a:tailEnd/>
          </a:ln>
        </p:spPr>
        <p:txBody>
          <a:bodyPr wrap="none" rIns="87032"/>
          <a:lstStyle/>
          <a:p>
            <a:pPr>
              <a:lnSpc>
                <a:spcPct val="80000"/>
              </a:lnSpc>
              <a:spcBef>
                <a:spcPct val="10000"/>
              </a:spcBef>
            </a:pPr>
            <a:r>
              <a:rPr lang="en-US" altLang="ko-KR" sz="1354" b="1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                                    2</a:t>
            </a:r>
            <a:r>
              <a:rPr lang="ko-KR" altLang="en-US" sz="1354" b="1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층</a:t>
            </a:r>
          </a:p>
        </p:txBody>
      </p:sp>
      <p:grpSp>
        <p:nvGrpSpPr>
          <p:cNvPr id="16" name="Group 103"/>
          <p:cNvGrpSpPr>
            <a:grpSpLocks/>
          </p:cNvGrpSpPr>
          <p:nvPr/>
        </p:nvGrpSpPr>
        <p:grpSpPr bwMode="auto">
          <a:xfrm>
            <a:off x="6611434" y="4729794"/>
            <a:ext cx="710259" cy="398329"/>
            <a:chOff x="3379" y="965"/>
            <a:chExt cx="367" cy="190"/>
          </a:xfrm>
        </p:grpSpPr>
        <p:pic>
          <p:nvPicPr>
            <p:cNvPr id="1196" name="Picture 104"/>
            <p:cNvPicPr>
              <a:picLocks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3379" y="965"/>
              <a:ext cx="367" cy="1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177" name="Rectangle 105"/>
            <p:cNvSpPr>
              <a:spLocks noChangeArrowheads="1"/>
            </p:cNvSpPr>
            <p:nvPr/>
          </p:nvSpPr>
          <p:spPr bwMode="auto">
            <a:xfrm>
              <a:off x="3493" y="1036"/>
              <a:ext cx="43" cy="1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41049" tIns="20524" rIns="41049" bIns="20524">
              <a:spAutoFit/>
            </a:bodyPr>
            <a:lstStyle/>
            <a:p>
              <a:pPr algn="ctr" defTabSz="182680">
                <a:defRPr/>
              </a:pPr>
              <a:endParaRPr lang="ko-KR" altLang="ko-KR" sz="1354" b="1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돋움" pitchFamily="50" charset="-127"/>
                <a:cs typeface="Times New Roman" pitchFamily="18" charset="0"/>
              </a:endParaRPr>
            </a:p>
          </p:txBody>
        </p:sp>
      </p:grpSp>
      <p:grpSp>
        <p:nvGrpSpPr>
          <p:cNvPr id="17" name="Group 106"/>
          <p:cNvGrpSpPr>
            <a:grpSpLocks/>
          </p:cNvGrpSpPr>
          <p:nvPr/>
        </p:nvGrpSpPr>
        <p:grpSpPr bwMode="auto">
          <a:xfrm>
            <a:off x="6611434" y="5053137"/>
            <a:ext cx="710259" cy="404120"/>
            <a:chOff x="3379" y="965"/>
            <a:chExt cx="367" cy="192"/>
          </a:xfrm>
        </p:grpSpPr>
        <p:pic>
          <p:nvPicPr>
            <p:cNvPr id="1194" name="Picture 107"/>
            <p:cNvPicPr>
              <a:picLocks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3379" y="965"/>
              <a:ext cx="367" cy="1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180" name="Rectangle 108"/>
            <p:cNvSpPr>
              <a:spLocks noChangeArrowheads="1"/>
            </p:cNvSpPr>
            <p:nvPr/>
          </p:nvSpPr>
          <p:spPr bwMode="auto">
            <a:xfrm>
              <a:off x="3493" y="1038"/>
              <a:ext cx="43" cy="1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41049" tIns="20524" rIns="41049" bIns="20524">
              <a:spAutoFit/>
            </a:bodyPr>
            <a:lstStyle/>
            <a:p>
              <a:pPr algn="ctr" defTabSz="182680">
                <a:defRPr/>
              </a:pPr>
              <a:endParaRPr lang="ko-KR" altLang="ko-KR" sz="1354" b="1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돋움" pitchFamily="50" charset="-127"/>
                <a:cs typeface="Times New Roman" pitchFamily="18" charset="0"/>
              </a:endParaRPr>
            </a:p>
          </p:txBody>
        </p:sp>
      </p:grpSp>
      <p:cxnSp>
        <p:nvCxnSpPr>
          <p:cNvPr id="1104" name="AutoShape 109"/>
          <p:cNvCxnSpPr>
            <a:cxnSpLocks noChangeShapeType="1"/>
          </p:cNvCxnSpPr>
          <p:nvPr/>
        </p:nvCxnSpPr>
        <p:spPr bwMode="auto">
          <a:xfrm>
            <a:off x="7321693" y="4891463"/>
            <a:ext cx="1663" cy="323338"/>
          </a:xfrm>
          <a:prstGeom prst="bentConnector3">
            <a:avLst>
              <a:gd name="adj1" fmla="val 14300005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1107" name="Rectangle 112"/>
          <p:cNvSpPr>
            <a:spLocks noChangeArrowheads="1"/>
          </p:cNvSpPr>
          <p:nvPr/>
        </p:nvSpPr>
        <p:spPr bwMode="auto">
          <a:xfrm>
            <a:off x="6406840" y="3491644"/>
            <a:ext cx="2235437" cy="74722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 w="6350">
            <a:solidFill>
              <a:srgbClr val="B6B6B6"/>
            </a:solidFill>
            <a:miter lim="800000"/>
            <a:headEnd/>
            <a:tailEnd/>
          </a:ln>
        </p:spPr>
        <p:txBody>
          <a:bodyPr wrap="none" rIns="87032"/>
          <a:lstStyle/>
          <a:p>
            <a:pPr>
              <a:lnSpc>
                <a:spcPct val="80000"/>
              </a:lnSpc>
              <a:spcBef>
                <a:spcPct val="10000"/>
              </a:spcBef>
            </a:pPr>
            <a:r>
              <a:rPr lang="en-US" altLang="ko-KR" sz="1354" b="1" dirty="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                                    3</a:t>
            </a:r>
            <a:r>
              <a:rPr lang="ko-KR" altLang="en-US" sz="1354" b="1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층</a:t>
            </a:r>
          </a:p>
        </p:txBody>
      </p:sp>
      <p:grpSp>
        <p:nvGrpSpPr>
          <p:cNvPr id="18" name="Group 113"/>
          <p:cNvGrpSpPr>
            <a:grpSpLocks/>
          </p:cNvGrpSpPr>
          <p:nvPr/>
        </p:nvGrpSpPr>
        <p:grpSpPr bwMode="auto">
          <a:xfrm>
            <a:off x="6611434" y="3531076"/>
            <a:ext cx="710259" cy="398329"/>
            <a:chOff x="3379" y="965"/>
            <a:chExt cx="367" cy="190"/>
          </a:xfrm>
        </p:grpSpPr>
        <p:pic>
          <p:nvPicPr>
            <p:cNvPr id="1192" name="Picture 114"/>
            <p:cNvPicPr>
              <a:picLocks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3379" y="965"/>
              <a:ext cx="367" cy="1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187" name="Rectangle 115"/>
            <p:cNvSpPr>
              <a:spLocks noChangeArrowheads="1"/>
            </p:cNvSpPr>
            <p:nvPr/>
          </p:nvSpPr>
          <p:spPr bwMode="auto">
            <a:xfrm>
              <a:off x="3493" y="1036"/>
              <a:ext cx="43" cy="1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41049" tIns="20524" rIns="41049" bIns="20524">
              <a:spAutoFit/>
            </a:bodyPr>
            <a:lstStyle/>
            <a:p>
              <a:pPr algn="ctr" defTabSz="182680">
                <a:defRPr/>
              </a:pPr>
              <a:endParaRPr lang="ko-KR" altLang="ko-KR" sz="1354" b="1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돋움" pitchFamily="50" charset="-127"/>
                <a:cs typeface="Times New Roman" pitchFamily="18" charset="0"/>
              </a:endParaRPr>
            </a:p>
          </p:txBody>
        </p:sp>
      </p:grpSp>
      <p:grpSp>
        <p:nvGrpSpPr>
          <p:cNvPr id="19" name="Group 116"/>
          <p:cNvGrpSpPr>
            <a:grpSpLocks/>
          </p:cNvGrpSpPr>
          <p:nvPr/>
        </p:nvGrpSpPr>
        <p:grpSpPr bwMode="auto">
          <a:xfrm>
            <a:off x="6611434" y="3854418"/>
            <a:ext cx="710259" cy="402015"/>
            <a:chOff x="3379" y="965"/>
            <a:chExt cx="367" cy="191"/>
          </a:xfrm>
        </p:grpSpPr>
        <p:pic>
          <p:nvPicPr>
            <p:cNvPr id="1190" name="Picture 117"/>
            <p:cNvPicPr>
              <a:picLocks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3379" y="965"/>
              <a:ext cx="367" cy="1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190" name="Rectangle 118"/>
            <p:cNvSpPr>
              <a:spLocks noChangeArrowheads="1"/>
            </p:cNvSpPr>
            <p:nvPr/>
          </p:nvSpPr>
          <p:spPr bwMode="auto">
            <a:xfrm>
              <a:off x="3493" y="1037"/>
              <a:ext cx="43" cy="1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41049" tIns="20524" rIns="41049" bIns="20524">
              <a:spAutoFit/>
            </a:bodyPr>
            <a:lstStyle/>
            <a:p>
              <a:pPr algn="ctr" defTabSz="182680">
                <a:defRPr/>
              </a:pPr>
              <a:endParaRPr lang="ko-KR" altLang="ko-KR" sz="1354" b="1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돋움" pitchFamily="50" charset="-127"/>
                <a:cs typeface="Times New Roman" pitchFamily="18" charset="0"/>
              </a:endParaRPr>
            </a:p>
          </p:txBody>
        </p:sp>
      </p:grpSp>
      <p:cxnSp>
        <p:nvCxnSpPr>
          <p:cNvPr id="1110" name="AutoShape 119"/>
          <p:cNvCxnSpPr>
            <a:cxnSpLocks noChangeShapeType="1"/>
          </p:cNvCxnSpPr>
          <p:nvPr/>
        </p:nvCxnSpPr>
        <p:spPr bwMode="auto">
          <a:xfrm>
            <a:off x="7321693" y="3692745"/>
            <a:ext cx="1663" cy="323338"/>
          </a:xfrm>
          <a:prstGeom prst="bentConnector3">
            <a:avLst>
              <a:gd name="adj1" fmla="val 14300005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1113" name="Rectangle 122"/>
          <p:cNvSpPr>
            <a:spLocks noChangeArrowheads="1"/>
          </p:cNvSpPr>
          <p:nvPr/>
        </p:nvSpPr>
        <p:spPr bwMode="auto">
          <a:xfrm>
            <a:off x="6406840" y="2340244"/>
            <a:ext cx="2235437" cy="74722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 w="6350">
            <a:solidFill>
              <a:srgbClr val="B6B6B6"/>
            </a:solidFill>
            <a:miter lim="800000"/>
            <a:headEnd/>
            <a:tailEnd/>
          </a:ln>
        </p:spPr>
        <p:txBody>
          <a:bodyPr wrap="none" rIns="87032"/>
          <a:lstStyle/>
          <a:p>
            <a:pPr>
              <a:lnSpc>
                <a:spcPct val="80000"/>
              </a:lnSpc>
              <a:spcBef>
                <a:spcPct val="10000"/>
              </a:spcBef>
            </a:pPr>
            <a:r>
              <a:rPr lang="en-US" altLang="ko-KR" sz="1354" b="1" dirty="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                                    4</a:t>
            </a:r>
            <a:r>
              <a:rPr lang="ko-KR" altLang="en-US" sz="1354" b="1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층</a:t>
            </a:r>
          </a:p>
        </p:txBody>
      </p:sp>
      <p:grpSp>
        <p:nvGrpSpPr>
          <p:cNvPr id="20" name="Group 123"/>
          <p:cNvGrpSpPr>
            <a:grpSpLocks/>
          </p:cNvGrpSpPr>
          <p:nvPr/>
        </p:nvGrpSpPr>
        <p:grpSpPr bwMode="auto">
          <a:xfrm>
            <a:off x="6611434" y="2379675"/>
            <a:ext cx="710259" cy="398329"/>
            <a:chOff x="3379" y="965"/>
            <a:chExt cx="367" cy="190"/>
          </a:xfrm>
        </p:grpSpPr>
        <p:pic>
          <p:nvPicPr>
            <p:cNvPr id="1188" name="Picture 124"/>
            <p:cNvPicPr>
              <a:picLocks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3379" y="965"/>
              <a:ext cx="367" cy="1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197" name="Rectangle 125"/>
            <p:cNvSpPr>
              <a:spLocks noChangeArrowheads="1"/>
            </p:cNvSpPr>
            <p:nvPr/>
          </p:nvSpPr>
          <p:spPr bwMode="auto">
            <a:xfrm>
              <a:off x="3493" y="1036"/>
              <a:ext cx="43" cy="1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41049" tIns="20524" rIns="41049" bIns="20524">
              <a:spAutoFit/>
            </a:bodyPr>
            <a:lstStyle/>
            <a:p>
              <a:pPr algn="ctr" defTabSz="182680">
                <a:defRPr/>
              </a:pPr>
              <a:endParaRPr lang="ko-KR" altLang="ko-KR" sz="1354" b="1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돋움" pitchFamily="50" charset="-127"/>
                <a:cs typeface="Times New Roman" pitchFamily="18" charset="0"/>
              </a:endParaRPr>
            </a:p>
          </p:txBody>
        </p:sp>
      </p:grpSp>
      <p:grpSp>
        <p:nvGrpSpPr>
          <p:cNvPr id="21" name="Group 126"/>
          <p:cNvGrpSpPr>
            <a:grpSpLocks/>
          </p:cNvGrpSpPr>
          <p:nvPr/>
        </p:nvGrpSpPr>
        <p:grpSpPr bwMode="auto">
          <a:xfrm>
            <a:off x="6611434" y="2703018"/>
            <a:ext cx="710259" cy="402015"/>
            <a:chOff x="3379" y="965"/>
            <a:chExt cx="367" cy="191"/>
          </a:xfrm>
        </p:grpSpPr>
        <p:pic>
          <p:nvPicPr>
            <p:cNvPr id="1186" name="Picture 127"/>
            <p:cNvPicPr>
              <a:picLocks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3379" y="965"/>
              <a:ext cx="367" cy="1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200" name="Rectangle 128"/>
            <p:cNvSpPr>
              <a:spLocks noChangeArrowheads="1"/>
            </p:cNvSpPr>
            <p:nvPr/>
          </p:nvSpPr>
          <p:spPr bwMode="auto">
            <a:xfrm>
              <a:off x="3493" y="1037"/>
              <a:ext cx="43" cy="1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41049" tIns="20524" rIns="41049" bIns="20524">
              <a:spAutoFit/>
            </a:bodyPr>
            <a:lstStyle/>
            <a:p>
              <a:pPr algn="ctr" defTabSz="182680">
                <a:defRPr/>
              </a:pPr>
              <a:endParaRPr lang="ko-KR" altLang="ko-KR" sz="1354" b="1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돋움" pitchFamily="50" charset="-127"/>
                <a:cs typeface="Times New Roman" pitchFamily="18" charset="0"/>
              </a:endParaRPr>
            </a:p>
          </p:txBody>
        </p:sp>
      </p:grpSp>
      <p:cxnSp>
        <p:nvCxnSpPr>
          <p:cNvPr id="1116" name="AutoShape 129"/>
          <p:cNvCxnSpPr>
            <a:cxnSpLocks noChangeShapeType="1"/>
          </p:cNvCxnSpPr>
          <p:nvPr/>
        </p:nvCxnSpPr>
        <p:spPr bwMode="auto">
          <a:xfrm>
            <a:off x="7321693" y="2541345"/>
            <a:ext cx="1663" cy="323338"/>
          </a:xfrm>
          <a:prstGeom prst="bentConnector3">
            <a:avLst>
              <a:gd name="adj1" fmla="val 14300005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cxnSp>
      <p:graphicFrame>
        <p:nvGraphicFramePr>
          <p:cNvPr id="1032" name="Object 1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6810507"/>
              </p:ext>
            </p:extLst>
          </p:nvPr>
        </p:nvGraphicFramePr>
        <p:xfrm>
          <a:off x="3750439" y="2018876"/>
          <a:ext cx="442456" cy="2602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2" name="훈민정음" r:id="rId18" imgW="590400" imgH="324000" progId="hunmin.doc">
                  <p:embed/>
                </p:oleObj>
              </mc:Choice>
              <mc:Fallback>
                <p:oleObj name="훈민정음" r:id="rId18" imgW="590400" imgH="324000" progId="hunmin.doc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0439" y="2018876"/>
                        <a:ext cx="442456" cy="2602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3" name="Line 137"/>
          <p:cNvSpPr>
            <a:spLocks noChangeShapeType="1"/>
          </p:cNvSpPr>
          <p:nvPr/>
        </p:nvSpPr>
        <p:spPr bwMode="auto">
          <a:xfrm>
            <a:off x="1441682" y="1920298"/>
            <a:ext cx="958101" cy="599359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52219" rIns="52219" anchor="ctr"/>
          <a:lstStyle/>
          <a:p>
            <a:endParaRPr lang="ko-KR" altLang="en-US" sz="1976"/>
          </a:p>
        </p:txBody>
      </p:sp>
      <p:sp>
        <p:nvSpPr>
          <p:cNvPr id="1124" name="Line 138"/>
          <p:cNvSpPr>
            <a:spLocks noChangeShapeType="1"/>
          </p:cNvSpPr>
          <p:nvPr/>
        </p:nvSpPr>
        <p:spPr bwMode="auto">
          <a:xfrm>
            <a:off x="2932061" y="2614292"/>
            <a:ext cx="691962" cy="69399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52219" rIns="52219" anchor="ctr"/>
          <a:lstStyle/>
          <a:p>
            <a:endParaRPr lang="ko-KR" altLang="en-US" sz="1976"/>
          </a:p>
        </p:txBody>
      </p:sp>
      <p:sp>
        <p:nvSpPr>
          <p:cNvPr id="1125" name="Line 139"/>
          <p:cNvSpPr>
            <a:spLocks noChangeShapeType="1"/>
          </p:cNvSpPr>
          <p:nvPr/>
        </p:nvSpPr>
        <p:spPr bwMode="auto">
          <a:xfrm>
            <a:off x="2918754" y="2977062"/>
            <a:ext cx="705269" cy="162457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52219" rIns="52219" anchor="ctr"/>
          <a:lstStyle/>
          <a:p>
            <a:endParaRPr lang="ko-KR" altLang="en-US" sz="1976"/>
          </a:p>
        </p:txBody>
      </p:sp>
      <p:sp>
        <p:nvSpPr>
          <p:cNvPr id="1126" name="Line 140"/>
          <p:cNvSpPr>
            <a:spLocks noChangeShapeType="1"/>
          </p:cNvSpPr>
          <p:nvPr/>
        </p:nvSpPr>
        <p:spPr bwMode="auto">
          <a:xfrm flipV="1">
            <a:off x="2932061" y="3292514"/>
            <a:ext cx="691962" cy="39431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52219" rIns="52219" anchor="ctr"/>
          <a:lstStyle/>
          <a:p>
            <a:endParaRPr lang="ko-KR" altLang="en-US" sz="1976"/>
          </a:p>
        </p:txBody>
      </p:sp>
      <p:sp>
        <p:nvSpPr>
          <p:cNvPr id="1127" name="Line 141"/>
          <p:cNvSpPr>
            <a:spLocks noChangeShapeType="1"/>
          </p:cNvSpPr>
          <p:nvPr/>
        </p:nvSpPr>
        <p:spPr bwMode="auto">
          <a:xfrm>
            <a:off x="2905447" y="4081145"/>
            <a:ext cx="745189" cy="50472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52219" rIns="52219" anchor="ctr"/>
          <a:lstStyle/>
          <a:p>
            <a:endParaRPr lang="ko-KR" altLang="en-US" sz="1976"/>
          </a:p>
        </p:txBody>
      </p:sp>
      <p:sp>
        <p:nvSpPr>
          <p:cNvPr id="1128" name="Line 142"/>
          <p:cNvSpPr>
            <a:spLocks noChangeShapeType="1"/>
          </p:cNvSpPr>
          <p:nvPr/>
        </p:nvSpPr>
        <p:spPr bwMode="auto">
          <a:xfrm flipV="1">
            <a:off x="2985289" y="3260969"/>
            <a:ext cx="652041" cy="154571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52219" rIns="52219" anchor="ctr"/>
          <a:lstStyle/>
          <a:p>
            <a:endParaRPr lang="ko-KR" altLang="en-US" sz="1976"/>
          </a:p>
        </p:txBody>
      </p:sp>
      <p:sp>
        <p:nvSpPr>
          <p:cNvPr id="1129" name="Line 143"/>
          <p:cNvSpPr>
            <a:spLocks noChangeShapeType="1"/>
          </p:cNvSpPr>
          <p:nvPr/>
        </p:nvSpPr>
        <p:spPr bwMode="auto">
          <a:xfrm flipV="1">
            <a:off x="2945368" y="4522778"/>
            <a:ext cx="678655" cy="662449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52219" rIns="52219" anchor="ctr"/>
          <a:lstStyle/>
          <a:p>
            <a:endParaRPr lang="ko-KR" altLang="en-US" sz="1976"/>
          </a:p>
        </p:txBody>
      </p:sp>
      <p:sp>
        <p:nvSpPr>
          <p:cNvPr id="1130" name="Line 144"/>
          <p:cNvSpPr>
            <a:spLocks noChangeShapeType="1"/>
          </p:cNvSpPr>
          <p:nvPr/>
        </p:nvSpPr>
        <p:spPr bwMode="auto">
          <a:xfrm flipV="1">
            <a:off x="2958675" y="3292514"/>
            <a:ext cx="652041" cy="260248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52219" rIns="52219" anchor="ctr"/>
          <a:lstStyle/>
          <a:p>
            <a:endParaRPr lang="ko-KR" altLang="en-US" sz="1976"/>
          </a:p>
        </p:txBody>
      </p:sp>
      <p:sp>
        <p:nvSpPr>
          <p:cNvPr id="1131" name="Line 145"/>
          <p:cNvSpPr>
            <a:spLocks noChangeShapeType="1"/>
          </p:cNvSpPr>
          <p:nvPr/>
        </p:nvSpPr>
        <p:spPr bwMode="auto">
          <a:xfrm flipV="1">
            <a:off x="2958675" y="4538550"/>
            <a:ext cx="705269" cy="179807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52219" rIns="52219" anchor="ctr"/>
          <a:lstStyle/>
          <a:p>
            <a:endParaRPr lang="ko-KR" altLang="en-US" sz="1976"/>
          </a:p>
        </p:txBody>
      </p:sp>
      <p:sp>
        <p:nvSpPr>
          <p:cNvPr id="1132" name="Line 146"/>
          <p:cNvSpPr>
            <a:spLocks noChangeShapeType="1"/>
          </p:cNvSpPr>
          <p:nvPr/>
        </p:nvSpPr>
        <p:spPr bwMode="auto">
          <a:xfrm>
            <a:off x="3863548" y="5059046"/>
            <a:ext cx="705269" cy="70976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52219" rIns="52219" anchor="ctr"/>
          <a:lstStyle/>
          <a:p>
            <a:endParaRPr lang="ko-KR" altLang="en-US" sz="1976"/>
          </a:p>
        </p:txBody>
      </p:sp>
      <p:sp>
        <p:nvSpPr>
          <p:cNvPr id="1133" name="Line 147"/>
          <p:cNvSpPr>
            <a:spLocks noChangeShapeType="1"/>
          </p:cNvSpPr>
          <p:nvPr/>
        </p:nvSpPr>
        <p:spPr bwMode="auto">
          <a:xfrm flipH="1">
            <a:off x="4382519" y="5847677"/>
            <a:ext cx="133070" cy="26813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52219" rIns="52219" anchor="ctr"/>
          <a:lstStyle/>
          <a:p>
            <a:endParaRPr lang="ko-KR" altLang="en-US" sz="1976"/>
          </a:p>
        </p:txBody>
      </p:sp>
      <p:sp>
        <p:nvSpPr>
          <p:cNvPr id="1134" name="Line 148"/>
          <p:cNvSpPr>
            <a:spLocks noChangeShapeType="1"/>
          </p:cNvSpPr>
          <p:nvPr/>
        </p:nvSpPr>
        <p:spPr bwMode="auto">
          <a:xfrm>
            <a:off x="5114402" y="5784586"/>
            <a:ext cx="119763" cy="31545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52219" rIns="52219" anchor="ctr"/>
          <a:lstStyle/>
          <a:p>
            <a:endParaRPr lang="ko-KR" altLang="en-US" sz="1976"/>
          </a:p>
        </p:txBody>
      </p:sp>
      <p:sp>
        <p:nvSpPr>
          <p:cNvPr id="1135" name="Line 149"/>
          <p:cNvSpPr>
            <a:spLocks noChangeShapeType="1"/>
          </p:cNvSpPr>
          <p:nvPr/>
        </p:nvSpPr>
        <p:spPr bwMode="auto">
          <a:xfrm flipV="1">
            <a:off x="4781728" y="5810217"/>
            <a:ext cx="279446" cy="26813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52219" rIns="52219" anchor="ctr"/>
          <a:lstStyle/>
          <a:p>
            <a:endParaRPr lang="ko-KR" altLang="en-US" sz="1976"/>
          </a:p>
        </p:txBody>
      </p:sp>
      <p:sp>
        <p:nvSpPr>
          <p:cNvPr id="1136" name="Line 150"/>
          <p:cNvSpPr>
            <a:spLocks noChangeShapeType="1"/>
          </p:cNvSpPr>
          <p:nvPr/>
        </p:nvSpPr>
        <p:spPr bwMode="auto">
          <a:xfrm>
            <a:off x="4528896" y="5810217"/>
            <a:ext cx="266139" cy="28390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52219" rIns="52219" anchor="ctr"/>
          <a:lstStyle/>
          <a:p>
            <a:endParaRPr lang="ko-KR" altLang="en-US" sz="1976"/>
          </a:p>
        </p:txBody>
      </p:sp>
      <p:sp>
        <p:nvSpPr>
          <p:cNvPr id="1137" name="Line 151"/>
          <p:cNvSpPr>
            <a:spLocks noChangeShapeType="1"/>
          </p:cNvSpPr>
          <p:nvPr/>
        </p:nvSpPr>
        <p:spPr bwMode="auto">
          <a:xfrm flipV="1">
            <a:off x="4302677" y="5873308"/>
            <a:ext cx="665348" cy="2523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52219" rIns="52219" anchor="ctr"/>
          <a:lstStyle/>
          <a:p>
            <a:endParaRPr lang="ko-KR" altLang="en-US" sz="1976"/>
          </a:p>
        </p:txBody>
      </p:sp>
      <p:sp>
        <p:nvSpPr>
          <p:cNvPr id="1138" name="Line 152"/>
          <p:cNvSpPr>
            <a:spLocks noChangeShapeType="1"/>
          </p:cNvSpPr>
          <p:nvPr/>
        </p:nvSpPr>
        <p:spPr bwMode="auto">
          <a:xfrm>
            <a:off x="4622044" y="5841763"/>
            <a:ext cx="505664" cy="28390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52219" rIns="52219" anchor="ctr"/>
          <a:lstStyle/>
          <a:p>
            <a:endParaRPr lang="ko-KR" altLang="en-US" sz="1976"/>
          </a:p>
        </p:txBody>
      </p:sp>
      <p:sp>
        <p:nvSpPr>
          <p:cNvPr id="1139" name="Line 153"/>
          <p:cNvSpPr>
            <a:spLocks noChangeShapeType="1"/>
          </p:cNvSpPr>
          <p:nvPr/>
        </p:nvSpPr>
        <p:spPr bwMode="auto">
          <a:xfrm flipH="1">
            <a:off x="5260778" y="5037360"/>
            <a:ext cx="492357" cy="64667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52219" rIns="52219" anchor="ctr"/>
          <a:lstStyle/>
          <a:p>
            <a:endParaRPr lang="ko-KR" altLang="en-US" sz="1976"/>
          </a:p>
        </p:txBody>
      </p:sp>
      <p:sp>
        <p:nvSpPr>
          <p:cNvPr id="1140" name="Line 154"/>
          <p:cNvSpPr>
            <a:spLocks noChangeShapeType="1"/>
          </p:cNvSpPr>
          <p:nvPr/>
        </p:nvSpPr>
        <p:spPr bwMode="auto">
          <a:xfrm>
            <a:off x="5966047" y="4516864"/>
            <a:ext cx="652041" cy="18927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52219" rIns="52219" anchor="ctr"/>
          <a:lstStyle/>
          <a:p>
            <a:endParaRPr lang="ko-KR" altLang="en-US" sz="1976"/>
          </a:p>
        </p:txBody>
      </p:sp>
      <p:sp>
        <p:nvSpPr>
          <p:cNvPr id="1141" name="Line 155"/>
          <p:cNvSpPr>
            <a:spLocks noChangeShapeType="1"/>
          </p:cNvSpPr>
          <p:nvPr/>
        </p:nvSpPr>
        <p:spPr bwMode="auto">
          <a:xfrm>
            <a:off x="5979354" y="3365463"/>
            <a:ext cx="705269" cy="25551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52219" rIns="52219" anchor="ctr"/>
          <a:lstStyle/>
          <a:p>
            <a:endParaRPr lang="ko-KR" altLang="en-US" sz="1976"/>
          </a:p>
        </p:txBody>
      </p:sp>
      <p:sp>
        <p:nvSpPr>
          <p:cNvPr id="1142" name="Line 156"/>
          <p:cNvSpPr>
            <a:spLocks noChangeShapeType="1"/>
          </p:cNvSpPr>
          <p:nvPr/>
        </p:nvSpPr>
        <p:spPr bwMode="auto">
          <a:xfrm>
            <a:off x="5939433" y="4516864"/>
            <a:ext cx="731882" cy="67822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52219" rIns="52219" anchor="ctr"/>
          <a:lstStyle/>
          <a:p>
            <a:endParaRPr lang="ko-KR" altLang="en-US" sz="1976"/>
          </a:p>
        </p:txBody>
      </p:sp>
      <p:sp>
        <p:nvSpPr>
          <p:cNvPr id="1143" name="Line 157"/>
          <p:cNvSpPr>
            <a:spLocks noChangeShapeType="1"/>
          </p:cNvSpPr>
          <p:nvPr/>
        </p:nvSpPr>
        <p:spPr bwMode="auto">
          <a:xfrm>
            <a:off x="5926126" y="3255055"/>
            <a:ext cx="825031" cy="152994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52219" rIns="52219" anchor="ctr"/>
          <a:lstStyle/>
          <a:p>
            <a:endParaRPr lang="ko-KR" altLang="en-US" sz="1976"/>
          </a:p>
        </p:txBody>
      </p:sp>
      <p:sp>
        <p:nvSpPr>
          <p:cNvPr id="1144" name="Line 158"/>
          <p:cNvSpPr>
            <a:spLocks noChangeShapeType="1"/>
          </p:cNvSpPr>
          <p:nvPr/>
        </p:nvSpPr>
        <p:spPr bwMode="auto">
          <a:xfrm flipV="1">
            <a:off x="5926126" y="4059458"/>
            <a:ext cx="745189" cy="48895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52219" rIns="52219" anchor="ctr"/>
          <a:lstStyle/>
          <a:p>
            <a:endParaRPr lang="ko-KR" altLang="en-US" sz="1976"/>
          </a:p>
        </p:txBody>
      </p:sp>
      <p:sp>
        <p:nvSpPr>
          <p:cNvPr id="1145" name="Line 159"/>
          <p:cNvSpPr>
            <a:spLocks noChangeShapeType="1"/>
          </p:cNvSpPr>
          <p:nvPr/>
        </p:nvSpPr>
        <p:spPr bwMode="auto">
          <a:xfrm>
            <a:off x="5926126" y="3318146"/>
            <a:ext cx="758496" cy="36277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52219" rIns="52219" anchor="ctr"/>
          <a:lstStyle/>
          <a:p>
            <a:endParaRPr lang="ko-KR" altLang="en-US" sz="1976"/>
          </a:p>
        </p:txBody>
      </p:sp>
      <p:sp>
        <p:nvSpPr>
          <p:cNvPr id="1146" name="Line 160"/>
          <p:cNvSpPr>
            <a:spLocks noChangeShapeType="1"/>
          </p:cNvSpPr>
          <p:nvPr/>
        </p:nvSpPr>
        <p:spPr bwMode="auto">
          <a:xfrm flipV="1">
            <a:off x="5979354" y="3002693"/>
            <a:ext cx="652041" cy="157726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52219" rIns="52219" anchor="ctr"/>
          <a:lstStyle/>
          <a:p>
            <a:endParaRPr lang="ko-KR" altLang="en-US" sz="1976"/>
          </a:p>
        </p:txBody>
      </p:sp>
      <p:sp>
        <p:nvSpPr>
          <p:cNvPr id="1147" name="Line 161"/>
          <p:cNvSpPr>
            <a:spLocks noChangeShapeType="1"/>
          </p:cNvSpPr>
          <p:nvPr/>
        </p:nvSpPr>
        <p:spPr bwMode="auto">
          <a:xfrm flipV="1">
            <a:off x="5912819" y="2592606"/>
            <a:ext cx="678655" cy="7413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52219" rIns="52219" anchor="ctr"/>
          <a:lstStyle/>
          <a:p>
            <a:endParaRPr lang="ko-KR" altLang="en-US" sz="1976"/>
          </a:p>
        </p:txBody>
      </p:sp>
      <p:sp>
        <p:nvSpPr>
          <p:cNvPr id="1148" name="Line 162"/>
          <p:cNvSpPr>
            <a:spLocks noChangeShapeType="1"/>
          </p:cNvSpPr>
          <p:nvPr/>
        </p:nvSpPr>
        <p:spPr bwMode="auto">
          <a:xfrm flipH="1">
            <a:off x="4063152" y="3649370"/>
            <a:ext cx="1450458" cy="116717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52219" rIns="52219" anchor="ctr"/>
          <a:lstStyle/>
          <a:p>
            <a:endParaRPr lang="ko-KR" altLang="en-US" sz="1976"/>
          </a:p>
        </p:txBody>
      </p:sp>
      <p:sp>
        <p:nvSpPr>
          <p:cNvPr id="1149" name="Line 163"/>
          <p:cNvSpPr>
            <a:spLocks noChangeShapeType="1"/>
          </p:cNvSpPr>
          <p:nvPr/>
        </p:nvSpPr>
        <p:spPr bwMode="auto">
          <a:xfrm>
            <a:off x="4076459" y="3696688"/>
            <a:ext cx="1450458" cy="116717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52219" rIns="52219" anchor="ctr"/>
          <a:lstStyle/>
          <a:p>
            <a:endParaRPr lang="ko-KR" altLang="en-US" sz="1976"/>
          </a:p>
        </p:txBody>
      </p:sp>
      <p:graphicFrame>
        <p:nvGraphicFramePr>
          <p:cNvPr id="1033" name="Object 16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1106747"/>
              </p:ext>
            </p:extLst>
          </p:nvPr>
        </p:nvGraphicFramePr>
        <p:xfrm>
          <a:off x="4570480" y="6050750"/>
          <a:ext cx="327683" cy="5145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3" name="클립" r:id="rId19" imgW="1037821" imgH="1409524" progId="MS_ClipArt_Gallery.2">
                  <p:embed/>
                </p:oleObj>
              </mc:Choice>
              <mc:Fallback>
                <p:oleObj name="클립" r:id="rId19" imgW="1037821" imgH="1409524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0480" y="6050750"/>
                        <a:ext cx="327683" cy="51458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" name="Object 16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8036547"/>
              </p:ext>
            </p:extLst>
          </p:nvPr>
        </p:nvGraphicFramePr>
        <p:xfrm>
          <a:off x="5014599" y="6050750"/>
          <a:ext cx="327684" cy="4988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4" name="클립" r:id="rId21" imgW="1037821" imgH="1409524" progId="MS_ClipArt_Gallery.2">
                  <p:embed/>
                </p:oleObj>
              </mc:Choice>
              <mc:Fallback>
                <p:oleObj name="클립" r:id="rId21" imgW="1037821" imgH="1409524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4599" y="6050750"/>
                        <a:ext cx="327684" cy="49880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5" name="Object 16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5143334"/>
              </p:ext>
            </p:extLst>
          </p:nvPr>
        </p:nvGraphicFramePr>
        <p:xfrm>
          <a:off x="4126360" y="6050750"/>
          <a:ext cx="329347" cy="4988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5" name="클립" r:id="rId22" imgW="1037821" imgH="1409524" progId="MS_ClipArt_Gallery.2">
                  <p:embed/>
                </p:oleObj>
              </mc:Choice>
              <mc:Fallback>
                <p:oleObj name="클립" r:id="rId22" imgW="1037821" imgH="1409524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6360" y="6050750"/>
                        <a:ext cx="329347" cy="49880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50" name="AutoShape 167"/>
          <p:cNvCxnSpPr>
            <a:cxnSpLocks noChangeShapeType="1"/>
          </p:cNvCxnSpPr>
          <p:nvPr/>
        </p:nvCxnSpPr>
        <p:spPr bwMode="auto">
          <a:xfrm flipV="1">
            <a:off x="4136340" y="4911179"/>
            <a:ext cx="1325706" cy="197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151" name="AutoShape 168"/>
          <p:cNvCxnSpPr>
            <a:cxnSpLocks noChangeShapeType="1"/>
          </p:cNvCxnSpPr>
          <p:nvPr/>
        </p:nvCxnSpPr>
        <p:spPr bwMode="auto">
          <a:xfrm>
            <a:off x="3851905" y="3883987"/>
            <a:ext cx="9980" cy="61316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152" name="AutoShape 169"/>
          <p:cNvCxnSpPr>
            <a:cxnSpLocks noChangeShapeType="1"/>
          </p:cNvCxnSpPr>
          <p:nvPr/>
        </p:nvCxnSpPr>
        <p:spPr bwMode="auto">
          <a:xfrm rot="16200000">
            <a:off x="4371434" y="4530338"/>
            <a:ext cx="1993263" cy="294417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1154" name="Freeform 171"/>
          <p:cNvSpPr>
            <a:spLocks/>
          </p:cNvSpPr>
          <p:nvPr/>
        </p:nvSpPr>
        <p:spPr bwMode="auto">
          <a:xfrm>
            <a:off x="4103073" y="2819336"/>
            <a:ext cx="212911" cy="1987348"/>
          </a:xfrm>
          <a:custGeom>
            <a:avLst/>
            <a:gdLst>
              <a:gd name="T0" fmla="*/ 0 w 168"/>
              <a:gd name="T1" fmla="*/ 1600200 h 1008"/>
              <a:gd name="T2" fmla="*/ 203200 w 168"/>
              <a:gd name="T3" fmla="*/ 1600200 h 1008"/>
              <a:gd name="T4" fmla="*/ 203200 w 168"/>
              <a:gd name="T5" fmla="*/ 0 h 1008"/>
              <a:gd name="T6" fmla="*/ 0 60000 65536"/>
              <a:gd name="T7" fmla="*/ 0 60000 65536"/>
              <a:gd name="T8" fmla="*/ 0 60000 65536"/>
              <a:gd name="T9" fmla="*/ 0 w 168"/>
              <a:gd name="T10" fmla="*/ 0 h 1008"/>
              <a:gd name="T11" fmla="*/ 168 w 168"/>
              <a:gd name="T12" fmla="*/ 1008 h 100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8" h="1008">
                <a:moveTo>
                  <a:pt x="0" y="1008"/>
                </a:moveTo>
                <a:lnTo>
                  <a:pt x="168" y="1008"/>
                </a:lnTo>
                <a:lnTo>
                  <a:pt x="168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52219" rIns="52219" anchor="ctr"/>
          <a:lstStyle/>
          <a:p>
            <a:endParaRPr lang="ko-KR" altLang="en-US" sz="1976"/>
          </a:p>
        </p:txBody>
      </p:sp>
      <p:sp>
        <p:nvSpPr>
          <p:cNvPr id="1155" name="Freeform 172"/>
          <p:cNvSpPr>
            <a:spLocks/>
          </p:cNvSpPr>
          <p:nvPr/>
        </p:nvSpPr>
        <p:spPr bwMode="auto">
          <a:xfrm>
            <a:off x="5340620" y="2819336"/>
            <a:ext cx="133070" cy="1829622"/>
          </a:xfrm>
          <a:custGeom>
            <a:avLst/>
            <a:gdLst>
              <a:gd name="T0" fmla="*/ 127000 w 80"/>
              <a:gd name="T1" fmla="*/ 1473200 h 928"/>
              <a:gd name="T2" fmla="*/ 0 w 80"/>
              <a:gd name="T3" fmla="*/ 1473200 h 928"/>
              <a:gd name="T4" fmla="*/ 0 w 80"/>
              <a:gd name="T5" fmla="*/ 0 h 928"/>
              <a:gd name="T6" fmla="*/ 0 60000 65536"/>
              <a:gd name="T7" fmla="*/ 0 60000 65536"/>
              <a:gd name="T8" fmla="*/ 0 60000 65536"/>
              <a:gd name="T9" fmla="*/ 0 w 80"/>
              <a:gd name="T10" fmla="*/ 0 h 928"/>
              <a:gd name="T11" fmla="*/ 80 w 80"/>
              <a:gd name="T12" fmla="*/ 928 h 9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0" h="928">
                <a:moveTo>
                  <a:pt x="80" y="928"/>
                </a:moveTo>
                <a:lnTo>
                  <a:pt x="0" y="928"/>
                </a:ln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52219" rIns="52219" anchor="ctr"/>
          <a:lstStyle/>
          <a:p>
            <a:endParaRPr lang="ko-KR" altLang="en-US" sz="1976"/>
          </a:p>
        </p:txBody>
      </p:sp>
      <p:grpSp>
        <p:nvGrpSpPr>
          <p:cNvPr id="23" name="Group 176"/>
          <p:cNvGrpSpPr>
            <a:grpSpLocks/>
          </p:cNvGrpSpPr>
          <p:nvPr/>
        </p:nvGrpSpPr>
        <p:grpSpPr bwMode="auto">
          <a:xfrm>
            <a:off x="3584102" y="4497148"/>
            <a:ext cx="553902" cy="644705"/>
            <a:chOff x="3577" y="1478"/>
            <a:chExt cx="415" cy="567"/>
          </a:xfrm>
        </p:grpSpPr>
        <p:grpSp>
          <p:nvGrpSpPr>
            <p:cNvPr id="24" name="Group 177"/>
            <p:cNvGrpSpPr>
              <a:grpSpLocks/>
            </p:cNvGrpSpPr>
            <p:nvPr/>
          </p:nvGrpSpPr>
          <p:grpSpPr bwMode="auto">
            <a:xfrm>
              <a:off x="3581" y="1641"/>
              <a:ext cx="410" cy="404"/>
              <a:chOff x="3581" y="1641"/>
              <a:chExt cx="410" cy="404"/>
            </a:xfrm>
          </p:grpSpPr>
          <p:pic>
            <p:nvPicPr>
              <p:cNvPr id="1182" name="Picture 178"/>
              <p:cNvPicPr>
                <a:picLocks noChangeArrowheads="1"/>
              </p:cNvPicPr>
              <p:nvPr/>
            </p:nvPicPr>
            <p:blipFill>
              <a:blip r:embed="rId23" cstate="print"/>
              <a:srcRect/>
              <a:stretch>
                <a:fillRect/>
              </a:stretch>
            </p:blipFill>
            <p:spPr bwMode="auto">
              <a:xfrm>
                <a:off x="3581" y="1641"/>
                <a:ext cx="410" cy="4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183" name="Rectangle 179"/>
              <p:cNvSpPr>
                <a:spLocks noChangeArrowheads="1"/>
              </p:cNvSpPr>
              <p:nvPr/>
            </p:nvSpPr>
            <p:spPr bwMode="auto">
              <a:xfrm>
                <a:off x="3602" y="1721"/>
                <a:ext cx="120" cy="2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79350" tIns="39676" rIns="79350" bIns="39676">
                <a:spAutoFit/>
              </a:bodyPr>
              <a:lstStyle/>
              <a:p>
                <a:pPr defTabSz="1205073">
                  <a:spcBef>
                    <a:spcPct val="50000"/>
                  </a:spcBef>
                </a:pPr>
                <a:endParaRPr lang="ko-KR" altLang="ko-KR" sz="1354" b="1">
                  <a:solidFill>
                    <a:schemeClr val="hlink"/>
                  </a:solidFill>
                  <a:latin typeface="Times New Roman" pitchFamily="18" charset="0"/>
                  <a:ea typeface="돋움" pitchFamily="50" charset="-127"/>
                  <a:cs typeface="Times New Roman" pitchFamily="18" charset="0"/>
                </a:endParaRPr>
              </a:p>
            </p:txBody>
          </p:sp>
        </p:grpSp>
        <p:pic>
          <p:nvPicPr>
            <p:cNvPr id="1181" name="Picture 180"/>
            <p:cNvPicPr>
              <a:picLocks noChangeArrowheads="1"/>
            </p:cNvPicPr>
            <p:nvPr/>
          </p:nvPicPr>
          <p:blipFill>
            <a:blip r:embed="rId24" cstate="print"/>
            <a:srcRect/>
            <a:stretch>
              <a:fillRect/>
            </a:stretch>
          </p:blipFill>
          <p:spPr bwMode="auto">
            <a:xfrm>
              <a:off x="3577" y="1478"/>
              <a:ext cx="415" cy="2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25" name="Group 181"/>
          <p:cNvGrpSpPr>
            <a:grpSpLocks/>
          </p:cNvGrpSpPr>
          <p:nvPr/>
        </p:nvGrpSpPr>
        <p:grpSpPr bwMode="auto">
          <a:xfrm>
            <a:off x="5457056" y="4497148"/>
            <a:ext cx="553902" cy="642734"/>
            <a:chOff x="3577" y="1478"/>
            <a:chExt cx="415" cy="567"/>
          </a:xfrm>
        </p:grpSpPr>
        <p:grpSp>
          <p:nvGrpSpPr>
            <p:cNvPr id="26" name="Group 182"/>
            <p:cNvGrpSpPr>
              <a:grpSpLocks/>
            </p:cNvGrpSpPr>
            <p:nvPr/>
          </p:nvGrpSpPr>
          <p:grpSpPr bwMode="auto">
            <a:xfrm>
              <a:off x="3581" y="1641"/>
              <a:ext cx="410" cy="404"/>
              <a:chOff x="3581" y="1641"/>
              <a:chExt cx="410" cy="404"/>
            </a:xfrm>
          </p:grpSpPr>
          <p:pic>
            <p:nvPicPr>
              <p:cNvPr id="1178" name="Picture 183"/>
              <p:cNvPicPr>
                <a:picLocks noChangeArrowheads="1"/>
              </p:cNvPicPr>
              <p:nvPr/>
            </p:nvPicPr>
            <p:blipFill>
              <a:blip r:embed="rId23" cstate="print"/>
              <a:srcRect/>
              <a:stretch>
                <a:fillRect/>
              </a:stretch>
            </p:blipFill>
            <p:spPr bwMode="auto">
              <a:xfrm>
                <a:off x="3581" y="1641"/>
                <a:ext cx="410" cy="4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179" name="Rectangle 184"/>
              <p:cNvSpPr>
                <a:spLocks noChangeArrowheads="1"/>
              </p:cNvSpPr>
              <p:nvPr/>
            </p:nvSpPr>
            <p:spPr bwMode="auto">
              <a:xfrm>
                <a:off x="3602" y="1719"/>
                <a:ext cx="120" cy="25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79350" tIns="39676" rIns="79350" bIns="39676">
                <a:spAutoFit/>
              </a:bodyPr>
              <a:lstStyle/>
              <a:p>
                <a:pPr defTabSz="1205073">
                  <a:spcBef>
                    <a:spcPct val="50000"/>
                  </a:spcBef>
                </a:pPr>
                <a:endParaRPr lang="ko-KR" altLang="ko-KR" sz="1354" b="1">
                  <a:solidFill>
                    <a:schemeClr val="hlink"/>
                  </a:solidFill>
                  <a:latin typeface="Times New Roman" pitchFamily="18" charset="0"/>
                  <a:ea typeface="돋움" pitchFamily="50" charset="-127"/>
                  <a:cs typeface="Times New Roman" pitchFamily="18" charset="0"/>
                </a:endParaRPr>
              </a:p>
            </p:txBody>
          </p:sp>
        </p:grpSp>
        <p:pic>
          <p:nvPicPr>
            <p:cNvPr id="1177" name="Picture 185"/>
            <p:cNvPicPr>
              <a:picLocks noChangeArrowheads="1"/>
            </p:cNvPicPr>
            <p:nvPr/>
          </p:nvPicPr>
          <p:blipFill>
            <a:blip r:embed="rId24" cstate="print"/>
            <a:srcRect/>
            <a:stretch>
              <a:fillRect/>
            </a:stretch>
          </p:blipFill>
          <p:spPr bwMode="auto">
            <a:xfrm>
              <a:off x="3577" y="1478"/>
              <a:ext cx="415" cy="2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27" name="Group 186"/>
          <p:cNvGrpSpPr>
            <a:grpSpLocks/>
          </p:cNvGrpSpPr>
          <p:nvPr/>
        </p:nvGrpSpPr>
        <p:grpSpPr bwMode="auto">
          <a:xfrm>
            <a:off x="5457056" y="3188022"/>
            <a:ext cx="553902" cy="715681"/>
            <a:chOff x="3577" y="1478"/>
            <a:chExt cx="415" cy="567"/>
          </a:xfrm>
        </p:grpSpPr>
        <p:grpSp>
          <p:nvGrpSpPr>
            <p:cNvPr id="28" name="Group 187"/>
            <p:cNvGrpSpPr>
              <a:grpSpLocks/>
            </p:cNvGrpSpPr>
            <p:nvPr/>
          </p:nvGrpSpPr>
          <p:grpSpPr bwMode="auto">
            <a:xfrm>
              <a:off x="3581" y="1641"/>
              <a:ext cx="410" cy="404"/>
              <a:chOff x="3581" y="1641"/>
              <a:chExt cx="410" cy="404"/>
            </a:xfrm>
          </p:grpSpPr>
          <p:pic>
            <p:nvPicPr>
              <p:cNvPr id="1174" name="Picture 188"/>
              <p:cNvPicPr>
                <a:picLocks noChangeArrowheads="1"/>
              </p:cNvPicPr>
              <p:nvPr/>
            </p:nvPicPr>
            <p:blipFill>
              <a:blip r:embed="rId23" cstate="print"/>
              <a:srcRect/>
              <a:stretch>
                <a:fillRect/>
              </a:stretch>
            </p:blipFill>
            <p:spPr bwMode="auto">
              <a:xfrm>
                <a:off x="3581" y="1641"/>
                <a:ext cx="410" cy="4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175" name="Rectangle 189"/>
              <p:cNvSpPr>
                <a:spLocks noChangeArrowheads="1"/>
              </p:cNvSpPr>
              <p:nvPr/>
            </p:nvSpPr>
            <p:spPr bwMode="auto">
              <a:xfrm>
                <a:off x="3602" y="1721"/>
                <a:ext cx="120" cy="22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79350" tIns="39676" rIns="79350" bIns="39676">
                <a:spAutoFit/>
              </a:bodyPr>
              <a:lstStyle/>
              <a:p>
                <a:pPr defTabSz="1205073">
                  <a:spcBef>
                    <a:spcPct val="50000"/>
                  </a:spcBef>
                </a:pPr>
                <a:endParaRPr lang="ko-KR" altLang="ko-KR" sz="1354" b="1">
                  <a:solidFill>
                    <a:schemeClr val="hlink"/>
                  </a:solidFill>
                  <a:latin typeface="Times New Roman" pitchFamily="18" charset="0"/>
                  <a:ea typeface="돋움" pitchFamily="50" charset="-127"/>
                  <a:cs typeface="Times New Roman" pitchFamily="18" charset="0"/>
                </a:endParaRPr>
              </a:p>
            </p:txBody>
          </p:sp>
        </p:grpSp>
        <p:pic>
          <p:nvPicPr>
            <p:cNvPr id="1173" name="Picture 190"/>
            <p:cNvPicPr>
              <a:picLocks noChangeArrowheads="1"/>
            </p:cNvPicPr>
            <p:nvPr/>
          </p:nvPicPr>
          <p:blipFill>
            <a:blip r:embed="rId24" cstate="print"/>
            <a:srcRect/>
            <a:stretch>
              <a:fillRect/>
            </a:stretch>
          </p:blipFill>
          <p:spPr bwMode="auto">
            <a:xfrm>
              <a:off x="3577" y="1478"/>
              <a:ext cx="415" cy="2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160" name="Text Box 191"/>
          <p:cNvSpPr txBox="1">
            <a:spLocks noChangeArrowheads="1"/>
          </p:cNvSpPr>
          <p:nvPr/>
        </p:nvSpPr>
        <p:spPr bwMode="auto">
          <a:xfrm>
            <a:off x="4317648" y="3521217"/>
            <a:ext cx="1094497" cy="25904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rIns="87032">
            <a:spAutoFit/>
          </a:bodyPr>
          <a:lstStyle/>
          <a:p>
            <a:pPr algn="ctr">
              <a:lnSpc>
                <a:spcPct val="80000"/>
              </a:lnSpc>
              <a:spcBef>
                <a:spcPct val="10000"/>
              </a:spcBef>
            </a:pPr>
            <a:r>
              <a:rPr lang="en-US" altLang="ko-KR" sz="1354" b="1">
                <a:solidFill>
                  <a:srgbClr val="A50021"/>
                </a:solidFill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Back Bone</a:t>
            </a:r>
          </a:p>
        </p:txBody>
      </p:sp>
      <p:sp>
        <p:nvSpPr>
          <p:cNvPr id="1161" name="Freeform 192"/>
          <p:cNvSpPr>
            <a:spLocks/>
          </p:cNvSpPr>
          <p:nvPr/>
        </p:nvSpPr>
        <p:spPr bwMode="auto">
          <a:xfrm>
            <a:off x="3996617" y="3686830"/>
            <a:ext cx="439129" cy="1955803"/>
          </a:xfrm>
          <a:custGeom>
            <a:avLst/>
            <a:gdLst>
              <a:gd name="T0" fmla="*/ 419100 w 288"/>
              <a:gd name="T1" fmla="*/ 1574800 h 992"/>
              <a:gd name="T2" fmla="*/ 419100 w 288"/>
              <a:gd name="T3" fmla="*/ 0 h 992"/>
              <a:gd name="T4" fmla="*/ 0 w 288"/>
              <a:gd name="T5" fmla="*/ 0 h 992"/>
              <a:gd name="T6" fmla="*/ 0 60000 65536"/>
              <a:gd name="T7" fmla="*/ 0 60000 65536"/>
              <a:gd name="T8" fmla="*/ 0 60000 65536"/>
              <a:gd name="T9" fmla="*/ 0 w 288"/>
              <a:gd name="T10" fmla="*/ 0 h 992"/>
              <a:gd name="T11" fmla="*/ 288 w 288"/>
              <a:gd name="T12" fmla="*/ 992 h 9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8" h="992">
                <a:moveTo>
                  <a:pt x="288" y="992"/>
                </a:moveTo>
                <a:lnTo>
                  <a:pt x="288" y="0"/>
                </a:ln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52219" rIns="52219" anchor="ctr"/>
          <a:lstStyle/>
          <a:p>
            <a:endParaRPr lang="ko-KR" altLang="en-US" sz="1976"/>
          </a:p>
        </p:txBody>
      </p:sp>
      <p:sp>
        <p:nvSpPr>
          <p:cNvPr id="1163" name="Freeform 194"/>
          <p:cNvSpPr>
            <a:spLocks/>
          </p:cNvSpPr>
          <p:nvPr/>
        </p:nvSpPr>
        <p:spPr bwMode="auto">
          <a:xfrm>
            <a:off x="4063152" y="2898199"/>
            <a:ext cx="306060" cy="757085"/>
          </a:xfrm>
          <a:custGeom>
            <a:avLst/>
            <a:gdLst>
              <a:gd name="T0" fmla="*/ 0 w 184"/>
              <a:gd name="T1" fmla="*/ 609600 h 344"/>
              <a:gd name="T2" fmla="*/ 292100 w 184"/>
              <a:gd name="T3" fmla="*/ 609600 h 344"/>
              <a:gd name="T4" fmla="*/ 292100 w 184"/>
              <a:gd name="T5" fmla="*/ 0 h 344"/>
              <a:gd name="T6" fmla="*/ 0 60000 65536"/>
              <a:gd name="T7" fmla="*/ 0 60000 65536"/>
              <a:gd name="T8" fmla="*/ 0 60000 65536"/>
              <a:gd name="T9" fmla="*/ 0 w 184"/>
              <a:gd name="T10" fmla="*/ 0 h 344"/>
              <a:gd name="T11" fmla="*/ 184 w 184"/>
              <a:gd name="T12" fmla="*/ 344 h 3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4" h="344">
                <a:moveTo>
                  <a:pt x="0" y="344"/>
                </a:moveTo>
                <a:lnTo>
                  <a:pt x="184" y="344"/>
                </a:lnTo>
                <a:lnTo>
                  <a:pt x="184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52219" rIns="52219" anchor="ctr"/>
          <a:lstStyle/>
          <a:p>
            <a:endParaRPr lang="ko-KR" altLang="en-US" sz="1976"/>
          </a:p>
        </p:txBody>
      </p:sp>
      <p:grpSp>
        <p:nvGrpSpPr>
          <p:cNvPr id="30" name="Group 198"/>
          <p:cNvGrpSpPr>
            <a:grpSpLocks/>
          </p:cNvGrpSpPr>
          <p:nvPr/>
        </p:nvGrpSpPr>
        <p:grpSpPr bwMode="auto">
          <a:xfrm>
            <a:off x="3572459" y="3188022"/>
            <a:ext cx="553901" cy="695966"/>
            <a:chOff x="3577" y="1478"/>
            <a:chExt cx="415" cy="567"/>
          </a:xfrm>
        </p:grpSpPr>
        <p:grpSp>
          <p:nvGrpSpPr>
            <p:cNvPr id="31" name="Group 199"/>
            <p:cNvGrpSpPr>
              <a:grpSpLocks/>
            </p:cNvGrpSpPr>
            <p:nvPr/>
          </p:nvGrpSpPr>
          <p:grpSpPr bwMode="auto">
            <a:xfrm>
              <a:off x="3581" y="1641"/>
              <a:ext cx="410" cy="404"/>
              <a:chOff x="3581" y="1641"/>
              <a:chExt cx="410" cy="404"/>
            </a:xfrm>
          </p:grpSpPr>
          <p:pic>
            <p:nvPicPr>
              <p:cNvPr id="1168" name="Picture 200"/>
              <p:cNvPicPr>
                <a:picLocks noChangeArrowheads="1"/>
              </p:cNvPicPr>
              <p:nvPr/>
            </p:nvPicPr>
            <p:blipFill>
              <a:blip r:embed="rId23" cstate="print"/>
              <a:srcRect/>
              <a:stretch>
                <a:fillRect/>
              </a:stretch>
            </p:blipFill>
            <p:spPr bwMode="auto">
              <a:xfrm>
                <a:off x="3581" y="1641"/>
                <a:ext cx="410" cy="4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169" name="Rectangle 201"/>
              <p:cNvSpPr>
                <a:spLocks noChangeArrowheads="1"/>
              </p:cNvSpPr>
              <p:nvPr/>
            </p:nvSpPr>
            <p:spPr bwMode="auto">
              <a:xfrm>
                <a:off x="3600" y="1720"/>
                <a:ext cx="120" cy="2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79350" tIns="39676" rIns="79350" bIns="39676">
                <a:spAutoFit/>
              </a:bodyPr>
              <a:lstStyle/>
              <a:p>
                <a:pPr defTabSz="1205073">
                  <a:spcBef>
                    <a:spcPct val="50000"/>
                  </a:spcBef>
                </a:pPr>
                <a:endParaRPr lang="ko-KR" altLang="ko-KR" sz="1354" b="1">
                  <a:solidFill>
                    <a:schemeClr val="hlink"/>
                  </a:solidFill>
                  <a:latin typeface="Times New Roman" pitchFamily="18" charset="0"/>
                  <a:ea typeface="돋움" pitchFamily="50" charset="-127"/>
                  <a:cs typeface="Times New Roman" pitchFamily="18" charset="0"/>
                </a:endParaRPr>
              </a:p>
            </p:txBody>
          </p:sp>
        </p:grpSp>
        <p:pic>
          <p:nvPicPr>
            <p:cNvPr id="1167" name="Picture 202"/>
            <p:cNvPicPr>
              <a:picLocks noChangeArrowheads="1"/>
            </p:cNvPicPr>
            <p:nvPr/>
          </p:nvPicPr>
          <p:blipFill>
            <a:blip r:embed="rId24" cstate="print"/>
            <a:srcRect/>
            <a:stretch>
              <a:fillRect/>
            </a:stretch>
          </p:blipFill>
          <p:spPr bwMode="auto">
            <a:xfrm>
              <a:off x="3577" y="1478"/>
              <a:ext cx="415" cy="2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206" name="그림 205"/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1403" y="6078351"/>
            <a:ext cx="483574" cy="389020"/>
          </a:xfrm>
          <a:prstGeom prst="rect">
            <a:avLst/>
          </a:prstGeom>
        </p:spPr>
      </p:pic>
      <p:pic>
        <p:nvPicPr>
          <p:cNvPr id="207" name="그림 206"/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1403" y="4904667"/>
            <a:ext cx="483574" cy="389020"/>
          </a:xfrm>
          <a:prstGeom prst="rect">
            <a:avLst/>
          </a:prstGeom>
        </p:spPr>
      </p:pic>
      <p:pic>
        <p:nvPicPr>
          <p:cNvPr id="208" name="그림 207"/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5275" y="3696688"/>
            <a:ext cx="483574" cy="389020"/>
          </a:xfrm>
          <a:prstGeom prst="rect">
            <a:avLst/>
          </a:prstGeom>
        </p:spPr>
      </p:pic>
      <p:pic>
        <p:nvPicPr>
          <p:cNvPr id="209" name="그림 208"/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3105" y="5959561"/>
            <a:ext cx="483574" cy="389020"/>
          </a:xfrm>
          <a:prstGeom prst="rect">
            <a:avLst/>
          </a:prstGeom>
        </p:spPr>
      </p:pic>
      <p:pic>
        <p:nvPicPr>
          <p:cNvPr id="210" name="그림 209"/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977" y="3577898"/>
            <a:ext cx="483574" cy="389020"/>
          </a:xfrm>
          <a:prstGeom prst="rect">
            <a:avLst/>
          </a:prstGeom>
        </p:spPr>
      </p:pic>
      <p:pic>
        <p:nvPicPr>
          <p:cNvPr id="211" name="그림 210"/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171" y="4850378"/>
            <a:ext cx="483574" cy="389020"/>
          </a:xfrm>
          <a:prstGeom prst="rect">
            <a:avLst/>
          </a:prstGeom>
        </p:spPr>
      </p:pic>
      <p:pic>
        <p:nvPicPr>
          <p:cNvPr id="212" name="그림 211"/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2456" y="2644875"/>
            <a:ext cx="483574" cy="389020"/>
          </a:xfrm>
          <a:prstGeom prst="rect">
            <a:avLst/>
          </a:prstGeom>
        </p:spPr>
      </p:pic>
      <p:pic>
        <p:nvPicPr>
          <p:cNvPr id="213" name="그림 212"/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158" y="2526085"/>
            <a:ext cx="483574" cy="389020"/>
          </a:xfrm>
          <a:prstGeom prst="rect">
            <a:avLst/>
          </a:prstGeom>
        </p:spPr>
      </p:pic>
      <p:pic>
        <p:nvPicPr>
          <p:cNvPr id="214" name="그림 213"/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864" y="2598977"/>
            <a:ext cx="483574" cy="389020"/>
          </a:xfrm>
          <a:prstGeom prst="rect">
            <a:avLst/>
          </a:prstGeom>
        </p:spPr>
      </p:pic>
      <p:pic>
        <p:nvPicPr>
          <p:cNvPr id="215" name="그림 214"/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4566" y="2480187"/>
            <a:ext cx="483574" cy="389020"/>
          </a:xfrm>
          <a:prstGeom prst="rect">
            <a:avLst/>
          </a:prstGeom>
        </p:spPr>
      </p:pic>
      <p:pic>
        <p:nvPicPr>
          <p:cNvPr id="216" name="그림 215"/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1818" y="3798715"/>
            <a:ext cx="483574" cy="389020"/>
          </a:xfrm>
          <a:prstGeom prst="rect">
            <a:avLst/>
          </a:prstGeom>
        </p:spPr>
      </p:pic>
      <p:pic>
        <p:nvPicPr>
          <p:cNvPr id="217" name="그림 216"/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3520" y="3679925"/>
            <a:ext cx="483574" cy="389020"/>
          </a:xfrm>
          <a:prstGeom prst="rect">
            <a:avLst/>
          </a:prstGeom>
        </p:spPr>
      </p:pic>
      <p:pic>
        <p:nvPicPr>
          <p:cNvPr id="218" name="그림 217"/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5116" y="4974834"/>
            <a:ext cx="483574" cy="389020"/>
          </a:xfrm>
          <a:prstGeom prst="rect">
            <a:avLst/>
          </a:prstGeom>
        </p:spPr>
      </p:pic>
      <p:pic>
        <p:nvPicPr>
          <p:cNvPr id="219" name="그림 218"/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6818" y="4856044"/>
            <a:ext cx="483574" cy="389020"/>
          </a:xfrm>
          <a:prstGeom prst="rect">
            <a:avLst/>
          </a:prstGeom>
        </p:spPr>
      </p:pic>
      <p:pic>
        <p:nvPicPr>
          <p:cNvPr id="220" name="그림 219"/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9537" y="6157090"/>
            <a:ext cx="483574" cy="389020"/>
          </a:xfrm>
          <a:prstGeom prst="rect">
            <a:avLst/>
          </a:prstGeom>
        </p:spPr>
      </p:pic>
      <p:pic>
        <p:nvPicPr>
          <p:cNvPr id="221" name="그림 220"/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1239" y="6038300"/>
            <a:ext cx="483574" cy="389020"/>
          </a:xfrm>
          <a:prstGeom prst="rect">
            <a:avLst/>
          </a:prstGeom>
        </p:spPr>
      </p:pic>
      <p:grpSp>
        <p:nvGrpSpPr>
          <p:cNvPr id="188" name="Group 187"/>
          <p:cNvGrpSpPr>
            <a:grpSpLocks/>
          </p:cNvGrpSpPr>
          <p:nvPr/>
        </p:nvGrpSpPr>
        <p:grpSpPr bwMode="auto">
          <a:xfrm>
            <a:off x="3994218" y="2438498"/>
            <a:ext cx="547228" cy="509938"/>
            <a:chOff x="3581" y="1641"/>
            <a:chExt cx="410" cy="404"/>
          </a:xfrm>
        </p:grpSpPr>
        <p:pic>
          <p:nvPicPr>
            <p:cNvPr id="190" name="Picture 188"/>
            <p:cNvPicPr>
              <a:picLocks noChangeArrowheads="1"/>
            </p:cNvPicPr>
            <p:nvPr/>
          </p:nvPicPr>
          <p:blipFill>
            <a:blip r:embed="rId23" cstate="print"/>
            <a:srcRect/>
            <a:stretch>
              <a:fillRect/>
            </a:stretch>
          </p:blipFill>
          <p:spPr bwMode="auto">
            <a:xfrm>
              <a:off x="3581" y="1641"/>
              <a:ext cx="410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1" name="Rectangle 189"/>
            <p:cNvSpPr>
              <a:spLocks noChangeArrowheads="1"/>
            </p:cNvSpPr>
            <p:nvPr/>
          </p:nvSpPr>
          <p:spPr bwMode="auto">
            <a:xfrm>
              <a:off x="3602" y="1721"/>
              <a:ext cx="120" cy="2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79350" tIns="39676" rIns="79350" bIns="39676">
              <a:spAutoFit/>
            </a:bodyPr>
            <a:lstStyle/>
            <a:p>
              <a:pPr defTabSz="1205073">
                <a:spcBef>
                  <a:spcPct val="50000"/>
                </a:spcBef>
              </a:pPr>
              <a:endParaRPr lang="ko-KR" altLang="ko-KR" sz="1354" b="1">
                <a:solidFill>
                  <a:schemeClr val="hlink"/>
                </a:solidFill>
                <a:latin typeface="Times New Roman" pitchFamily="18" charset="0"/>
                <a:ea typeface="돋움" pitchFamily="50" charset="-127"/>
                <a:cs typeface="Times New Roman" pitchFamily="18" charset="0"/>
              </a:endParaRPr>
            </a:p>
          </p:txBody>
        </p:sp>
      </p:grpSp>
      <p:grpSp>
        <p:nvGrpSpPr>
          <p:cNvPr id="192" name="Group 187"/>
          <p:cNvGrpSpPr>
            <a:grpSpLocks/>
          </p:cNvGrpSpPr>
          <p:nvPr/>
        </p:nvGrpSpPr>
        <p:grpSpPr bwMode="auto">
          <a:xfrm>
            <a:off x="5061174" y="2447409"/>
            <a:ext cx="547228" cy="509938"/>
            <a:chOff x="3581" y="1641"/>
            <a:chExt cx="410" cy="404"/>
          </a:xfrm>
        </p:grpSpPr>
        <p:pic>
          <p:nvPicPr>
            <p:cNvPr id="193" name="Picture 188"/>
            <p:cNvPicPr>
              <a:picLocks noChangeArrowheads="1"/>
            </p:cNvPicPr>
            <p:nvPr/>
          </p:nvPicPr>
          <p:blipFill>
            <a:blip r:embed="rId23" cstate="print"/>
            <a:srcRect/>
            <a:stretch>
              <a:fillRect/>
            </a:stretch>
          </p:blipFill>
          <p:spPr bwMode="auto">
            <a:xfrm>
              <a:off x="3581" y="1641"/>
              <a:ext cx="410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4" name="Rectangle 189"/>
            <p:cNvSpPr>
              <a:spLocks noChangeArrowheads="1"/>
            </p:cNvSpPr>
            <p:nvPr/>
          </p:nvSpPr>
          <p:spPr bwMode="auto">
            <a:xfrm>
              <a:off x="3602" y="1721"/>
              <a:ext cx="120" cy="2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79350" tIns="39676" rIns="79350" bIns="39676">
              <a:spAutoFit/>
            </a:bodyPr>
            <a:lstStyle/>
            <a:p>
              <a:pPr defTabSz="1205073">
                <a:spcBef>
                  <a:spcPct val="50000"/>
                </a:spcBef>
              </a:pPr>
              <a:endParaRPr lang="ko-KR" altLang="ko-KR" sz="1354" b="1">
                <a:solidFill>
                  <a:schemeClr val="hlink"/>
                </a:solidFill>
                <a:latin typeface="Times New Roman" pitchFamily="18" charset="0"/>
                <a:ea typeface="돋움" pitchFamily="50" charset="-127"/>
                <a:cs typeface="Times New Roman" pitchFamily="18" charset="0"/>
              </a:endParaRPr>
            </a:p>
          </p:txBody>
        </p:sp>
      </p:grpSp>
      <p:grpSp>
        <p:nvGrpSpPr>
          <p:cNvPr id="197" name="Group 187"/>
          <p:cNvGrpSpPr>
            <a:grpSpLocks/>
          </p:cNvGrpSpPr>
          <p:nvPr/>
        </p:nvGrpSpPr>
        <p:grpSpPr bwMode="auto">
          <a:xfrm>
            <a:off x="4220034" y="5432374"/>
            <a:ext cx="547228" cy="509938"/>
            <a:chOff x="3581" y="1641"/>
            <a:chExt cx="410" cy="404"/>
          </a:xfrm>
        </p:grpSpPr>
        <p:pic>
          <p:nvPicPr>
            <p:cNvPr id="198" name="Picture 188"/>
            <p:cNvPicPr>
              <a:picLocks noChangeArrowheads="1"/>
            </p:cNvPicPr>
            <p:nvPr/>
          </p:nvPicPr>
          <p:blipFill>
            <a:blip r:embed="rId23" cstate="print"/>
            <a:srcRect/>
            <a:stretch>
              <a:fillRect/>
            </a:stretch>
          </p:blipFill>
          <p:spPr bwMode="auto">
            <a:xfrm>
              <a:off x="3581" y="1641"/>
              <a:ext cx="410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9" name="Rectangle 189"/>
            <p:cNvSpPr>
              <a:spLocks noChangeArrowheads="1"/>
            </p:cNvSpPr>
            <p:nvPr/>
          </p:nvSpPr>
          <p:spPr bwMode="auto">
            <a:xfrm>
              <a:off x="3602" y="1721"/>
              <a:ext cx="120" cy="2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79350" tIns="39676" rIns="79350" bIns="39676">
              <a:spAutoFit/>
            </a:bodyPr>
            <a:lstStyle/>
            <a:p>
              <a:pPr defTabSz="1205073">
                <a:spcBef>
                  <a:spcPct val="50000"/>
                </a:spcBef>
              </a:pPr>
              <a:endParaRPr lang="ko-KR" altLang="ko-KR" sz="1354" b="1">
                <a:solidFill>
                  <a:schemeClr val="hlink"/>
                </a:solidFill>
                <a:latin typeface="Times New Roman" pitchFamily="18" charset="0"/>
                <a:ea typeface="돋움" pitchFamily="50" charset="-127"/>
                <a:cs typeface="Times New Roman" pitchFamily="18" charset="0"/>
              </a:endParaRPr>
            </a:p>
          </p:txBody>
        </p:sp>
      </p:grpSp>
      <p:grpSp>
        <p:nvGrpSpPr>
          <p:cNvPr id="200" name="Group 187"/>
          <p:cNvGrpSpPr>
            <a:grpSpLocks/>
          </p:cNvGrpSpPr>
          <p:nvPr/>
        </p:nvGrpSpPr>
        <p:grpSpPr bwMode="auto">
          <a:xfrm>
            <a:off x="4933936" y="5449623"/>
            <a:ext cx="547228" cy="509938"/>
            <a:chOff x="3581" y="1641"/>
            <a:chExt cx="410" cy="404"/>
          </a:xfrm>
        </p:grpSpPr>
        <p:pic>
          <p:nvPicPr>
            <p:cNvPr id="201" name="Picture 188"/>
            <p:cNvPicPr>
              <a:picLocks noChangeArrowheads="1"/>
            </p:cNvPicPr>
            <p:nvPr/>
          </p:nvPicPr>
          <p:blipFill>
            <a:blip r:embed="rId23" cstate="print"/>
            <a:srcRect/>
            <a:stretch>
              <a:fillRect/>
            </a:stretch>
          </p:blipFill>
          <p:spPr bwMode="auto">
            <a:xfrm>
              <a:off x="3581" y="1641"/>
              <a:ext cx="410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02" name="Rectangle 189"/>
            <p:cNvSpPr>
              <a:spLocks noChangeArrowheads="1"/>
            </p:cNvSpPr>
            <p:nvPr/>
          </p:nvSpPr>
          <p:spPr bwMode="auto">
            <a:xfrm>
              <a:off x="3602" y="1721"/>
              <a:ext cx="120" cy="2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79350" tIns="39676" rIns="79350" bIns="39676">
              <a:spAutoFit/>
            </a:bodyPr>
            <a:lstStyle/>
            <a:p>
              <a:pPr defTabSz="1205073">
                <a:spcBef>
                  <a:spcPct val="50000"/>
                </a:spcBef>
              </a:pPr>
              <a:endParaRPr lang="ko-KR" altLang="ko-KR" sz="1354" b="1">
                <a:solidFill>
                  <a:schemeClr val="hlink"/>
                </a:solidFill>
                <a:latin typeface="Times New Roman" pitchFamily="18" charset="0"/>
                <a:ea typeface="돋움" pitchFamily="50" charset="-127"/>
                <a:cs typeface="Times New Roman" pitchFamily="18" charset="0"/>
              </a:endParaRPr>
            </a:p>
          </p:txBody>
        </p:sp>
      </p:grpSp>
      <p:grpSp>
        <p:nvGrpSpPr>
          <p:cNvPr id="203" name="Group 187"/>
          <p:cNvGrpSpPr>
            <a:grpSpLocks/>
          </p:cNvGrpSpPr>
          <p:nvPr/>
        </p:nvGrpSpPr>
        <p:grpSpPr bwMode="auto">
          <a:xfrm>
            <a:off x="4042370" y="1361839"/>
            <a:ext cx="547228" cy="509938"/>
            <a:chOff x="3581" y="1641"/>
            <a:chExt cx="410" cy="404"/>
          </a:xfrm>
        </p:grpSpPr>
        <p:pic>
          <p:nvPicPr>
            <p:cNvPr id="204" name="Picture 188"/>
            <p:cNvPicPr>
              <a:picLocks noChangeArrowheads="1"/>
            </p:cNvPicPr>
            <p:nvPr/>
          </p:nvPicPr>
          <p:blipFill>
            <a:blip r:embed="rId23" cstate="print"/>
            <a:srcRect/>
            <a:stretch>
              <a:fillRect/>
            </a:stretch>
          </p:blipFill>
          <p:spPr bwMode="auto">
            <a:xfrm>
              <a:off x="3581" y="1641"/>
              <a:ext cx="410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05" name="Rectangle 189"/>
            <p:cNvSpPr>
              <a:spLocks noChangeArrowheads="1"/>
            </p:cNvSpPr>
            <p:nvPr/>
          </p:nvSpPr>
          <p:spPr bwMode="auto">
            <a:xfrm>
              <a:off x="3602" y="1721"/>
              <a:ext cx="120" cy="2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79350" tIns="39676" rIns="79350" bIns="39676">
              <a:spAutoFit/>
            </a:bodyPr>
            <a:lstStyle/>
            <a:p>
              <a:pPr defTabSz="1205073">
                <a:spcBef>
                  <a:spcPct val="50000"/>
                </a:spcBef>
              </a:pPr>
              <a:endParaRPr lang="ko-KR" altLang="ko-KR" sz="1354" b="1">
                <a:solidFill>
                  <a:schemeClr val="hlink"/>
                </a:solidFill>
                <a:latin typeface="Times New Roman" pitchFamily="18" charset="0"/>
                <a:ea typeface="돋움" pitchFamily="50" charset="-127"/>
                <a:cs typeface="Times New Roman" pitchFamily="18" charset="0"/>
              </a:endParaRPr>
            </a:p>
          </p:txBody>
        </p:sp>
      </p:grp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6651806" y="2074596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C2980</a:t>
            </a:r>
            <a:endParaRPr lang="ko-KR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6" name="TextBox 195"/>
          <p:cNvSpPr txBox="1"/>
          <p:nvPr/>
        </p:nvSpPr>
        <p:spPr>
          <a:xfrm>
            <a:off x="4267618" y="5082924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C3548XL</a:t>
            </a:r>
            <a:endParaRPr lang="ko-KR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2" name="TextBox 221"/>
          <p:cNvSpPr txBox="1"/>
          <p:nvPr/>
        </p:nvSpPr>
        <p:spPr>
          <a:xfrm>
            <a:off x="3222818" y="2498445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C4201</a:t>
            </a:r>
            <a:endParaRPr lang="ko-KR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3" name="TextBox 222"/>
          <p:cNvSpPr txBox="1"/>
          <p:nvPr/>
        </p:nvSpPr>
        <p:spPr>
          <a:xfrm>
            <a:off x="2993799" y="1792349"/>
            <a:ext cx="928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PIX520</a:t>
            </a:r>
            <a:endParaRPr lang="ko-KR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4" name="TextBox 223"/>
          <p:cNvSpPr txBox="1"/>
          <p:nvPr/>
        </p:nvSpPr>
        <p:spPr>
          <a:xfrm>
            <a:off x="5265320" y="2877618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C6509</a:t>
            </a:r>
            <a:endParaRPr lang="ko-KR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5" name="TextBox 224"/>
          <p:cNvSpPr txBox="1"/>
          <p:nvPr/>
        </p:nvSpPr>
        <p:spPr>
          <a:xfrm>
            <a:off x="2891778" y="907570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C7513</a:t>
            </a:r>
            <a:endParaRPr lang="ko-KR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6" name="TextBox 225"/>
          <p:cNvSpPr txBox="1"/>
          <p:nvPr/>
        </p:nvSpPr>
        <p:spPr>
          <a:xfrm>
            <a:off x="5513610" y="897711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C4000</a:t>
            </a:r>
            <a:endParaRPr lang="ko-KR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7" name="제목 1"/>
          <p:cNvSpPr txBox="1">
            <a:spLocks/>
          </p:cNvSpPr>
          <p:nvPr/>
        </p:nvSpPr>
        <p:spPr>
          <a:xfrm>
            <a:off x="395567" y="417074"/>
            <a:ext cx="7886700" cy="68651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❺ </a:t>
            </a:r>
            <a:r>
              <a:rPr lang="ko-KR" altLang="en-US" sz="2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구성도 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048455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6556" y="5324367"/>
            <a:ext cx="1278800" cy="1199582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6938127" y="6492875"/>
            <a:ext cx="2057400" cy="365125"/>
          </a:xfrm>
        </p:spPr>
        <p:txBody>
          <a:bodyPr/>
          <a:lstStyle/>
          <a:p>
            <a:fld id="{F100E85C-9068-46D2-A14A-A9DCCDE0C986}" type="slidenum">
              <a:rPr lang="ko-KR" altLang="en-US" smtClean="0"/>
              <a:t>11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7595" y="417074"/>
            <a:ext cx="5819775" cy="299085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1029" y="3877926"/>
            <a:ext cx="3424519" cy="811473"/>
          </a:xfrm>
          <a:prstGeom prst="rect">
            <a:avLst/>
          </a:prstGeom>
        </p:spPr>
      </p:pic>
      <p:sp>
        <p:nvSpPr>
          <p:cNvPr id="10" name="자유형 9"/>
          <p:cNvSpPr/>
          <p:nvPr/>
        </p:nvSpPr>
        <p:spPr>
          <a:xfrm>
            <a:off x="3558989" y="2625193"/>
            <a:ext cx="152400" cy="1685365"/>
          </a:xfrm>
          <a:custGeom>
            <a:avLst/>
            <a:gdLst>
              <a:gd name="connsiteX0" fmla="*/ 0 w 183341"/>
              <a:gd name="connsiteY0" fmla="*/ 0 h 1658470"/>
              <a:gd name="connsiteX1" fmla="*/ 179294 w 183341"/>
              <a:gd name="connsiteY1" fmla="*/ 717176 h 1658470"/>
              <a:gd name="connsiteX2" fmla="*/ 107576 w 183341"/>
              <a:gd name="connsiteY2" fmla="*/ 1658470 h 1658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3341" h="1658470">
                <a:moveTo>
                  <a:pt x="0" y="0"/>
                </a:moveTo>
                <a:cubicBezTo>
                  <a:pt x="80682" y="220382"/>
                  <a:pt x="161365" y="440764"/>
                  <a:pt x="179294" y="717176"/>
                </a:cubicBezTo>
                <a:cubicBezTo>
                  <a:pt x="197223" y="993588"/>
                  <a:pt x="152399" y="1326029"/>
                  <a:pt x="107576" y="1658470"/>
                </a:cubicBezTo>
              </a:path>
            </a:pathLst>
          </a:custGeom>
          <a:noFill/>
          <a:ln w="57150">
            <a:solidFill>
              <a:schemeClr val="tx1">
                <a:lumMod val="75000"/>
                <a:lumOff val="25000"/>
                <a:alpha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제목 1"/>
          <p:cNvSpPr txBox="1">
            <a:spLocks/>
          </p:cNvSpPr>
          <p:nvPr/>
        </p:nvSpPr>
        <p:spPr>
          <a:xfrm>
            <a:off x="395567" y="417074"/>
            <a:ext cx="7886700" cy="68651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❻ </a:t>
            </a:r>
            <a:r>
              <a:rPr lang="ko-KR" altLang="en-US" sz="2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구성도 </a:t>
            </a:r>
            <a:endParaRPr lang="ko-KR" altLang="en-US" sz="2800" dirty="0"/>
          </a:p>
        </p:txBody>
      </p:sp>
      <p:sp>
        <p:nvSpPr>
          <p:cNvPr id="17" name="자유형 16"/>
          <p:cNvSpPr/>
          <p:nvPr/>
        </p:nvSpPr>
        <p:spPr>
          <a:xfrm flipH="1">
            <a:off x="3220749" y="4533310"/>
            <a:ext cx="414440" cy="1685365"/>
          </a:xfrm>
          <a:custGeom>
            <a:avLst/>
            <a:gdLst>
              <a:gd name="connsiteX0" fmla="*/ 0 w 183341"/>
              <a:gd name="connsiteY0" fmla="*/ 0 h 1658470"/>
              <a:gd name="connsiteX1" fmla="*/ 179294 w 183341"/>
              <a:gd name="connsiteY1" fmla="*/ 717176 h 1658470"/>
              <a:gd name="connsiteX2" fmla="*/ 107576 w 183341"/>
              <a:gd name="connsiteY2" fmla="*/ 1658470 h 1658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3341" h="1658470">
                <a:moveTo>
                  <a:pt x="0" y="0"/>
                </a:moveTo>
                <a:cubicBezTo>
                  <a:pt x="80682" y="220382"/>
                  <a:pt x="161365" y="440764"/>
                  <a:pt x="179294" y="717176"/>
                </a:cubicBezTo>
                <a:cubicBezTo>
                  <a:pt x="197223" y="993588"/>
                  <a:pt x="152399" y="1326029"/>
                  <a:pt x="107576" y="1658470"/>
                </a:cubicBezTo>
              </a:path>
            </a:pathLst>
          </a:custGeom>
          <a:noFill/>
          <a:ln w="57150">
            <a:solidFill>
              <a:schemeClr val="tx1">
                <a:lumMod val="75000"/>
                <a:lumOff val="25000"/>
                <a:alpha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9" name="그룹 18"/>
          <p:cNvGrpSpPr/>
          <p:nvPr/>
        </p:nvGrpSpPr>
        <p:grpSpPr>
          <a:xfrm>
            <a:off x="2890011" y="5475761"/>
            <a:ext cx="1013277" cy="1068014"/>
            <a:chOff x="809159" y="4814047"/>
            <a:chExt cx="688975" cy="732719"/>
          </a:xfrm>
        </p:grpSpPr>
        <p:sp>
          <p:nvSpPr>
            <p:cNvPr id="20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" name="Freeform 182"/>
            <p:cNvSpPr>
              <a:spLocks/>
            </p:cNvSpPr>
            <p:nvPr/>
          </p:nvSpPr>
          <p:spPr bwMode="auto">
            <a:xfrm flipH="1">
              <a:off x="995757" y="5270442"/>
              <a:ext cx="184726" cy="276324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" name="Freeform 183"/>
            <p:cNvSpPr>
              <a:spLocks/>
            </p:cNvSpPr>
            <p:nvPr/>
          </p:nvSpPr>
          <p:spPr bwMode="auto">
            <a:xfrm flipH="1">
              <a:off x="1010110" y="5260375"/>
              <a:ext cx="184726" cy="276324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1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2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3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4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6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3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4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8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9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0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1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3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57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70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71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58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9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0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2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3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4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5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6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7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8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9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72" name="자유형 71"/>
          <p:cNvSpPr/>
          <p:nvPr/>
        </p:nvSpPr>
        <p:spPr>
          <a:xfrm>
            <a:off x="5006189" y="4440966"/>
            <a:ext cx="247129" cy="1034795"/>
          </a:xfrm>
          <a:custGeom>
            <a:avLst/>
            <a:gdLst>
              <a:gd name="connsiteX0" fmla="*/ 0 w 183341"/>
              <a:gd name="connsiteY0" fmla="*/ 0 h 1658470"/>
              <a:gd name="connsiteX1" fmla="*/ 179294 w 183341"/>
              <a:gd name="connsiteY1" fmla="*/ 717176 h 1658470"/>
              <a:gd name="connsiteX2" fmla="*/ 107576 w 183341"/>
              <a:gd name="connsiteY2" fmla="*/ 1658470 h 1658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3341" h="1658470">
                <a:moveTo>
                  <a:pt x="0" y="0"/>
                </a:moveTo>
                <a:cubicBezTo>
                  <a:pt x="80682" y="220382"/>
                  <a:pt x="161365" y="440764"/>
                  <a:pt x="179294" y="717176"/>
                </a:cubicBezTo>
                <a:cubicBezTo>
                  <a:pt x="197223" y="993588"/>
                  <a:pt x="152399" y="1326029"/>
                  <a:pt x="107576" y="1658470"/>
                </a:cubicBezTo>
              </a:path>
            </a:pathLst>
          </a:custGeom>
          <a:noFill/>
          <a:ln w="57150">
            <a:solidFill>
              <a:schemeClr val="tx1">
                <a:lumMod val="75000"/>
                <a:lumOff val="25000"/>
                <a:alpha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71915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/>
          <p:cNvGrpSpPr/>
          <p:nvPr/>
        </p:nvGrpSpPr>
        <p:grpSpPr>
          <a:xfrm>
            <a:off x="843145" y="1965135"/>
            <a:ext cx="7600950" cy="3619500"/>
            <a:chOff x="843145" y="1660335"/>
            <a:chExt cx="7600950" cy="3619500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3145" y="1660335"/>
              <a:ext cx="7600950" cy="3619500"/>
            </a:xfrm>
            <a:prstGeom prst="rect">
              <a:avLst/>
            </a:prstGeom>
          </p:spPr>
        </p:pic>
        <p:sp>
          <p:nvSpPr>
            <p:cNvPr id="3" name="TextBox 2"/>
            <p:cNvSpPr txBox="1"/>
            <p:nvPr/>
          </p:nvSpPr>
          <p:spPr>
            <a:xfrm>
              <a:off x="2953358" y="4910503"/>
              <a:ext cx="161133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dirty="0" smtClean="0">
                  <a:latin typeface="함초롬바탕" panose="02030504000101010101" pitchFamily="18" charset="-127"/>
                  <a:ea typeface="함초롬바탕" panose="02030504000101010101" pitchFamily="18" charset="-127"/>
                  <a:cs typeface="함초롬바탕" panose="02030504000101010101" pitchFamily="18" charset="-127"/>
                </a:rPr>
                <a:t>유</a:t>
              </a:r>
              <a:r>
                <a:rPr lang="en-US" altLang="ko-KR" sz="1600" dirty="0">
                  <a:latin typeface="함초롬바탕" panose="02030504000101010101" pitchFamily="18" charset="-127"/>
                  <a:ea typeface="함초롬바탕" panose="02030504000101010101" pitchFamily="18" charset="-127"/>
                  <a:cs typeface="함초롬바탕" panose="02030504000101010101" pitchFamily="18" charset="-127"/>
                </a:rPr>
                <a:t>/</a:t>
              </a:r>
              <a:r>
                <a:rPr lang="ko-KR" altLang="en-US" sz="1600">
                  <a:latin typeface="함초롬바탕" panose="02030504000101010101" pitchFamily="18" charset="-127"/>
                  <a:ea typeface="함초롬바탕" panose="02030504000101010101" pitchFamily="18" charset="-127"/>
                  <a:cs typeface="함초롬바탕" panose="02030504000101010101" pitchFamily="18" charset="-127"/>
                </a:rPr>
                <a:t>무선 공유기 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039202" y="4910503"/>
              <a:ext cx="58221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dirty="0" smtClean="0">
                  <a:latin typeface="함초롬바탕" panose="02030504000101010101" pitchFamily="18" charset="-127"/>
                  <a:ea typeface="함초롬바탕" panose="02030504000101010101" pitchFamily="18" charset="-127"/>
                  <a:cs typeface="함초롬바탕" panose="02030504000101010101" pitchFamily="18" charset="-127"/>
                </a:rPr>
                <a:t>모뎀</a:t>
              </a:r>
              <a:endPara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endParaRPr>
            </a:p>
          </p:txBody>
        </p:sp>
      </p:grp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6767029" y="6277096"/>
            <a:ext cx="2057400" cy="365125"/>
          </a:xfrm>
        </p:spPr>
        <p:txBody>
          <a:bodyPr/>
          <a:lstStyle/>
          <a:p>
            <a:fld id="{F100E85C-9068-46D2-A14A-A9DCCDE0C986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13" name="제목 1"/>
          <p:cNvSpPr txBox="1">
            <a:spLocks/>
          </p:cNvSpPr>
          <p:nvPr/>
        </p:nvSpPr>
        <p:spPr>
          <a:xfrm>
            <a:off x="395567" y="417074"/>
            <a:ext cx="7886700" cy="68651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❼ </a:t>
            </a:r>
            <a:r>
              <a:rPr lang="ko-KR" altLang="en-US" sz="2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구성도 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652261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9" name="Rectangle 2"/>
          <p:cNvSpPr>
            <a:spLocks noGrp="1" noChangeArrowheads="1"/>
          </p:cNvSpPr>
          <p:nvPr>
            <p:ph type="title"/>
          </p:nvPr>
        </p:nvSpPr>
        <p:spPr>
          <a:xfrm>
            <a:off x="449035" y="430441"/>
            <a:ext cx="8486417" cy="663574"/>
          </a:xfrm>
        </p:spPr>
        <p:txBody>
          <a:bodyPr anchor="t">
            <a:normAutofit/>
          </a:bodyPr>
          <a:lstStyle/>
          <a:p>
            <a:r>
              <a:rPr lang="en-US" altLang="ko-KR" sz="3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SoHo(</a:t>
            </a:r>
            <a:r>
              <a:rPr lang="en-US" altLang="ko-KR" sz="3600" dirty="0">
                <a:solidFill>
                  <a:srgbClr val="3C40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 office/home office</a:t>
            </a:r>
            <a:r>
              <a:rPr lang="en-US" altLang="ko-KR" sz="3600" dirty="0">
                <a:solidFill>
                  <a:srgbClr val="3C4043"/>
                </a:solidFill>
              </a:rPr>
              <a:t>)</a:t>
            </a:r>
            <a:r>
              <a:rPr lang="ko-KR" altLang="en-US" sz="360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에서의 </a:t>
            </a:r>
            <a:r>
              <a:rPr lang="en-US" altLang="ko-KR" sz="3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NAT </a:t>
            </a:r>
            <a:endParaRPr lang="ko-KR" altLang="en-US" sz="360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477116" y="6054323"/>
            <a:ext cx="21034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❷ 유</a:t>
            </a:r>
            <a:r>
              <a:rPr lang="en-US" altLang="ko-KR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/</a:t>
            </a:r>
            <a:r>
              <a:rPr lang="ko-KR" altLang="en-US" b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무선 공유기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21272" y="6050800"/>
            <a:ext cx="926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❸ 모뎀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624" y="6050800"/>
            <a:ext cx="15648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❶ 컴퓨터 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545" y="2431300"/>
            <a:ext cx="7600950" cy="3619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914551" y="1376404"/>
            <a:ext cx="276371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898" indent="-26193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공유기 기능</a:t>
            </a:r>
            <a:endParaRPr lang="en-US" altLang="ko-KR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538160" indent="-204787">
              <a:lnSpc>
                <a:spcPct val="150000"/>
              </a:lnSpc>
              <a:buFontTx/>
              <a:buChar char="-"/>
            </a:pPr>
            <a:r>
              <a:rPr lang="ko-KR" altLang="en-US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패킷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전달 </a:t>
            </a:r>
            <a:endParaRPr lang="en-US" altLang="ko-KR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538160" indent="-204787">
              <a:lnSpc>
                <a:spcPct val="150000"/>
              </a:lnSpc>
              <a:buFontTx/>
              <a:buChar char="-"/>
            </a:pP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DHCP </a:t>
            </a:r>
          </a:p>
          <a:p>
            <a:pPr marL="538160" indent="-204787">
              <a:lnSpc>
                <a:spcPct val="150000"/>
              </a:lnSpc>
              <a:buFontTx/>
              <a:buChar char="-"/>
            </a:pP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NAT</a:t>
            </a:r>
            <a:endParaRPr lang="ko-KR" altLang="en-US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9329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9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1" y="444153"/>
            <a:ext cx="7886700" cy="663574"/>
          </a:xfrm>
        </p:spPr>
        <p:txBody>
          <a:bodyPr anchor="t">
            <a:normAutofit/>
          </a:bodyPr>
          <a:lstStyle/>
          <a:p>
            <a:pPr eaLnBrk="1" hangingPunct="1"/>
            <a:r>
              <a:rPr lang="en-US" altLang="ko-KR" sz="3600" b="1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NAT </a:t>
            </a:r>
            <a:r>
              <a:rPr lang="ko-KR" altLang="en-US" sz="3600" b="1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기능 </a:t>
            </a:r>
            <a:r>
              <a:rPr lang="en-US" altLang="ko-KR" sz="3600" b="1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endParaRPr lang="ko-KR" altLang="en-US" sz="3600" b="1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628651" y="1428030"/>
            <a:ext cx="78867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1846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네트워크 주소 변환 </a:t>
            </a:r>
            <a:r>
              <a:rPr lang="en-US" altLang="ko-KR" sz="1846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</a:t>
            </a:r>
            <a:r>
              <a:rPr lang="en-US" altLang="ko-KR" sz="1846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Network Address Translation)</a:t>
            </a:r>
            <a:endParaRPr lang="en-US" altLang="ko-KR" sz="1846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846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송신지 또는 수신지 </a:t>
            </a:r>
            <a:r>
              <a:rPr lang="en-US" altLang="ko-KR" sz="1846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 address</a:t>
            </a:r>
            <a:r>
              <a:rPr lang="ko-KR" altLang="en-US" sz="1846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다른 주소로 변환</a:t>
            </a:r>
            <a:endParaRPr lang="en-US" altLang="ko-KR" sz="1846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846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Source NAT(SNAT)</a:t>
            </a:r>
            <a:r>
              <a:rPr lang="ko-KR" altLang="en-US" sz="1846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와 </a:t>
            </a:r>
            <a:r>
              <a:rPr lang="en-US" altLang="ko-KR" sz="1846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Destination NAT(DNAT)</a:t>
            </a:r>
            <a:endParaRPr lang="ko-KR" altLang="en-US" sz="1846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/>
          </p:nvPr>
        </p:nvGraphicFramePr>
        <p:xfrm>
          <a:off x="757948" y="3686010"/>
          <a:ext cx="3551464" cy="5870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7573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7573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870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192.168.1.10</a:t>
                      </a:r>
                      <a:endParaRPr lang="ko-KR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200.10.10.10</a:t>
                      </a:r>
                      <a:endParaRPr lang="ko-KR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30089" y="3284021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송신지 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</a:t>
            </a:r>
            <a:endParaRPr lang="ko-KR" altLang="en-US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809903" y="3300350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수신지 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</a:t>
            </a:r>
            <a:endParaRPr lang="ko-KR" altLang="en-US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/>
          </p:nvPr>
        </p:nvGraphicFramePr>
        <p:xfrm>
          <a:off x="5153409" y="3686010"/>
          <a:ext cx="3551464" cy="5870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7573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7573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870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192.168.1.10</a:t>
                      </a:r>
                      <a:endParaRPr lang="ko-KR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200.10.10.10</a:t>
                      </a:r>
                      <a:endParaRPr lang="ko-KR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25550" y="3284021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송신지 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</a:t>
            </a:r>
            <a:endParaRPr lang="ko-KR" altLang="en-US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205364" y="3300350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수신지 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</a:t>
            </a:r>
            <a:endParaRPr lang="ko-KR" altLang="en-US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/>
          </p:nvPr>
        </p:nvGraphicFramePr>
        <p:xfrm>
          <a:off x="757948" y="5412048"/>
          <a:ext cx="3551464" cy="5870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7573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7573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870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172.16.1.10</a:t>
                      </a:r>
                      <a:endParaRPr lang="ko-KR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200.10.10.10</a:t>
                      </a:r>
                      <a:endParaRPr lang="ko-KR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11" name="표 10"/>
          <p:cNvGraphicFramePr>
            <a:graphicFrameLocks noGrp="1"/>
          </p:cNvGraphicFramePr>
          <p:nvPr>
            <p:extLst/>
          </p:nvPr>
        </p:nvGraphicFramePr>
        <p:xfrm>
          <a:off x="5153409" y="5381375"/>
          <a:ext cx="3551464" cy="5870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7573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7573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870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192.168.1.10</a:t>
                      </a:r>
                      <a:endParaRPr lang="ko-KR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10.10.10.10</a:t>
                      </a:r>
                      <a:endParaRPr lang="ko-KR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5" name="아래쪽 화살표 4"/>
          <p:cNvSpPr/>
          <p:nvPr/>
        </p:nvSpPr>
        <p:spPr>
          <a:xfrm>
            <a:off x="1419078" y="4441637"/>
            <a:ext cx="358873" cy="783772"/>
          </a:xfrm>
          <a:prstGeom prst="downArrow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아래쪽 화살표 12"/>
          <p:cNvSpPr/>
          <p:nvPr/>
        </p:nvSpPr>
        <p:spPr>
          <a:xfrm>
            <a:off x="7594353" y="4386126"/>
            <a:ext cx="358873" cy="783772"/>
          </a:xfrm>
          <a:prstGeom prst="downArrow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1833547" y="4593347"/>
            <a:ext cx="1081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❶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SNAT</a:t>
            </a:r>
            <a:endParaRPr lang="ko-KR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71664" y="4623340"/>
            <a:ext cx="1119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❷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DNAT</a:t>
            </a:r>
            <a:endParaRPr lang="ko-KR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슬라이드 번호 개체 틀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8795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/>
        </p:nvSpPr>
        <p:spPr>
          <a:xfrm>
            <a:off x="168402" y="3501970"/>
            <a:ext cx="4303340" cy="2228324"/>
          </a:xfrm>
          <a:prstGeom prst="roundRect">
            <a:avLst>
              <a:gd name="adj" fmla="val 7031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87" name="직선 연결선 186"/>
          <p:cNvCxnSpPr/>
          <p:nvPr/>
        </p:nvCxnSpPr>
        <p:spPr>
          <a:xfrm flipH="1" flipV="1">
            <a:off x="7739743" y="2540636"/>
            <a:ext cx="681718" cy="124375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669" y="2228156"/>
            <a:ext cx="3630385" cy="1701743"/>
          </a:xfrm>
          <a:prstGeom prst="rect">
            <a:avLst/>
          </a:prstGeom>
        </p:spPr>
      </p:pic>
      <p:cxnSp>
        <p:nvCxnSpPr>
          <p:cNvPr id="9" name="직선 연결선 8"/>
          <p:cNvCxnSpPr>
            <a:endCxn id="75" idx="1"/>
          </p:cNvCxnSpPr>
          <p:nvPr/>
        </p:nvCxnSpPr>
        <p:spPr>
          <a:xfrm flipH="1">
            <a:off x="861895" y="3441487"/>
            <a:ext cx="414991" cy="1186429"/>
          </a:xfrm>
          <a:prstGeom prst="line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>
            <a:off x="1503124" y="3501970"/>
            <a:ext cx="283968" cy="1131257"/>
          </a:xfrm>
          <a:prstGeom prst="line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1663069" y="3441486"/>
            <a:ext cx="1023734" cy="1141908"/>
          </a:xfrm>
          <a:prstGeom prst="line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구름 19"/>
          <p:cNvSpPr/>
          <p:nvPr/>
        </p:nvSpPr>
        <p:spPr>
          <a:xfrm>
            <a:off x="4376054" y="747273"/>
            <a:ext cx="4139297" cy="2171700"/>
          </a:xfrm>
          <a:prstGeom prst="cloud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ko-KR" sz="24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Internet</a:t>
            </a:r>
            <a:endParaRPr lang="ko-KR" altLang="en-US" sz="2400" b="1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직선 연결선 21"/>
          <p:cNvCxnSpPr/>
          <p:nvPr/>
        </p:nvCxnSpPr>
        <p:spPr>
          <a:xfrm flipV="1">
            <a:off x="4229101" y="2363801"/>
            <a:ext cx="277585" cy="13062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그림 2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927522" y="3284778"/>
            <a:ext cx="1175657" cy="1290240"/>
          </a:xfrm>
          <a:prstGeom prst="rect">
            <a:avLst/>
          </a:prstGeom>
        </p:spPr>
      </p:pic>
      <p:grpSp>
        <p:nvGrpSpPr>
          <p:cNvPr id="25" name="그룹 24"/>
          <p:cNvGrpSpPr/>
          <p:nvPr/>
        </p:nvGrpSpPr>
        <p:grpSpPr>
          <a:xfrm>
            <a:off x="412433" y="4627913"/>
            <a:ext cx="688975" cy="745366"/>
            <a:chOff x="809159" y="4814047"/>
            <a:chExt cx="688975" cy="745367"/>
          </a:xfrm>
        </p:grpSpPr>
        <p:sp>
          <p:nvSpPr>
            <p:cNvPr id="26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1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2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3" name="Freeform 182"/>
            <p:cNvSpPr>
              <a:spLocks/>
            </p:cNvSpPr>
            <p:nvPr/>
          </p:nvSpPr>
          <p:spPr bwMode="auto">
            <a:xfrm flipH="1">
              <a:off x="995757" y="5257793"/>
              <a:ext cx="184731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4" name="Freeform 183"/>
            <p:cNvSpPr>
              <a:spLocks/>
            </p:cNvSpPr>
            <p:nvPr/>
          </p:nvSpPr>
          <p:spPr bwMode="auto">
            <a:xfrm flipH="1">
              <a:off x="1010110" y="5247727"/>
              <a:ext cx="184731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6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3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4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8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9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0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1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3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9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0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2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63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76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77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64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5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6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7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8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9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0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1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2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3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4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5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79" name="그룹 78"/>
          <p:cNvGrpSpPr/>
          <p:nvPr/>
        </p:nvGrpSpPr>
        <p:grpSpPr>
          <a:xfrm>
            <a:off x="1488929" y="4618404"/>
            <a:ext cx="688975" cy="745366"/>
            <a:chOff x="809159" y="4814047"/>
            <a:chExt cx="688975" cy="745367"/>
          </a:xfrm>
        </p:grpSpPr>
        <p:sp>
          <p:nvSpPr>
            <p:cNvPr id="80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1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2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3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4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5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6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7" name="Freeform 182"/>
            <p:cNvSpPr>
              <a:spLocks/>
            </p:cNvSpPr>
            <p:nvPr/>
          </p:nvSpPr>
          <p:spPr bwMode="auto">
            <a:xfrm flipH="1">
              <a:off x="995757" y="5257793"/>
              <a:ext cx="184731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8" name="Freeform 183"/>
            <p:cNvSpPr>
              <a:spLocks/>
            </p:cNvSpPr>
            <p:nvPr/>
          </p:nvSpPr>
          <p:spPr bwMode="auto">
            <a:xfrm flipH="1">
              <a:off x="1010110" y="5247727"/>
              <a:ext cx="184731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9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0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1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2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3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4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5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6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7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8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9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0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1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3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4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5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6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7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8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9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0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1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2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3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4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5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6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117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130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31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118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9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0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1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2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3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4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5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6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7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8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9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34" name="그룹 133"/>
          <p:cNvGrpSpPr/>
          <p:nvPr/>
        </p:nvGrpSpPr>
        <p:grpSpPr>
          <a:xfrm flipH="1">
            <a:off x="2413298" y="4607498"/>
            <a:ext cx="811294" cy="745366"/>
            <a:chOff x="809159" y="4814047"/>
            <a:chExt cx="688975" cy="745367"/>
          </a:xfrm>
        </p:grpSpPr>
        <p:sp>
          <p:nvSpPr>
            <p:cNvPr id="135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6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7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8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9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0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1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2" name="Freeform 182"/>
            <p:cNvSpPr>
              <a:spLocks/>
            </p:cNvSpPr>
            <p:nvPr/>
          </p:nvSpPr>
          <p:spPr bwMode="auto">
            <a:xfrm flipH="1">
              <a:off x="990721" y="5257793"/>
              <a:ext cx="156879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3" name="Freeform 183"/>
            <p:cNvSpPr>
              <a:spLocks/>
            </p:cNvSpPr>
            <p:nvPr/>
          </p:nvSpPr>
          <p:spPr bwMode="auto">
            <a:xfrm flipH="1">
              <a:off x="1005073" y="5247727"/>
              <a:ext cx="156879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4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5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6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7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8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9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0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1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2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3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4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5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6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7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8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9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0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1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2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3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4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5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6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7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8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9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0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1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172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185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86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173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4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5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6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7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8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9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0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1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2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3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4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01380" name="TextBox 101379"/>
          <p:cNvSpPr txBox="1"/>
          <p:nvPr/>
        </p:nvSpPr>
        <p:spPr>
          <a:xfrm>
            <a:off x="7349021" y="4536838"/>
            <a:ext cx="179497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www.test.com</a:t>
            </a:r>
          </a:p>
          <a:p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200.10.10.10</a:t>
            </a:r>
            <a:endParaRPr lang="ko-KR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8" name="TextBox 187"/>
          <p:cNvSpPr txBox="1"/>
          <p:nvPr/>
        </p:nvSpPr>
        <p:spPr>
          <a:xfrm>
            <a:off x="168402" y="5272434"/>
            <a:ext cx="132921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192.168.1.10</a:t>
            </a:r>
            <a:endParaRPr lang="ko-KR" alt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9" name="TextBox 188"/>
          <p:cNvSpPr txBox="1"/>
          <p:nvPr/>
        </p:nvSpPr>
        <p:spPr>
          <a:xfrm>
            <a:off x="1670486" y="5222956"/>
            <a:ext cx="132921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192.168.1.20</a:t>
            </a:r>
            <a:endParaRPr lang="ko-KR" alt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0" name="TextBox 189"/>
          <p:cNvSpPr txBox="1"/>
          <p:nvPr/>
        </p:nvSpPr>
        <p:spPr>
          <a:xfrm>
            <a:off x="3075205" y="4947483"/>
            <a:ext cx="132921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192.168.1.30</a:t>
            </a:r>
            <a:endParaRPr lang="ko-KR" alt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31267" y="2825985"/>
            <a:ext cx="10070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DHCP</a:t>
            </a:r>
            <a:endParaRPr lang="ko-KR" altLang="en-US" sz="24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244452" y="4034701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사설망</a:t>
            </a:r>
            <a:endParaRPr lang="ko-KR" altLang="en-US" b="1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220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/>
        </p:nvSpPr>
        <p:spPr>
          <a:xfrm>
            <a:off x="97915" y="3522140"/>
            <a:ext cx="4400306" cy="2228324"/>
          </a:xfrm>
          <a:prstGeom prst="roundRect">
            <a:avLst>
              <a:gd name="adj" fmla="val 7031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87" name="직선 연결선 186"/>
          <p:cNvCxnSpPr/>
          <p:nvPr/>
        </p:nvCxnSpPr>
        <p:spPr>
          <a:xfrm flipH="1" flipV="1">
            <a:off x="7766222" y="2560806"/>
            <a:ext cx="681718" cy="124375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48" y="2248326"/>
            <a:ext cx="3630385" cy="1701743"/>
          </a:xfrm>
          <a:prstGeom prst="rect">
            <a:avLst/>
          </a:prstGeom>
        </p:spPr>
      </p:pic>
      <p:cxnSp>
        <p:nvCxnSpPr>
          <p:cNvPr id="9" name="직선 연결선 8"/>
          <p:cNvCxnSpPr>
            <a:endCxn id="75" idx="1"/>
          </p:cNvCxnSpPr>
          <p:nvPr/>
        </p:nvCxnSpPr>
        <p:spPr>
          <a:xfrm flipH="1">
            <a:off x="888374" y="3461657"/>
            <a:ext cx="414991" cy="1186429"/>
          </a:xfrm>
          <a:prstGeom prst="line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>
            <a:off x="1529603" y="3522140"/>
            <a:ext cx="283968" cy="1131257"/>
          </a:xfrm>
          <a:prstGeom prst="line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1689549" y="3461656"/>
            <a:ext cx="1023734" cy="1141908"/>
          </a:xfrm>
          <a:prstGeom prst="line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구름 19"/>
          <p:cNvSpPr/>
          <p:nvPr/>
        </p:nvSpPr>
        <p:spPr>
          <a:xfrm>
            <a:off x="4402533" y="767443"/>
            <a:ext cx="4139297" cy="2171700"/>
          </a:xfrm>
          <a:prstGeom prst="cloud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ko-KR" sz="24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Internet</a:t>
            </a:r>
            <a:endParaRPr lang="ko-KR" altLang="en-US" sz="2400" b="1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직선 연결선 21"/>
          <p:cNvCxnSpPr/>
          <p:nvPr/>
        </p:nvCxnSpPr>
        <p:spPr>
          <a:xfrm flipV="1">
            <a:off x="4255580" y="2383971"/>
            <a:ext cx="277585" cy="13062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그림 2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954000" y="3304948"/>
            <a:ext cx="1175657" cy="1290240"/>
          </a:xfrm>
          <a:prstGeom prst="rect">
            <a:avLst/>
          </a:prstGeom>
        </p:spPr>
      </p:pic>
      <p:grpSp>
        <p:nvGrpSpPr>
          <p:cNvPr id="25" name="그룹 24"/>
          <p:cNvGrpSpPr/>
          <p:nvPr/>
        </p:nvGrpSpPr>
        <p:grpSpPr>
          <a:xfrm>
            <a:off x="438911" y="4648083"/>
            <a:ext cx="688975" cy="745366"/>
            <a:chOff x="809159" y="4814047"/>
            <a:chExt cx="688975" cy="745367"/>
          </a:xfrm>
        </p:grpSpPr>
        <p:sp>
          <p:nvSpPr>
            <p:cNvPr id="26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1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2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3" name="Freeform 182"/>
            <p:cNvSpPr>
              <a:spLocks/>
            </p:cNvSpPr>
            <p:nvPr/>
          </p:nvSpPr>
          <p:spPr bwMode="auto">
            <a:xfrm flipH="1">
              <a:off x="995757" y="5257793"/>
              <a:ext cx="184731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4" name="Freeform 183"/>
            <p:cNvSpPr>
              <a:spLocks/>
            </p:cNvSpPr>
            <p:nvPr/>
          </p:nvSpPr>
          <p:spPr bwMode="auto">
            <a:xfrm flipH="1">
              <a:off x="1010110" y="5247727"/>
              <a:ext cx="184731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6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3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4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8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9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0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1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3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9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0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2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63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76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77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64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5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6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7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8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9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0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1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2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3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4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5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79" name="그룹 78"/>
          <p:cNvGrpSpPr/>
          <p:nvPr/>
        </p:nvGrpSpPr>
        <p:grpSpPr>
          <a:xfrm>
            <a:off x="1515407" y="4638574"/>
            <a:ext cx="688975" cy="745366"/>
            <a:chOff x="809159" y="4814047"/>
            <a:chExt cx="688975" cy="745367"/>
          </a:xfrm>
        </p:grpSpPr>
        <p:sp>
          <p:nvSpPr>
            <p:cNvPr id="80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1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2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3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4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5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6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7" name="Freeform 182"/>
            <p:cNvSpPr>
              <a:spLocks/>
            </p:cNvSpPr>
            <p:nvPr/>
          </p:nvSpPr>
          <p:spPr bwMode="auto">
            <a:xfrm flipH="1">
              <a:off x="995757" y="5257793"/>
              <a:ext cx="184731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8" name="Freeform 183"/>
            <p:cNvSpPr>
              <a:spLocks/>
            </p:cNvSpPr>
            <p:nvPr/>
          </p:nvSpPr>
          <p:spPr bwMode="auto">
            <a:xfrm flipH="1">
              <a:off x="1010110" y="5247727"/>
              <a:ext cx="184731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9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0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1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2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3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4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5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6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7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8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9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0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1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3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4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5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6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7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8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9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0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1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2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3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4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5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6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117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130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31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118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9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0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1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2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3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4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5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6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7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8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9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34" name="그룹 133"/>
          <p:cNvGrpSpPr/>
          <p:nvPr/>
        </p:nvGrpSpPr>
        <p:grpSpPr>
          <a:xfrm flipH="1">
            <a:off x="2439777" y="4627668"/>
            <a:ext cx="811294" cy="745366"/>
            <a:chOff x="809159" y="4814047"/>
            <a:chExt cx="688975" cy="745367"/>
          </a:xfrm>
        </p:grpSpPr>
        <p:sp>
          <p:nvSpPr>
            <p:cNvPr id="135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6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7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8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9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0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1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2" name="Freeform 182"/>
            <p:cNvSpPr>
              <a:spLocks/>
            </p:cNvSpPr>
            <p:nvPr/>
          </p:nvSpPr>
          <p:spPr bwMode="auto">
            <a:xfrm flipH="1">
              <a:off x="990721" y="5257793"/>
              <a:ext cx="156879" cy="301621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3" name="Freeform 183"/>
            <p:cNvSpPr>
              <a:spLocks/>
            </p:cNvSpPr>
            <p:nvPr/>
          </p:nvSpPr>
          <p:spPr bwMode="auto">
            <a:xfrm flipH="1">
              <a:off x="1005073" y="5247727"/>
              <a:ext cx="156879" cy="301621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4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5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6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7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8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9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0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1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2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3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4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5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6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7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8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9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0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1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2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3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4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5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6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7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8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9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0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1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172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185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86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00" kern="0">
                  <a:solidFill>
                    <a:sysClr val="windowText" lastClr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173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4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5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6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7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8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9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0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1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2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3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4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01380" name="TextBox 101379"/>
          <p:cNvSpPr txBox="1"/>
          <p:nvPr/>
        </p:nvSpPr>
        <p:spPr>
          <a:xfrm>
            <a:off x="7375500" y="4557008"/>
            <a:ext cx="179497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www.test.com</a:t>
            </a:r>
          </a:p>
          <a:p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200.10.10.10</a:t>
            </a:r>
            <a:endParaRPr lang="ko-KR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8" name="TextBox 187"/>
          <p:cNvSpPr txBox="1"/>
          <p:nvPr/>
        </p:nvSpPr>
        <p:spPr>
          <a:xfrm>
            <a:off x="0" y="5308632"/>
            <a:ext cx="132921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192.168.1.10</a:t>
            </a:r>
            <a:endParaRPr lang="ko-KR" alt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9" name="TextBox 188"/>
          <p:cNvSpPr txBox="1"/>
          <p:nvPr/>
        </p:nvSpPr>
        <p:spPr>
          <a:xfrm>
            <a:off x="1321699" y="5308524"/>
            <a:ext cx="132921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192.168.1.20</a:t>
            </a:r>
            <a:endParaRPr lang="ko-KR" alt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0" name="TextBox 189"/>
          <p:cNvSpPr txBox="1"/>
          <p:nvPr/>
        </p:nvSpPr>
        <p:spPr>
          <a:xfrm>
            <a:off x="3119491" y="5065431"/>
            <a:ext cx="132921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192.168.1.30</a:t>
            </a:r>
            <a:endParaRPr lang="ko-KR" alt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181159" y="5439146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사설망</a:t>
            </a:r>
            <a:endParaRPr lang="ko-KR" altLang="en-US" b="1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/>
          </p:nvPr>
        </p:nvGraphicFramePr>
        <p:xfrm>
          <a:off x="153399" y="1409004"/>
          <a:ext cx="2909970" cy="16488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5498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45498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변환 전 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변환 후 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378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192.168.1.10</a:t>
                      </a:r>
                      <a:endParaRPr lang="ko-KR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30.1.120.8</a:t>
                      </a:r>
                      <a:endParaRPr lang="ko-KR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378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192.168.1.20</a:t>
                      </a:r>
                      <a:endParaRPr lang="ko-KR" alt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378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192.168.1.30</a:t>
                      </a:r>
                      <a:endParaRPr lang="ko-KR" altLang="en-US" sz="16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77132" y="1029045"/>
            <a:ext cx="1328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NAT</a:t>
            </a:r>
            <a:r>
              <a:rPr lang="en-US" altLang="ko-KR" sz="16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1600" b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테이블 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277938" y="3042435"/>
            <a:ext cx="7837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</a:t>
            </a:r>
            <a:endParaRPr lang="ko-KR" altLang="en-US" sz="24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92" name="표 191"/>
          <p:cNvGraphicFramePr>
            <a:graphicFrameLocks noGrp="1"/>
          </p:cNvGraphicFramePr>
          <p:nvPr>
            <p:extLst/>
          </p:nvPr>
        </p:nvGraphicFramePr>
        <p:xfrm>
          <a:off x="3272386" y="4588317"/>
          <a:ext cx="2736678" cy="34557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6833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6833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455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192.168.1.30</a:t>
                      </a:r>
                      <a:endParaRPr lang="ko-KR" altLang="en-US" sz="16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200.10.10.10</a:t>
                      </a:r>
                      <a:endParaRPr lang="ko-KR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323698" y="4281525"/>
            <a:ext cx="26340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송신지</a:t>
            </a:r>
            <a:r>
              <a:rPr lang="en-US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IP(A)         </a:t>
            </a:r>
            <a:r>
              <a:rPr lang="ko-KR" altLang="en-US" sz="16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수신지 </a:t>
            </a:r>
            <a:r>
              <a:rPr lang="en-US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</a:t>
            </a:r>
            <a:endParaRPr lang="ko-KR" altLang="en-US" sz="160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graphicFrame>
        <p:nvGraphicFramePr>
          <p:cNvPr id="193" name="표 192"/>
          <p:cNvGraphicFramePr>
            <a:graphicFrameLocks noGrp="1"/>
          </p:cNvGraphicFramePr>
          <p:nvPr>
            <p:extLst/>
          </p:nvPr>
        </p:nvGraphicFramePr>
        <p:xfrm>
          <a:off x="4329678" y="2711107"/>
          <a:ext cx="2736678" cy="34557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6833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6833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455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30.1.120.8</a:t>
                      </a:r>
                      <a:endParaRPr lang="ko-KR" altLang="en-US" sz="16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200.10.10.10</a:t>
                      </a:r>
                      <a:endParaRPr lang="ko-KR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194" name="TextBox 193"/>
          <p:cNvSpPr txBox="1"/>
          <p:nvPr/>
        </p:nvSpPr>
        <p:spPr>
          <a:xfrm>
            <a:off x="4533165" y="3055790"/>
            <a:ext cx="23695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송신지</a:t>
            </a:r>
            <a:r>
              <a:rPr lang="en-US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IP(B)     </a:t>
            </a:r>
            <a:r>
              <a:rPr lang="ko-KR" altLang="en-US" sz="16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수신지 </a:t>
            </a:r>
            <a:r>
              <a:rPr lang="en-US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</a:t>
            </a:r>
            <a:endParaRPr lang="ko-KR" altLang="en-US" sz="160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40725" y="5489436"/>
            <a:ext cx="3999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48" indent="-285748">
              <a:buFont typeface="Arial" panose="020B0604020202020204" pitchFamily="34" charset="0"/>
              <a:buChar char="•"/>
            </a:pPr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사설 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 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주소를 공인 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 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주소로 변환</a:t>
            </a:r>
          </a:p>
        </p:txBody>
      </p:sp>
      <p:sp>
        <p:nvSpPr>
          <p:cNvPr id="11" name="슬라이드 번호 개체 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8232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화살표 연결선 7"/>
          <p:cNvCxnSpPr/>
          <p:nvPr/>
        </p:nvCxnSpPr>
        <p:spPr>
          <a:xfrm>
            <a:off x="550138" y="2410978"/>
            <a:ext cx="7809138" cy="16152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6" name="구름 5"/>
          <p:cNvSpPr/>
          <p:nvPr/>
        </p:nvSpPr>
        <p:spPr>
          <a:xfrm>
            <a:off x="4555994" y="2120765"/>
            <a:ext cx="1381758" cy="636217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5" name="Group 172"/>
          <p:cNvGrpSpPr>
            <a:grpSpLocks/>
          </p:cNvGrpSpPr>
          <p:nvPr/>
        </p:nvGrpSpPr>
        <p:grpSpPr bwMode="auto">
          <a:xfrm>
            <a:off x="497914" y="2133722"/>
            <a:ext cx="672801" cy="644597"/>
            <a:chOff x="1460" y="1680"/>
            <a:chExt cx="971" cy="1058"/>
          </a:xfrm>
        </p:grpSpPr>
        <p:grpSp>
          <p:nvGrpSpPr>
            <p:cNvPr id="36" name="Group 173"/>
            <p:cNvGrpSpPr>
              <a:grpSpLocks/>
            </p:cNvGrpSpPr>
            <p:nvPr/>
          </p:nvGrpSpPr>
          <p:grpSpPr bwMode="auto">
            <a:xfrm rot="20775601" flipH="1">
              <a:off x="2221" y="2374"/>
              <a:ext cx="210" cy="162"/>
              <a:chOff x="3499" y="2336"/>
              <a:chExt cx="1848" cy="1427"/>
            </a:xfrm>
          </p:grpSpPr>
          <p:sp>
            <p:nvSpPr>
              <p:cNvPr id="85" name="Freeform 174"/>
              <p:cNvSpPr>
                <a:spLocks/>
              </p:cNvSpPr>
              <p:nvPr/>
            </p:nvSpPr>
            <p:spPr bwMode="auto">
              <a:xfrm rot="20419783" flipH="1">
                <a:off x="4677" y="2330"/>
                <a:ext cx="783" cy="460"/>
              </a:xfrm>
              <a:custGeom>
                <a:avLst/>
                <a:gdLst/>
                <a:ahLst/>
                <a:cxnLst>
                  <a:cxn ang="0">
                    <a:pos x="1224" y="755"/>
                  </a:cxn>
                  <a:cxn ang="0">
                    <a:pos x="1112" y="716"/>
                  </a:cxn>
                  <a:cxn ang="0">
                    <a:pos x="1051" y="693"/>
                  </a:cxn>
                  <a:cxn ang="0">
                    <a:pos x="1006" y="671"/>
                  </a:cxn>
                  <a:cxn ang="0">
                    <a:pos x="984" y="660"/>
                  </a:cxn>
                  <a:cxn ang="0">
                    <a:pos x="939" y="626"/>
                  </a:cxn>
                  <a:cxn ang="0">
                    <a:pos x="894" y="548"/>
                  </a:cxn>
                  <a:cxn ang="0">
                    <a:pos x="889" y="531"/>
                  </a:cxn>
                  <a:cxn ang="0">
                    <a:pos x="850" y="509"/>
                  </a:cxn>
                  <a:cxn ang="0">
                    <a:pos x="799" y="481"/>
                  </a:cxn>
                  <a:cxn ang="0">
                    <a:pos x="704" y="453"/>
                  </a:cxn>
                  <a:cxn ang="0">
                    <a:pos x="419" y="442"/>
                  </a:cxn>
                  <a:cxn ang="0">
                    <a:pos x="330" y="408"/>
                  </a:cxn>
                  <a:cxn ang="0">
                    <a:pos x="212" y="279"/>
                  </a:cxn>
                  <a:cxn ang="0">
                    <a:pos x="145" y="134"/>
                  </a:cxn>
                  <a:cxn ang="0">
                    <a:pos x="78" y="39"/>
                  </a:cxn>
                  <a:cxn ang="0">
                    <a:pos x="0" y="0"/>
                  </a:cxn>
                </a:cxnLst>
                <a:rect l="0" t="0" r="r" b="b"/>
                <a:pathLst>
                  <a:path w="1224" h="755">
                    <a:moveTo>
                      <a:pt x="1224" y="755"/>
                    </a:moveTo>
                    <a:cubicBezTo>
                      <a:pt x="1190" y="729"/>
                      <a:pt x="1154" y="724"/>
                      <a:pt x="1112" y="716"/>
                    </a:cubicBezTo>
                    <a:cubicBezTo>
                      <a:pt x="1091" y="705"/>
                      <a:pt x="1072" y="702"/>
                      <a:pt x="1051" y="693"/>
                    </a:cubicBezTo>
                    <a:cubicBezTo>
                      <a:pt x="1036" y="686"/>
                      <a:pt x="1021" y="678"/>
                      <a:pt x="1006" y="671"/>
                    </a:cubicBezTo>
                    <a:cubicBezTo>
                      <a:pt x="999" y="667"/>
                      <a:pt x="984" y="660"/>
                      <a:pt x="984" y="660"/>
                    </a:cubicBezTo>
                    <a:cubicBezTo>
                      <a:pt x="971" y="646"/>
                      <a:pt x="939" y="626"/>
                      <a:pt x="939" y="626"/>
                    </a:cubicBezTo>
                    <a:cubicBezTo>
                      <a:pt x="923" y="602"/>
                      <a:pt x="906" y="575"/>
                      <a:pt x="894" y="548"/>
                    </a:cubicBezTo>
                    <a:cubicBezTo>
                      <a:pt x="892" y="543"/>
                      <a:pt x="893" y="536"/>
                      <a:pt x="889" y="531"/>
                    </a:cubicBezTo>
                    <a:cubicBezTo>
                      <a:pt x="884" y="524"/>
                      <a:pt x="855" y="512"/>
                      <a:pt x="850" y="509"/>
                    </a:cubicBezTo>
                    <a:cubicBezTo>
                      <a:pt x="802" y="480"/>
                      <a:pt x="833" y="491"/>
                      <a:pt x="799" y="481"/>
                    </a:cubicBezTo>
                    <a:cubicBezTo>
                      <a:pt x="764" y="457"/>
                      <a:pt x="751" y="457"/>
                      <a:pt x="704" y="453"/>
                    </a:cubicBezTo>
                    <a:cubicBezTo>
                      <a:pt x="606" y="457"/>
                      <a:pt x="515" y="459"/>
                      <a:pt x="419" y="442"/>
                    </a:cubicBezTo>
                    <a:cubicBezTo>
                      <a:pt x="391" y="426"/>
                      <a:pt x="360" y="419"/>
                      <a:pt x="330" y="408"/>
                    </a:cubicBezTo>
                    <a:cubicBezTo>
                      <a:pt x="287" y="368"/>
                      <a:pt x="245" y="328"/>
                      <a:pt x="212" y="279"/>
                    </a:cubicBezTo>
                    <a:cubicBezTo>
                      <a:pt x="183" y="235"/>
                      <a:pt x="168" y="181"/>
                      <a:pt x="145" y="134"/>
                    </a:cubicBezTo>
                    <a:cubicBezTo>
                      <a:pt x="128" y="100"/>
                      <a:pt x="99" y="71"/>
                      <a:pt x="78" y="39"/>
                    </a:cubicBezTo>
                    <a:cubicBezTo>
                      <a:pt x="70" y="27"/>
                      <a:pt x="15" y="7"/>
                      <a:pt x="0" y="0"/>
                    </a:cubicBezTo>
                  </a:path>
                </a:pathLst>
              </a:custGeom>
              <a:noFill/>
              <a:ln w="12700" cmpd="sng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6" name="Freeform 175"/>
              <p:cNvSpPr>
                <a:spLocks/>
              </p:cNvSpPr>
              <p:nvPr/>
            </p:nvSpPr>
            <p:spPr bwMode="auto">
              <a:xfrm rot="-1180217">
                <a:off x="3532" y="2934"/>
                <a:ext cx="1464" cy="698"/>
              </a:xfrm>
              <a:custGeom>
                <a:avLst/>
                <a:gdLst/>
                <a:ahLst/>
                <a:cxnLst>
                  <a:cxn ang="0">
                    <a:pos x="886" y="33"/>
                  </a:cxn>
                  <a:cxn ang="0">
                    <a:pos x="937" y="70"/>
                  </a:cxn>
                  <a:cxn ang="0">
                    <a:pos x="971" y="130"/>
                  </a:cxn>
                  <a:cxn ang="0">
                    <a:pos x="967" y="218"/>
                  </a:cxn>
                  <a:cxn ang="0">
                    <a:pos x="882" y="261"/>
                  </a:cxn>
                  <a:cxn ang="0">
                    <a:pos x="791" y="294"/>
                  </a:cxn>
                  <a:cxn ang="0">
                    <a:pos x="665" y="382"/>
                  </a:cxn>
                  <a:cxn ang="0">
                    <a:pos x="519" y="522"/>
                  </a:cxn>
                  <a:cxn ang="0">
                    <a:pos x="397" y="542"/>
                  </a:cxn>
                  <a:cxn ang="0">
                    <a:pos x="298" y="550"/>
                  </a:cxn>
                  <a:cxn ang="0">
                    <a:pos x="155" y="522"/>
                  </a:cxn>
                  <a:cxn ang="0">
                    <a:pos x="34" y="459"/>
                  </a:cxn>
                  <a:cxn ang="0">
                    <a:pos x="0" y="393"/>
                  </a:cxn>
                  <a:cxn ang="0">
                    <a:pos x="11" y="315"/>
                  </a:cxn>
                  <a:cxn ang="0">
                    <a:pos x="63" y="210"/>
                  </a:cxn>
                  <a:cxn ang="0">
                    <a:pos x="142" y="147"/>
                  </a:cxn>
                  <a:cxn ang="0">
                    <a:pos x="246" y="89"/>
                  </a:cxn>
                  <a:cxn ang="0">
                    <a:pos x="445" y="21"/>
                  </a:cxn>
                  <a:cxn ang="0">
                    <a:pos x="634" y="0"/>
                  </a:cxn>
                  <a:cxn ang="0">
                    <a:pos x="794" y="13"/>
                  </a:cxn>
                  <a:cxn ang="0">
                    <a:pos x="886" y="33"/>
                  </a:cxn>
                </a:cxnLst>
                <a:rect l="0" t="0" r="r" b="b"/>
                <a:pathLst>
                  <a:path w="971" h="550">
                    <a:moveTo>
                      <a:pt x="886" y="33"/>
                    </a:moveTo>
                    <a:lnTo>
                      <a:pt x="937" y="70"/>
                    </a:lnTo>
                    <a:lnTo>
                      <a:pt x="971" y="130"/>
                    </a:lnTo>
                    <a:lnTo>
                      <a:pt x="967" y="218"/>
                    </a:lnTo>
                    <a:lnTo>
                      <a:pt x="882" y="261"/>
                    </a:lnTo>
                    <a:lnTo>
                      <a:pt x="791" y="294"/>
                    </a:lnTo>
                    <a:lnTo>
                      <a:pt x="665" y="382"/>
                    </a:lnTo>
                    <a:lnTo>
                      <a:pt x="519" y="522"/>
                    </a:lnTo>
                    <a:lnTo>
                      <a:pt x="397" y="542"/>
                    </a:lnTo>
                    <a:lnTo>
                      <a:pt x="298" y="550"/>
                    </a:lnTo>
                    <a:lnTo>
                      <a:pt x="155" y="522"/>
                    </a:lnTo>
                    <a:lnTo>
                      <a:pt x="34" y="459"/>
                    </a:lnTo>
                    <a:lnTo>
                      <a:pt x="0" y="393"/>
                    </a:lnTo>
                    <a:lnTo>
                      <a:pt x="11" y="315"/>
                    </a:lnTo>
                    <a:lnTo>
                      <a:pt x="63" y="210"/>
                    </a:lnTo>
                    <a:lnTo>
                      <a:pt x="142" y="147"/>
                    </a:lnTo>
                    <a:lnTo>
                      <a:pt x="246" y="89"/>
                    </a:lnTo>
                    <a:lnTo>
                      <a:pt x="445" y="21"/>
                    </a:lnTo>
                    <a:lnTo>
                      <a:pt x="634" y="0"/>
                    </a:lnTo>
                    <a:lnTo>
                      <a:pt x="794" y="13"/>
                    </a:lnTo>
                    <a:lnTo>
                      <a:pt x="886" y="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EAEAEA"/>
                  </a:gs>
                  <a:gs pos="50000">
                    <a:srgbClr val="FFFFFF"/>
                  </a:gs>
                  <a:gs pos="100000">
                    <a:srgbClr val="EAEAEA"/>
                  </a:gs>
                </a:gsLst>
                <a:lin ang="2700000" scaled="1"/>
              </a:gradFill>
              <a:ln w="9525">
                <a:solidFill>
                  <a:srgbClr val="808080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7" name="Freeform 176"/>
              <p:cNvSpPr>
                <a:spLocks/>
              </p:cNvSpPr>
              <p:nvPr/>
            </p:nvSpPr>
            <p:spPr bwMode="auto">
              <a:xfrm rot="20419783" flipH="1">
                <a:off x="3661" y="3116"/>
                <a:ext cx="1413" cy="52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6" y="118"/>
                  </a:cxn>
                  <a:cxn ang="0">
                    <a:pos x="319" y="302"/>
                  </a:cxn>
                  <a:cxn ang="0">
                    <a:pos x="604" y="448"/>
                  </a:cxn>
                  <a:cxn ang="0">
                    <a:pos x="867" y="526"/>
                  </a:cxn>
                  <a:cxn ang="0">
                    <a:pos x="1091" y="504"/>
                  </a:cxn>
                  <a:cxn ang="0">
                    <a:pos x="1270" y="448"/>
                  </a:cxn>
                  <a:cxn ang="0">
                    <a:pos x="1432" y="353"/>
                  </a:cxn>
                  <a:cxn ang="0">
                    <a:pos x="1253" y="431"/>
                  </a:cxn>
                  <a:cxn ang="0">
                    <a:pos x="1108" y="470"/>
                  </a:cxn>
                  <a:cxn ang="0">
                    <a:pos x="951" y="470"/>
                  </a:cxn>
                  <a:cxn ang="0">
                    <a:pos x="789" y="453"/>
                  </a:cxn>
                  <a:cxn ang="0">
                    <a:pos x="699" y="420"/>
                  </a:cxn>
                  <a:cxn ang="0">
                    <a:pos x="560" y="330"/>
                  </a:cxn>
                  <a:cxn ang="0">
                    <a:pos x="437" y="213"/>
                  </a:cxn>
                  <a:cxn ang="0">
                    <a:pos x="274" y="129"/>
                  </a:cxn>
                  <a:cxn ang="0">
                    <a:pos x="140" y="73"/>
                  </a:cxn>
                  <a:cxn ang="0">
                    <a:pos x="0" y="0"/>
                  </a:cxn>
                </a:cxnLst>
                <a:rect l="0" t="0" r="r" b="b"/>
                <a:pathLst>
                  <a:path w="1432" h="526">
                    <a:moveTo>
                      <a:pt x="0" y="0"/>
                    </a:moveTo>
                    <a:lnTo>
                      <a:pt x="56" y="118"/>
                    </a:lnTo>
                    <a:lnTo>
                      <a:pt x="319" y="302"/>
                    </a:lnTo>
                    <a:lnTo>
                      <a:pt x="604" y="448"/>
                    </a:lnTo>
                    <a:lnTo>
                      <a:pt x="867" y="526"/>
                    </a:lnTo>
                    <a:lnTo>
                      <a:pt x="1091" y="504"/>
                    </a:lnTo>
                    <a:lnTo>
                      <a:pt x="1270" y="448"/>
                    </a:lnTo>
                    <a:lnTo>
                      <a:pt x="1432" y="353"/>
                    </a:lnTo>
                    <a:lnTo>
                      <a:pt x="1253" y="431"/>
                    </a:lnTo>
                    <a:lnTo>
                      <a:pt x="1108" y="470"/>
                    </a:lnTo>
                    <a:lnTo>
                      <a:pt x="951" y="470"/>
                    </a:lnTo>
                    <a:lnTo>
                      <a:pt x="789" y="453"/>
                    </a:lnTo>
                    <a:lnTo>
                      <a:pt x="699" y="420"/>
                    </a:lnTo>
                    <a:lnTo>
                      <a:pt x="560" y="330"/>
                    </a:lnTo>
                    <a:lnTo>
                      <a:pt x="437" y="213"/>
                    </a:lnTo>
                    <a:lnTo>
                      <a:pt x="274" y="129"/>
                    </a:lnTo>
                    <a:lnTo>
                      <a:pt x="140" y="73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69696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808080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8" name="Freeform 177"/>
              <p:cNvSpPr>
                <a:spLocks/>
              </p:cNvSpPr>
              <p:nvPr/>
            </p:nvSpPr>
            <p:spPr bwMode="auto">
              <a:xfrm rot="-1180217">
                <a:off x="4358" y="2814"/>
                <a:ext cx="323" cy="375"/>
              </a:xfrm>
              <a:custGeom>
                <a:avLst/>
                <a:gdLst/>
                <a:ahLst/>
                <a:cxnLst>
                  <a:cxn ang="0">
                    <a:pos x="229" y="261"/>
                  </a:cxn>
                  <a:cxn ang="0">
                    <a:pos x="115" y="57"/>
                  </a:cxn>
                  <a:cxn ang="0">
                    <a:pos x="0" y="0"/>
                  </a:cxn>
                </a:cxnLst>
                <a:rect l="0" t="0" r="r" b="b"/>
                <a:pathLst>
                  <a:path w="229" h="261">
                    <a:moveTo>
                      <a:pt x="229" y="261"/>
                    </a:moveTo>
                    <a:lnTo>
                      <a:pt x="115" y="57"/>
                    </a:lnTo>
                    <a:lnTo>
                      <a:pt x="0" y="0"/>
                    </a:lnTo>
                  </a:path>
                </a:pathLst>
              </a:custGeom>
              <a:noFill/>
              <a:ln w="19050" cmpd="sng">
                <a:solidFill>
                  <a:srgbClr val="B2B2B2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9" name="Freeform 178"/>
              <p:cNvSpPr>
                <a:spLocks/>
              </p:cNvSpPr>
              <p:nvPr/>
            </p:nvSpPr>
            <p:spPr bwMode="auto">
              <a:xfrm rot="20419783" flipH="1">
                <a:off x="4324" y="2821"/>
                <a:ext cx="443" cy="68"/>
              </a:xfrm>
              <a:custGeom>
                <a:avLst/>
                <a:gdLst/>
                <a:ahLst/>
                <a:cxnLst>
                  <a:cxn ang="0">
                    <a:pos x="0" y="79"/>
                  </a:cxn>
                  <a:cxn ang="0">
                    <a:pos x="246" y="26"/>
                  </a:cxn>
                  <a:cxn ang="0">
                    <a:pos x="408" y="0"/>
                  </a:cxn>
                  <a:cxn ang="0">
                    <a:pos x="560" y="26"/>
                  </a:cxn>
                </a:cxnLst>
                <a:rect l="0" t="0" r="r" b="b"/>
                <a:pathLst>
                  <a:path w="560" h="79">
                    <a:moveTo>
                      <a:pt x="0" y="79"/>
                    </a:moveTo>
                    <a:lnTo>
                      <a:pt x="246" y="26"/>
                    </a:lnTo>
                    <a:lnTo>
                      <a:pt x="408" y="0"/>
                    </a:lnTo>
                    <a:lnTo>
                      <a:pt x="560" y="26"/>
                    </a:lnTo>
                  </a:path>
                </a:pathLst>
              </a:custGeom>
              <a:noFill/>
              <a:ln w="9525">
                <a:solidFill>
                  <a:srgbClr val="969696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0" name="Oval 179"/>
              <p:cNvSpPr>
                <a:spLocks noChangeArrowheads="1"/>
              </p:cNvSpPr>
              <p:nvPr/>
            </p:nvSpPr>
            <p:spPr bwMode="auto">
              <a:xfrm rot="21155849" flipH="1">
                <a:off x="4282" y="2827"/>
                <a:ext cx="187" cy="34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1" name="Freeform 180"/>
              <p:cNvSpPr>
                <a:spLocks/>
              </p:cNvSpPr>
              <p:nvPr/>
            </p:nvSpPr>
            <p:spPr bwMode="auto">
              <a:xfrm rot="20419783" flipH="1">
                <a:off x="4481" y="2789"/>
                <a:ext cx="409" cy="272"/>
              </a:xfrm>
              <a:custGeom>
                <a:avLst/>
                <a:gdLst/>
                <a:ahLst/>
                <a:cxnLst>
                  <a:cxn ang="0">
                    <a:pos x="98" y="36"/>
                  </a:cxn>
                  <a:cxn ang="0">
                    <a:pos x="320" y="0"/>
                  </a:cxn>
                  <a:cxn ang="0">
                    <a:pos x="367" y="26"/>
                  </a:cxn>
                  <a:cxn ang="0">
                    <a:pos x="445" y="26"/>
                  </a:cxn>
                  <a:cxn ang="0">
                    <a:pos x="482" y="42"/>
                  </a:cxn>
                  <a:cxn ang="0">
                    <a:pos x="278" y="367"/>
                  </a:cxn>
                  <a:cxn ang="0">
                    <a:pos x="5" y="262"/>
                  </a:cxn>
                  <a:cxn ang="0">
                    <a:pos x="0" y="157"/>
                  </a:cxn>
                  <a:cxn ang="0">
                    <a:pos x="42" y="74"/>
                  </a:cxn>
                  <a:cxn ang="0">
                    <a:pos x="98" y="36"/>
                  </a:cxn>
                </a:cxnLst>
                <a:rect l="0" t="0" r="r" b="b"/>
                <a:pathLst>
                  <a:path w="482" h="367">
                    <a:moveTo>
                      <a:pt x="98" y="36"/>
                    </a:moveTo>
                    <a:lnTo>
                      <a:pt x="320" y="0"/>
                    </a:lnTo>
                    <a:lnTo>
                      <a:pt x="367" y="26"/>
                    </a:lnTo>
                    <a:lnTo>
                      <a:pt x="445" y="26"/>
                    </a:lnTo>
                    <a:lnTo>
                      <a:pt x="482" y="42"/>
                    </a:lnTo>
                    <a:lnTo>
                      <a:pt x="278" y="367"/>
                    </a:lnTo>
                    <a:lnTo>
                      <a:pt x="5" y="262"/>
                    </a:lnTo>
                    <a:lnTo>
                      <a:pt x="0" y="157"/>
                    </a:lnTo>
                    <a:lnTo>
                      <a:pt x="42" y="74"/>
                    </a:lnTo>
                    <a:lnTo>
                      <a:pt x="98" y="36"/>
                    </a:lnTo>
                    <a:close/>
                  </a:path>
                </a:pathLst>
              </a:custGeom>
              <a:noFill/>
              <a:ln w="9525">
                <a:solidFill>
                  <a:srgbClr val="969696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7" name="Group 181"/>
            <p:cNvGrpSpPr>
              <a:grpSpLocks/>
            </p:cNvGrpSpPr>
            <p:nvPr/>
          </p:nvGrpSpPr>
          <p:grpSpPr bwMode="auto">
            <a:xfrm flipH="1">
              <a:off x="1661" y="2401"/>
              <a:ext cx="623" cy="337"/>
              <a:chOff x="909" y="3187"/>
              <a:chExt cx="828" cy="448"/>
            </a:xfrm>
          </p:grpSpPr>
          <p:sp>
            <p:nvSpPr>
              <p:cNvPr id="79" name="Freeform 182"/>
              <p:cNvSpPr>
                <a:spLocks/>
              </p:cNvSpPr>
              <p:nvPr/>
            </p:nvSpPr>
            <p:spPr bwMode="auto">
              <a:xfrm>
                <a:off x="909" y="3207"/>
                <a:ext cx="299" cy="428"/>
              </a:xfrm>
              <a:custGeom>
                <a:avLst/>
                <a:gdLst/>
                <a:ahLst/>
                <a:cxnLst>
                  <a:cxn ang="0">
                    <a:pos x="933" y="135"/>
                  </a:cxn>
                  <a:cxn ang="0">
                    <a:pos x="932" y="171"/>
                  </a:cxn>
                  <a:cxn ang="0">
                    <a:pos x="762" y="352"/>
                  </a:cxn>
                  <a:cxn ang="0">
                    <a:pos x="4" y="195"/>
                  </a:cxn>
                  <a:cxn ang="0">
                    <a:pos x="0" y="148"/>
                  </a:cxn>
                  <a:cxn ang="0">
                    <a:pos x="244" y="0"/>
                  </a:cxn>
                  <a:cxn ang="0">
                    <a:pos x="933" y="135"/>
                  </a:cxn>
                </a:cxnLst>
                <a:rect l="0" t="0" r="r" b="b"/>
                <a:pathLst>
                  <a:path w="933" h="352">
                    <a:moveTo>
                      <a:pt x="933" y="135"/>
                    </a:moveTo>
                    <a:lnTo>
                      <a:pt x="932" y="171"/>
                    </a:lnTo>
                    <a:lnTo>
                      <a:pt x="762" y="352"/>
                    </a:lnTo>
                    <a:lnTo>
                      <a:pt x="4" y="195"/>
                    </a:lnTo>
                    <a:lnTo>
                      <a:pt x="0" y="148"/>
                    </a:lnTo>
                    <a:lnTo>
                      <a:pt x="244" y="0"/>
                    </a:lnTo>
                    <a:lnTo>
                      <a:pt x="933" y="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DDDDD"/>
                  </a:gs>
                  <a:gs pos="100000">
                    <a:srgbClr val="DDDDDD">
                      <a:gamma/>
                      <a:tint val="34118"/>
                      <a:invGamma/>
                    </a:srgbClr>
                  </a:gs>
                </a:gsLst>
                <a:lin ang="0" scaled="1"/>
              </a:gradFill>
              <a:ln w="6350" cap="flat" cmpd="sng">
                <a:solidFill>
                  <a:srgbClr val="B2B2B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tIns="27432" bIns="27432" anchor="ctr">
                <a:spAutoFit/>
              </a:bodyPr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0" name="Freeform 183"/>
              <p:cNvSpPr>
                <a:spLocks/>
              </p:cNvSpPr>
              <p:nvPr/>
            </p:nvSpPr>
            <p:spPr bwMode="auto">
              <a:xfrm>
                <a:off x="934" y="3187"/>
                <a:ext cx="299" cy="428"/>
              </a:xfrm>
              <a:custGeom>
                <a:avLst/>
                <a:gdLst/>
                <a:ahLst/>
                <a:cxnLst>
                  <a:cxn ang="0">
                    <a:pos x="895" y="133"/>
                  </a:cxn>
                  <a:cxn ang="0">
                    <a:pos x="232" y="0"/>
                  </a:cxn>
                  <a:cxn ang="0">
                    <a:pos x="0" y="143"/>
                  </a:cxn>
                  <a:cxn ang="0">
                    <a:pos x="739" y="294"/>
                  </a:cxn>
                  <a:cxn ang="0">
                    <a:pos x="895" y="133"/>
                  </a:cxn>
                </a:cxnLst>
                <a:rect l="0" t="0" r="r" b="b"/>
                <a:pathLst>
                  <a:path w="895" h="294">
                    <a:moveTo>
                      <a:pt x="895" y="133"/>
                    </a:moveTo>
                    <a:lnTo>
                      <a:pt x="232" y="0"/>
                    </a:lnTo>
                    <a:lnTo>
                      <a:pt x="0" y="143"/>
                    </a:lnTo>
                    <a:lnTo>
                      <a:pt x="739" y="294"/>
                    </a:lnTo>
                    <a:lnTo>
                      <a:pt x="895" y="133"/>
                    </a:lnTo>
                    <a:close/>
                  </a:path>
                </a:pathLst>
              </a:custGeom>
              <a:solidFill>
                <a:srgbClr val="FFFFFF"/>
              </a:solidFill>
              <a:ln w="3175" cap="flat" cmpd="sng">
                <a:solidFill>
                  <a:srgbClr val="B2B2B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tIns="27432" bIns="27432" anchor="ctr">
                <a:spAutoFit/>
              </a:bodyPr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1" name="Freeform 184"/>
              <p:cNvSpPr>
                <a:spLocks/>
              </p:cNvSpPr>
              <p:nvPr/>
            </p:nvSpPr>
            <p:spPr bwMode="auto">
              <a:xfrm>
                <a:off x="1133" y="3276"/>
                <a:ext cx="535" cy="118"/>
              </a:xfrm>
              <a:custGeom>
                <a:avLst/>
                <a:gdLst/>
                <a:ahLst/>
                <a:cxnLst>
                  <a:cxn ang="0">
                    <a:pos x="0" y="15"/>
                  </a:cxn>
                  <a:cxn ang="0">
                    <a:pos x="508" y="118"/>
                  </a:cxn>
                  <a:cxn ang="0">
                    <a:pos x="531" y="103"/>
                  </a:cxn>
                  <a:cxn ang="0">
                    <a:pos x="23" y="0"/>
                  </a:cxn>
                </a:cxnLst>
                <a:rect l="0" t="0" r="r" b="b"/>
                <a:pathLst>
                  <a:path w="531" h="118">
                    <a:moveTo>
                      <a:pt x="0" y="15"/>
                    </a:moveTo>
                    <a:lnTo>
                      <a:pt x="508" y="118"/>
                    </a:lnTo>
                    <a:lnTo>
                      <a:pt x="531" y="103"/>
                    </a:lnTo>
                    <a:lnTo>
                      <a:pt x="23" y="0"/>
                    </a:lnTo>
                  </a:path>
                </a:pathLst>
              </a:custGeom>
              <a:solidFill>
                <a:srgbClr val="DDDDDD"/>
              </a:solidFill>
              <a:ln w="12700" cap="rnd" cmpd="sng">
                <a:solidFill>
                  <a:srgbClr val="EAEAE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" name="Freeform 185"/>
              <p:cNvSpPr>
                <a:spLocks/>
              </p:cNvSpPr>
              <p:nvPr/>
            </p:nvSpPr>
            <p:spPr bwMode="auto">
              <a:xfrm>
                <a:off x="981" y="3306"/>
                <a:ext cx="550" cy="159"/>
              </a:xfrm>
              <a:custGeom>
                <a:avLst/>
                <a:gdLst/>
                <a:ahLst/>
                <a:cxnLst>
                  <a:cxn ang="0">
                    <a:pos x="0" y="74"/>
                  </a:cxn>
                  <a:cxn ang="0">
                    <a:pos x="31" y="78"/>
                  </a:cxn>
                  <a:cxn ang="0">
                    <a:pos x="57" y="66"/>
                  </a:cxn>
                  <a:cxn ang="0">
                    <a:pos x="76" y="71"/>
                  </a:cxn>
                  <a:cxn ang="0">
                    <a:pos x="58" y="81"/>
                  </a:cxn>
                  <a:cxn ang="0">
                    <a:pos x="451" y="159"/>
                  </a:cxn>
                  <a:cxn ang="0">
                    <a:pos x="548" y="84"/>
                  </a:cxn>
                  <a:cxn ang="0">
                    <a:pos x="130" y="0"/>
                  </a:cxn>
                </a:cxnLst>
                <a:rect l="0" t="0" r="r" b="b"/>
                <a:pathLst>
                  <a:path w="548" h="159">
                    <a:moveTo>
                      <a:pt x="0" y="74"/>
                    </a:moveTo>
                    <a:lnTo>
                      <a:pt x="31" y="78"/>
                    </a:lnTo>
                    <a:lnTo>
                      <a:pt x="57" y="66"/>
                    </a:lnTo>
                    <a:lnTo>
                      <a:pt x="76" y="71"/>
                    </a:lnTo>
                    <a:lnTo>
                      <a:pt x="58" y="81"/>
                    </a:lnTo>
                    <a:lnTo>
                      <a:pt x="451" y="159"/>
                    </a:lnTo>
                    <a:lnTo>
                      <a:pt x="548" y="84"/>
                    </a:lnTo>
                    <a:lnTo>
                      <a:pt x="130" y="0"/>
                    </a:lnTo>
                  </a:path>
                </a:pathLst>
              </a:custGeom>
              <a:solidFill>
                <a:srgbClr val="DDDDDD"/>
              </a:solidFill>
              <a:ln w="12700" cap="rnd" cmpd="sng">
                <a:solidFill>
                  <a:srgbClr val="EAEAE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" name="Freeform 186"/>
              <p:cNvSpPr>
                <a:spLocks/>
              </p:cNvSpPr>
              <p:nvPr/>
            </p:nvSpPr>
            <p:spPr bwMode="auto">
              <a:xfrm>
                <a:off x="1495" y="3396"/>
                <a:ext cx="139" cy="69"/>
              </a:xfrm>
              <a:custGeom>
                <a:avLst/>
                <a:gdLst/>
                <a:ahLst/>
                <a:cxnLst>
                  <a:cxn ang="0">
                    <a:pos x="73" y="0"/>
                  </a:cxn>
                  <a:cxn ang="0">
                    <a:pos x="140" y="11"/>
                  </a:cxn>
                  <a:cxn ang="0">
                    <a:pos x="75" y="70"/>
                  </a:cxn>
                  <a:cxn ang="0">
                    <a:pos x="0" y="56"/>
                  </a:cxn>
                </a:cxnLst>
                <a:rect l="0" t="0" r="r" b="b"/>
                <a:pathLst>
                  <a:path w="140" h="70">
                    <a:moveTo>
                      <a:pt x="73" y="0"/>
                    </a:moveTo>
                    <a:lnTo>
                      <a:pt x="140" y="11"/>
                    </a:lnTo>
                    <a:lnTo>
                      <a:pt x="75" y="70"/>
                    </a:lnTo>
                    <a:lnTo>
                      <a:pt x="0" y="56"/>
                    </a:lnTo>
                  </a:path>
                </a:pathLst>
              </a:custGeom>
              <a:solidFill>
                <a:srgbClr val="DDDDDD"/>
              </a:solidFill>
              <a:ln w="12700" cap="rnd" cmpd="sng">
                <a:solidFill>
                  <a:srgbClr val="EAEAE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4" name="Freeform 187"/>
              <p:cNvSpPr>
                <a:spLocks/>
              </p:cNvSpPr>
              <p:nvPr/>
            </p:nvSpPr>
            <p:spPr bwMode="auto">
              <a:xfrm>
                <a:off x="1570" y="3412"/>
                <a:ext cx="167" cy="100"/>
              </a:xfrm>
              <a:custGeom>
                <a:avLst/>
                <a:gdLst/>
                <a:ahLst/>
                <a:cxnLst>
                  <a:cxn ang="0">
                    <a:pos x="87" y="0"/>
                  </a:cxn>
                  <a:cxn ang="0">
                    <a:pos x="167" y="15"/>
                  </a:cxn>
                  <a:cxn ang="0">
                    <a:pos x="81" y="101"/>
                  </a:cxn>
                  <a:cxn ang="0">
                    <a:pos x="0" y="83"/>
                  </a:cxn>
                </a:cxnLst>
                <a:rect l="0" t="0" r="r" b="b"/>
                <a:pathLst>
                  <a:path w="167" h="101">
                    <a:moveTo>
                      <a:pt x="87" y="0"/>
                    </a:moveTo>
                    <a:lnTo>
                      <a:pt x="167" y="15"/>
                    </a:lnTo>
                    <a:lnTo>
                      <a:pt x="81" y="101"/>
                    </a:lnTo>
                    <a:lnTo>
                      <a:pt x="0" y="83"/>
                    </a:lnTo>
                  </a:path>
                </a:pathLst>
              </a:custGeom>
              <a:solidFill>
                <a:srgbClr val="DDDDDD"/>
              </a:solidFill>
              <a:ln w="12700" cap="rnd" cmpd="sng">
                <a:solidFill>
                  <a:srgbClr val="EAEAE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8" name="Group 188"/>
            <p:cNvGrpSpPr>
              <a:grpSpLocks/>
            </p:cNvGrpSpPr>
            <p:nvPr/>
          </p:nvGrpSpPr>
          <p:grpSpPr bwMode="auto">
            <a:xfrm>
              <a:off x="1460" y="2079"/>
              <a:ext cx="724" cy="441"/>
              <a:chOff x="1460" y="2079"/>
              <a:chExt cx="724" cy="441"/>
            </a:xfrm>
          </p:grpSpPr>
          <p:sp>
            <p:nvSpPr>
              <p:cNvPr id="55" name="Freeform 189"/>
              <p:cNvSpPr>
                <a:spLocks noChangeAspect="1"/>
              </p:cNvSpPr>
              <p:nvPr/>
            </p:nvSpPr>
            <p:spPr bwMode="auto">
              <a:xfrm>
                <a:off x="1460" y="2143"/>
                <a:ext cx="168" cy="377"/>
              </a:xfrm>
              <a:custGeom>
                <a:avLst/>
                <a:gdLst/>
                <a:ahLst/>
                <a:cxnLst>
                  <a:cxn ang="0">
                    <a:pos x="169" y="246"/>
                  </a:cxn>
                  <a:cxn ang="0">
                    <a:pos x="1" y="0"/>
                  </a:cxn>
                  <a:cxn ang="0">
                    <a:pos x="0" y="123"/>
                  </a:cxn>
                  <a:cxn ang="0">
                    <a:pos x="165" y="377"/>
                  </a:cxn>
                </a:cxnLst>
                <a:rect l="0" t="0" r="r" b="b"/>
                <a:pathLst>
                  <a:path w="169" h="377">
                    <a:moveTo>
                      <a:pt x="169" y="246"/>
                    </a:moveTo>
                    <a:lnTo>
                      <a:pt x="1" y="0"/>
                    </a:lnTo>
                    <a:lnTo>
                      <a:pt x="0" y="123"/>
                    </a:lnTo>
                    <a:lnTo>
                      <a:pt x="165" y="377"/>
                    </a:lnTo>
                  </a:path>
                </a:pathLst>
              </a:custGeom>
              <a:gradFill rotWithShape="1">
                <a:gsLst>
                  <a:gs pos="0">
                    <a:srgbClr val="EAEAEA"/>
                  </a:gs>
                  <a:gs pos="100000">
                    <a:srgbClr val="EAEAEA">
                      <a:gamma/>
                      <a:tint val="60784"/>
                      <a:invGamma/>
                    </a:srgbClr>
                  </a:gs>
                </a:gsLst>
                <a:lin ang="0" scaled="1"/>
              </a:gradFill>
              <a:ln w="6350" cap="rnd" cmpd="sng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6" name="Freeform 190"/>
              <p:cNvSpPr>
                <a:spLocks noChangeAspect="1"/>
              </p:cNvSpPr>
              <p:nvPr/>
            </p:nvSpPr>
            <p:spPr bwMode="auto">
              <a:xfrm>
                <a:off x="1464" y="2079"/>
                <a:ext cx="720" cy="309"/>
              </a:xfrm>
              <a:custGeom>
                <a:avLst/>
                <a:gdLst/>
                <a:ahLst/>
                <a:cxnLst>
                  <a:cxn ang="0">
                    <a:pos x="166" y="310"/>
                  </a:cxn>
                  <a:cxn ang="0">
                    <a:pos x="718" y="211"/>
                  </a:cxn>
                  <a:cxn ang="0">
                    <a:pos x="444" y="0"/>
                  </a:cxn>
                  <a:cxn ang="0">
                    <a:pos x="0" y="64"/>
                  </a:cxn>
                  <a:cxn ang="0">
                    <a:pos x="166" y="310"/>
                  </a:cxn>
                </a:cxnLst>
                <a:rect l="0" t="0" r="r" b="b"/>
                <a:pathLst>
                  <a:path w="718" h="310">
                    <a:moveTo>
                      <a:pt x="166" y="310"/>
                    </a:moveTo>
                    <a:lnTo>
                      <a:pt x="718" y="211"/>
                    </a:lnTo>
                    <a:lnTo>
                      <a:pt x="444" y="0"/>
                    </a:lnTo>
                    <a:lnTo>
                      <a:pt x="0" y="64"/>
                    </a:lnTo>
                    <a:lnTo>
                      <a:pt x="166" y="31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rnd" cmpd="sng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" name="Freeform 191"/>
              <p:cNvSpPr>
                <a:spLocks/>
              </p:cNvSpPr>
              <p:nvPr/>
            </p:nvSpPr>
            <p:spPr bwMode="auto">
              <a:xfrm>
                <a:off x="1622" y="2288"/>
                <a:ext cx="544" cy="228"/>
              </a:xfrm>
              <a:custGeom>
                <a:avLst/>
                <a:gdLst/>
                <a:ahLst/>
                <a:cxnLst>
                  <a:cxn ang="0">
                    <a:pos x="6" y="99"/>
                  </a:cxn>
                  <a:cxn ang="0">
                    <a:pos x="557" y="0"/>
                  </a:cxn>
                  <a:cxn ang="0">
                    <a:pos x="549" y="121"/>
                  </a:cxn>
                  <a:cxn ang="0">
                    <a:pos x="0" y="228"/>
                  </a:cxn>
                  <a:cxn ang="0">
                    <a:pos x="6" y="99"/>
                  </a:cxn>
                </a:cxnLst>
                <a:rect l="0" t="0" r="r" b="b"/>
                <a:pathLst>
                  <a:path w="557" h="228">
                    <a:moveTo>
                      <a:pt x="6" y="99"/>
                    </a:moveTo>
                    <a:lnTo>
                      <a:pt x="557" y="0"/>
                    </a:lnTo>
                    <a:lnTo>
                      <a:pt x="549" y="121"/>
                    </a:lnTo>
                    <a:lnTo>
                      <a:pt x="0" y="228"/>
                    </a:lnTo>
                    <a:lnTo>
                      <a:pt x="6" y="99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EAEAEA"/>
                  </a:gs>
                  <a:gs pos="50000">
                    <a:srgbClr val="EAEAEA">
                      <a:gamma/>
                      <a:tint val="0"/>
                      <a:invGamma/>
                    </a:srgbClr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8" name="Freeform 192"/>
              <p:cNvSpPr>
                <a:spLocks/>
              </p:cNvSpPr>
              <p:nvPr/>
            </p:nvSpPr>
            <p:spPr bwMode="auto">
              <a:xfrm>
                <a:off x="1644" y="2425"/>
                <a:ext cx="168" cy="64"/>
              </a:xfrm>
              <a:custGeom>
                <a:avLst/>
                <a:gdLst/>
                <a:ahLst/>
                <a:cxnLst>
                  <a:cxn ang="0">
                    <a:pos x="0" y="32"/>
                  </a:cxn>
                  <a:cxn ang="0">
                    <a:pos x="0" y="63"/>
                  </a:cxn>
                  <a:cxn ang="0">
                    <a:pos x="164" y="33"/>
                  </a:cxn>
                  <a:cxn ang="0">
                    <a:pos x="167" y="0"/>
                  </a:cxn>
                  <a:cxn ang="0">
                    <a:pos x="0" y="32"/>
                  </a:cxn>
                </a:cxnLst>
                <a:rect l="0" t="0" r="r" b="b"/>
                <a:pathLst>
                  <a:path w="167" h="63">
                    <a:moveTo>
                      <a:pt x="0" y="32"/>
                    </a:moveTo>
                    <a:lnTo>
                      <a:pt x="0" y="63"/>
                    </a:lnTo>
                    <a:lnTo>
                      <a:pt x="164" y="33"/>
                    </a:lnTo>
                    <a:lnTo>
                      <a:pt x="167" y="0"/>
                    </a:lnTo>
                    <a:lnTo>
                      <a:pt x="0" y="3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0C0C0">
                      <a:gamma/>
                      <a:tint val="60784"/>
                      <a:invGamma/>
                    </a:srgbClr>
                  </a:gs>
                  <a:gs pos="100000">
                    <a:srgbClr val="C0C0C0"/>
                  </a:gs>
                </a:gsLst>
                <a:lin ang="0" scaled="1"/>
              </a:gradFill>
              <a:ln w="9525">
                <a:noFill/>
                <a:round/>
                <a:headEnd type="none" w="med" len="med"/>
                <a:tailEnd type="none" w="med" len="med"/>
              </a:ln>
              <a:effectLst>
                <a:prstShdw prst="shdw17" dist="17961" dir="13500000">
                  <a:srgbClr val="969696"/>
                </a:prstShdw>
              </a:effectLst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9" name="Oval 193"/>
              <p:cNvSpPr>
                <a:spLocks noChangeArrowheads="1"/>
              </p:cNvSpPr>
              <p:nvPr/>
            </p:nvSpPr>
            <p:spPr bwMode="auto">
              <a:xfrm>
                <a:off x="1783" y="2433"/>
                <a:ext cx="17" cy="23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0" name="Line 194"/>
              <p:cNvSpPr>
                <a:spLocks noChangeShapeType="1"/>
              </p:cNvSpPr>
              <p:nvPr/>
            </p:nvSpPr>
            <p:spPr bwMode="auto">
              <a:xfrm flipH="1">
                <a:off x="2042" y="2338"/>
                <a:ext cx="4" cy="81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1" name="Line 195"/>
              <p:cNvSpPr>
                <a:spLocks noChangeShapeType="1"/>
              </p:cNvSpPr>
              <p:nvPr/>
            </p:nvSpPr>
            <p:spPr bwMode="auto">
              <a:xfrm flipH="1">
                <a:off x="2029" y="2340"/>
                <a:ext cx="2" cy="85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2" name="Line 196"/>
              <p:cNvSpPr>
                <a:spLocks noChangeShapeType="1"/>
              </p:cNvSpPr>
              <p:nvPr/>
            </p:nvSpPr>
            <p:spPr bwMode="auto">
              <a:xfrm flipH="1">
                <a:off x="2056" y="2336"/>
                <a:ext cx="4" cy="81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" name="Line 197"/>
              <p:cNvSpPr>
                <a:spLocks noChangeShapeType="1"/>
              </p:cNvSpPr>
              <p:nvPr/>
            </p:nvSpPr>
            <p:spPr bwMode="auto">
              <a:xfrm flipH="1">
                <a:off x="2069" y="2334"/>
                <a:ext cx="2" cy="81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4" name="Line 198"/>
              <p:cNvSpPr>
                <a:spLocks noChangeShapeType="1"/>
              </p:cNvSpPr>
              <p:nvPr/>
            </p:nvSpPr>
            <p:spPr bwMode="auto">
              <a:xfrm flipH="1">
                <a:off x="2081" y="2332"/>
                <a:ext cx="4" cy="81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5" name="Line 199"/>
              <p:cNvSpPr>
                <a:spLocks noChangeShapeType="1"/>
              </p:cNvSpPr>
              <p:nvPr/>
            </p:nvSpPr>
            <p:spPr bwMode="auto">
              <a:xfrm flipH="1">
                <a:off x="2094" y="2329"/>
                <a:ext cx="4" cy="83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6" name="Line 200"/>
              <p:cNvSpPr>
                <a:spLocks noChangeShapeType="1"/>
              </p:cNvSpPr>
              <p:nvPr/>
            </p:nvSpPr>
            <p:spPr bwMode="auto">
              <a:xfrm flipH="1">
                <a:off x="2106" y="2329"/>
                <a:ext cx="2" cy="81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7" name="Line 201"/>
              <p:cNvSpPr>
                <a:spLocks noChangeShapeType="1"/>
              </p:cNvSpPr>
              <p:nvPr/>
            </p:nvSpPr>
            <p:spPr bwMode="auto">
              <a:xfrm flipH="1">
                <a:off x="2118" y="2323"/>
                <a:ext cx="2" cy="83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8" name="Line 202"/>
              <p:cNvSpPr>
                <a:spLocks noChangeShapeType="1"/>
              </p:cNvSpPr>
              <p:nvPr/>
            </p:nvSpPr>
            <p:spPr bwMode="auto">
              <a:xfrm flipH="1">
                <a:off x="2129" y="2323"/>
                <a:ext cx="2" cy="81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9" name="Line 203"/>
              <p:cNvSpPr>
                <a:spLocks noChangeShapeType="1"/>
              </p:cNvSpPr>
              <p:nvPr/>
            </p:nvSpPr>
            <p:spPr bwMode="auto">
              <a:xfrm flipH="1">
                <a:off x="2141" y="2321"/>
                <a:ext cx="2" cy="83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0" name="Line 204"/>
              <p:cNvSpPr>
                <a:spLocks noChangeShapeType="1"/>
              </p:cNvSpPr>
              <p:nvPr/>
            </p:nvSpPr>
            <p:spPr bwMode="auto">
              <a:xfrm flipH="1">
                <a:off x="2154" y="2319"/>
                <a:ext cx="2" cy="81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1" name="Freeform 205"/>
              <p:cNvSpPr>
                <a:spLocks/>
              </p:cNvSpPr>
              <p:nvPr/>
            </p:nvSpPr>
            <p:spPr bwMode="auto">
              <a:xfrm>
                <a:off x="1862" y="2371"/>
                <a:ext cx="93" cy="68"/>
              </a:xfrm>
              <a:custGeom>
                <a:avLst/>
                <a:gdLst/>
                <a:ahLst/>
                <a:cxnLst>
                  <a:cxn ang="0">
                    <a:pos x="2" y="33"/>
                  </a:cxn>
                  <a:cxn ang="0">
                    <a:pos x="0" y="138"/>
                  </a:cxn>
                  <a:cxn ang="0">
                    <a:pos x="186" y="104"/>
                  </a:cxn>
                  <a:cxn ang="0">
                    <a:pos x="186" y="0"/>
                  </a:cxn>
                  <a:cxn ang="0">
                    <a:pos x="2" y="33"/>
                  </a:cxn>
                </a:cxnLst>
                <a:rect l="0" t="0" r="r" b="b"/>
                <a:pathLst>
                  <a:path w="186" h="138">
                    <a:moveTo>
                      <a:pt x="2" y="33"/>
                    </a:moveTo>
                    <a:lnTo>
                      <a:pt x="0" y="138"/>
                    </a:lnTo>
                    <a:lnTo>
                      <a:pt x="186" y="104"/>
                    </a:lnTo>
                    <a:lnTo>
                      <a:pt x="186" y="0"/>
                    </a:lnTo>
                    <a:lnTo>
                      <a:pt x="2" y="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69696"/>
                  </a:gs>
                  <a:gs pos="100000">
                    <a:srgbClr val="969696">
                      <a:gamma/>
                      <a:shade val="75686"/>
                      <a:invGamma/>
                    </a:srgbClr>
                  </a:gs>
                </a:gsLst>
                <a:lin ang="0" scaled="1"/>
              </a:gradFill>
              <a:ln w="3175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7" dist="17961" dir="13500000">
                  <a:srgbClr val="969696">
                    <a:alpha val="50000"/>
                  </a:srgbClr>
                </a:prstShdw>
              </a:effectLst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2" name="Line 206"/>
              <p:cNvSpPr>
                <a:spLocks noChangeShapeType="1"/>
              </p:cNvSpPr>
              <p:nvPr/>
            </p:nvSpPr>
            <p:spPr bwMode="auto">
              <a:xfrm flipH="1">
                <a:off x="1874" y="2408"/>
                <a:ext cx="0" cy="21"/>
              </a:xfrm>
              <a:prstGeom prst="line">
                <a:avLst/>
              </a:prstGeom>
              <a:noFill/>
              <a:ln w="9525">
                <a:solidFill>
                  <a:srgbClr val="3399FF">
                    <a:alpha val="55000"/>
                  </a:srgb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3" name="Line 207"/>
              <p:cNvSpPr>
                <a:spLocks noChangeShapeType="1"/>
              </p:cNvSpPr>
              <p:nvPr/>
            </p:nvSpPr>
            <p:spPr bwMode="auto">
              <a:xfrm flipH="1">
                <a:off x="1947" y="2394"/>
                <a:ext cx="0" cy="19"/>
              </a:xfrm>
              <a:prstGeom prst="line">
                <a:avLst/>
              </a:prstGeom>
              <a:noFill/>
              <a:ln w="9525">
                <a:solidFill>
                  <a:srgbClr val="3399FF">
                    <a:alpha val="55000"/>
                  </a:srgb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4" name="Line 208"/>
              <p:cNvSpPr>
                <a:spLocks noChangeShapeType="1"/>
              </p:cNvSpPr>
              <p:nvPr/>
            </p:nvSpPr>
            <p:spPr bwMode="auto">
              <a:xfrm flipH="1">
                <a:off x="1938" y="2404"/>
                <a:ext cx="0" cy="15"/>
              </a:xfrm>
              <a:prstGeom prst="line">
                <a:avLst/>
              </a:prstGeom>
              <a:noFill/>
              <a:ln w="9525">
                <a:solidFill>
                  <a:srgbClr val="3399FF">
                    <a:alpha val="55000"/>
                  </a:srgb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5" name="Line 209"/>
              <p:cNvSpPr>
                <a:spLocks noChangeShapeType="1"/>
              </p:cNvSpPr>
              <p:nvPr/>
            </p:nvSpPr>
            <p:spPr bwMode="auto">
              <a:xfrm flipH="1">
                <a:off x="1886" y="2417"/>
                <a:ext cx="0" cy="14"/>
              </a:xfrm>
              <a:prstGeom prst="line">
                <a:avLst/>
              </a:prstGeom>
              <a:noFill/>
              <a:ln w="9525">
                <a:solidFill>
                  <a:srgbClr val="3399FF">
                    <a:alpha val="55000"/>
                  </a:srgb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6" name="Line 210"/>
              <p:cNvSpPr>
                <a:spLocks noChangeShapeType="1"/>
              </p:cNvSpPr>
              <p:nvPr/>
            </p:nvSpPr>
            <p:spPr bwMode="auto">
              <a:xfrm flipV="1">
                <a:off x="1897" y="2419"/>
                <a:ext cx="29" cy="6"/>
              </a:xfrm>
              <a:prstGeom prst="line">
                <a:avLst/>
              </a:prstGeom>
              <a:noFill/>
              <a:ln w="9525">
                <a:solidFill>
                  <a:srgbClr val="FFFF99">
                    <a:alpha val="45000"/>
                  </a:srgb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7" name="Freeform 211"/>
              <p:cNvSpPr>
                <a:spLocks/>
              </p:cNvSpPr>
              <p:nvPr/>
            </p:nvSpPr>
            <p:spPr bwMode="auto">
              <a:xfrm>
                <a:off x="1671" y="2387"/>
                <a:ext cx="116" cy="39"/>
              </a:xfrm>
              <a:custGeom>
                <a:avLst/>
                <a:gdLst/>
                <a:ahLst/>
                <a:cxnLst>
                  <a:cxn ang="0">
                    <a:pos x="0" y="20"/>
                  </a:cxn>
                  <a:cxn ang="0">
                    <a:pos x="1" y="38"/>
                  </a:cxn>
                  <a:cxn ang="0">
                    <a:pos x="116" y="19"/>
                  </a:cxn>
                  <a:cxn ang="0">
                    <a:pos x="116" y="0"/>
                  </a:cxn>
                  <a:cxn ang="0">
                    <a:pos x="0" y="20"/>
                  </a:cxn>
                </a:cxnLst>
                <a:rect l="0" t="0" r="r" b="b"/>
                <a:pathLst>
                  <a:path w="116" h="38">
                    <a:moveTo>
                      <a:pt x="0" y="20"/>
                    </a:moveTo>
                    <a:lnTo>
                      <a:pt x="1" y="38"/>
                    </a:lnTo>
                    <a:lnTo>
                      <a:pt x="116" y="19"/>
                    </a:lnTo>
                    <a:lnTo>
                      <a:pt x="116" y="0"/>
                    </a:lnTo>
                    <a:lnTo>
                      <a:pt x="0" y="2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0C0C0">
                      <a:gamma/>
                      <a:tint val="60784"/>
                      <a:invGamma/>
                    </a:srgbClr>
                  </a:gs>
                  <a:gs pos="100000">
                    <a:srgbClr val="C0C0C0"/>
                  </a:gs>
                </a:gsLst>
                <a:lin ang="0" scaled="1"/>
              </a:gradFill>
              <a:ln w="9525">
                <a:noFill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8" name="Line 212"/>
              <p:cNvSpPr>
                <a:spLocks noChangeShapeType="1"/>
              </p:cNvSpPr>
              <p:nvPr/>
            </p:nvSpPr>
            <p:spPr bwMode="auto">
              <a:xfrm flipV="1">
                <a:off x="1661" y="2394"/>
                <a:ext cx="133" cy="23"/>
              </a:xfrm>
              <a:prstGeom prst="line">
                <a:avLst/>
              </a:prstGeom>
              <a:noFill/>
              <a:ln w="3175">
                <a:solidFill>
                  <a:srgbClr val="5F5F5F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9" name="Group 213"/>
            <p:cNvGrpSpPr>
              <a:grpSpLocks/>
            </p:cNvGrpSpPr>
            <p:nvPr/>
          </p:nvGrpSpPr>
          <p:grpSpPr bwMode="auto">
            <a:xfrm flipH="1">
              <a:off x="1536" y="1680"/>
              <a:ext cx="585" cy="583"/>
              <a:chOff x="1829" y="1130"/>
              <a:chExt cx="1859" cy="1865"/>
            </a:xfrm>
          </p:grpSpPr>
          <p:grpSp>
            <p:nvGrpSpPr>
              <p:cNvPr id="40" name="Group 214"/>
              <p:cNvGrpSpPr>
                <a:grpSpLocks/>
              </p:cNvGrpSpPr>
              <p:nvPr/>
            </p:nvGrpSpPr>
            <p:grpSpPr bwMode="auto">
              <a:xfrm>
                <a:off x="2470" y="1323"/>
                <a:ext cx="1218" cy="1259"/>
                <a:chOff x="2601" y="1199"/>
                <a:chExt cx="1218" cy="1408"/>
              </a:xfrm>
            </p:grpSpPr>
            <p:sp>
              <p:nvSpPr>
                <p:cNvPr id="53" name="Freeform 215"/>
                <p:cNvSpPr>
                  <a:spLocks/>
                </p:cNvSpPr>
                <p:nvPr/>
              </p:nvSpPr>
              <p:spPr bwMode="auto">
                <a:xfrm>
                  <a:off x="2598" y="1201"/>
                  <a:ext cx="1217" cy="180"/>
                </a:xfrm>
                <a:custGeom>
                  <a:avLst/>
                  <a:gdLst/>
                  <a:ahLst/>
                  <a:cxnLst>
                    <a:cxn ang="0">
                      <a:pos x="1205" y="151"/>
                    </a:cxn>
                    <a:cxn ang="0">
                      <a:pos x="964" y="178"/>
                    </a:cxn>
                    <a:cxn ang="0">
                      <a:pos x="0" y="0"/>
                    </a:cxn>
                    <a:cxn ang="0">
                      <a:pos x="1205" y="151"/>
                    </a:cxn>
                  </a:cxnLst>
                  <a:rect l="0" t="0" r="r" b="b"/>
                  <a:pathLst>
                    <a:path w="1205" h="178">
                      <a:moveTo>
                        <a:pt x="1205" y="151"/>
                      </a:moveTo>
                      <a:lnTo>
                        <a:pt x="964" y="178"/>
                      </a:lnTo>
                      <a:lnTo>
                        <a:pt x="0" y="0"/>
                      </a:lnTo>
                      <a:lnTo>
                        <a:pt x="1205" y="151"/>
                      </a:lnTo>
                      <a:close/>
                    </a:path>
                  </a:pathLst>
                </a:custGeom>
                <a:solidFill>
                  <a:srgbClr val="EAEAEA"/>
                </a:solidFill>
                <a:ln w="9525">
                  <a:solidFill>
                    <a:srgbClr val="969696"/>
                  </a:solidFill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fontAlgn="auto" latinLnBrk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0" lang="ko-KR" altLang="en-US" sz="1600" b="0" kern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4" name="Freeform 216"/>
                <p:cNvSpPr>
                  <a:spLocks/>
                </p:cNvSpPr>
                <p:nvPr/>
              </p:nvSpPr>
              <p:spPr bwMode="auto">
                <a:xfrm>
                  <a:off x="3415" y="1360"/>
                  <a:ext cx="406" cy="1245"/>
                </a:xfrm>
                <a:custGeom>
                  <a:avLst/>
                  <a:gdLst/>
                  <a:ahLst/>
                  <a:cxnLst>
                    <a:cxn ang="0">
                      <a:pos x="405" y="0"/>
                    </a:cxn>
                    <a:cxn ang="0">
                      <a:pos x="389" y="1000"/>
                    </a:cxn>
                    <a:cxn ang="0">
                      <a:pos x="133" y="1241"/>
                    </a:cxn>
                    <a:cxn ang="0">
                      <a:pos x="0" y="13"/>
                    </a:cxn>
                    <a:cxn ang="0">
                      <a:pos x="189" y="24"/>
                    </a:cxn>
                    <a:cxn ang="0">
                      <a:pos x="405" y="0"/>
                    </a:cxn>
                  </a:cxnLst>
                  <a:rect l="0" t="0" r="r" b="b"/>
                  <a:pathLst>
                    <a:path w="405" h="1241">
                      <a:moveTo>
                        <a:pt x="405" y="0"/>
                      </a:moveTo>
                      <a:lnTo>
                        <a:pt x="389" y="1000"/>
                      </a:lnTo>
                      <a:lnTo>
                        <a:pt x="133" y="1241"/>
                      </a:lnTo>
                      <a:lnTo>
                        <a:pt x="0" y="13"/>
                      </a:lnTo>
                      <a:lnTo>
                        <a:pt x="189" y="24"/>
                      </a:lnTo>
                      <a:lnTo>
                        <a:pt x="405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969696">
                        <a:gamma/>
                        <a:tint val="48627"/>
                        <a:invGamma/>
                      </a:srgbClr>
                    </a:gs>
                    <a:gs pos="100000">
                      <a:srgbClr val="969696"/>
                    </a:gs>
                  </a:gsLst>
                  <a:lin ang="0" scaled="1"/>
                </a:gradFill>
                <a:ln w="9525">
                  <a:solidFill>
                    <a:srgbClr val="969696"/>
                  </a:solidFill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fontAlgn="auto" latinLnBrk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0" lang="ko-KR" altLang="en-US" sz="1600" b="0" kern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1" name="Oval 217"/>
              <p:cNvSpPr>
                <a:spLocks noChangeArrowheads="1"/>
              </p:cNvSpPr>
              <p:nvPr/>
            </p:nvSpPr>
            <p:spPr bwMode="auto">
              <a:xfrm flipH="1">
                <a:off x="2270" y="2679"/>
                <a:ext cx="1106" cy="315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2" name="Oval 218"/>
              <p:cNvSpPr>
                <a:spLocks noChangeArrowheads="1"/>
              </p:cNvSpPr>
              <p:nvPr/>
            </p:nvSpPr>
            <p:spPr bwMode="auto">
              <a:xfrm flipH="1">
                <a:off x="2270" y="2654"/>
                <a:ext cx="1106" cy="315"/>
              </a:xfrm>
              <a:prstGeom prst="ellipse">
                <a:avLst/>
              </a:prstGeom>
              <a:gradFill rotWithShape="1">
                <a:gsLst>
                  <a:gs pos="0">
                    <a:srgbClr val="C0C0C0"/>
                  </a:gs>
                  <a:gs pos="100000">
                    <a:srgbClr val="EAEAEA"/>
                  </a:gs>
                </a:gsLst>
                <a:lin ang="270000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" name="Freeform 219"/>
              <p:cNvSpPr>
                <a:spLocks/>
              </p:cNvSpPr>
              <p:nvPr/>
            </p:nvSpPr>
            <p:spPr bwMode="auto">
              <a:xfrm>
                <a:off x="1827" y="1139"/>
                <a:ext cx="1623" cy="1732"/>
              </a:xfrm>
              <a:custGeom>
                <a:avLst/>
                <a:gdLst/>
                <a:ahLst/>
                <a:cxnLst>
                  <a:cxn ang="0">
                    <a:pos x="1602" y="204"/>
                  </a:cxn>
                  <a:cxn ang="0">
                    <a:pos x="5" y="0"/>
                  </a:cxn>
                  <a:cxn ang="0">
                    <a:pos x="0" y="1488"/>
                  </a:cxn>
                  <a:cxn ang="0">
                    <a:pos x="1597" y="1734"/>
                  </a:cxn>
                  <a:cxn ang="0">
                    <a:pos x="1602" y="204"/>
                  </a:cxn>
                </a:cxnLst>
                <a:rect l="0" t="0" r="r" b="b"/>
                <a:pathLst>
                  <a:path w="1602" h="1734">
                    <a:moveTo>
                      <a:pt x="1602" y="204"/>
                    </a:moveTo>
                    <a:lnTo>
                      <a:pt x="5" y="0"/>
                    </a:lnTo>
                    <a:lnTo>
                      <a:pt x="0" y="1488"/>
                    </a:lnTo>
                    <a:lnTo>
                      <a:pt x="1597" y="1734"/>
                    </a:lnTo>
                    <a:lnTo>
                      <a:pt x="1602" y="204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DDDDDD"/>
                  </a:gs>
                </a:gsLst>
                <a:lin ang="5400000" scaled="1"/>
              </a:gradFill>
              <a:ln w="9525">
                <a:solidFill>
                  <a:srgbClr val="969696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4" name="Freeform 220"/>
              <p:cNvSpPr>
                <a:spLocks/>
              </p:cNvSpPr>
              <p:nvPr/>
            </p:nvSpPr>
            <p:spPr bwMode="auto">
              <a:xfrm>
                <a:off x="1895" y="2543"/>
                <a:ext cx="1334" cy="328"/>
              </a:xfrm>
              <a:custGeom>
                <a:avLst/>
                <a:gdLst/>
                <a:ahLst/>
                <a:cxnLst>
                  <a:cxn ang="0">
                    <a:pos x="1327" y="200"/>
                  </a:cxn>
                  <a:cxn ang="0">
                    <a:pos x="0" y="0"/>
                  </a:cxn>
                  <a:cxn ang="0">
                    <a:pos x="0" y="115"/>
                  </a:cxn>
                  <a:cxn ang="0">
                    <a:pos x="1330" y="330"/>
                  </a:cxn>
                  <a:cxn ang="0">
                    <a:pos x="1327" y="200"/>
                  </a:cxn>
                </a:cxnLst>
                <a:rect l="0" t="0" r="r" b="b"/>
                <a:pathLst>
                  <a:path w="1330" h="330">
                    <a:moveTo>
                      <a:pt x="1327" y="200"/>
                    </a:moveTo>
                    <a:lnTo>
                      <a:pt x="0" y="0"/>
                    </a:lnTo>
                    <a:lnTo>
                      <a:pt x="0" y="115"/>
                    </a:lnTo>
                    <a:lnTo>
                      <a:pt x="1330" y="330"/>
                    </a:lnTo>
                    <a:lnTo>
                      <a:pt x="1327" y="20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0C0C0"/>
                  </a:gs>
                  <a:gs pos="50000">
                    <a:srgbClr val="FFFFFF"/>
                  </a:gs>
                  <a:gs pos="100000">
                    <a:srgbClr val="C0C0C0"/>
                  </a:gs>
                </a:gsLst>
                <a:lin ang="5400000" scaled="1"/>
              </a:gradFill>
              <a:ln w="9525">
                <a:solidFill>
                  <a:srgbClr val="969696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" name="Freeform 221"/>
              <p:cNvSpPr>
                <a:spLocks/>
              </p:cNvSpPr>
              <p:nvPr/>
            </p:nvSpPr>
            <p:spPr bwMode="auto">
              <a:xfrm>
                <a:off x="3438" y="1337"/>
                <a:ext cx="55" cy="1534"/>
              </a:xfrm>
              <a:custGeom>
                <a:avLst/>
                <a:gdLst/>
                <a:ahLst/>
                <a:cxnLst>
                  <a:cxn ang="0">
                    <a:pos x="4" y="16"/>
                  </a:cxn>
                  <a:cxn ang="0">
                    <a:pos x="56" y="0"/>
                  </a:cxn>
                  <a:cxn ang="0">
                    <a:pos x="46" y="1513"/>
                  </a:cxn>
                  <a:cxn ang="0">
                    <a:pos x="0" y="1536"/>
                  </a:cxn>
                  <a:cxn ang="0">
                    <a:pos x="4" y="16"/>
                  </a:cxn>
                </a:cxnLst>
                <a:rect l="0" t="0" r="r" b="b"/>
                <a:pathLst>
                  <a:path w="56" h="1536">
                    <a:moveTo>
                      <a:pt x="4" y="16"/>
                    </a:moveTo>
                    <a:lnTo>
                      <a:pt x="56" y="0"/>
                    </a:lnTo>
                    <a:lnTo>
                      <a:pt x="46" y="1513"/>
                    </a:lnTo>
                    <a:lnTo>
                      <a:pt x="0" y="1536"/>
                    </a:lnTo>
                    <a:lnTo>
                      <a:pt x="4" y="1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77777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6" name="Oval 222"/>
              <p:cNvSpPr>
                <a:spLocks noChangeArrowheads="1"/>
              </p:cNvSpPr>
              <p:nvPr/>
            </p:nvSpPr>
            <p:spPr bwMode="auto">
              <a:xfrm flipH="1">
                <a:off x="1969" y="2568"/>
                <a:ext cx="49" cy="93"/>
              </a:xfrm>
              <a:prstGeom prst="ellipse">
                <a:avLst/>
              </a:prstGeom>
              <a:solidFill>
                <a:srgbClr val="777777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" name="Oval 223"/>
              <p:cNvSpPr>
                <a:spLocks noChangeArrowheads="1"/>
              </p:cNvSpPr>
              <p:nvPr/>
            </p:nvSpPr>
            <p:spPr bwMode="auto">
              <a:xfrm flipH="1">
                <a:off x="2061" y="2592"/>
                <a:ext cx="43" cy="74"/>
              </a:xfrm>
              <a:prstGeom prst="ellipse">
                <a:avLst/>
              </a:prstGeom>
              <a:solidFill>
                <a:srgbClr val="C0C0C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8" name="Oval 224"/>
              <p:cNvSpPr>
                <a:spLocks noChangeArrowheads="1"/>
              </p:cNvSpPr>
              <p:nvPr/>
            </p:nvSpPr>
            <p:spPr bwMode="auto">
              <a:xfrm flipH="1">
                <a:off x="2356" y="2661"/>
                <a:ext cx="55" cy="56"/>
              </a:xfrm>
              <a:prstGeom prst="ellipse">
                <a:avLst/>
              </a:prstGeom>
              <a:solidFill>
                <a:srgbClr val="C0C0C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9" name="Oval 225"/>
              <p:cNvSpPr>
                <a:spLocks noChangeArrowheads="1"/>
              </p:cNvSpPr>
              <p:nvPr/>
            </p:nvSpPr>
            <p:spPr bwMode="auto">
              <a:xfrm flipH="1">
                <a:off x="2454" y="2679"/>
                <a:ext cx="49" cy="56"/>
              </a:xfrm>
              <a:prstGeom prst="ellipse">
                <a:avLst/>
              </a:prstGeom>
              <a:solidFill>
                <a:srgbClr val="C0C0C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0" name="Oval 226"/>
              <p:cNvSpPr>
                <a:spLocks noChangeArrowheads="1"/>
              </p:cNvSpPr>
              <p:nvPr/>
            </p:nvSpPr>
            <p:spPr bwMode="auto">
              <a:xfrm flipH="1">
                <a:off x="2553" y="2691"/>
                <a:ext cx="55" cy="56"/>
              </a:xfrm>
              <a:prstGeom prst="ellipse">
                <a:avLst/>
              </a:prstGeom>
              <a:solidFill>
                <a:srgbClr val="C0C0C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1" name="Freeform 227"/>
              <p:cNvSpPr>
                <a:spLocks/>
              </p:cNvSpPr>
              <p:nvPr/>
            </p:nvSpPr>
            <p:spPr bwMode="auto">
              <a:xfrm>
                <a:off x="1952" y="1310"/>
                <a:ext cx="1342" cy="1363"/>
              </a:xfrm>
              <a:custGeom>
                <a:avLst/>
                <a:gdLst>
                  <a:gd name="T0" fmla="*/ 1312 w 1345"/>
                  <a:gd name="T1" fmla="*/ 167 h 1366"/>
                  <a:gd name="T2" fmla="*/ 0 w 1345"/>
                  <a:gd name="T3" fmla="*/ 0 h 1366"/>
                  <a:gd name="T4" fmla="*/ 0 w 1345"/>
                  <a:gd name="T5" fmla="*/ 1139 h 1366"/>
                  <a:gd name="T6" fmla="*/ 1327 w 1345"/>
                  <a:gd name="T7" fmla="*/ 1348 h 1366"/>
                  <a:gd name="T8" fmla="*/ 1312 w 1345"/>
                  <a:gd name="T9" fmla="*/ 167 h 136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45"/>
                  <a:gd name="T16" fmla="*/ 0 h 1366"/>
                  <a:gd name="T17" fmla="*/ 1345 w 1345"/>
                  <a:gd name="T18" fmla="*/ 1366 h 136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45" h="1366">
                    <a:moveTo>
                      <a:pt x="1330" y="167"/>
                    </a:moveTo>
                    <a:lnTo>
                      <a:pt x="0" y="0"/>
                    </a:lnTo>
                    <a:lnTo>
                      <a:pt x="0" y="1157"/>
                    </a:lnTo>
                    <a:lnTo>
                      <a:pt x="1345" y="1366"/>
                    </a:lnTo>
                    <a:lnTo>
                      <a:pt x="1330" y="167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0C0C0"/>
                  </a:gs>
                  <a:gs pos="100000">
                    <a:srgbClr val="4D4D4D"/>
                  </a:gs>
                </a:gsLst>
                <a:lin ang="540000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latinLnBrk="0"/>
                <a:endParaRPr kumimoji="0" lang="ko-KR" altLang="en-US" sz="1600" b="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2" name="Freeform 228"/>
              <p:cNvSpPr>
                <a:spLocks/>
              </p:cNvSpPr>
              <p:nvPr/>
            </p:nvSpPr>
            <p:spPr bwMode="auto">
              <a:xfrm>
                <a:off x="1833" y="1133"/>
                <a:ext cx="1660" cy="216"/>
              </a:xfrm>
              <a:custGeom>
                <a:avLst/>
                <a:gdLst/>
                <a:ahLst/>
                <a:cxnLst>
                  <a:cxn ang="0">
                    <a:pos x="0" y="10"/>
                  </a:cxn>
                  <a:cxn ang="0">
                    <a:pos x="68" y="0"/>
                  </a:cxn>
                  <a:cxn ang="0">
                    <a:pos x="1660" y="199"/>
                  </a:cxn>
                  <a:cxn ang="0">
                    <a:pos x="1613" y="214"/>
                  </a:cxn>
                  <a:cxn ang="0">
                    <a:pos x="0" y="10"/>
                  </a:cxn>
                </a:cxnLst>
                <a:rect l="0" t="0" r="r" b="b"/>
                <a:pathLst>
                  <a:path w="1660" h="214">
                    <a:moveTo>
                      <a:pt x="0" y="10"/>
                    </a:moveTo>
                    <a:lnTo>
                      <a:pt x="68" y="0"/>
                    </a:lnTo>
                    <a:lnTo>
                      <a:pt x="1660" y="199"/>
                    </a:lnTo>
                    <a:lnTo>
                      <a:pt x="1613" y="214"/>
                    </a:lnTo>
                    <a:lnTo>
                      <a:pt x="0" y="10"/>
                    </a:lnTo>
                    <a:close/>
                  </a:path>
                </a:pathLst>
              </a:custGeom>
              <a:noFill/>
              <a:ln w="9525">
                <a:solidFill>
                  <a:srgbClr val="969696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pic>
        <p:nvPicPr>
          <p:cNvPr id="92" name="Picture 2" descr="C:\Users\Toshiba\AppData\Local\Microsoft\Windows\Temporary Internet Files\Content.IE5\TBE21NJN\MC900428971[1]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52043" y="1687247"/>
            <a:ext cx="752533" cy="1205675"/>
          </a:xfrm>
          <a:prstGeom prst="rect">
            <a:avLst/>
          </a:prstGeom>
          <a:noFill/>
        </p:spPr>
      </p:pic>
      <p:grpSp>
        <p:nvGrpSpPr>
          <p:cNvPr id="98" name="그룹 97"/>
          <p:cNvGrpSpPr/>
          <p:nvPr/>
        </p:nvGrpSpPr>
        <p:grpSpPr>
          <a:xfrm>
            <a:off x="1772248" y="2262963"/>
            <a:ext cx="594318" cy="301505"/>
            <a:chOff x="1993293" y="2564030"/>
            <a:chExt cx="807572" cy="288942"/>
          </a:xfrm>
        </p:grpSpPr>
        <p:sp>
          <p:nvSpPr>
            <p:cNvPr id="104" name="AutoShape 26"/>
            <p:cNvSpPr>
              <a:spLocks noChangeArrowheads="1"/>
            </p:cNvSpPr>
            <p:nvPr/>
          </p:nvSpPr>
          <p:spPr bwMode="auto">
            <a:xfrm>
              <a:off x="1993293" y="2564030"/>
              <a:ext cx="807572" cy="288942"/>
            </a:xfrm>
            <a:prstGeom prst="cube">
              <a:avLst>
                <a:gd name="adj" fmla="val 55426"/>
              </a:avLst>
            </a:prstGeom>
            <a:gradFill rotWithShape="1">
              <a:gsLst>
                <a:gs pos="0">
                  <a:srgbClr val="EAEAEA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777777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" name="WordArt 28"/>
            <p:cNvSpPr>
              <a:spLocks noChangeArrowheads="1" noChangeShapeType="1" noTextEdit="1"/>
            </p:cNvSpPr>
            <p:nvPr/>
          </p:nvSpPr>
          <p:spPr bwMode="auto">
            <a:xfrm>
              <a:off x="2009917" y="2728044"/>
              <a:ext cx="584994" cy="12492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ko-KR" sz="3600" kern="10" dirty="0" smtClean="0">
                  <a:ln w="9525">
                    <a:solidFill>
                      <a:srgbClr val="808080"/>
                    </a:solidFill>
                    <a:round/>
                    <a:headEnd/>
                    <a:tailEnd/>
                  </a:ln>
                  <a:solidFill>
                    <a:srgbClr val="80808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NAT</a:t>
              </a:r>
              <a:endParaRPr lang="ko-KR" altLang="en-US" sz="36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80808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97960" y="2769761"/>
            <a:ext cx="10214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192.168.1.10/24</a:t>
            </a:r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7583227" y="2901065"/>
            <a:ext cx="95731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22.22.22.22/24</a:t>
            </a:r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4" name="Group 19"/>
          <p:cNvGrpSpPr>
            <a:grpSpLocks/>
          </p:cNvGrpSpPr>
          <p:nvPr/>
        </p:nvGrpSpPr>
        <p:grpSpPr bwMode="auto">
          <a:xfrm>
            <a:off x="3160315" y="2305362"/>
            <a:ext cx="720590" cy="276802"/>
            <a:chOff x="3682" y="2312"/>
            <a:chExt cx="786" cy="497"/>
          </a:xfrm>
        </p:grpSpPr>
        <p:sp>
          <p:nvSpPr>
            <p:cNvPr id="95" name="AutoShape 20"/>
            <p:cNvSpPr>
              <a:spLocks noChangeArrowheads="1"/>
            </p:cNvSpPr>
            <p:nvPr/>
          </p:nvSpPr>
          <p:spPr bwMode="auto">
            <a:xfrm>
              <a:off x="3683" y="2317"/>
              <a:ext cx="785" cy="492"/>
            </a:xfrm>
            <a:prstGeom prst="can">
              <a:avLst>
                <a:gd name="adj" fmla="val 50000"/>
              </a:avLst>
            </a:prstGeom>
            <a:gradFill rotWithShape="1">
              <a:gsLst>
                <a:gs pos="0">
                  <a:srgbClr val="DDDDDD"/>
                </a:gs>
                <a:gs pos="50000">
                  <a:srgbClr val="DDDDDD">
                    <a:gamma/>
                    <a:tint val="9020"/>
                    <a:invGamma/>
                  </a:srgbClr>
                </a:gs>
                <a:gs pos="100000">
                  <a:srgbClr val="DDDDDD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7" name="WordArt 21"/>
            <p:cNvSpPr>
              <a:spLocks noChangeArrowheads="1" noChangeShapeType="1" noTextEdit="1"/>
            </p:cNvSpPr>
            <p:nvPr/>
          </p:nvSpPr>
          <p:spPr bwMode="auto">
            <a:xfrm>
              <a:off x="3719" y="2513"/>
              <a:ext cx="717" cy="249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altLang="ko-KR" sz="5400" kern="10" dirty="0" smtClean="0">
                  <a:ln w="9525">
                    <a:solidFill>
                      <a:srgbClr val="808080"/>
                    </a:solidFill>
                    <a:round/>
                    <a:headEnd/>
                    <a:tailEnd/>
                  </a:ln>
                  <a:solidFill>
                    <a:srgbClr val="777777"/>
                  </a:solidFill>
                  <a:latin typeface="Times New Roman" pitchFamily="18" charset="0"/>
                  <a:ea typeface="Tahoma"/>
                  <a:cs typeface="Times New Roman" pitchFamily="18" charset="0"/>
                </a:rPr>
                <a:t>ROUTER</a:t>
              </a:r>
              <a:endParaRPr lang="ko-KR" altLang="en-US" sz="54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777777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9" name="Oval 22"/>
            <p:cNvSpPr>
              <a:spLocks noChangeArrowheads="1"/>
            </p:cNvSpPr>
            <p:nvPr/>
          </p:nvSpPr>
          <p:spPr bwMode="auto">
            <a:xfrm>
              <a:off x="3682" y="2312"/>
              <a:ext cx="786" cy="249"/>
            </a:xfrm>
            <a:prstGeom prst="ellipse">
              <a:avLst/>
            </a:pr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33333"/>
                    <a:invGamma/>
                  </a:srgbClr>
                </a:gs>
              </a:gsLst>
              <a:lin ang="189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0" name="AutoShape 23"/>
            <p:cNvSpPr>
              <a:spLocks noChangeArrowheads="1"/>
            </p:cNvSpPr>
            <p:nvPr/>
          </p:nvSpPr>
          <p:spPr bwMode="auto">
            <a:xfrm rot="5400000">
              <a:off x="4082" y="2198"/>
              <a:ext cx="115" cy="485"/>
            </a:xfrm>
            <a:custGeom>
              <a:avLst/>
              <a:gdLst>
                <a:gd name="T0" fmla="*/ 38 w 21600"/>
                <a:gd name="T1" fmla="*/ 14 h 21600"/>
                <a:gd name="T2" fmla="*/ 19 w 21600"/>
                <a:gd name="T3" fmla="*/ 353 h 21600"/>
                <a:gd name="T4" fmla="*/ 46 w 21600"/>
                <a:gd name="T5" fmla="*/ 103 h 21600"/>
                <a:gd name="T6" fmla="*/ 129 w 21600"/>
                <a:gd name="T7" fmla="*/ 217 h 21600"/>
                <a:gd name="T8" fmla="*/ 106 w 21600"/>
                <a:gd name="T9" fmla="*/ 333 h 21600"/>
                <a:gd name="T10" fmla="*/ 78 w 21600"/>
                <a:gd name="T11" fmla="*/ 235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93 w 21600"/>
                <a:gd name="T19" fmla="*/ 3162 h 21600"/>
                <a:gd name="T20" fmla="*/ 18407 w 21600"/>
                <a:gd name="T21" fmla="*/ 18438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7370" y="10242"/>
                  </a:moveTo>
                  <a:cubicBezTo>
                    <a:pt x="17080" y="6828"/>
                    <a:pt x="14225" y="4206"/>
                    <a:pt x="10800" y="4206"/>
                  </a:cubicBezTo>
                  <a:cubicBezTo>
                    <a:pt x="7158" y="4206"/>
                    <a:pt x="4206" y="7158"/>
                    <a:pt x="4206" y="10800"/>
                  </a:cubicBezTo>
                  <a:cubicBezTo>
                    <a:pt x="4205" y="12133"/>
                    <a:pt x="4610" y="13436"/>
                    <a:pt x="5366" y="14535"/>
                  </a:cubicBezTo>
                  <a:lnTo>
                    <a:pt x="1900" y="16918"/>
                  </a:lnTo>
                  <a:cubicBezTo>
                    <a:pt x="662" y="15117"/>
                    <a:pt x="0" y="12984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410" y="-1"/>
                    <a:pt x="21086" y="4295"/>
                    <a:pt x="21561" y="9886"/>
                  </a:cubicBezTo>
                  <a:lnTo>
                    <a:pt x="24251" y="9657"/>
                  </a:lnTo>
                  <a:lnTo>
                    <a:pt x="19871" y="14849"/>
                  </a:lnTo>
                  <a:lnTo>
                    <a:pt x="14680" y="10470"/>
                  </a:lnTo>
                  <a:lnTo>
                    <a:pt x="17370" y="10242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>
              <a:outerShdw dist="25400" dir="5400000" algn="ctr" rotWithShape="0">
                <a:srgbClr val="1C1C1C">
                  <a:alpha val="50000"/>
                </a:srgbClr>
              </a:outerShdw>
            </a:effectLst>
          </p:spPr>
          <p:txBody>
            <a:bodyPr rot="10800000" vert="eaVert" wrap="none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1" name="AutoShape 24"/>
            <p:cNvSpPr>
              <a:spLocks noChangeArrowheads="1"/>
            </p:cNvSpPr>
            <p:nvPr/>
          </p:nvSpPr>
          <p:spPr bwMode="auto">
            <a:xfrm rot="-5400000">
              <a:off x="3973" y="2157"/>
              <a:ext cx="113" cy="495"/>
            </a:xfrm>
            <a:custGeom>
              <a:avLst/>
              <a:gdLst>
                <a:gd name="T0" fmla="*/ 37 w 21600"/>
                <a:gd name="T1" fmla="*/ 14 h 21600"/>
                <a:gd name="T2" fmla="*/ 19 w 21600"/>
                <a:gd name="T3" fmla="*/ 360 h 21600"/>
                <a:gd name="T4" fmla="*/ 45 w 21600"/>
                <a:gd name="T5" fmla="*/ 105 h 21600"/>
                <a:gd name="T6" fmla="*/ 127 w 21600"/>
                <a:gd name="T7" fmla="*/ 221 h 21600"/>
                <a:gd name="T8" fmla="*/ 104 w 21600"/>
                <a:gd name="T9" fmla="*/ 340 h 21600"/>
                <a:gd name="T10" fmla="*/ 77 w 21600"/>
                <a:gd name="T11" fmla="*/ 24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250 w 21600"/>
                <a:gd name="T19" fmla="*/ 3142 h 21600"/>
                <a:gd name="T20" fmla="*/ 18350 w 21600"/>
                <a:gd name="T21" fmla="*/ 18458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7370" y="10242"/>
                  </a:moveTo>
                  <a:cubicBezTo>
                    <a:pt x="17080" y="6828"/>
                    <a:pt x="14225" y="4206"/>
                    <a:pt x="10800" y="4206"/>
                  </a:cubicBezTo>
                  <a:cubicBezTo>
                    <a:pt x="7158" y="4206"/>
                    <a:pt x="4206" y="7158"/>
                    <a:pt x="4206" y="10800"/>
                  </a:cubicBezTo>
                  <a:cubicBezTo>
                    <a:pt x="4205" y="12133"/>
                    <a:pt x="4610" y="13436"/>
                    <a:pt x="5366" y="14535"/>
                  </a:cubicBezTo>
                  <a:lnTo>
                    <a:pt x="1900" y="16918"/>
                  </a:lnTo>
                  <a:cubicBezTo>
                    <a:pt x="662" y="15117"/>
                    <a:pt x="0" y="12984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410" y="-1"/>
                    <a:pt x="21086" y="4295"/>
                    <a:pt x="21561" y="9886"/>
                  </a:cubicBezTo>
                  <a:lnTo>
                    <a:pt x="24251" y="9657"/>
                  </a:lnTo>
                  <a:lnTo>
                    <a:pt x="19871" y="14849"/>
                  </a:lnTo>
                  <a:lnTo>
                    <a:pt x="14680" y="10470"/>
                  </a:lnTo>
                  <a:lnTo>
                    <a:pt x="17370" y="10242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>
              <a:outerShdw dist="25400" dir="5400000" algn="ctr" rotWithShape="0">
                <a:srgbClr val="1C1C1C">
                  <a:alpha val="50000"/>
                </a:srgbClr>
              </a:outerShdw>
            </a:effectLst>
          </p:spPr>
          <p:txBody>
            <a:bodyPr vert="eaVert" wrap="none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02" name="Group 19"/>
          <p:cNvGrpSpPr>
            <a:grpSpLocks/>
          </p:cNvGrpSpPr>
          <p:nvPr/>
        </p:nvGrpSpPr>
        <p:grpSpPr bwMode="auto">
          <a:xfrm>
            <a:off x="6497150" y="2278052"/>
            <a:ext cx="720590" cy="276802"/>
            <a:chOff x="3682" y="2312"/>
            <a:chExt cx="786" cy="497"/>
          </a:xfrm>
        </p:grpSpPr>
        <p:sp>
          <p:nvSpPr>
            <p:cNvPr id="103" name="AutoShape 20"/>
            <p:cNvSpPr>
              <a:spLocks noChangeArrowheads="1"/>
            </p:cNvSpPr>
            <p:nvPr/>
          </p:nvSpPr>
          <p:spPr bwMode="auto">
            <a:xfrm>
              <a:off x="3683" y="2317"/>
              <a:ext cx="785" cy="492"/>
            </a:xfrm>
            <a:prstGeom prst="can">
              <a:avLst>
                <a:gd name="adj" fmla="val 50000"/>
              </a:avLst>
            </a:prstGeom>
            <a:gradFill rotWithShape="1">
              <a:gsLst>
                <a:gs pos="0">
                  <a:srgbClr val="DDDDDD"/>
                </a:gs>
                <a:gs pos="50000">
                  <a:srgbClr val="DDDDDD">
                    <a:gamma/>
                    <a:tint val="9020"/>
                    <a:invGamma/>
                  </a:srgbClr>
                </a:gs>
                <a:gs pos="100000">
                  <a:srgbClr val="DDDDDD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5" name="WordArt 21"/>
            <p:cNvSpPr>
              <a:spLocks noChangeArrowheads="1" noChangeShapeType="1" noTextEdit="1"/>
            </p:cNvSpPr>
            <p:nvPr/>
          </p:nvSpPr>
          <p:spPr bwMode="auto">
            <a:xfrm>
              <a:off x="3719" y="2513"/>
              <a:ext cx="717" cy="249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altLang="ko-KR" sz="5400" kern="10" dirty="0" smtClean="0">
                  <a:ln w="9525">
                    <a:solidFill>
                      <a:srgbClr val="808080"/>
                    </a:solidFill>
                    <a:round/>
                    <a:headEnd/>
                    <a:tailEnd/>
                  </a:ln>
                  <a:solidFill>
                    <a:srgbClr val="777777"/>
                  </a:solidFill>
                  <a:latin typeface="Times New Roman" pitchFamily="18" charset="0"/>
                  <a:ea typeface="Tahoma"/>
                  <a:cs typeface="Times New Roman" pitchFamily="18" charset="0"/>
                </a:rPr>
                <a:t>ROUTER</a:t>
              </a:r>
              <a:endParaRPr lang="ko-KR" altLang="en-US" sz="54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777777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6" name="Oval 22"/>
            <p:cNvSpPr>
              <a:spLocks noChangeArrowheads="1"/>
            </p:cNvSpPr>
            <p:nvPr/>
          </p:nvSpPr>
          <p:spPr bwMode="auto">
            <a:xfrm>
              <a:off x="3682" y="2312"/>
              <a:ext cx="786" cy="249"/>
            </a:xfrm>
            <a:prstGeom prst="ellipse">
              <a:avLst/>
            </a:pr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33333"/>
                    <a:invGamma/>
                  </a:srgbClr>
                </a:gs>
              </a:gsLst>
              <a:lin ang="189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7" name="AutoShape 23"/>
            <p:cNvSpPr>
              <a:spLocks noChangeArrowheads="1"/>
            </p:cNvSpPr>
            <p:nvPr/>
          </p:nvSpPr>
          <p:spPr bwMode="auto">
            <a:xfrm rot="5400000">
              <a:off x="4082" y="2198"/>
              <a:ext cx="115" cy="485"/>
            </a:xfrm>
            <a:custGeom>
              <a:avLst/>
              <a:gdLst>
                <a:gd name="T0" fmla="*/ 38 w 21600"/>
                <a:gd name="T1" fmla="*/ 14 h 21600"/>
                <a:gd name="T2" fmla="*/ 19 w 21600"/>
                <a:gd name="T3" fmla="*/ 353 h 21600"/>
                <a:gd name="T4" fmla="*/ 46 w 21600"/>
                <a:gd name="T5" fmla="*/ 103 h 21600"/>
                <a:gd name="T6" fmla="*/ 129 w 21600"/>
                <a:gd name="T7" fmla="*/ 217 h 21600"/>
                <a:gd name="T8" fmla="*/ 106 w 21600"/>
                <a:gd name="T9" fmla="*/ 333 h 21600"/>
                <a:gd name="T10" fmla="*/ 78 w 21600"/>
                <a:gd name="T11" fmla="*/ 235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93 w 21600"/>
                <a:gd name="T19" fmla="*/ 3162 h 21600"/>
                <a:gd name="T20" fmla="*/ 18407 w 21600"/>
                <a:gd name="T21" fmla="*/ 18438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7370" y="10242"/>
                  </a:moveTo>
                  <a:cubicBezTo>
                    <a:pt x="17080" y="6828"/>
                    <a:pt x="14225" y="4206"/>
                    <a:pt x="10800" y="4206"/>
                  </a:cubicBezTo>
                  <a:cubicBezTo>
                    <a:pt x="7158" y="4206"/>
                    <a:pt x="4206" y="7158"/>
                    <a:pt x="4206" y="10800"/>
                  </a:cubicBezTo>
                  <a:cubicBezTo>
                    <a:pt x="4205" y="12133"/>
                    <a:pt x="4610" y="13436"/>
                    <a:pt x="5366" y="14535"/>
                  </a:cubicBezTo>
                  <a:lnTo>
                    <a:pt x="1900" y="16918"/>
                  </a:lnTo>
                  <a:cubicBezTo>
                    <a:pt x="662" y="15117"/>
                    <a:pt x="0" y="12984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410" y="-1"/>
                    <a:pt x="21086" y="4295"/>
                    <a:pt x="21561" y="9886"/>
                  </a:cubicBezTo>
                  <a:lnTo>
                    <a:pt x="24251" y="9657"/>
                  </a:lnTo>
                  <a:lnTo>
                    <a:pt x="19871" y="14849"/>
                  </a:lnTo>
                  <a:lnTo>
                    <a:pt x="14680" y="10470"/>
                  </a:lnTo>
                  <a:lnTo>
                    <a:pt x="17370" y="10242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>
              <a:outerShdw dist="25400" dir="5400000" algn="ctr" rotWithShape="0">
                <a:srgbClr val="1C1C1C">
                  <a:alpha val="50000"/>
                </a:srgbClr>
              </a:outerShdw>
            </a:effectLst>
          </p:spPr>
          <p:txBody>
            <a:bodyPr rot="10800000" vert="eaVert" wrap="none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8" name="AutoShape 24"/>
            <p:cNvSpPr>
              <a:spLocks noChangeArrowheads="1"/>
            </p:cNvSpPr>
            <p:nvPr/>
          </p:nvSpPr>
          <p:spPr bwMode="auto">
            <a:xfrm rot="-5400000">
              <a:off x="3973" y="2157"/>
              <a:ext cx="113" cy="495"/>
            </a:xfrm>
            <a:custGeom>
              <a:avLst/>
              <a:gdLst>
                <a:gd name="T0" fmla="*/ 37 w 21600"/>
                <a:gd name="T1" fmla="*/ 14 h 21600"/>
                <a:gd name="T2" fmla="*/ 19 w 21600"/>
                <a:gd name="T3" fmla="*/ 360 h 21600"/>
                <a:gd name="T4" fmla="*/ 45 w 21600"/>
                <a:gd name="T5" fmla="*/ 105 h 21600"/>
                <a:gd name="T6" fmla="*/ 127 w 21600"/>
                <a:gd name="T7" fmla="*/ 221 h 21600"/>
                <a:gd name="T8" fmla="*/ 104 w 21600"/>
                <a:gd name="T9" fmla="*/ 340 h 21600"/>
                <a:gd name="T10" fmla="*/ 77 w 21600"/>
                <a:gd name="T11" fmla="*/ 24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250 w 21600"/>
                <a:gd name="T19" fmla="*/ 3142 h 21600"/>
                <a:gd name="T20" fmla="*/ 18350 w 21600"/>
                <a:gd name="T21" fmla="*/ 18458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7370" y="10242"/>
                  </a:moveTo>
                  <a:cubicBezTo>
                    <a:pt x="17080" y="6828"/>
                    <a:pt x="14225" y="4206"/>
                    <a:pt x="10800" y="4206"/>
                  </a:cubicBezTo>
                  <a:cubicBezTo>
                    <a:pt x="7158" y="4206"/>
                    <a:pt x="4206" y="7158"/>
                    <a:pt x="4206" y="10800"/>
                  </a:cubicBezTo>
                  <a:cubicBezTo>
                    <a:pt x="4205" y="12133"/>
                    <a:pt x="4610" y="13436"/>
                    <a:pt x="5366" y="14535"/>
                  </a:cubicBezTo>
                  <a:lnTo>
                    <a:pt x="1900" y="16918"/>
                  </a:lnTo>
                  <a:cubicBezTo>
                    <a:pt x="662" y="15117"/>
                    <a:pt x="0" y="12984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410" y="-1"/>
                    <a:pt x="21086" y="4295"/>
                    <a:pt x="21561" y="9886"/>
                  </a:cubicBezTo>
                  <a:lnTo>
                    <a:pt x="24251" y="9657"/>
                  </a:lnTo>
                  <a:lnTo>
                    <a:pt x="19871" y="14849"/>
                  </a:lnTo>
                  <a:lnTo>
                    <a:pt x="14680" y="10470"/>
                  </a:lnTo>
                  <a:lnTo>
                    <a:pt x="17370" y="10242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>
              <a:outerShdw dist="25400" dir="5400000" algn="ctr" rotWithShape="0">
                <a:srgbClr val="1C1C1C">
                  <a:alpha val="50000"/>
                </a:srgbClr>
              </a:outerShdw>
            </a:effectLst>
          </p:spPr>
          <p:txBody>
            <a:bodyPr vert="eaVert" wrap="none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09" name="TextBox 108"/>
          <p:cNvSpPr txBox="1"/>
          <p:nvPr/>
        </p:nvSpPr>
        <p:spPr>
          <a:xfrm>
            <a:off x="1385283" y="1815667"/>
            <a:ext cx="1659429" cy="2462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192.168.1.10 → 11.11.11.11</a:t>
            </a:r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13518" y="1529273"/>
            <a:ext cx="8322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NAT Table</a:t>
            </a:r>
            <a:endParaRPr lang="ko-KR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01" name="표 200"/>
          <p:cNvGraphicFramePr>
            <a:graphicFrameLocks noGrp="1"/>
          </p:cNvGraphicFramePr>
          <p:nvPr>
            <p:extLst/>
          </p:nvPr>
        </p:nvGraphicFramePr>
        <p:xfrm>
          <a:off x="377289" y="3123595"/>
          <a:ext cx="2624862" cy="243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945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3545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7629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5365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23109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50030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22.22.22.22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192.168.1.10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202" name="TextBox 201"/>
          <p:cNvSpPr txBox="1"/>
          <p:nvPr/>
        </p:nvSpPr>
        <p:spPr>
          <a:xfrm>
            <a:off x="297960" y="3361614"/>
            <a:ext cx="24545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smtClean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수</a:t>
            </a:r>
            <a:r>
              <a:rPr lang="en-US" altLang="ko-KR" sz="1100" dirty="0" smtClean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Port    </a:t>
            </a:r>
            <a:r>
              <a:rPr lang="ko-KR" altLang="en-US" sz="1100" dirty="0" smtClean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송</a:t>
            </a:r>
            <a:r>
              <a:rPr lang="en-US" altLang="ko-KR" sz="1100" dirty="0" smtClean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Port           </a:t>
            </a:r>
            <a:r>
              <a:rPr lang="ko-KR" altLang="en-US" sz="1100" dirty="0" smtClean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수</a:t>
            </a:r>
            <a:r>
              <a:rPr lang="en-US" altLang="ko-KR" sz="1100" dirty="0" smtClean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IP             </a:t>
            </a:r>
            <a:r>
              <a:rPr lang="ko-KR" altLang="en-US" sz="1100" dirty="0" smtClean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송</a:t>
            </a:r>
            <a:r>
              <a:rPr lang="en-US" altLang="ko-KR" sz="1100" dirty="0" smtClean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IP</a:t>
            </a:r>
            <a:endParaRPr lang="ko-KR" altLang="en-US" sz="1100" dirty="0">
              <a:latin typeface="Times New Roman" panose="02020603050405020304" pitchFamily="18" charset="0"/>
              <a:ea typeface="함초롬바탕" panose="02030504000101010101"/>
              <a:cs typeface="Times New Roman" panose="02020603050405020304" pitchFamily="18" charset="0"/>
            </a:endParaRPr>
          </a:p>
        </p:txBody>
      </p:sp>
      <p:graphicFrame>
        <p:nvGraphicFramePr>
          <p:cNvPr id="203" name="표 202"/>
          <p:cNvGraphicFramePr>
            <a:graphicFrameLocks noGrp="1"/>
          </p:cNvGraphicFramePr>
          <p:nvPr>
            <p:extLst/>
          </p:nvPr>
        </p:nvGraphicFramePr>
        <p:xfrm>
          <a:off x="3243563" y="1819117"/>
          <a:ext cx="2624862" cy="243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945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3545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7629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5365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23109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50030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22.22.22.22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11.11.11.11</a:t>
                      </a:r>
                      <a:endParaRPr lang="ko-KR" altLang="en-US" sz="10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204" name="TextBox 203"/>
          <p:cNvSpPr txBox="1"/>
          <p:nvPr/>
        </p:nvSpPr>
        <p:spPr>
          <a:xfrm>
            <a:off x="3194236" y="1554217"/>
            <a:ext cx="24545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smtClean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수</a:t>
            </a:r>
            <a:r>
              <a:rPr lang="en-US" altLang="ko-KR" sz="1100" dirty="0" smtClean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Port   </a:t>
            </a:r>
            <a:r>
              <a:rPr lang="ko-KR" altLang="en-US" sz="1100" dirty="0" smtClean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송</a:t>
            </a:r>
            <a:r>
              <a:rPr lang="en-US" altLang="ko-KR" sz="1100" dirty="0" smtClean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Port           </a:t>
            </a:r>
            <a:r>
              <a:rPr lang="ko-KR" altLang="en-US" sz="1100" dirty="0" smtClean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수</a:t>
            </a:r>
            <a:r>
              <a:rPr lang="en-US" altLang="ko-KR" sz="1100" dirty="0" smtClean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IP             </a:t>
            </a:r>
            <a:r>
              <a:rPr lang="ko-KR" altLang="en-US" sz="1100" dirty="0" smtClean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송</a:t>
            </a:r>
            <a:r>
              <a:rPr lang="en-US" altLang="ko-KR" sz="1100" dirty="0" smtClean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IP</a:t>
            </a:r>
            <a:endParaRPr lang="ko-KR" altLang="en-US" sz="1100" dirty="0">
              <a:latin typeface="Times New Roman" panose="02020603050405020304" pitchFamily="18" charset="0"/>
              <a:ea typeface="함초롬바탕" panose="02030504000101010101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2925" y="460755"/>
            <a:ext cx="19706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Source NAT</a:t>
            </a:r>
            <a:endParaRPr lang="ko-KR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3" name="직선 화살표 연결선 92"/>
          <p:cNvCxnSpPr>
            <a:stCxn id="128" idx="2"/>
          </p:cNvCxnSpPr>
          <p:nvPr/>
        </p:nvCxnSpPr>
        <p:spPr>
          <a:xfrm>
            <a:off x="951420" y="4839975"/>
            <a:ext cx="7596635" cy="27548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구름 95"/>
          <p:cNvSpPr/>
          <p:nvPr/>
        </p:nvSpPr>
        <p:spPr>
          <a:xfrm>
            <a:off x="4031457" y="4550548"/>
            <a:ext cx="1381758" cy="636217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0" name="Group 172"/>
          <p:cNvGrpSpPr>
            <a:grpSpLocks/>
          </p:cNvGrpSpPr>
          <p:nvPr/>
        </p:nvGrpSpPr>
        <p:grpSpPr bwMode="auto">
          <a:xfrm>
            <a:off x="520236" y="4589241"/>
            <a:ext cx="672801" cy="644597"/>
            <a:chOff x="1460" y="1680"/>
            <a:chExt cx="971" cy="1058"/>
          </a:xfrm>
        </p:grpSpPr>
        <p:grpSp>
          <p:nvGrpSpPr>
            <p:cNvPr id="111" name="Group 173"/>
            <p:cNvGrpSpPr>
              <a:grpSpLocks/>
            </p:cNvGrpSpPr>
            <p:nvPr/>
          </p:nvGrpSpPr>
          <p:grpSpPr bwMode="auto">
            <a:xfrm rot="20775601" flipH="1">
              <a:off x="2221" y="2374"/>
              <a:ext cx="210" cy="162"/>
              <a:chOff x="3499" y="2336"/>
              <a:chExt cx="1848" cy="1427"/>
            </a:xfrm>
          </p:grpSpPr>
          <p:sp>
            <p:nvSpPr>
              <p:cNvPr id="162" name="Freeform 174"/>
              <p:cNvSpPr>
                <a:spLocks/>
              </p:cNvSpPr>
              <p:nvPr/>
            </p:nvSpPr>
            <p:spPr bwMode="auto">
              <a:xfrm rot="20419783" flipH="1">
                <a:off x="4677" y="2330"/>
                <a:ext cx="783" cy="460"/>
              </a:xfrm>
              <a:custGeom>
                <a:avLst/>
                <a:gdLst/>
                <a:ahLst/>
                <a:cxnLst>
                  <a:cxn ang="0">
                    <a:pos x="1224" y="755"/>
                  </a:cxn>
                  <a:cxn ang="0">
                    <a:pos x="1112" y="716"/>
                  </a:cxn>
                  <a:cxn ang="0">
                    <a:pos x="1051" y="693"/>
                  </a:cxn>
                  <a:cxn ang="0">
                    <a:pos x="1006" y="671"/>
                  </a:cxn>
                  <a:cxn ang="0">
                    <a:pos x="984" y="660"/>
                  </a:cxn>
                  <a:cxn ang="0">
                    <a:pos x="939" y="626"/>
                  </a:cxn>
                  <a:cxn ang="0">
                    <a:pos x="894" y="548"/>
                  </a:cxn>
                  <a:cxn ang="0">
                    <a:pos x="889" y="531"/>
                  </a:cxn>
                  <a:cxn ang="0">
                    <a:pos x="850" y="509"/>
                  </a:cxn>
                  <a:cxn ang="0">
                    <a:pos x="799" y="481"/>
                  </a:cxn>
                  <a:cxn ang="0">
                    <a:pos x="704" y="453"/>
                  </a:cxn>
                  <a:cxn ang="0">
                    <a:pos x="419" y="442"/>
                  </a:cxn>
                  <a:cxn ang="0">
                    <a:pos x="330" y="408"/>
                  </a:cxn>
                  <a:cxn ang="0">
                    <a:pos x="212" y="279"/>
                  </a:cxn>
                  <a:cxn ang="0">
                    <a:pos x="145" y="134"/>
                  </a:cxn>
                  <a:cxn ang="0">
                    <a:pos x="78" y="39"/>
                  </a:cxn>
                  <a:cxn ang="0">
                    <a:pos x="0" y="0"/>
                  </a:cxn>
                </a:cxnLst>
                <a:rect l="0" t="0" r="r" b="b"/>
                <a:pathLst>
                  <a:path w="1224" h="755">
                    <a:moveTo>
                      <a:pt x="1224" y="755"/>
                    </a:moveTo>
                    <a:cubicBezTo>
                      <a:pt x="1190" y="729"/>
                      <a:pt x="1154" y="724"/>
                      <a:pt x="1112" y="716"/>
                    </a:cubicBezTo>
                    <a:cubicBezTo>
                      <a:pt x="1091" y="705"/>
                      <a:pt x="1072" y="702"/>
                      <a:pt x="1051" y="693"/>
                    </a:cubicBezTo>
                    <a:cubicBezTo>
                      <a:pt x="1036" y="686"/>
                      <a:pt x="1021" y="678"/>
                      <a:pt x="1006" y="671"/>
                    </a:cubicBezTo>
                    <a:cubicBezTo>
                      <a:pt x="999" y="667"/>
                      <a:pt x="984" y="660"/>
                      <a:pt x="984" y="660"/>
                    </a:cubicBezTo>
                    <a:cubicBezTo>
                      <a:pt x="971" y="646"/>
                      <a:pt x="939" y="626"/>
                      <a:pt x="939" y="626"/>
                    </a:cubicBezTo>
                    <a:cubicBezTo>
                      <a:pt x="923" y="602"/>
                      <a:pt x="906" y="575"/>
                      <a:pt x="894" y="548"/>
                    </a:cubicBezTo>
                    <a:cubicBezTo>
                      <a:pt x="892" y="543"/>
                      <a:pt x="893" y="536"/>
                      <a:pt x="889" y="531"/>
                    </a:cubicBezTo>
                    <a:cubicBezTo>
                      <a:pt x="884" y="524"/>
                      <a:pt x="855" y="512"/>
                      <a:pt x="850" y="509"/>
                    </a:cubicBezTo>
                    <a:cubicBezTo>
                      <a:pt x="802" y="480"/>
                      <a:pt x="833" y="491"/>
                      <a:pt x="799" y="481"/>
                    </a:cubicBezTo>
                    <a:cubicBezTo>
                      <a:pt x="764" y="457"/>
                      <a:pt x="751" y="457"/>
                      <a:pt x="704" y="453"/>
                    </a:cubicBezTo>
                    <a:cubicBezTo>
                      <a:pt x="606" y="457"/>
                      <a:pt x="515" y="459"/>
                      <a:pt x="419" y="442"/>
                    </a:cubicBezTo>
                    <a:cubicBezTo>
                      <a:pt x="391" y="426"/>
                      <a:pt x="360" y="419"/>
                      <a:pt x="330" y="408"/>
                    </a:cubicBezTo>
                    <a:cubicBezTo>
                      <a:pt x="287" y="368"/>
                      <a:pt x="245" y="328"/>
                      <a:pt x="212" y="279"/>
                    </a:cubicBezTo>
                    <a:cubicBezTo>
                      <a:pt x="183" y="235"/>
                      <a:pt x="168" y="181"/>
                      <a:pt x="145" y="134"/>
                    </a:cubicBezTo>
                    <a:cubicBezTo>
                      <a:pt x="128" y="100"/>
                      <a:pt x="99" y="71"/>
                      <a:pt x="78" y="39"/>
                    </a:cubicBezTo>
                    <a:cubicBezTo>
                      <a:pt x="70" y="27"/>
                      <a:pt x="15" y="7"/>
                      <a:pt x="0" y="0"/>
                    </a:cubicBezTo>
                  </a:path>
                </a:pathLst>
              </a:custGeom>
              <a:noFill/>
              <a:ln w="12700" cmpd="sng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3" name="Freeform 175"/>
              <p:cNvSpPr>
                <a:spLocks/>
              </p:cNvSpPr>
              <p:nvPr/>
            </p:nvSpPr>
            <p:spPr bwMode="auto">
              <a:xfrm rot="-1180217">
                <a:off x="3532" y="2934"/>
                <a:ext cx="1464" cy="698"/>
              </a:xfrm>
              <a:custGeom>
                <a:avLst/>
                <a:gdLst/>
                <a:ahLst/>
                <a:cxnLst>
                  <a:cxn ang="0">
                    <a:pos x="886" y="33"/>
                  </a:cxn>
                  <a:cxn ang="0">
                    <a:pos x="937" y="70"/>
                  </a:cxn>
                  <a:cxn ang="0">
                    <a:pos x="971" y="130"/>
                  </a:cxn>
                  <a:cxn ang="0">
                    <a:pos x="967" y="218"/>
                  </a:cxn>
                  <a:cxn ang="0">
                    <a:pos x="882" y="261"/>
                  </a:cxn>
                  <a:cxn ang="0">
                    <a:pos x="791" y="294"/>
                  </a:cxn>
                  <a:cxn ang="0">
                    <a:pos x="665" y="382"/>
                  </a:cxn>
                  <a:cxn ang="0">
                    <a:pos x="519" y="522"/>
                  </a:cxn>
                  <a:cxn ang="0">
                    <a:pos x="397" y="542"/>
                  </a:cxn>
                  <a:cxn ang="0">
                    <a:pos x="298" y="550"/>
                  </a:cxn>
                  <a:cxn ang="0">
                    <a:pos x="155" y="522"/>
                  </a:cxn>
                  <a:cxn ang="0">
                    <a:pos x="34" y="459"/>
                  </a:cxn>
                  <a:cxn ang="0">
                    <a:pos x="0" y="393"/>
                  </a:cxn>
                  <a:cxn ang="0">
                    <a:pos x="11" y="315"/>
                  </a:cxn>
                  <a:cxn ang="0">
                    <a:pos x="63" y="210"/>
                  </a:cxn>
                  <a:cxn ang="0">
                    <a:pos x="142" y="147"/>
                  </a:cxn>
                  <a:cxn ang="0">
                    <a:pos x="246" y="89"/>
                  </a:cxn>
                  <a:cxn ang="0">
                    <a:pos x="445" y="21"/>
                  </a:cxn>
                  <a:cxn ang="0">
                    <a:pos x="634" y="0"/>
                  </a:cxn>
                  <a:cxn ang="0">
                    <a:pos x="794" y="13"/>
                  </a:cxn>
                  <a:cxn ang="0">
                    <a:pos x="886" y="33"/>
                  </a:cxn>
                </a:cxnLst>
                <a:rect l="0" t="0" r="r" b="b"/>
                <a:pathLst>
                  <a:path w="971" h="550">
                    <a:moveTo>
                      <a:pt x="886" y="33"/>
                    </a:moveTo>
                    <a:lnTo>
                      <a:pt x="937" y="70"/>
                    </a:lnTo>
                    <a:lnTo>
                      <a:pt x="971" y="130"/>
                    </a:lnTo>
                    <a:lnTo>
                      <a:pt x="967" y="218"/>
                    </a:lnTo>
                    <a:lnTo>
                      <a:pt x="882" y="261"/>
                    </a:lnTo>
                    <a:lnTo>
                      <a:pt x="791" y="294"/>
                    </a:lnTo>
                    <a:lnTo>
                      <a:pt x="665" y="382"/>
                    </a:lnTo>
                    <a:lnTo>
                      <a:pt x="519" y="522"/>
                    </a:lnTo>
                    <a:lnTo>
                      <a:pt x="397" y="542"/>
                    </a:lnTo>
                    <a:lnTo>
                      <a:pt x="298" y="550"/>
                    </a:lnTo>
                    <a:lnTo>
                      <a:pt x="155" y="522"/>
                    </a:lnTo>
                    <a:lnTo>
                      <a:pt x="34" y="459"/>
                    </a:lnTo>
                    <a:lnTo>
                      <a:pt x="0" y="393"/>
                    </a:lnTo>
                    <a:lnTo>
                      <a:pt x="11" y="315"/>
                    </a:lnTo>
                    <a:lnTo>
                      <a:pt x="63" y="210"/>
                    </a:lnTo>
                    <a:lnTo>
                      <a:pt x="142" y="147"/>
                    </a:lnTo>
                    <a:lnTo>
                      <a:pt x="246" y="89"/>
                    </a:lnTo>
                    <a:lnTo>
                      <a:pt x="445" y="21"/>
                    </a:lnTo>
                    <a:lnTo>
                      <a:pt x="634" y="0"/>
                    </a:lnTo>
                    <a:lnTo>
                      <a:pt x="794" y="13"/>
                    </a:lnTo>
                    <a:lnTo>
                      <a:pt x="886" y="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EAEAEA"/>
                  </a:gs>
                  <a:gs pos="50000">
                    <a:srgbClr val="FFFFFF"/>
                  </a:gs>
                  <a:gs pos="100000">
                    <a:srgbClr val="EAEAEA"/>
                  </a:gs>
                </a:gsLst>
                <a:lin ang="2700000" scaled="1"/>
              </a:gradFill>
              <a:ln w="9525">
                <a:solidFill>
                  <a:srgbClr val="808080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4" name="Freeform 176"/>
              <p:cNvSpPr>
                <a:spLocks/>
              </p:cNvSpPr>
              <p:nvPr/>
            </p:nvSpPr>
            <p:spPr bwMode="auto">
              <a:xfrm rot="20419783" flipH="1">
                <a:off x="3661" y="3116"/>
                <a:ext cx="1413" cy="52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6" y="118"/>
                  </a:cxn>
                  <a:cxn ang="0">
                    <a:pos x="319" y="302"/>
                  </a:cxn>
                  <a:cxn ang="0">
                    <a:pos x="604" y="448"/>
                  </a:cxn>
                  <a:cxn ang="0">
                    <a:pos x="867" y="526"/>
                  </a:cxn>
                  <a:cxn ang="0">
                    <a:pos x="1091" y="504"/>
                  </a:cxn>
                  <a:cxn ang="0">
                    <a:pos x="1270" y="448"/>
                  </a:cxn>
                  <a:cxn ang="0">
                    <a:pos x="1432" y="353"/>
                  </a:cxn>
                  <a:cxn ang="0">
                    <a:pos x="1253" y="431"/>
                  </a:cxn>
                  <a:cxn ang="0">
                    <a:pos x="1108" y="470"/>
                  </a:cxn>
                  <a:cxn ang="0">
                    <a:pos x="951" y="470"/>
                  </a:cxn>
                  <a:cxn ang="0">
                    <a:pos x="789" y="453"/>
                  </a:cxn>
                  <a:cxn ang="0">
                    <a:pos x="699" y="420"/>
                  </a:cxn>
                  <a:cxn ang="0">
                    <a:pos x="560" y="330"/>
                  </a:cxn>
                  <a:cxn ang="0">
                    <a:pos x="437" y="213"/>
                  </a:cxn>
                  <a:cxn ang="0">
                    <a:pos x="274" y="129"/>
                  </a:cxn>
                  <a:cxn ang="0">
                    <a:pos x="140" y="73"/>
                  </a:cxn>
                  <a:cxn ang="0">
                    <a:pos x="0" y="0"/>
                  </a:cxn>
                </a:cxnLst>
                <a:rect l="0" t="0" r="r" b="b"/>
                <a:pathLst>
                  <a:path w="1432" h="526">
                    <a:moveTo>
                      <a:pt x="0" y="0"/>
                    </a:moveTo>
                    <a:lnTo>
                      <a:pt x="56" y="118"/>
                    </a:lnTo>
                    <a:lnTo>
                      <a:pt x="319" y="302"/>
                    </a:lnTo>
                    <a:lnTo>
                      <a:pt x="604" y="448"/>
                    </a:lnTo>
                    <a:lnTo>
                      <a:pt x="867" y="526"/>
                    </a:lnTo>
                    <a:lnTo>
                      <a:pt x="1091" y="504"/>
                    </a:lnTo>
                    <a:lnTo>
                      <a:pt x="1270" y="448"/>
                    </a:lnTo>
                    <a:lnTo>
                      <a:pt x="1432" y="353"/>
                    </a:lnTo>
                    <a:lnTo>
                      <a:pt x="1253" y="431"/>
                    </a:lnTo>
                    <a:lnTo>
                      <a:pt x="1108" y="470"/>
                    </a:lnTo>
                    <a:lnTo>
                      <a:pt x="951" y="470"/>
                    </a:lnTo>
                    <a:lnTo>
                      <a:pt x="789" y="453"/>
                    </a:lnTo>
                    <a:lnTo>
                      <a:pt x="699" y="420"/>
                    </a:lnTo>
                    <a:lnTo>
                      <a:pt x="560" y="330"/>
                    </a:lnTo>
                    <a:lnTo>
                      <a:pt x="437" y="213"/>
                    </a:lnTo>
                    <a:lnTo>
                      <a:pt x="274" y="129"/>
                    </a:lnTo>
                    <a:lnTo>
                      <a:pt x="140" y="73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69696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808080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5" name="Freeform 177"/>
              <p:cNvSpPr>
                <a:spLocks/>
              </p:cNvSpPr>
              <p:nvPr/>
            </p:nvSpPr>
            <p:spPr bwMode="auto">
              <a:xfrm rot="-1180217">
                <a:off x="4358" y="2814"/>
                <a:ext cx="323" cy="375"/>
              </a:xfrm>
              <a:custGeom>
                <a:avLst/>
                <a:gdLst/>
                <a:ahLst/>
                <a:cxnLst>
                  <a:cxn ang="0">
                    <a:pos x="229" y="261"/>
                  </a:cxn>
                  <a:cxn ang="0">
                    <a:pos x="115" y="57"/>
                  </a:cxn>
                  <a:cxn ang="0">
                    <a:pos x="0" y="0"/>
                  </a:cxn>
                </a:cxnLst>
                <a:rect l="0" t="0" r="r" b="b"/>
                <a:pathLst>
                  <a:path w="229" h="261">
                    <a:moveTo>
                      <a:pt x="229" y="261"/>
                    </a:moveTo>
                    <a:lnTo>
                      <a:pt x="115" y="57"/>
                    </a:lnTo>
                    <a:lnTo>
                      <a:pt x="0" y="0"/>
                    </a:lnTo>
                  </a:path>
                </a:pathLst>
              </a:custGeom>
              <a:noFill/>
              <a:ln w="19050" cmpd="sng">
                <a:solidFill>
                  <a:srgbClr val="B2B2B2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6" name="Freeform 178"/>
              <p:cNvSpPr>
                <a:spLocks/>
              </p:cNvSpPr>
              <p:nvPr/>
            </p:nvSpPr>
            <p:spPr bwMode="auto">
              <a:xfrm rot="20419783" flipH="1">
                <a:off x="4324" y="2821"/>
                <a:ext cx="443" cy="68"/>
              </a:xfrm>
              <a:custGeom>
                <a:avLst/>
                <a:gdLst/>
                <a:ahLst/>
                <a:cxnLst>
                  <a:cxn ang="0">
                    <a:pos x="0" y="79"/>
                  </a:cxn>
                  <a:cxn ang="0">
                    <a:pos x="246" y="26"/>
                  </a:cxn>
                  <a:cxn ang="0">
                    <a:pos x="408" y="0"/>
                  </a:cxn>
                  <a:cxn ang="0">
                    <a:pos x="560" y="26"/>
                  </a:cxn>
                </a:cxnLst>
                <a:rect l="0" t="0" r="r" b="b"/>
                <a:pathLst>
                  <a:path w="560" h="79">
                    <a:moveTo>
                      <a:pt x="0" y="79"/>
                    </a:moveTo>
                    <a:lnTo>
                      <a:pt x="246" y="26"/>
                    </a:lnTo>
                    <a:lnTo>
                      <a:pt x="408" y="0"/>
                    </a:lnTo>
                    <a:lnTo>
                      <a:pt x="560" y="26"/>
                    </a:lnTo>
                  </a:path>
                </a:pathLst>
              </a:custGeom>
              <a:noFill/>
              <a:ln w="9525">
                <a:solidFill>
                  <a:srgbClr val="969696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7" name="Oval 179"/>
              <p:cNvSpPr>
                <a:spLocks noChangeArrowheads="1"/>
              </p:cNvSpPr>
              <p:nvPr/>
            </p:nvSpPr>
            <p:spPr bwMode="auto">
              <a:xfrm rot="21155849" flipH="1">
                <a:off x="4282" y="2827"/>
                <a:ext cx="187" cy="34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8" name="Freeform 180"/>
              <p:cNvSpPr>
                <a:spLocks/>
              </p:cNvSpPr>
              <p:nvPr/>
            </p:nvSpPr>
            <p:spPr bwMode="auto">
              <a:xfrm rot="20419783" flipH="1">
                <a:off x="4481" y="2789"/>
                <a:ext cx="409" cy="272"/>
              </a:xfrm>
              <a:custGeom>
                <a:avLst/>
                <a:gdLst/>
                <a:ahLst/>
                <a:cxnLst>
                  <a:cxn ang="0">
                    <a:pos x="98" y="36"/>
                  </a:cxn>
                  <a:cxn ang="0">
                    <a:pos x="320" y="0"/>
                  </a:cxn>
                  <a:cxn ang="0">
                    <a:pos x="367" y="26"/>
                  </a:cxn>
                  <a:cxn ang="0">
                    <a:pos x="445" y="26"/>
                  </a:cxn>
                  <a:cxn ang="0">
                    <a:pos x="482" y="42"/>
                  </a:cxn>
                  <a:cxn ang="0">
                    <a:pos x="278" y="367"/>
                  </a:cxn>
                  <a:cxn ang="0">
                    <a:pos x="5" y="262"/>
                  </a:cxn>
                  <a:cxn ang="0">
                    <a:pos x="0" y="157"/>
                  </a:cxn>
                  <a:cxn ang="0">
                    <a:pos x="42" y="74"/>
                  </a:cxn>
                  <a:cxn ang="0">
                    <a:pos x="98" y="36"/>
                  </a:cxn>
                </a:cxnLst>
                <a:rect l="0" t="0" r="r" b="b"/>
                <a:pathLst>
                  <a:path w="482" h="367">
                    <a:moveTo>
                      <a:pt x="98" y="36"/>
                    </a:moveTo>
                    <a:lnTo>
                      <a:pt x="320" y="0"/>
                    </a:lnTo>
                    <a:lnTo>
                      <a:pt x="367" y="26"/>
                    </a:lnTo>
                    <a:lnTo>
                      <a:pt x="445" y="26"/>
                    </a:lnTo>
                    <a:lnTo>
                      <a:pt x="482" y="42"/>
                    </a:lnTo>
                    <a:lnTo>
                      <a:pt x="278" y="367"/>
                    </a:lnTo>
                    <a:lnTo>
                      <a:pt x="5" y="262"/>
                    </a:lnTo>
                    <a:lnTo>
                      <a:pt x="0" y="157"/>
                    </a:lnTo>
                    <a:lnTo>
                      <a:pt x="42" y="74"/>
                    </a:lnTo>
                    <a:lnTo>
                      <a:pt x="98" y="36"/>
                    </a:lnTo>
                    <a:close/>
                  </a:path>
                </a:pathLst>
              </a:custGeom>
              <a:noFill/>
              <a:ln w="9525">
                <a:solidFill>
                  <a:srgbClr val="969696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12" name="Group 181"/>
            <p:cNvGrpSpPr>
              <a:grpSpLocks/>
            </p:cNvGrpSpPr>
            <p:nvPr/>
          </p:nvGrpSpPr>
          <p:grpSpPr bwMode="auto">
            <a:xfrm flipH="1">
              <a:off x="1661" y="2401"/>
              <a:ext cx="623" cy="337"/>
              <a:chOff x="909" y="3187"/>
              <a:chExt cx="828" cy="448"/>
            </a:xfrm>
          </p:grpSpPr>
          <p:sp>
            <p:nvSpPr>
              <p:cNvPr id="156" name="Freeform 182"/>
              <p:cNvSpPr>
                <a:spLocks/>
              </p:cNvSpPr>
              <p:nvPr/>
            </p:nvSpPr>
            <p:spPr bwMode="auto">
              <a:xfrm>
                <a:off x="909" y="3207"/>
                <a:ext cx="299" cy="428"/>
              </a:xfrm>
              <a:custGeom>
                <a:avLst/>
                <a:gdLst/>
                <a:ahLst/>
                <a:cxnLst>
                  <a:cxn ang="0">
                    <a:pos x="933" y="135"/>
                  </a:cxn>
                  <a:cxn ang="0">
                    <a:pos x="932" y="171"/>
                  </a:cxn>
                  <a:cxn ang="0">
                    <a:pos x="762" y="352"/>
                  </a:cxn>
                  <a:cxn ang="0">
                    <a:pos x="4" y="195"/>
                  </a:cxn>
                  <a:cxn ang="0">
                    <a:pos x="0" y="148"/>
                  </a:cxn>
                  <a:cxn ang="0">
                    <a:pos x="244" y="0"/>
                  </a:cxn>
                  <a:cxn ang="0">
                    <a:pos x="933" y="135"/>
                  </a:cxn>
                </a:cxnLst>
                <a:rect l="0" t="0" r="r" b="b"/>
                <a:pathLst>
                  <a:path w="933" h="352">
                    <a:moveTo>
                      <a:pt x="933" y="135"/>
                    </a:moveTo>
                    <a:lnTo>
                      <a:pt x="932" y="171"/>
                    </a:lnTo>
                    <a:lnTo>
                      <a:pt x="762" y="352"/>
                    </a:lnTo>
                    <a:lnTo>
                      <a:pt x="4" y="195"/>
                    </a:lnTo>
                    <a:lnTo>
                      <a:pt x="0" y="148"/>
                    </a:lnTo>
                    <a:lnTo>
                      <a:pt x="244" y="0"/>
                    </a:lnTo>
                    <a:lnTo>
                      <a:pt x="933" y="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DDDDD"/>
                  </a:gs>
                  <a:gs pos="100000">
                    <a:srgbClr val="DDDDDD">
                      <a:gamma/>
                      <a:tint val="34118"/>
                      <a:invGamma/>
                    </a:srgbClr>
                  </a:gs>
                </a:gsLst>
                <a:lin ang="0" scaled="1"/>
              </a:gradFill>
              <a:ln w="6350" cap="flat" cmpd="sng">
                <a:solidFill>
                  <a:srgbClr val="B2B2B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tIns="27432" bIns="27432" anchor="ctr">
                <a:spAutoFit/>
              </a:bodyPr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7" name="Freeform 183"/>
              <p:cNvSpPr>
                <a:spLocks/>
              </p:cNvSpPr>
              <p:nvPr/>
            </p:nvSpPr>
            <p:spPr bwMode="auto">
              <a:xfrm>
                <a:off x="934" y="3187"/>
                <a:ext cx="299" cy="428"/>
              </a:xfrm>
              <a:custGeom>
                <a:avLst/>
                <a:gdLst/>
                <a:ahLst/>
                <a:cxnLst>
                  <a:cxn ang="0">
                    <a:pos x="895" y="133"/>
                  </a:cxn>
                  <a:cxn ang="0">
                    <a:pos x="232" y="0"/>
                  </a:cxn>
                  <a:cxn ang="0">
                    <a:pos x="0" y="143"/>
                  </a:cxn>
                  <a:cxn ang="0">
                    <a:pos x="739" y="294"/>
                  </a:cxn>
                  <a:cxn ang="0">
                    <a:pos x="895" y="133"/>
                  </a:cxn>
                </a:cxnLst>
                <a:rect l="0" t="0" r="r" b="b"/>
                <a:pathLst>
                  <a:path w="895" h="294">
                    <a:moveTo>
                      <a:pt x="895" y="133"/>
                    </a:moveTo>
                    <a:lnTo>
                      <a:pt x="232" y="0"/>
                    </a:lnTo>
                    <a:lnTo>
                      <a:pt x="0" y="143"/>
                    </a:lnTo>
                    <a:lnTo>
                      <a:pt x="739" y="294"/>
                    </a:lnTo>
                    <a:lnTo>
                      <a:pt x="895" y="133"/>
                    </a:lnTo>
                    <a:close/>
                  </a:path>
                </a:pathLst>
              </a:custGeom>
              <a:solidFill>
                <a:srgbClr val="FFFFFF"/>
              </a:solidFill>
              <a:ln w="3175" cap="flat" cmpd="sng">
                <a:solidFill>
                  <a:srgbClr val="B2B2B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tIns="27432" bIns="27432" anchor="ctr">
                <a:spAutoFit/>
              </a:bodyPr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8" name="Freeform 184"/>
              <p:cNvSpPr>
                <a:spLocks/>
              </p:cNvSpPr>
              <p:nvPr/>
            </p:nvSpPr>
            <p:spPr bwMode="auto">
              <a:xfrm>
                <a:off x="1133" y="3276"/>
                <a:ext cx="535" cy="118"/>
              </a:xfrm>
              <a:custGeom>
                <a:avLst/>
                <a:gdLst/>
                <a:ahLst/>
                <a:cxnLst>
                  <a:cxn ang="0">
                    <a:pos x="0" y="15"/>
                  </a:cxn>
                  <a:cxn ang="0">
                    <a:pos x="508" y="118"/>
                  </a:cxn>
                  <a:cxn ang="0">
                    <a:pos x="531" y="103"/>
                  </a:cxn>
                  <a:cxn ang="0">
                    <a:pos x="23" y="0"/>
                  </a:cxn>
                </a:cxnLst>
                <a:rect l="0" t="0" r="r" b="b"/>
                <a:pathLst>
                  <a:path w="531" h="118">
                    <a:moveTo>
                      <a:pt x="0" y="15"/>
                    </a:moveTo>
                    <a:lnTo>
                      <a:pt x="508" y="118"/>
                    </a:lnTo>
                    <a:lnTo>
                      <a:pt x="531" y="103"/>
                    </a:lnTo>
                    <a:lnTo>
                      <a:pt x="23" y="0"/>
                    </a:lnTo>
                  </a:path>
                </a:pathLst>
              </a:custGeom>
              <a:solidFill>
                <a:srgbClr val="DDDDDD"/>
              </a:solidFill>
              <a:ln w="12700" cap="rnd" cmpd="sng">
                <a:solidFill>
                  <a:srgbClr val="EAEAE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9" name="Freeform 185"/>
              <p:cNvSpPr>
                <a:spLocks/>
              </p:cNvSpPr>
              <p:nvPr/>
            </p:nvSpPr>
            <p:spPr bwMode="auto">
              <a:xfrm>
                <a:off x="981" y="3306"/>
                <a:ext cx="550" cy="159"/>
              </a:xfrm>
              <a:custGeom>
                <a:avLst/>
                <a:gdLst/>
                <a:ahLst/>
                <a:cxnLst>
                  <a:cxn ang="0">
                    <a:pos x="0" y="74"/>
                  </a:cxn>
                  <a:cxn ang="0">
                    <a:pos x="31" y="78"/>
                  </a:cxn>
                  <a:cxn ang="0">
                    <a:pos x="57" y="66"/>
                  </a:cxn>
                  <a:cxn ang="0">
                    <a:pos x="76" y="71"/>
                  </a:cxn>
                  <a:cxn ang="0">
                    <a:pos x="58" y="81"/>
                  </a:cxn>
                  <a:cxn ang="0">
                    <a:pos x="451" y="159"/>
                  </a:cxn>
                  <a:cxn ang="0">
                    <a:pos x="548" y="84"/>
                  </a:cxn>
                  <a:cxn ang="0">
                    <a:pos x="130" y="0"/>
                  </a:cxn>
                </a:cxnLst>
                <a:rect l="0" t="0" r="r" b="b"/>
                <a:pathLst>
                  <a:path w="548" h="159">
                    <a:moveTo>
                      <a:pt x="0" y="74"/>
                    </a:moveTo>
                    <a:lnTo>
                      <a:pt x="31" y="78"/>
                    </a:lnTo>
                    <a:lnTo>
                      <a:pt x="57" y="66"/>
                    </a:lnTo>
                    <a:lnTo>
                      <a:pt x="76" y="71"/>
                    </a:lnTo>
                    <a:lnTo>
                      <a:pt x="58" y="81"/>
                    </a:lnTo>
                    <a:lnTo>
                      <a:pt x="451" y="159"/>
                    </a:lnTo>
                    <a:lnTo>
                      <a:pt x="548" y="84"/>
                    </a:lnTo>
                    <a:lnTo>
                      <a:pt x="130" y="0"/>
                    </a:lnTo>
                  </a:path>
                </a:pathLst>
              </a:custGeom>
              <a:solidFill>
                <a:srgbClr val="DDDDDD"/>
              </a:solidFill>
              <a:ln w="12700" cap="rnd" cmpd="sng">
                <a:solidFill>
                  <a:srgbClr val="EAEAE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0" name="Freeform 186"/>
              <p:cNvSpPr>
                <a:spLocks/>
              </p:cNvSpPr>
              <p:nvPr/>
            </p:nvSpPr>
            <p:spPr bwMode="auto">
              <a:xfrm>
                <a:off x="1495" y="3396"/>
                <a:ext cx="139" cy="69"/>
              </a:xfrm>
              <a:custGeom>
                <a:avLst/>
                <a:gdLst/>
                <a:ahLst/>
                <a:cxnLst>
                  <a:cxn ang="0">
                    <a:pos x="73" y="0"/>
                  </a:cxn>
                  <a:cxn ang="0">
                    <a:pos x="140" y="11"/>
                  </a:cxn>
                  <a:cxn ang="0">
                    <a:pos x="75" y="70"/>
                  </a:cxn>
                  <a:cxn ang="0">
                    <a:pos x="0" y="56"/>
                  </a:cxn>
                </a:cxnLst>
                <a:rect l="0" t="0" r="r" b="b"/>
                <a:pathLst>
                  <a:path w="140" h="70">
                    <a:moveTo>
                      <a:pt x="73" y="0"/>
                    </a:moveTo>
                    <a:lnTo>
                      <a:pt x="140" y="11"/>
                    </a:lnTo>
                    <a:lnTo>
                      <a:pt x="75" y="70"/>
                    </a:lnTo>
                    <a:lnTo>
                      <a:pt x="0" y="56"/>
                    </a:lnTo>
                  </a:path>
                </a:pathLst>
              </a:custGeom>
              <a:solidFill>
                <a:srgbClr val="DDDDDD"/>
              </a:solidFill>
              <a:ln w="12700" cap="rnd" cmpd="sng">
                <a:solidFill>
                  <a:srgbClr val="EAEAE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1" name="Freeform 187"/>
              <p:cNvSpPr>
                <a:spLocks/>
              </p:cNvSpPr>
              <p:nvPr/>
            </p:nvSpPr>
            <p:spPr bwMode="auto">
              <a:xfrm>
                <a:off x="1570" y="3412"/>
                <a:ext cx="167" cy="100"/>
              </a:xfrm>
              <a:custGeom>
                <a:avLst/>
                <a:gdLst/>
                <a:ahLst/>
                <a:cxnLst>
                  <a:cxn ang="0">
                    <a:pos x="87" y="0"/>
                  </a:cxn>
                  <a:cxn ang="0">
                    <a:pos x="167" y="15"/>
                  </a:cxn>
                  <a:cxn ang="0">
                    <a:pos x="81" y="101"/>
                  </a:cxn>
                  <a:cxn ang="0">
                    <a:pos x="0" y="83"/>
                  </a:cxn>
                </a:cxnLst>
                <a:rect l="0" t="0" r="r" b="b"/>
                <a:pathLst>
                  <a:path w="167" h="101">
                    <a:moveTo>
                      <a:pt x="87" y="0"/>
                    </a:moveTo>
                    <a:lnTo>
                      <a:pt x="167" y="15"/>
                    </a:lnTo>
                    <a:lnTo>
                      <a:pt x="81" y="101"/>
                    </a:lnTo>
                    <a:lnTo>
                      <a:pt x="0" y="83"/>
                    </a:lnTo>
                  </a:path>
                </a:pathLst>
              </a:custGeom>
              <a:solidFill>
                <a:srgbClr val="DDDDDD"/>
              </a:solidFill>
              <a:ln w="12700" cap="rnd" cmpd="sng">
                <a:solidFill>
                  <a:srgbClr val="EAEAE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15" name="Group 188"/>
            <p:cNvGrpSpPr>
              <a:grpSpLocks/>
            </p:cNvGrpSpPr>
            <p:nvPr/>
          </p:nvGrpSpPr>
          <p:grpSpPr bwMode="auto">
            <a:xfrm>
              <a:off x="1460" y="2079"/>
              <a:ext cx="724" cy="441"/>
              <a:chOff x="1460" y="2079"/>
              <a:chExt cx="724" cy="441"/>
            </a:xfrm>
          </p:grpSpPr>
          <p:sp>
            <p:nvSpPr>
              <p:cNvPr id="132" name="Freeform 189"/>
              <p:cNvSpPr>
                <a:spLocks noChangeAspect="1"/>
              </p:cNvSpPr>
              <p:nvPr/>
            </p:nvSpPr>
            <p:spPr bwMode="auto">
              <a:xfrm>
                <a:off x="1460" y="2143"/>
                <a:ext cx="168" cy="377"/>
              </a:xfrm>
              <a:custGeom>
                <a:avLst/>
                <a:gdLst/>
                <a:ahLst/>
                <a:cxnLst>
                  <a:cxn ang="0">
                    <a:pos x="169" y="246"/>
                  </a:cxn>
                  <a:cxn ang="0">
                    <a:pos x="1" y="0"/>
                  </a:cxn>
                  <a:cxn ang="0">
                    <a:pos x="0" y="123"/>
                  </a:cxn>
                  <a:cxn ang="0">
                    <a:pos x="165" y="377"/>
                  </a:cxn>
                </a:cxnLst>
                <a:rect l="0" t="0" r="r" b="b"/>
                <a:pathLst>
                  <a:path w="169" h="377">
                    <a:moveTo>
                      <a:pt x="169" y="246"/>
                    </a:moveTo>
                    <a:lnTo>
                      <a:pt x="1" y="0"/>
                    </a:lnTo>
                    <a:lnTo>
                      <a:pt x="0" y="123"/>
                    </a:lnTo>
                    <a:lnTo>
                      <a:pt x="165" y="377"/>
                    </a:lnTo>
                  </a:path>
                </a:pathLst>
              </a:custGeom>
              <a:gradFill rotWithShape="1">
                <a:gsLst>
                  <a:gs pos="0">
                    <a:srgbClr val="EAEAEA"/>
                  </a:gs>
                  <a:gs pos="100000">
                    <a:srgbClr val="EAEAEA">
                      <a:gamma/>
                      <a:tint val="60784"/>
                      <a:invGamma/>
                    </a:srgbClr>
                  </a:gs>
                </a:gsLst>
                <a:lin ang="0" scaled="1"/>
              </a:gradFill>
              <a:ln w="6350" cap="rnd" cmpd="sng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3" name="Freeform 190"/>
              <p:cNvSpPr>
                <a:spLocks noChangeAspect="1"/>
              </p:cNvSpPr>
              <p:nvPr/>
            </p:nvSpPr>
            <p:spPr bwMode="auto">
              <a:xfrm>
                <a:off x="1464" y="2079"/>
                <a:ext cx="720" cy="309"/>
              </a:xfrm>
              <a:custGeom>
                <a:avLst/>
                <a:gdLst/>
                <a:ahLst/>
                <a:cxnLst>
                  <a:cxn ang="0">
                    <a:pos x="166" y="310"/>
                  </a:cxn>
                  <a:cxn ang="0">
                    <a:pos x="718" y="211"/>
                  </a:cxn>
                  <a:cxn ang="0">
                    <a:pos x="444" y="0"/>
                  </a:cxn>
                  <a:cxn ang="0">
                    <a:pos x="0" y="64"/>
                  </a:cxn>
                  <a:cxn ang="0">
                    <a:pos x="166" y="310"/>
                  </a:cxn>
                </a:cxnLst>
                <a:rect l="0" t="0" r="r" b="b"/>
                <a:pathLst>
                  <a:path w="718" h="310">
                    <a:moveTo>
                      <a:pt x="166" y="310"/>
                    </a:moveTo>
                    <a:lnTo>
                      <a:pt x="718" y="211"/>
                    </a:lnTo>
                    <a:lnTo>
                      <a:pt x="444" y="0"/>
                    </a:lnTo>
                    <a:lnTo>
                      <a:pt x="0" y="64"/>
                    </a:lnTo>
                    <a:lnTo>
                      <a:pt x="166" y="31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rnd" cmpd="sng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4" name="Freeform 191"/>
              <p:cNvSpPr>
                <a:spLocks/>
              </p:cNvSpPr>
              <p:nvPr/>
            </p:nvSpPr>
            <p:spPr bwMode="auto">
              <a:xfrm>
                <a:off x="1622" y="2288"/>
                <a:ext cx="544" cy="228"/>
              </a:xfrm>
              <a:custGeom>
                <a:avLst/>
                <a:gdLst/>
                <a:ahLst/>
                <a:cxnLst>
                  <a:cxn ang="0">
                    <a:pos x="6" y="99"/>
                  </a:cxn>
                  <a:cxn ang="0">
                    <a:pos x="557" y="0"/>
                  </a:cxn>
                  <a:cxn ang="0">
                    <a:pos x="549" y="121"/>
                  </a:cxn>
                  <a:cxn ang="0">
                    <a:pos x="0" y="228"/>
                  </a:cxn>
                  <a:cxn ang="0">
                    <a:pos x="6" y="99"/>
                  </a:cxn>
                </a:cxnLst>
                <a:rect l="0" t="0" r="r" b="b"/>
                <a:pathLst>
                  <a:path w="557" h="228">
                    <a:moveTo>
                      <a:pt x="6" y="99"/>
                    </a:moveTo>
                    <a:lnTo>
                      <a:pt x="557" y="0"/>
                    </a:lnTo>
                    <a:lnTo>
                      <a:pt x="549" y="121"/>
                    </a:lnTo>
                    <a:lnTo>
                      <a:pt x="0" y="228"/>
                    </a:lnTo>
                    <a:lnTo>
                      <a:pt x="6" y="99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EAEAEA"/>
                  </a:gs>
                  <a:gs pos="50000">
                    <a:srgbClr val="EAEAEA">
                      <a:gamma/>
                      <a:tint val="0"/>
                      <a:invGamma/>
                    </a:srgbClr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5" name="Freeform 192"/>
              <p:cNvSpPr>
                <a:spLocks/>
              </p:cNvSpPr>
              <p:nvPr/>
            </p:nvSpPr>
            <p:spPr bwMode="auto">
              <a:xfrm>
                <a:off x="1644" y="2425"/>
                <a:ext cx="168" cy="64"/>
              </a:xfrm>
              <a:custGeom>
                <a:avLst/>
                <a:gdLst/>
                <a:ahLst/>
                <a:cxnLst>
                  <a:cxn ang="0">
                    <a:pos x="0" y="32"/>
                  </a:cxn>
                  <a:cxn ang="0">
                    <a:pos x="0" y="63"/>
                  </a:cxn>
                  <a:cxn ang="0">
                    <a:pos x="164" y="33"/>
                  </a:cxn>
                  <a:cxn ang="0">
                    <a:pos x="167" y="0"/>
                  </a:cxn>
                  <a:cxn ang="0">
                    <a:pos x="0" y="32"/>
                  </a:cxn>
                </a:cxnLst>
                <a:rect l="0" t="0" r="r" b="b"/>
                <a:pathLst>
                  <a:path w="167" h="63">
                    <a:moveTo>
                      <a:pt x="0" y="32"/>
                    </a:moveTo>
                    <a:lnTo>
                      <a:pt x="0" y="63"/>
                    </a:lnTo>
                    <a:lnTo>
                      <a:pt x="164" y="33"/>
                    </a:lnTo>
                    <a:lnTo>
                      <a:pt x="167" y="0"/>
                    </a:lnTo>
                    <a:lnTo>
                      <a:pt x="0" y="3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0C0C0">
                      <a:gamma/>
                      <a:tint val="60784"/>
                      <a:invGamma/>
                    </a:srgbClr>
                  </a:gs>
                  <a:gs pos="100000">
                    <a:srgbClr val="C0C0C0"/>
                  </a:gs>
                </a:gsLst>
                <a:lin ang="0" scaled="1"/>
              </a:gradFill>
              <a:ln w="9525">
                <a:noFill/>
                <a:round/>
                <a:headEnd type="none" w="med" len="med"/>
                <a:tailEnd type="none" w="med" len="med"/>
              </a:ln>
              <a:effectLst>
                <a:prstShdw prst="shdw17" dist="17961" dir="13500000">
                  <a:srgbClr val="969696"/>
                </a:prstShdw>
              </a:effectLst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6" name="Oval 193"/>
              <p:cNvSpPr>
                <a:spLocks noChangeArrowheads="1"/>
              </p:cNvSpPr>
              <p:nvPr/>
            </p:nvSpPr>
            <p:spPr bwMode="auto">
              <a:xfrm>
                <a:off x="1783" y="2433"/>
                <a:ext cx="17" cy="23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7" name="Line 194"/>
              <p:cNvSpPr>
                <a:spLocks noChangeShapeType="1"/>
              </p:cNvSpPr>
              <p:nvPr/>
            </p:nvSpPr>
            <p:spPr bwMode="auto">
              <a:xfrm flipH="1">
                <a:off x="2042" y="2338"/>
                <a:ext cx="4" cy="81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8" name="Line 195"/>
              <p:cNvSpPr>
                <a:spLocks noChangeShapeType="1"/>
              </p:cNvSpPr>
              <p:nvPr/>
            </p:nvSpPr>
            <p:spPr bwMode="auto">
              <a:xfrm flipH="1">
                <a:off x="2029" y="2340"/>
                <a:ext cx="2" cy="85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9" name="Line 196"/>
              <p:cNvSpPr>
                <a:spLocks noChangeShapeType="1"/>
              </p:cNvSpPr>
              <p:nvPr/>
            </p:nvSpPr>
            <p:spPr bwMode="auto">
              <a:xfrm flipH="1">
                <a:off x="2056" y="2336"/>
                <a:ext cx="4" cy="81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0" name="Line 197"/>
              <p:cNvSpPr>
                <a:spLocks noChangeShapeType="1"/>
              </p:cNvSpPr>
              <p:nvPr/>
            </p:nvSpPr>
            <p:spPr bwMode="auto">
              <a:xfrm flipH="1">
                <a:off x="2069" y="2334"/>
                <a:ext cx="2" cy="81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1" name="Line 198"/>
              <p:cNvSpPr>
                <a:spLocks noChangeShapeType="1"/>
              </p:cNvSpPr>
              <p:nvPr/>
            </p:nvSpPr>
            <p:spPr bwMode="auto">
              <a:xfrm flipH="1">
                <a:off x="2081" y="2332"/>
                <a:ext cx="4" cy="81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2" name="Line 199"/>
              <p:cNvSpPr>
                <a:spLocks noChangeShapeType="1"/>
              </p:cNvSpPr>
              <p:nvPr/>
            </p:nvSpPr>
            <p:spPr bwMode="auto">
              <a:xfrm flipH="1">
                <a:off x="2094" y="2329"/>
                <a:ext cx="4" cy="83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3" name="Line 200"/>
              <p:cNvSpPr>
                <a:spLocks noChangeShapeType="1"/>
              </p:cNvSpPr>
              <p:nvPr/>
            </p:nvSpPr>
            <p:spPr bwMode="auto">
              <a:xfrm flipH="1">
                <a:off x="2106" y="2329"/>
                <a:ext cx="2" cy="81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4" name="Line 201"/>
              <p:cNvSpPr>
                <a:spLocks noChangeShapeType="1"/>
              </p:cNvSpPr>
              <p:nvPr/>
            </p:nvSpPr>
            <p:spPr bwMode="auto">
              <a:xfrm flipH="1">
                <a:off x="2118" y="2323"/>
                <a:ext cx="2" cy="83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5" name="Line 202"/>
              <p:cNvSpPr>
                <a:spLocks noChangeShapeType="1"/>
              </p:cNvSpPr>
              <p:nvPr/>
            </p:nvSpPr>
            <p:spPr bwMode="auto">
              <a:xfrm flipH="1">
                <a:off x="2129" y="2323"/>
                <a:ext cx="2" cy="81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6" name="Line 203"/>
              <p:cNvSpPr>
                <a:spLocks noChangeShapeType="1"/>
              </p:cNvSpPr>
              <p:nvPr/>
            </p:nvSpPr>
            <p:spPr bwMode="auto">
              <a:xfrm flipH="1">
                <a:off x="2141" y="2321"/>
                <a:ext cx="2" cy="83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7" name="Line 204"/>
              <p:cNvSpPr>
                <a:spLocks noChangeShapeType="1"/>
              </p:cNvSpPr>
              <p:nvPr/>
            </p:nvSpPr>
            <p:spPr bwMode="auto">
              <a:xfrm flipH="1">
                <a:off x="2154" y="2319"/>
                <a:ext cx="2" cy="81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8" name="Freeform 205"/>
              <p:cNvSpPr>
                <a:spLocks/>
              </p:cNvSpPr>
              <p:nvPr/>
            </p:nvSpPr>
            <p:spPr bwMode="auto">
              <a:xfrm>
                <a:off x="1862" y="2371"/>
                <a:ext cx="93" cy="68"/>
              </a:xfrm>
              <a:custGeom>
                <a:avLst/>
                <a:gdLst/>
                <a:ahLst/>
                <a:cxnLst>
                  <a:cxn ang="0">
                    <a:pos x="2" y="33"/>
                  </a:cxn>
                  <a:cxn ang="0">
                    <a:pos x="0" y="138"/>
                  </a:cxn>
                  <a:cxn ang="0">
                    <a:pos x="186" y="104"/>
                  </a:cxn>
                  <a:cxn ang="0">
                    <a:pos x="186" y="0"/>
                  </a:cxn>
                  <a:cxn ang="0">
                    <a:pos x="2" y="33"/>
                  </a:cxn>
                </a:cxnLst>
                <a:rect l="0" t="0" r="r" b="b"/>
                <a:pathLst>
                  <a:path w="186" h="138">
                    <a:moveTo>
                      <a:pt x="2" y="33"/>
                    </a:moveTo>
                    <a:lnTo>
                      <a:pt x="0" y="138"/>
                    </a:lnTo>
                    <a:lnTo>
                      <a:pt x="186" y="104"/>
                    </a:lnTo>
                    <a:lnTo>
                      <a:pt x="186" y="0"/>
                    </a:lnTo>
                    <a:lnTo>
                      <a:pt x="2" y="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69696"/>
                  </a:gs>
                  <a:gs pos="100000">
                    <a:srgbClr val="969696">
                      <a:gamma/>
                      <a:shade val="75686"/>
                      <a:invGamma/>
                    </a:srgbClr>
                  </a:gs>
                </a:gsLst>
                <a:lin ang="0" scaled="1"/>
              </a:gradFill>
              <a:ln w="3175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7" dist="17961" dir="13500000">
                  <a:srgbClr val="969696">
                    <a:alpha val="50000"/>
                  </a:srgbClr>
                </a:prstShdw>
              </a:effectLst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9" name="Line 206"/>
              <p:cNvSpPr>
                <a:spLocks noChangeShapeType="1"/>
              </p:cNvSpPr>
              <p:nvPr/>
            </p:nvSpPr>
            <p:spPr bwMode="auto">
              <a:xfrm flipH="1">
                <a:off x="1874" y="2408"/>
                <a:ext cx="0" cy="21"/>
              </a:xfrm>
              <a:prstGeom prst="line">
                <a:avLst/>
              </a:prstGeom>
              <a:noFill/>
              <a:ln w="9525">
                <a:solidFill>
                  <a:srgbClr val="3399FF">
                    <a:alpha val="55000"/>
                  </a:srgb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0" name="Line 207"/>
              <p:cNvSpPr>
                <a:spLocks noChangeShapeType="1"/>
              </p:cNvSpPr>
              <p:nvPr/>
            </p:nvSpPr>
            <p:spPr bwMode="auto">
              <a:xfrm flipH="1">
                <a:off x="1947" y="2394"/>
                <a:ext cx="0" cy="19"/>
              </a:xfrm>
              <a:prstGeom prst="line">
                <a:avLst/>
              </a:prstGeom>
              <a:noFill/>
              <a:ln w="9525">
                <a:solidFill>
                  <a:srgbClr val="3399FF">
                    <a:alpha val="55000"/>
                  </a:srgb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1" name="Line 208"/>
              <p:cNvSpPr>
                <a:spLocks noChangeShapeType="1"/>
              </p:cNvSpPr>
              <p:nvPr/>
            </p:nvSpPr>
            <p:spPr bwMode="auto">
              <a:xfrm flipH="1">
                <a:off x="1938" y="2404"/>
                <a:ext cx="0" cy="15"/>
              </a:xfrm>
              <a:prstGeom prst="line">
                <a:avLst/>
              </a:prstGeom>
              <a:noFill/>
              <a:ln w="9525">
                <a:solidFill>
                  <a:srgbClr val="3399FF">
                    <a:alpha val="55000"/>
                  </a:srgb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2" name="Line 209"/>
              <p:cNvSpPr>
                <a:spLocks noChangeShapeType="1"/>
              </p:cNvSpPr>
              <p:nvPr/>
            </p:nvSpPr>
            <p:spPr bwMode="auto">
              <a:xfrm flipH="1">
                <a:off x="1886" y="2417"/>
                <a:ext cx="0" cy="14"/>
              </a:xfrm>
              <a:prstGeom prst="line">
                <a:avLst/>
              </a:prstGeom>
              <a:noFill/>
              <a:ln w="9525">
                <a:solidFill>
                  <a:srgbClr val="3399FF">
                    <a:alpha val="55000"/>
                  </a:srgb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3" name="Line 210"/>
              <p:cNvSpPr>
                <a:spLocks noChangeShapeType="1"/>
              </p:cNvSpPr>
              <p:nvPr/>
            </p:nvSpPr>
            <p:spPr bwMode="auto">
              <a:xfrm flipV="1">
                <a:off x="1897" y="2419"/>
                <a:ext cx="29" cy="6"/>
              </a:xfrm>
              <a:prstGeom prst="line">
                <a:avLst/>
              </a:prstGeom>
              <a:noFill/>
              <a:ln w="9525">
                <a:solidFill>
                  <a:srgbClr val="FFFF99">
                    <a:alpha val="45000"/>
                  </a:srgb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4" name="Freeform 211"/>
              <p:cNvSpPr>
                <a:spLocks/>
              </p:cNvSpPr>
              <p:nvPr/>
            </p:nvSpPr>
            <p:spPr bwMode="auto">
              <a:xfrm>
                <a:off x="1671" y="2387"/>
                <a:ext cx="116" cy="39"/>
              </a:xfrm>
              <a:custGeom>
                <a:avLst/>
                <a:gdLst/>
                <a:ahLst/>
                <a:cxnLst>
                  <a:cxn ang="0">
                    <a:pos x="0" y="20"/>
                  </a:cxn>
                  <a:cxn ang="0">
                    <a:pos x="1" y="38"/>
                  </a:cxn>
                  <a:cxn ang="0">
                    <a:pos x="116" y="19"/>
                  </a:cxn>
                  <a:cxn ang="0">
                    <a:pos x="116" y="0"/>
                  </a:cxn>
                  <a:cxn ang="0">
                    <a:pos x="0" y="20"/>
                  </a:cxn>
                </a:cxnLst>
                <a:rect l="0" t="0" r="r" b="b"/>
                <a:pathLst>
                  <a:path w="116" h="38">
                    <a:moveTo>
                      <a:pt x="0" y="20"/>
                    </a:moveTo>
                    <a:lnTo>
                      <a:pt x="1" y="38"/>
                    </a:lnTo>
                    <a:lnTo>
                      <a:pt x="116" y="19"/>
                    </a:lnTo>
                    <a:lnTo>
                      <a:pt x="116" y="0"/>
                    </a:lnTo>
                    <a:lnTo>
                      <a:pt x="0" y="2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0C0C0">
                      <a:gamma/>
                      <a:tint val="60784"/>
                      <a:invGamma/>
                    </a:srgbClr>
                  </a:gs>
                  <a:gs pos="100000">
                    <a:srgbClr val="C0C0C0"/>
                  </a:gs>
                </a:gsLst>
                <a:lin ang="0" scaled="1"/>
              </a:gradFill>
              <a:ln w="9525">
                <a:noFill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5" name="Line 212"/>
              <p:cNvSpPr>
                <a:spLocks noChangeShapeType="1"/>
              </p:cNvSpPr>
              <p:nvPr/>
            </p:nvSpPr>
            <p:spPr bwMode="auto">
              <a:xfrm flipV="1">
                <a:off x="1661" y="2394"/>
                <a:ext cx="133" cy="23"/>
              </a:xfrm>
              <a:prstGeom prst="line">
                <a:avLst/>
              </a:prstGeom>
              <a:noFill/>
              <a:ln w="3175">
                <a:solidFill>
                  <a:srgbClr val="5F5F5F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16" name="Group 213"/>
            <p:cNvGrpSpPr>
              <a:grpSpLocks/>
            </p:cNvGrpSpPr>
            <p:nvPr/>
          </p:nvGrpSpPr>
          <p:grpSpPr bwMode="auto">
            <a:xfrm flipH="1">
              <a:off x="1536" y="1680"/>
              <a:ext cx="585" cy="583"/>
              <a:chOff x="1829" y="1130"/>
              <a:chExt cx="1859" cy="1865"/>
            </a:xfrm>
          </p:grpSpPr>
          <p:grpSp>
            <p:nvGrpSpPr>
              <p:cNvPr id="117" name="Group 214"/>
              <p:cNvGrpSpPr>
                <a:grpSpLocks/>
              </p:cNvGrpSpPr>
              <p:nvPr/>
            </p:nvGrpSpPr>
            <p:grpSpPr bwMode="auto">
              <a:xfrm>
                <a:off x="2470" y="1323"/>
                <a:ext cx="1218" cy="1259"/>
                <a:chOff x="2601" y="1199"/>
                <a:chExt cx="1218" cy="1408"/>
              </a:xfrm>
            </p:grpSpPr>
            <p:sp>
              <p:nvSpPr>
                <p:cNvPr id="130" name="Freeform 215"/>
                <p:cNvSpPr>
                  <a:spLocks/>
                </p:cNvSpPr>
                <p:nvPr/>
              </p:nvSpPr>
              <p:spPr bwMode="auto">
                <a:xfrm>
                  <a:off x="2598" y="1201"/>
                  <a:ext cx="1217" cy="180"/>
                </a:xfrm>
                <a:custGeom>
                  <a:avLst/>
                  <a:gdLst/>
                  <a:ahLst/>
                  <a:cxnLst>
                    <a:cxn ang="0">
                      <a:pos x="1205" y="151"/>
                    </a:cxn>
                    <a:cxn ang="0">
                      <a:pos x="964" y="178"/>
                    </a:cxn>
                    <a:cxn ang="0">
                      <a:pos x="0" y="0"/>
                    </a:cxn>
                    <a:cxn ang="0">
                      <a:pos x="1205" y="151"/>
                    </a:cxn>
                  </a:cxnLst>
                  <a:rect l="0" t="0" r="r" b="b"/>
                  <a:pathLst>
                    <a:path w="1205" h="178">
                      <a:moveTo>
                        <a:pt x="1205" y="151"/>
                      </a:moveTo>
                      <a:lnTo>
                        <a:pt x="964" y="178"/>
                      </a:lnTo>
                      <a:lnTo>
                        <a:pt x="0" y="0"/>
                      </a:lnTo>
                      <a:lnTo>
                        <a:pt x="1205" y="151"/>
                      </a:lnTo>
                      <a:close/>
                    </a:path>
                  </a:pathLst>
                </a:custGeom>
                <a:solidFill>
                  <a:srgbClr val="EAEAEA"/>
                </a:solidFill>
                <a:ln w="9525">
                  <a:solidFill>
                    <a:srgbClr val="969696"/>
                  </a:solidFill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fontAlgn="auto" latinLnBrk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0" lang="ko-KR" altLang="en-US" sz="1600" b="0" kern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1" name="Freeform 216"/>
                <p:cNvSpPr>
                  <a:spLocks/>
                </p:cNvSpPr>
                <p:nvPr/>
              </p:nvSpPr>
              <p:spPr bwMode="auto">
                <a:xfrm>
                  <a:off x="3415" y="1360"/>
                  <a:ext cx="406" cy="1245"/>
                </a:xfrm>
                <a:custGeom>
                  <a:avLst/>
                  <a:gdLst/>
                  <a:ahLst/>
                  <a:cxnLst>
                    <a:cxn ang="0">
                      <a:pos x="405" y="0"/>
                    </a:cxn>
                    <a:cxn ang="0">
                      <a:pos x="389" y="1000"/>
                    </a:cxn>
                    <a:cxn ang="0">
                      <a:pos x="133" y="1241"/>
                    </a:cxn>
                    <a:cxn ang="0">
                      <a:pos x="0" y="13"/>
                    </a:cxn>
                    <a:cxn ang="0">
                      <a:pos x="189" y="24"/>
                    </a:cxn>
                    <a:cxn ang="0">
                      <a:pos x="405" y="0"/>
                    </a:cxn>
                  </a:cxnLst>
                  <a:rect l="0" t="0" r="r" b="b"/>
                  <a:pathLst>
                    <a:path w="405" h="1241">
                      <a:moveTo>
                        <a:pt x="405" y="0"/>
                      </a:moveTo>
                      <a:lnTo>
                        <a:pt x="389" y="1000"/>
                      </a:lnTo>
                      <a:lnTo>
                        <a:pt x="133" y="1241"/>
                      </a:lnTo>
                      <a:lnTo>
                        <a:pt x="0" y="13"/>
                      </a:lnTo>
                      <a:lnTo>
                        <a:pt x="189" y="24"/>
                      </a:lnTo>
                      <a:lnTo>
                        <a:pt x="405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969696">
                        <a:gamma/>
                        <a:tint val="48627"/>
                        <a:invGamma/>
                      </a:srgbClr>
                    </a:gs>
                    <a:gs pos="100000">
                      <a:srgbClr val="969696"/>
                    </a:gs>
                  </a:gsLst>
                  <a:lin ang="0" scaled="1"/>
                </a:gradFill>
                <a:ln w="9525">
                  <a:solidFill>
                    <a:srgbClr val="969696"/>
                  </a:solidFill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fontAlgn="auto" latinLnBrk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0" lang="ko-KR" altLang="en-US" sz="1600" b="0" kern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18" name="Oval 217"/>
              <p:cNvSpPr>
                <a:spLocks noChangeArrowheads="1"/>
              </p:cNvSpPr>
              <p:nvPr/>
            </p:nvSpPr>
            <p:spPr bwMode="auto">
              <a:xfrm flipH="1">
                <a:off x="2270" y="2679"/>
                <a:ext cx="1106" cy="315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9" name="Oval 218"/>
              <p:cNvSpPr>
                <a:spLocks noChangeArrowheads="1"/>
              </p:cNvSpPr>
              <p:nvPr/>
            </p:nvSpPr>
            <p:spPr bwMode="auto">
              <a:xfrm flipH="1">
                <a:off x="2270" y="2654"/>
                <a:ext cx="1106" cy="315"/>
              </a:xfrm>
              <a:prstGeom prst="ellipse">
                <a:avLst/>
              </a:prstGeom>
              <a:gradFill rotWithShape="1">
                <a:gsLst>
                  <a:gs pos="0">
                    <a:srgbClr val="C0C0C0"/>
                  </a:gs>
                  <a:gs pos="100000">
                    <a:srgbClr val="EAEAEA"/>
                  </a:gs>
                </a:gsLst>
                <a:lin ang="270000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0" name="Freeform 219"/>
              <p:cNvSpPr>
                <a:spLocks/>
              </p:cNvSpPr>
              <p:nvPr/>
            </p:nvSpPr>
            <p:spPr bwMode="auto">
              <a:xfrm>
                <a:off x="1827" y="1139"/>
                <a:ext cx="1623" cy="1732"/>
              </a:xfrm>
              <a:custGeom>
                <a:avLst/>
                <a:gdLst/>
                <a:ahLst/>
                <a:cxnLst>
                  <a:cxn ang="0">
                    <a:pos x="1602" y="204"/>
                  </a:cxn>
                  <a:cxn ang="0">
                    <a:pos x="5" y="0"/>
                  </a:cxn>
                  <a:cxn ang="0">
                    <a:pos x="0" y="1488"/>
                  </a:cxn>
                  <a:cxn ang="0">
                    <a:pos x="1597" y="1734"/>
                  </a:cxn>
                  <a:cxn ang="0">
                    <a:pos x="1602" y="204"/>
                  </a:cxn>
                </a:cxnLst>
                <a:rect l="0" t="0" r="r" b="b"/>
                <a:pathLst>
                  <a:path w="1602" h="1734">
                    <a:moveTo>
                      <a:pt x="1602" y="204"/>
                    </a:moveTo>
                    <a:lnTo>
                      <a:pt x="5" y="0"/>
                    </a:lnTo>
                    <a:lnTo>
                      <a:pt x="0" y="1488"/>
                    </a:lnTo>
                    <a:lnTo>
                      <a:pt x="1597" y="1734"/>
                    </a:lnTo>
                    <a:lnTo>
                      <a:pt x="1602" y="204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DDDDDD"/>
                  </a:gs>
                </a:gsLst>
                <a:lin ang="5400000" scaled="1"/>
              </a:gradFill>
              <a:ln w="9525">
                <a:solidFill>
                  <a:srgbClr val="969696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1" name="Freeform 220"/>
              <p:cNvSpPr>
                <a:spLocks/>
              </p:cNvSpPr>
              <p:nvPr/>
            </p:nvSpPr>
            <p:spPr bwMode="auto">
              <a:xfrm>
                <a:off x="1895" y="2543"/>
                <a:ext cx="1334" cy="328"/>
              </a:xfrm>
              <a:custGeom>
                <a:avLst/>
                <a:gdLst/>
                <a:ahLst/>
                <a:cxnLst>
                  <a:cxn ang="0">
                    <a:pos x="1327" y="200"/>
                  </a:cxn>
                  <a:cxn ang="0">
                    <a:pos x="0" y="0"/>
                  </a:cxn>
                  <a:cxn ang="0">
                    <a:pos x="0" y="115"/>
                  </a:cxn>
                  <a:cxn ang="0">
                    <a:pos x="1330" y="330"/>
                  </a:cxn>
                  <a:cxn ang="0">
                    <a:pos x="1327" y="200"/>
                  </a:cxn>
                </a:cxnLst>
                <a:rect l="0" t="0" r="r" b="b"/>
                <a:pathLst>
                  <a:path w="1330" h="330">
                    <a:moveTo>
                      <a:pt x="1327" y="200"/>
                    </a:moveTo>
                    <a:lnTo>
                      <a:pt x="0" y="0"/>
                    </a:lnTo>
                    <a:lnTo>
                      <a:pt x="0" y="115"/>
                    </a:lnTo>
                    <a:lnTo>
                      <a:pt x="1330" y="330"/>
                    </a:lnTo>
                    <a:lnTo>
                      <a:pt x="1327" y="20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0C0C0"/>
                  </a:gs>
                  <a:gs pos="50000">
                    <a:srgbClr val="FFFFFF"/>
                  </a:gs>
                  <a:gs pos="100000">
                    <a:srgbClr val="C0C0C0"/>
                  </a:gs>
                </a:gsLst>
                <a:lin ang="5400000" scaled="1"/>
              </a:gradFill>
              <a:ln w="9525">
                <a:solidFill>
                  <a:srgbClr val="969696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2" name="Freeform 221"/>
              <p:cNvSpPr>
                <a:spLocks/>
              </p:cNvSpPr>
              <p:nvPr/>
            </p:nvSpPr>
            <p:spPr bwMode="auto">
              <a:xfrm>
                <a:off x="3438" y="1337"/>
                <a:ext cx="55" cy="1534"/>
              </a:xfrm>
              <a:custGeom>
                <a:avLst/>
                <a:gdLst/>
                <a:ahLst/>
                <a:cxnLst>
                  <a:cxn ang="0">
                    <a:pos x="4" y="16"/>
                  </a:cxn>
                  <a:cxn ang="0">
                    <a:pos x="56" y="0"/>
                  </a:cxn>
                  <a:cxn ang="0">
                    <a:pos x="46" y="1513"/>
                  </a:cxn>
                  <a:cxn ang="0">
                    <a:pos x="0" y="1536"/>
                  </a:cxn>
                  <a:cxn ang="0">
                    <a:pos x="4" y="16"/>
                  </a:cxn>
                </a:cxnLst>
                <a:rect l="0" t="0" r="r" b="b"/>
                <a:pathLst>
                  <a:path w="56" h="1536">
                    <a:moveTo>
                      <a:pt x="4" y="16"/>
                    </a:moveTo>
                    <a:lnTo>
                      <a:pt x="56" y="0"/>
                    </a:lnTo>
                    <a:lnTo>
                      <a:pt x="46" y="1513"/>
                    </a:lnTo>
                    <a:lnTo>
                      <a:pt x="0" y="1536"/>
                    </a:lnTo>
                    <a:lnTo>
                      <a:pt x="4" y="1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77777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3" name="Oval 222"/>
              <p:cNvSpPr>
                <a:spLocks noChangeArrowheads="1"/>
              </p:cNvSpPr>
              <p:nvPr/>
            </p:nvSpPr>
            <p:spPr bwMode="auto">
              <a:xfrm flipH="1">
                <a:off x="1969" y="2568"/>
                <a:ext cx="49" cy="93"/>
              </a:xfrm>
              <a:prstGeom prst="ellipse">
                <a:avLst/>
              </a:prstGeom>
              <a:solidFill>
                <a:srgbClr val="777777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4" name="Oval 223"/>
              <p:cNvSpPr>
                <a:spLocks noChangeArrowheads="1"/>
              </p:cNvSpPr>
              <p:nvPr/>
            </p:nvSpPr>
            <p:spPr bwMode="auto">
              <a:xfrm flipH="1">
                <a:off x="2061" y="2592"/>
                <a:ext cx="43" cy="74"/>
              </a:xfrm>
              <a:prstGeom prst="ellipse">
                <a:avLst/>
              </a:prstGeom>
              <a:solidFill>
                <a:srgbClr val="C0C0C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5" name="Oval 224"/>
              <p:cNvSpPr>
                <a:spLocks noChangeArrowheads="1"/>
              </p:cNvSpPr>
              <p:nvPr/>
            </p:nvSpPr>
            <p:spPr bwMode="auto">
              <a:xfrm flipH="1">
                <a:off x="2356" y="2661"/>
                <a:ext cx="55" cy="56"/>
              </a:xfrm>
              <a:prstGeom prst="ellipse">
                <a:avLst/>
              </a:prstGeom>
              <a:solidFill>
                <a:srgbClr val="C0C0C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6" name="Oval 225"/>
              <p:cNvSpPr>
                <a:spLocks noChangeArrowheads="1"/>
              </p:cNvSpPr>
              <p:nvPr/>
            </p:nvSpPr>
            <p:spPr bwMode="auto">
              <a:xfrm flipH="1">
                <a:off x="2454" y="2679"/>
                <a:ext cx="49" cy="56"/>
              </a:xfrm>
              <a:prstGeom prst="ellipse">
                <a:avLst/>
              </a:prstGeom>
              <a:solidFill>
                <a:srgbClr val="C0C0C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7" name="Oval 226"/>
              <p:cNvSpPr>
                <a:spLocks noChangeArrowheads="1"/>
              </p:cNvSpPr>
              <p:nvPr/>
            </p:nvSpPr>
            <p:spPr bwMode="auto">
              <a:xfrm flipH="1">
                <a:off x="2553" y="2691"/>
                <a:ext cx="55" cy="56"/>
              </a:xfrm>
              <a:prstGeom prst="ellipse">
                <a:avLst/>
              </a:prstGeom>
              <a:solidFill>
                <a:srgbClr val="C0C0C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8" name="Freeform 227"/>
              <p:cNvSpPr>
                <a:spLocks/>
              </p:cNvSpPr>
              <p:nvPr/>
            </p:nvSpPr>
            <p:spPr bwMode="auto">
              <a:xfrm>
                <a:off x="1952" y="1310"/>
                <a:ext cx="1342" cy="1363"/>
              </a:xfrm>
              <a:custGeom>
                <a:avLst/>
                <a:gdLst>
                  <a:gd name="T0" fmla="*/ 1312 w 1345"/>
                  <a:gd name="T1" fmla="*/ 167 h 1366"/>
                  <a:gd name="T2" fmla="*/ 0 w 1345"/>
                  <a:gd name="T3" fmla="*/ 0 h 1366"/>
                  <a:gd name="T4" fmla="*/ 0 w 1345"/>
                  <a:gd name="T5" fmla="*/ 1139 h 1366"/>
                  <a:gd name="T6" fmla="*/ 1327 w 1345"/>
                  <a:gd name="T7" fmla="*/ 1348 h 1366"/>
                  <a:gd name="T8" fmla="*/ 1312 w 1345"/>
                  <a:gd name="T9" fmla="*/ 167 h 136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45"/>
                  <a:gd name="T16" fmla="*/ 0 h 1366"/>
                  <a:gd name="T17" fmla="*/ 1345 w 1345"/>
                  <a:gd name="T18" fmla="*/ 1366 h 136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45" h="1366">
                    <a:moveTo>
                      <a:pt x="1330" y="167"/>
                    </a:moveTo>
                    <a:lnTo>
                      <a:pt x="0" y="0"/>
                    </a:lnTo>
                    <a:lnTo>
                      <a:pt x="0" y="1157"/>
                    </a:lnTo>
                    <a:lnTo>
                      <a:pt x="1345" y="1366"/>
                    </a:lnTo>
                    <a:lnTo>
                      <a:pt x="1330" y="167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0C0C0"/>
                  </a:gs>
                  <a:gs pos="100000">
                    <a:srgbClr val="4D4D4D"/>
                  </a:gs>
                </a:gsLst>
                <a:lin ang="540000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latinLnBrk="0"/>
                <a:endParaRPr kumimoji="0" lang="ko-KR" altLang="en-US" sz="1600" b="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9" name="Freeform 228"/>
              <p:cNvSpPr>
                <a:spLocks/>
              </p:cNvSpPr>
              <p:nvPr/>
            </p:nvSpPr>
            <p:spPr bwMode="auto">
              <a:xfrm>
                <a:off x="1833" y="1133"/>
                <a:ext cx="1660" cy="216"/>
              </a:xfrm>
              <a:custGeom>
                <a:avLst/>
                <a:gdLst/>
                <a:ahLst/>
                <a:cxnLst>
                  <a:cxn ang="0">
                    <a:pos x="0" y="10"/>
                  </a:cxn>
                  <a:cxn ang="0">
                    <a:pos x="68" y="0"/>
                  </a:cxn>
                  <a:cxn ang="0">
                    <a:pos x="1660" y="199"/>
                  </a:cxn>
                  <a:cxn ang="0">
                    <a:pos x="1613" y="214"/>
                  </a:cxn>
                  <a:cxn ang="0">
                    <a:pos x="0" y="10"/>
                  </a:cxn>
                </a:cxnLst>
                <a:rect l="0" t="0" r="r" b="b"/>
                <a:pathLst>
                  <a:path w="1660" h="214">
                    <a:moveTo>
                      <a:pt x="0" y="10"/>
                    </a:moveTo>
                    <a:lnTo>
                      <a:pt x="68" y="0"/>
                    </a:lnTo>
                    <a:lnTo>
                      <a:pt x="1660" y="199"/>
                    </a:lnTo>
                    <a:lnTo>
                      <a:pt x="1613" y="214"/>
                    </a:lnTo>
                    <a:lnTo>
                      <a:pt x="0" y="10"/>
                    </a:lnTo>
                    <a:close/>
                  </a:path>
                </a:pathLst>
              </a:custGeom>
              <a:noFill/>
              <a:ln w="9525">
                <a:solidFill>
                  <a:srgbClr val="969696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pic>
        <p:nvPicPr>
          <p:cNvPr id="169" name="Picture 2" descr="C:\Users\Toshiba\AppData\Local\Microsoft\Windows\Temporary Internet Files\Content.IE5\TBE21NJN\MC900428971[1]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66981" y="4406644"/>
            <a:ext cx="594785" cy="952938"/>
          </a:xfrm>
          <a:prstGeom prst="rect">
            <a:avLst/>
          </a:prstGeom>
          <a:noFill/>
        </p:spPr>
      </p:pic>
      <p:grpSp>
        <p:nvGrpSpPr>
          <p:cNvPr id="170" name="그룹 169"/>
          <p:cNvGrpSpPr/>
          <p:nvPr/>
        </p:nvGrpSpPr>
        <p:grpSpPr>
          <a:xfrm>
            <a:off x="1709715" y="4704796"/>
            <a:ext cx="594318" cy="301505"/>
            <a:chOff x="1993293" y="2564030"/>
            <a:chExt cx="807572" cy="288942"/>
          </a:xfrm>
        </p:grpSpPr>
        <p:sp>
          <p:nvSpPr>
            <p:cNvPr id="171" name="AutoShape 26"/>
            <p:cNvSpPr>
              <a:spLocks noChangeArrowheads="1"/>
            </p:cNvSpPr>
            <p:nvPr/>
          </p:nvSpPr>
          <p:spPr bwMode="auto">
            <a:xfrm>
              <a:off x="1993293" y="2564030"/>
              <a:ext cx="807572" cy="288942"/>
            </a:xfrm>
            <a:prstGeom prst="cube">
              <a:avLst>
                <a:gd name="adj" fmla="val 55426"/>
              </a:avLst>
            </a:prstGeom>
            <a:gradFill rotWithShape="1">
              <a:gsLst>
                <a:gs pos="0">
                  <a:srgbClr val="EAEAEA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777777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2" name="WordArt 28"/>
            <p:cNvSpPr>
              <a:spLocks noChangeArrowheads="1" noChangeShapeType="1" noTextEdit="1"/>
            </p:cNvSpPr>
            <p:nvPr/>
          </p:nvSpPr>
          <p:spPr bwMode="auto">
            <a:xfrm>
              <a:off x="2009917" y="2728044"/>
              <a:ext cx="584994" cy="12492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ko-KR" sz="3600" kern="10" dirty="0" smtClean="0">
                  <a:ln w="9525">
                    <a:solidFill>
                      <a:srgbClr val="808080"/>
                    </a:solidFill>
                    <a:round/>
                    <a:headEnd/>
                    <a:tailEnd/>
                  </a:ln>
                  <a:solidFill>
                    <a:srgbClr val="80808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NAT</a:t>
              </a:r>
              <a:endParaRPr lang="ko-KR" altLang="en-US" sz="36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80808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3" name="TextBox 172"/>
          <p:cNvSpPr txBox="1"/>
          <p:nvPr/>
        </p:nvSpPr>
        <p:spPr>
          <a:xfrm>
            <a:off x="457129" y="5277664"/>
            <a:ext cx="10214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192.168.1.10/24</a:t>
            </a:r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" name="TextBox 173"/>
          <p:cNvSpPr txBox="1"/>
          <p:nvPr/>
        </p:nvSpPr>
        <p:spPr>
          <a:xfrm>
            <a:off x="7783630" y="5358161"/>
            <a:ext cx="10214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192.168.2.20/24</a:t>
            </a:r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75" name="Group 19"/>
          <p:cNvGrpSpPr>
            <a:grpSpLocks/>
          </p:cNvGrpSpPr>
          <p:nvPr/>
        </p:nvGrpSpPr>
        <p:grpSpPr bwMode="auto">
          <a:xfrm>
            <a:off x="2847443" y="4749377"/>
            <a:ext cx="720590" cy="276802"/>
            <a:chOff x="3682" y="2312"/>
            <a:chExt cx="786" cy="497"/>
          </a:xfrm>
        </p:grpSpPr>
        <p:sp>
          <p:nvSpPr>
            <p:cNvPr id="176" name="AutoShape 20"/>
            <p:cNvSpPr>
              <a:spLocks noChangeArrowheads="1"/>
            </p:cNvSpPr>
            <p:nvPr/>
          </p:nvSpPr>
          <p:spPr bwMode="auto">
            <a:xfrm>
              <a:off x="3683" y="2317"/>
              <a:ext cx="785" cy="492"/>
            </a:xfrm>
            <a:prstGeom prst="can">
              <a:avLst>
                <a:gd name="adj" fmla="val 50000"/>
              </a:avLst>
            </a:prstGeom>
            <a:gradFill rotWithShape="1">
              <a:gsLst>
                <a:gs pos="0">
                  <a:srgbClr val="DDDDDD"/>
                </a:gs>
                <a:gs pos="50000">
                  <a:srgbClr val="DDDDDD">
                    <a:gamma/>
                    <a:tint val="9020"/>
                    <a:invGamma/>
                  </a:srgbClr>
                </a:gs>
                <a:gs pos="100000">
                  <a:srgbClr val="DDDDDD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7" name="WordArt 21"/>
            <p:cNvSpPr>
              <a:spLocks noChangeArrowheads="1" noChangeShapeType="1" noTextEdit="1"/>
            </p:cNvSpPr>
            <p:nvPr/>
          </p:nvSpPr>
          <p:spPr bwMode="auto">
            <a:xfrm>
              <a:off x="3719" y="2513"/>
              <a:ext cx="717" cy="249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altLang="ko-KR" sz="5400" kern="10" dirty="0" smtClean="0">
                  <a:ln w="9525">
                    <a:solidFill>
                      <a:srgbClr val="808080"/>
                    </a:solidFill>
                    <a:round/>
                    <a:headEnd/>
                    <a:tailEnd/>
                  </a:ln>
                  <a:solidFill>
                    <a:srgbClr val="777777"/>
                  </a:solidFill>
                  <a:latin typeface="Times New Roman" pitchFamily="18" charset="0"/>
                  <a:ea typeface="Tahoma"/>
                  <a:cs typeface="Times New Roman" pitchFamily="18" charset="0"/>
                </a:rPr>
                <a:t>ROUTER</a:t>
              </a:r>
              <a:endParaRPr lang="ko-KR" altLang="en-US" sz="54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777777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8" name="Oval 22"/>
            <p:cNvSpPr>
              <a:spLocks noChangeArrowheads="1"/>
            </p:cNvSpPr>
            <p:nvPr/>
          </p:nvSpPr>
          <p:spPr bwMode="auto">
            <a:xfrm>
              <a:off x="3682" y="2312"/>
              <a:ext cx="786" cy="249"/>
            </a:xfrm>
            <a:prstGeom prst="ellipse">
              <a:avLst/>
            </a:pr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33333"/>
                    <a:invGamma/>
                  </a:srgbClr>
                </a:gs>
              </a:gsLst>
              <a:lin ang="189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9" name="AutoShape 23"/>
            <p:cNvSpPr>
              <a:spLocks noChangeArrowheads="1"/>
            </p:cNvSpPr>
            <p:nvPr/>
          </p:nvSpPr>
          <p:spPr bwMode="auto">
            <a:xfrm rot="5400000">
              <a:off x="4082" y="2198"/>
              <a:ext cx="115" cy="485"/>
            </a:xfrm>
            <a:custGeom>
              <a:avLst/>
              <a:gdLst>
                <a:gd name="T0" fmla="*/ 38 w 21600"/>
                <a:gd name="T1" fmla="*/ 14 h 21600"/>
                <a:gd name="T2" fmla="*/ 19 w 21600"/>
                <a:gd name="T3" fmla="*/ 353 h 21600"/>
                <a:gd name="T4" fmla="*/ 46 w 21600"/>
                <a:gd name="T5" fmla="*/ 103 h 21600"/>
                <a:gd name="T6" fmla="*/ 129 w 21600"/>
                <a:gd name="T7" fmla="*/ 217 h 21600"/>
                <a:gd name="T8" fmla="*/ 106 w 21600"/>
                <a:gd name="T9" fmla="*/ 333 h 21600"/>
                <a:gd name="T10" fmla="*/ 78 w 21600"/>
                <a:gd name="T11" fmla="*/ 235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93 w 21600"/>
                <a:gd name="T19" fmla="*/ 3162 h 21600"/>
                <a:gd name="T20" fmla="*/ 18407 w 21600"/>
                <a:gd name="T21" fmla="*/ 18438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7370" y="10242"/>
                  </a:moveTo>
                  <a:cubicBezTo>
                    <a:pt x="17080" y="6828"/>
                    <a:pt x="14225" y="4206"/>
                    <a:pt x="10800" y="4206"/>
                  </a:cubicBezTo>
                  <a:cubicBezTo>
                    <a:pt x="7158" y="4206"/>
                    <a:pt x="4206" y="7158"/>
                    <a:pt x="4206" y="10800"/>
                  </a:cubicBezTo>
                  <a:cubicBezTo>
                    <a:pt x="4205" y="12133"/>
                    <a:pt x="4610" y="13436"/>
                    <a:pt x="5366" y="14535"/>
                  </a:cubicBezTo>
                  <a:lnTo>
                    <a:pt x="1900" y="16918"/>
                  </a:lnTo>
                  <a:cubicBezTo>
                    <a:pt x="662" y="15117"/>
                    <a:pt x="0" y="12984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410" y="-1"/>
                    <a:pt x="21086" y="4295"/>
                    <a:pt x="21561" y="9886"/>
                  </a:cubicBezTo>
                  <a:lnTo>
                    <a:pt x="24251" y="9657"/>
                  </a:lnTo>
                  <a:lnTo>
                    <a:pt x="19871" y="14849"/>
                  </a:lnTo>
                  <a:lnTo>
                    <a:pt x="14680" y="10470"/>
                  </a:lnTo>
                  <a:lnTo>
                    <a:pt x="17370" y="10242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>
              <a:outerShdw dist="25400" dir="5400000" algn="ctr" rotWithShape="0">
                <a:srgbClr val="1C1C1C">
                  <a:alpha val="50000"/>
                </a:srgbClr>
              </a:outerShdw>
            </a:effectLst>
          </p:spPr>
          <p:txBody>
            <a:bodyPr rot="10800000" vert="eaVert" wrap="none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0" name="AutoShape 24"/>
            <p:cNvSpPr>
              <a:spLocks noChangeArrowheads="1"/>
            </p:cNvSpPr>
            <p:nvPr/>
          </p:nvSpPr>
          <p:spPr bwMode="auto">
            <a:xfrm rot="-5400000">
              <a:off x="3973" y="2157"/>
              <a:ext cx="113" cy="495"/>
            </a:xfrm>
            <a:custGeom>
              <a:avLst/>
              <a:gdLst>
                <a:gd name="T0" fmla="*/ 37 w 21600"/>
                <a:gd name="T1" fmla="*/ 14 h 21600"/>
                <a:gd name="T2" fmla="*/ 19 w 21600"/>
                <a:gd name="T3" fmla="*/ 360 h 21600"/>
                <a:gd name="T4" fmla="*/ 45 w 21600"/>
                <a:gd name="T5" fmla="*/ 105 h 21600"/>
                <a:gd name="T6" fmla="*/ 127 w 21600"/>
                <a:gd name="T7" fmla="*/ 221 h 21600"/>
                <a:gd name="T8" fmla="*/ 104 w 21600"/>
                <a:gd name="T9" fmla="*/ 340 h 21600"/>
                <a:gd name="T10" fmla="*/ 77 w 21600"/>
                <a:gd name="T11" fmla="*/ 24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250 w 21600"/>
                <a:gd name="T19" fmla="*/ 3142 h 21600"/>
                <a:gd name="T20" fmla="*/ 18350 w 21600"/>
                <a:gd name="T21" fmla="*/ 18458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7370" y="10242"/>
                  </a:moveTo>
                  <a:cubicBezTo>
                    <a:pt x="17080" y="6828"/>
                    <a:pt x="14225" y="4206"/>
                    <a:pt x="10800" y="4206"/>
                  </a:cubicBezTo>
                  <a:cubicBezTo>
                    <a:pt x="7158" y="4206"/>
                    <a:pt x="4206" y="7158"/>
                    <a:pt x="4206" y="10800"/>
                  </a:cubicBezTo>
                  <a:cubicBezTo>
                    <a:pt x="4205" y="12133"/>
                    <a:pt x="4610" y="13436"/>
                    <a:pt x="5366" y="14535"/>
                  </a:cubicBezTo>
                  <a:lnTo>
                    <a:pt x="1900" y="16918"/>
                  </a:lnTo>
                  <a:cubicBezTo>
                    <a:pt x="662" y="15117"/>
                    <a:pt x="0" y="12984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410" y="-1"/>
                    <a:pt x="21086" y="4295"/>
                    <a:pt x="21561" y="9886"/>
                  </a:cubicBezTo>
                  <a:lnTo>
                    <a:pt x="24251" y="9657"/>
                  </a:lnTo>
                  <a:lnTo>
                    <a:pt x="19871" y="14849"/>
                  </a:lnTo>
                  <a:lnTo>
                    <a:pt x="14680" y="10470"/>
                  </a:lnTo>
                  <a:lnTo>
                    <a:pt x="17370" y="10242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>
              <a:outerShdw dist="25400" dir="5400000" algn="ctr" rotWithShape="0">
                <a:srgbClr val="1C1C1C">
                  <a:alpha val="50000"/>
                </a:srgbClr>
              </a:outerShdw>
            </a:effectLst>
          </p:spPr>
          <p:txBody>
            <a:bodyPr vert="eaVert" wrap="none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81" name="Group 19"/>
          <p:cNvGrpSpPr>
            <a:grpSpLocks/>
          </p:cNvGrpSpPr>
          <p:nvPr/>
        </p:nvGrpSpPr>
        <p:grpSpPr bwMode="auto">
          <a:xfrm>
            <a:off x="5746989" y="4730523"/>
            <a:ext cx="720590" cy="276802"/>
            <a:chOff x="3682" y="2312"/>
            <a:chExt cx="786" cy="497"/>
          </a:xfrm>
        </p:grpSpPr>
        <p:sp>
          <p:nvSpPr>
            <p:cNvPr id="182" name="AutoShape 20"/>
            <p:cNvSpPr>
              <a:spLocks noChangeArrowheads="1"/>
            </p:cNvSpPr>
            <p:nvPr/>
          </p:nvSpPr>
          <p:spPr bwMode="auto">
            <a:xfrm>
              <a:off x="3683" y="2317"/>
              <a:ext cx="785" cy="492"/>
            </a:xfrm>
            <a:prstGeom prst="can">
              <a:avLst>
                <a:gd name="adj" fmla="val 50000"/>
              </a:avLst>
            </a:prstGeom>
            <a:gradFill rotWithShape="1">
              <a:gsLst>
                <a:gs pos="0">
                  <a:srgbClr val="DDDDDD"/>
                </a:gs>
                <a:gs pos="50000">
                  <a:srgbClr val="DDDDDD">
                    <a:gamma/>
                    <a:tint val="9020"/>
                    <a:invGamma/>
                  </a:srgbClr>
                </a:gs>
                <a:gs pos="100000">
                  <a:srgbClr val="DDDDDD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3" name="WordArt 21"/>
            <p:cNvSpPr>
              <a:spLocks noChangeArrowheads="1" noChangeShapeType="1" noTextEdit="1"/>
            </p:cNvSpPr>
            <p:nvPr/>
          </p:nvSpPr>
          <p:spPr bwMode="auto">
            <a:xfrm>
              <a:off x="3719" y="2513"/>
              <a:ext cx="717" cy="249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altLang="ko-KR" sz="5400" kern="10" dirty="0" smtClean="0">
                  <a:ln w="9525">
                    <a:solidFill>
                      <a:srgbClr val="808080"/>
                    </a:solidFill>
                    <a:round/>
                    <a:headEnd/>
                    <a:tailEnd/>
                  </a:ln>
                  <a:solidFill>
                    <a:srgbClr val="777777"/>
                  </a:solidFill>
                  <a:latin typeface="Times New Roman" pitchFamily="18" charset="0"/>
                  <a:ea typeface="Tahoma"/>
                  <a:cs typeface="Times New Roman" pitchFamily="18" charset="0"/>
                </a:rPr>
                <a:t>ROUTER</a:t>
              </a:r>
              <a:endParaRPr lang="ko-KR" altLang="en-US" sz="54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777777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4" name="Oval 22"/>
            <p:cNvSpPr>
              <a:spLocks noChangeArrowheads="1"/>
            </p:cNvSpPr>
            <p:nvPr/>
          </p:nvSpPr>
          <p:spPr bwMode="auto">
            <a:xfrm>
              <a:off x="3682" y="2312"/>
              <a:ext cx="786" cy="249"/>
            </a:xfrm>
            <a:prstGeom prst="ellipse">
              <a:avLst/>
            </a:pr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33333"/>
                    <a:invGamma/>
                  </a:srgbClr>
                </a:gs>
              </a:gsLst>
              <a:lin ang="189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5" name="AutoShape 23"/>
            <p:cNvSpPr>
              <a:spLocks noChangeArrowheads="1"/>
            </p:cNvSpPr>
            <p:nvPr/>
          </p:nvSpPr>
          <p:spPr bwMode="auto">
            <a:xfrm rot="5400000">
              <a:off x="4082" y="2198"/>
              <a:ext cx="115" cy="485"/>
            </a:xfrm>
            <a:custGeom>
              <a:avLst/>
              <a:gdLst>
                <a:gd name="T0" fmla="*/ 38 w 21600"/>
                <a:gd name="T1" fmla="*/ 14 h 21600"/>
                <a:gd name="T2" fmla="*/ 19 w 21600"/>
                <a:gd name="T3" fmla="*/ 353 h 21600"/>
                <a:gd name="T4" fmla="*/ 46 w 21600"/>
                <a:gd name="T5" fmla="*/ 103 h 21600"/>
                <a:gd name="T6" fmla="*/ 129 w 21600"/>
                <a:gd name="T7" fmla="*/ 217 h 21600"/>
                <a:gd name="T8" fmla="*/ 106 w 21600"/>
                <a:gd name="T9" fmla="*/ 333 h 21600"/>
                <a:gd name="T10" fmla="*/ 78 w 21600"/>
                <a:gd name="T11" fmla="*/ 235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93 w 21600"/>
                <a:gd name="T19" fmla="*/ 3162 h 21600"/>
                <a:gd name="T20" fmla="*/ 18407 w 21600"/>
                <a:gd name="T21" fmla="*/ 18438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7370" y="10242"/>
                  </a:moveTo>
                  <a:cubicBezTo>
                    <a:pt x="17080" y="6828"/>
                    <a:pt x="14225" y="4206"/>
                    <a:pt x="10800" y="4206"/>
                  </a:cubicBezTo>
                  <a:cubicBezTo>
                    <a:pt x="7158" y="4206"/>
                    <a:pt x="4206" y="7158"/>
                    <a:pt x="4206" y="10800"/>
                  </a:cubicBezTo>
                  <a:cubicBezTo>
                    <a:pt x="4205" y="12133"/>
                    <a:pt x="4610" y="13436"/>
                    <a:pt x="5366" y="14535"/>
                  </a:cubicBezTo>
                  <a:lnTo>
                    <a:pt x="1900" y="16918"/>
                  </a:lnTo>
                  <a:cubicBezTo>
                    <a:pt x="662" y="15117"/>
                    <a:pt x="0" y="12984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410" y="-1"/>
                    <a:pt x="21086" y="4295"/>
                    <a:pt x="21561" y="9886"/>
                  </a:cubicBezTo>
                  <a:lnTo>
                    <a:pt x="24251" y="9657"/>
                  </a:lnTo>
                  <a:lnTo>
                    <a:pt x="19871" y="14849"/>
                  </a:lnTo>
                  <a:lnTo>
                    <a:pt x="14680" y="10470"/>
                  </a:lnTo>
                  <a:lnTo>
                    <a:pt x="17370" y="10242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>
              <a:outerShdw dist="25400" dir="5400000" algn="ctr" rotWithShape="0">
                <a:srgbClr val="1C1C1C">
                  <a:alpha val="50000"/>
                </a:srgbClr>
              </a:outerShdw>
            </a:effectLst>
          </p:spPr>
          <p:txBody>
            <a:bodyPr rot="10800000" vert="eaVert" wrap="none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6" name="AutoShape 24"/>
            <p:cNvSpPr>
              <a:spLocks noChangeArrowheads="1"/>
            </p:cNvSpPr>
            <p:nvPr/>
          </p:nvSpPr>
          <p:spPr bwMode="auto">
            <a:xfrm rot="-5400000">
              <a:off x="3973" y="2157"/>
              <a:ext cx="113" cy="495"/>
            </a:xfrm>
            <a:custGeom>
              <a:avLst/>
              <a:gdLst>
                <a:gd name="T0" fmla="*/ 37 w 21600"/>
                <a:gd name="T1" fmla="*/ 14 h 21600"/>
                <a:gd name="T2" fmla="*/ 19 w 21600"/>
                <a:gd name="T3" fmla="*/ 360 h 21600"/>
                <a:gd name="T4" fmla="*/ 45 w 21600"/>
                <a:gd name="T5" fmla="*/ 105 h 21600"/>
                <a:gd name="T6" fmla="*/ 127 w 21600"/>
                <a:gd name="T7" fmla="*/ 221 h 21600"/>
                <a:gd name="T8" fmla="*/ 104 w 21600"/>
                <a:gd name="T9" fmla="*/ 340 h 21600"/>
                <a:gd name="T10" fmla="*/ 77 w 21600"/>
                <a:gd name="T11" fmla="*/ 24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250 w 21600"/>
                <a:gd name="T19" fmla="*/ 3142 h 21600"/>
                <a:gd name="T20" fmla="*/ 18350 w 21600"/>
                <a:gd name="T21" fmla="*/ 18458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7370" y="10242"/>
                  </a:moveTo>
                  <a:cubicBezTo>
                    <a:pt x="17080" y="6828"/>
                    <a:pt x="14225" y="4206"/>
                    <a:pt x="10800" y="4206"/>
                  </a:cubicBezTo>
                  <a:cubicBezTo>
                    <a:pt x="7158" y="4206"/>
                    <a:pt x="4206" y="7158"/>
                    <a:pt x="4206" y="10800"/>
                  </a:cubicBezTo>
                  <a:cubicBezTo>
                    <a:pt x="4205" y="12133"/>
                    <a:pt x="4610" y="13436"/>
                    <a:pt x="5366" y="14535"/>
                  </a:cubicBezTo>
                  <a:lnTo>
                    <a:pt x="1900" y="16918"/>
                  </a:lnTo>
                  <a:cubicBezTo>
                    <a:pt x="662" y="15117"/>
                    <a:pt x="0" y="12984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410" y="-1"/>
                    <a:pt x="21086" y="4295"/>
                    <a:pt x="21561" y="9886"/>
                  </a:cubicBezTo>
                  <a:lnTo>
                    <a:pt x="24251" y="9657"/>
                  </a:lnTo>
                  <a:lnTo>
                    <a:pt x="19871" y="14849"/>
                  </a:lnTo>
                  <a:lnTo>
                    <a:pt x="14680" y="10470"/>
                  </a:lnTo>
                  <a:lnTo>
                    <a:pt x="17370" y="10242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>
              <a:outerShdw dist="25400" dir="5400000" algn="ctr" rotWithShape="0">
                <a:srgbClr val="1C1C1C">
                  <a:alpha val="50000"/>
                </a:srgbClr>
              </a:outerShdw>
            </a:effectLst>
          </p:spPr>
          <p:txBody>
            <a:bodyPr vert="eaVert" wrap="none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87" name="그룹 186"/>
          <p:cNvGrpSpPr/>
          <p:nvPr/>
        </p:nvGrpSpPr>
        <p:grpSpPr>
          <a:xfrm>
            <a:off x="6984202" y="4714778"/>
            <a:ext cx="594318" cy="301505"/>
            <a:chOff x="1993293" y="2564030"/>
            <a:chExt cx="807572" cy="288942"/>
          </a:xfrm>
        </p:grpSpPr>
        <p:sp>
          <p:nvSpPr>
            <p:cNvPr id="188" name="AutoShape 26"/>
            <p:cNvSpPr>
              <a:spLocks noChangeArrowheads="1"/>
            </p:cNvSpPr>
            <p:nvPr/>
          </p:nvSpPr>
          <p:spPr bwMode="auto">
            <a:xfrm>
              <a:off x="1993293" y="2564030"/>
              <a:ext cx="807572" cy="288942"/>
            </a:xfrm>
            <a:prstGeom prst="cube">
              <a:avLst>
                <a:gd name="adj" fmla="val 55426"/>
              </a:avLst>
            </a:prstGeom>
            <a:gradFill rotWithShape="1">
              <a:gsLst>
                <a:gs pos="0">
                  <a:srgbClr val="EAEAEA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777777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9" name="WordArt 28"/>
            <p:cNvSpPr>
              <a:spLocks noChangeArrowheads="1" noChangeShapeType="1" noTextEdit="1"/>
            </p:cNvSpPr>
            <p:nvPr/>
          </p:nvSpPr>
          <p:spPr bwMode="auto">
            <a:xfrm>
              <a:off x="2009917" y="2728044"/>
              <a:ext cx="584994" cy="12492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ko-KR" sz="3600" kern="10" dirty="0" smtClean="0">
                  <a:ln w="9525">
                    <a:solidFill>
                      <a:srgbClr val="808080"/>
                    </a:solidFill>
                    <a:round/>
                    <a:headEnd/>
                    <a:tailEnd/>
                  </a:ln>
                  <a:solidFill>
                    <a:srgbClr val="80808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NAT</a:t>
              </a:r>
              <a:endParaRPr lang="ko-KR" altLang="en-US" sz="36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80808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76083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18</a:t>
            </a:fld>
            <a:endParaRPr lang="ko-KR" altLang="en-US"/>
          </a:p>
        </p:txBody>
      </p:sp>
      <p:cxnSp>
        <p:nvCxnSpPr>
          <p:cNvPr id="203" name="직선 화살표 연결선 202"/>
          <p:cNvCxnSpPr/>
          <p:nvPr/>
        </p:nvCxnSpPr>
        <p:spPr>
          <a:xfrm>
            <a:off x="252178" y="1158073"/>
            <a:ext cx="8258706" cy="4341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구름 203"/>
          <p:cNvSpPr/>
          <p:nvPr/>
        </p:nvSpPr>
        <p:spPr>
          <a:xfrm>
            <a:off x="3994286" y="845439"/>
            <a:ext cx="1381758" cy="636217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5" name="Group 172"/>
          <p:cNvGrpSpPr>
            <a:grpSpLocks/>
          </p:cNvGrpSpPr>
          <p:nvPr/>
        </p:nvGrpSpPr>
        <p:grpSpPr bwMode="auto">
          <a:xfrm>
            <a:off x="199954" y="880817"/>
            <a:ext cx="672801" cy="644597"/>
            <a:chOff x="1460" y="1680"/>
            <a:chExt cx="971" cy="1058"/>
          </a:xfrm>
        </p:grpSpPr>
        <p:grpSp>
          <p:nvGrpSpPr>
            <p:cNvPr id="206" name="Group 173"/>
            <p:cNvGrpSpPr>
              <a:grpSpLocks/>
            </p:cNvGrpSpPr>
            <p:nvPr/>
          </p:nvGrpSpPr>
          <p:grpSpPr bwMode="auto">
            <a:xfrm rot="20775601" flipH="1">
              <a:off x="2221" y="2374"/>
              <a:ext cx="210" cy="162"/>
              <a:chOff x="3499" y="2336"/>
              <a:chExt cx="1848" cy="1427"/>
            </a:xfrm>
          </p:grpSpPr>
          <p:sp>
            <p:nvSpPr>
              <p:cNvPr id="255" name="Freeform 174"/>
              <p:cNvSpPr>
                <a:spLocks/>
              </p:cNvSpPr>
              <p:nvPr/>
            </p:nvSpPr>
            <p:spPr bwMode="auto">
              <a:xfrm rot="20419783" flipH="1">
                <a:off x="4677" y="2330"/>
                <a:ext cx="783" cy="460"/>
              </a:xfrm>
              <a:custGeom>
                <a:avLst/>
                <a:gdLst/>
                <a:ahLst/>
                <a:cxnLst>
                  <a:cxn ang="0">
                    <a:pos x="1224" y="755"/>
                  </a:cxn>
                  <a:cxn ang="0">
                    <a:pos x="1112" y="716"/>
                  </a:cxn>
                  <a:cxn ang="0">
                    <a:pos x="1051" y="693"/>
                  </a:cxn>
                  <a:cxn ang="0">
                    <a:pos x="1006" y="671"/>
                  </a:cxn>
                  <a:cxn ang="0">
                    <a:pos x="984" y="660"/>
                  </a:cxn>
                  <a:cxn ang="0">
                    <a:pos x="939" y="626"/>
                  </a:cxn>
                  <a:cxn ang="0">
                    <a:pos x="894" y="548"/>
                  </a:cxn>
                  <a:cxn ang="0">
                    <a:pos x="889" y="531"/>
                  </a:cxn>
                  <a:cxn ang="0">
                    <a:pos x="850" y="509"/>
                  </a:cxn>
                  <a:cxn ang="0">
                    <a:pos x="799" y="481"/>
                  </a:cxn>
                  <a:cxn ang="0">
                    <a:pos x="704" y="453"/>
                  </a:cxn>
                  <a:cxn ang="0">
                    <a:pos x="419" y="442"/>
                  </a:cxn>
                  <a:cxn ang="0">
                    <a:pos x="330" y="408"/>
                  </a:cxn>
                  <a:cxn ang="0">
                    <a:pos x="212" y="279"/>
                  </a:cxn>
                  <a:cxn ang="0">
                    <a:pos x="145" y="134"/>
                  </a:cxn>
                  <a:cxn ang="0">
                    <a:pos x="78" y="39"/>
                  </a:cxn>
                  <a:cxn ang="0">
                    <a:pos x="0" y="0"/>
                  </a:cxn>
                </a:cxnLst>
                <a:rect l="0" t="0" r="r" b="b"/>
                <a:pathLst>
                  <a:path w="1224" h="755">
                    <a:moveTo>
                      <a:pt x="1224" y="755"/>
                    </a:moveTo>
                    <a:cubicBezTo>
                      <a:pt x="1190" y="729"/>
                      <a:pt x="1154" y="724"/>
                      <a:pt x="1112" y="716"/>
                    </a:cubicBezTo>
                    <a:cubicBezTo>
                      <a:pt x="1091" y="705"/>
                      <a:pt x="1072" y="702"/>
                      <a:pt x="1051" y="693"/>
                    </a:cubicBezTo>
                    <a:cubicBezTo>
                      <a:pt x="1036" y="686"/>
                      <a:pt x="1021" y="678"/>
                      <a:pt x="1006" y="671"/>
                    </a:cubicBezTo>
                    <a:cubicBezTo>
                      <a:pt x="999" y="667"/>
                      <a:pt x="984" y="660"/>
                      <a:pt x="984" y="660"/>
                    </a:cubicBezTo>
                    <a:cubicBezTo>
                      <a:pt x="971" y="646"/>
                      <a:pt x="939" y="626"/>
                      <a:pt x="939" y="626"/>
                    </a:cubicBezTo>
                    <a:cubicBezTo>
                      <a:pt x="923" y="602"/>
                      <a:pt x="906" y="575"/>
                      <a:pt x="894" y="548"/>
                    </a:cubicBezTo>
                    <a:cubicBezTo>
                      <a:pt x="892" y="543"/>
                      <a:pt x="893" y="536"/>
                      <a:pt x="889" y="531"/>
                    </a:cubicBezTo>
                    <a:cubicBezTo>
                      <a:pt x="884" y="524"/>
                      <a:pt x="855" y="512"/>
                      <a:pt x="850" y="509"/>
                    </a:cubicBezTo>
                    <a:cubicBezTo>
                      <a:pt x="802" y="480"/>
                      <a:pt x="833" y="491"/>
                      <a:pt x="799" y="481"/>
                    </a:cubicBezTo>
                    <a:cubicBezTo>
                      <a:pt x="764" y="457"/>
                      <a:pt x="751" y="457"/>
                      <a:pt x="704" y="453"/>
                    </a:cubicBezTo>
                    <a:cubicBezTo>
                      <a:pt x="606" y="457"/>
                      <a:pt x="515" y="459"/>
                      <a:pt x="419" y="442"/>
                    </a:cubicBezTo>
                    <a:cubicBezTo>
                      <a:pt x="391" y="426"/>
                      <a:pt x="360" y="419"/>
                      <a:pt x="330" y="408"/>
                    </a:cubicBezTo>
                    <a:cubicBezTo>
                      <a:pt x="287" y="368"/>
                      <a:pt x="245" y="328"/>
                      <a:pt x="212" y="279"/>
                    </a:cubicBezTo>
                    <a:cubicBezTo>
                      <a:pt x="183" y="235"/>
                      <a:pt x="168" y="181"/>
                      <a:pt x="145" y="134"/>
                    </a:cubicBezTo>
                    <a:cubicBezTo>
                      <a:pt x="128" y="100"/>
                      <a:pt x="99" y="71"/>
                      <a:pt x="78" y="39"/>
                    </a:cubicBezTo>
                    <a:cubicBezTo>
                      <a:pt x="70" y="27"/>
                      <a:pt x="15" y="7"/>
                      <a:pt x="0" y="0"/>
                    </a:cubicBezTo>
                  </a:path>
                </a:pathLst>
              </a:custGeom>
              <a:noFill/>
              <a:ln w="12700" cmpd="sng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6" name="Freeform 175"/>
              <p:cNvSpPr>
                <a:spLocks/>
              </p:cNvSpPr>
              <p:nvPr/>
            </p:nvSpPr>
            <p:spPr bwMode="auto">
              <a:xfrm rot="-1180217">
                <a:off x="3532" y="2934"/>
                <a:ext cx="1464" cy="698"/>
              </a:xfrm>
              <a:custGeom>
                <a:avLst/>
                <a:gdLst/>
                <a:ahLst/>
                <a:cxnLst>
                  <a:cxn ang="0">
                    <a:pos x="886" y="33"/>
                  </a:cxn>
                  <a:cxn ang="0">
                    <a:pos x="937" y="70"/>
                  </a:cxn>
                  <a:cxn ang="0">
                    <a:pos x="971" y="130"/>
                  </a:cxn>
                  <a:cxn ang="0">
                    <a:pos x="967" y="218"/>
                  </a:cxn>
                  <a:cxn ang="0">
                    <a:pos x="882" y="261"/>
                  </a:cxn>
                  <a:cxn ang="0">
                    <a:pos x="791" y="294"/>
                  </a:cxn>
                  <a:cxn ang="0">
                    <a:pos x="665" y="382"/>
                  </a:cxn>
                  <a:cxn ang="0">
                    <a:pos x="519" y="522"/>
                  </a:cxn>
                  <a:cxn ang="0">
                    <a:pos x="397" y="542"/>
                  </a:cxn>
                  <a:cxn ang="0">
                    <a:pos x="298" y="550"/>
                  </a:cxn>
                  <a:cxn ang="0">
                    <a:pos x="155" y="522"/>
                  </a:cxn>
                  <a:cxn ang="0">
                    <a:pos x="34" y="459"/>
                  </a:cxn>
                  <a:cxn ang="0">
                    <a:pos x="0" y="393"/>
                  </a:cxn>
                  <a:cxn ang="0">
                    <a:pos x="11" y="315"/>
                  </a:cxn>
                  <a:cxn ang="0">
                    <a:pos x="63" y="210"/>
                  </a:cxn>
                  <a:cxn ang="0">
                    <a:pos x="142" y="147"/>
                  </a:cxn>
                  <a:cxn ang="0">
                    <a:pos x="246" y="89"/>
                  </a:cxn>
                  <a:cxn ang="0">
                    <a:pos x="445" y="21"/>
                  </a:cxn>
                  <a:cxn ang="0">
                    <a:pos x="634" y="0"/>
                  </a:cxn>
                  <a:cxn ang="0">
                    <a:pos x="794" y="13"/>
                  </a:cxn>
                  <a:cxn ang="0">
                    <a:pos x="886" y="33"/>
                  </a:cxn>
                </a:cxnLst>
                <a:rect l="0" t="0" r="r" b="b"/>
                <a:pathLst>
                  <a:path w="971" h="550">
                    <a:moveTo>
                      <a:pt x="886" y="33"/>
                    </a:moveTo>
                    <a:lnTo>
                      <a:pt x="937" y="70"/>
                    </a:lnTo>
                    <a:lnTo>
                      <a:pt x="971" y="130"/>
                    </a:lnTo>
                    <a:lnTo>
                      <a:pt x="967" y="218"/>
                    </a:lnTo>
                    <a:lnTo>
                      <a:pt x="882" y="261"/>
                    </a:lnTo>
                    <a:lnTo>
                      <a:pt x="791" y="294"/>
                    </a:lnTo>
                    <a:lnTo>
                      <a:pt x="665" y="382"/>
                    </a:lnTo>
                    <a:lnTo>
                      <a:pt x="519" y="522"/>
                    </a:lnTo>
                    <a:lnTo>
                      <a:pt x="397" y="542"/>
                    </a:lnTo>
                    <a:lnTo>
                      <a:pt x="298" y="550"/>
                    </a:lnTo>
                    <a:lnTo>
                      <a:pt x="155" y="522"/>
                    </a:lnTo>
                    <a:lnTo>
                      <a:pt x="34" y="459"/>
                    </a:lnTo>
                    <a:lnTo>
                      <a:pt x="0" y="393"/>
                    </a:lnTo>
                    <a:lnTo>
                      <a:pt x="11" y="315"/>
                    </a:lnTo>
                    <a:lnTo>
                      <a:pt x="63" y="210"/>
                    </a:lnTo>
                    <a:lnTo>
                      <a:pt x="142" y="147"/>
                    </a:lnTo>
                    <a:lnTo>
                      <a:pt x="246" y="89"/>
                    </a:lnTo>
                    <a:lnTo>
                      <a:pt x="445" y="21"/>
                    </a:lnTo>
                    <a:lnTo>
                      <a:pt x="634" y="0"/>
                    </a:lnTo>
                    <a:lnTo>
                      <a:pt x="794" y="13"/>
                    </a:lnTo>
                    <a:lnTo>
                      <a:pt x="886" y="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EAEAEA"/>
                  </a:gs>
                  <a:gs pos="50000">
                    <a:srgbClr val="FFFFFF"/>
                  </a:gs>
                  <a:gs pos="100000">
                    <a:srgbClr val="EAEAEA"/>
                  </a:gs>
                </a:gsLst>
                <a:lin ang="2700000" scaled="1"/>
              </a:gradFill>
              <a:ln w="9525">
                <a:solidFill>
                  <a:srgbClr val="808080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7" name="Freeform 176"/>
              <p:cNvSpPr>
                <a:spLocks/>
              </p:cNvSpPr>
              <p:nvPr/>
            </p:nvSpPr>
            <p:spPr bwMode="auto">
              <a:xfrm rot="20419783" flipH="1">
                <a:off x="3661" y="3116"/>
                <a:ext cx="1413" cy="52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6" y="118"/>
                  </a:cxn>
                  <a:cxn ang="0">
                    <a:pos x="319" y="302"/>
                  </a:cxn>
                  <a:cxn ang="0">
                    <a:pos x="604" y="448"/>
                  </a:cxn>
                  <a:cxn ang="0">
                    <a:pos x="867" y="526"/>
                  </a:cxn>
                  <a:cxn ang="0">
                    <a:pos x="1091" y="504"/>
                  </a:cxn>
                  <a:cxn ang="0">
                    <a:pos x="1270" y="448"/>
                  </a:cxn>
                  <a:cxn ang="0">
                    <a:pos x="1432" y="353"/>
                  </a:cxn>
                  <a:cxn ang="0">
                    <a:pos x="1253" y="431"/>
                  </a:cxn>
                  <a:cxn ang="0">
                    <a:pos x="1108" y="470"/>
                  </a:cxn>
                  <a:cxn ang="0">
                    <a:pos x="951" y="470"/>
                  </a:cxn>
                  <a:cxn ang="0">
                    <a:pos x="789" y="453"/>
                  </a:cxn>
                  <a:cxn ang="0">
                    <a:pos x="699" y="420"/>
                  </a:cxn>
                  <a:cxn ang="0">
                    <a:pos x="560" y="330"/>
                  </a:cxn>
                  <a:cxn ang="0">
                    <a:pos x="437" y="213"/>
                  </a:cxn>
                  <a:cxn ang="0">
                    <a:pos x="274" y="129"/>
                  </a:cxn>
                  <a:cxn ang="0">
                    <a:pos x="140" y="73"/>
                  </a:cxn>
                  <a:cxn ang="0">
                    <a:pos x="0" y="0"/>
                  </a:cxn>
                </a:cxnLst>
                <a:rect l="0" t="0" r="r" b="b"/>
                <a:pathLst>
                  <a:path w="1432" h="526">
                    <a:moveTo>
                      <a:pt x="0" y="0"/>
                    </a:moveTo>
                    <a:lnTo>
                      <a:pt x="56" y="118"/>
                    </a:lnTo>
                    <a:lnTo>
                      <a:pt x="319" y="302"/>
                    </a:lnTo>
                    <a:lnTo>
                      <a:pt x="604" y="448"/>
                    </a:lnTo>
                    <a:lnTo>
                      <a:pt x="867" y="526"/>
                    </a:lnTo>
                    <a:lnTo>
                      <a:pt x="1091" y="504"/>
                    </a:lnTo>
                    <a:lnTo>
                      <a:pt x="1270" y="448"/>
                    </a:lnTo>
                    <a:lnTo>
                      <a:pt x="1432" y="353"/>
                    </a:lnTo>
                    <a:lnTo>
                      <a:pt x="1253" y="431"/>
                    </a:lnTo>
                    <a:lnTo>
                      <a:pt x="1108" y="470"/>
                    </a:lnTo>
                    <a:lnTo>
                      <a:pt x="951" y="470"/>
                    </a:lnTo>
                    <a:lnTo>
                      <a:pt x="789" y="453"/>
                    </a:lnTo>
                    <a:lnTo>
                      <a:pt x="699" y="420"/>
                    </a:lnTo>
                    <a:lnTo>
                      <a:pt x="560" y="330"/>
                    </a:lnTo>
                    <a:lnTo>
                      <a:pt x="437" y="213"/>
                    </a:lnTo>
                    <a:lnTo>
                      <a:pt x="274" y="129"/>
                    </a:lnTo>
                    <a:lnTo>
                      <a:pt x="140" y="73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69696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808080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8" name="Freeform 177"/>
              <p:cNvSpPr>
                <a:spLocks/>
              </p:cNvSpPr>
              <p:nvPr/>
            </p:nvSpPr>
            <p:spPr bwMode="auto">
              <a:xfrm rot="-1180217">
                <a:off x="4358" y="2814"/>
                <a:ext cx="323" cy="375"/>
              </a:xfrm>
              <a:custGeom>
                <a:avLst/>
                <a:gdLst/>
                <a:ahLst/>
                <a:cxnLst>
                  <a:cxn ang="0">
                    <a:pos x="229" y="261"/>
                  </a:cxn>
                  <a:cxn ang="0">
                    <a:pos x="115" y="57"/>
                  </a:cxn>
                  <a:cxn ang="0">
                    <a:pos x="0" y="0"/>
                  </a:cxn>
                </a:cxnLst>
                <a:rect l="0" t="0" r="r" b="b"/>
                <a:pathLst>
                  <a:path w="229" h="261">
                    <a:moveTo>
                      <a:pt x="229" y="261"/>
                    </a:moveTo>
                    <a:lnTo>
                      <a:pt x="115" y="57"/>
                    </a:lnTo>
                    <a:lnTo>
                      <a:pt x="0" y="0"/>
                    </a:lnTo>
                  </a:path>
                </a:pathLst>
              </a:custGeom>
              <a:noFill/>
              <a:ln w="19050" cmpd="sng">
                <a:solidFill>
                  <a:srgbClr val="B2B2B2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9" name="Freeform 178"/>
              <p:cNvSpPr>
                <a:spLocks/>
              </p:cNvSpPr>
              <p:nvPr/>
            </p:nvSpPr>
            <p:spPr bwMode="auto">
              <a:xfrm rot="20419783" flipH="1">
                <a:off x="4324" y="2821"/>
                <a:ext cx="443" cy="68"/>
              </a:xfrm>
              <a:custGeom>
                <a:avLst/>
                <a:gdLst/>
                <a:ahLst/>
                <a:cxnLst>
                  <a:cxn ang="0">
                    <a:pos x="0" y="79"/>
                  </a:cxn>
                  <a:cxn ang="0">
                    <a:pos x="246" y="26"/>
                  </a:cxn>
                  <a:cxn ang="0">
                    <a:pos x="408" y="0"/>
                  </a:cxn>
                  <a:cxn ang="0">
                    <a:pos x="560" y="26"/>
                  </a:cxn>
                </a:cxnLst>
                <a:rect l="0" t="0" r="r" b="b"/>
                <a:pathLst>
                  <a:path w="560" h="79">
                    <a:moveTo>
                      <a:pt x="0" y="79"/>
                    </a:moveTo>
                    <a:lnTo>
                      <a:pt x="246" y="26"/>
                    </a:lnTo>
                    <a:lnTo>
                      <a:pt x="408" y="0"/>
                    </a:lnTo>
                    <a:lnTo>
                      <a:pt x="560" y="26"/>
                    </a:lnTo>
                  </a:path>
                </a:pathLst>
              </a:custGeom>
              <a:noFill/>
              <a:ln w="9525">
                <a:solidFill>
                  <a:srgbClr val="969696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0" name="Oval 179"/>
              <p:cNvSpPr>
                <a:spLocks noChangeArrowheads="1"/>
              </p:cNvSpPr>
              <p:nvPr/>
            </p:nvSpPr>
            <p:spPr bwMode="auto">
              <a:xfrm rot="21155849" flipH="1">
                <a:off x="4282" y="2827"/>
                <a:ext cx="187" cy="34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1" name="Freeform 180"/>
              <p:cNvSpPr>
                <a:spLocks/>
              </p:cNvSpPr>
              <p:nvPr/>
            </p:nvSpPr>
            <p:spPr bwMode="auto">
              <a:xfrm rot="20419783" flipH="1">
                <a:off x="4481" y="2789"/>
                <a:ext cx="409" cy="272"/>
              </a:xfrm>
              <a:custGeom>
                <a:avLst/>
                <a:gdLst/>
                <a:ahLst/>
                <a:cxnLst>
                  <a:cxn ang="0">
                    <a:pos x="98" y="36"/>
                  </a:cxn>
                  <a:cxn ang="0">
                    <a:pos x="320" y="0"/>
                  </a:cxn>
                  <a:cxn ang="0">
                    <a:pos x="367" y="26"/>
                  </a:cxn>
                  <a:cxn ang="0">
                    <a:pos x="445" y="26"/>
                  </a:cxn>
                  <a:cxn ang="0">
                    <a:pos x="482" y="42"/>
                  </a:cxn>
                  <a:cxn ang="0">
                    <a:pos x="278" y="367"/>
                  </a:cxn>
                  <a:cxn ang="0">
                    <a:pos x="5" y="262"/>
                  </a:cxn>
                  <a:cxn ang="0">
                    <a:pos x="0" y="157"/>
                  </a:cxn>
                  <a:cxn ang="0">
                    <a:pos x="42" y="74"/>
                  </a:cxn>
                  <a:cxn ang="0">
                    <a:pos x="98" y="36"/>
                  </a:cxn>
                </a:cxnLst>
                <a:rect l="0" t="0" r="r" b="b"/>
                <a:pathLst>
                  <a:path w="482" h="367">
                    <a:moveTo>
                      <a:pt x="98" y="36"/>
                    </a:moveTo>
                    <a:lnTo>
                      <a:pt x="320" y="0"/>
                    </a:lnTo>
                    <a:lnTo>
                      <a:pt x="367" y="26"/>
                    </a:lnTo>
                    <a:lnTo>
                      <a:pt x="445" y="26"/>
                    </a:lnTo>
                    <a:lnTo>
                      <a:pt x="482" y="42"/>
                    </a:lnTo>
                    <a:lnTo>
                      <a:pt x="278" y="367"/>
                    </a:lnTo>
                    <a:lnTo>
                      <a:pt x="5" y="262"/>
                    </a:lnTo>
                    <a:lnTo>
                      <a:pt x="0" y="157"/>
                    </a:lnTo>
                    <a:lnTo>
                      <a:pt x="42" y="74"/>
                    </a:lnTo>
                    <a:lnTo>
                      <a:pt x="98" y="36"/>
                    </a:lnTo>
                    <a:close/>
                  </a:path>
                </a:pathLst>
              </a:custGeom>
              <a:noFill/>
              <a:ln w="9525">
                <a:solidFill>
                  <a:srgbClr val="969696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07" name="Group 181"/>
            <p:cNvGrpSpPr>
              <a:grpSpLocks/>
            </p:cNvGrpSpPr>
            <p:nvPr/>
          </p:nvGrpSpPr>
          <p:grpSpPr bwMode="auto">
            <a:xfrm flipH="1">
              <a:off x="1661" y="2401"/>
              <a:ext cx="623" cy="337"/>
              <a:chOff x="909" y="3187"/>
              <a:chExt cx="828" cy="448"/>
            </a:xfrm>
          </p:grpSpPr>
          <p:sp>
            <p:nvSpPr>
              <p:cNvPr id="249" name="Freeform 182"/>
              <p:cNvSpPr>
                <a:spLocks/>
              </p:cNvSpPr>
              <p:nvPr/>
            </p:nvSpPr>
            <p:spPr bwMode="auto">
              <a:xfrm>
                <a:off x="909" y="3207"/>
                <a:ext cx="299" cy="428"/>
              </a:xfrm>
              <a:custGeom>
                <a:avLst/>
                <a:gdLst/>
                <a:ahLst/>
                <a:cxnLst>
                  <a:cxn ang="0">
                    <a:pos x="933" y="135"/>
                  </a:cxn>
                  <a:cxn ang="0">
                    <a:pos x="932" y="171"/>
                  </a:cxn>
                  <a:cxn ang="0">
                    <a:pos x="762" y="352"/>
                  </a:cxn>
                  <a:cxn ang="0">
                    <a:pos x="4" y="195"/>
                  </a:cxn>
                  <a:cxn ang="0">
                    <a:pos x="0" y="148"/>
                  </a:cxn>
                  <a:cxn ang="0">
                    <a:pos x="244" y="0"/>
                  </a:cxn>
                  <a:cxn ang="0">
                    <a:pos x="933" y="135"/>
                  </a:cxn>
                </a:cxnLst>
                <a:rect l="0" t="0" r="r" b="b"/>
                <a:pathLst>
                  <a:path w="933" h="352">
                    <a:moveTo>
                      <a:pt x="933" y="135"/>
                    </a:moveTo>
                    <a:lnTo>
                      <a:pt x="932" y="171"/>
                    </a:lnTo>
                    <a:lnTo>
                      <a:pt x="762" y="352"/>
                    </a:lnTo>
                    <a:lnTo>
                      <a:pt x="4" y="195"/>
                    </a:lnTo>
                    <a:lnTo>
                      <a:pt x="0" y="148"/>
                    </a:lnTo>
                    <a:lnTo>
                      <a:pt x="244" y="0"/>
                    </a:lnTo>
                    <a:lnTo>
                      <a:pt x="933" y="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DDDDD"/>
                  </a:gs>
                  <a:gs pos="100000">
                    <a:srgbClr val="DDDDDD">
                      <a:gamma/>
                      <a:tint val="34118"/>
                      <a:invGamma/>
                    </a:srgbClr>
                  </a:gs>
                </a:gsLst>
                <a:lin ang="0" scaled="1"/>
              </a:gradFill>
              <a:ln w="6350" cap="flat" cmpd="sng">
                <a:solidFill>
                  <a:srgbClr val="B2B2B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tIns="27432" bIns="27432" anchor="ctr">
                <a:spAutoFit/>
              </a:bodyPr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0" name="Freeform 183"/>
              <p:cNvSpPr>
                <a:spLocks/>
              </p:cNvSpPr>
              <p:nvPr/>
            </p:nvSpPr>
            <p:spPr bwMode="auto">
              <a:xfrm>
                <a:off x="934" y="3187"/>
                <a:ext cx="299" cy="428"/>
              </a:xfrm>
              <a:custGeom>
                <a:avLst/>
                <a:gdLst/>
                <a:ahLst/>
                <a:cxnLst>
                  <a:cxn ang="0">
                    <a:pos x="895" y="133"/>
                  </a:cxn>
                  <a:cxn ang="0">
                    <a:pos x="232" y="0"/>
                  </a:cxn>
                  <a:cxn ang="0">
                    <a:pos x="0" y="143"/>
                  </a:cxn>
                  <a:cxn ang="0">
                    <a:pos x="739" y="294"/>
                  </a:cxn>
                  <a:cxn ang="0">
                    <a:pos x="895" y="133"/>
                  </a:cxn>
                </a:cxnLst>
                <a:rect l="0" t="0" r="r" b="b"/>
                <a:pathLst>
                  <a:path w="895" h="294">
                    <a:moveTo>
                      <a:pt x="895" y="133"/>
                    </a:moveTo>
                    <a:lnTo>
                      <a:pt x="232" y="0"/>
                    </a:lnTo>
                    <a:lnTo>
                      <a:pt x="0" y="143"/>
                    </a:lnTo>
                    <a:lnTo>
                      <a:pt x="739" y="294"/>
                    </a:lnTo>
                    <a:lnTo>
                      <a:pt x="895" y="133"/>
                    </a:lnTo>
                    <a:close/>
                  </a:path>
                </a:pathLst>
              </a:custGeom>
              <a:solidFill>
                <a:srgbClr val="FFFFFF"/>
              </a:solidFill>
              <a:ln w="3175" cap="flat" cmpd="sng">
                <a:solidFill>
                  <a:srgbClr val="B2B2B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tIns="27432" bIns="27432" anchor="ctr">
                <a:spAutoFit/>
              </a:bodyPr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1" name="Freeform 184"/>
              <p:cNvSpPr>
                <a:spLocks/>
              </p:cNvSpPr>
              <p:nvPr/>
            </p:nvSpPr>
            <p:spPr bwMode="auto">
              <a:xfrm>
                <a:off x="1133" y="3276"/>
                <a:ext cx="535" cy="118"/>
              </a:xfrm>
              <a:custGeom>
                <a:avLst/>
                <a:gdLst/>
                <a:ahLst/>
                <a:cxnLst>
                  <a:cxn ang="0">
                    <a:pos x="0" y="15"/>
                  </a:cxn>
                  <a:cxn ang="0">
                    <a:pos x="508" y="118"/>
                  </a:cxn>
                  <a:cxn ang="0">
                    <a:pos x="531" y="103"/>
                  </a:cxn>
                  <a:cxn ang="0">
                    <a:pos x="23" y="0"/>
                  </a:cxn>
                </a:cxnLst>
                <a:rect l="0" t="0" r="r" b="b"/>
                <a:pathLst>
                  <a:path w="531" h="118">
                    <a:moveTo>
                      <a:pt x="0" y="15"/>
                    </a:moveTo>
                    <a:lnTo>
                      <a:pt x="508" y="118"/>
                    </a:lnTo>
                    <a:lnTo>
                      <a:pt x="531" y="103"/>
                    </a:lnTo>
                    <a:lnTo>
                      <a:pt x="23" y="0"/>
                    </a:lnTo>
                  </a:path>
                </a:pathLst>
              </a:custGeom>
              <a:solidFill>
                <a:srgbClr val="DDDDDD"/>
              </a:solidFill>
              <a:ln w="12700" cap="rnd" cmpd="sng">
                <a:solidFill>
                  <a:srgbClr val="EAEAE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2" name="Freeform 185"/>
              <p:cNvSpPr>
                <a:spLocks/>
              </p:cNvSpPr>
              <p:nvPr/>
            </p:nvSpPr>
            <p:spPr bwMode="auto">
              <a:xfrm>
                <a:off x="981" y="3306"/>
                <a:ext cx="550" cy="159"/>
              </a:xfrm>
              <a:custGeom>
                <a:avLst/>
                <a:gdLst/>
                <a:ahLst/>
                <a:cxnLst>
                  <a:cxn ang="0">
                    <a:pos x="0" y="74"/>
                  </a:cxn>
                  <a:cxn ang="0">
                    <a:pos x="31" y="78"/>
                  </a:cxn>
                  <a:cxn ang="0">
                    <a:pos x="57" y="66"/>
                  </a:cxn>
                  <a:cxn ang="0">
                    <a:pos x="76" y="71"/>
                  </a:cxn>
                  <a:cxn ang="0">
                    <a:pos x="58" y="81"/>
                  </a:cxn>
                  <a:cxn ang="0">
                    <a:pos x="451" y="159"/>
                  </a:cxn>
                  <a:cxn ang="0">
                    <a:pos x="548" y="84"/>
                  </a:cxn>
                  <a:cxn ang="0">
                    <a:pos x="130" y="0"/>
                  </a:cxn>
                </a:cxnLst>
                <a:rect l="0" t="0" r="r" b="b"/>
                <a:pathLst>
                  <a:path w="548" h="159">
                    <a:moveTo>
                      <a:pt x="0" y="74"/>
                    </a:moveTo>
                    <a:lnTo>
                      <a:pt x="31" y="78"/>
                    </a:lnTo>
                    <a:lnTo>
                      <a:pt x="57" y="66"/>
                    </a:lnTo>
                    <a:lnTo>
                      <a:pt x="76" y="71"/>
                    </a:lnTo>
                    <a:lnTo>
                      <a:pt x="58" y="81"/>
                    </a:lnTo>
                    <a:lnTo>
                      <a:pt x="451" y="159"/>
                    </a:lnTo>
                    <a:lnTo>
                      <a:pt x="548" y="84"/>
                    </a:lnTo>
                    <a:lnTo>
                      <a:pt x="130" y="0"/>
                    </a:lnTo>
                  </a:path>
                </a:pathLst>
              </a:custGeom>
              <a:solidFill>
                <a:srgbClr val="DDDDDD"/>
              </a:solidFill>
              <a:ln w="12700" cap="rnd" cmpd="sng">
                <a:solidFill>
                  <a:srgbClr val="EAEAE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3" name="Freeform 186"/>
              <p:cNvSpPr>
                <a:spLocks/>
              </p:cNvSpPr>
              <p:nvPr/>
            </p:nvSpPr>
            <p:spPr bwMode="auto">
              <a:xfrm>
                <a:off x="1495" y="3396"/>
                <a:ext cx="139" cy="69"/>
              </a:xfrm>
              <a:custGeom>
                <a:avLst/>
                <a:gdLst/>
                <a:ahLst/>
                <a:cxnLst>
                  <a:cxn ang="0">
                    <a:pos x="73" y="0"/>
                  </a:cxn>
                  <a:cxn ang="0">
                    <a:pos x="140" y="11"/>
                  </a:cxn>
                  <a:cxn ang="0">
                    <a:pos x="75" y="70"/>
                  </a:cxn>
                  <a:cxn ang="0">
                    <a:pos x="0" y="56"/>
                  </a:cxn>
                </a:cxnLst>
                <a:rect l="0" t="0" r="r" b="b"/>
                <a:pathLst>
                  <a:path w="140" h="70">
                    <a:moveTo>
                      <a:pt x="73" y="0"/>
                    </a:moveTo>
                    <a:lnTo>
                      <a:pt x="140" y="11"/>
                    </a:lnTo>
                    <a:lnTo>
                      <a:pt x="75" y="70"/>
                    </a:lnTo>
                    <a:lnTo>
                      <a:pt x="0" y="56"/>
                    </a:lnTo>
                  </a:path>
                </a:pathLst>
              </a:custGeom>
              <a:solidFill>
                <a:srgbClr val="DDDDDD"/>
              </a:solidFill>
              <a:ln w="12700" cap="rnd" cmpd="sng">
                <a:solidFill>
                  <a:srgbClr val="EAEAE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4" name="Freeform 187"/>
              <p:cNvSpPr>
                <a:spLocks/>
              </p:cNvSpPr>
              <p:nvPr/>
            </p:nvSpPr>
            <p:spPr bwMode="auto">
              <a:xfrm>
                <a:off x="1570" y="3412"/>
                <a:ext cx="167" cy="100"/>
              </a:xfrm>
              <a:custGeom>
                <a:avLst/>
                <a:gdLst/>
                <a:ahLst/>
                <a:cxnLst>
                  <a:cxn ang="0">
                    <a:pos x="87" y="0"/>
                  </a:cxn>
                  <a:cxn ang="0">
                    <a:pos x="167" y="15"/>
                  </a:cxn>
                  <a:cxn ang="0">
                    <a:pos x="81" y="101"/>
                  </a:cxn>
                  <a:cxn ang="0">
                    <a:pos x="0" y="83"/>
                  </a:cxn>
                </a:cxnLst>
                <a:rect l="0" t="0" r="r" b="b"/>
                <a:pathLst>
                  <a:path w="167" h="101">
                    <a:moveTo>
                      <a:pt x="87" y="0"/>
                    </a:moveTo>
                    <a:lnTo>
                      <a:pt x="167" y="15"/>
                    </a:lnTo>
                    <a:lnTo>
                      <a:pt x="81" y="101"/>
                    </a:lnTo>
                    <a:lnTo>
                      <a:pt x="0" y="83"/>
                    </a:lnTo>
                  </a:path>
                </a:pathLst>
              </a:custGeom>
              <a:solidFill>
                <a:srgbClr val="DDDDDD"/>
              </a:solidFill>
              <a:ln w="12700" cap="rnd" cmpd="sng">
                <a:solidFill>
                  <a:srgbClr val="EAEAE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08" name="Group 188"/>
            <p:cNvGrpSpPr>
              <a:grpSpLocks/>
            </p:cNvGrpSpPr>
            <p:nvPr/>
          </p:nvGrpSpPr>
          <p:grpSpPr bwMode="auto">
            <a:xfrm>
              <a:off x="1460" y="2079"/>
              <a:ext cx="724" cy="441"/>
              <a:chOff x="1460" y="2079"/>
              <a:chExt cx="724" cy="441"/>
            </a:xfrm>
          </p:grpSpPr>
          <p:sp>
            <p:nvSpPr>
              <p:cNvPr id="225" name="Freeform 189"/>
              <p:cNvSpPr>
                <a:spLocks noChangeAspect="1"/>
              </p:cNvSpPr>
              <p:nvPr/>
            </p:nvSpPr>
            <p:spPr bwMode="auto">
              <a:xfrm>
                <a:off x="1460" y="2143"/>
                <a:ext cx="168" cy="377"/>
              </a:xfrm>
              <a:custGeom>
                <a:avLst/>
                <a:gdLst/>
                <a:ahLst/>
                <a:cxnLst>
                  <a:cxn ang="0">
                    <a:pos x="169" y="246"/>
                  </a:cxn>
                  <a:cxn ang="0">
                    <a:pos x="1" y="0"/>
                  </a:cxn>
                  <a:cxn ang="0">
                    <a:pos x="0" y="123"/>
                  </a:cxn>
                  <a:cxn ang="0">
                    <a:pos x="165" y="377"/>
                  </a:cxn>
                </a:cxnLst>
                <a:rect l="0" t="0" r="r" b="b"/>
                <a:pathLst>
                  <a:path w="169" h="377">
                    <a:moveTo>
                      <a:pt x="169" y="246"/>
                    </a:moveTo>
                    <a:lnTo>
                      <a:pt x="1" y="0"/>
                    </a:lnTo>
                    <a:lnTo>
                      <a:pt x="0" y="123"/>
                    </a:lnTo>
                    <a:lnTo>
                      <a:pt x="165" y="377"/>
                    </a:lnTo>
                  </a:path>
                </a:pathLst>
              </a:custGeom>
              <a:gradFill rotWithShape="1">
                <a:gsLst>
                  <a:gs pos="0">
                    <a:srgbClr val="EAEAEA"/>
                  </a:gs>
                  <a:gs pos="100000">
                    <a:srgbClr val="EAEAEA">
                      <a:gamma/>
                      <a:tint val="60784"/>
                      <a:invGamma/>
                    </a:srgbClr>
                  </a:gs>
                </a:gsLst>
                <a:lin ang="0" scaled="1"/>
              </a:gradFill>
              <a:ln w="6350" cap="rnd" cmpd="sng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6" name="Freeform 190"/>
              <p:cNvSpPr>
                <a:spLocks noChangeAspect="1"/>
              </p:cNvSpPr>
              <p:nvPr/>
            </p:nvSpPr>
            <p:spPr bwMode="auto">
              <a:xfrm>
                <a:off x="1464" y="2079"/>
                <a:ext cx="720" cy="309"/>
              </a:xfrm>
              <a:custGeom>
                <a:avLst/>
                <a:gdLst/>
                <a:ahLst/>
                <a:cxnLst>
                  <a:cxn ang="0">
                    <a:pos x="166" y="310"/>
                  </a:cxn>
                  <a:cxn ang="0">
                    <a:pos x="718" y="211"/>
                  </a:cxn>
                  <a:cxn ang="0">
                    <a:pos x="444" y="0"/>
                  </a:cxn>
                  <a:cxn ang="0">
                    <a:pos x="0" y="64"/>
                  </a:cxn>
                  <a:cxn ang="0">
                    <a:pos x="166" y="310"/>
                  </a:cxn>
                </a:cxnLst>
                <a:rect l="0" t="0" r="r" b="b"/>
                <a:pathLst>
                  <a:path w="718" h="310">
                    <a:moveTo>
                      <a:pt x="166" y="310"/>
                    </a:moveTo>
                    <a:lnTo>
                      <a:pt x="718" y="211"/>
                    </a:lnTo>
                    <a:lnTo>
                      <a:pt x="444" y="0"/>
                    </a:lnTo>
                    <a:lnTo>
                      <a:pt x="0" y="64"/>
                    </a:lnTo>
                    <a:lnTo>
                      <a:pt x="166" y="31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rnd" cmpd="sng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7" name="Freeform 191"/>
              <p:cNvSpPr>
                <a:spLocks/>
              </p:cNvSpPr>
              <p:nvPr/>
            </p:nvSpPr>
            <p:spPr bwMode="auto">
              <a:xfrm>
                <a:off x="1622" y="2288"/>
                <a:ext cx="544" cy="228"/>
              </a:xfrm>
              <a:custGeom>
                <a:avLst/>
                <a:gdLst/>
                <a:ahLst/>
                <a:cxnLst>
                  <a:cxn ang="0">
                    <a:pos x="6" y="99"/>
                  </a:cxn>
                  <a:cxn ang="0">
                    <a:pos x="557" y="0"/>
                  </a:cxn>
                  <a:cxn ang="0">
                    <a:pos x="549" y="121"/>
                  </a:cxn>
                  <a:cxn ang="0">
                    <a:pos x="0" y="228"/>
                  </a:cxn>
                  <a:cxn ang="0">
                    <a:pos x="6" y="99"/>
                  </a:cxn>
                </a:cxnLst>
                <a:rect l="0" t="0" r="r" b="b"/>
                <a:pathLst>
                  <a:path w="557" h="228">
                    <a:moveTo>
                      <a:pt x="6" y="99"/>
                    </a:moveTo>
                    <a:lnTo>
                      <a:pt x="557" y="0"/>
                    </a:lnTo>
                    <a:lnTo>
                      <a:pt x="549" y="121"/>
                    </a:lnTo>
                    <a:lnTo>
                      <a:pt x="0" y="228"/>
                    </a:lnTo>
                    <a:lnTo>
                      <a:pt x="6" y="99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EAEAEA"/>
                  </a:gs>
                  <a:gs pos="50000">
                    <a:srgbClr val="EAEAEA">
                      <a:gamma/>
                      <a:tint val="0"/>
                      <a:invGamma/>
                    </a:srgbClr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8" name="Freeform 192"/>
              <p:cNvSpPr>
                <a:spLocks/>
              </p:cNvSpPr>
              <p:nvPr/>
            </p:nvSpPr>
            <p:spPr bwMode="auto">
              <a:xfrm>
                <a:off x="1644" y="2425"/>
                <a:ext cx="168" cy="64"/>
              </a:xfrm>
              <a:custGeom>
                <a:avLst/>
                <a:gdLst/>
                <a:ahLst/>
                <a:cxnLst>
                  <a:cxn ang="0">
                    <a:pos x="0" y="32"/>
                  </a:cxn>
                  <a:cxn ang="0">
                    <a:pos x="0" y="63"/>
                  </a:cxn>
                  <a:cxn ang="0">
                    <a:pos x="164" y="33"/>
                  </a:cxn>
                  <a:cxn ang="0">
                    <a:pos x="167" y="0"/>
                  </a:cxn>
                  <a:cxn ang="0">
                    <a:pos x="0" y="32"/>
                  </a:cxn>
                </a:cxnLst>
                <a:rect l="0" t="0" r="r" b="b"/>
                <a:pathLst>
                  <a:path w="167" h="63">
                    <a:moveTo>
                      <a:pt x="0" y="32"/>
                    </a:moveTo>
                    <a:lnTo>
                      <a:pt x="0" y="63"/>
                    </a:lnTo>
                    <a:lnTo>
                      <a:pt x="164" y="33"/>
                    </a:lnTo>
                    <a:lnTo>
                      <a:pt x="167" y="0"/>
                    </a:lnTo>
                    <a:lnTo>
                      <a:pt x="0" y="3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0C0C0">
                      <a:gamma/>
                      <a:tint val="60784"/>
                      <a:invGamma/>
                    </a:srgbClr>
                  </a:gs>
                  <a:gs pos="100000">
                    <a:srgbClr val="C0C0C0"/>
                  </a:gs>
                </a:gsLst>
                <a:lin ang="0" scaled="1"/>
              </a:gradFill>
              <a:ln w="9525">
                <a:noFill/>
                <a:round/>
                <a:headEnd type="none" w="med" len="med"/>
                <a:tailEnd type="none" w="med" len="med"/>
              </a:ln>
              <a:effectLst>
                <a:prstShdw prst="shdw17" dist="17961" dir="13500000">
                  <a:srgbClr val="969696"/>
                </a:prstShdw>
              </a:effectLst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9" name="Oval 193"/>
              <p:cNvSpPr>
                <a:spLocks noChangeArrowheads="1"/>
              </p:cNvSpPr>
              <p:nvPr/>
            </p:nvSpPr>
            <p:spPr bwMode="auto">
              <a:xfrm>
                <a:off x="1783" y="2433"/>
                <a:ext cx="17" cy="23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0" name="Line 194"/>
              <p:cNvSpPr>
                <a:spLocks noChangeShapeType="1"/>
              </p:cNvSpPr>
              <p:nvPr/>
            </p:nvSpPr>
            <p:spPr bwMode="auto">
              <a:xfrm flipH="1">
                <a:off x="2042" y="2338"/>
                <a:ext cx="4" cy="81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1" name="Line 195"/>
              <p:cNvSpPr>
                <a:spLocks noChangeShapeType="1"/>
              </p:cNvSpPr>
              <p:nvPr/>
            </p:nvSpPr>
            <p:spPr bwMode="auto">
              <a:xfrm flipH="1">
                <a:off x="2029" y="2340"/>
                <a:ext cx="2" cy="85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2" name="Line 196"/>
              <p:cNvSpPr>
                <a:spLocks noChangeShapeType="1"/>
              </p:cNvSpPr>
              <p:nvPr/>
            </p:nvSpPr>
            <p:spPr bwMode="auto">
              <a:xfrm flipH="1">
                <a:off x="2056" y="2336"/>
                <a:ext cx="4" cy="81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3" name="Line 197"/>
              <p:cNvSpPr>
                <a:spLocks noChangeShapeType="1"/>
              </p:cNvSpPr>
              <p:nvPr/>
            </p:nvSpPr>
            <p:spPr bwMode="auto">
              <a:xfrm flipH="1">
                <a:off x="2069" y="2334"/>
                <a:ext cx="2" cy="81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4" name="Line 198"/>
              <p:cNvSpPr>
                <a:spLocks noChangeShapeType="1"/>
              </p:cNvSpPr>
              <p:nvPr/>
            </p:nvSpPr>
            <p:spPr bwMode="auto">
              <a:xfrm flipH="1">
                <a:off x="2081" y="2332"/>
                <a:ext cx="4" cy="81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5" name="Line 199"/>
              <p:cNvSpPr>
                <a:spLocks noChangeShapeType="1"/>
              </p:cNvSpPr>
              <p:nvPr/>
            </p:nvSpPr>
            <p:spPr bwMode="auto">
              <a:xfrm flipH="1">
                <a:off x="2094" y="2329"/>
                <a:ext cx="4" cy="83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6" name="Line 200"/>
              <p:cNvSpPr>
                <a:spLocks noChangeShapeType="1"/>
              </p:cNvSpPr>
              <p:nvPr/>
            </p:nvSpPr>
            <p:spPr bwMode="auto">
              <a:xfrm flipH="1">
                <a:off x="2106" y="2329"/>
                <a:ext cx="2" cy="81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7" name="Line 201"/>
              <p:cNvSpPr>
                <a:spLocks noChangeShapeType="1"/>
              </p:cNvSpPr>
              <p:nvPr/>
            </p:nvSpPr>
            <p:spPr bwMode="auto">
              <a:xfrm flipH="1">
                <a:off x="2118" y="2323"/>
                <a:ext cx="2" cy="83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8" name="Line 202"/>
              <p:cNvSpPr>
                <a:spLocks noChangeShapeType="1"/>
              </p:cNvSpPr>
              <p:nvPr/>
            </p:nvSpPr>
            <p:spPr bwMode="auto">
              <a:xfrm flipH="1">
                <a:off x="2129" y="2323"/>
                <a:ext cx="2" cy="81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9" name="Line 203"/>
              <p:cNvSpPr>
                <a:spLocks noChangeShapeType="1"/>
              </p:cNvSpPr>
              <p:nvPr/>
            </p:nvSpPr>
            <p:spPr bwMode="auto">
              <a:xfrm flipH="1">
                <a:off x="2141" y="2321"/>
                <a:ext cx="2" cy="83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0" name="Line 204"/>
              <p:cNvSpPr>
                <a:spLocks noChangeShapeType="1"/>
              </p:cNvSpPr>
              <p:nvPr/>
            </p:nvSpPr>
            <p:spPr bwMode="auto">
              <a:xfrm flipH="1">
                <a:off x="2154" y="2319"/>
                <a:ext cx="2" cy="81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1" name="Freeform 205"/>
              <p:cNvSpPr>
                <a:spLocks/>
              </p:cNvSpPr>
              <p:nvPr/>
            </p:nvSpPr>
            <p:spPr bwMode="auto">
              <a:xfrm>
                <a:off x="1862" y="2371"/>
                <a:ext cx="93" cy="68"/>
              </a:xfrm>
              <a:custGeom>
                <a:avLst/>
                <a:gdLst/>
                <a:ahLst/>
                <a:cxnLst>
                  <a:cxn ang="0">
                    <a:pos x="2" y="33"/>
                  </a:cxn>
                  <a:cxn ang="0">
                    <a:pos x="0" y="138"/>
                  </a:cxn>
                  <a:cxn ang="0">
                    <a:pos x="186" y="104"/>
                  </a:cxn>
                  <a:cxn ang="0">
                    <a:pos x="186" y="0"/>
                  </a:cxn>
                  <a:cxn ang="0">
                    <a:pos x="2" y="33"/>
                  </a:cxn>
                </a:cxnLst>
                <a:rect l="0" t="0" r="r" b="b"/>
                <a:pathLst>
                  <a:path w="186" h="138">
                    <a:moveTo>
                      <a:pt x="2" y="33"/>
                    </a:moveTo>
                    <a:lnTo>
                      <a:pt x="0" y="138"/>
                    </a:lnTo>
                    <a:lnTo>
                      <a:pt x="186" y="104"/>
                    </a:lnTo>
                    <a:lnTo>
                      <a:pt x="186" y="0"/>
                    </a:lnTo>
                    <a:lnTo>
                      <a:pt x="2" y="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69696"/>
                  </a:gs>
                  <a:gs pos="100000">
                    <a:srgbClr val="969696">
                      <a:gamma/>
                      <a:shade val="75686"/>
                      <a:invGamma/>
                    </a:srgbClr>
                  </a:gs>
                </a:gsLst>
                <a:lin ang="0" scaled="1"/>
              </a:gradFill>
              <a:ln w="3175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7" dist="17961" dir="13500000">
                  <a:srgbClr val="969696">
                    <a:alpha val="50000"/>
                  </a:srgbClr>
                </a:prstShdw>
              </a:effectLst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2" name="Line 206"/>
              <p:cNvSpPr>
                <a:spLocks noChangeShapeType="1"/>
              </p:cNvSpPr>
              <p:nvPr/>
            </p:nvSpPr>
            <p:spPr bwMode="auto">
              <a:xfrm flipH="1">
                <a:off x="1874" y="2408"/>
                <a:ext cx="0" cy="21"/>
              </a:xfrm>
              <a:prstGeom prst="line">
                <a:avLst/>
              </a:prstGeom>
              <a:noFill/>
              <a:ln w="9525">
                <a:solidFill>
                  <a:srgbClr val="3399FF">
                    <a:alpha val="55000"/>
                  </a:srgb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3" name="Line 207"/>
              <p:cNvSpPr>
                <a:spLocks noChangeShapeType="1"/>
              </p:cNvSpPr>
              <p:nvPr/>
            </p:nvSpPr>
            <p:spPr bwMode="auto">
              <a:xfrm flipH="1">
                <a:off x="1947" y="2394"/>
                <a:ext cx="0" cy="19"/>
              </a:xfrm>
              <a:prstGeom prst="line">
                <a:avLst/>
              </a:prstGeom>
              <a:noFill/>
              <a:ln w="9525">
                <a:solidFill>
                  <a:srgbClr val="3399FF">
                    <a:alpha val="55000"/>
                  </a:srgb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4" name="Line 208"/>
              <p:cNvSpPr>
                <a:spLocks noChangeShapeType="1"/>
              </p:cNvSpPr>
              <p:nvPr/>
            </p:nvSpPr>
            <p:spPr bwMode="auto">
              <a:xfrm flipH="1">
                <a:off x="1938" y="2404"/>
                <a:ext cx="0" cy="15"/>
              </a:xfrm>
              <a:prstGeom prst="line">
                <a:avLst/>
              </a:prstGeom>
              <a:noFill/>
              <a:ln w="9525">
                <a:solidFill>
                  <a:srgbClr val="3399FF">
                    <a:alpha val="55000"/>
                  </a:srgb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5" name="Line 209"/>
              <p:cNvSpPr>
                <a:spLocks noChangeShapeType="1"/>
              </p:cNvSpPr>
              <p:nvPr/>
            </p:nvSpPr>
            <p:spPr bwMode="auto">
              <a:xfrm flipH="1">
                <a:off x="1886" y="2417"/>
                <a:ext cx="0" cy="14"/>
              </a:xfrm>
              <a:prstGeom prst="line">
                <a:avLst/>
              </a:prstGeom>
              <a:noFill/>
              <a:ln w="9525">
                <a:solidFill>
                  <a:srgbClr val="3399FF">
                    <a:alpha val="55000"/>
                  </a:srgb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6" name="Line 210"/>
              <p:cNvSpPr>
                <a:spLocks noChangeShapeType="1"/>
              </p:cNvSpPr>
              <p:nvPr/>
            </p:nvSpPr>
            <p:spPr bwMode="auto">
              <a:xfrm flipV="1">
                <a:off x="1897" y="2419"/>
                <a:ext cx="29" cy="6"/>
              </a:xfrm>
              <a:prstGeom prst="line">
                <a:avLst/>
              </a:prstGeom>
              <a:noFill/>
              <a:ln w="9525">
                <a:solidFill>
                  <a:srgbClr val="FFFF99">
                    <a:alpha val="45000"/>
                  </a:srgb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7" name="Freeform 211"/>
              <p:cNvSpPr>
                <a:spLocks/>
              </p:cNvSpPr>
              <p:nvPr/>
            </p:nvSpPr>
            <p:spPr bwMode="auto">
              <a:xfrm>
                <a:off x="1671" y="2387"/>
                <a:ext cx="116" cy="39"/>
              </a:xfrm>
              <a:custGeom>
                <a:avLst/>
                <a:gdLst/>
                <a:ahLst/>
                <a:cxnLst>
                  <a:cxn ang="0">
                    <a:pos x="0" y="20"/>
                  </a:cxn>
                  <a:cxn ang="0">
                    <a:pos x="1" y="38"/>
                  </a:cxn>
                  <a:cxn ang="0">
                    <a:pos x="116" y="19"/>
                  </a:cxn>
                  <a:cxn ang="0">
                    <a:pos x="116" y="0"/>
                  </a:cxn>
                  <a:cxn ang="0">
                    <a:pos x="0" y="20"/>
                  </a:cxn>
                </a:cxnLst>
                <a:rect l="0" t="0" r="r" b="b"/>
                <a:pathLst>
                  <a:path w="116" h="38">
                    <a:moveTo>
                      <a:pt x="0" y="20"/>
                    </a:moveTo>
                    <a:lnTo>
                      <a:pt x="1" y="38"/>
                    </a:lnTo>
                    <a:lnTo>
                      <a:pt x="116" y="19"/>
                    </a:lnTo>
                    <a:lnTo>
                      <a:pt x="116" y="0"/>
                    </a:lnTo>
                    <a:lnTo>
                      <a:pt x="0" y="2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0C0C0">
                      <a:gamma/>
                      <a:tint val="60784"/>
                      <a:invGamma/>
                    </a:srgbClr>
                  </a:gs>
                  <a:gs pos="100000">
                    <a:srgbClr val="C0C0C0"/>
                  </a:gs>
                </a:gsLst>
                <a:lin ang="0" scaled="1"/>
              </a:gradFill>
              <a:ln w="9525">
                <a:noFill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8" name="Line 212"/>
              <p:cNvSpPr>
                <a:spLocks noChangeShapeType="1"/>
              </p:cNvSpPr>
              <p:nvPr/>
            </p:nvSpPr>
            <p:spPr bwMode="auto">
              <a:xfrm flipV="1">
                <a:off x="1661" y="2394"/>
                <a:ext cx="133" cy="23"/>
              </a:xfrm>
              <a:prstGeom prst="line">
                <a:avLst/>
              </a:prstGeom>
              <a:noFill/>
              <a:ln w="3175">
                <a:solidFill>
                  <a:srgbClr val="5F5F5F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09" name="Group 213"/>
            <p:cNvGrpSpPr>
              <a:grpSpLocks/>
            </p:cNvGrpSpPr>
            <p:nvPr/>
          </p:nvGrpSpPr>
          <p:grpSpPr bwMode="auto">
            <a:xfrm flipH="1">
              <a:off x="1536" y="1680"/>
              <a:ext cx="585" cy="583"/>
              <a:chOff x="1829" y="1130"/>
              <a:chExt cx="1859" cy="1865"/>
            </a:xfrm>
          </p:grpSpPr>
          <p:grpSp>
            <p:nvGrpSpPr>
              <p:cNvPr id="210" name="Group 214"/>
              <p:cNvGrpSpPr>
                <a:grpSpLocks/>
              </p:cNvGrpSpPr>
              <p:nvPr/>
            </p:nvGrpSpPr>
            <p:grpSpPr bwMode="auto">
              <a:xfrm>
                <a:off x="2470" y="1323"/>
                <a:ext cx="1218" cy="1259"/>
                <a:chOff x="2601" y="1199"/>
                <a:chExt cx="1218" cy="1408"/>
              </a:xfrm>
            </p:grpSpPr>
            <p:sp>
              <p:nvSpPr>
                <p:cNvPr id="223" name="Freeform 215"/>
                <p:cNvSpPr>
                  <a:spLocks/>
                </p:cNvSpPr>
                <p:nvPr/>
              </p:nvSpPr>
              <p:spPr bwMode="auto">
                <a:xfrm>
                  <a:off x="2598" y="1201"/>
                  <a:ext cx="1217" cy="180"/>
                </a:xfrm>
                <a:custGeom>
                  <a:avLst/>
                  <a:gdLst/>
                  <a:ahLst/>
                  <a:cxnLst>
                    <a:cxn ang="0">
                      <a:pos x="1205" y="151"/>
                    </a:cxn>
                    <a:cxn ang="0">
                      <a:pos x="964" y="178"/>
                    </a:cxn>
                    <a:cxn ang="0">
                      <a:pos x="0" y="0"/>
                    </a:cxn>
                    <a:cxn ang="0">
                      <a:pos x="1205" y="151"/>
                    </a:cxn>
                  </a:cxnLst>
                  <a:rect l="0" t="0" r="r" b="b"/>
                  <a:pathLst>
                    <a:path w="1205" h="178">
                      <a:moveTo>
                        <a:pt x="1205" y="151"/>
                      </a:moveTo>
                      <a:lnTo>
                        <a:pt x="964" y="178"/>
                      </a:lnTo>
                      <a:lnTo>
                        <a:pt x="0" y="0"/>
                      </a:lnTo>
                      <a:lnTo>
                        <a:pt x="1205" y="151"/>
                      </a:lnTo>
                      <a:close/>
                    </a:path>
                  </a:pathLst>
                </a:custGeom>
                <a:solidFill>
                  <a:srgbClr val="EAEAEA"/>
                </a:solidFill>
                <a:ln w="9525">
                  <a:solidFill>
                    <a:srgbClr val="969696"/>
                  </a:solidFill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fontAlgn="auto" latinLnBrk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0" lang="ko-KR" altLang="en-US" sz="1600" b="0" kern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24" name="Freeform 216"/>
                <p:cNvSpPr>
                  <a:spLocks/>
                </p:cNvSpPr>
                <p:nvPr/>
              </p:nvSpPr>
              <p:spPr bwMode="auto">
                <a:xfrm>
                  <a:off x="3415" y="1360"/>
                  <a:ext cx="406" cy="1245"/>
                </a:xfrm>
                <a:custGeom>
                  <a:avLst/>
                  <a:gdLst/>
                  <a:ahLst/>
                  <a:cxnLst>
                    <a:cxn ang="0">
                      <a:pos x="405" y="0"/>
                    </a:cxn>
                    <a:cxn ang="0">
                      <a:pos x="389" y="1000"/>
                    </a:cxn>
                    <a:cxn ang="0">
                      <a:pos x="133" y="1241"/>
                    </a:cxn>
                    <a:cxn ang="0">
                      <a:pos x="0" y="13"/>
                    </a:cxn>
                    <a:cxn ang="0">
                      <a:pos x="189" y="24"/>
                    </a:cxn>
                    <a:cxn ang="0">
                      <a:pos x="405" y="0"/>
                    </a:cxn>
                  </a:cxnLst>
                  <a:rect l="0" t="0" r="r" b="b"/>
                  <a:pathLst>
                    <a:path w="405" h="1241">
                      <a:moveTo>
                        <a:pt x="405" y="0"/>
                      </a:moveTo>
                      <a:lnTo>
                        <a:pt x="389" y="1000"/>
                      </a:lnTo>
                      <a:lnTo>
                        <a:pt x="133" y="1241"/>
                      </a:lnTo>
                      <a:lnTo>
                        <a:pt x="0" y="13"/>
                      </a:lnTo>
                      <a:lnTo>
                        <a:pt x="189" y="24"/>
                      </a:lnTo>
                      <a:lnTo>
                        <a:pt x="405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969696">
                        <a:gamma/>
                        <a:tint val="48627"/>
                        <a:invGamma/>
                      </a:srgbClr>
                    </a:gs>
                    <a:gs pos="100000">
                      <a:srgbClr val="969696"/>
                    </a:gs>
                  </a:gsLst>
                  <a:lin ang="0" scaled="1"/>
                </a:gradFill>
                <a:ln w="9525">
                  <a:solidFill>
                    <a:srgbClr val="969696"/>
                  </a:solidFill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fontAlgn="auto" latinLnBrk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0" lang="ko-KR" altLang="en-US" sz="1600" b="0" kern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11" name="Oval 217"/>
              <p:cNvSpPr>
                <a:spLocks noChangeArrowheads="1"/>
              </p:cNvSpPr>
              <p:nvPr/>
            </p:nvSpPr>
            <p:spPr bwMode="auto">
              <a:xfrm flipH="1">
                <a:off x="2270" y="2679"/>
                <a:ext cx="1106" cy="315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2" name="Oval 218"/>
              <p:cNvSpPr>
                <a:spLocks noChangeArrowheads="1"/>
              </p:cNvSpPr>
              <p:nvPr/>
            </p:nvSpPr>
            <p:spPr bwMode="auto">
              <a:xfrm flipH="1">
                <a:off x="2270" y="2654"/>
                <a:ext cx="1106" cy="315"/>
              </a:xfrm>
              <a:prstGeom prst="ellipse">
                <a:avLst/>
              </a:prstGeom>
              <a:gradFill rotWithShape="1">
                <a:gsLst>
                  <a:gs pos="0">
                    <a:srgbClr val="C0C0C0"/>
                  </a:gs>
                  <a:gs pos="100000">
                    <a:srgbClr val="EAEAEA"/>
                  </a:gs>
                </a:gsLst>
                <a:lin ang="270000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3" name="Freeform 219"/>
              <p:cNvSpPr>
                <a:spLocks/>
              </p:cNvSpPr>
              <p:nvPr/>
            </p:nvSpPr>
            <p:spPr bwMode="auto">
              <a:xfrm>
                <a:off x="1827" y="1139"/>
                <a:ext cx="1623" cy="1732"/>
              </a:xfrm>
              <a:custGeom>
                <a:avLst/>
                <a:gdLst/>
                <a:ahLst/>
                <a:cxnLst>
                  <a:cxn ang="0">
                    <a:pos x="1602" y="204"/>
                  </a:cxn>
                  <a:cxn ang="0">
                    <a:pos x="5" y="0"/>
                  </a:cxn>
                  <a:cxn ang="0">
                    <a:pos x="0" y="1488"/>
                  </a:cxn>
                  <a:cxn ang="0">
                    <a:pos x="1597" y="1734"/>
                  </a:cxn>
                  <a:cxn ang="0">
                    <a:pos x="1602" y="204"/>
                  </a:cxn>
                </a:cxnLst>
                <a:rect l="0" t="0" r="r" b="b"/>
                <a:pathLst>
                  <a:path w="1602" h="1734">
                    <a:moveTo>
                      <a:pt x="1602" y="204"/>
                    </a:moveTo>
                    <a:lnTo>
                      <a:pt x="5" y="0"/>
                    </a:lnTo>
                    <a:lnTo>
                      <a:pt x="0" y="1488"/>
                    </a:lnTo>
                    <a:lnTo>
                      <a:pt x="1597" y="1734"/>
                    </a:lnTo>
                    <a:lnTo>
                      <a:pt x="1602" y="204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DDDDDD"/>
                  </a:gs>
                </a:gsLst>
                <a:lin ang="5400000" scaled="1"/>
              </a:gradFill>
              <a:ln w="9525">
                <a:solidFill>
                  <a:srgbClr val="969696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4" name="Freeform 220"/>
              <p:cNvSpPr>
                <a:spLocks/>
              </p:cNvSpPr>
              <p:nvPr/>
            </p:nvSpPr>
            <p:spPr bwMode="auto">
              <a:xfrm>
                <a:off x="1895" y="2543"/>
                <a:ext cx="1334" cy="328"/>
              </a:xfrm>
              <a:custGeom>
                <a:avLst/>
                <a:gdLst/>
                <a:ahLst/>
                <a:cxnLst>
                  <a:cxn ang="0">
                    <a:pos x="1327" y="200"/>
                  </a:cxn>
                  <a:cxn ang="0">
                    <a:pos x="0" y="0"/>
                  </a:cxn>
                  <a:cxn ang="0">
                    <a:pos x="0" y="115"/>
                  </a:cxn>
                  <a:cxn ang="0">
                    <a:pos x="1330" y="330"/>
                  </a:cxn>
                  <a:cxn ang="0">
                    <a:pos x="1327" y="200"/>
                  </a:cxn>
                </a:cxnLst>
                <a:rect l="0" t="0" r="r" b="b"/>
                <a:pathLst>
                  <a:path w="1330" h="330">
                    <a:moveTo>
                      <a:pt x="1327" y="200"/>
                    </a:moveTo>
                    <a:lnTo>
                      <a:pt x="0" y="0"/>
                    </a:lnTo>
                    <a:lnTo>
                      <a:pt x="0" y="115"/>
                    </a:lnTo>
                    <a:lnTo>
                      <a:pt x="1330" y="330"/>
                    </a:lnTo>
                    <a:lnTo>
                      <a:pt x="1327" y="20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0C0C0"/>
                  </a:gs>
                  <a:gs pos="50000">
                    <a:srgbClr val="FFFFFF"/>
                  </a:gs>
                  <a:gs pos="100000">
                    <a:srgbClr val="C0C0C0"/>
                  </a:gs>
                </a:gsLst>
                <a:lin ang="5400000" scaled="1"/>
              </a:gradFill>
              <a:ln w="9525">
                <a:solidFill>
                  <a:srgbClr val="969696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5" name="Freeform 221"/>
              <p:cNvSpPr>
                <a:spLocks/>
              </p:cNvSpPr>
              <p:nvPr/>
            </p:nvSpPr>
            <p:spPr bwMode="auto">
              <a:xfrm>
                <a:off x="3438" y="1337"/>
                <a:ext cx="55" cy="1534"/>
              </a:xfrm>
              <a:custGeom>
                <a:avLst/>
                <a:gdLst/>
                <a:ahLst/>
                <a:cxnLst>
                  <a:cxn ang="0">
                    <a:pos x="4" y="16"/>
                  </a:cxn>
                  <a:cxn ang="0">
                    <a:pos x="56" y="0"/>
                  </a:cxn>
                  <a:cxn ang="0">
                    <a:pos x="46" y="1513"/>
                  </a:cxn>
                  <a:cxn ang="0">
                    <a:pos x="0" y="1536"/>
                  </a:cxn>
                  <a:cxn ang="0">
                    <a:pos x="4" y="16"/>
                  </a:cxn>
                </a:cxnLst>
                <a:rect l="0" t="0" r="r" b="b"/>
                <a:pathLst>
                  <a:path w="56" h="1536">
                    <a:moveTo>
                      <a:pt x="4" y="16"/>
                    </a:moveTo>
                    <a:lnTo>
                      <a:pt x="56" y="0"/>
                    </a:lnTo>
                    <a:lnTo>
                      <a:pt x="46" y="1513"/>
                    </a:lnTo>
                    <a:lnTo>
                      <a:pt x="0" y="1536"/>
                    </a:lnTo>
                    <a:lnTo>
                      <a:pt x="4" y="1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77777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6" name="Oval 222"/>
              <p:cNvSpPr>
                <a:spLocks noChangeArrowheads="1"/>
              </p:cNvSpPr>
              <p:nvPr/>
            </p:nvSpPr>
            <p:spPr bwMode="auto">
              <a:xfrm flipH="1">
                <a:off x="1969" y="2568"/>
                <a:ext cx="49" cy="93"/>
              </a:xfrm>
              <a:prstGeom prst="ellipse">
                <a:avLst/>
              </a:prstGeom>
              <a:solidFill>
                <a:srgbClr val="777777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7" name="Oval 223"/>
              <p:cNvSpPr>
                <a:spLocks noChangeArrowheads="1"/>
              </p:cNvSpPr>
              <p:nvPr/>
            </p:nvSpPr>
            <p:spPr bwMode="auto">
              <a:xfrm flipH="1">
                <a:off x="2061" y="2592"/>
                <a:ext cx="43" cy="74"/>
              </a:xfrm>
              <a:prstGeom prst="ellipse">
                <a:avLst/>
              </a:prstGeom>
              <a:solidFill>
                <a:srgbClr val="C0C0C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8" name="Oval 224"/>
              <p:cNvSpPr>
                <a:spLocks noChangeArrowheads="1"/>
              </p:cNvSpPr>
              <p:nvPr/>
            </p:nvSpPr>
            <p:spPr bwMode="auto">
              <a:xfrm flipH="1">
                <a:off x="2356" y="2661"/>
                <a:ext cx="55" cy="56"/>
              </a:xfrm>
              <a:prstGeom prst="ellipse">
                <a:avLst/>
              </a:prstGeom>
              <a:solidFill>
                <a:srgbClr val="C0C0C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9" name="Oval 225"/>
              <p:cNvSpPr>
                <a:spLocks noChangeArrowheads="1"/>
              </p:cNvSpPr>
              <p:nvPr/>
            </p:nvSpPr>
            <p:spPr bwMode="auto">
              <a:xfrm flipH="1">
                <a:off x="2454" y="2679"/>
                <a:ext cx="49" cy="56"/>
              </a:xfrm>
              <a:prstGeom prst="ellipse">
                <a:avLst/>
              </a:prstGeom>
              <a:solidFill>
                <a:srgbClr val="C0C0C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0" name="Oval 226"/>
              <p:cNvSpPr>
                <a:spLocks noChangeArrowheads="1"/>
              </p:cNvSpPr>
              <p:nvPr/>
            </p:nvSpPr>
            <p:spPr bwMode="auto">
              <a:xfrm flipH="1">
                <a:off x="2553" y="2691"/>
                <a:ext cx="55" cy="56"/>
              </a:xfrm>
              <a:prstGeom prst="ellipse">
                <a:avLst/>
              </a:prstGeom>
              <a:solidFill>
                <a:srgbClr val="C0C0C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1" name="Freeform 227"/>
              <p:cNvSpPr>
                <a:spLocks/>
              </p:cNvSpPr>
              <p:nvPr/>
            </p:nvSpPr>
            <p:spPr bwMode="auto">
              <a:xfrm>
                <a:off x="1952" y="1310"/>
                <a:ext cx="1342" cy="1363"/>
              </a:xfrm>
              <a:custGeom>
                <a:avLst/>
                <a:gdLst>
                  <a:gd name="T0" fmla="*/ 1312 w 1345"/>
                  <a:gd name="T1" fmla="*/ 167 h 1366"/>
                  <a:gd name="T2" fmla="*/ 0 w 1345"/>
                  <a:gd name="T3" fmla="*/ 0 h 1366"/>
                  <a:gd name="T4" fmla="*/ 0 w 1345"/>
                  <a:gd name="T5" fmla="*/ 1139 h 1366"/>
                  <a:gd name="T6" fmla="*/ 1327 w 1345"/>
                  <a:gd name="T7" fmla="*/ 1348 h 1366"/>
                  <a:gd name="T8" fmla="*/ 1312 w 1345"/>
                  <a:gd name="T9" fmla="*/ 167 h 136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45"/>
                  <a:gd name="T16" fmla="*/ 0 h 1366"/>
                  <a:gd name="T17" fmla="*/ 1345 w 1345"/>
                  <a:gd name="T18" fmla="*/ 1366 h 136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45" h="1366">
                    <a:moveTo>
                      <a:pt x="1330" y="167"/>
                    </a:moveTo>
                    <a:lnTo>
                      <a:pt x="0" y="0"/>
                    </a:lnTo>
                    <a:lnTo>
                      <a:pt x="0" y="1157"/>
                    </a:lnTo>
                    <a:lnTo>
                      <a:pt x="1345" y="1366"/>
                    </a:lnTo>
                    <a:lnTo>
                      <a:pt x="1330" y="167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0C0C0"/>
                  </a:gs>
                  <a:gs pos="100000">
                    <a:srgbClr val="4D4D4D"/>
                  </a:gs>
                </a:gsLst>
                <a:lin ang="540000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latinLnBrk="0"/>
                <a:endParaRPr kumimoji="0" lang="ko-KR" altLang="en-US" sz="1600" b="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2" name="Freeform 228"/>
              <p:cNvSpPr>
                <a:spLocks/>
              </p:cNvSpPr>
              <p:nvPr/>
            </p:nvSpPr>
            <p:spPr bwMode="auto">
              <a:xfrm>
                <a:off x="1833" y="1133"/>
                <a:ext cx="1660" cy="216"/>
              </a:xfrm>
              <a:custGeom>
                <a:avLst/>
                <a:gdLst/>
                <a:ahLst/>
                <a:cxnLst>
                  <a:cxn ang="0">
                    <a:pos x="0" y="10"/>
                  </a:cxn>
                  <a:cxn ang="0">
                    <a:pos x="68" y="0"/>
                  </a:cxn>
                  <a:cxn ang="0">
                    <a:pos x="1660" y="199"/>
                  </a:cxn>
                  <a:cxn ang="0">
                    <a:pos x="1613" y="214"/>
                  </a:cxn>
                  <a:cxn ang="0">
                    <a:pos x="0" y="10"/>
                  </a:cxn>
                </a:cxnLst>
                <a:rect l="0" t="0" r="r" b="b"/>
                <a:pathLst>
                  <a:path w="1660" h="214">
                    <a:moveTo>
                      <a:pt x="0" y="10"/>
                    </a:moveTo>
                    <a:lnTo>
                      <a:pt x="68" y="0"/>
                    </a:lnTo>
                    <a:lnTo>
                      <a:pt x="1660" y="199"/>
                    </a:lnTo>
                    <a:lnTo>
                      <a:pt x="1613" y="214"/>
                    </a:lnTo>
                    <a:lnTo>
                      <a:pt x="0" y="10"/>
                    </a:lnTo>
                    <a:close/>
                  </a:path>
                </a:pathLst>
              </a:custGeom>
              <a:noFill/>
              <a:ln w="9525">
                <a:solidFill>
                  <a:srgbClr val="969696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pic>
        <p:nvPicPr>
          <p:cNvPr id="262" name="Picture 2" descr="C:\Users\Toshiba\AppData\Local\Microsoft\Windows\Temporary Internet Files\Content.IE5\TBE21NJN\MC900428971[1]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48897" y="701267"/>
            <a:ext cx="594785" cy="952938"/>
          </a:xfrm>
          <a:prstGeom prst="rect">
            <a:avLst/>
          </a:prstGeom>
          <a:noFill/>
        </p:spPr>
      </p:pic>
      <p:grpSp>
        <p:nvGrpSpPr>
          <p:cNvPr id="263" name="그룹 262"/>
          <p:cNvGrpSpPr/>
          <p:nvPr/>
        </p:nvGrpSpPr>
        <p:grpSpPr>
          <a:xfrm>
            <a:off x="1474288" y="1010058"/>
            <a:ext cx="594318" cy="301505"/>
            <a:chOff x="1993293" y="2564030"/>
            <a:chExt cx="807572" cy="288942"/>
          </a:xfrm>
        </p:grpSpPr>
        <p:sp>
          <p:nvSpPr>
            <p:cNvPr id="264" name="AutoShape 26"/>
            <p:cNvSpPr>
              <a:spLocks noChangeArrowheads="1"/>
            </p:cNvSpPr>
            <p:nvPr/>
          </p:nvSpPr>
          <p:spPr bwMode="auto">
            <a:xfrm>
              <a:off x="1993293" y="2564030"/>
              <a:ext cx="807572" cy="288942"/>
            </a:xfrm>
            <a:prstGeom prst="cube">
              <a:avLst>
                <a:gd name="adj" fmla="val 55426"/>
              </a:avLst>
            </a:prstGeom>
            <a:gradFill rotWithShape="1">
              <a:gsLst>
                <a:gs pos="0">
                  <a:srgbClr val="EAEAEA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777777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5" name="WordArt 28"/>
            <p:cNvSpPr>
              <a:spLocks noChangeArrowheads="1" noChangeShapeType="1" noTextEdit="1"/>
            </p:cNvSpPr>
            <p:nvPr/>
          </p:nvSpPr>
          <p:spPr bwMode="auto">
            <a:xfrm>
              <a:off x="2009917" y="2728044"/>
              <a:ext cx="584994" cy="12492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ko-KR" sz="3600" kern="10" dirty="0" smtClean="0">
                  <a:ln w="9525">
                    <a:solidFill>
                      <a:srgbClr val="808080"/>
                    </a:solidFill>
                    <a:round/>
                    <a:headEnd/>
                    <a:tailEnd/>
                  </a:ln>
                  <a:solidFill>
                    <a:srgbClr val="80808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NAT</a:t>
              </a:r>
              <a:endParaRPr lang="ko-KR" altLang="en-US" sz="36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80808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66" name="TextBox 265"/>
          <p:cNvSpPr txBox="1"/>
          <p:nvPr/>
        </p:nvSpPr>
        <p:spPr>
          <a:xfrm>
            <a:off x="0" y="1516856"/>
            <a:ext cx="10214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192.168.1.10/24</a:t>
            </a:r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7" name="TextBox 266"/>
          <p:cNvSpPr txBox="1"/>
          <p:nvPr/>
        </p:nvSpPr>
        <p:spPr>
          <a:xfrm>
            <a:off x="8065546" y="1706430"/>
            <a:ext cx="10214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192.168.2.20/24</a:t>
            </a:r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68" name="Group 19"/>
          <p:cNvGrpSpPr>
            <a:grpSpLocks/>
          </p:cNvGrpSpPr>
          <p:nvPr/>
        </p:nvGrpSpPr>
        <p:grpSpPr bwMode="auto">
          <a:xfrm>
            <a:off x="2738567" y="1052457"/>
            <a:ext cx="720590" cy="276802"/>
            <a:chOff x="3682" y="2312"/>
            <a:chExt cx="786" cy="497"/>
          </a:xfrm>
        </p:grpSpPr>
        <p:sp>
          <p:nvSpPr>
            <p:cNvPr id="269" name="AutoShape 20"/>
            <p:cNvSpPr>
              <a:spLocks noChangeArrowheads="1"/>
            </p:cNvSpPr>
            <p:nvPr/>
          </p:nvSpPr>
          <p:spPr bwMode="auto">
            <a:xfrm>
              <a:off x="3683" y="2317"/>
              <a:ext cx="785" cy="492"/>
            </a:xfrm>
            <a:prstGeom prst="can">
              <a:avLst>
                <a:gd name="adj" fmla="val 50000"/>
              </a:avLst>
            </a:prstGeom>
            <a:gradFill rotWithShape="1">
              <a:gsLst>
                <a:gs pos="0">
                  <a:srgbClr val="DDDDDD"/>
                </a:gs>
                <a:gs pos="50000">
                  <a:srgbClr val="DDDDDD">
                    <a:gamma/>
                    <a:tint val="9020"/>
                    <a:invGamma/>
                  </a:srgbClr>
                </a:gs>
                <a:gs pos="100000">
                  <a:srgbClr val="DDDDDD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0" name="WordArt 21"/>
            <p:cNvSpPr>
              <a:spLocks noChangeArrowheads="1" noChangeShapeType="1" noTextEdit="1"/>
            </p:cNvSpPr>
            <p:nvPr/>
          </p:nvSpPr>
          <p:spPr bwMode="auto">
            <a:xfrm>
              <a:off x="3719" y="2513"/>
              <a:ext cx="717" cy="249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altLang="ko-KR" sz="5400" kern="10" dirty="0" smtClean="0">
                  <a:ln w="9525">
                    <a:solidFill>
                      <a:srgbClr val="808080"/>
                    </a:solidFill>
                    <a:round/>
                    <a:headEnd/>
                    <a:tailEnd/>
                  </a:ln>
                  <a:solidFill>
                    <a:srgbClr val="777777"/>
                  </a:solidFill>
                  <a:latin typeface="Times New Roman" pitchFamily="18" charset="0"/>
                  <a:ea typeface="Tahoma"/>
                  <a:cs typeface="Times New Roman" pitchFamily="18" charset="0"/>
                </a:rPr>
                <a:t>ROUTER</a:t>
              </a:r>
              <a:endParaRPr lang="ko-KR" altLang="en-US" sz="54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777777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1" name="Oval 22"/>
            <p:cNvSpPr>
              <a:spLocks noChangeArrowheads="1"/>
            </p:cNvSpPr>
            <p:nvPr/>
          </p:nvSpPr>
          <p:spPr bwMode="auto">
            <a:xfrm>
              <a:off x="3682" y="2312"/>
              <a:ext cx="786" cy="249"/>
            </a:xfrm>
            <a:prstGeom prst="ellipse">
              <a:avLst/>
            </a:pr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33333"/>
                    <a:invGamma/>
                  </a:srgbClr>
                </a:gs>
              </a:gsLst>
              <a:lin ang="189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2" name="AutoShape 23"/>
            <p:cNvSpPr>
              <a:spLocks noChangeArrowheads="1"/>
            </p:cNvSpPr>
            <p:nvPr/>
          </p:nvSpPr>
          <p:spPr bwMode="auto">
            <a:xfrm rot="5400000">
              <a:off x="4082" y="2198"/>
              <a:ext cx="115" cy="485"/>
            </a:xfrm>
            <a:custGeom>
              <a:avLst/>
              <a:gdLst>
                <a:gd name="T0" fmla="*/ 38 w 21600"/>
                <a:gd name="T1" fmla="*/ 14 h 21600"/>
                <a:gd name="T2" fmla="*/ 19 w 21600"/>
                <a:gd name="T3" fmla="*/ 353 h 21600"/>
                <a:gd name="T4" fmla="*/ 46 w 21600"/>
                <a:gd name="T5" fmla="*/ 103 h 21600"/>
                <a:gd name="T6" fmla="*/ 129 w 21600"/>
                <a:gd name="T7" fmla="*/ 217 h 21600"/>
                <a:gd name="T8" fmla="*/ 106 w 21600"/>
                <a:gd name="T9" fmla="*/ 333 h 21600"/>
                <a:gd name="T10" fmla="*/ 78 w 21600"/>
                <a:gd name="T11" fmla="*/ 235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93 w 21600"/>
                <a:gd name="T19" fmla="*/ 3162 h 21600"/>
                <a:gd name="T20" fmla="*/ 18407 w 21600"/>
                <a:gd name="T21" fmla="*/ 18438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7370" y="10242"/>
                  </a:moveTo>
                  <a:cubicBezTo>
                    <a:pt x="17080" y="6828"/>
                    <a:pt x="14225" y="4206"/>
                    <a:pt x="10800" y="4206"/>
                  </a:cubicBezTo>
                  <a:cubicBezTo>
                    <a:pt x="7158" y="4206"/>
                    <a:pt x="4206" y="7158"/>
                    <a:pt x="4206" y="10800"/>
                  </a:cubicBezTo>
                  <a:cubicBezTo>
                    <a:pt x="4205" y="12133"/>
                    <a:pt x="4610" y="13436"/>
                    <a:pt x="5366" y="14535"/>
                  </a:cubicBezTo>
                  <a:lnTo>
                    <a:pt x="1900" y="16918"/>
                  </a:lnTo>
                  <a:cubicBezTo>
                    <a:pt x="662" y="15117"/>
                    <a:pt x="0" y="12984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410" y="-1"/>
                    <a:pt x="21086" y="4295"/>
                    <a:pt x="21561" y="9886"/>
                  </a:cubicBezTo>
                  <a:lnTo>
                    <a:pt x="24251" y="9657"/>
                  </a:lnTo>
                  <a:lnTo>
                    <a:pt x="19871" y="14849"/>
                  </a:lnTo>
                  <a:lnTo>
                    <a:pt x="14680" y="10470"/>
                  </a:lnTo>
                  <a:lnTo>
                    <a:pt x="17370" y="10242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>
              <a:outerShdw dist="25400" dir="5400000" algn="ctr" rotWithShape="0">
                <a:srgbClr val="1C1C1C">
                  <a:alpha val="50000"/>
                </a:srgbClr>
              </a:outerShdw>
            </a:effectLst>
          </p:spPr>
          <p:txBody>
            <a:bodyPr rot="10800000" vert="eaVert" wrap="none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3" name="AutoShape 24"/>
            <p:cNvSpPr>
              <a:spLocks noChangeArrowheads="1"/>
            </p:cNvSpPr>
            <p:nvPr/>
          </p:nvSpPr>
          <p:spPr bwMode="auto">
            <a:xfrm rot="-5400000">
              <a:off x="3973" y="2157"/>
              <a:ext cx="113" cy="495"/>
            </a:xfrm>
            <a:custGeom>
              <a:avLst/>
              <a:gdLst>
                <a:gd name="T0" fmla="*/ 37 w 21600"/>
                <a:gd name="T1" fmla="*/ 14 h 21600"/>
                <a:gd name="T2" fmla="*/ 19 w 21600"/>
                <a:gd name="T3" fmla="*/ 360 h 21600"/>
                <a:gd name="T4" fmla="*/ 45 w 21600"/>
                <a:gd name="T5" fmla="*/ 105 h 21600"/>
                <a:gd name="T6" fmla="*/ 127 w 21600"/>
                <a:gd name="T7" fmla="*/ 221 h 21600"/>
                <a:gd name="T8" fmla="*/ 104 w 21600"/>
                <a:gd name="T9" fmla="*/ 340 h 21600"/>
                <a:gd name="T10" fmla="*/ 77 w 21600"/>
                <a:gd name="T11" fmla="*/ 24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250 w 21600"/>
                <a:gd name="T19" fmla="*/ 3142 h 21600"/>
                <a:gd name="T20" fmla="*/ 18350 w 21600"/>
                <a:gd name="T21" fmla="*/ 18458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7370" y="10242"/>
                  </a:moveTo>
                  <a:cubicBezTo>
                    <a:pt x="17080" y="6828"/>
                    <a:pt x="14225" y="4206"/>
                    <a:pt x="10800" y="4206"/>
                  </a:cubicBezTo>
                  <a:cubicBezTo>
                    <a:pt x="7158" y="4206"/>
                    <a:pt x="4206" y="7158"/>
                    <a:pt x="4206" y="10800"/>
                  </a:cubicBezTo>
                  <a:cubicBezTo>
                    <a:pt x="4205" y="12133"/>
                    <a:pt x="4610" y="13436"/>
                    <a:pt x="5366" y="14535"/>
                  </a:cubicBezTo>
                  <a:lnTo>
                    <a:pt x="1900" y="16918"/>
                  </a:lnTo>
                  <a:cubicBezTo>
                    <a:pt x="662" y="15117"/>
                    <a:pt x="0" y="12984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410" y="-1"/>
                    <a:pt x="21086" y="4295"/>
                    <a:pt x="21561" y="9886"/>
                  </a:cubicBezTo>
                  <a:lnTo>
                    <a:pt x="24251" y="9657"/>
                  </a:lnTo>
                  <a:lnTo>
                    <a:pt x="19871" y="14849"/>
                  </a:lnTo>
                  <a:lnTo>
                    <a:pt x="14680" y="10470"/>
                  </a:lnTo>
                  <a:lnTo>
                    <a:pt x="17370" y="10242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>
              <a:outerShdw dist="25400" dir="5400000" algn="ctr" rotWithShape="0">
                <a:srgbClr val="1C1C1C">
                  <a:alpha val="50000"/>
                </a:srgbClr>
              </a:outerShdw>
            </a:effectLst>
          </p:spPr>
          <p:txBody>
            <a:bodyPr vert="eaVert" wrap="none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274" name="Group 19"/>
          <p:cNvGrpSpPr>
            <a:grpSpLocks/>
          </p:cNvGrpSpPr>
          <p:nvPr/>
        </p:nvGrpSpPr>
        <p:grpSpPr bwMode="auto">
          <a:xfrm>
            <a:off x="6028905" y="1025146"/>
            <a:ext cx="720590" cy="276802"/>
            <a:chOff x="3682" y="2312"/>
            <a:chExt cx="786" cy="497"/>
          </a:xfrm>
        </p:grpSpPr>
        <p:sp>
          <p:nvSpPr>
            <p:cNvPr id="275" name="AutoShape 20"/>
            <p:cNvSpPr>
              <a:spLocks noChangeArrowheads="1"/>
            </p:cNvSpPr>
            <p:nvPr/>
          </p:nvSpPr>
          <p:spPr bwMode="auto">
            <a:xfrm>
              <a:off x="3683" y="2317"/>
              <a:ext cx="785" cy="492"/>
            </a:xfrm>
            <a:prstGeom prst="can">
              <a:avLst>
                <a:gd name="adj" fmla="val 50000"/>
              </a:avLst>
            </a:prstGeom>
            <a:gradFill rotWithShape="1">
              <a:gsLst>
                <a:gs pos="0">
                  <a:srgbClr val="DDDDDD"/>
                </a:gs>
                <a:gs pos="50000">
                  <a:srgbClr val="DDDDDD">
                    <a:gamma/>
                    <a:tint val="9020"/>
                    <a:invGamma/>
                  </a:srgbClr>
                </a:gs>
                <a:gs pos="100000">
                  <a:srgbClr val="DDDDDD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6" name="WordArt 21"/>
            <p:cNvSpPr>
              <a:spLocks noChangeArrowheads="1" noChangeShapeType="1" noTextEdit="1"/>
            </p:cNvSpPr>
            <p:nvPr/>
          </p:nvSpPr>
          <p:spPr bwMode="auto">
            <a:xfrm>
              <a:off x="3719" y="2513"/>
              <a:ext cx="717" cy="249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altLang="ko-KR" sz="5400" kern="10" dirty="0" smtClean="0">
                  <a:ln w="9525">
                    <a:solidFill>
                      <a:srgbClr val="808080"/>
                    </a:solidFill>
                    <a:round/>
                    <a:headEnd/>
                    <a:tailEnd/>
                  </a:ln>
                  <a:solidFill>
                    <a:srgbClr val="777777"/>
                  </a:solidFill>
                  <a:latin typeface="Times New Roman" pitchFamily="18" charset="0"/>
                  <a:ea typeface="Tahoma"/>
                  <a:cs typeface="Times New Roman" pitchFamily="18" charset="0"/>
                </a:rPr>
                <a:t>ROUTER</a:t>
              </a:r>
              <a:endParaRPr lang="ko-KR" altLang="en-US" sz="54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777777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7" name="Oval 22"/>
            <p:cNvSpPr>
              <a:spLocks noChangeArrowheads="1"/>
            </p:cNvSpPr>
            <p:nvPr/>
          </p:nvSpPr>
          <p:spPr bwMode="auto">
            <a:xfrm>
              <a:off x="3682" y="2312"/>
              <a:ext cx="786" cy="249"/>
            </a:xfrm>
            <a:prstGeom prst="ellipse">
              <a:avLst/>
            </a:pr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33333"/>
                    <a:invGamma/>
                  </a:srgbClr>
                </a:gs>
              </a:gsLst>
              <a:lin ang="189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8" name="AutoShape 23"/>
            <p:cNvSpPr>
              <a:spLocks noChangeArrowheads="1"/>
            </p:cNvSpPr>
            <p:nvPr/>
          </p:nvSpPr>
          <p:spPr bwMode="auto">
            <a:xfrm rot="5400000">
              <a:off x="4082" y="2198"/>
              <a:ext cx="115" cy="485"/>
            </a:xfrm>
            <a:custGeom>
              <a:avLst/>
              <a:gdLst>
                <a:gd name="T0" fmla="*/ 38 w 21600"/>
                <a:gd name="T1" fmla="*/ 14 h 21600"/>
                <a:gd name="T2" fmla="*/ 19 w 21600"/>
                <a:gd name="T3" fmla="*/ 353 h 21600"/>
                <a:gd name="T4" fmla="*/ 46 w 21600"/>
                <a:gd name="T5" fmla="*/ 103 h 21600"/>
                <a:gd name="T6" fmla="*/ 129 w 21600"/>
                <a:gd name="T7" fmla="*/ 217 h 21600"/>
                <a:gd name="T8" fmla="*/ 106 w 21600"/>
                <a:gd name="T9" fmla="*/ 333 h 21600"/>
                <a:gd name="T10" fmla="*/ 78 w 21600"/>
                <a:gd name="T11" fmla="*/ 235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93 w 21600"/>
                <a:gd name="T19" fmla="*/ 3162 h 21600"/>
                <a:gd name="T20" fmla="*/ 18407 w 21600"/>
                <a:gd name="T21" fmla="*/ 18438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7370" y="10242"/>
                  </a:moveTo>
                  <a:cubicBezTo>
                    <a:pt x="17080" y="6828"/>
                    <a:pt x="14225" y="4206"/>
                    <a:pt x="10800" y="4206"/>
                  </a:cubicBezTo>
                  <a:cubicBezTo>
                    <a:pt x="7158" y="4206"/>
                    <a:pt x="4206" y="7158"/>
                    <a:pt x="4206" y="10800"/>
                  </a:cubicBezTo>
                  <a:cubicBezTo>
                    <a:pt x="4205" y="12133"/>
                    <a:pt x="4610" y="13436"/>
                    <a:pt x="5366" y="14535"/>
                  </a:cubicBezTo>
                  <a:lnTo>
                    <a:pt x="1900" y="16918"/>
                  </a:lnTo>
                  <a:cubicBezTo>
                    <a:pt x="662" y="15117"/>
                    <a:pt x="0" y="12984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410" y="-1"/>
                    <a:pt x="21086" y="4295"/>
                    <a:pt x="21561" y="9886"/>
                  </a:cubicBezTo>
                  <a:lnTo>
                    <a:pt x="24251" y="9657"/>
                  </a:lnTo>
                  <a:lnTo>
                    <a:pt x="19871" y="14849"/>
                  </a:lnTo>
                  <a:lnTo>
                    <a:pt x="14680" y="10470"/>
                  </a:lnTo>
                  <a:lnTo>
                    <a:pt x="17370" y="10242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>
              <a:outerShdw dist="25400" dir="5400000" algn="ctr" rotWithShape="0">
                <a:srgbClr val="1C1C1C">
                  <a:alpha val="50000"/>
                </a:srgbClr>
              </a:outerShdw>
            </a:effectLst>
          </p:spPr>
          <p:txBody>
            <a:bodyPr rot="10800000" vert="eaVert" wrap="none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9" name="AutoShape 24"/>
            <p:cNvSpPr>
              <a:spLocks noChangeArrowheads="1"/>
            </p:cNvSpPr>
            <p:nvPr/>
          </p:nvSpPr>
          <p:spPr bwMode="auto">
            <a:xfrm rot="-5400000">
              <a:off x="3973" y="2157"/>
              <a:ext cx="113" cy="495"/>
            </a:xfrm>
            <a:custGeom>
              <a:avLst/>
              <a:gdLst>
                <a:gd name="T0" fmla="*/ 37 w 21600"/>
                <a:gd name="T1" fmla="*/ 14 h 21600"/>
                <a:gd name="T2" fmla="*/ 19 w 21600"/>
                <a:gd name="T3" fmla="*/ 360 h 21600"/>
                <a:gd name="T4" fmla="*/ 45 w 21600"/>
                <a:gd name="T5" fmla="*/ 105 h 21600"/>
                <a:gd name="T6" fmla="*/ 127 w 21600"/>
                <a:gd name="T7" fmla="*/ 221 h 21600"/>
                <a:gd name="T8" fmla="*/ 104 w 21600"/>
                <a:gd name="T9" fmla="*/ 340 h 21600"/>
                <a:gd name="T10" fmla="*/ 77 w 21600"/>
                <a:gd name="T11" fmla="*/ 24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250 w 21600"/>
                <a:gd name="T19" fmla="*/ 3142 h 21600"/>
                <a:gd name="T20" fmla="*/ 18350 w 21600"/>
                <a:gd name="T21" fmla="*/ 18458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7370" y="10242"/>
                  </a:moveTo>
                  <a:cubicBezTo>
                    <a:pt x="17080" y="6828"/>
                    <a:pt x="14225" y="4206"/>
                    <a:pt x="10800" y="4206"/>
                  </a:cubicBezTo>
                  <a:cubicBezTo>
                    <a:pt x="7158" y="4206"/>
                    <a:pt x="4206" y="7158"/>
                    <a:pt x="4206" y="10800"/>
                  </a:cubicBezTo>
                  <a:cubicBezTo>
                    <a:pt x="4205" y="12133"/>
                    <a:pt x="4610" y="13436"/>
                    <a:pt x="5366" y="14535"/>
                  </a:cubicBezTo>
                  <a:lnTo>
                    <a:pt x="1900" y="16918"/>
                  </a:lnTo>
                  <a:cubicBezTo>
                    <a:pt x="662" y="15117"/>
                    <a:pt x="0" y="12984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410" y="-1"/>
                    <a:pt x="21086" y="4295"/>
                    <a:pt x="21561" y="9886"/>
                  </a:cubicBezTo>
                  <a:lnTo>
                    <a:pt x="24251" y="9657"/>
                  </a:lnTo>
                  <a:lnTo>
                    <a:pt x="19871" y="14849"/>
                  </a:lnTo>
                  <a:lnTo>
                    <a:pt x="14680" y="10470"/>
                  </a:lnTo>
                  <a:lnTo>
                    <a:pt x="17370" y="10242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>
              <a:outerShdw dist="25400" dir="5400000" algn="ctr" rotWithShape="0">
                <a:srgbClr val="1C1C1C">
                  <a:alpha val="50000"/>
                </a:srgbClr>
              </a:outerShdw>
            </a:effectLst>
          </p:spPr>
          <p:txBody>
            <a:bodyPr vert="eaVert" wrap="none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280" name="그룹 279"/>
          <p:cNvGrpSpPr/>
          <p:nvPr/>
        </p:nvGrpSpPr>
        <p:grpSpPr>
          <a:xfrm>
            <a:off x="7266118" y="1009401"/>
            <a:ext cx="594318" cy="301505"/>
            <a:chOff x="1993293" y="2564030"/>
            <a:chExt cx="807572" cy="288942"/>
          </a:xfrm>
        </p:grpSpPr>
        <p:sp>
          <p:nvSpPr>
            <p:cNvPr id="281" name="AutoShape 26"/>
            <p:cNvSpPr>
              <a:spLocks noChangeArrowheads="1"/>
            </p:cNvSpPr>
            <p:nvPr/>
          </p:nvSpPr>
          <p:spPr bwMode="auto">
            <a:xfrm>
              <a:off x="1993293" y="2564030"/>
              <a:ext cx="807572" cy="288942"/>
            </a:xfrm>
            <a:prstGeom prst="cube">
              <a:avLst>
                <a:gd name="adj" fmla="val 55426"/>
              </a:avLst>
            </a:prstGeom>
            <a:gradFill rotWithShape="1">
              <a:gsLst>
                <a:gs pos="0">
                  <a:srgbClr val="EAEAEA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777777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2" name="WordArt 28"/>
            <p:cNvSpPr>
              <a:spLocks noChangeArrowheads="1" noChangeShapeType="1" noTextEdit="1"/>
            </p:cNvSpPr>
            <p:nvPr/>
          </p:nvSpPr>
          <p:spPr bwMode="auto">
            <a:xfrm>
              <a:off x="2009917" y="2728044"/>
              <a:ext cx="584994" cy="12492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ko-KR" sz="3600" kern="10" dirty="0" smtClean="0">
                  <a:ln w="9525">
                    <a:solidFill>
                      <a:srgbClr val="808080"/>
                    </a:solidFill>
                    <a:round/>
                    <a:headEnd/>
                    <a:tailEnd/>
                  </a:ln>
                  <a:solidFill>
                    <a:srgbClr val="80808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NAT</a:t>
              </a:r>
              <a:endParaRPr lang="ko-KR" altLang="en-US" sz="36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80808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83" name="TextBox 282"/>
          <p:cNvSpPr txBox="1"/>
          <p:nvPr/>
        </p:nvSpPr>
        <p:spPr>
          <a:xfrm>
            <a:off x="6599922" y="630091"/>
            <a:ext cx="1659429" cy="2462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sz="1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22.22.22.22 → 192.168.2.20</a:t>
            </a:r>
            <a:endParaRPr lang="ko-KR" altLang="en-US" sz="1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4" name="TextBox 283"/>
          <p:cNvSpPr txBox="1"/>
          <p:nvPr/>
        </p:nvSpPr>
        <p:spPr>
          <a:xfrm>
            <a:off x="7028157" y="343697"/>
            <a:ext cx="8322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NAT Table</a:t>
            </a:r>
            <a:endParaRPr lang="ko-KR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5" name="직선 화살표 연결선 84"/>
          <p:cNvCxnSpPr/>
          <p:nvPr/>
        </p:nvCxnSpPr>
        <p:spPr>
          <a:xfrm>
            <a:off x="208671" y="4731234"/>
            <a:ext cx="8424612" cy="14764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구름 85"/>
          <p:cNvSpPr/>
          <p:nvPr/>
        </p:nvSpPr>
        <p:spPr>
          <a:xfrm>
            <a:off x="4007862" y="4432788"/>
            <a:ext cx="1381758" cy="636217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7" name="Group 172"/>
          <p:cNvGrpSpPr>
            <a:grpSpLocks/>
          </p:cNvGrpSpPr>
          <p:nvPr/>
        </p:nvGrpSpPr>
        <p:grpSpPr bwMode="auto">
          <a:xfrm>
            <a:off x="156447" y="4453978"/>
            <a:ext cx="672801" cy="644597"/>
            <a:chOff x="1460" y="1680"/>
            <a:chExt cx="971" cy="1058"/>
          </a:xfrm>
        </p:grpSpPr>
        <p:grpSp>
          <p:nvGrpSpPr>
            <p:cNvPr id="88" name="Group 173"/>
            <p:cNvGrpSpPr>
              <a:grpSpLocks/>
            </p:cNvGrpSpPr>
            <p:nvPr/>
          </p:nvGrpSpPr>
          <p:grpSpPr bwMode="auto">
            <a:xfrm rot="20775601" flipH="1">
              <a:off x="2221" y="2374"/>
              <a:ext cx="210" cy="162"/>
              <a:chOff x="3499" y="2336"/>
              <a:chExt cx="1848" cy="1427"/>
            </a:xfrm>
          </p:grpSpPr>
          <p:sp>
            <p:nvSpPr>
              <p:cNvPr id="137" name="Freeform 174"/>
              <p:cNvSpPr>
                <a:spLocks/>
              </p:cNvSpPr>
              <p:nvPr/>
            </p:nvSpPr>
            <p:spPr bwMode="auto">
              <a:xfrm rot="20419783" flipH="1">
                <a:off x="4677" y="2330"/>
                <a:ext cx="783" cy="460"/>
              </a:xfrm>
              <a:custGeom>
                <a:avLst/>
                <a:gdLst/>
                <a:ahLst/>
                <a:cxnLst>
                  <a:cxn ang="0">
                    <a:pos x="1224" y="755"/>
                  </a:cxn>
                  <a:cxn ang="0">
                    <a:pos x="1112" y="716"/>
                  </a:cxn>
                  <a:cxn ang="0">
                    <a:pos x="1051" y="693"/>
                  </a:cxn>
                  <a:cxn ang="0">
                    <a:pos x="1006" y="671"/>
                  </a:cxn>
                  <a:cxn ang="0">
                    <a:pos x="984" y="660"/>
                  </a:cxn>
                  <a:cxn ang="0">
                    <a:pos x="939" y="626"/>
                  </a:cxn>
                  <a:cxn ang="0">
                    <a:pos x="894" y="548"/>
                  </a:cxn>
                  <a:cxn ang="0">
                    <a:pos x="889" y="531"/>
                  </a:cxn>
                  <a:cxn ang="0">
                    <a:pos x="850" y="509"/>
                  </a:cxn>
                  <a:cxn ang="0">
                    <a:pos x="799" y="481"/>
                  </a:cxn>
                  <a:cxn ang="0">
                    <a:pos x="704" y="453"/>
                  </a:cxn>
                  <a:cxn ang="0">
                    <a:pos x="419" y="442"/>
                  </a:cxn>
                  <a:cxn ang="0">
                    <a:pos x="330" y="408"/>
                  </a:cxn>
                  <a:cxn ang="0">
                    <a:pos x="212" y="279"/>
                  </a:cxn>
                  <a:cxn ang="0">
                    <a:pos x="145" y="134"/>
                  </a:cxn>
                  <a:cxn ang="0">
                    <a:pos x="78" y="39"/>
                  </a:cxn>
                  <a:cxn ang="0">
                    <a:pos x="0" y="0"/>
                  </a:cxn>
                </a:cxnLst>
                <a:rect l="0" t="0" r="r" b="b"/>
                <a:pathLst>
                  <a:path w="1224" h="755">
                    <a:moveTo>
                      <a:pt x="1224" y="755"/>
                    </a:moveTo>
                    <a:cubicBezTo>
                      <a:pt x="1190" y="729"/>
                      <a:pt x="1154" y="724"/>
                      <a:pt x="1112" y="716"/>
                    </a:cubicBezTo>
                    <a:cubicBezTo>
                      <a:pt x="1091" y="705"/>
                      <a:pt x="1072" y="702"/>
                      <a:pt x="1051" y="693"/>
                    </a:cubicBezTo>
                    <a:cubicBezTo>
                      <a:pt x="1036" y="686"/>
                      <a:pt x="1021" y="678"/>
                      <a:pt x="1006" y="671"/>
                    </a:cubicBezTo>
                    <a:cubicBezTo>
                      <a:pt x="999" y="667"/>
                      <a:pt x="984" y="660"/>
                      <a:pt x="984" y="660"/>
                    </a:cubicBezTo>
                    <a:cubicBezTo>
                      <a:pt x="971" y="646"/>
                      <a:pt x="939" y="626"/>
                      <a:pt x="939" y="626"/>
                    </a:cubicBezTo>
                    <a:cubicBezTo>
                      <a:pt x="923" y="602"/>
                      <a:pt x="906" y="575"/>
                      <a:pt x="894" y="548"/>
                    </a:cubicBezTo>
                    <a:cubicBezTo>
                      <a:pt x="892" y="543"/>
                      <a:pt x="893" y="536"/>
                      <a:pt x="889" y="531"/>
                    </a:cubicBezTo>
                    <a:cubicBezTo>
                      <a:pt x="884" y="524"/>
                      <a:pt x="855" y="512"/>
                      <a:pt x="850" y="509"/>
                    </a:cubicBezTo>
                    <a:cubicBezTo>
                      <a:pt x="802" y="480"/>
                      <a:pt x="833" y="491"/>
                      <a:pt x="799" y="481"/>
                    </a:cubicBezTo>
                    <a:cubicBezTo>
                      <a:pt x="764" y="457"/>
                      <a:pt x="751" y="457"/>
                      <a:pt x="704" y="453"/>
                    </a:cubicBezTo>
                    <a:cubicBezTo>
                      <a:pt x="606" y="457"/>
                      <a:pt x="515" y="459"/>
                      <a:pt x="419" y="442"/>
                    </a:cubicBezTo>
                    <a:cubicBezTo>
                      <a:pt x="391" y="426"/>
                      <a:pt x="360" y="419"/>
                      <a:pt x="330" y="408"/>
                    </a:cubicBezTo>
                    <a:cubicBezTo>
                      <a:pt x="287" y="368"/>
                      <a:pt x="245" y="328"/>
                      <a:pt x="212" y="279"/>
                    </a:cubicBezTo>
                    <a:cubicBezTo>
                      <a:pt x="183" y="235"/>
                      <a:pt x="168" y="181"/>
                      <a:pt x="145" y="134"/>
                    </a:cubicBezTo>
                    <a:cubicBezTo>
                      <a:pt x="128" y="100"/>
                      <a:pt x="99" y="71"/>
                      <a:pt x="78" y="39"/>
                    </a:cubicBezTo>
                    <a:cubicBezTo>
                      <a:pt x="70" y="27"/>
                      <a:pt x="15" y="7"/>
                      <a:pt x="0" y="0"/>
                    </a:cubicBezTo>
                  </a:path>
                </a:pathLst>
              </a:custGeom>
              <a:noFill/>
              <a:ln w="12700" cmpd="sng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8" name="Freeform 175"/>
              <p:cNvSpPr>
                <a:spLocks/>
              </p:cNvSpPr>
              <p:nvPr/>
            </p:nvSpPr>
            <p:spPr bwMode="auto">
              <a:xfrm rot="-1180217">
                <a:off x="3532" y="2934"/>
                <a:ext cx="1464" cy="698"/>
              </a:xfrm>
              <a:custGeom>
                <a:avLst/>
                <a:gdLst/>
                <a:ahLst/>
                <a:cxnLst>
                  <a:cxn ang="0">
                    <a:pos x="886" y="33"/>
                  </a:cxn>
                  <a:cxn ang="0">
                    <a:pos x="937" y="70"/>
                  </a:cxn>
                  <a:cxn ang="0">
                    <a:pos x="971" y="130"/>
                  </a:cxn>
                  <a:cxn ang="0">
                    <a:pos x="967" y="218"/>
                  </a:cxn>
                  <a:cxn ang="0">
                    <a:pos x="882" y="261"/>
                  </a:cxn>
                  <a:cxn ang="0">
                    <a:pos x="791" y="294"/>
                  </a:cxn>
                  <a:cxn ang="0">
                    <a:pos x="665" y="382"/>
                  </a:cxn>
                  <a:cxn ang="0">
                    <a:pos x="519" y="522"/>
                  </a:cxn>
                  <a:cxn ang="0">
                    <a:pos x="397" y="542"/>
                  </a:cxn>
                  <a:cxn ang="0">
                    <a:pos x="298" y="550"/>
                  </a:cxn>
                  <a:cxn ang="0">
                    <a:pos x="155" y="522"/>
                  </a:cxn>
                  <a:cxn ang="0">
                    <a:pos x="34" y="459"/>
                  </a:cxn>
                  <a:cxn ang="0">
                    <a:pos x="0" y="393"/>
                  </a:cxn>
                  <a:cxn ang="0">
                    <a:pos x="11" y="315"/>
                  </a:cxn>
                  <a:cxn ang="0">
                    <a:pos x="63" y="210"/>
                  </a:cxn>
                  <a:cxn ang="0">
                    <a:pos x="142" y="147"/>
                  </a:cxn>
                  <a:cxn ang="0">
                    <a:pos x="246" y="89"/>
                  </a:cxn>
                  <a:cxn ang="0">
                    <a:pos x="445" y="21"/>
                  </a:cxn>
                  <a:cxn ang="0">
                    <a:pos x="634" y="0"/>
                  </a:cxn>
                  <a:cxn ang="0">
                    <a:pos x="794" y="13"/>
                  </a:cxn>
                  <a:cxn ang="0">
                    <a:pos x="886" y="33"/>
                  </a:cxn>
                </a:cxnLst>
                <a:rect l="0" t="0" r="r" b="b"/>
                <a:pathLst>
                  <a:path w="971" h="550">
                    <a:moveTo>
                      <a:pt x="886" y="33"/>
                    </a:moveTo>
                    <a:lnTo>
                      <a:pt x="937" y="70"/>
                    </a:lnTo>
                    <a:lnTo>
                      <a:pt x="971" y="130"/>
                    </a:lnTo>
                    <a:lnTo>
                      <a:pt x="967" y="218"/>
                    </a:lnTo>
                    <a:lnTo>
                      <a:pt x="882" y="261"/>
                    </a:lnTo>
                    <a:lnTo>
                      <a:pt x="791" y="294"/>
                    </a:lnTo>
                    <a:lnTo>
                      <a:pt x="665" y="382"/>
                    </a:lnTo>
                    <a:lnTo>
                      <a:pt x="519" y="522"/>
                    </a:lnTo>
                    <a:lnTo>
                      <a:pt x="397" y="542"/>
                    </a:lnTo>
                    <a:lnTo>
                      <a:pt x="298" y="550"/>
                    </a:lnTo>
                    <a:lnTo>
                      <a:pt x="155" y="522"/>
                    </a:lnTo>
                    <a:lnTo>
                      <a:pt x="34" y="459"/>
                    </a:lnTo>
                    <a:lnTo>
                      <a:pt x="0" y="393"/>
                    </a:lnTo>
                    <a:lnTo>
                      <a:pt x="11" y="315"/>
                    </a:lnTo>
                    <a:lnTo>
                      <a:pt x="63" y="210"/>
                    </a:lnTo>
                    <a:lnTo>
                      <a:pt x="142" y="147"/>
                    </a:lnTo>
                    <a:lnTo>
                      <a:pt x="246" y="89"/>
                    </a:lnTo>
                    <a:lnTo>
                      <a:pt x="445" y="21"/>
                    </a:lnTo>
                    <a:lnTo>
                      <a:pt x="634" y="0"/>
                    </a:lnTo>
                    <a:lnTo>
                      <a:pt x="794" y="13"/>
                    </a:lnTo>
                    <a:lnTo>
                      <a:pt x="886" y="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EAEAEA"/>
                  </a:gs>
                  <a:gs pos="50000">
                    <a:srgbClr val="FFFFFF"/>
                  </a:gs>
                  <a:gs pos="100000">
                    <a:srgbClr val="EAEAEA"/>
                  </a:gs>
                </a:gsLst>
                <a:lin ang="2700000" scaled="1"/>
              </a:gradFill>
              <a:ln w="9525">
                <a:solidFill>
                  <a:srgbClr val="808080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9" name="Freeform 176"/>
              <p:cNvSpPr>
                <a:spLocks/>
              </p:cNvSpPr>
              <p:nvPr/>
            </p:nvSpPr>
            <p:spPr bwMode="auto">
              <a:xfrm rot="20419783" flipH="1">
                <a:off x="3661" y="3116"/>
                <a:ext cx="1413" cy="52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6" y="118"/>
                  </a:cxn>
                  <a:cxn ang="0">
                    <a:pos x="319" y="302"/>
                  </a:cxn>
                  <a:cxn ang="0">
                    <a:pos x="604" y="448"/>
                  </a:cxn>
                  <a:cxn ang="0">
                    <a:pos x="867" y="526"/>
                  </a:cxn>
                  <a:cxn ang="0">
                    <a:pos x="1091" y="504"/>
                  </a:cxn>
                  <a:cxn ang="0">
                    <a:pos x="1270" y="448"/>
                  </a:cxn>
                  <a:cxn ang="0">
                    <a:pos x="1432" y="353"/>
                  </a:cxn>
                  <a:cxn ang="0">
                    <a:pos x="1253" y="431"/>
                  </a:cxn>
                  <a:cxn ang="0">
                    <a:pos x="1108" y="470"/>
                  </a:cxn>
                  <a:cxn ang="0">
                    <a:pos x="951" y="470"/>
                  </a:cxn>
                  <a:cxn ang="0">
                    <a:pos x="789" y="453"/>
                  </a:cxn>
                  <a:cxn ang="0">
                    <a:pos x="699" y="420"/>
                  </a:cxn>
                  <a:cxn ang="0">
                    <a:pos x="560" y="330"/>
                  </a:cxn>
                  <a:cxn ang="0">
                    <a:pos x="437" y="213"/>
                  </a:cxn>
                  <a:cxn ang="0">
                    <a:pos x="274" y="129"/>
                  </a:cxn>
                  <a:cxn ang="0">
                    <a:pos x="140" y="73"/>
                  </a:cxn>
                  <a:cxn ang="0">
                    <a:pos x="0" y="0"/>
                  </a:cxn>
                </a:cxnLst>
                <a:rect l="0" t="0" r="r" b="b"/>
                <a:pathLst>
                  <a:path w="1432" h="526">
                    <a:moveTo>
                      <a:pt x="0" y="0"/>
                    </a:moveTo>
                    <a:lnTo>
                      <a:pt x="56" y="118"/>
                    </a:lnTo>
                    <a:lnTo>
                      <a:pt x="319" y="302"/>
                    </a:lnTo>
                    <a:lnTo>
                      <a:pt x="604" y="448"/>
                    </a:lnTo>
                    <a:lnTo>
                      <a:pt x="867" y="526"/>
                    </a:lnTo>
                    <a:lnTo>
                      <a:pt x="1091" y="504"/>
                    </a:lnTo>
                    <a:lnTo>
                      <a:pt x="1270" y="448"/>
                    </a:lnTo>
                    <a:lnTo>
                      <a:pt x="1432" y="353"/>
                    </a:lnTo>
                    <a:lnTo>
                      <a:pt x="1253" y="431"/>
                    </a:lnTo>
                    <a:lnTo>
                      <a:pt x="1108" y="470"/>
                    </a:lnTo>
                    <a:lnTo>
                      <a:pt x="951" y="470"/>
                    </a:lnTo>
                    <a:lnTo>
                      <a:pt x="789" y="453"/>
                    </a:lnTo>
                    <a:lnTo>
                      <a:pt x="699" y="420"/>
                    </a:lnTo>
                    <a:lnTo>
                      <a:pt x="560" y="330"/>
                    </a:lnTo>
                    <a:lnTo>
                      <a:pt x="437" y="213"/>
                    </a:lnTo>
                    <a:lnTo>
                      <a:pt x="274" y="129"/>
                    </a:lnTo>
                    <a:lnTo>
                      <a:pt x="140" y="73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69696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808080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0" name="Freeform 177"/>
              <p:cNvSpPr>
                <a:spLocks/>
              </p:cNvSpPr>
              <p:nvPr/>
            </p:nvSpPr>
            <p:spPr bwMode="auto">
              <a:xfrm rot="-1180217">
                <a:off x="4358" y="2814"/>
                <a:ext cx="323" cy="375"/>
              </a:xfrm>
              <a:custGeom>
                <a:avLst/>
                <a:gdLst/>
                <a:ahLst/>
                <a:cxnLst>
                  <a:cxn ang="0">
                    <a:pos x="229" y="261"/>
                  </a:cxn>
                  <a:cxn ang="0">
                    <a:pos x="115" y="57"/>
                  </a:cxn>
                  <a:cxn ang="0">
                    <a:pos x="0" y="0"/>
                  </a:cxn>
                </a:cxnLst>
                <a:rect l="0" t="0" r="r" b="b"/>
                <a:pathLst>
                  <a:path w="229" h="261">
                    <a:moveTo>
                      <a:pt x="229" y="261"/>
                    </a:moveTo>
                    <a:lnTo>
                      <a:pt x="115" y="57"/>
                    </a:lnTo>
                    <a:lnTo>
                      <a:pt x="0" y="0"/>
                    </a:lnTo>
                  </a:path>
                </a:pathLst>
              </a:custGeom>
              <a:noFill/>
              <a:ln w="19050" cmpd="sng">
                <a:solidFill>
                  <a:srgbClr val="B2B2B2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1" name="Freeform 178"/>
              <p:cNvSpPr>
                <a:spLocks/>
              </p:cNvSpPr>
              <p:nvPr/>
            </p:nvSpPr>
            <p:spPr bwMode="auto">
              <a:xfrm rot="20419783" flipH="1">
                <a:off x="4324" y="2821"/>
                <a:ext cx="443" cy="68"/>
              </a:xfrm>
              <a:custGeom>
                <a:avLst/>
                <a:gdLst/>
                <a:ahLst/>
                <a:cxnLst>
                  <a:cxn ang="0">
                    <a:pos x="0" y="79"/>
                  </a:cxn>
                  <a:cxn ang="0">
                    <a:pos x="246" y="26"/>
                  </a:cxn>
                  <a:cxn ang="0">
                    <a:pos x="408" y="0"/>
                  </a:cxn>
                  <a:cxn ang="0">
                    <a:pos x="560" y="26"/>
                  </a:cxn>
                </a:cxnLst>
                <a:rect l="0" t="0" r="r" b="b"/>
                <a:pathLst>
                  <a:path w="560" h="79">
                    <a:moveTo>
                      <a:pt x="0" y="79"/>
                    </a:moveTo>
                    <a:lnTo>
                      <a:pt x="246" y="26"/>
                    </a:lnTo>
                    <a:lnTo>
                      <a:pt x="408" y="0"/>
                    </a:lnTo>
                    <a:lnTo>
                      <a:pt x="560" y="26"/>
                    </a:lnTo>
                  </a:path>
                </a:pathLst>
              </a:custGeom>
              <a:noFill/>
              <a:ln w="9525">
                <a:solidFill>
                  <a:srgbClr val="969696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2" name="Oval 179"/>
              <p:cNvSpPr>
                <a:spLocks noChangeArrowheads="1"/>
              </p:cNvSpPr>
              <p:nvPr/>
            </p:nvSpPr>
            <p:spPr bwMode="auto">
              <a:xfrm rot="21155849" flipH="1">
                <a:off x="4282" y="2827"/>
                <a:ext cx="187" cy="34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3" name="Freeform 180"/>
              <p:cNvSpPr>
                <a:spLocks/>
              </p:cNvSpPr>
              <p:nvPr/>
            </p:nvSpPr>
            <p:spPr bwMode="auto">
              <a:xfrm rot="20419783" flipH="1">
                <a:off x="4481" y="2789"/>
                <a:ext cx="409" cy="272"/>
              </a:xfrm>
              <a:custGeom>
                <a:avLst/>
                <a:gdLst/>
                <a:ahLst/>
                <a:cxnLst>
                  <a:cxn ang="0">
                    <a:pos x="98" y="36"/>
                  </a:cxn>
                  <a:cxn ang="0">
                    <a:pos x="320" y="0"/>
                  </a:cxn>
                  <a:cxn ang="0">
                    <a:pos x="367" y="26"/>
                  </a:cxn>
                  <a:cxn ang="0">
                    <a:pos x="445" y="26"/>
                  </a:cxn>
                  <a:cxn ang="0">
                    <a:pos x="482" y="42"/>
                  </a:cxn>
                  <a:cxn ang="0">
                    <a:pos x="278" y="367"/>
                  </a:cxn>
                  <a:cxn ang="0">
                    <a:pos x="5" y="262"/>
                  </a:cxn>
                  <a:cxn ang="0">
                    <a:pos x="0" y="157"/>
                  </a:cxn>
                  <a:cxn ang="0">
                    <a:pos x="42" y="74"/>
                  </a:cxn>
                  <a:cxn ang="0">
                    <a:pos x="98" y="36"/>
                  </a:cxn>
                </a:cxnLst>
                <a:rect l="0" t="0" r="r" b="b"/>
                <a:pathLst>
                  <a:path w="482" h="367">
                    <a:moveTo>
                      <a:pt x="98" y="36"/>
                    </a:moveTo>
                    <a:lnTo>
                      <a:pt x="320" y="0"/>
                    </a:lnTo>
                    <a:lnTo>
                      <a:pt x="367" y="26"/>
                    </a:lnTo>
                    <a:lnTo>
                      <a:pt x="445" y="26"/>
                    </a:lnTo>
                    <a:lnTo>
                      <a:pt x="482" y="42"/>
                    </a:lnTo>
                    <a:lnTo>
                      <a:pt x="278" y="367"/>
                    </a:lnTo>
                    <a:lnTo>
                      <a:pt x="5" y="262"/>
                    </a:lnTo>
                    <a:lnTo>
                      <a:pt x="0" y="157"/>
                    </a:lnTo>
                    <a:lnTo>
                      <a:pt x="42" y="74"/>
                    </a:lnTo>
                    <a:lnTo>
                      <a:pt x="98" y="36"/>
                    </a:lnTo>
                    <a:close/>
                  </a:path>
                </a:pathLst>
              </a:custGeom>
              <a:noFill/>
              <a:ln w="9525">
                <a:solidFill>
                  <a:srgbClr val="969696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89" name="Group 181"/>
            <p:cNvGrpSpPr>
              <a:grpSpLocks/>
            </p:cNvGrpSpPr>
            <p:nvPr/>
          </p:nvGrpSpPr>
          <p:grpSpPr bwMode="auto">
            <a:xfrm flipH="1">
              <a:off x="1661" y="2401"/>
              <a:ext cx="623" cy="337"/>
              <a:chOff x="909" y="3187"/>
              <a:chExt cx="828" cy="448"/>
            </a:xfrm>
          </p:grpSpPr>
          <p:sp>
            <p:nvSpPr>
              <p:cNvPr id="131" name="Freeform 182"/>
              <p:cNvSpPr>
                <a:spLocks/>
              </p:cNvSpPr>
              <p:nvPr/>
            </p:nvSpPr>
            <p:spPr bwMode="auto">
              <a:xfrm>
                <a:off x="909" y="3207"/>
                <a:ext cx="299" cy="428"/>
              </a:xfrm>
              <a:custGeom>
                <a:avLst/>
                <a:gdLst/>
                <a:ahLst/>
                <a:cxnLst>
                  <a:cxn ang="0">
                    <a:pos x="933" y="135"/>
                  </a:cxn>
                  <a:cxn ang="0">
                    <a:pos x="932" y="171"/>
                  </a:cxn>
                  <a:cxn ang="0">
                    <a:pos x="762" y="352"/>
                  </a:cxn>
                  <a:cxn ang="0">
                    <a:pos x="4" y="195"/>
                  </a:cxn>
                  <a:cxn ang="0">
                    <a:pos x="0" y="148"/>
                  </a:cxn>
                  <a:cxn ang="0">
                    <a:pos x="244" y="0"/>
                  </a:cxn>
                  <a:cxn ang="0">
                    <a:pos x="933" y="135"/>
                  </a:cxn>
                </a:cxnLst>
                <a:rect l="0" t="0" r="r" b="b"/>
                <a:pathLst>
                  <a:path w="933" h="352">
                    <a:moveTo>
                      <a:pt x="933" y="135"/>
                    </a:moveTo>
                    <a:lnTo>
                      <a:pt x="932" y="171"/>
                    </a:lnTo>
                    <a:lnTo>
                      <a:pt x="762" y="352"/>
                    </a:lnTo>
                    <a:lnTo>
                      <a:pt x="4" y="195"/>
                    </a:lnTo>
                    <a:lnTo>
                      <a:pt x="0" y="148"/>
                    </a:lnTo>
                    <a:lnTo>
                      <a:pt x="244" y="0"/>
                    </a:lnTo>
                    <a:lnTo>
                      <a:pt x="933" y="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DDDDD"/>
                  </a:gs>
                  <a:gs pos="100000">
                    <a:srgbClr val="DDDDDD">
                      <a:gamma/>
                      <a:tint val="34118"/>
                      <a:invGamma/>
                    </a:srgbClr>
                  </a:gs>
                </a:gsLst>
                <a:lin ang="0" scaled="1"/>
              </a:gradFill>
              <a:ln w="6350" cap="flat" cmpd="sng">
                <a:solidFill>
                  <a:srgbClr val="B2B2B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tIns="27432" bIns="27432" anchor="ctr">
                <a:spAutoFit/>
              </a:bodyPr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2" name="Freeform 183"/>
              <p:cNvSpPr>
                <a:spLocks/>
              </p:cNvSpPr>
              <p:nvPr/>
            </p:nvSpPr>
            <p:spPr bwMode="auto">
              <a:xfrm>
                <a:off x="934" y="3187"/>
                <a:ext cx="299" cy="428"/>
              </a:xfrm>
              <a:custGeom>
                <a:avLst/>
                <a:gdLst/>
                <a:ahLst/>
                <a:cxnLst>
                  <a:cxn ang="0">
                    <a:pos x="895" y="133"/>
                  </a:cxn>
                  <a:cxn ang="0">
                    <a:pos x="232" y="0"/>
                  </a:cxn>
                  <a:cxn ang="0">
                    <a:pos x="0" y="143"/>
                  </a:cxn>
                  <a:cxn ang="0">
                    <a:pos x="739" y="294"/>
                  </a:cxn>
                  <a:cxn ang="0">
                    <a:pos x="895" y="133"/>
                  </a:cxn>
                </a:cxnLst>
                <a:rect l="0" t="0" r="r" b="b"/>
                <a:pathLst>
                  <a:path w="895" h="294">
                    <a:moveTo>
                      <a:pt x="895" y="133"/>
                    </a:moveTo>
                    <a:lnTo>
                      <a:pt x="232" y="0"/>
                    </a:lnTo>
                    <a:lnTo>
                      <a:pt x="0" y="143"/>
                    </a:lnTo>
                    <a:lnTo>
                      <a:pt x="739" y="294"/>
                    </a:lnTo>
                    <a:lnTo>
                      <a:pt x="895" y="133"/>
                    </a:lnTo>
                    <a:close/>
                  </a:path>
                </a:pathLst>
              </a:custGeom>
              <a:solidFill>
                <a:srgbClr val="FFFFFF"/>
              </a:solidFill>
              <a:ln w="3175" cap="flat" cmpd="sng">
                <a:solidFill>
                  <a:srgbClr val="B2B2B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tIns="27432" bIns="27432" anchor="ctr">
                <a:spAutoFit/>
              </a:bodyPr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3" name="Freeform 184"/>
              <p:cNvSpPr>
                <a:spLocks/>
              </p:cNvSpPr>
              <p:nvPr/>
            </p:nvSpPr>
            <p:spPr bwMode="auto">
              <a:xfrm>
                <a:off x="1133" y="3276"/>
                <a:ext cx="535" cy="118"/>
              </a:xfrm>
              <a:custGeom>
                <a:avLst/>
                <a:gdLst/>
                <a:ahLst/>
                <a:cxnLst>
                  <a:cxn ang="0">
                    <a:pos x="0" y="15"/>
                  </a:cxn>
                  <a:cxn ang="0">
                    <a:pos x="508" y="118"/>
                  </a:cxn>
                  <a:cxn ang="0">
                    <a:pos x="531" y="103"/>
                  </a:cxn>
                  <a:cxn ang="0">
                    <a:pos x="23" y="0"/>
                  </a:cxn>
                </a:cxnLst>
                <a:rect l="0" t="0" r="r" b="b"/>
                <a:pathLst>
                  <a:path w="531" h="118">
                    <a:moveTo>
                      <a:pt x="0" y="15"/>
                    </a:moveTo>
                    <a:lnTo>
                      <a:pt x="508" y="118"/>
                    </a:lnTo>
                    <a:lnTo>
                      <a:pt x="531" y="103"/>
                    </a:lnTo>
                    <a:lnTo>
                      <a:pt x="23" y="0"/>
                    </a:lnTo>
                  </a:path>
                </a:pathLst>
              </a:custGeom>
              <a:solidFill>
                <a:srgbClr val="DDDDDD"/>
              </a:solidFill>
              <a:ln w="12700" cap="rnd" cmpd="sng">
                <a:solidFill>
                  <a:srgbClr val="EAEAE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4" name="Freeform 185"/>
              <p:cNvSpPr>
                <a:spLocks/>
              </p:cNvSpPr>
              <p:nvPr/>
            </p:nvSpPr>
            <p:spPr bwMode="auto">
              <a:xfrm>
                <a:off x="981" y="3306"/>
                <a:ext cx="550" cy="159"/>
              </a:xfrm>
              <a:custGeom>
                <a:avLst/>
                <a:gdLst/>
                <a:ahLst/>
                <a:cxnLst>
                  <a:cxn ang="0">
                    <a:pos x="0" y="74"/>
                  </a:cxn>
                  <a:cxn ang="0">
                    <a:pos x="31" y="78"/>
                  </a:cxn>
                  <a:cxn ang="0">
                    <a:pos x="57" y="66"/>
                  </a:cxn>
                  <a:cxn ang="0">
                    <a:pos x="76" y="71"/>
                  </a:cxn>
                  <a:cxn ang="0">
                    <a:pos x="58" y="81"/>
                  </a:cxn>
                  <a:cxn ang="0">
                    <a:pos x="451" y="159"/>
                  </a:cxn>
                  <a:cxn ang="0">
                    <a:pos x="548" y="84"/>
                  </a:cxn>
                  <a:cxn ang="0">
                    <a:pos x="130" y="0"/>
                  </a:cxn>
                </a:cxnLst>
                <a:rect l="0" t="0" r="r" b="b"/>
                <a:pathLst>
                  <a:path w="548" h="159">
                    <a:moveTo>
                      <a:pt x="0" y="74"/>
                    </a:moveTo>
                    <a:lnTo>
                      <a:pt x="31" y="78"/>
                    </a:lnTo>
                    <a:lnTo>
                      <a:pt x="57" y="66"/>
                    </a:lnTo>
                    <a:lnTo>
                      <a:pt x="76" y="71"/>
                    </a:lnTo>
                    <a:lnTo>
                      <a:pt x="58" y="81"/>
                    </a:lnTo>
                    <a:lnTo>
                      <a:pt x="451" y="159"/>
                    </a:lnTo>
                    <a:lnTo>
                      <a:pt x="548" y="84"/>
                    </a:lnTo>
                    <a:lnTo>
                      <a:pt x="130" y="0"/>
                    </a:lnTo>
                  </a:path>
                </a:pathLst>
              </a:custGeom>
              <a:solidFill>
                <a:srgbClr val="DDDDDD"/>
              </a:solidFill>
              <a:ln w="12700" cap="rnd" cmpd="sng">
                <a:solidFill>
                  <a:srgbClr val="EAEAE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5" name="Freeform 186"/>
              <p:cNvSpPr>
                <a:spLocks/>
              </p:cNvSpPr>
              <p:nvPr/>
            </p:nvSpPr>
            <p:spPr bwMode="auto">
              <a:xfrm>
                <a:off x="1495" y="3396"/>
                <a:ext cx="139" cy="69"/>
              </a:xfrm>
              <a:custGeom>
                <a:avLst/>
                <a:gdLst/>
                <a:ahLst/>
                <a:cxnLst>
                  <a:cxn ang="0">
                    <a:pos x="73" y="0"/>
                  </a:cxn>
                  <a:cxn ang="0">
                    <a:pos x="140" y="11"/>
                  </a:cxn>
                  <a:cxn ang="0">
                    <a:pos x="75" y="70"/>
                  </a:cxn>
                  <a:cxn ang="0">
                    <a:pos x="0" y="56"/>
                  </a:cxn>
                </a:cxnLst>
                <a:rect l="0" t="0" r="r" b="b"/>
                <a:pathLst>
                  <a:path w="140" h="70">
                    <a:moveTo>
                      <a:pt x="73" y="0"/>
                    </a:moveTo>
                    <a:lnTo>
                      <a:pt x="140" y="11"/>
                    </a:lnTo>
                    <a:lnTo>
                      <a:pt x="75" y="70"/>
                    </a:lnTo>
                    <a:lnTo>
                      <a:pt x="0" y="56"/>
                    </a:lnTo>
                  </a:path>
                </a:pathLst>
              </a:custGeom>
              <a:solidFill>
                <a:srgbClr val="DDDDDD"/>
              </a:solidFill>
              <a:ln w="12700" cap="rnd" cmpd="sng">
                <a:solidFill>
                  <a:srgbClr val="EAEAE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6" name="Freeform 187"/>
              <p:cNvSpPr>
                <a:spLocks/>
              </p:cNvSpPr>
              <p:nvPr/>
            </p:nvSpPr>
            <p:spPr bwMode="auto">
              <a:xfrm>
                <a:off x="1570" y="3412"/>
                <a:ext cx="167" cy="100"/>
              </a:xfrm>
              <a:custGeom>
                <a:avLst/>
                <a:gdLst/>
                <a:ahLst/>
                <a:cxnLst>
                  <a:cxn ang="0">
                    <a:pos x="87" y="0"/>
                  </a:cxn>
                  <a:cxn ang="0">
                    <a:pos x="167" y="15"/>
                  </a:cxn>
                  <a:cxn ang="0">
                    <a:pos x="81" y="101"/>
                  </a:cxn>
                  <a:cxn ang="0">
                    <a:pos x="0" y="83"/>
                  </a:cxn>
                </a:cxnLst>
                <a:rect l="0" t="0" r="r" b="b"/>
                <a:pathLst>
                  <a:path w="167" h="101">
                    <a:moveTo>
                      <a:pt x="87" y="0"/>
                    </a:moveTo>
                    <a:lnTo>
                      <a:pt x="167" y="15"/>
                    </a:lnTo>
                    <a:lnTo>
                      <a:pt x="81" y="101"/>
                    </a:lnTo>
                    <a:lnTo>
                      <a:pt x="0" y="83"/>
                    </a:lnTo>
                  </a:path>
                </a:pathLst>
              </a:custGeom>
              <a:solidFill>
                <a:srgbClr val="DDDDDD"/>
              </a:solidFill>
              <a:ln w="12700" cap="rnd" cmpd="sng">
                <a:solidFill>
                  <a:srgbClr val="EAEAE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90" name="Group 188"/>
            <p:cNvGrpSpPr>
              <a:grpSpLocks/>
            </p:cNvGrpSpPr>
            <p:nvPr/>
          </p:nvGrpSpPr>
          <p:grpSpPr bwMode="auto">
            <a:xfrm>
              <a:off x="1460" y="2079"/>
              <a:ext cx="724" cy="441"/>
              <a:chOff x="1460" y="2079"/>
              <a:chExt cx="724" cy="441"/>
            </a:xfrm>
          </p:grpSpPr>
          <p:sp>
            <p:nvSpPr>
              <p:cNvPr id="107" name="Freeform 189"/>
              <p:cNvSpPr>
                <a:spLocks noChangeAspect="1"/>
              </p:cNvSpPr>
              <p:nvPr/>
            </p:nvSpPr>
            <p:spPr bwMode="auto">
              <a:xfrm>
                <a:off x="1460" y="2143"/>
                <a:ext cx="168" cy="377"/>
              </a:xfrm>
              <a:custGeom>
                <a:avLst/>
                <a:gdLst/>
                <a:ahLst/>
                <a:cxnLst>
                  <a:cxn ang="0">
                    <a:pos x="169" y="246"/>
                  </a:cxn>
                  <a:cxn ang="0">
                    <a:pos x="1" y="0"/>
                  </a:cxn>
                  <a:cxn ang="0">
                    <a:pos x="0" y="123"/>
                  </a:cxn>
                  <a:cxn ang="0">
                    <a:pos x="165" y="377"/>
                  </a:cxn>
                </a:cxnLst>
                <a:rect l="0" t="0" r="r" b="b"/>
                <a:pathLst>
                  <a:path w="169" h="377">
                    <a:moveTo>
                      <a:pt x="169" y="246"/>
                    </a:moveTo>
                    <a:lnTo>
                      <a:pt x="1" y="0"/>
                    </a:lnTo>
                    <a:lnTo>
                      <a:pt x="0" y="123"/>
                    </a:lnTo>
                    <a:lnTo>
                      <a:pt x="165" y="377"/>
                    </a:lnTo>
                  </a:path>
                </a:pathLst>
              </a:custGeom>
              <a:gradFill rotWithShape="1">
                <a:gsLst>
                  <a:gs pos="0">
                    <a:srgbClr val="EAEAEA"/>
                  </a:gs>
                  <a:gs pos="100000">
                    <a:srgbClr val="EAEAEA">
                      <a:gamma/>
                      <a:tint val="60784"/>
                      <a:invGamma/>
                    </a:srgbClr>
                  </a:gs>
                </a:gsLst>
                <a:lin ang="0" scaled="1"/>
              </a:gradFill>
              <a:ln w="6350" cap="rnd" cmpd="sng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8" name="Freeform 190"/>
              <p:cNvSpPr>
                <a:spLocks noChangeAspect="1"/>
              </p:cNvSpPr>
              <p:nvPr/>
            </p:nvSpPr>
            <p:spPr bwMode="auto">
              <a:xfrm>
                <a:off x="1464" y="2079"/>
                <a:ext cx="720" cy="309"/>
              </a:xfrm>
              <a:custGeom>
                <a:avLst/>
                <a:gdLst/>
                <a:ahLst/>
                <a:cxnLst>
                  <a:cxn ang="0">
                    <a:pos x="166" y="310"/>
                  </a:cxn>
                  <a:cxn ang="0">
                    <a:pos x="718" y="211"/>
                  </a:cxn>
                  <a:cxn ang="0">
                    <a:pos x="444" y="0"/>
                  </a:cxn>
                  <a:cxn ang="0">
                    <a:pos x="0" y="64"/>
                  </a:cxn>
                  <a:cxn ang="0">
                    <a:pos x="166" y="310"/>
                  </a:cxn>
                </a:cxnLst>
                <a:rect l="0" t="0" r="r" b="b"/>
                <a:pathLst>
                  <a:path w="718" h="310">
                    <a:moveTo>
                      <a:pt x="166" y="310"/>
                    </a:moveTo>
                    <a:lnTo>
                      <a:pt x="718" y="211"/>
                    </a:lnTo>
                    <a:lnTo>
                      <a:pt x="444" y="0"/>
                    </a:lnTo>
                    <a:lnTo>
                      <a:pt x="0" y="64"/>
                    </a:lnTo>
                    <a:lnTo>
                      <a:pt x="166" y="31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rnd" cmpd="sng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9" name="Freeform 191"/>
              <p:cNvSpPr>
                <a:spLocks/>
              </p:cNvSpPr>
              <p:nvPr/>
            </p:nvSpPr>
            <p:spPr bwMode="auto">
              <a:xfrm>
                <a:off x="1622" y="2288"/>
                <a:ext cx="544" cy="228"/>
              </a:xfrm>
              <a:custGeom>
                <a:avLst/>
                <a:gdLst/>
                <a:ahLst/>
                <a:cxnLst>
                  <a:cxn ang="0">
                    <a:pos x="6" y="99"/>
                  </a:cxn>
                  <a:cxn ang="0">
                    <a:pos x="557" y="0"/>
                  </a:cxn>
                  <a:cxn ang="0">
                    <a:pos x="549" y="121"/>
                  </a:cxn>
                  <a:cxn ang="0">
                    <a:pos x="0" y="228"/>
                  </a:cxn>
                  <a:cxn ang="0">
                    <a:pos x="6" y="99"/>
                  </a:cxn>
                </a:cxnLst>
                <a:rect l="0" t="0" r="r" b="b"/>
                <a:pathLst>
                  <a:path w="557" h="228">
                    <a:moveTo>
                      <a:pt x="6" y="99"/>
                    </a:moveTo>
                    <a:lnTo>
                      <a:pt x="557" y="0"/>
                    </a:lnTo>
                    <a:lnTo>
                      <a:pt x="549" y="121"/>
                    </a:lnTo>
                    <a:lnTo>
                      <a:pt x="0" y="228"/>
                    </a:lnTo>
                    <a:lnTo>
                      <a:pt x="6" y="99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EAEAEA"/>
                  </a:gs>
                  <a:gs pos="50000">
                    <a:srgbClr val="EAEAEA">
                      <a:gamma/>
                      <a:tint val="0"/>
                      <a:invGamma/>
                    </a:srgbClr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0" name="Freeform 192"/>
              <p:cNvSpPr>
                <a:spLocks/>
              </p:cNvSpPr>
              <p:nvPr/>
            </p:nvSpPr>
            <p:spPr bwMode="auto">
              <a:xfrm>
                <a:off x="1644" y="2425"/>
                <a:ext cx="168" cy="64"/>
              </a:xfrm>
              <a:custGeom>
                <a:avLst/>
                <a:gdLst/>
                <a:ahLst/>
                <a:cxnLst>
                  <a:cxn ang="0">
                    <a:pos x="0" y="32"/>
                  </a:cxn>
                  <a:cxn ang="0">
                    <a:pos x="0" y="63"/>
                  </a:cxn>
                  <a:cxn ang="0">
                    <a:pos x="164" y="33"/>
                  </a:cxn>
                  <a:cxn ang="0">
                    <a:pos x="167" y="0"/>
                  </a:cxn>
                  <a:cxn ang="0">
                    <a:pos x="0" y="32"/>
                  </a:cxn>
                </a:cxnLst>
                <a:rect l="0" t="0" r="r" b="b"/>
                <a:pathLst>
                  <a:path w="167" h="63">
                    <a:moveTo>
                      <a:pt x="0" y="32"/>
                    </a:moveTo>
                    <a:lnTo>
                      <a:pt x="0" y="63"/>
                    </a:lnTo>
                    <a:lnTo>
                      <a:pt x="164" y="33"/>
                    </a:lnTo>
                    <a:lnTo>
                      <a:pt x="167" y="0"/>
                    </a:lnTo>
                    <a:lnTo>
                      <a:pt x="0" y="3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0C0C0">
                      <a:gamma/>
                      <a:tint val="60784"/>
                      <a:invGamma/>
                    </a:srgbClr>
                  </a:gs>
                  <a:gs pos="100000">
                    <a:srgbClr val="C0C0C0"/>
                  </a:gs>
                </a:gsLst>
                <a:lin ang="0" scaled="1"/>
              </a:gradFill>
              <a:ln w="9525">
                <a:noFill/>
                <a:round/>
                <a:headEnd type="none" w="med" len="med"/>
                <a:tailEnd type="none" w="med" len="med"/>
              </a:ln>
              <a:effectLst>
                <a:prstShdw prst="shdw17" dist="17961" dir="13500000">
                  <a:srgbClr val="969696"/>
                </a:prstShdw>
              </a:effectLst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1" name="Oval 193"/>
              <p:cNvSpPr>
                <a:spLocks noChangeArrowheads="1"/>
              </p:cNvSpPr>
              <p:nvPr/>
            </p:nvSpPr>
            <p:spPr bwMode="auto">
              <a:xfrm>
                <a:off x="1783" y="2433"/>
                <a:ext cx="17" cy="23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2" name="Line 194"/>
              <p:cNvSpPr>
                <a:spLocks noChangeShapeType="1"/>
              </p:cNvSpPr>
              <p:nvPr/>
            </p:nvSpPr>
            <p:spPr bwMode="auto">
              <a:xfrm flipH="1">
                <a:off x="2042" y="2338"/>
                <a:ext cx="4" cy="81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3" name="Line 195"/>
              <p:cNvSpPr>
                <a:spLocks noChangeShapeType="1"/>
              </p:cNvSpPr>
              <p:nvPr/>
            </p:nvSpPr>
            <p:spPr bwMode="auto">
              <a:xfrm flipH="1">
                <a:off x="2029" y="2340"/>
                <a:ext cx="2" cy="85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4" name="Line 196"/>
              <p:cNvSpPr>
                <a:spLocks noChangeShapeType="1"/>
              </p:cNvSpPr>
              <p:nvPr/>
            </p:nvSpPr>
            <p:spPr bwMode="auto">
              <a:xfrm flipH="1">
                <a:off x="2056" y="2336"/>
                <a:ext cx="4" cy="81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5" name="Line 197"/>
              <p:cNvSpPr>
                <a:spLocks noChangeShapeType="1"/>
              </p:cNvSpPr>
              <p:nvPr/>
            </p:nvSpPr>
            <p:spPr bwMode="auto">
              <a:xfrm flipH="1">
                <a:off x="2069" y="2334"/>
                <a:ext cx="2" cy="81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6" name="Line 198"/>
              <p:cNvSpPr>
                <a:spLocks noChangeShapeType="1"/>
              </p:cNvSpPr>
              <p:nvPr/>
            </p:nvSpPr>
            <p:spPr bwMode="auto">
              <a:xfrm flipH="1">
                <a:off x="2081" y="2332"/>
                <a:ext cx="4" cy="81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7" name="Line 199"/>
              <p:cNvSpPr>
                <a:spLocks noChangeShapeType="1"/>
              </p:cNvSpPr>
              <p:nvPr/>
            </p:nvSpPr>
            <p:spPr bwMode="auto">
              <a:xfrm flipH="1">
                <a:off x="2094" y="2329"/>
                <a:ext cx="4" cy="83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8" name="Line 200"/>
              <p:cNvSpPr>
                <a:spLocks noChangeShapeType="1"/>
              </p:cNvSpPr>
              <p:nvPr/>
            </p:nvSpPr>
            <p:spPr bwMode="auto">
              <a:xfrm flipH="1">
                <a:off x="2106" y="2329"/>
                <a:ext cx="2" cy="81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9" name="Line 201"/>
              <p:cNvSpPr>
                <a:spLocks noChangeShapeType="1"/>
              </p:cNvSpPr>
              <p:nvPr/>
            </p:nvSpPr>
            <p:spPr bwMode="auto">
              <a:xfrm flipH="1">
                <a:off x="2118" y="2323"/>
                <a:ext cx="2" cy="83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0" name="Line 202"/>
              <p:cNvSpPr>
                <a:spLocks noChangeShapeType="1"/>
              </p:cNvSpPr>
              <p:nvPr/>
            </p:nvSpPr>
            <p:spPr bwMode="auto">
              <a:xfrm flipH="1">
                <a:off x="2129" y="2323"/>
                <a:ext cx="2" cy="81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1" name="Line 203"/>
              <p:cNvSpPr>
                <a:spLocks noChangeShapeType="1"/>
              </p:cNvSpPr>
              <p:nvPr/>
            </p:nvSpPr>
            <p:spPr bwMode="auto">
              <a:xfrm flipH="1">
                <a:off x="2141" y="2321"/>
                <a:ext cx="2" cy="83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2" name="Line 204"/>
              <p:cNvSpPr>
                <a:spLocks noChangeShapeType="1"/>
              </p:cNvSpPr>
              <p:nvPr/>
            </p:nvSpPr>
            <p:spPr bwMode="auto">
              <a:xfrm flipH="1">
                <a:off x="2154" y="2319"/>
                <a:ext cx="2" cy="81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17961" dir="18900000" algn="ctr" rotWithShape="0">
                  <a:srgbClr val="969696">
                    <a:alpha val="50000"/>
                  </a:srgbClr>
                </a:outerShdw>
              </a:effectLst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3" name="Freeform 205"/>
              <p:cNvSpPr>
                <a:spLocks/>
              </p:cNvSpPr>
              <p:nvPr/>
            </p:nvSpPr>
            <p:spPr bwMode="auto">
              <a:xfrm>
                <a:off x="1862" y="2371"/>
                <a:ext cx="93" cy="68"/>
              </a:xfrm>
              <a:custGeom>
                <a:avLst/>
                <a:gdLst/>
                <a:ahLst/>
                <a:cxnLst>
                  <a:cxn ang="0">
                    <a:pos x="2" y="33"/>
                  </a:cxn>
                  <a:cxn ang="0">
                    <a:pos x="0" y="138"/>
                  </a:cxn>
                  <a:cxn ang="0">
                    <a:pos x="186" y="104"/>
                  </a:cxn>
                  <a:cxn ang="0">
                    <a:pos x="186" y="0"/>
                  </a:cxn>
                  <a:cxn ang="0">
                    <a:pos x="2" y="33"/>
                  </a:cxn>
                </a:cxnLst>
                <a:rect l="0" t="0" r="r" b="b"/>
                <a:pathLst>
                  <a:path w="186" h="138">
                    <a:moveTo>
                      <a:pt x="2" y="33"/>
                    </a:moveTo>
                    <a:lnTo>
                      <a:pt x="0" y="138"/>
                    </a:lnTo>
                    <a:lnTo>
                      <a:pt x="186" y="104"/>
                    </a:lnTo>
                    <a:lnTo>
                      <a:pt x="186" y="0"/>
                    </a:lnTo>
                    <a:lnTo>
                      <a:pt x="2" y="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969696"/>
                  </a:gs>
                  <a:gs pos="100000">
                    <a:srgbClr val="969696">
                      <a:gamma/>
                      <a:shade val="75686"/>
                      <a:invGamma/>
                    </a:srgbClr>
                  </a:gs>
                </a:gsLst>
                <a:lin ang="0" scaled="1"/>
              </a:gradFill>
              <a:ln w="3175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7" dist="17961" dir="13500000">
                  <a:srgbClr val="969696">
                    <a:alpha val="50000"/>
                  </a:srgbClr>
                </a:prstShdw>
              </a:effectLst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4" name="Line 206"/>
              <p:cNvSpPr>
                <a:spLocks noChangeShapeType="1"/>
              </p:cNvSpPr>
              <p:nvPr/>
            </p:nvSpPr>
            <p:spPr bwMode="auto">
              <a:xfrm flipH="1">
                <a:off x="1874" y="2408"/>
                <a:ext cx="0" cy="21"/>
              </a:xfrm>
              <a:prstGeom prst="line">
                <a:avLst/>
              </a:prstGeom>
              <a:noFill/>
              <a:ln w="9525">
                <a:solidFill>
                  <a:srgbClr val="3399FF">
                    <a:alpha val="55000"/>
                  </a:srgb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5" name="Line 207"/>
              <p:cNvSpPr>
                <a:spLocks noChangeShapeType="1"/>
              </p:cNvSpPr>
              <p:nvPr/>
            </p:nvSpPr>
            <p:spPr bwMode="auto">
              <a:xfrm flipH="1">
                <a:off x="1947" y="2394"/>
                <a:ext cx="0" cy="19"/>
              </a:xfrm>
              <a:prstGeom prst="line">
                <a:avLst/>
              </a:prstGeom>
              <a:noFill/>
              <a:ln w="9525">
                <a:solidFill>
                  <a:srgbClr val="3399FF">
                    <a:alpha val="55000"/>
                  </a:srgb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6" name="Line 208"/>
              <p:cNvSpPr>
                <a:spLocks noChangeShapeType="1"/>
              </p:cNvSpPr>
              <p:nvPr/>
            </p:nvSpPr>
            <p:spPr bwMode="auto">
              <a:xfrm flipH="1">
                <a:off x="1938" y="2404"/>
                <a:ext cx="0" cy="15"/>
              </a:xfrm>
              <a:prstGeom prst="line">
                <a:avLst/>
              </a:prstGeom>
              <a:noFill/>
              <a:ln w="9525">
                <a:solidFill>
                  <a:srgbClr val="3399FF">
                    <a:alpha val="55000"/>
                  </a:srgb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7" name="Line 209"/>
              <p:cNvSpPr>
                <a:spLocks noChangeShapeType="1"/>
              </p:cNvSpPr>
              <p:nvPr/>
            </p:nvSpPr>
            <p:spPr bwMode="auto">
              <a:xfrm flipH="1">
                <a:off x="1886" y="2417"/>
                <a:ext cx="0" cy="14"/>
              </a:xfrm>
              <a:prstGeom prst="line">
                <a:avLst/>
              </a:prstGeom>
              <a:noFill/>
              <a:ln w="9525">
                <a:solidFill>
                  <a:srgbClr val="3399FF">
                    <a:alpha val="55000"/>
                  </a:srgb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8" name="Line 210"/>
              <p:cNvSpPr>
                <a:spLocks noChangeShapeType="1"/>
              </p:cNvSpPr>
              <p:nvPr/>
            </p:nvSpPr>
            <p:spPr bwMode="auto">
              <a:xfrm flipV="1">
                <a:off x="1897" y="2419"/>
                <a:ext cx="29" cy="6"/>
              </a:xfrm>
              <a:prstGeom prst="line">
                <a:avLst/>
              </a:prstGeom>
              <a:noFill/>
              <a:ln w="9525">
                <a:solidFill>
                  <a:srgbClr val="FFFF99">
                    <a:alpha val="45000"/>
                  </a:srgb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9" name="Freeform 211"/>
              <p:cNvSpPr>
                <a:spLocks/>
              </p:cNvSpPr>
              <p:nvPr/>
            </p:nvSpPr>
            <p:spPr bwMode="auto">
              <a:xfrm>
                <a:off x="1671" y="2387"/>
                <a:ext cx="116" cy="39"/>
              </a:xfrm>
              <a:custGeom>
                <a:avLst/>
                <a:gdLst/>
                <a:ahLst/>
                <a:cxnLst>
                  <a:cxn ang="0">
                    <a:pos x="0" y="20"/>
                  </a:cxn>
                  <a:cxn ang="0">
                    <a:pos x="1" y="38"/>
                  </a:cxn>
                  <a:cxn ang="0">
                    <a:pos x="116" y="19"/>
                  </a:cxn>
                  <a:cxn ang="0">
                    <a:pos x="116" y="0"/>
                  </a:cxn>
                  <a:cxn ang="0">
                    <a:pos x="0" y="20"/>
                  </a:cxn>
                </a:cxnLst>
                <a:rect l="0" t="0" r="r" b="b"/>
                <a:pathLst>
                  <a:path w="116" h="38">
                    <a:moveTo>
                      <a:pt x="0" y="20"/>
                    </a:moveTo>
                    <a:lnTo>
                      <a:pt x="1" y="38"/>
                    </a:lnTo>
                    <a:lnTo>
                      <a:pt x="116" y="19"/>
                    </a:lnTo>
                    <a:lnTo>
                      <a:pt x="116" y="0"/>
                    </a:lnTo>
                    <a:lnTo>
                      <a:pt x="0" y="2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0C0C0">
                      <a:gamma/>
                      <a:tint val="60784"/>
                      <a:invGamma/>
                    </a:srgbClr>
                  </a:gs>
                  <a:gs pos="100000">
                    <a:srgbClr val="C0C0C0"/>
                  </a:gs>
                </a:gsLst>
                <a:lin ang="0" scaled="1"/>
              </a:gradFill>
              <a:ln w="9525">
                <a:noFill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0" name="Line 212"/>
              <p:cNvSpPr>
                <a:spLocks noChangeShapeType="1"/>
              </p:cNvSpPr>
              <p:nvPr/>
            </p:nvSpPr>
            <p:spPr bwMode="auto">
              <a:xfrm flipV="1">
                <a:off x="1661" y="2394"/>
                <a:ext cx="133" cy="23"/>
              </a:xfrm>
              <a:prstGeom prst="line">
                <a:avLst/>
              </a:prstGeom>
              <a:noFill/>
              <a:ln w="3175">
                <a:solidFill>
                  <a:srgbClr val="5F5F5F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91" name="Group 213"/>
            <p:cNvGrpSpPr>
              <a:grpSpLocks/>
            </p:cNvGrpSpPr>
            <p:nvPr/>
          </p:nvGrpSpPr>
          <p:grpSpPr bwMode="auto">
            <a:xfrm flipH="1">
              <a:off x="1536" y="1680"/>
              <a:ext cx="585" cy="583"/>
              <a:chOff x="1829" y="1130"/>
              <a:chExt cx="1859" cy="1865"/>
            </a:xfrm>
          </p:grpSpPr>
          <p:grpSp>
            <p:nvGrpSpPr>
              <p:cNvPr id="92" name="Group 214"/>
              <p:cNvGrpSpPr>
                <a:grpSpLocks/>
              </p:cNvGrpSpPr>
              <p:nvPr/>
            </p:nvGrpSpPr>
            <p:grpSpPr bwMode="auto">
              <a:xfrm>
                <a:off x="2470" y="1323"/>
                <a:ext cx="1218" cy="1259"/>
                <a:chOff x="2601" y="1199"/>
                <a:chExt cx="1218" cy="1408"/>
              </a:xfrm>
            </p:grpSpPr>
            <p:sp>
              <p:nvSpPr>
                <p:cNvPr id="105" name="Freeform 215"/>
                <p:cNvSpPr>
                  <a:spLocks/>
                </p:cNvSpPr>
                <p:nvPr/>
              </p:nvSpPr>
              <p:spPr bwMode="auto">
                <a:xfrm>
                  <a:off x="2598" y="1201"/>
                  <a:ext cx="1217" cy="180"/>
                </a:xfrm>
                <a:custGeom>
                  <a:avLst/>
                  <a:gdLst/>
                  <a:ahLst/>
                  <a:cxnLst>
                    <a:cxn ang="0">
                      <a:pos x="1205" y="151"/>
                    </a:cxn>
                    <a:cxn ang="0">
                      <a:pos x="964" y="178"/>
                    </a:cxn>
                    <a:cxn ang="0">
                      <a:pos x="0" y="0"/>
                    </a:cxn>
                    <a:cxn ang="0">
                      <a:pos x="1205" y="151"/>
                    </a:cxn>
                  </a:cxnLst>
                  <a:rect l="0" t="0" r="r" b="b"/>
                  <a:pathLst>
                    <a:path w="1205" h="178">
                      <a:moveTo>
                        <a:pt x="1205" y="151"/>
                      </a:moveTo>
                      <a:lnTo>
                        <a:pt x="964" y="178"/>
                      </a:lnTo>
                      <a:lnTo>
                        <a:pt x="0" y="0"/>
                      </a:lnTo>
                      <a:lnTo>
                        <a:pt x="1205" y="151"/>
                      </a:lnTo>
                      <a:close/>
                    </a:path>
                  </a:pathLst>
                </a:custGeom>
                <a:solidFill>
                  <a:srgbClr val="EAEAEA"/>
                </a:solidFill>
                <a:ln w="9525">
                  <a:solidFill>
                    <a:srgbClr val="969696"/>
                  </a:solidFill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fontAlgn="auto" latinLnBrk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0" lang="ko-KR" altLang="en-US" sz="1600" b="0" kern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6" name="Freeform 216"/>
                <p:cNvSpPr>
                  <a:spLocks/>
                </p:cNvSpPr>
                <p:nvPr/>
              </p:nvSpPr>
              <p:spPr bwMode="auto">
                <a:xfrm>
                  <a:off x="3415" y="1360"/>
                  <a:ext cx="406" cy="1245"/>
                </a:xfrm>
                <a:custGeom>
                  <a:avLst/>
                  <a:gdLst/>
                  <a:ahLst/>
                  <a:cxnLst>
                    <a:cxn ang="0">
                      <a:pos x="405" y="0"/>
                    </a:cxn>
                    <a:cxn ang="0">
                      <a:pos x="389" y="1000"/>
                    </a:cxn>
                    <a:cxn ang="0">
                      <a:pos x="133" y="1241"/>
                    </a:cxn>
                    <a:cxn ang="0">
                      <a:pos x="0" y="13"/>
                    </a:cxn>
                    <a:cxn ang="0">
                      <a:pos x="189" y="24"/>
                    </a:cxn>
                    <a:cxn ang="0">
                      <a:pos x="405" y="0"/>
                    </a:cxn>
                  </a:cxnLst>
                  <a:rect l="0" t="0" r="r" b="b"/>
                  <a:pathLst>
                    <a:path w="405" h="1241">
                      <a:moveTo>
                        <a:pt x="405" y="0"/>
                      </a:moveTo>
                      <a:lnTo>
                        <a:pt x="389" y="1000"/>
                      </a:lnTo>
                      <a:lnTo>
                        <a:pt x="133" y="1241"/>
                      </a:lnTo>
                      <a:lnTo>
                        <a:pt x="0" y="13"/>
                      </a:lnTo>
                      <a:lnTo>
                        <a:pt x="189" y="24"/>
                      </a:lnTo>
                      <a:lnTo>
                        <a:pt x="405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969696">
                        <a:gamma/>
                        <a:tint val="48627"/>
                        <a:invGamma/>
                      </a:srgbClr>
                    </a:gs>
                    <a:gs pos="100000">
                      <a:srgbClr val="969696"/>
                    </a:gs>
                  </a:gsLst>
                  <a:lin ang="0" scaled="1"/>
                </a:gradFill>
                <a:ln w="9525">
                  <a:solidFill>
                    <a:srgbClr val="969696"/>
                  </a:solidFill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fontAlgn="auto" latinLnBrk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0" lang="ko-KR" altLang="en-US" sz="1600" b="0" kern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93" name="Oval 217"/>
              <p:cNvSpPr>
                <a:spLocks noChangeArrowheads="1"/>
              </p:cNvSpPr>
              <p:nvPr/>
            </p:nvSpPr>
            <p:spPr bwMode="auto">
              <a:xfrm flipH="1">
                <a:off x="2270" y="2679"/>
                <a:ext cx="1106" cy="315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4" name="Oval 218"/>
              <p:cNvSpPr>
                <a:spLocks noChangeArrowheads="1"/>
              </p:cNvSpPr>
              <p:nvPr/>
            </p:nvSpPr>
            <p:spPr bwMode="auto">
              <a:xfrm flipH="1">
                <a:off x="2270" y="2654"/>
                <a:ext cx="1106" cy="315"/>
              </a:xfrm>
              <a:prstGeom prst="ellipse">
                <a:avLst/>
              </a:prstGeom>
              <a:gradFill rotWithShape="1">
                <a:gsLst>
                  <a:gs pos="0">
                    <a:srgbClr val="C0C0C0"/>
                  </a:gs>
                  <a:gs pos="100000">
                    <a:srgbClr val="EAEAEA"/>
                  </a:gs>
                </a:gsLst>
                <a:lin ang="270000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5" name="Freeform 219"/>
              <p:cNvSpPr>
                <a:spLocks/>
              </p:cNvSpPr>
              <p:nvPr/>
            </p:nvSpPr>
            <p:spPr bwMode="auto">
              <a:xfrm>
                <a:off x="1827" y="1139"/>
                <a:ext cx="1623" cy="1732"/>
              </a:xfrm>
              <a:custGeom>
                <a:avLst/>
                <a:gdLst/>
                <a:ahLst/>
                <a:cxnLst>
                  <a:cxn ang="0">
                    <a:pos x="1602" y="204"/>
                  </a:cxn>
                  <a:cxn ang="0">
                    <a:pos x="5" y="0"/>
                  </a:cxn>
                  <a:cxn ang="0">
                    <a:pos x="0" y="1488"/>
                  </a:cxn>
                  <a:cxn ang="0">
                    <a:pos x="1597" y="1734"/>
                  </a:cxn>
                  <a:cxn ang="0">
                    <a:pos x="1602" y="204"/>
                  </a:cxn>
                </a:cxnLst>
                <a:rect l="0" t="0" r="r" b="b"/>
                <a:pathLst>
                  <a:path w="1602" h="1734">
                    <a:moveTo>
                      <a:pt x="1602" y="204"/>
                    </a:moveTo>
                    <a:lnTo>
                      <a:pt x="5" y="0"/>
                    </a:lnTo>
                    <a:lnTo>
                      <a:pt x="0" y="1488"/>
                    </a:lnTo>
                    <a:lnTo>
                      <a:pt x="1597" y="1734"/>
                    </a:lnTo>
                    <a:lnTo>
                      <a:pt x="1602" y="204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DDDDDD"/>
                  </a:gs>
                </a:gsLst>
                <a:lin ang="5400000" scaled="1"/>
              </a:gradFill>
              <a:ln w="9525">
                <a:solidFill>
                  <a:srgbClr val="969696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6" name="Freeform 220"/>
              <p:cNvSpPr>
                <a:spLocks/>
              </p:cNvSpPr>
              <p:nvPr/>
            </p:nvSpPr>
            <p:spPr bwMode="auto">
              <a:xfrm>
                <a:off x="1895" y="2543"/>
                <a:ext cx="1334" cy="328"/>
              </a:xfrm>
              <a:custGeom>
                <a:avLst/>
                <a:gdLst/>
                <a:ahLst/>
                <a:cxnLst>
                  <a:cxn ang="0">
                    <a:pos x="1327" y="200"/>
                  </a:cxn>
                  <a:cxn ang="0">
                    <a:pos x="0" y="0"/>
                  </a:cxn>
                  <a:cxn ang="0">
                    <a:pos x="0" y="115"/>
                  </a:cxn>
                  <a:cxn ang="0">
                    <a:pos x="1330" y="330"/>
                  </a:cxn>
                  <a:cxn ang="0">
                    <a:pos x="1327" y="200"/>
                  </a:cxn>
                </a:cxnLst>
                <a:rect l="0" t="0" r="r" b="b"/>
                <a:pathLst>
                  <a:path w="1330" h="330">
                    <a:moveTo>
                      <a:pt x="1327" y="200"/>
                    </a:moveTo>
                    <a:lnTo>
                      <a:pt x="0" y="0"/>
                    </a:lnTo>
                    <a:lnTo>
                      <a:pt x="0" y="115"/>
                    </a:lnTo>
                    <a:lnTo>
                      <a:pt x="1330" y="330"/>
                    </a:lnTo>
                    <a:lnTo>
                      <a:pt x="1327" y="20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0C0C0"/>
                  </a:gs>
                  <a:gs pos="50000">
                    <a:srgbClr val="FFFFFF"/>
                  </a:gs>
                  <a:gs pos="100000">
                    <a:srgbClr val="C0C0C0"/>
                  </a:gs>
                </a:gsLst>
                <a:lin ang="5400000" scaled="1"/>
              </a:gradFill>
              <a:ln w="9525">
                <a:solidFill>
                  <a:srgbClr val="969696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7" name="Freeform 221"/>
              <p:cNvSpPr>
                <a:spLocks/>
              </p:cNvSpPr>
              <p:nvPr/>
            </p:nvSpPr>
            <p:spPr bwMode="auto">
              <a:xfrm>
                <a:off x="3438" y="1337"/>
                <a:ext cx="55" cy="1534"/>
              </a:xfrm>
              <a:custGeom>
                <a:avLst/>
                <a:gdLst/>
                <a:ahLst/>
                <a:cxnLst>
                  <a:cxn ang="0">
                    <a:pos x="4" y="16"/>
                  </a:cxn>
                  <a:cxn ang="0">
                    <a:pos x="56" y="0"/>
                  </a:cxn>
                  <a:cxn ang="0">
                    <a:pos x="46" y="1513"/>
                  </a:cxn>
                  <a:cxn ang="0">
                    <a:pos x="0" y="1536"/>
                  </a:cxn>
                  <a:cxn ang="0">
                    <a:pos x="4" y="16"/>
                  </a:cxn>
                </a:cxnLst>
                <a:rect l="0" t="0" r="r" b="b"/>
                <a:pathLst>
                  <a:path w="56" h="1536">
                    <a:moveTo>
                      <a:pt x="4" y="16"/>
                    </a:moveTo>
                    <a:lnTo>
                      <a:pt x="56" y="0"/>
                    </a:lnTo>
                    <a:lnTo>
                      <a:pt x="46" y="1513"/>
                    </a:lnTo>
                    <a:lnTo>
                      <a:pt x="0" y="1536"/>
                    </a:lnTo>
                    <a:lnTo>
                      <a:pt x="4" y="1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77777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8" name="Oval 222"/>
              <p:cNvSpPr>
                <a:spLocks noChangeArrowheads="1"/>
              </p:cNvSpPr>
              <p:nvPr/>
            </p:nvSpPr>
            <p:spPr bwMode="auto">
              <a:xfrm flipH="1">
                <a:off x="1969" y="2568"/>
                <a:ext cx="49" cy="93"/>
              </a:xfrm>
              <a:prstGeom prst="ellipse">
                <a:avLst/>
              </a:prstGeom>
              <a:solidFill>
                <a:srgbClr val="777777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9" name="Oval 223"/>
              <p:cNvSpPr>
                <a:spLocks noChangeArrowheads="1"/>
              </p:cNvSpPr>
              <p:nvPr/>
            </p:nvSpPr>
            <p:spPr bwMode="auto">
              <a:xfrm flipH="1">
                <a:off x="2061" y="2592"/>
                <a:ext cx="43" cy="74"/>
              </a:xfrm>
              <a:prstGeom prst="ellipse">
                <a:avLst/>
              </a:prstGeom>
              <a:solidFill>
                <a:srgbClr val="C0C0C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0" name="Oval 224"/>
              <p:cNvSpPr>
                <a:spLocks noChangeArrowheads="1"/>
              </p:cNvSpPr>
              <p:nvPr/>
            </p:nvSpPr>
            <p:spPr bwMode="auto">
              <a:xfrm flipH="1">
                <a:off x="2356" y="2661"/>
                <a:ext cx="55" cy="56"/>
              </a:xfrm>
              <a:prstGeom prst="ellipse">
                <a:avLst/>
              </a:prstGeom>
              <a:solidFill>
                <a:srgbClr val="C0C0C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1" name="Oval 225"/>
              <p:cNvSpPr>
                <a:spLocks noChangeArrowheads="1"/>
              </p:cNvSpPr>
              <p:nvPr/>
            </p:nvSpPr>
            <p:spPr bwMode="auto">
              <a:xfrm flipH="1">
                <a:off x="2454" y="2679"/>
                <a:ext cx="49" cy="56"/>
              </a:xfrm>
              <a:prstGeom prst="ellipse">
                <a:avLst/>
              </a:prstGeom>
              <a:solidFill>
                <a:srgbClr val="C0C0C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2" name="Oval 226"/>
              <p:cNvSpPr>
                <a:spLocks noChangeArrowheads="1"/>
              </p:cNvSpPr>
              <p:nvPr/>
            </p:nvSpPr>
            <p:spPr bwMode="auto">
              <a:xfrm flipH="1">
                <a:off x="2553" y="2691"/>
                <a:ext cx="55" cy="56"/>
              </a:xfrm>
              <a:prstGeom prst="ellipse">
                <a:avLst/>
              </a:prstGeom>
              <a:solidFill>
                <a:srgbClr val="C0C0C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3" name="Freeform 227"/>
              <p:cNvSpPr>
                <a:spLocks/>
              </p:cNvSpPr>
              <p:nvPr/>
            </p:nvSpPr>
            <p:spPr bwMode="auto">
              <a:xfrm>
                <a:off x="1952" y="1310"/>
                <a:ext cx="1342" cy="1363"/>
              </a:xfrm>
              <a:custGeom>
                <a:avLst/>
                <a:gdLst>
                  <a:gd name="T0" fmla="*/ 1312 w 1345"/>
                  <a:gd name="T1" fmla="*/ 167 h 1366"/>
                  <a:gd name="T2" fmla="*/ 0 w 1345"/>
                  <a:gd name="T3" fmla="*/ 0 h 1366"/>
                  <a:gd name="T4" fmla="*/ 0 w 1345"/>
                  <a:gd name="T5" fmla="*/ 1139 h 1366"/>
                  <a:gd name="T6" fmla="*/ 1327 w 1345"/>
                  <a:gd name="T7" fmla="*/ 1348 h 1366"/>
                  <a:gd name="T8" fmla="*/ 1312 w 1345"/>
                  <a:gd name="T9" fmla="*/ 167 h 136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45"/>
                  <a:gd name="T16" fmla="*/ 0 h 1366"/>
                  <a:gd name="T17" fmla="*/ 1345 w 1345"/>
                  <a:gd name="T18" fmla="*/ 1366 h 136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45" h="1366">
                    <a:moveTo>
                      <a:pt x="1330" y="167"/>
                    </a:moveTo>
                    <a:lnTo>
                      <a:pt x="0" y="0"/>
                    </a:lnTo>
                    <a:lnTo>
                      <a:pt x="0" y="1157"/>
                    </a:lnTo>
                    <a:lnTo>
                      <a:pt x="1345" y="1366"/>
                    </a:lnTo>
                    <a:lnTo>
                      <a:pt x="1330" y="167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0C0C0"/>
                  </a:gs>
                  <a:gs pos="100000">
                    <a:srgbClr val="4D4D4D"/>
                  </a:gs>
                </a:gsLst>
                <a:lin ang="540000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latinLnBrk="0"/>
                <a:endParaRPr kumimoji="0" lang="ko-KR" altLang="en-US" sz="1600" b="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4" name="Freeform 228"/>
              <p:cNvSpPr>
                <a:spLocks/>
              </p:cNvSpPr>
              <p:nvPr/>
            </p:nvSpPr>
            <p:spPr bwMode="auto">
              <a:xfrm>
                <a:off x="1833" y="1133"/>
                <a:ext cx="1660" cy="216"/>
              </a:xfrm>
              <a:custGeom>
                <a:avLst/>
                <a:gdLst/>
                <a:ahLst/>
                <a:cxnLst>
                  <a:cxn ang="0">
                    <a:pos x="0" y="10"/>
                  </a:cxn>
                  <a:cxn ang="0">
                    <a:pos x="68" y="0"/>
                  </a:cxn>
                  <a:cxn ang="0">
                    <a:pos x="1660" y="199"/>
                  </a:cxn>
                  <a:cxn ang="0">
                    <a:pos x="1613" y="214"/>
                  </a:cxn>
                  <a:cxn ang="0">
                    <a:pos x="0" y="10"/>
                  </a:cxn>
                </a:cxnLst>
                <a:rect l="0" t="0" r="r" b="b"/>
                <a:pathLst>
                  <a:path w="1660" h="214">
                    <a:moveTo>
                      <a:pt x="0" y="10"/>
                    </a:moveTo>
                    <a:lnTo>
                      <a:pt x="68" y="0"/>
                    </a:lnTo>
                    <a:lnTo>
                      <a:pt x="1660" y="199"/>
                    </a:lnTo>
                    <a:lnTo>
                      <a:pt x="1613" y="214"/>
                    </a:lnTo>
                    <a:lnTo>
                      <a:pt x="0" y="10"/>
                    </a:lnTo>
                    <a:close/>
                  </a:path>
                </a:pathLst>
              </a:custGeom>
              <a:noFill/>
              <a:ln w="9525">
                <a:solidFill>
                  <a:srgbClr val="969696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6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pic>
        <p:nvPicPr>
          <p:cNvPr id="144" name="Picture 2" descr="C:\Users\Toshiba\AppData\Local\Microsoft\Windows\Temporary Internet Files\Content.IE5\TBE21NJN\MC900428971[1]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09458" y="4302853"/>
            <a:ext cx="478201" cy="766152"/>
          </a:xfrm>
          <a:prstGeom prst="rect">
            <a:avLst/>
          </a:prstGeom>
          <a:noFill/>
        </p:spPr>
      </p:pic>
      <p:grpSp>
        <p:nvGrpSpPr>
          <p:cNvPr id="145" name="그룹 144"/>
          <p:cNvGrpSpPr/>
          <p:nvPr/>
        </p:nvGrpSpPr>
        <p:grpSpPr>
          <a:xfrm>
            <a:off x="1305931" y="4575555"/>
            <a:ext cx="594318" cy="301505"/>
            <a:chOff x="1993293" y="2564030"/>
            <a:chExt cx="807572" cy="288942"/>
          </a:xfrm>
        </p:grpSpPr>
        <p:sp>
          <p:nvSpPr>
            <p:cNvPr id="146" name="AutoShape 26"/>
            <p:cNvSpPr>
              <a:spLocks noChangeArrowheads="1"/>
            </p:cNvSpPr>
            <p:nvPr/>
          </p:nvSpPr>
          <p:spPr bwMode="auto">
            <a:xfrm>
              <a:off x="1993293" y="2564030"/>
              <a:ext cx="807572" cy="288942"/>
            </a:xfrm>
            <a:prstGeom prst="cube">
              <a:avLst>
                <a:gd name="adj" fmla="val 55426"/>
              </a:avLst>
            </a:prstGeom>
            <a:gradFill rotWithShape="1">
              <a:gsLst>
                <a:gs pos="0">
                  <a:srgbClr val="EAEAEA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777777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7" name="WordArt 28"/>
            <p:cNvSpPr>
              <a:spLocks noChangeArrowheads="1" noChangeShapeType="1" noTextEdit="1"/>
            </p:cNvSpPr>
            <p:nvPr/>
          </p:nvSpPr>
          <p:spPr bwMode="auto">
            <a:xfrm>
              <a:off x="2009917" y="2728044"/>
              <a:ext cx="584994" cy="12492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ko-KR" sz="3600" kern="10" dirty="0" smtClean="0">
                  <a:ln w="9525">
                    <a:solidFill>
                      <a:srgbClr val="808080"/>
                    </a:solidFill>
                    <a:round/>
                    <a:headEnd/>
                    <a:tailEnd/>
                  </a:ln>
                  <a:solidFill>
                    <a:srgbClr val="80808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NAT</a:t>
              </a:r>
              <a:endParaRPr lang="ko-KR" altLang="en-US" sz="36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80808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8" name="TextBox 147"/>
          <p:cNvSpPr txBox="1"/>
          <p:nvPr/>
        </p:nvSpPr>
        <p:spPr>
          <a:xfrm>
            <a:off x="-43507" y="5090017"/>
            <a:ext cx="10214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192.168.1.10/24</a:t>
            </a:r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9" name="TextBox 148"/>
          <p:cNvSpPr txBox="1"/>
          <p:nvPr/>
        </p:nvSpPr>
        <p:spPr>
          <a:xfrm>
            <a:off x="8122567" y="4998015"/>
            <a:ext cx="10214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192.168.2.20/24</a:t>
            </a:r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50" name="Group 19"/>
          <p:cNvGrpSpPr>
            <a:grpSpLocks/>
          </p:cNvGrpSpPr>
          <p:nvPr/>
        </p:nvGrpSpPr>
        <p:grpSpPr bwMode="auto">
          <a:xfrm>
            <a:off x="2526167" y="4606234"/>
            <a:ext cx="720590" cy="276802"/>
            <a:chOff x="3682" y="2312"/>
            <a:chExt cx="786" cy="497"/>
          </a:xfrm>
        </p:grpSpPr>
        <p:sp>
          <p:nvSpPr>
            <p:cNvPr id="151" name="AutoShape 20"/>
            <p:cNvSpPr>
              <a:spLocks noChangeArrowheads="1"/>
            </p:cNvSpPr>
            <p:nvPr/>
          </p:nvSpPr>
          <p:spPr bwMode="auto">
            <a:xfrm>
              <a:off x="3683" y="2317"/>
              <a:ext cx="785" cy="492"/>
            </a:xfrm>
            <a:prstGeom prst="can">
              <a:avLst>
                <a:gd name="adj" fmla="val 50000"/>
              </a:avLst>
            </a:prstGeom>
            <a:gradFill rotWithShape="1">
              <a:gsLst>
                <a:gs pos="0">
                  <a:srgbClr val="DDDDDD"/>
                </a:gs>
                <a:gs pos="50000">
                  <a:srgbClr val="DDDDDD">
                    <a:gamma/>
                    <a:tint val="9020"/>
                    <a:invGamma/>
                  </a:srgbClr>
                </a:gs>
                <a:gs pos="100000">
                  <a:srgbClr val="DDDDDD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2" name="WordArt 21"/>
            <p:cNvSpPr>
              <a:spLocks noChangeArrowheads="1" noChangeShapeType="1" noTextEdit="1"/>
            </p:cNvSpPr>
            <p:nvPr/>
          </p:nvSpPr>
          <p:spPr bwMode="auto">
            <a:xfrm>
              <a:off x="3719" y="2513"/>
              <a:ext cx="717" cy="249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altLang="ko-KR" sz="5400" kern="10" dirty="0" smtClean="0">
                  <a:ln w="9525">
                    <a:solidFill>
                      <a:srgbClr val="808080"/>
                    </a:solidFill>
                    <a:round/>
                    <a:headEnd/>
                    <a:tailEnd/>
                  </a:ln>
                  <a:solidFill>
                    <a:srgbClr val="777777"/>
                  </a:solidFill>
                  <a:latin typeface="Times New Roman" pitchFamily="18" charset="0"/>
                  <a:ea typeface="Tahoma"/>
                  <a:cs typeface="Times New Roman" pitchFamily="18" charset="0"/>
                </a:rPr>
                <a:t>ROUTER</a:t>
              </a:r>
              <a:endParaRPr lang="ko-KR" altLang="en-US" sz="54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777777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3" name="Oval 22"/>
            <p:cNvSpPr>
              <a:spLocks noChangeArrowheads="1"/>
            </p:cNvSpPr>
            <p:nvPr/>
          </p:nvSpPr>
          <p:spPr bwMode="auto">
            <a:xfrm>
              <a:off x="3682" y="2312"/>
              <a:ext cx="786" cy="249"/>
            </a:xfrm>
            <a:prstGeom prst="ellipse">
              <a:avLst/>
            </a:pr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33333"/>
                    <a:invGamma/>
                  </a:srgbClr>
                </a:gs>
              </a:gsLst>
              <a:lin ang="189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4" name="AutoShape 23"/>
            <p:cNvSpPr>
              <a:spLocks noChangeArrowheads="1"/>
            </p:cNvSpPr>
            <p:nvPr/>
          </p:nvSpPr>
          <p:spPr bwMode="auto">
            <a:xfrm rot="5400000">
              <a:off x="4082" y="2198"/>
              <a:ext cx="115" cy="485"/>
            </a:xfrm>
            <a:custGeom>
              <a:avLst/>
              <a:gdLst>
                <a:gd name="T0" fmla="*/ 38 w 21600"/>
                <a:gd name="T1" fmla="*/ 14 h 21600"/>
                <a:gd name="T2" fmla="*/ 19 w 21600"/>
                <a:gd name="T3" fmla="*/ 353 h 21600"/>
                <a:gd name="T4" fmla="*/ 46 w 21600"/>
                <a:gd name="T5" fmla="*/ 103 h 21600"/>
                <a:gd name="T6" fmla="*/ 129 w 21600"/>
                <a:gd name="T7" fmla="*/ 217 h 21600"/>
                <a:gd name="T8" fmla="*/ 106 w 21600"/>
                <a:gd name="T9" fmla="*/ 333 h 21600"/>
                <a:gd name="T10" fmla="*/ 78 w 21600"/>
                <a:gd name="T11" fmla="*/ 235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93 w 21600"/>
                <a:gd name="T19" fmla="*/ 3162 h 21600"/>
                <a:gd name="T20" fmla="*/ 18407 w 21600"/>
                <a:gd name="T21" fmla="*/ 18438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7370" y="10242"/>
                  </a:moveTo>
                  <a:cubicBezTo>
                    <a:pt x="17080" y="6828"/>
                    <a:pt x="14225" y="4206"/>
                    <a:pt x="10800" y="4206"/>
                  </a:cubicBezTo>
                  <a:cubicBezTo>
                    <a:pt x="7158" y="4206"/>
                    <a:pt x="4206" y="7158"/>
                    <a:pt x="4206" y="10800"/>
                  </a:cubicBezTo>
                  <a:cubicBezTo>
                    <a:pt x="4205" y="12133"/>
                    <a:pt x="4610" y="13436"/>
                    <a:pt x="5366" y="14535"/>
                  </a:cubicBezTo>
                  <a:lnTo>
                    <a:pt x="1900" y="16918"/>
                  </a:lnTo>
                  <a:cubicBezTo>
                    <a:pt x="662" y="15117"/>
                    <a:pt x="0" y="12984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410" y="-1"/>
                    <a:pt x="21086" y="4295"/>
                    <a:pt x="21561" y="9886"/>
                  </a:cubicBezTo>
                  <a:lnTo>
                    <a:pt x="24251" y="9657"/>
                  </a:lnTo>
                  <a:lnTo>
                    <a:pt x="19871" y="14849"/>
                  </a:lnTo>
                  <a:lnTo>
                    <a:pt x="14680" y="10470"/>
                  </a:lnTo>
                  <a:lnTo>
                    <a:pt x="17370" y="10242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>
              <a:outerShdw dist="25400" dir="5400000" algn="ctr" rotWithShape="0">
                <a:srgbClr val="1C1C1C">
                  <a:alpha val="50000"/>
                </a:srgbClr>
              </a:outerShdw>
            </a:effectLst>
          </p:spPr>
          <p:txBody>
            <a:bodyPr rot="10800000" vert="eaVert" wrap="none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5" name="AutoShape 24"/>
            <p:cNvSpPr>
              <a:spLocks noChangeArrowheads="1"/>
            </p:cNvSpPr>
            <p:nvPr/>
          </p:nvSpPr>
          <p:spPr bwMode="auto">
            <a:xfrm rot="-5400000">
              <a:off x="3973" y="2157"/>
              <a:ext cx="113" cy="495"/>
            </a:xfrm>
            <a:custGeom>
              <a:avLst/>
              <a:gdLst>
                <a:gd name="T0" fmla="*/ 37 w 21600"/>
                <a:gd name="T1" fmla="*/ 14 h 21600"/>
                <a:gd name="T2" fmla="*/ 19 w 21600"/>
                <a:gd name="T3" fmla="*/ 360 h 21600"/>
                <a:gd name="T4" fmla="*/ 45 w 21600"/>
                <a:gd name="T5" fmla="*/ 105 h 21600"/>
                <a:gd name="T6" fmla="*/ 127 w 21600"/>
                <a:gd name="T7" fmla="*/ 221 h 21600"/>
                <a:gd name="T8" fmla="*/ 104 w 21600"/>
                <a:gd name="T9" fmla="*/ 340 h 21600"/>
                <a:gd name="T10" fmla="*/ 77 w 21600"/>
                <a:gd name="T11" fmla="*/ 24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250 w 21600"/>
                <a:gd name="T19" fmla="*/ 3142 h 21600"/>
                <a:gd name="T20" fmla="*/ 18350 w 21600"/>
                <a:gd name="T21" fmla="*/ 18458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7370" y="10242"/>
                  </a:moveTo>
                  <a:cubicBezTo>
                    <a:pt x="17080" y="6828"/>
                    <a:pt x="14225" y="4206"/>
                    <a:pt x="10800" y="4206"/>
                  </a:cubicBezTo>
                  <a:cubicBezTo>
                    <a:pt x="7158" y="4206"/>
                    <a:pt x="4206" y="7158"/>
                    <a:pt x="4206" y="10800"/>
                  </a:cubicBezTo>
                  <a:cubicBezTo>
                    <a:pt x="4205" y="12133"/>
                    <a:pt x="4610" y="13436"/>
                    <a:pt x="5366" y="14535"/>
                  </a:cubicBezTo>
                  <a:lnTo>
                    <a:pt x="1900" y="16918"/>
                  </a:lnTo>
                  <a:cubicBezTo>
                    <a:pt x="662" y="15117"/>
                    <a:pt x="0" y="12984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410" y="-1"/>
                    <a:pt x="21086" y="4295"/>
                    <a:pt x="21561" y="9886"/>
                  </a:cubicBezTo>
                  <a:lnTo>
                    <a:pt x="24251" y="9657"/>
                  </a:lnTo>
                  <a:lnTo>
                    <a:pt x="19871" y="14849"/>
                  </a:lnTo>
                  <a:lnTo>
                    <a:pt x="14680" y="10470"/>
                  </a:lnTo>
                  <a:lnTo>
                    <a:pt x="17370" y="10242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>
              <a:outerShdw dist="25400" dir="5400000" algn="ctr" rotWithShape="0">
                <a:srgbClr val="1C1C1C">
                  <a:alpha val="50000"/>
                </a:srgbClr>
              </a:outerShdw>
            </a:effectLst>
          </p:spPr>
          <p:txBody>
            <a:bodyPr vert="eaVert" wrap="none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56" name="Group 19"/>
          <p:cNvGrpSpPr>
            <a:grpSpLocks/>
          </p:cNvGrpSpPr>
          <p:nvPr/>
        </p:nvGrpSpPr>
        <p:grpSpPr bwMode="auto">
          <a:xfrm>
            <a:off x="5945820" y="4597870"/>
            <a:ext cx="720590" cy="276802"/>
            <a:chOff x="3682" y="2312"/>
            <a:chExt cx="786" cy="497"/>
          </a:xfrm>
        </p:grpSpPr>
        <p:sp>
          <p:nvSpPr>
            <p:cNvPr id="157" name="AutoShape 20"/>
            <p:cNvSpPr>
              <a:spLocks noChangeArrowheads="1"/>
            </p:cNvSpPr>
            <p:nvPr/>
          </p:nvSpPr>
          <p:spPr bwMode="auto">
            <a:xfrm>
              <a:off x="3683" y="2317"/>
              <a:ext cx="785" cy="492"/>
            </a:xfrm>
            <a:prstGeom prst="can">
              <a:avLst>
                <a:gd name="adj" fmla="val 50000"/>
              </a:avLst>
            </a:prstGeom>
            <a:gradFill rotWithShape="1">
              <a:gsLst>
                <a:gs pos="0">
                  <a:srgbClr val="DDDDDD"/>
                </a:gs>
                <a:gs pos="50000">
                  <a:srgbClr val="DDDDDD">
                    <a:gamma/>
                    <a:tint val="9020"/>
                    <a:invGamma/>
                  </a:srgbClr>
                </a:gs>
                <a:gs pos="100000">
                  <a:srgbClr val="DDDDDD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8" name="WordArt 21"/>
            <p:cNvSpPr>
              <a:spLocks noChangeArrowheads="1" noChangeShapeType="1" noTextEdit="1"/>
            </p:cNvSpPr>
            <p:nvPr/>
          </p:nvSpPr>
          <p:spPr bwMode="auto">
            <a:xfrm>
              <a:off x="3719" y="2513"/>
              <a:ext cx="717" cy="249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US" altLang="ko-KR" sz="5400" kern="10" dirty="0" smtClean="0">
                  <a:ln w="9525">
                    <a:solidFill>
                      <a:srgbClr val="808080"/>
                    </a:solidFill>
                    <a:round/>
                    <a:headEnd/>
                    <a:tailEnd/>
                  </a:ln>
                  <a:solidFill>
                    <a:srgbClr val="777777"/>
                  </a:solidFill>
                  <a:latin typeface="Times New Roman" pitchFamily="18" charset="0"/>
                  <a:ea typeface="Tahoma"/>
                  <a:cs typeface="Times New Roman" pitchFamily="18" charset="0"/>
                </a:rPr>
                <a:t>ROUTER</a:t>
              </a:r>
              <a:endParaRPr lang="ko-KR" altLang="en-US" sz="54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777777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9" name="Oval 22"/>
            <p:cNvSpPr>
              <a:spLocks noChangeArrowheads="1"/>
            </p:cNvSpPr>
            <p:nvPr/>
          </p:nvSpPr>
          <p:spPr bwMode="auto">
            <a:xfrm>
              <a:off x="3682" y="2312"/>
              <a:ext cx="786" cy="249"/>
            </a:xfrm>
            <a:prstGeom prst="ellipse">
              <a:avLst/>
            </a:pr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33333"/>
                    <a:invGamma/>
                  </a:srgbClr>
                </a:gs>
              </a:gsLst>
              <a:lin ang="189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0" name="AutoShape 23"/>
            <p:cNvSpPr>
              <a:spLocks noChangeArrowheads="1"/>
            </p:cNvSpPr>
            <p:nvPr/>
          </p:nvSpPr>
          <p:spPr bwMode="auto">
            <a:xfrm rot="5400000">
              <a:off x="4082" y="2198"/>
              <a:ext cx="115" cy="485"/>
            </a:xfrm>
            <a:custGeom>
              <a:avLst/>
              <a:gdLst>
                <a:gd name="T0" fmla="*/ 38 w 21600"/>
                <a:gd name="T1" fmla="*/ 14 h 21600"/>
                <a:gd name="T2" fmla="*/ 19 w 21600"/>
                <a:gd name="T3" fmla="*/ 353 h 21600"/>
                <a:gd name="T4" fmla="*/ 46 w 21600"/>
                <a:gd name="T5" fmla="*/ 103 h 21600"/>
                <a:gd name="T6" fmla="*/ 129 w 21600"/>
                <a:gd name="T7" fmla="*/ 217 h 21600"/>
                <a:gd name="T8" fmla="*/ 106 w 21600"/>
                <a:gd name="T9" fmla="*/ 333 h 21600"/>
                <a:gd name="T10" fmla="*/ 78 w 21600"/>
                <a:gd name="T11" fmla="*/ 235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93 w 21600"/>
                <a:gd name="T19" fmla="*/ 3162 h 21600"/>
                <a:gd name="T20" fmla="*/ 18407 w 21600"/>
                <a:gd name="T21" fmla="*/ 18438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7370" y="10242"/>
                  </a:moveTo>
                  <a:cubicBezTo>
                    <a:pt x="17080" y="6828"/>
                    <a:pt x="14225" y="4206"/>
                    <a:pt x="10800" y="4206"/>
                  </a:cubicBezTo>
                  <a:cubicBezTo>
                    <a:pt x="7158" y="4206"/>
                    <a:pt x="4206" y="7158"/>
                    <a:pt x="4206" y="10800"/>
                  </a:cubicBezTo>
                  <a:cubicBezTo>
                    <a:pt x="4205" y="12133"/>
                    <a:pt x="4610" y="13436"/>
                    <a:pt x="5366" y="14535"/>
                  </a:cubicBezTo>
                  <a:lnTo>
                    <a:pt x="1900" y="16918"/>
                  </a:lnTo>
                  <a:cubicBezTo>
                    <a:pt x="662" y="15117"/>
                    <a:pt x="0" y="12984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410" y="-1"/>
                    <a:pt x="21086" y="4295"/>
                    <a:pt x="21561" y="9886"/>
                  </a:cubicBezTo>
                  <a:lnTo>
                    <a:pt x="24251" y="9657"/>
                  </a:lnTo>
                  <a:lnTo>
                    <a:pt x="19871" y="14849"/>
                  </a:lnTo>
                  <a:lnTo>
                    <a:pt x="14680" y="10470"/>
                  </a:lnTo>
                  <a:lnTo>
                    <a:pt x="17370" y="10242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>
              <a:outerShdw dist="25400" dir="5400000" algn="ctr" rotWithShape="0">
                <a:srgbClr val="1C1C1C">
                  <a:alpha val="50000"/>
                </a:srgbClr>
              </a:outerShdw>
            </a:effectLst>
          </p:spPr>
          <p:txBody>
            <a:bodyPr rot="10800000" vert="eaVert" wrap="none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1" name="AutoShape 24"/>
            <p:cNvSpPr>
              <a:spLocks noChangeArrowheads="1"/>
            </p:cNvSpPr>
            <p:nvPr/>
          </p:nvSpPr>
          <p:spPr bwMode="auto">
            <a:xfrm rot="-5400000">
              <a:off x="3973" y="2157"/>
              <a:ext cx="113" cy="495"/>
            </a:xfrm>
            <a:custGeom>
              <a:avLst/>
              <a:gdLst>
                <a:gd name="T0" fmla="*/ 37 w 21600"/>
                <a:gd name="T1" fmla="*/ 14 h 21600"/>
                <a:gd name="T2" fmla="*/ 19 w 21600"/>
                <a:gd name="T3" fmla="*/ 360 h 21600"/>
                <a:gd name="T4" fmla="*/ 45 w 21600"/>
                <a:gd name="T5" fmla="*/ 105 h 21600"/>
                <a:gd name="T6" fmla="*/ 127 w 21600"/>
                <a:gd name="T7" fmla="*/ 221 h 21600"/>
                <a:gd name="T8" fmla="*/ 104 w 21600"/>
                <a:gd name="T9" fmla="*/ 340 h 21600"/>
                <a:gd name="T10" fmla="*/ 77 w 21600"/>
                <a:gd name="T11" fmla="*/ 24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250 w 21600"/>
                <a:gd name="T19" fmla="*/ 3142 h 21600"/>
                <a:gd name="T20" fmla="*/ 18350 w 21600"/>
                <a:gd name="T21" fmla="*/ 18458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7370" y="10242"/>
                  </a:moveTo>
                  <a:cubicBezTo>
                    <a:pt x="17080" y="6828"/>
                    <a:pt x="14225" y="4206"/>
                    <a:pt x="10800" y="4206"/>
                  </a:cubicBezTo>
                  <a:cubicBezTo>
                    <a:pt x="7158" y="4206"/>
                    <a:pt x="4206" y="7158"/>
                    <a:pt x="4206" y="10800"/>
                  </a:cubicBezTo>
                  <a:cubicBezTo>
                    <a:pt x="4205" y="12133"/>
                    <a:pt x="4610" y="13436"/>
                    <a:pt x="5366" y="14535"/>
                  </a:cubicBezTo>
                  <a:lnTo>
                    <a:pt x="1900" y="16918"/>
                  </a:lnTo>
                  <a:cubicBezTo>
                    <a:pt x="662" y="15117"/>
                    <a:pt x="0" y="12984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410" y="-1"/>
                    <a:pt x="21086" y="4295"/>
                    <a:pt x="21561" y="9886"/>
                  </a:cubicBezTo>
                  <a:lnTo>
                    <a:pt x="24251" y="9657"/>
                  </a:lnTo>
                  <a:lnTo>
                    <a:pt x="19871" y="14849"/>
                  </a:lnTo>
                  <a:lnTo>
                    <a:pt x="14680" y="10470"/>
                  </a:lnTo>
                  <a:lnTo>
                    <a:pt x="17370" y="10242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>
              <a:outerShdw dist="25400" dir="5400000" algn="ctr" rotWithShape="0">
                <a:srgbClr val="1C1C1C">
                  <a:alpha val="50000"/>
                </a:srgbClr>
              </a:outerShdw>
            </a:effectLst>
          </p:spPr>
          <p:txBody>
            <a:bodyPr vert="eaVert" wrap="none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62" name="그룹 161"/>
          <p:cNvGrpSpPr/>
          <p:nvPr/>
        </p:nvGrpSpPr>
        <p:grpSpPr>
          <a:xfrm>
            <a:off x="7222611" y="4582562"/>
            <a:ext cx="594318" cy="301505"/>
            <a:chOff x="1993293" y="2564030"/>
            <a:chExt cx="807572" cy="288942"/>
          </a:xfrm>
        </p:grpSpPr>
        <p:sp>
          <p:nvSpPr>
            <p:cNvPr id="163" name="AutoShape 26"/>
            <p:cNvSpPr>
              <a:spLocks noChangeArrowheads="1"/>
            </p:cNvSpPr>
            <p:nvPr/>
          </p:nvSpPr>
          <p:spPr bwMode="auto">
            <a:xfrm>
              <a:off x="1993293" y="2564030"/>
              <a:ext cx="807572" cy="288942"/>
            </a:xfrm>
            <a:prstGeom prst="cube">
              <a:avLst>
                <a:gd name="adj" fmla="val 55426"/>
              </a:avLst>
            </a:prstGeom>
            <a:gradFill rotWithShape="1">
              <a:gsLst>
                <a:gs pos="0">
                  <a:srgbClr val="EAEAEA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777777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4" name="WordArt 28"/>
            <p:cNvSpPr>
              <a:spLocks noChangeArrowheads="1" noChangeShapeType="1" noTextEdit="1"/>
            </p:cNvSpPr>
            <p:nvPr/>
          </p:nvSpPr>
          <p:spPr bwMode="auto">
            <a:xfrm>
              <a:off x="2009917" y="2728044"/>
              <a:ext cx="584994" cy="12492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ko-KR" sz="3600" kern="10" dirty="0" smtClean="0">
                  <a:ln w="9525">
                    <a:solidFill>
                      <a:srgbClr val="808080"/>
                    </a:solidFill>
                    <a:round/>
                    <a:headEnd/>
                    <a:tailEnd/>
                  </a:ln>
                  <a:solidFill>
                    <a:srgbClr val="80808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NAT</a:t>
              </a:r>
              <a:endParaRPr lang="ko-KR" altLang="en-US" sz="36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80808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65" name="TextBox 164"/>
          <p:cNvSpPr txBox="1"/>
          <p:nvPr/>
        </p:nvSpPr>
        <p:spPr>
          <a:xfrm>
            <a:off x="6673747" y="4263976"/>
            <a:ext cx="1659429" cy="2462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sz="1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22.22.22.22 → 192.168.2.20</a:t>
            </a:r>
            <a:endParaRPr lang="ko-KR" altLang="en-US" sz="1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7101982" y="3977582"/>
            <a:ext cx="8322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NAT Table</a:t>
            </a:r>
            <a:endParaRPr lang="ko-KR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1110273" y="4165155"/>
            <a:ext cx="1659429" cy="2462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192.168.1.10 → 11.11.11.11</a:t>
            </a:r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8" name="TextBox 167"/>
          <p:cNvSpPr txBox="1"/>
          <p:nvPr/>
        </p:nvSpPr>
        <p:spPr>
          <a:xfrm>
            <a:off x="1538508" y="3878761"/>
            <a:ext cx="8322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NAT Table</a:t>
            </a:r>
            <a:endParaRPr lang="ko-KR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69" name="표 168"/>
          <p:cNvGraphicFramePr>
            <a:graphicFrameLocks noGrp="1"/>
          </p:cNvGraphicFramePr>
          <p:nvPr>
            <p:extLst/>
          </p:nvPr>
        </p:nvGraphicFramePr>
        <p:xfrm>
          <a:off x="1702823" y="5256647"/>
          <a:ext cx="2624862" cy="243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945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3545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7629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5365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23109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50030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22.22.22.22</a:t>
                      </a:r>
                      <a:endParaRPr lang="ko-KR" altLang="en-US" sz="10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11.11.11.11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170" name="TextBox 169"/>
          <p:cNvSpPr txBox="1"/>
          <p:nvPr/>
        </p:nvSpPr>
        <p:spPr>
          <a:xfrm>
            <a:off x="1658531" y="5520950"/>
            <a:ext cx="24545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smtClean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수</a:t>
            </a:r>
            <a:r>
              <a:rPr lang="en-US" altLang="ko-KR" sz="1100" dirty="0" smtClean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Port   </a:t>
            </a:r>
            <a:r>
              <a:rPr lang="ko-KR" altLang="en-US" sz="1100" dirty="0" smtClean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송</a:t>
            </a:r>
            <a:r>
              <a:rPr lang="en-US" altLang="ko-KR" sz="1100" dirty="0" smtClean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Port           </a:t>
            </a:r>
            <a:r>
              <a:rPr lang="ko-KR" altLang="en-US" sz="1100" dirty="0" smtClean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수</a:t>
            </a:r>
            <a:r>
              <a:rPr lang="en-US" altLang="ko-KR" sz="1100" dirty="0" smtClean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IP             </a:t>
            </a:r>
            <a:r>
              <a:rPr lang="ko-KR" altLang="en-US" sz="1100" dirty="0" smtClean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송</a:t>
            </a:r>
            <a:r>
              <a:rPr lang="en-US" altLang="ko-KR" sz="1100" dirty="0" smtClean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IP</a:t>
            </a:r>
            <a:endParaRPr lang="ko-KR" altLang="en-US" sz="1100" dirty="0">
              <a:latin typeface="Times New Roman" panose="02020603050405020304" pitchFamily="18" charset="0"/>
              <a:ea typeface="함초롬바탕" panose="02030504000101010101"/>
              <a:cs typeface="Times New Roman" panose="02020603050405020304" pitchFamily="18" charset="0"/>
            </a:endParaRPr>
          </a:p>
        </p:txBody>
      </p:sp>
      <p:graphicFrame>
        <p:nvGraphicFramePr>
          <p:cNvPr id="171" name="표 170"/>
          <p:cNvGraphicFramePr>
            <a:graphicFrameLocks noGrp="1"/>
          </p:cNvGraphicFramePr>
          <p:nvPr>
            <p:extLst/>
          </p:nvPr>
        </p:nvGraphicFramePr>
        <p:xfrm>
          <a:off x="6352930" y="5276876"/>
          <a:ext cx="2624862" cy="243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945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3545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7629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5365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23109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50030</a:t>
                      </a:r>
                      <a:endParaRPr lang="ko-KR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192.168.2.20</a:t>
                      </a:r>
                      <a:endParaRPr lang="ko-KR" altLang="en-US" sz="10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11.11.11.11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172" name="TextBox 171"/>
          <p:cNvSpPr txBox="1"/>
          <p:nvPr/>
        </p:nvSpPr>
        <p:spPr>
          <a:xfrm>
            <a:off x="6309539" y="5520950"/>
            <a:ext cx="24545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smtClean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수</a:t>
            </a:r>
            <a:r>
              <a:rPr lang="en-US" altLang="ko-KR" sz="1100" dirty="0" smtClean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Port   </a:t>
            </a:r>
            <a:r>
              <a:rPr lang="ko-KR" altLang="en-US" sz="1100" dirty="0" smtClean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송</a:t>
            </a:r>
            <a:r>
              <a:rPr lang="en-US" altLang="ko-KR" sz="1100" dirty="0" smtClean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Port           </a:t>
            </a:r>
            <a:r>
              <a:rPr lang="ko-KR" altLang="en-US" sz="1100" dirty="0" smtClean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수</a:t>
            </a:r>
            <a:r>
              <a:rPr lang="en-US" altLang="ko-KR" sz="1100" dirty="0" smtClean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IP             </a:t>
            </a:r>
            <a:r>
              <a:rPr lang="ko-KR" altLang="en-US" sz="1100" dirty="0" smtClean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송</a:t>
            </a:r>
            <a:r>
              <a:rPr lang="en-US" altLang="ko-KR" sz="1100" dirty="0" smtClean="0">
                <a:latin typeface="Times New Roman" panose="02020603050405020304" pitchFamily="18" charset="0"/>
                <a:ea typeface="함초롬바탕" panose="02030504000101010101"/>
                <a:cs typeface="Times New Roman" panose="02020603050405020304" pitchFamily="18" charset="0"/>
              </a:rPr>
              <a:t>IP</a:t>
            </a:r>
            <a:endParaRPr lang="ko-KR" altLang="en-US" sz="1100" dirty="0">
              <a:latin typeface="Times New Roman" panose="02020603050405020304" pitchFamily="18" charset="0"/>
              <a:ea typeface="함초롬바탕" panose="02030504000101010101"/>
              <a:cs typeface="Times New Roman" panose="02020603050405020304" pitchFamily="18" charset="0"/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156447" y="3174460"/>
            <a:ext cx="26262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Destination NAT</a:t>
            </a:r>
            <a:endParaRPr lang="ko-KR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5298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자유형 14"/>
          <p:cNvSpPr/>
          <p:nvPr/>
        </p:nvSpPr>
        <p:spPr>
          <a:xfrm>
            <a:off x="5649817" y="2432957"/>
            <a:ext cx="1551215" cy="702128"/>
          </a:xfrm>
          <a:custGeom>
            <a:avLst/>
            <a:gdLst>
              <a:gd name="connsiteX0" fmla="*/ 0 w 1551215"/>
              <a:gd name="connsiteY0" fmla="*/ 702128 h 702128"/>
              <a:gd name="connsiteX1" fmla="*/ 0 w 1551215"/>
              <a:gd name="connsiteY1" fmla="*/ 0 h 702128"/>
              <a:gd name="connsiteX2" fmla="*/ 1551215 w 1551215"/>
              <a:gd name="connsiteY2" fmla="*/ 0 h 702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51215" h="702128">
                <a:moveTo>
                  <a:pt x="0" y="702128"/>
                </a:moveTo>
                <a:lnTo>
                  <a:pt x="0" y="0"/>
                </a:lnTo>
                <a:lnTo>
                  <a:pt x="1551215" y="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자유형 15"/>
          <p:cNvSpPr/>
          <p:nvPr/>
        </p:nvSpPr>
        <p:spPr>
          <a:xfrm>
            <a:off x="5672777" y="3444169"/>
            <a:ext cx="1714500" cy="751114"/>
          </a:xfrm>
          <a:custGeom>
            <a:avLst/>
            <a:gdLst>
              <a:gd name="connsiteX0" fmla="*/ 0 w 1665514"/>
              <a:gd name="connsiteY0" fmla="*/ 0 h 751114"/>
              <a:gd name="connsiteX1" fmla="*/ 16329 w 1665514"/>
              <a:gd name="connsiteY1" fmla="*/ 734786 h 751114"/>
              <a:gd name="connsiteX2" fmla="*/ 1665514 w 1665514"/>
              <a:gd name="connsiteY2" fmla="*/ 751114 h 751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65514" h="751114">
                <a:moveTo>
                  <a:pt x="0" y="0"/>
                </a:moveTo>
                <a:lnTo>
                  <a:pt x="16329" y="734786"/>
                </a:lnTo>
                <a:lnTo>
                  <a:pt x="1665514" y="751114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연결선 11"/>
          <p:cNvCxnSpPr>
            <a:endCxn id="155" idx="4"/>
          </p:cNvCxnSpPr>
          <p:nvPr/>
        </p:nvCxnSpPr>
        <p:spPr>
          <a:xfrm flipV="1">
            <a:off x="1995489" y="3345047"/>
            <a:ext cx="3625269" cy="18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904" name="Rectangle 63"/>
          <p:cNvSpPr>
            <a:spLocks noChangeArrowheads="1"/>
          </p:cNvSpPr>
          <p:nvPr/>
        </p:nvSpPr>
        <p:spPr bwMode="auto">
          <a:xfrm>
            <a:off x="551778" y="3232531"/>
            <a:ext cx="1602443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ko-KR" altLang="en-US" sz="1600" b="1" dirty="0">
                <a:solidFill>
                  <a:srgbClr val="00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</a:t>
            </a:r>
            <a:r>
              <a:rPr lang="en-US" altLang="ko-KR" sz="1600" b="1" dirty="0">
                <a:solidFill>
                  <a:srgbClr val="00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Network</a:t>
            </a:r>
            <a:endParaRPr lang="en-US" altLang="ko-KR" sz="1600" b="1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cxnSp>
        <p:nvCxnSpPr>
          <p:cNvPr id="80918" name="AutoShape 92"/>
          <p:cNvCxnSpPr>
            <a:cxnSpLocks noChangeShapeType="1"/>
          </p:cNvCxnSpPr>
          <p:nvPr/>
        </p:nvCxnSpPr>
        <p:spPr bwMode="auto">
          <a:xfrm>
            <a:off x="381541" y="4740464"/>
            <a:ext cx="3276635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0919" name="AutoShape 93"/>
          <p:cNvCxnSpPr>
            <a:cxnSpLocks noChangeShapeType="1"/>
          </p:cNvCxnSpPr>
          <p:nvPr/>
        </p:nvCxnSpPr>
        <p:spPr bwMode="auto">
          <a:xfrm>
            <a:off x="3658176" y="4740464"/>
            <a:ext cx="5064351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0923" name="Rectangle 97"/>
          <p:cNvSpPr>
            <a:spLocks noChangeArrowheads="1"/>
          </p:cNvSpPr>
          <p:nvPr/>
        </p:nvSpPr>
        <p:spPr bwMode="auto">
          <a:xfrm>
            <a:off x="839002" y="4875659"/>
            <a:ext cx="220118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latinLnBrk="1">
              <a:lnSpc>
                <a:spcPct val="100000"/>
              </a:lnSpc>
              <a:buFontTx/>
              <a:buNone/>
            </a:pPr>
            <a:r>
              <a:rPr lang="ko-KR" altLang="en-US" dirty="0">
                <a:solidFill>
                  <a:srgbClr val="00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사설 망</a:t>
            </a:r>
            <a:r>
              <a:rPr lang="en-US" altLang="ko-KR" dirty="0">
                <a:solidFill>
                  <a:srgbClr val="00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(172.16.x.x)</a:t>
            </a:r>
            <a:endParaRPr lang="en-US" altLang="ko-KR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80924" name="Rectangle 98"/>
          <p:cNvSpPr>
            <a:spLocks noChangeArrowheads="1"/>
          </p:cNvSpPr>
          <p:nvPr/>
        </p:nvSpPr>
        <p:spPr bwMode="auto">
          <a:xfrm>
            <a:off x="4525322" y="4905344"/>
            <a:ext cx="276357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latinLnBrk="1">
              <a:lnSpc>
                <a:spcPct val="100000"/>
              </a:lnSpc>
              <a:buFontTx/>
              <a:buNone/>
            </a:pPr>
            <a:r>
              <a:rPr lang="ko-KR" altLang="en-US">
                <a:solidFill>
                  <a:srgbClr val="00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공인</a:t>
            </a:r>
            <a:r>
              <a:rPr lang="en-US" altLang="ko-KR">
                <a:solidFill>
                  <a:srgbClr val="00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(public) Address </a:t>
            </a:r>
            <a:r>
              <a:rPr lang="ko-KR" altLang="en-US">
                <a:solidFill>
                  <a:srgbClr val="00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사용</a:t>
            </a:r>
            <a:endParaRPr lang="ko-KR" altLang="en-US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147" name="Rectangle 2"/>
          <p:cNvSpPr>
            <a:spLocks noGrp="1" noChangeArrowheads="1"/>
          </p:cNvSpPr>
          <p:nvPr>
            <p:ph type="title"/>
          </p:nvPr>
        </p:nvSpPr>
        <p:spPr>
          <a:xfrm>
            <a:off x="394931" y="768388"/>
            <a:ext cx="7886700" cy="663574"/>
          </a:xfrm>
        </p:spPr>
        <p:txBody>
          <a:bodyPr anchor="t">
            <a:normAutofit/>
          </a:bodyPr>
          <a:lstStyle/>
          <a:p>
            <a:r>
              <a:rPr lang="ko-KR" altLang="en-US" sz="36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기업망에서의</a:t>
            </a:r>
            <a:r>
              <a:rPr lang="ko-KR" altLang="en-US" sz="36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3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NAT </a:t>
            </a:r>
            <a:endParaRPr lang="ko-KR" altLang="en-US" sz="360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394930" y="2628459"/>
            <a:ext cx="1600558" cy="1436914"/>
          </a:xfrm>
          <a:prstGeom prst="roundRect">
            <a:avLst>
              <a:gd name="adj" fmla="val 5546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8473" y="2970595"/>
            <a:ext cx="682996" cy="738188"/>
          </a:xfrm>
          <a:prstGeom prst="rect">
            <a:avLst/>
          </a:prstGeom>
          <a:ln>
            <a:solidFill>
              <a:schemeClr val="accent2"/>
            </a:solidFill>
          </a:ln>
        </p:spPr>
      </p:pic>
      <p:grpSp>
        <p:nvGrpSpPr>
          <p:cNvPr id="9" name="그룹 8"/>
          <p:cNvGrpSpPr/>
          <p:nvPr/>
        </p:nvGrpSpPr>
        <p:grpSpPr>
          <a:xfrm>
            <a:off x="5102637" y="3108048"/>
            <a:ext cx="1039019" cy="477736"/>
            <a:chOff x="7567613" y="2217095"/>
            <a:chExt cx="1165168" cy="535477"/>
          </a:xfrm>
        </p:grpSpPr>
        <p:sp>
          <p:nvSpPr>
            <p:cNvPr id="153" name="AutoShape 20"/>
            <p:cNvSpPr>
              <a:spLocks noChangeArrowheads="1"/>
            </p:cNvSpPr>
            <p:nvPr/>
          </p:nvSpPr>
          <p:spPr bwMode="auto">
            <a:xfrm>
              <a:off x="7572318" y="2227659"/>
              <a:ext cx="1160463" cy="524913"/>
            </a:xfrm>
            <a:prstGeom prst="can">
              <a:avLst>
                <a:gd name="adj" fmla="val 50000"/>
              </a:avLst>
            </a:prstGeom>
            <a:gradFill rotWithShape="1">
              <a:gsLst>
                <a:gs pos="0">
                  <a:srgbClr val="DDDDDD"/>
                </a:gs>
                <a:gs pos="50000">
                  <a:srgbClr val="DDDDDD">
                    <a:gamma/>
                    <a:tint val="9020"/>
                    <a:invGamma/>
                  </a:srgbClr>
                </a:gs>
                <a:gs pos="100000">
                  <a:srgbClr val="DDDDDD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4" name="WordArt 21"/>
            <p:cNvSpPr>
              <a:spLocks noChangeArrowheads="1" noChangeShapeType="1" noTextEdit="1"/>
            </p:cNvSpPr>
            <p:nvPr/>
          </p:nvSpPr>
          <p:spPr bwMode="auto">
            <a:xfrm>
              <a:off x="7608831" y="2420778"/>
              <a:ext cx="1060450" cy="266707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>
                <a:buNone/>
              </a:pPr>
              <a:r>
                <a:rPr lang="en-US" altLang="ko-KR" sz="1600" kern="10" dirty="0">
                  <a:ln w="9525">
                    <a:solidFill>
                      <a:srgbClr val="808080"/>
                    </a:solidFill>
                    <a:round/>
                    <a:headEnd/>
                    <a:tailEnd/>
                  </a:ln>
                  <a:solidFill>
                    <a:srgbClr val="777777"/>
                  </a:solidFill>
                  <a:latin typeface="Times New Roman" pitchFamily="18" charset="0"/>
                  <a:cs typeface="Times New Roman" pitchFamily="18" charset="0"/>
                </a:rPr>
                <a:t>ROUTER</a:t>
              </a:r>
              <a:endParaRPr lang="ko-KR" altLang="en-US" sz="16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777777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5" name="Oval 22"/>
            <p:cNvSpPr>
              <a:spLocks noChangeArrowheads="1"/>
            </p:cNvSpPr>
            <p:nvPr/>
          </p:nvSpPr>
          <p:spPr bwMode="auto">
            <a:xfrm>
              <a:off x="7567613" y="2217095"/>
              <a:ext cx="1162050" cy="265644"/>
            </a:xfrm>
            <a:prstGeom prst="ellipse">
              <a:avLst/>
            </a:pr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33333"/>
                    <a:invGamma/>
                  </a:srgbClr>
                </a:gs>
              </a:gsLst>
              <a:lin ang="189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6" name="AutoShape 23"/>
            <p:cNvSpPr>
              <a:spLocks noChangeArrowheads="1"/>
            </p:cNvSpPr>
            <p:nvPr/>
          </p:nvSpPr>
          <p:spPr bwMode="auto">
            <a:xfrm rot="5400000">
              <a:off x="8193202" y="1989513"/>
              <a:ext cx="122196" cy="717550"/>
            </a:xfrm>
            <a:custGeom>
              <a:avLst/>
              <a:gdLst>
                <a:gd name="T0" fmla="*/ 321 w 21600"/>
                <a:gd name="T1" fmla="*/ 465 h 21600"/>
                <a:gd name="T2" fmla="*/ 161 w 21600"/>
                <a:gd name="T3" fmla="*/ 11727 h 21600"/>
                <a:gd name="T4" fmla="*/ 389 w 21600"/>
                <a:gd name="T5" fmla="*/ 3422 h 21600"/>
                <a:gd name="T6" fmla="*/ 1090 w 21600"/>
                <a:gd name="T7" fmla="*/ 7209 h 21600"/>
                <a:gd name="T8" fmla="*/ 896 w 21600"/>
                <a:gd name="T9" fmla="*/ 11062 h 21600"/>
                <a:gd name="T10" fmla="*/ 659 w 21600"/>
                <a:gd name="T11" fmla="*/ 7807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93 w 21600"/>
                <a:gd name="T19" fmla="*/ 3162 h 21600"/>
                <a:gd name="T20" fmla="*/ 18407 w 21600"/>
                <a:gd name="T21" fmla="*/ 18438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7370" y="10242"/>
                  </a:moveTo>
                  <a:cubicBezTo>
                    <a:pt x="17080" y="6828"/>
                    <a:pt x="14225" y="4206"/>
                    <a:pt x="10800" y="4206"/>
                  </a:cubicBezTo>
                  <a:cubicBezTo>
                    <a:pt x="7158" y="4206"/>
                    <a:pt x="4206" y="7158"/>
                    <a:pt x="4206" y="10800"/>
                  </a:cubicBezTo>
                  <a:cubicBezTo>
                    <a:pt x="4205" y="12133"/>
                    <a:pt x="4610" y="13436"/>
                    <a:pt x="5366" y="14535"/>
                  </a:cubicBezTo>
                  <a:lnTo>
                    <a:pt x="1900" y="16918"/>
                  </a:lnTo>
                  <a:cubicBezTo>
                    <a:pt x="662" y="15117"/>
                    <a:pt x="0" y="12984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410" y="-1"/>
                    <a:pt x="21086" y="4295"/>
                    <a:pt x="21561" y="9886"/>
                  </a:cubicBezTo>
                  <a:lnTo>
                    <a:pt x="24251" y="9657"/>
                  </a:lnTo>
                  <a:lnTo>
                    <a:pt x="19871" y="14849"/>
                  </a:lnTo>
                  <a:lnTo>
                    <a:pt x="14680" y="10470"/>
                  </a:lnTo>
                  <a:lnTo>
                    <a:pt x="17370" y="10242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>
              <a:outerShdw dist="25400" dir="5400000" algn="ctr" rotWithShape="0">
                <a:srgbClr val="1C1C1C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7" name="AutoShape 24"/>
            <p:cNvSpPr>
              <a:spLocks noChangeArrowheads="1"/>
            </p:cNvSpPr>
            <p:nvPr/>
          </p:nvSpPr>
          <p:spPr bwMode="auto">
            <a:xfrm rot="-5400000">
              <a:off x="7947700" y="1951111"/>
              <a:ext cx="120071" cy="731838"/>
            </a:xfrm>
            <a:custGeom>
              <a:avLst/>
              <a:gdLst>
                <a:gd name="T0" fmla="*/ 307 w 21600"/>
                <a:gd name="T1" fmla="*/ 474 h 21600"/>
                <a:gd name="T2" fmla="*/ 158 w 21600"/>
                <a:gd name="T3" fmla="*/ 12197 h 21600"/>
                <a:gd name="T4" fmla="*/ 374 w 21600"/>
                <a:gd name="T5" fmla="*/ 3558 h 21600"/>
                <a:gd name="T6" fmla="*/ 1055 w 21600"/>
                <a:gd name="T7" fmla="*/ 7488 h 21600"/>
                <a:gd name="T8" fmla="*/ 864 w 21600"/>
                <a:gd name="T9" fmla="*/ 11520 h 21600"/>
                <a:gd name="T10" fmla="*/ 639 w 21600"/>
                <a:gd name="T11" fmla="*/ 8132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250 w 21600"/>
                <a:gd name="T19" fmla="*/ 3142 h 21600"/>
                <a:gd name="T20" fmla="*/ 18350 w 21600"/>
                <a:gd name="T21" fmla="*/ 18458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7370" y="10242"/>
                  </a:moveTo>
                  <a:cubicBezTo>
                    <a:pt x="17080" y="6828"/>
                    <a:pt x="14225" y="4206"/>
                    <a:pt x="10800" y="4206"/>
                  </a:cubicBezTo>
                  <a:cubicBezTo>
                    <a:pt x="7158" y="4206"/>
                    <a:pt x="4206" y="7158"/>
                    <a:pt x="4206" y="10800"/>
                  </a:cubicBezTo>
                  <a:cubicBezTo>
                    <a:pt x="4205" y="12133"/>
                    <a:pt x="4610" y="13436"/>
                    <a:pt x="5366" y="14535"/>
                  </a:cubicBezTo>
                  <a:lnTo>
                    <a:pt x="1900" y="16918"/>
                  </a:lnTo>
                  <a:cubicBezTo>
                    <a:pt x="662" y="15117"/>
                    <a:pt x="0" y="12984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410" y="-1"/>
                    <a:pt x="21086" y="4295"/>
                    <a:pt x="21561" y="9886"/>
                  </a:cubicBezTo>
                  <a:lnTo>
                    <a:pt x="24251" y="9657"/>
                  </a:lnTo>
                  <a:lnTo>
                    <a:pt x="19871" y="14849"/>
                  </a:lnTo>
                  <a:lnTo>
                    <a:pt x="14680" y="10470"/>
                  </a:lnTo>
                  <a:lnTo>
                    <a:pt x="17370" y="10242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>
              <a:outerShdw dist="25400" dir="5400000" algn="ctr" rotWithShape="0">
                <a:srgbClr val="1C1C1C">
                  <a:alpha val="50000"/>
                </a:srgbClr>
              </a:outerShdw>
            </a:effectLst>
          </p:spPr>
          <p:txBody>
            <a:bodyPr rot="10800000" wrap="none" anchor="ctr"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0" name="구름 9"/>
          <p:cNvSpPr/>
          <p:nvPr/>
        </p:nvSpPr>
        <p:spPr>
          <a:xfrm>
            <a:off x="6957088" y="2107756"/>
            <a:ext cx="1941058" cy="708137"/>
          </a:xfrm>
          <a:prstGeom prst="cloud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0" name="구름 159"/>
          <p:cNvSpPr/>
          <p:nvPr/>
        </p:nvSpPr>
        <p:spPr>
          <a:xfrm>
            <a:off x="6957088" y="3725183"/>
            <a:ext cx="1941058" cy="708137"/>
          </a:xfrm>
          <a:prstGeom prst="cloud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1" name="Rectangle 63"/>
          <p:cNvSpPr>
            <a:spLocks noChangeArrowheads="1"/>
          </p:cNvSpPr>
          <p:nvPr/>
        </p:nvSpPr>
        <p:spPr bwMode="auto">
          <a:xfrm>
            <a:off x="7288900" y="2299820"/>
            <a:ext cx="1602443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ko-KR" altLang="en-US" sz="1600" b="1" dirty="0">
                <a:solidFill>
                  <a:srgbClr val="00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지사 </a:t>
            </a:r>
            <a:r>
              <a:rPr lang="en-US" altLang="ko-KR" sz="1600" b="1" dirty="0">
                <a:solidFill>
                  <a:srgbClr val="00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Network</a:t>
            </a:r>
            <a:endParaRPr lang="en-US" altLang="ko-KR" sz="1600" b="1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162" name="Rectangle 63"/>
          <p:cNvSpPr>
            <a:spLocks noChangeArrowheads="1"/>
          </p:cNvSpPr>
          <p:nvPr/>
        </p:nvSpPr>
        <p:spPr bwMode="auto">
          <a:xfrm>
            <a:off x="7288899" y="3956139"/>
            <a:ext cx="1602443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en-US" altLang="ko-KR" sz="1600" b="1" dirty="0">
                <a:solidFill>
                  <a:srgbClr val="00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Internet </a:t>
            </a:r>
            <a:endParaRPr lang="en-US" altLang="ko-KR" sz="1600" b="1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169" name="Rectangle 65"/>
          <p:cNvSpPr>
            <a:spLocks noChangeArrowheads="1"/>
          </p:cNvSpPr>
          <p:nvPr/>
        </p:nvSpPr>
        <p:spPr bwMode="auto">
          <a:xfrm>
            <a:off x="3108419" y="2575096"/>
            <a:ext cx="13080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latinLnBrk="1">
              <a:lnSpc>
                <a:spcPct val="100000"/>
              </a:lnSpc>
              <a:buFontTx/>
              <a:buNone/>
            </a:pPr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방화벽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(NAT)</a:t>
            </a:r>
            <a:endParaRPr lang="ko-KR" altLang="en-US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cxnSp>
        <p:nvCxnSpPr>
          <p:cNvPr id="186" name="직선 연결선 185"/>
          <p:cNvCxnSpPr/>
          <p:nvPr/>
        </p:nvCxnSpPr>
        <p:spPr>
          <a:xfrm>
            <a:off x="3648877" y="4576641"/>
            <a:ext cx="9298" cy="4815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025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7544" y="548680"/>
            <a:ext cx="8208912" cy="5688632"/>
          </a:xfrm>
        </p:spPr>
        <p:txBody>
          <a:bodyPr>
            <a:normAutofit/>
          </a:bodyPr>
          <a:lstStyle/>
          <a:p>
            <a:pPr>
              <a:lnSpc>
                <a:spcPct val="125000"/>
              </a:lnSpc>
            </a:pPr>
            <a:r>
              <a:rPr lang="en-US" altLang="ko-KR" sz="2000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Network </a:t>
            </a:r>
            <a:r>
              <a:rPr lang="ko-KR" altLang="en-US" sz="2000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주소</a:t>
            </a:r>
          </a:p>
          <a:p>
            <a:pPr lvl="1">
              <a:lnSpc>
                <a:spcPct val="125000"/>
              </a:lnSpc>
            </a:pPr>
            <a:r>
              <a:rPr lang="ko-KR" altLang="en-US" sz="1800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호스트 비트가 모두 </a:t>
            </a:r>
            <a:r>
              <a:rPr lang="en-US" altLang="ko-KR" sz="1800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0</a:t>
            </a:r>
            <a:r>
              <a:rPr lang="ko-KR" altLang="en-US" sz="1800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인 주소</a:t>
            </a:r>
          </a:p>
          <a:p>
            <a:pPr>
              <a:lnSpc>
                <a:spcPct val="125000"/>
              </a:lnSpc>
            </a:pPr>
            <a:r>
              <a:rPr lang="en-US" altLang="ko-KR" sz="2000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Direct Broadcast </a:t>
            </a:r>
            <a:r>
              <a:rPr lang="ko-KR" altLang="en-US" sz="2000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주소</a:t>
            </a:r>
          </a:p>
          <a:p>
            <a:pPr lvl="1">
              <a:lnSpc>
                <a:spcPct val="125000"/>
              </a:lnSpc>
            </a:pPr>
            <a:r>
              <a:rPr lang="ko-KR" altLang="en-US" sz="1800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호스트 비트가 모두 </a:t>
            </a:r>
            <a:r>
              <a:rPr lang="en-US" altLang="ko-KR" sz="1800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1</a:t>
            </a:r>
            <a:r>
              <a:rPr lang="ko-KR" altLang="en-US" sz="1800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인 주소</a:t>
            </a:r>
            <a:endParaRPr lang="en-US" altLang="ko-KR" sz="1800" dirty="0" smtClean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lvl="1">
              <a:lnSpc>
                <a:spcPct val="125000"/>
              </a:lnSpc>
            </a:pPr>
            <a:endParaRPr lang="ko-KR" altLang="en-US" sz="1800" dirty="0" smtClean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25000"/>
              </a:lnSpc>
            </a:pPr>
            <a:r>
              <a:rPr lang="en-US" altLang="ko-KR" sz="2000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Limited Broadcast </a:t>
            </a:r>
            <a:r>
              <a:rPr lang="ko-KR" altLang="en-US" sz="2000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주소</a:t>
            </a:r>
          </a:p>
          <a:p>
            <a:pPr lvl="1">
              <a:lnSpc>
                <a:spcPct val="125000"/>
              </a:lnSpc>
            </a:pPr>
            <a:r>
              <a:rPr lang="en-US" altLang="ko-KR" sz="1800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255.255.255.255</a:t>
            </a:r>
            <a:endParaRPr lang="ko-KR" altLang="en-US" sz="1800" dirty="0" smtClean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lvl="1">
              <a:lnSpc>
                <a:spcPct val="125000"/>
              </a:lnSpc>
            </a:pPr>
            <a:r>
              <a:rPr lang="en-US" altLang="ko-KR" sz="1800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DHCP </a:t>
            </a:r>
            <a:r>
              <a:rPr lang="ko-KR" altLang="en-US" sz="1800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클라이언트가 </a:t>
            </a:r>
            <a:r>
              <a:rPr lang="en-US" altLang="ko-KR" sz="1800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DHCP </a:t>
            </a:r>
            <a:r>
              <a:rPr lang="ko-KR" altLang="en-US" sz="1800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서버를 찾을 경우 사용</a:t>
            </a:r>
            <a:endParaRPr lang="en-US" altLang="ko-KR" sz="1800" dirty="0" smtClean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lvl="1">
              <a:lnSpc>
                <a:spcPct val="125000"/>
              </a:lnSpc>
            </a:pPr>
            <a:endParaRPr lang="en-US" altLang="ko-KR" sz="18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25000"/>
              </a:lnSpc>
            </a:pPr>
            <a:r>
              <a:rPr lang="en-US" altLang="ko-KR" sz="2000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Loopback </a:t>
            </a:r>
            <a:r>
              <a:rPr lang="ko-KR" altLang="en-US" sz="2000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주소</a:t>
            </a:r>
          </a:p>
          <a:p>
            <a:pPr lvl="1">
              <a:lnSpc>
                <a:spcPct val="125000"/>
              </a:lnSpc>
            </a:pPr>
            <a:r>
              <a:rPr lang="en-US" altLang="ko-KR" sz="1800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Class A</a:t>
            </a:r>
            <a:r>
              <a:rPr lang="ko-KR" altLang="en-US" sz="1800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에 속한 </a:t>
            </a:r>
            <a:r>
              <a:rPr lang="en-US" altLang="ko-KR" sz="1800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127</a:t>
            </a:r>
            <a:r>
              <a:rPr lang="ko-KR" altLang="en-US" sz="1800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이며 호스트 부분의 값은 지정되지 않은 값</a:t>
            </a:r>
          </a:p>
          <a:p>
            <a:pPr lvl="1">
              <a:lnSpc>
                <a:spcPct val="125000"/>
              </a:lnSpc>
            </a:pPr>
            <a:r>
              <a:rPr lang="ko-KR" altLang="en-US" sz="1800" dirty="0" err="1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패킷</a:t>
            </a:r>
            <a:r>
              <a:rPr lang="ko-KR" altLang="en-US" sz="1800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송수신 과정에 대한 시스템 내부 </a:t>
            </a:r>
            <a:r>
              <a:rPr lang="ko-KR" altLang="en-US" sz="1800" dirty="0" err="1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테스트시</a:t>
            </a:r>
            <a:r>
              <a:rPr lang="ko-KR" altLang="en-US" sz="1800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주로 사용</a:t>
            </a:r>
            <a:endParaRPr lang="en-US" altLang="ko-KR" sz="1800" dirty="0" smtClean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lvl="1">
              <a:lnSpc>
                <a:spcPct val="125000"/>
              </a:lnSpc>
              <a:buNone/>
            </a:pPr>
            <a:endParaRPr lang="ko-KR" altLang="en-US" sz="1800" dirty="0" smtClean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8454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9" name="Rectangle 10"/>
          <p:cNvSpPr>
            <a:spLocks noChangeArrowheads="1"/>
          </p:cNvSpPr>
          <p:nvPr/>
        </p:nvSpPr>
        <p:spPr bwMode="auto">
          <a:xfrm>
            <a:off x="1940598" y="2077008"/>
            <a:ext cx="9144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ko-KR" altLang="en-US">
              <a:latin typeface="굴림" pitchFamily="50" charset="-127"/>
            </a:endParaRPr>
          </a:p>
        </p:txBody>
      </p:sp>
      <p:sp>
        <p:nvSpPr>
          <p:cNvPr id="16" name="Rectangle 2"/>
          <p:cNvSpPr txBox="1">
            <a:spLocks noChangeArrowheads="1"/>
          </p:cNvSpPr>
          <p:nvPr/>
        </p:nvSpPr>
        <p:spPr>
          <a:xfrm>
            <a:off x="319598" y="347791"/>
            <a:ext cx="7886700" cy="8540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323" b="1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CIDR</a:t>
            </a:r>
            <a:r>
              <a:rPr lang="ko-KR" altLang="en-US" sz="3323" b="1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3323" b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기반의 서브넷팅</a:t>
            </a:r>
            <a:endParaRPr lang="ko-KR" altLang="en-US" sz="3323" b="1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/>
          </p:nvPr>
        </p:nvGraphicFramePr>
        <p:xfrm>
          <a:off x="443887" y="2944530"/>
          <a:ext cx="8149600" cy="8299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4675"/>
                <a:gridCol w="254675"/>
                <a:gridCol w="254675"/>
                <a:gridCol w="254675"/>
                <a:gridCol w="254675"/>
                <a:gridCol w="254675"/>
                <a:gridCol w="254675"/>
                <a:gridCol w="254675"/>
                <a:gridCol w="254675"/>
                <a:gridCol w="254675"/>
                <a:gridCol w="254675"/>
                <a:gridCol w="254675"/>
                <a:gridCol w="254675"/>
                <a:gridCol w="254675"/>
                <a:gridCol w="254675"/>
                <a:gridCol w="254675"/>
                <a:gridCol w="254675"/>
                <a:gridCol w="254675"/>
                <a:gridCol w="254675"/>
                <a:gridCol w="254675"/>
                <a:gridCol w="254675"/>
                <a:gridCol w="254675"/>
                <a:gridCol w="254675"/>
                <a:gridCol w="254675"/>
                <a:gridCol w="254675"/>
                <a:gridCol w="254675"/>
                <a:gridCol w="254675"/>
                <a:gridCol w="254675"/>
                <a:gridCol w="254675"/>
                <a:gridCol w="254675"/>
                <a:gridCol w="254675"/>
                <a:gridCol w="254675"/>
              </a:tblGrid>
              <a:tr h="457200">
                <a:tc gridSpan="8"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168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  <a:tr h="37279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2" name="직선 화살표 연결선 11"/>
          <p:cNvCxnSpPr/>
          <p:nvPr/>
        </p:nvCxnSpPr>
        <p:spPr>
          <a:xfrm>
            <a:off x="6595495" y="3936137"/>
            <a:ext cx="482138" cy="0"/>
          </a:xfrm>
          <a:prstGeom prst="straightConnector1">
            <a:avLst/>
          </a:prstGeom>
          <a:ln w="19050">
            <a:solidFill>
              <a:srgbClr val="FF000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/>
          <p:nvPr/>
        </p:nvCxnSpPr>
        <p:spPr>
          <a:xfrm flipV="1">
            <a:off x="443886" y="2713440"/>
            <a:ext cx="6134888" cy="19934"/>
          </a:xfrm>
          <a:prstGeom prst="straightConnector1">
            <a:avLst/>
          </a:prstGeom>
          <a:ln w="19050"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/>
          <p:nvPr/>
        </p:nvCxnSpPr>
        <p:spPr>
          <a:xfrm>
            <a:off x="6578774" y="2713440"/>
            <a:ext cx="2014712" cy="0"/>
          </a:xfrm>
          <a:prstGeom prst="straightConnector1">
            <a:avLst/>
          </a:prstGeom>
          <a:ln w="19050"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723305" y="2353470"/>
            <a:ext cx="25731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ID bit </a:t>
            </a: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(24</a:t>
            </a:r>
            <a:r>
              <a:rPr lang="ko-KR" altLang="en-US" sz="2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개</a:t>
            </a: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)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ko-KR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836565" y="2366287"/>
            <a:ext cx="18998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 ID bit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(8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개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)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ko-KR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190024" y="4024347"/>
            <a:ext cx="19912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SubnetIDbit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ko-KR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개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ko-KR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22336" y="1399860"/>
            <a:ext cx="11769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적용예</a:t>
            </a:r>
            <a:r>
              <a:rPr lang="en-US" altLang="ko-KR" sz="24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)</a:t>
            </a:r>
            <a:endParaRPr lang="ko-KR" altLang="en-US" sz="240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cxnSp>
        <p:nvCxnSpPr>
          <p:cNvPr id="31" name="직선 화살표 연결선 30"/>
          <p:cNvCxnSpPr/>
          <p:nvPr/>
        </p:nvCxnSpPr>
        <p:spPr>
          <a:xfrm>
            <a:off x="7197311" y="3945691"/>
            <a:ext cx="1433246" cy="0"/>
          </a:xfrm>
          <a:prstGeom prst="straightConnector1">
            <a:avLst/>
          </a:prstGeom>
          <a:ln w="19050">
            <a:solidFill>
              <a:srgbClr val="FF000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313971" y="3998579"/>
            <a:ext cx="17846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HostIDbit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(6</a:t>
            </a:r>
            <a:r>
              <a: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개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ko-KR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722731" y="1441766"/>
            <a:ext cx="46073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192.168.1.0/24  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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192.168.1.0/26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endParaRPr lang="ko-KR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62312" y="4571384"/>
            <a:ext cx="8445825" cy="1796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8" indent="-28574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46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디폴트 </a:t>
            </a:r>
            <a:r>
              <a:rPr lang="ko-KR" altLang="en-US" sz="1846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서브넷</a:t>
            </a:r>
            <a:r>
              <a:rPr lang="ko-KR" altLang="en-US" sz="1846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마스크에서 네트워크 </a:t>
            </a:r>
            <a:r>
              <a:rPr lang="en-US" altLang="ko-KR" sz="1846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ID </a:t>
            </a:r>
            <a:r>
              <a:rPr lang="ko-KR" altLang="en-US" sz="1846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비트수를 늘리고 </a:t>
            </a:r>
            <a:endParaRPr lang="en-US" altLang="ko-KR" sz="1846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846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</a:t>
            </a:r>
            <a:r>
              <a:rPr lang="ko-KR" altLang="en-US" sz="1846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호스트 </a:t>
            </a:r>
            <a:r>
              <a:rPr lang="en-US" altLang="ko-KR" sz="1846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ID </a:t>
            </a:r>
            <a:r>
              <a:rPr lang="ko-KR" altLang="en-US" sz="1846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비트 수를 줄이는 것 </a:t>
            </a:r>
            <a:endParaRPr lang="en-US" altLang="ko-KR" sz="1846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846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- </a:t>
            </a:r>
            <a:r>
              <a:rPr lang="ko-KR" altLang="en-US" sz="1846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디폴트 그룹보다 그룹 수 증가</a:t>
            </a:r>
            <a:endParaRPr lang="en-US" altLang="ko-KR" sz="1846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846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- </a:t>
            </a:r>
            <a:r>
              <a:rPr lang="ko-KR" altLang="en-US" sz="1846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그룹당 호스트 수 감소 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3894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17526" y="439738"/>
            <a:ext cx="8183562" cy="733742"/>
          </a:xfrm>
        </p:spPr>
        <p:txBody>
          <a:bodyPr>
            <a:normAutofit/>
          </a:bodyPr>
          <a:lstStyle/>
          <a:p>
            <a:r>
              <a:rPr lang="en-US" altLang="ko-KR" sz="3200" dirty="0" smtClean="0">
                <a:effectLst/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FLSM( Fixed Length Subnet Mask ) example</a:t>
            </a:r>
          </a:p>
        </p:txBody>
      </p:sp>
      <p:pic>
        <p:nvPicPr>
          <p:cNvPr id="12083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6125" y="1352839"/>
            <a:ext cx="7840663" cy="4770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슬라이드 번호 개체 틀 4"/>
          <p:cNvSpPr txBox="1">
            <a:spLocks noGrp="1"/>
          </p:cNvSpPr>
          <p:nvPr/>
        </p:nvSpPr>
        <p:spPr bwMode="auto">
          <a:xfrm>
            <a:off x="6756536" y="629244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eaLnBrk="1" latin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23C00A42-642C-4A8B-BFA1-53A8E58F4EBE}" type="slidenum">
              <a:rPr lang="en-US" altLang="ko-KR" sz="1200" b="0">
                <a:latin typeface="맑은 고딕" pitchFamily="50" charset="-127"/>
                <a:ea typeface="맑은 고딕" pitchFamily="50" charset="-127"/>
              </a:rPr>
              <a:pPr algn="r" eaLnBrk="1" latin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ko-KR" sz="1200" b="0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70218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9" name="Rectangle 3"/>
          <p:cNvSpPr>
            <a:spLocks noChangeArrowheads="1"/>
          </p:cNvSpPr>
          <p:nvPr/>
        </p:nvSpPr>
        <p:spPr bwMode="auto">
          <a:xfrm>
            <a:off x="2000250" y="23907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ko-KR" altLang="en-US" sz="1800" b="0">
              <a:latin typeface="굴림" pitchFamily="50" charset="-127"/>
            </a:endParaRPr>
          </a:p>
        </p:txBody>
      </p:sp>
      <p:sp>
        <p:nvSpPr>
          <p:cNvPr id="121860" name="Rectangle 4"/>
          <p:cNvSpPr>
            <a:spLocks noChangeArrowheads="1"/>
          </p:cNvSpPr>
          <p:nvPr/>
        </p:nvSpPr>
        <p:spPr bwMode="auto">
          <a:xfrm>
            <a:off x="2400300" y="26574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ko-KR" altLang="en-US" sz="1800" b="0">
              <a:latin typeface="굴림" pitchFamily="50" charset="-127"/>
            </a:endParaRPr>
          </a:p>
        </p:txBody>
      </p:sp>
      <p:sp>
        <p:nvSpPr>
          <p:cNvPr id="121861" name="Rectangle 5"/>
          <p:cNvSpPr>
            <a:spLocks noChangeArrowheads="1"/>
          </p:cNvSpPr>
          <p:nvPr/>
        </p:nvSpPr>
        <p:spPr bwMode="auto">
          <a:xfrm>
            <a:off x="2057400" y="23526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ko-KR" altLang="en-US" sz="1800" b="0">
              <a:latin typeface="굴림" pitchFamily="50" charset="-127"/>
            </a:endParaRPr>
          </a:p>
        </p:txBody>
      </p:sp>
      <p:sp>
        <p:nvSpPr>
          <p:cNvPr id="121862" name="Rectangle 6"/>
          <p:cNvSpPr>
            <a:spLocks noChangeArrowheads="1"/>
          </p:cNvSpPr>
          <p:nvPr/>
        </p:nvSpPr>
        <p:spPr bwMode="auto">
          <a:xfrm>
            <a:off x="1828800" y="23098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ko-KR" altLang="en-US" sz="1800" b="0">
              <a:latin typeface="굴림" pitchFamily="50" charset="-127"/>
            </a:endParaRPr>
          </a:p>
        </p:txBody>
      </p:sp>
      <p:sp>
        <p:nvSpPr>
          <p:cNvPr id="121863" name="Rectangle 7"/>
          <p:cNvSpPr>
            <a:spLocks noChangeArrowheads="1"/>
          </p:cNvSpPr>
          <p:nvPr/>
        </p:nvSpPr>
        <p:spPr bwMode="auto">
          <a:xfrm>
            <a:off x="1890713" y="21955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ko-KR" altLang="en-US" sz="1800" b="0">
              <a:latin typeface="굴림" pitchFamily="50" charset="-127"/>
            </a:endParaRPr>
          </a:p>
        </p:txBody>
      </p:sp>
      <p:sp>
        <p:nvSpPr>
          <p:cNvPr id="121864" name="Rectangle 8"/>
          <p:cNvSpPr>
            <a:spLocks noChangeArrowheads="1"/>
          </p:cNvSpPr>
          <p:nvPr/>
        </p:nvSpPr>
        <p:spPr bwMode="auto">
          <a:xfrm>
            <a:off x="1890713" y="21955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ko-KR" altLang="en-US" sz="1800" b="0">
              <a:latin typeface="굴림" pitchFamily="50" charset="-127"/>
            </a:endParaRPr>
          </a:p>
        </p:txBody>
      </p:sp>
      <p:sp>
        <p:nvSpPr>
          <p:cNvPr id="121865" name="Rectangle 9"/>
          <p:cNvSpPr>
            <a:spLocks noChangeArrowheads="1"/>
          </p:cNvSpPr>
          <p:nvPr/>
        </p:nvSpPr>
        <p:spPr bwMode="auto">
          <a:xfrm>
            <a:off x="2457450" y="187166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ko-KR" altLang="en-US" sz="1800" b="0">
              <a:latin typeface="굴림" pitchFamily="50" charset="-127"/>
            </a:endParaRPr>
          </a:p>
        </p:txBody>
      </p:sp>
      <p:sp>
        <p:nvSpPr>
          <p:cNvPr id="121866" name="Rectangle 10"/>
          <p:cNvSpPr>
            <a:spLocks noChangeArrowheads="1"/>
          </p:cNvSpPr>
          <p:nvPr/>
        </p:nvSpPr>
        <p:spPr bwMode="auto">
          <a:xfrm>
            <a:off x="2085975" y="20716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ko-KR" altLang="en-US" sz="1800" b="0">
              <a:latin typeface="굴림" pitchFamily="50" charset="-127"/>
            </a:endParaRPr>
          </a:p>
        </p:txBody>
      </p:sp>
      <p:sp>
        <p:nvSpPr>
          <p:cNvPr id="121867" name="Rectangle 11"/>
          <p:cNvSpPr>
            <a:spLocks noChangeArrowheads="1"/>
          </p:cNvSpPr>
          <p:nvPr/>
        </p:nvSpPr>
        <p:spPr bwMode="auto">
          <a:xfrm>
            <a:off x="2124075" y="278606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ko-KR" altLang="en-US" sz="1800" b="0">
              <a:latin typeface="굴림" pitchFamily="50" charset="-127"/>
            </a:endParaRPr>
          </a:p>
        </p:txBody>
      </p:sp>
      <p:sp>
        <p:nvSpPr>
          <p:cNvPr id="121868" name="Rectangle 12"/>
          <p:cNvSpPr>
            <a:spLocks noChangeArrowheads="1"/>
          </p:cNvSpPr>
          <p:nvPr/>
        </p:nvSpPr>
        <p:spPr bwMode="auto">
          <a:xfrm>
            <a:off x="1719263" y="16287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ko-KR" altLang="en-US" sz="1800" b="0">
              <a:latin typeface="굴림" pitchFamily="50" charset="-127"/>
            </a:endParaRPr>
          </a:p>
        </p:txBody>
      </p:sp>
      <p:sp>
        <p:nvSpPr>
          <p:cNvPr id="121869" name="Rectangle 13"/>
          <p:cNvSpPr>
            <a:spLocks noChangeArrowheads="1"/>
          </p:cNvSpPr>
          <p:nvPr/>
        </p:nvSpPr>
        <p:spPr bwMode="auto">
          <a:xfrm>
            <a:off x="2014538" y="20050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ko-KR" altLang="en-US" sz="1800" b="0">
              <a:latin typeface="굴림" pitchFamily="50" charset="-127"/>
            </a:endParaRPr>
          </a:p>
        </p:txBody>
      </p:sp>
      <p:sp>
        <p:nvSpPr>
          <p:cNvPr id="121870" name="Rectangle 14"/>
          <p:cNvSpPr>
            <a:spLocks noChangeArrowheads="1"/>
          </p:cNvSpPr>
          <p:nvPr/>
        </p:nvSpPr>
        <p:spPr bwMode="auto">
          <a:xfrm>
            <a:off x="2224088" y="19145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ko-KR" altLang="en-US" sz="1800" b="0">
              <a:latin typeface="굴림" pitchFamily="50" charset="-127"/>
            </a:endParaRPr>
          </a:p>
        </p:txBody>
      </p:sp>
      <p:pic>
        <p:nvPicPr>
          <p:cNvPr id="121871" name="Picture 15" descr="E:\wonsuk\secure.pe.kr\instruction\tcpip\ipaddressing32.jpg"/>
          <p:cNvPicPr>
            <a:picLocks noChangeAspect="1" noChangeArrowheads="1"/>
          </p:cNvPicPr>
          <p:nvPr/>
        </p:nvPicPr>
        <p:blipFill>
          <a:blip r:embed="rId3" r:link="rId4" cstate="print"/>
          <a:srcRect/>
          <a:stretch>
            <a:fillRect/>
          </a:stretch>
        </p:blipFill>
        <p:spPr bwMode="auto">
          <a:xfrm>
            <a:off x="467013" y="1260764"/>
            <a:ext cx="8209501" cy="49183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1872" name="Rectangle 16"/>
          <p:cNvSpPr>
            <a:spLocks noChangeArrowheads="1"/>
          </p:cNvSpPr>
          <p:nvPr/>
        </p:nvSpPr>
        <p:spPr bwMode="auto">
          <a:xfrm>
            <a:off x="474663" y="442913"/>
            <a:ext cx="8189912" cy="841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80000"/>
              </a:lnSpc>
              <a:spcBef>
                <a:spcPct val="0"/>
              </a:spcBef>
              <a:buClr>
                <a:srgbClr val="DC0081"/>
              </a:buClr>
              <a:buSzTx/>
              <a:buFont typeface="Wingdings" pitchFamily="2" charset="2"/>
              <a:buNone/>
            </a:pPr>
            <a:r>
              <a:rPr lang="en-US" altLang="ko-KR" sz="3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VLSM( Variable Length Subnet Mask ) example</a:t>
            </a:r>
          </a:p>
        </p:txBody>
      </p:sp>
      <p:sp>
        <p:nvSpPr>
          <p:cNvPr id="16" name="슬라이드 번호 개체 틀 4"/>
          <p:cNvSpPr txBox="1">
            <a:spLocks noGrp="1"/>
          </p:cNvSpPr>
          <p:nvPr/>
        </p:nvSpPr>
        <p:spPr bwMode="auto">
          <a:xfrm>
            <a:off x="6608618" y="6054436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eaLnBrk="1" latin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23C00A42-642C-4A8B-BFA1-53A8E58F4EBE}" type="slidenum">
              <a:rPr lang="en-US" altLang="ko-KR" sz="1200" b="0">
                <a:latin typeface="맑은 고딕" pitchFamily="50" charset="-127"/>
                <a:ea typeface="맑은 고딕" pitchFamily="50" charset="-127"/>
              </a:rPr>
              <a:pPr algn="r" eaLnBrk="1" latin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ko-KR" sz="1200" b="0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64354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4" name="Rectangle 3"/>
          <p:cNvSpPr>
            <a:spLocks noChangeArrowheads="1"/>
          </p:cNvSpPr>
          <p:nvPr/>
        </p:nvSpPr>
        <p:spPr bwMode="auto">
          <a:xfrm>
            <a:off x="2000250" y="23907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ko-KR" altLang="en-US" sz="1800" b="0">
              <a:latin typeface="굴림" pitchFamily="50" charset="-127"/>
            </a:endParaRPr>
          </a:p>
        </p:txBody>
      </p:sp>
      <p:sp>
        <p:nvSpPr>
          <p:cNvPr id="122885" name="Rectangle 4"/>
          <p:cNvSpPr>
            <a:spLocks noChangeArrowheads="1"/>
          </p:cNvSpPr>
          <p:nvPr/>
        </p:nvSpPr>
        <p:spPr bwMode="auto">
          <a:xfrm>
            <a:off x="2400300" y="26574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ko-KR" altLang="en-US" sz="1800" b="0">
              <a:latin typeface="굴림" pitchFamily="50" charset="-127"/>
            </a:endParaRPr>
          </a:p>
        </p:txBody>
      </p:sp>
      <p:sp>
        <p:nvSpPr>
          <p:cNvPr id="122886" name="Rectangle 5"/>
          <p:cNvSpPr>
            <a:spLocks noChangeArrowheads="1"/>
          </p:cNvSpPr>
          <p:nvPr/>
        </p:nvSpPr>
        <p:spPr bwMode="auto">
          <a:xfrm>
            <a:off x="2057400" y="23526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ko-KR" altLang="en-US" sz="1800" b="0">
              <a:latin typeface="굴림" pitchFamily="50" charset="-127"/>
            </a:endParaRPr>
          </a:p>
        </p:txBody>
      </p:sp>
      <p:sp>
        <p:nvSpPr>
          <p:cNvPr id="122887" name="Rectangle 6"/>
          <p:cNvSpPr>
            <a:spLocks noChangeArrowheads="1"/>
          </p:cNvSpPr>
          <p:nvPr/>
        </p:nvSpPr>
        <p:spPr bwMode="auto">
          <a:xfrm>
            <a:off x="1828800" y="23098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ko-KR" altLang="en-US" sz="1800" b="0">
              <a:latin typeface="굴림" pitchFamily="50" charset="-127"/>
            </a:endParaRPr>
          </a:p>
        </p:txBody>
      </p:sp>
      <p:sp>
        <p:nvSpPr>
          <p:cNvPr id="122888" name="Rectangle 7"/>
          <p:cNvSpPr>
            <a:spLocks noChangeArrowheads="1"/>
          </p:cNvSpPr>
          <p:nvPr/>
        </p:nvSpPr>
        <p:spPr bwMode="auto">
          <a:xfrm>
            <a:off x="1890713" y="21955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ko-KR" altLang="en-US" sz="1800" b="0">
              <a:latin typeface="굴림" pitchFamily="50" charset="-127"/>
            </a:endParaRPr>
          </a:p>
        </p:txBody>
      </p:sp>
      <p:sp>
        <p:nvSpPr>
          <p:cNvPr id="122889" name="Rectangle 8"/>
          <p:cNvSpPr>
            <a:spLocks noChangeArrowheads="1"/>
          </p:cNvSpPr>
          <p:nvPr/>
        </p:nvSpPr>
        <p:spPr bwMode="auto">
          <a:xfrm>
            <a:off x="1890713" y="21955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ko-KR" altLang="en-US" sz="1800" b="0">
              <a:latin typeface="굴림" pitchFamily="50" charset="-127"/>
            </a:endParaRPr>
          </a:p>
        </p:txBody>
      </p:sp>
      <p:sp>
        <p:nvSpPr>
          <p:cNvPr id="122890" name="Rectangle 9"/>
          <p:cNvSpPr>
            <a:spLocks noChangeArrowheads="1"/>
          </p:cNvSpPr>
          <p:nvPr/>
        </p:nvSpPr>
        <p:spPr bwMode="auto">
          <a:xfrm>
            <a:off x="2457450" y="187166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ko-KR" altLang="en-US" sz="1800" b="0">
              <a:latin typeface="굴림" pitchFamily="50" charset="-127"/>
            </a:endParaRPr>
          </a:p>
        </p:txBody>
      </p:sp>
      <p:sp>
        <p:nvSpPr>
          <p:cNvPr id="122891" name="Rectangle 10"/>
          <p:cNvSpPr>
            <a:spLocks noChangeArrowheads="1"/>
          </p:cNvSpPr>
          <p:nvPr/>
        </p:nvSpPr>
        <p:spPr bwMode="auto">
          <a:xfrm>
            <a:off x="2085975" y="20716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ko-KR" altLang="en-US" sz="1800" b="0">
              <a:latin typeface="굴림" pitchFamily="50" charset="-127"/>
            </a:endParaRPr>
          </a:p>
        </p:txBody>
      </p:sp>
      <p:sp>
        <p:nvSpPr>
          <p:cNvPr id="122892" name="Rectangle 11"/>
          <p:cNvSpPr>
            <a:spLocks noChangeArrowheads="1"/>
          </p:cNvSpPr>
          <p:nvPr/>
        </p:nvSpPr>
        <p:spPr bwMode="auto">
          <a:xfrm>
            <a:off x="2124075" y="278606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ko-KR" altLang="en-US" sz="1800" b="0">
              <a:latin typeface="굴림" pitchFamily="50" charset="-127"/>
            </a:endParaRPr>
          </a:p>
        </p:txBody>
      </p:sp>
      <p:sp>
        <p:nvSpPr>
          <p:cNvPr id="122893" name="Rectangle 12"/>
          <p:cNvSpPr>
            <a:spLocks noChangeArrowheads="1"/>
          </p:cNvSpPr>
          <p:nvPr/>
        </p:nvSpPr>
        <p:spPr bwMode="auto">
          <a:xfrm>
            <a:off x="1719263" y="16287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ko-KR" altLang="en-US" sz="1800" b="0">
              <a:latin typeface="굴림" pitchFamily="50" charset="-127"/>
            </a:endParaRPr>
          </a:p>
        </p:txBody>
      </p:sp>
      <p:sp>
        <p:nvSpPr>
          <p:cNvPr id="122894" name="Rectangle 13"/>
          <p:cNvSpPr>
            <a:spLocks noChangeArrowheads="1"/>
          </p:cNvSpPr>
          <p:nvPr/>
        </p:nvSpPr>
        <p:spPr bwMode="auto">
          <a:xfrm>
            <a:off x="2014538" y="20050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ko-KR" altLang="en-US" sz="1800" b="0">
              <a:latin typeface="굴림" pitchFamily="50" charset="-127"/>
            </a:endParaRPr>
          </a:p>
        </p:txBody>
      </p:sp>
      <p:sp>
        <p:nvSpPr>
          <p:cNvPr id="122895" name="Rectangle 14"/>
          <p:cNvSpPr>
            <a:spLocks noChangeArrowheads="1"/>
          </p:cNvSpPr>
          <p:nvPr/>
        </p:nvSpPr>
        <p:spPr bwMode="auto">
          <a:xfrm>
            <a:off x="2224088" y="19145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ko-KR" altLang="en-US" sz="1800" b="0">
              <a:latin typeface="굴림" pitchFamily="50" charset="-127"/>
            </a:endParaRPr>
          </a:p>
        </p:txBody>
      </p:sp>
      <p:sp>
        <p:nvSpPr>
          <p:cNvPr id="122896" name="Rectangle 15"/>
          <p:cNvSpPr>
            <a:spLocks noChangeArrowheads="1"/>
          </p:cNvSpPr>
          <p:nvPr/>
        </p:nvSpPr>
        <p:spPr bwMode="auto">
          <a:xfrm>
            <a:off x="1947863" y="16192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ko-KR" altLang="en-US" sz="1800" b="0">
              <a:latin typeface="굴림" pitchFamily="50" charset="-127"/>
            </a:endParaRPr>
          </a:p>
        </p:txBody>
      </p:sp>
      <p:pic>
        <p:nvPicPr>
          <p:cNvPr id="122897" name="Picture 16" descr="E:\wonsuk\secure.pe.kr\instruction\tcpip\ipaddressing33.jpg"/>
          <p:cNvPicPr>
            <a:picLocks noChangeAspect="1" noChangeArrowheads="1"/>
          </p:cNvPicPr>
          <p:nvPr/>
        </p:nvPicPr>
        <p:blipFill>
          <a:blip r:embed="rId3" r:link="rId4" cstate="print"/>
          <a:srcRect/>
          <a:stretch>
            <a:fillRect/>
          </a:stretch>
        </p:blipFill>
        <p:spPr bwMode="auto">
          <a:xfrm>
            <a:off x="578138" y="1388382"/>
            <a:ext cx="7887436" cy="47751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Rectangle 16"/>
          <p:cNvSpPr>
            <a:spLocks noChangeArrowheads="1"/>
          </p:cNvSpPr>
          <p:nvPr/>
        </p:nvSpPr>
        <p:spPr bwMode="auto">
          <a:xfrm>
            <a:off x="535623" y="442913"/>
            <a:ext cx="8189912" cy="841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80000"/>
              </a:lnSpc>
              <a:spcBef>
                <a:spcPct val="0"/>
              </a:spcBef>
              <a:buClr>
                <a:srgbClr val="DC0081"/>
              </a:buClr>
              <a:buSzTx/>
              <a:buFont typeface="Wingdings" pitchFamily="2" charset="2"/>
              <a:buNone/>
            </a:pPr>
            <a:r>
              <a:rPr lang="en-US" altLang="ko-KR" sz="3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VLSM( Variable Length Subnet Mask ) example</a:t>
            </a:r>
          </a:p>
        </p:txBody>
      </p:sp>
      <p:sp>
        <p:nvSpPr>
          <p:cNvPr id="17" name="슬라이드 번호 개체 틀 4"/>
          <p:cNvSpPr txBox="1">
            <a:spLocks noGrp="1"/>
          </p:cNvSpPr>
          <p:nvPr/>
        </p:nvSpPr>
        <p:spPr bwMode="auto">
          <a:xfrm>
            <a:off x="6608618" y="6054436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eaLnBrk="1" latin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23C00A42-642C-4A8B-BFA1-53A8E58F4EBE}" type="slidenum">
              <a:rPr lang="en-US" altLang="ko-KR" sz="1200" b="0">
                <a:latin typeface="맑은 고딕" pitchFamily="50" charset="-127"/>
                <a:ea typeface="맑은 고딕" pitchFamily="50" charset="-127"/>
              </a:rPr>
              <a:pPr algn="r" eaLnBrk="1" latin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ko-KR" sz="1200" b="0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26630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7530</TotalTime>
  <Words>700</Words>
  <Application>Microsoft Office PowerPoint</Application>
  <PresentationFormat>화면 슬라이드 쇼(4:3)</PresentationFormat>
  <Paragraphs>352</Paragraphs>
  <Slides>24</Slides>
  <Notes>13</Notes>
  <HiddenSlides>0</HiddenSlides>
  <MMClips>0</MMClips>
  <ScaleCrop>false</ScaleCrop>
  <HeadingPairs>
    <vt:vector size="8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4</vt:i4>
      </vt:variant>
      <vt:variant>
        <vt:lpstr>슬라이드 제목</vt:lpstr>
      </vt:variant>
      <vt:variant>
        <vt:i4>24</vt:i4>
      </vt:variant>
    </vt:vector>
  </HeadingPairs>
  <TitlesOfParts>
    <vt:vector size="42" baseType="lpstr">
      <vt:lpstr>HY울릉도L</vt:lpstr>
      <vt:lpstr>굴림</vt:lpstr>
      <vt:lpstr>나눔고딕</vt:lpstr>
      <vt:lpstr>다음_SemiBold</vt:lpstr>
      <vt:lpstr>돋움</vt:lpstr>
      <vt:lpstr>맑은 고딕</vt:lpstr>
      <vt:lpstr>함초롬바탕</vt:lpstr>
      <vt:lpstr>Arial</vt:lpstr>
      <vt:lpstr>Calibri</vt:lpstr>
      <vt:lpstr>Calibri Light</vt:lpstr>
      <vt:lpstr>Tahoma</vt:lpstr>
      <vt:lpstr>Times New Roman</vt:lpstr>
      <vt:lpstr>Wingdings</vt:lpstr>
      <vt:lpstr>Office 테마</vt:lpstr>
      <vt:lpstr>훈민정음</vt:lpstr>
      <vt:lpstr>그림</vt:lpstr>
      <vt:lpstr>Picture</vt:lpstr>
      <vt:lpstr>클립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❶ 구성도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SoHo(Small office/home office)에서의 NAT </vt:lpstr>
      <vt:lpstr>NAT 기능  </vt:lpstr>
      <vt:lpstr>PowerPoint 프레젠테이션</vt:lpstr>
      <vt:lpstr>PowerPoint 프레젠테이션</vt:lpstr>
      <vt:lpstr>PowerPoint 프레젠테이션</vt:lpstr>
      <vt:lpstr>PowerPoint 프레젠테이션</vt:lpstr>
      <vt:lpstr>기업망에서의 NAT </vt:lpstr>
      <vt:lpstr>PowerPoint 프레젠테이션</vt:lpstr>
      <vt:lpstr>PowerPoint 프레젠테이션</vt:lpstr>
      <vt:lpstr>FLSM( Fixed Length Subnet Mask ) example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Sora Kwon</dc:creator>
  <cp:lastModifiedBy>Microsoft 계정</cp:lastModifiedBy>
  <cp:revision>404</cp:revision>
  <cp:lastPrinted>2023-08-17T20:47:04Z</cp:lastPrinted>
  <dcterms:created xsi:type="dcterms:W3CDTF">2016-06-18T01:38:17Z</dcterms:created>
  <dcterms:modified xsi:type="dcterms:W3CDTF">2023-08-17T20:49:57Z</dcterms:modified>
</cp:coreProperties>
</file>