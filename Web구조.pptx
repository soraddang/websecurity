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sldIdLst>
    <p:sldId id="1815" r:id="rId2"/>
    <p:sldId id="1642" r:id="rId3"/>
    <p:sldId id="1643" r:id="rId4"/>
    <p:sldId id="1644" r:id="rId5"/>
    <p:sldId id="1645" r:id="rId6"/>
    <p:sldId id="1646" r:id="rId7"/>
    <p:sldId id="1647" r:id="rId8"/>
    <p:sldId id="1648" r:id="rId9"/>
    <p:sldId id="1649" r:id="rId10"/>
    <p:sldId id="1650" r:id="rId11"/>
    <p:sldId id="1588" r:id="rId12"/>
    <p:sldId id="1589" r:id="rId13"/>
    <p:sldId id="1760" r:id="rId14"/>
    <p:sldId id="1590" r:id="rId15"/>
    <p:sldId id="1816" r:id="rId16"/>
    <p:sldId id="1757" r:id="rId17"/>
    <p:sldId id="1595" r:id="rId18"/>
    <p:sldId id="1596" r:id="rId19"/>
    <p:sldId id="1597" r:id="rId20"/>
    <p:sldId id="1598" r:id="rId21"/>
    <p:sldId id="1599" r:id="rId22"/>
    <p:sldId id="1600" r:id="rId23"/>
    <p:sldId id="1601" r:id="rId24"/>
    <p:sldId id="1603" r:id="rId25"/>
    <p:sldId id="1605" r:id="rId26"/>
    <p:sldId id="1606" r:id="rId27"/>
    <p:sldId id="1607" r:id="rId28"/>
    <p:sldId id="1608" r:id="rId29"/>
    <p:sldId id="1609" r:id="rId30"/>
    <p:sldId id="1610" r:id="rId31"/>
    <p:sldId id="1611" r:id="rId32"/>
    <p:sldId id="1612" r:id="rId33"/>
    <p:sldId id="1613" r:id="rId34"/>
    <p:sldId id="1620" r:id="rId35"/>
    <p:sldId id="1621" r:id="rId36"/>
    <p:sldId id="1622" r:id="rId37"/>
    <p:sldId id="1623" r:id="rId38"/>
    <p:sldId id="1626" r:id="rId39"/>
    <p:sldId id="1627" r:id="rId40"/>
    <p:sldId id="1628" r:id="rId41"/>
    <p:sldId id="1629" r:id="rId42"/>
    <p:sldId id="1630" r:id="rId43"/>
    <p:sldId id="1631" r:id="rId44"/>
    <p:sldId id="1632" r:id="rId45"/>
    <p:sldId id="1633" r:id="rId46"/>
    <p:sldId id="1634" r:id="rId47"/>
    <p:sldId id="1635" r:id="rId48"/>
    <p:sldId id="1636" r:id="rId49"/>
    <p:sldId id="1637" r:id="rId50"/>
    <p:sldId id="1638" r:id="rId51"/>
    <p:sldId id="1639" r:id="rId52"/>
    <p:sldId id="1640" r:id="rId53"/>
    <p:sldId id="1641" r:id="rId54"/>
    <p:sldId id="1763" r:id="rId55"/>
    <p:sldId id="1764" r:id="rId56"/>
    <p:sldId id="1765" r:id="rId57"/>
    <p:sldId id="1766" r:id="rId58"/>
    <p:sldId id="1767" r:id="rId59"/>
    <p:sldId id="1768" r:id="rId60"/>
    <p:sldId id="1769" r:id="rId61"/>
    <p:sldId id="1770" r:id="rId62"/>
    <p:sldId id="1771" r:id="rId63"/>
    <p:sldId id="1772" r:id="rId64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4493" autoAdjust="0"/>
    <p:restoredTop sz="94775" autoAdjust="0"/>
  </p:normalViewPr>
  <p:slideViewPr>
    <p:cSldViewPr snapToGrid="0">
      <p:cViewPr varScale="1">
        <p:scale>
          <a:sx n="81" d="100"/>
          <a:sy n="81" d="100"/>
        </p:scale>
        <p:origin x="19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432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739" cy="513508"/>
          </a:xfrm>
          <a:prstGeom prst="rect">
            <a:avLst/>
          </a:prstGeom>
        </p:spPr>
        <p:txBody>
          <a:bodyPr vert="horz" lIns="94778" tIns="47388" rIns="94778" bIns="4738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4" y="0"/>
            <a:ext cx="3077739" cy="513508"/>
          </a:xfrm>
          <a:prstGeom prst="rect">
            <a:avLst/>
          </a:prstGeom>
        </p:spPr>
        <p:txBody>
          <a:bodyPr vert="horz" lIns="94778" tIns="47388" rIns="94778" bIns="47388" rtlCol="0"/>
          <a:lstStyle>
            <a:lvl1pPr algn="r">
              <a:defRPr sz="1200"/>
            </a:lvl1pPr>
          </a:lstStyle>
          <a:p>
            <a:fld id="{6E2CB153-45EF-48E8-99E9-7B97BED85BE4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78" tIns="47388" rIns="94778" bIns="4738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4778" tIns="47388" rIns="94778" bIns="4738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7739" cy="513507"/>
          </a:xfrm>
          <a:prstGeom prst="rect">
            <a:avLst/>
          </a:prstGeom>
        </p:spPr>
        <p:txBody>
          <a:bodyPr vert="horz" lIns="94778" tIns="47388" rIns="94778" bIns="4738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4" y="9721108"/>
            <a:ext cx="3077739" cy="513507"/>
          </a:xfrm>
          <a:prstGeom prst="rect">
            <a:avLst/>
          </a:prstGeom>
        </p:spPr>
        <p:txBody>
          <a:bodyPr vert="horz" lIns="94778" tIns="47388" rIns="94778" bIns="47388" rtlCol="0" anchor="b"/>
          <a:lstStyle>
            <a:lvl1pPr algn="r">
              <a:defRPr sz="1200"/>
            </a:lvl1pPr>
          </a:lstStyle>
          <a:p>
            <a:fld id="{5BE81944-C09D-40AD-A756-3B56302354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3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885558" y="4906946"/>
            <a:ext cx="5137596" cy="4421808"/>
          </a:xfrm>
        </p:spPr>
        <p:txBody>
          <a:bodyPr>
            <a:normAutofit/>
          </a:bodyPr>
          <a:lstStyle/>
          <a:p>
            <a:r>
              <a:rPr lang="en-US" altLang="ko-KR" sz="900" dirty="0">
                <a:latin typeface="Times New Roman"/>
                <a:ea typeface="함초롬바탕" pitchFamily="18" charset="-127"/>
                <a:cs typeface="Times New Roman"/>
              </a:rPr>
              <a:t>•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 클라이언트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사용자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클라이언트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)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가 요청한 웹 서버의 결과를 화면에 출력해 보여주는 애플리케이션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인터넷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익스플로러를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비롯해 크롬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파이어폭스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등의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웹브라우저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사용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endParaRPr lang="en-US" altLang="ko-KR" sz="4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Times New Roman"/>
                <a:ea typeface="함초롬바탕" pitchFamily="18" charset="-127"/>
                <a:cs typeface="Times New Roman"/>
              </a:rPr>
              <a:t>•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 서버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웹브라우저의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요청을 받아 들여서 이에 알맞은 결과를 웹 브라우저에 응답해 주는 역할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정적인 페이지 처리를 담당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요청에 필요한 페이지의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로직이나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데이타베이스와의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연동을 위해서 애플리케이션 서버에  처리 요청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HTTP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요청과 응답을 처리하는 것으로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Apache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와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IIS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등이 있음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endParaRPr lang="en-US" altLang="ko-KR" sz="400" dirty="0">
              <a:latin typeface="Times New Roman"/>
              <a:ea typeface="함초롬바탕" pitchFamily="18" charset="-127"/>
              <a:cs typeface="Times New Roman"/>
            </a:endParaRPr>
          </a:p>
          <a:p>
            <a:r>
              <a:rPr lang="en-US" altLang="ko-KR" sz="900" dirty="0">
                <a:latin typeface="Times New Roman"/>
                <a:ea typeface="함초롬바탕" pitchFamily="18" charset="-127"/>
                <a:cs typeface="Times New Roman"/>
              </a:rPr>
              <a:t>•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 애플리케이션 서버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(WAS)</a:t>
            </a: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요청한 페이지의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로직이나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데이타베이스와의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연동을 처리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동적인 페이지 처리 담당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데이터를 가공하거나 화면을 유동적으로 처리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톰캣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(Tomcat), 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WebLogin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WebSphere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등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플러그인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: Perl, C/C++, JSP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등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endParaRPr lang="en-US" altLang="ko-KR" sz="400" dirty="0">
              <a:latin typeface="Times New Roman"/>
              <a:ea typeface="함초롬바탕" pitchFamily="18" charset="-127"/>
              <a:cs typeface="Times New Roman"/>
            </a:endParaRPr>
          </a:p>
          <a:p>
            <a:r>
              <a:rPr lang="en-US" altLang="ko-KR" sz="900" dirty="0">
                <a:latin typeface="Times New Roman"/>
                <a:ea typeface="함초롬바탕" pitchFamily="18" charset="-127"/>
                <a:cs typeface="Times New Roman"/>
              </a:rPr>
              <a:t>• 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데이타베이스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관리 시스템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(DBMS)</a:t>
            </a: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데이터를 저장하고 관리하는 것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- Oracle, MS-SQL, 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MySQL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등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AB241-1457-4EF4-B2AC-23106A1D9A59}" type="slidenum">
              <a:rPr lang="ko-KR" altLang="en-US" smtClean="0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8139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885558" y="4906946"/>
            <a:ext cx="5137596" cy="4421808"/>
          </a:xfrm>
        </p:spPr>
        <p:txBody>
          <a:bodyPr>
            <a:normAutofit/>
          </a:bodyPr>
          <a:lstStyle/>
          <a:p>
            <a:r>
              <a:rPr lang="en-US" altLang="ko-KR" sz="900" dirty="0">
                <a:latin typeface="Times New Roman"/>
                <a:ea typeface="함초롬바탕" pitchFamily="18" charset="-127"/>
                <a:cs typeface="Times New Roman"/>
              </a:rPr>
              <a:t>•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 클라이언트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사용자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클라이언트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)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가 요청한 웹 서버의 결과를 화면에 출력해 보여주는 애플리케이션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인터넷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익스플로러를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비롯해 크롬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파이어폭스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등의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웹브라우저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사용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endParaRPr lang="en-US" altLang="ko-KR" sz="4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Times New Roman"/>
                <a:ea typeface="함초롬바탕" pitchFamily="18" charset="-127"/>
                <a:cs typeface="Times New Roman"/>
              </a:rPr>
              <a:t>•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 서버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웹브라우저의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요청을 받아 들여서 이에 알맞은 결과를 웹 브라우저에 응답해 주는 역할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정적인 페이지 처리를 담당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요청에 필요한 페이지의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로직이나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데이타베이스와의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연동을 위해서 애플리케이션 서버에  처리 요청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HTTP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요청과 응답을 처리하는 것으로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Apache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와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IIS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등이 있음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endParaRPr lang="en-US" altLang="ko-KR" sz="400" dirty="0">
              <a:latin typeface="Times New Roman"/>
              <a:ea typeface="함초롬바탕" pitchFamily="18" charset="-127"/>
              <a:cs typeface="Times New Roman"/>
            </a:endParaRPr>
          </a:p>
          <a:p>
            <a:r>
              <a:rPr lang="en-US" altLang="ko-KR" sz="900" dirty="0">
                <a:latin typeface="Times New Roman"/>
                <a:ea typeface="함초롬바탕" pitchFamily="18" charset="-127"/>
                <a:cs typeface="Times New Roman"/>
              </a:rPr>
              <a:t>•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 애플리케이션 서버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(WAS)</a:t>
            </a: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요청한 페이지의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로직이나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데이타베이스와의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연동을 처리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동적인 페이지 처리 담당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데이터를 가공하거나 화면을 유동적으로 처리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톰캣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(Tomcat), 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WebLogin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WebSphere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등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플러그인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: Perl, C/C++, JSP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등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endParaRPr lang="en-US" altLang="ko-KR" sz="400" dirty="0">
              <a:latin typeface="Times New Roman"/>
              <a:ea typeface="함초롬바탕" pitchFamily="18" charset="-127"/>
              <a:cs typeface="Times New Roman"/>
            </a:endParaRPr>
          </a:p>
          <a:p>
            <a:r>
              <a:rPr lang="en-US" altLang="ko-KR" sz="900" dirty="0">
                <a:latin typeface="Times New Roman"/>
                <a:ea typeface="함초롬바탕" pitchFamily="18" charset="-127"/>
                <a:cs typeface="Times New Roman"/>
              </a:rPr>
              <a:t>• 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데이타베이스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관리 시스템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(DBMS)</a:t>
            </a: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데이터를 저장하고 관리하는 것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- Oracle, MS-SQL, 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MySQL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등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AB241-1457-4EF4-B2AC-23106A1D9A59}" type="slidenum">
              <a:rPr lang="ko-KR" altLang="en-US" smtClean="0"/>
              <a:pPr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6258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191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33544-EC4B-4667-AC68-93421DE3D942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762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85813" y="857250"/>
            <a:ext cx="5718175" cy="4289425"/>
          </a:xfrm>
          <a:ln/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Clr>
                <a:srgbClr val="4F81BD"/>
              </a:buClr>
              <a:defRPr/>
            </a:pPr>
            <a:r>
              <a:rPr lang="en-US" altLang="ko-KR" sz="1100" dirty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1.0</a:t>
            </a:r>
            <a:r>
              <a:rPr lang="ko-KR" altLang="en-US" sz="110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</a:t>
            </a:r>
            <a:r>
              <a:rPr lang="en-US" altLang="ko-KR" sz="1100" dirty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1.1 </a:t>
            </a:r>
            <a:r>
              <a:rPr lang="ko-KR" altLang="en-US" sz="110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동작 원리</a:t>
            </a:r>
            <a:endParaRPr lang="en-US" altLang="ko-KR" sz="1100" dirty="0">
              <a:solidFill>
                <a:prstClr val="black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62113" lvl="1" indent="-179166">
              <a:lnSpc>
                <a:spcPct val="150000"/>
              </a:lnSpc>
              <a:buClr>
                <a:srgbClr val="4F81BD"/>
              </a:buClr>
              <a:buFontTx/>
              <a:buChar char="-"/>
              <a:defRPr/>
            </a:pPr>
            <a:r>
              <a:rPr lang="en-US" altLang="ko-KR" sz="1100" dirty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1.0</a:t>
            </a:r>
            <a:r>
              <a:rPr lang="ko-KR" altLang="en-US" sz="110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에서는 문서에 몇 개의 그림이 있든 상관없이 텍스트가 저장된 </a:t>
            </a:r>
            <a:r>
              <a:rPr lang="en-US" altLang="ko-KR" sz="1100" dirty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HTML </a:t>
            </a:r>
            <a:r>
              <a:rPr lang="ko-KR" altLang="en-US" sz="110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문서를 먼저 전송 받은 후 연결을 끊고 나서 다시 연결하여 그림을 전송 받음</a:t>
            </a:r>
            <a:endParaRPr lang="en-US" altLang="ko-KR" sz="1100" dirty="0">
              <a:solidFill>
                <a:prstClr val="black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62113" lvl="1" indent="-179166">
              <a:lnSpc>
                <a:spcPct val="150000"/>
              </a:lnSpc>
              <a:buClr>
                <a:srgbClr val="4F81BD"/>
              </a:buClr>
              <a:buFontTx/>
              <a:buChar char="-"/>
              <a:defRPr/>
            </a:pPr>
            <a:r>
              <a:rPr lang="en-US" altLang="ko-KR" sz="1100" dirty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1.1</a:t>
            </a:r>
            <a:r>
              <a:rPr lang="ko-KR" altLang="en-US" sz="110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은 연결 요청이 계속 들어오면 </a:t>
            </a:r>
            <a:r>
              <a:rPr lang="en-US" altLang="ko-KR" sz="1100" dirty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HTML </a:t>
            </a:r>
            <a:r>
              <a:rPr lang="ko-KR" altLang="en-US" sz="110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문서를 받고 난 후 연결을 끊고 나서 다시 연결 </a:t>
            </a:r>
            <a:endParaRPr lang="en-US" altLang="ko-KR" sz="1100" dirty="0">
              <a:solidFill>
                <a:prstClr val="black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82947" lvl="1">
              <a:lnSpc>
                <a:spcPct val="150000"/>
              </a:lnSpc>
              <a:buClr>
                <a:srgbClr val="4F81BD"/>
              </a:buClr>
              <a:defRPr/>
            </a:pPr>
            <a:r>
              <a:rPr lang="en-US" altLang="ko-KR" sz="1100" dirty="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en-US" sz="1100">
                <a:solidFill>
                  <a:prstClr val="black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하는 게 아니라 바로 그림 파일을 요청</a:t>
            </a:r>
            <a:endParaRPr lang="en-US" altLang="ko-KR" sz="1100" dirty="0">
              <a:solidFill>
                <a:prstClr val="black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defRPr/>
            </a:pPr>
            <a:endParaRPr lang="ko-KR" altLang="en-US" sz="1000" dirty="0">
              <a:latin typeface="함초롬돋움" panose="02030504000101010101" pitchFamily="18" charset="-127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2860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73150" y="835025"/>
            <a:ext cx="4829175" cy="36210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742792" y="4601571"/>
            <a:ext cx="5487681" cy="5215323"/>
          </a:xfrm>
        </p:spPr>
        <p:txBody>
          <a:bodyPr>
            <a:normAutofit/>
          </a:bodyPr>
          <a:lstStyle/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GET /HTTP/1.1</a:t>
            </a: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GET [request-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uri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]?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query_string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HTTP/1.1</a:t>
            </a:r>
          </a:p>
          <a:p>
            <a:pPr indent="6347">
              <a:buFontTx/>
              <a:buChar char="-"/>
            </a:pP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데이터 처리 방식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경로 및 파일명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(URI), HTTP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프로토콜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버전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endParaRPr lang="en-US" altLang="ko-KR" sz="4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Accept : text/html, application/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xthml+xml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*/*</a:t>
            </a:r>
          </a:p>
          <a:p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응답 메시지에 대해 허용할 수 있는 미디어 종류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 서버로부터 수신되는 데이터 중 웹 브라우저 가 처리할 수 있는 데이터 타입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 indent="6347">
              <a:buFontTx/>
              <a:buChar char="-"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text/html : text, html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형태의 문서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   */* :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모든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문서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 indent="6347">
              <a:buFontTx/>
              <a:buChar char="-"/>
            </a:pP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Accept-Encoding:gzip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deflate</a:t>
            </a:r>
          </a:p>
          <a:p>
            <a:pPr>
              <a:buFontTx/>
              <a:buNone/>
            </a:pP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클라이언트가 인식 할 수 있는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인코딩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압축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)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방법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- 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gzip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deflate :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압축한 리소스를 클라이언트가 해석 가능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서버에서 압축을 했을 경우 응답헤더에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content-encoding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헤더에 해당 압축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방법을 명시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Char char="-"/>
            </a:pPr>
            <a:endParaRPr lang="en-US" altLang="ko-KR" sz="4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Cookie : name = value</a:t>
            </a:r>
          </a:p>
          <a:p>
            <a:pPr>
              <a:buFontTx/>
              <a:buNone/>
            </a:pP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프로토콜 자체가 세션을 유지하지 않는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state-less(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접속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상태를 유지 않는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)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방식이기 때문에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사용자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정보를 기억하기 위해  만든 인위적인 값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서버가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클라이언트에 전송한 인자 값에 추가 정보를 보낼 때 사용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endParaRPr lang="en-US" altLang="ko-KR" sz="8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Host :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  <a:hlinkClick r:id="rId3"/>
              </a:rPr>
              <a:t>www.google.com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//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응답을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요청한 호스트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사용자가 요청한 도메인 정보가 포함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endParaRPr lang="en-US" altLang="ko-KR" sz="4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Accept-Language : </a:t>
            </a:r>
            <a:r>
              <a:rPr lang="en-US" altLang="ko-KR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ko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-KR</a:t>
            </a:r>
          </a:p>
          <a:p>
            <a:pPr>
              <a:buFontTx/>
              <a:buNone/>
            </a:pP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클라이언트 </a:t>
            </a:r>
            <a:r>
              <a:rPr lang="ko-KR" altLang="en-US" sz="900" dirty="0" err="1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웹브라우저가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인식 할 수 있는 언어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응답에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대해 선호하는 언어로 우선 순위 지정 가능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endParaRPr lang="en-US" altLang="ko-KR" sz="4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User-Agent : Mozilla/5.0(compatible; MSIE 9.0; Window NT 6.1; Trident/5.0)</a:t>
            </a:r>
          </a:p>
          <a:p>
            <a:pPr>
              <a:buFontTx/>
              <a:buNone/>
            </a:pP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응답 내용에 대해 응답할 수 있는 브라우저 종류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사용자의 웹 브라우저 종류 및 버전 정보가 포함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Char char="-"/>
            </a:pP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buFontTx/>
              <a:buNone/>
            </a:pPr>
            <a:endParaRPr lang="ko-KR" altLang="en-US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AB241-1457-4EF4-B2AC-23106A1D9A59}" type="slidenum">
              <a:rPr lang="ko-KR" altLang="en-US" smtClean="0"/>
              <a:pPr/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9365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880422" y="4978848"/>
            <a:ext cx="5487681" cy="42193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·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헤더 정보 뒤에 빈 줄이 하나 들어가고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그 다음에 실제 데이터가 전달됨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·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실제 데이터는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HTML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이나 그림 파일이며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데이터 전달이 종료되면 서버는 연결을 끊음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defRPr/>
            </a:pP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[ </a:t>
            </a:r>
            <a:r>
              <a:rPr lang="en-US" altLang="ko-KR" sz="1000" dirty="0">
                <a:latin typeface="Times New Roman" pitchFamily="18" charset="0"/>
                <a:ea typeface="함초롬바탕" pitchFamily="18" charset="-127"/>
                <a:cs typeface="Times New Roman" pitchFamily="18" charset="0"/>
              </a:rPr>
              <a:t>http response header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구성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]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HTTP /1.1 200 OK - HTTP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버전과 응답 코드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Date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응답시간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Server  -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응답 웹 서버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정보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Content-Type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내용의 형식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요청한 파일의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MIME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타입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Text/html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은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text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중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html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파일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Last-Modified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-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요청한 파일의 최종 수정일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최근 응답 페이지 수정일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/>
            </a:r>
            <a:b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</a:b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Content-Length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ko-KR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헤더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이후 이어지는 데이터의 길이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바이트 단위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) </a:t>
            </a:r>
            <a:endParaRPr lang="ko-KR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Entity Body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클라이언트가 요청한 페이지 내용과 같은 전달할 값 </a:t>
            </a:r>
            <a:endParaRPr lang="ko-KR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AB241-1457-4EF4-B2AC-23106A1D9A59}" type="slidenum">
              <a:rPr lang="ko-KR" altLang="en-US" smtClean="0"/>
              <a:pPr/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2988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96913" y="884238"/>
            <a:ext cx="5892800" cy="4419600"/>
          </a:xfrm>
          <a:ln/>
        </p:spPr>
      </p:sp>
      <p:sp>
        <p:nvSpPr>
          <p:cNvPr id="82947" name="슬라이드 노트 개체 틀 2"/>
          <p:cNvSpPr>
            <a:spLocks noGrp="1"/>
          </p:cNvSpPr>
          <p:nvPr>
            <p:ph type="body" idx="1"/>
          </p:nvPr>
        </p:nvSpPr>
        <p:spPr>
          <a:noFill/>
          <a:ln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[ http request header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구성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] </a:t>
            </a:r>
          </a:p>
          <a:p>
            <a:pPr latinLnBrk="0">
              <a:lnSpc>
                <a:spcPct val="150000"/>
              </a:lnSpc>
            </a:pP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요청 라인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 GET / HTTP /1.1 </a:t>
            </a:r>
            <a:b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     -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요청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 method/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요청 파일정보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/http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버전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/>
            </a:r>
            <a:b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     -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요청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 method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란 클라이언트가 서버로의 요청하는 방법 명시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 : GET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또는 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Post  </a:t>
            </a:r>
            <a:endParaRPr lang="ko-KR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atinLnBrk="0">
              <a:lnSpc>
                <a:spcPct val="150000"/>
              </a:lnSpc>
            </a:pP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Accept :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클라이언트가 허용할 수 있는 파일 형식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(MIME TYPE) </a:t>
            </a:r>
            <a:b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       */*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은 모든 파일형식을 다 지원</a:t>
            </a:r>
          </a:p>
          <a:p>
            <a:pPr latinLnBrk="0">
              <a:lnSpc>
                <a:spcPct val="150000"/>
              </a:lnSpc>
            </a:pP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Host :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요청을 한 서버의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 Host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명 </a:t>
            </a:r>
          </a:p>
          <a:p>
            <a:pPr>
              <a:lnSpc>
                <a:spcPct val="150000"/>
              </a:lnSpc>
            </a:pP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User-Agent :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클라이언트 소프트웨어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브라우저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,os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등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) </a:t>
            </a:r>
            <a:r>
              <a:rPr lang="ko-KR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이름과 버전 </a:t>
            </a:r>
            <a:endParaRPr lang="ko-KR" altLang="en-US" sz="1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948" name="슬라이드 번호 개체 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40600" y="10573991"/>
            <a:ext cx="3189537" cy="57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804711" indent="-309505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238017" indent="-247603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733224" indent="-247603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228431" indent="-247603"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723639" indent="-24760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3218846" indent="-24760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714052" indent="-24760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4209260" indent="-247603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fld id="{E949CBEA-4DE4-4C29-A2FA-6AFEF4D14650}" type="slidenum">
              <a:rPr lang="ko-KR" altLang="en-US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174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43F1-417B-47CE-BFCE-BF6D51EAB90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650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Referer</a:t>
            </a:r>
            <a:r>
              <a:rPr lang="en-US" altLang="ko-KR" dirty="0" smtClean="0"/>
              <a:t>(</a:t>
            </a:r>
            <a:r>
              <a:rPr lang="ko-KR" altLang="en-US" smtClean="0"/>
              <a:t>리퍼러</a:t>
            </a:r>
            <a:r>
              <a:rPr lang="en-US" altLang="ko-KR" dirty="0" smtClean="0"/>
              <a:t>)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47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880422" y="4978848"/>
            <a:ext cx="5487681" cy="42193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·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헤더 정보 뒤에 빈 줄이 하나 들어가고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그 다음에 실제 데이터가 전달됨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·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실제 데이터는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HTML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이나 그림 파일이며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데이터 전달이 종료되면 서버는 연결을 끊음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defRPr/>
            </a:pP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[ </a:t>
            </a:r>
            <a:r>
              <a:rPr lang="en-US" altLang="ko-KR" sz="1000" dirty="0">
                <a:latin typeface="Times New Roman" pitchFamily="18" charset="0"/>
                <a:ea typeface="함초롬바탕" pitchFamily="18" charset="-127"/>
                <a:cs typeface="Times New Roman" pitchFamily="18" charset="0"/>
              </a:rPr>
              <a:t>http response header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구성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]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HTTP /1.1 200 OK - HTTP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버전과 응답 코드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Date 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응답시간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Server  - </a:t>
            </a:r>
            <a:r>
              <a:rPr lang="ko-KR" altLang="en-US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응답 웹 서버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정보 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Content-Type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내용의 형식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요청한 파일의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MIME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타입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Text/html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은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text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중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html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파일</a:t>
            </a:r>
            <a:endParaRPr lang="en-US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Last-Modified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-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요청한 파일의 최종 수정일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,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최근 응답 페이지 수정일 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/>
            </a:r>
            <a:b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</a:b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Content-Length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 - </a:t>
            </a:r>
            <a:r>
              <a:rPr lang="ko-KR" altLang="ko-KR" sz="9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헤더 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이후 이어지는 데이터의 길이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</a:t>
            </a:r>
            <a:r>
              <a:rPr lang="ko-KR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바이트 단위</a:t>
            </a: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) </a:t>
            </a:r>
            <a:endParaRPr lang="ko-KR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Entity Body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- </a:t>
            </a:r>
            <a:r>
              <a:rPr lang="ko-KR" altLang="en-US" sz="9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클라이언트가 요청한 페이지 내용과 같은 전달할 값 </a:t>
            </a:r>
            <a:endParaRPr lang="ko-KR" altLang="ko-KR" sz="900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AB241-1457-4EF4-B2AC-23106A1D9A59}" type="slidenum">
              <a:rPr lang="ko-KR" altLang="en-US" smtClean="0"/>
              <a:pPr/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4023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76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451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998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818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003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789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349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967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B2838C-DFE7-4C3B-96A5-2A1FEB813EBF}" type="slidenum">
              <a:rPr lang="ko-KR" altLang="en-US" smtClean="0"/>
              <a:pPr>
                <a:defRPr/>
              </a:pPr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0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635C5-B9AE-4E0E-9524-C2A98D7A642F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78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F745-4083-49DD-AA08-7D57BF34E568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3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9A1D-5099-4F91-B69C-2B1074E10D71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818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9858-E2A5-426C-A232-9A8C9D41873F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7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1C3B-D8E4-4345-8341-CA137943D8CF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26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96A5F-5C5C-4F83-985E-CDE585CF11AB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28467" y="6356350"/>
            <a:ext cx="2057400" cy="365125"/>
          </a:xfrm>
        </p:spPr>
        <p:txBody>
          <a:bodyPr/>
          <a:lstStyle>
            <a:lvl1pPr>
              <a:defRPr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66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2C6BE-B732-4183-A4AD-9C7CCDB43180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4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E95A-4291-4429-A5ED-3D8967D3BB98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64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94E8-7D9A-4A01-B25D-748C7285E86F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16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B24E-94FE-42C9-B796-16EC2F2B00DB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58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7304A-2D7F-4326-A0F8-67E868D63539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61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>
            <a:spLocks noChangeArrowheads="1"/>
          </p:cNvSpPr>
          <p:nvPr userDrawn="1"/>
        </p:nvSpPr>
        <p:spPr bwMode="auto">
          <a:xfrm>
            <a:off x="684213" y="620713"/>
            <a:ext cx="24479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endParaRPr lang="ko-KR" altLang="en-US" sz="1976" b="1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04244"/>
            <a:ext cx="7560840" cy="407725"/>
          </a:xfrm>
        </p:spPr>
        <p:txBody>
          <a:bodyPr/>
          <a:lstStyle>
            <a:lvl1pPr algn="l">
              <a:defRPr sz="1934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50827" y="1268762"/>
            <a:ext cx="8641655" cy="5235378"/>
          </a:xfrm>
        </p:spPr>
        <p:txBody>
          <a:bodyPr/>
          <a:lstStyle>
            <a:lvl1pPr marL="257896" indent="-257896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n"/>
              <a:defRPr sz="1934" b="1">
                <a:latin typeface="+mn-ea"/>
                <a:ea typeface="+mn-ea"/>
              </a:defRPr>
            </a:lvl1pPr>
            <a:lvl2pPr marL="432897" indent="-175000">
              <a:lnSpc>
                <a:spcPct val="100000"/>
              </a:lnSpc>
              <a:spcAft>
                <a:spcPts val="387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740"/>
            </a:lvl2pPr>
            <a:lvl3pPr marL="607899" indent="-175000">
              <a:lnSpc>
                <a:spcPct val="100000"/>
              </a:lnSpc>
              <a:spcAft>
                <a:spcPts val="290"/>
              </a:spcAft>
              <a:buClr>
                <a:schemeClr val="tx1"/>
              </a:buClr>
              <a:defRPr sz="1547"/>
            </a:lvl3pPr>
            <a:lvl4pPr marL="782899" indent="-175000">
              <a:lnSpc>
                <a:spcPct val="100000"/>
              </a:lnSpc>
              <a:spcAft>
                <a:spcPts val="290"/>
              </a:spcAft>
              <a:buSzPct val="96000"/>
              <a:defRPr sz="1064"/>
            </a:lvl4pPr>
            <a:lvl5pPr marL="957899" indent="-175000">
              <a:lnSpc>
                <a:spcPct val="100000"/>
              </a:lnSpc>
              <a:defRPr sz="1064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슬라이드 번호 개체 틀 9"/>
          <p:cNvSpPr>
            <a:spLocks noGrp="1"/>
          </p:cNvSpPr>
          <p:nvPr>
            <p:ph type="sldNum" sz="quarter" idx="10"/>
          </p:nvPr>
        </p:nvSpPr>
        <p:spPr>
          <a:xfrm>
            <a:off x="8101014" y="6503988"/>
            <a:ext cx="836612" cy="354012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ko-KR"/>
              <a:t>Page </a:t>
            </a:r>
            <a:fld id="{F81A0569-FA41-4949-A391-615DA29620B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098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04244"/>
            <a:ext cx="7560840" cy="548680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50825" y="1031530"/>
            <a:ext cx="8641655" cy="5472608"/>
          </a:xfr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n"/>
              <a:defRPr sz="1800" b="1">
                <a:latin typeface="+mn-ea"/>
                <a:ea typeface="+mn-ea"/>
              </a:defRPr>
            </a:lvl1pPr>
            <a:lvl2pPr marL="447675" indent="-180975">
              <a:lnSpc>
                <a:spcPct val="100000"/>
              </a:lnSpc>
              <a:spcAft>
                <a:spcPts val="400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lnSpc>
                <a:spcPct val="100000"/>
              </a:lnSpc>
              <a:spcAft>
                <a:spcPts val="300"/>
              </a:spcAft>
              <a:buClr>
                <a:schemeClr val="tx1"/>
              </a:buClr>
              <a:defRPr sz="1400"/>
            </a:lvl3pPr>
            <a:lvl4pPr marL="809625" indent="-180975">
              <a:lnSpc>
                <a:spcPct val="100000"/>
              </a:lnSpc>
              <a:spcAft>
                <a:spcPts val="300"/>
              </a:spcAft>
              <a:buSzPct val="96000"/>
              <a:defRPr sz="1200"/>
            </a:lvl4pPr>
            <a:lvl5pPr marL="990600" indent="-180975">
              <a:lnSpc>
                <a:spcPct val="100000"/>
              </a:lnSpc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슬라이드 번호 개체 틀 9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01013" y="6503988"/>
            <a:ext cx="836612" cy="3540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96C77AD7-5822-4CC3-8665-76EF13F98FC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27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43E24-B77C-4697-A73E-D56713DBC4DD}" type="datetime1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7445" y="632192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144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  <p:sldLayoutId id="2147483680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037411" y="949542"/>
            <a:ext cx="7886700" cy="951610"/>
          </a:xfrm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Web </a:t>
            </a:r>
            <a:r>
              <a:rPr lang="ko-KR" altLang="en-US" sz="32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구조 이해 </a:t>
            </a:r>
            <a:endParaRPr lang="ko-KR" altLang="en-US" sz="32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912114" y="1901152"/>
            <a:ext cx="7886700" cy="3102992"/>
          </a:xfrm>
        </p:spPr>
        <p:txBody>
          <a:bodyPr>
            <a:normAutofit/>
          </a:bodyPr>
          <a:lstStyle/>
          <a:p>
            <a:pPr marL="639762" indent="-457200">
              <a:lnSpc>
                <a:spcPct val="150000"/>
              </a:lnSpc>
              <a:buAutoNum type="arabicParenR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3-Tier Web System Architecture </a:t>
            </a:r>
            <a:endParaRPr lang="en-US" altLang="ko-K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9762" indent="-457200">
              <a:lnSpc>
                <a:spcPct val="150000"/>
              </a:lnSpc>
              <a:buAutoNum type="arabicParenR"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HTTP </a:t>
            </a:r>
            <a:r>
              <a:rPr lang="ko-KR" altLang="en-US" sz="24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메시지 구조</a:t>
            </a: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639762" indent="-457200">
              <a:lnSpc>
                <a:spcPct val="150000"/>
              </a:lnSpc>
              <a:buAutoNum type="arabicParenR"/>
            </a:pP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Cookie &amp; Session </a:t>
            </a:r>
            <a:r>
              <a:rPr lang="ko-KR" altLang="en-US" sz="24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en-US" altLang="ko-KR" sz="24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94593" y="126124"/>
            <a:ext cx="8954814" cy="6653048"/>
          </a:xfrm>
          <a:prstGeom prst="roundRect">
            <a:avLst>
              <a:gd name="adj" fmla="val 330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7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7325" y="793761"/>
            <a:ext cx="8720447" cy="288032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8" name="TextBox 7"/>
          <p:cNvSpPr txBox="1"/>
          <p:nvPr/>
        </p:nvSpPr>
        <p:spPr>
          <a:xfrm>
            <a:off x="5436435" y="1363207"/>
            <a:ext cx="10230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Times New Roman" pitchFamily="18" charset="0"/>
                <a:cs typeface="Times New Roman" pitchFamily="18" charset="0"/>
              </a:rPr>
              <a:t>Apache, IIS etc</a:t>
            </a:r>
            <a:endParaRPr lang="ko-KR" altLang="en-US" sz="1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95968" y="1351524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Times New Roman" pitchFamily="18" charset="0"/>
                <a:cs typeface="Times New Roman" pitchFamily="18" charset="0"/>
              </a:rPr>
              <a:t>Oracle, MSSQL, </a:t>
            </a:r>
          </a:p>
          <a:p>
            <a:r>
              <a:rPr lang="en-US" altLang="ko-KR" sz="1000" b="1" dirty="0">
                <a:latin typeface="Times New Roman" pitchFamily="18" charset="0"/>
                <a:cs typeface="Times New Roman" pitchFamily="18" charset="0"/>
              </a:rPr>
              <a:t>MYSQL etc</a:t>
            </a:r>
            <a:endParaRPr lang="ko-KR" altLang="en-US" sz="1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906523" y="6414157"/>
            <a:ext cx="2057400" cy="365125"/>
          </a:xfrm>
        </p:spPr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13371" y="335536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              ❷               ❸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40149"/>
              </p:ext>
            </p:extLst>
          </p:nvPr>
        </p:nvGraphicFramePr>
        <p:xfrm>
          <a:off x="245434" y="3710434"/>
          <a:ext cx="8718489" cy="2886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989"/>
                <a:gridCol w="1436633"/>
                <a:gridCol w="6871867"/>
              </a:tblGrid>
              <a:tr h="8447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❶ 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FrontServer</a:t>
                      </a:r>
                      <a:endParaRPr lang="en-US" altLang="ko-KR" sz="16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(Web Server)</a:t>
                      </a:r>
                      <a:endParaRPr lang="ko-KR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0025" indent="-200025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</a:t>
                      </a: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request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받아 </a:t>
                      </a: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 response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보내는 서버 </a:t>
                      </a:r>
                      <a:endParaRPr lang="en-US" altLang="ko-KR" sz="1500" baseline="0" dirty="0" smtClean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200025" indent="-200025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Apache</a:t>
                      </a: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, IIS, Nginx 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등의 미들웨어가 동작 </a:t>
                      </a:r>
                      <a:endParaRPr lang="ko-KR" altLang="en-US" sz="15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021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❷ 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</a:t>
                      </a:r>
                    </a:p>
                    <a:p>
                      <a:pPr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업무처리 서버</a:t>
                      </a:r>
                      <a:r>
                        <a:rPr lang="ko-KR" altLang="en-US" sz="150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en-US" altLang="ko-KR" sz="150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50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결제</a:t>
                      </a:r>
                      <a:r>
                        <a:rPr lang="en-US" altLang="ko-KR" sz="15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</a:t>
                      </a:r>
                      <a:r>
                        <a:rPr lang="ko-KR" altLang="en-US" sz="150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주문 등을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50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수행하는 프로그램 실행환경</a:t>
                      </a:r>
                      <a:r>
                        <a:rPr lang="en-US" altLang="ko-KR" sz="15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</a:p>
                    <a:p>
                      <a:pPr marL="180975" indent="-180975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Apache Tomcat,</a:t>
                      </a: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WebSphere Application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</a:t>
                      </a:r>
                      <a:r>
                        <a:rPr lang="en-US" altLang="ko-KR" sz="150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미들웨어로 구현</a:t>
                      </a:r>
                      <a:endParaRPr lang="en-US" altLang="ko-KR" sz="1500" baseline="0" dirty="0" smtClean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180975" indent="-180975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PHP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나 </a:t>
                      </a: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Perl</a:t>
                      </a:r>
                      <a:r>
                        <a:rPr lang="en-US" altLang="ko-KR" sz="150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실행환경이 필요 시 </a:t>
                      </a:r>
                      <a:r>
                        <a:rPr lang="en-US" altLang="ko-KR" sz="1500" baseline="0" dirty="0" err="1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mod_perl</a:t>
                      </a: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또는 </a:t>
                      </a:r>
                      <a:r>
                        <a:rPr lang="en-US" altLang="ko-KR" sz="1500" baseline="0" dirty="0" err="1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mod_php</a:t>
                      </a: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500" baseline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등 설치 </a:t>
                      </a:r>
                      <a:endParaRPr lang="ko-KR" altLang="en-US" sz="15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❸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 Server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0025" indent="-200025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애플리케이션 실행</a:t>
                      </a:r>
                      <a:r>
                        <a:rPr lang="ko-KR" altLang="en-US" sz="150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시 생성되는 데이터 관리 기능을 가진 </a:t>
                      </a:r>
                      <a:r>
                        <a:rPr lang="ko-KR" altLang="en-US" sz="1500" baseline="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미들웨어</a:t>
                      </a:r>
                      <a:r>
                        <a:rPr lang="ko-KR" altLang="en-US" sz="1500" baseline="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endParaRPr lang="en-US" altLang="ko-KR" sz="1500" baseline="0" dirty="0" smtClean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200025" indent="-200025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MySQL, </a:t>
                      </a:r>
                      <a:r>
                        <a:rPr lang="en-US" altLang="ko-KR" sz="15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PostgresSQL</a:t>
                      </a:r>
                      <a:r>
                        <a:rPr lang="en-US" altLang="ko-KR" sz="15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Oracle Database</a:t>
                      </a:r>
                      <a:endParaRPr lang="ko-KR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54120" y="1326854"/>
            <a:ext cx="151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Times New Roman" pitchFamily="18" charset="0"/>
                <a:cs typeface="Times New Roman" pitchFamily="18" charset="0"/>
              </a:rPr>
              <a:t>Tomcat, </a:t>
            </a:r>
            <a:r>
              <a:rPr lang="en-US" altLang="ko-KR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Jboss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Jeus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 bwMode="auto">
          <a:xfrm>
            <a:off x="294381" y="335097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3-Tier Web System Architecture</a:t>
            </a:r>
            <a:endParaRPr kumimoji="0" lang="ko-KR" alt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599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467544" y="764706"/>
            <a:ext cx="8307096" cy="2638441"/>
            <a:chOff x="324168" y="1231583"/>
            <a:chExt cx="8659439" cy="2505075"/>
          </a:xfrm>
        </p:grpSpPr>
        <p:pic>
          <p:nvPicPr>
            <p:cNvPr id="67277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4168" y="1231583"/>
              <a:ext cx="8656637" cy="2505075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</p:pic>
        <p:sp>
          <p:nvSpPr>
            <p:cNvPr id="8" name="TextBox 7"/>
            <p:cNvSpPr txBox="1"/>
            <p:nvPr/>
          </p:nvSpPr>
          <p:spPr>
            <a:xfrm>
              <a:off x="5435599" y="1727200"/>
              <a:ext cx="1024653" cy="23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Times New Roman" pitchFamily="18" charset="0"/>
                  <a:cs typeface="Times New Roman" pitchFamily="18" charset="0"/>
                </a:rPr>
                <a:t>Apache, IIS etc</a:t>
              </a:r>
              <a:endParaRPr lang="ko-KR" alt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32880" y="1717040"/>
              <a:ext cx="1148307" cy="23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Times New Roman" pitchFamily="18" charset="0"/>
                  <a:cs typeface="Times New Roman" pitchFamily="18" charset="0"/>
                </a:rPr>
                <a:t>Tomcat, </a:t>
              </a:r>
              <a:r>
                <a:rPr lang="en-US" altLang="ko-KR" sz="1000" dirty="0" err="1">
                  <a:latin typeface="Times New Roman" pitchFamily="18" charset="0"/>
                  <a:cs typeface="Times New Roman" pitchFamily="18" charset="0"/>
                </a:rPr>
                <a:t>Jboss</a:t>
              </a:r>
              <a:r>
                <a:rPr lang="en-US" altLang="ko-KR" sz="1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ko-KR" sz="1000" dirty="0" err="1">
                  <a:latin typeface="Times New Roman" pitchFamily="18" charset="0"/>
                  <a:cs typeface="Times New Roman" pitchFamily="18" charset="0"/>
                </a:rPr>
                <a:t>etc</a:t>
              </a:r>
              <a:endParaRPr lang="ko-KR" alt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53680" y="1757680"/>
              <a:ext cx="1129927" cy="379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Times New Roman" pitchFamily="18" charset="0"/>
                  <a:cs typeface="Times New Roman" pitchFamily="18" charset="0"/>
                </a:rPr>
                <a:t>Oracle, MSSQL, </a:t>
              </a:r>
            </a:p>
            <a:p>
              <a:r>
                <a:rPr lang="en-US" altLang="ko-KR" sz="1000" dirty="0" err="1">
                  <a:latin typeface="Times New Roman" pitchFamily="18" charset="0"/>
                  <a:cs typeface="Times New Roman" pitchFamily="18" charset="0"/>
                </a:rPr>
                <a:t>MYSQLetc</a:t>
              </a:r>
              <a:endParaRPr lang="ko-KR" alt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6" name="직선 화살표 연결선 15"/>
          <p:cNvCxnSpPr/>
          <p:nvPr/>
        </p:nvCxnSpPr>
        <p:spPr bwMode="auto">
          <a:xfrm flipV="1">
            <a:off x="2646690" y="3219512"/>
            <a:ext cx="3013942" cy="75720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직선 화살표 연결선 16"/>
          <p:cNvCxnSpPr/>
          <p:nvPr/>
        </p:nvCxnSpPr>
        <p:spPr bwMode="auto">
          <a:xfrm flipV="1">
            <a:off x="4763546" y="3233102"/>
            <a:ext cx="2009696" cy="86847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직선 화살표 연결선 17"/>
          <p:cNvCxnSpPr/>
          <p:nvPr/>
        </p:nvCxnSpPr>
        <p:spPr bwMode="auto">
          <a:xfrm flipV="1">
            <a:off x="6891298" y="3233102"/>
            <a:ext cx="1083189" cy="72203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5366379" y="3000916"/>
            <a:ext cx="2986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Times New Roman" pitchFamily="18" charset="0"/>
                <a:ea typeface="함초롬바탕"/>
                <a:cs typeface="Times New Roman" pitchFamily="18" charset="0"/>
              </a:rPr>
              <a:t>      </a:t>
            </a:r>
            <a:r>
              <a:rPr lang="ko-KR" altLang="en-US" sz="1600" dirty="0">
                <a:solidFill>
                  <a:srgbClr val="FF0000"/>
                </a:solidFill>
                <a:latin typeface="Times New Roman" pitchFamily="18" charset="0"/>
                <a:ea typeface="함초롬바탕"/>
                <a:cs typeface="Times New Roman" pitchFamily="18" charset="0"/>
              </a:rPr>
              <a:t>➊</a:t>
            </a:r>
            <a:r>
              <a:rPr lang="ko-KR" altLang="en-US" sz="1600" dirty="0">
                <a:latin typeface="Times New Roman" pitchFamily="18" charset="0"/>
                <a:ea typeface="함초롬바탕"/>
                <a:cs typeface="Times New Roman" pitchFamily="18" charset="0"/>
              </a:rPr>
              <a:t>                </a:t>
            </a:r>
            <a:r>
              <a:rPr lang="ko-KR" altLang="en-US" sz="1600" dirty="0">
                <a:solidFill>
                  <a:srgbClr val="70AC2E"/>
                </a:solidFill>
                <a:latin typeface="Times New Roman" pitchFamily="18" charset="0"/>
                <a:ea typeface="함초롬바탕"/>
                <a:cs typeface="Times New Roman" pitchFamily="18" charset="0"/>
              </a:rPr>
              <a:t>➋</a:t>
            </a:r>
            <a:r>
              <a:rPr lang="ko-KR" altLang="en-US" sz="1600" dirty="0">
                <a:latin typeface="Times New Roman" pitchFamily="18" charset="0"/>
                <a:ea typeface="함초롬바탕"/>
                <a:cs typeface="Times New Roman" pitchFamily="18" charset="0"/>
              </a:rPr>
              <a:t>                   </a:t>
            </a:r>
            <a:r>
              <a:rPr lang="ko-KR" altLang="en-US" sz="1600" dirty="0">
                <a:solidFill>
                  <a:srgbClr val="00B0F0"/>
                </a:solidFill>
                <a:latin typeface="Times New Roman" pitchFamily="18" charset="0"/>
                <a:ea typeface="함초롬바탕"/>
                <a:cs typeface="Times New Roman" pitchFamily="18" charset="0"/>
              </a:rPr>
              <a:t>➌</a:t>
            </a:r>
            <a:endParaRPr lang="ko-KR" altLang="en-US" sz="16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43532" y="5051184"/>
            <a:ext cx="6530955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itchFamily="18" charset="-127"/>
                <a:cs typeface="Times New Roman" panose="02020603050405020304" pitchFamily="18" charset="0"/>
              </a:rPr>
              <a:t>URI</a:t>
            </a:r>
            <a:r>
              <a:rPr lang="ko-KR" altLang="en-US" sz="16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 </a:t>
            </a:r>
            <a:r>
              <a:rPr lang="en-US" altLang="ko-KR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= </a:t>
            </a:r>
            <a:r>
              <a:rPr lang="ko-KR" altLang="en-US" sz="16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프로토콜</a:t>
            </a:r>
            <a:r>
              <a:rPr lang="en-US" altLang="ko-KR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://</a:t>
            </a:r>
            <a:r>
              <a:rPr lang="ko-KR" altLang="en-US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주소</a:t>
            </a:r>
            <a:r>
              <a:rPr lang="en-US" altLang="ko-KR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(</a:t>
            </a:r>
            <a:r>
              <a:rPr lang="ko-KR" altLang="en-US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또는 </a:t>
            </a:r>
            <a:r>
              <a:rPr lang="en-US" altLang="ko-KR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IP):</a:t>
            </a:r>
            <a:r>
              <a:rPr lang="ko-KR" altLang="en-US" sz="16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포트번호</a:t>
            </a:r>
            <a:r>
              <a:rPr lang="en-US" altLang="ko-KR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/</a:t>
            </a:r>
            <a:r>
              <a:rPr lang="ko-KR" altLang="en-US" sz="16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경로 또는 파일</a:t>
            </a:r>
            <a:r>
              <a:rPr lang="en-US" altLang="ko-KR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?</a:t>
            </a:r>
            <a:r>
              <a:rPr lang="ko-KR" altLang="en-US" sz="16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파라미터</a:t>
            </a:r>
            <a:r>
              <a:rPr lang="en-US" altLang="ko-KR" sz="1600" dirty="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=</a:t>
            </a:r>
            <a:r>
              <a:rPr lang="ko-KR" altLang="en-US" sz="1600">
                <a:latin typeface="함초롬바탕" pitchFamily="18" charset="-127"/>
                <a:ea typeface="함초롬바탕" pitchFamily="18" charset="-127"/>
                <a:cs typeface="함초롬바탕" pitchFamily="18" charset="-127"/>
              </a:rPr>
              <a:t>값</a:t>
            </a:r>
            <a:endParaRPr lang="ko-KR" altLang="en-US" sz="1600" u="sng" dirty="0">
              <a:latin typeface="함초롬바탕" pitchFamily="18" charset="-127"/>
              <a:ea typeface="함초롬바탕" pitchFamily="18" charset="-127"/>
              <a:cs typeface="함초롬바탕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355785" y="5819035"/>
            <a:ext cx="2133600" cy="365125"/>
          </a:xfrm>
        </p:spPr>
        <p:txBody>
          <a:bodyPr/>
          <a:lstStyle/>
          <a:p>
            <a:pPr algn="l">
              <a:defRPr/>
            </a:pPr>
            <a:fld id="{BB7377F3-62C5-495C-BEF6-EAF92B8C310E}" type="slidenum">
              <a:rPr lang="ko-KR" altLang="en-US" smtClean="0"/>
              <a:pPr algn="l">
                <a:defRPr/>
              </a:pPr>
              <a:t>3</a:t>
            </a:fld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12766" y="3976715"/>
            <a:ext cx="8693855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2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http://www.google.co.kr:80</a:t>
            </a:r>
            <a:r>
              <a:rPr lang="en-US" altLang="ko-KR" sz="2200" b="1" u="sng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/sport/guest.php? who=</a:t>
            </a:r>
            <a:r>
              <a:rPr lang="en-US" altLang="ko-KR" sz="2200" b="1" u="sng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anony&amp;type</a:t>
            </a:r>
            <a:r>
              <a:rPr lang="en-US" altLang="ko-KR" sz="2200" b="1" u="sng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=human</a:t>
            </a:r>
            <a:endParaRPr lang="ko-KR" altLang="en-US" sz="2200" b="1" u="sng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V="1">
            <a:off x="260896" y="4865412"/>
            <a:ext cx="8597590" cy="1115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2163610" y="5389738"/>
            <a:ext cx="3024336" cy="0"/>
          </a:xfrm>
          <a:prstGeom prst="line">
            <a:avLst/>
          </a:prstGeom>
          <a:ln w="22225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5334253" y="5389738"/>
            <a:ext cx="2328057" cy="18024"/>
          </a:xfrm>
          <a:prstGeom prst="line">
            <a:avLst/>
          </a:prstGeom>
          <a:ln w="22225">
            <a:solidFill>
              <a:srgbClr val="00B0F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7657" y="4563410"/>
            <a:ext cx="2956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URL= </a:t>
            </a:r>
            <a:r>
              <a:rPr lang="ko-KR" altLang="en-US" sz="14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프로토콜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://[FQDN][Port</a:t>
            </a:r>
            <a:r>
              <a:rPr lang="ko-KR" altLang="en-US" sz="14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번호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] </a:t>
            </a:r>
            <a:endParaRPr lang="ko-KR" altLang="en-US" sz="14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27" name="직선 화살표 연결선 26"/>
          <p:cNvCxnSpPr/>
          <p:nvPr/>
        </p:nvCxnSpPr>
        <p:spPr>
          <a:xfrm>
            <a:off x="3480489" y="4575907"/>
            <a:ext cx="5363445" cy="462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>
            <a:off x="228640" y="4550629"/>
            <a:ext cx="3234290" cy="1166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11715" y="4392755"/>
            <a:ext cx="1264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요청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URI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334619" y="5660938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ko-KR" sz="14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URL(Uniform Resource Locator)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4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URN(Uniform Resource Name)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95936" y="2590439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2779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2901" y="481054"/>
            <a:ext cx="7560840" cy="407725"/>
          </a:xfrm>
        </p:spPr>
        <p:txBody>
          <a:bodyPr>
            <a:noAutofit/>
          </a:bodyPr>
          <a:lstStyle/>
          <a:p>
            <a:r>
              <a:rPr lang="en-US" altLang="ko-KR" sz="30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Proxy </a:t>
            </a:r>
            <a:r>
              <a:rPr lang="en-US" altLang="ko-KR" sz="3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endParaRPr lang="ko-KR" altLang="en-US" sz="3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02901" y="1246748"/>
            <a:ext cx="8641655" cy="1330231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서버와</a:t>
            </a:r>
            <a:r>
              <a:rPr lang="en-US" altLang="ko-KR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클라이언트간의 요청과 응답을 중계하는 역할을 수행하는 서버</a:t>
            </a:r>
            <a:r>
              <a:rPr lang="en-US" altLang="ko-KR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프로그램</a:t>
            </a:r>
            <a:r>
              <a:rPr lang="en-US" altLang="ko-KR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en-US" altLang="ko-KR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- </a:t>
            </a:r>
            <a:r>
              <a:rPr lang="ko-KR" altLang="en-US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 부하</a:t>
            </a:r>
            <a:r>
              <a:rPr lang="en-US" altLang="ko-KR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캐시</a:t>
            </a:r>
            <a:r>
              <a:rPr lang="en-US" altLang="ko-KR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보안 등 여러가지 목적으로 사용 </a:t>
            </a:r>
            <a:endParaRPr lang="ko-KR" altLang="en-US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  <p:sp>
        <p:nvSpPr>
          <p:cNvPr id="4" name="오른쪽 화살표 3"/>
          <p:cNvSpPr/>
          <p:nvPr/>
        </p:nvSpPr>
        <p:spPr>
          <a:xfrm>
            <a:off x="1556953" y="4242136"/>
            <a:ext cx="2298014" cy="169935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37" y="3882581"/>
            <a:ext cx="816173" cy="903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7501" y="3863988"/>
            <a:ext cx="1390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2323" y="4898560"/>
            <a:ext cx="7393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Client 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54969" y="5151035"/>
            <a:ext cx="1263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Server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10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3801" y="3573016"/>
            <a:ext cx="1553824" cy="1553824"/>
          </a:xfrm>
          <a:prstGeom prst="rect">
            <a:avLst/>
          </a:prstGeom>
          <a:noFill/>
        </p:spPr>
      </p:pic>
      <p:pic>
        <p:nvPicPr>
          <p:cNvPr id="11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02384" y="3681396"/>
            <a:ext cx="1553824" cy="1553824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7490379" y="5100469"/>
            <a:ext cx="1309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Origin Server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7" name="오른쪽 화살표 16"/>
          <p:cNvSpPr/>
          <p:nvPr/>
        </p:nvSpPr>
        <p:spPr>
          <a:xfrm flipH="1">
            <a:off x="1519390" y="4559999"/>
            <a:ext cx="2335579" cy="163378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515781" y="3901143"/>
            <a:ext cx="1390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65130" y="4729758"/>
            <a:ext cx="1569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HTTP/1.1 200 OK 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39189" y="4736523"/>
            <a:ext cx="1569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HTTP/1.1 200 OK 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오른쪽 화살표 20"/>
          <p:cNvSpPr/>
          <p:nvPr/>
        </p:nvSpPr>
        <p:spPr>
          <a:xfrm>
            <a:off x="5092165" y="4213384"/>
            <a:ext cx="2298014" cy="169935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오른쪽 화살표 21"/>
          <p:cNvSpPr/>
          <p:nvPr/>
        </p:nvSpPr>
        <p:spPr>
          <a:xfrm flipH="1">
            <a:off x="5063083" y="4510011"/>
            <a:ext cx="2335579" cy="163378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52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3" y="1896173"/>
            <a:ext cx="676825" cy="748964"/>
          </a:xfrm>
          <a:prstGeom prst="rect">
            <a:avLst/>
          </a:prstGeom>
        </p:spPr>
      </p:pic>
      <p:pic>
        <p:nvPicPr>
          <p:cNvPr id="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61145" y="1668118"/>
            <a:ext cx="1479327" cy="1479327"/>
          </a:xfrm>
          <a:prstGeom prst="rect">
            <a:avLst/>
          </a:prstGeom>
          <a:noFill/>
        </p:spPr>
      </p:pic>
      <p:sp>
        <p:nvSpPr>
          <p:cNvPr id="9" name="오른쪽 화살표 8"/>
          <p:cNvSpPr/>
          <p:nvPr/>
        </p:nvSpPr>
        <p:spPr>
          <a:xfrm>
            <a:off x="1088170" y="2086373"/>
            <a:ext cx="1366703" cy="181016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69110" y="2605592"/>
            <a:ext cx="688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Client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53563" y="2855604"/>
            <a:ext cx="12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</a:t>
            </a: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Server 1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1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0176" y="3573016"/>
            <a:ext cx="1553824" cy="1553824"/>
          </a:xfrm>
          <a:prstGeom prst="rect">
            <a:avLst/>
          </a:prstGeom>
          <a:noFill/>
        </p:spPr>
      </p:pic>
      <p:pic>
        <p:nvPicPr>
          <p:cNvPr id="1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8681" y="3581018"/>
            <a:ext cx="1553824" cy="1553824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5428174" y="4881234"/>
            <a:ext cx="1071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 Server 2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13930" y="4965565"/>
            <a:ext cx="1309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Origin Server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8" name="오른쪽 화살표 37"/>
          <p:cNvSpPr/>
          <p:nvPr/>
        </p:nvSpPr>
        <p:spPr>
          <a:xfrm flipH="1">
            <a:off x="1057350" y="2352704"/>
            <a:ext cx="1366703" cy="148211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993717" y="1803778"/>
            <a:ext cx="1390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38115" y="2086373"/>
            <a:ext cx="1390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: Proxy1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91826" y="3573016"/>
            <a:ext cx="1698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: Proxy2, Proxy1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72980" y="4508662"/>
            <a:ext cx="1665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/ 1.1 200 OK</a:t>
            </a:r>
            <a:endParaRPr lang="ko-KR" altLang="en-US" sz="1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55844" y="4233123"/>
            <a:ext cx="1665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/ 1.1 200 OK</a:t>
            </a:r>
          </a:p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: Proxy2</a:t>
            </a:r>
            <a:endParaRPr lang="ko-KR" altLang="en-US" sz="1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91587" y="2523859"/>
            <a:ext cx="2131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/ 1.1 </a:t>
            </a:r>
          </a:p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</a:p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: Proxy2, Proxy1</a:t>
            </a:r>
            <a:endParaRPr lang="ko-KR" altLang="en-US" sz="1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160050" y="616673"/>
            <a:ext cx="7560840" cy="407725"/>
          </a:xfrm>
        </p:spPr>
        <p:txBody>
          <a:bodyPr>
            <a:noAutofit/>
          </a:bodyPr>
          <a:lstStyle/>
          <a:p>
            <a:pPr marL="457200" indent="-184150">
              <a:buFont typeface="Arial" panose="020B0604020202020204" pitchFamily="34" charset="0"/>
              <a:buChar char="•"/>
            </a:pPr>
            <a:r>
              <a:rPr lang="ko-KR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Web Proxy</a:t>
            </a:r>
            <a:endParaRPr lang="ko-KR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sp>
        <p:nvSpPr>
          <p:cNvPr id="25" name="오른쪽 화살표 24"/>
          <p:cNvSpPr/>
          <p:nvPr/>
        </p:nvSpPr>
        <p:spPr>
          <a:xfrm rot="5400000">
            <a:off x="4853811" y="3047707"/>
            <a:ext cx="946896" cy="141763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화살표 28"/>
          <p:cNvSpPr/>
          <p:nvPr/>
        </p:nvSpPr>
        <p:spPr>
          <a:xfrm>
            <a:off x="6010682" y="4057639"/>
            <a:ext cx="1366703" cy="192486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화살표 29"/>
          <p:cNvSpPr/>
          <p:nvPr/>
        </p:nvSpPr>
        <p:spPr>
          <a:xfrm flipH="1">
            <a:off x="5989327" y="4305289"/>
            <a:ext cx="1366703" cy="148211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619158" y="2605594"/>
            <a:ext cx="1744651" cy="7908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3130332" y="4096238"/>
            <a:ext cx="1623437" cy="908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화살표 30"/>
          <p:cNvSpPr/>
          <p:nvPr/>
        </p:nvSpPr>
        <p:spPr>
          <a:xfrm rot="16200000">
            <a:off x="2694690" y="3564293"/>
            <a:ext cx="946896" cy="141763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8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12"/>
          <p:cNvSpPr>
            <a:spLocks noGrp="1"/>
          </p:cNvSpPr>
          <p:nvPr>
            <p:ph idx="1"/>
          </p:nvPr>
        </p:nvSpPr>
        <p:spPr>
          <a:xfrm>
            <a:off x="540175" y="1268760"/>
            <a:ext cx="8326065" cy="5447350"/>
          </a:xfrm>
        </p:spPr>
        <p:txBody>
          <a:bodyPr>
            <a:normAutofit/>
          </a:bodyPr>
          <a:lstStyle/>
          <a:p>
            <a:pPr indent="-180975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보안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en-US" sz="15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실제 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 또는 클라이언트의 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숨김</a:t>
            </a:r>
            <a:endParaRPr lang="en-US" altLang="ko-KR" sz="16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-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프록시 서버의 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만 공개함으로써 해킹 대비 가능 </a:t>
            </a:r>
            <a:endParaRPr lang="en-US" altLang="ko-KR" sz="16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indent="-180975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성능</a:t>
            </a: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캐싱 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기능과 </a:t>
            </a:r>
            <a:r>
              <a:rPr lang="ko-KR" altLang="en-US" sz="1600" b="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분산으로 성능 향상을 가져올 수 있음 </a:t>
            </a:r>
            <a:endParaRPr lang="en-US" altLang="ko-KR" sz="16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캐싱 기능 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자주 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사용되는 동일한 요청을 </a:t>
            </a:r>
            <a:r>
              <a:rPr lang="ko-KR" altLang="en-US" sz="1600" b="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캐싱하여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재활용하는 방식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 marL="0" indent="0">
              <a:buNone/>
            </a:pP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실제 서버를 호출하지 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않고 </a:t>
            </a:r>
            <a:r>
              <a:rPr lang="ko-KR" altLang="en-US" sz="1600" b="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프록시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서버가 대신 응답을 주어 서버의 자원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사용을 줄임</a:t>
            </a:r>
            <a:endParaRPr lang="en-US" altLang="ko-KR" sz="16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sz="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indent="-180975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분산</a:t>
            </a:r>
          </a:p>
          <a:p>
            <a:pPr marL="0" indent="0">
              <a:buNone/>
            </a:pPr>
            <a:r>
              <a:rPr lang="ko-KR" altLang="en-US" sz="15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</a:t>
            </a: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일부 </a:t>
            </a:r>
            <a:r>
              <a:rPr lang="ko-KR" altLang="en-US" sz="1600" b="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프록시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서버는 로드 </a:t>
            </a:r>
            <a:r>
              <a:rPr lang="ko-KR" altLang="en-US" sz="1600" b="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밸런싱도</a:t>
            </a:r>
            <a:r>
              <a:rPr lang="ko-KR" altLang="en-US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제공하여 여러 대의 분산된 서버가 있다면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서버의 </a:t>
            </a:r>
            <a:endParaRPr lang="en-US" altLang="ko-KR" sz="16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트랙픽을 분산시킴</a:t>
            </a:r>
            <a:endParaRPr lang="en-US" altLang="ko-KR" sz="16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16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endParaRPr lang="ko-KR" altLang="en-US" sz="16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sp>
        <p:nvSpPr>
          <p:cNvPr id="23" name="제목 1"/>
          <p:cNvSpPr txBox="1">
            <a:spLocks/>
          </p:cNvSpPr>
          <p:nvPr/>
        </p:nvSpPr>
        <p:spPr bwMode="auto">
          <a:xfrm>
            <a:off x="540173" y="476674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기능 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0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 5"/>
          <p:cNvSpPr/>
          <p:nvPr/>
        </p:nvSpPr>
        <p:spPr>
          <a:xfrm>
            <a:off x="7475713" y="1796265"/>
            <a:ext cx="723900" cy="3400425"/>
          </a:xfrm>
          <a:custGeom>
            <a:avLst/>
            <a:gdLst>
              <a:gd name="connsiteX0" fmla="*/ 485775 w 723900"/>
              <a:gd name="connsiteY0" fmla="*/ 0 h 3400425"/>
              <a:gd name="connsiteX1" fmla="*/ 0 w 723900"/>
              <a:gd name="connsiteY1" fmla="*/ 9525 h 3400425"/>
              <a:gd name="connsiteX2" fmla="*/ 47625 w 723900"/>
              <a:gd name="connsiteY2" fmla="*/ 3390900 h 3400425"/>
              <a:gd name="connsiteX3" fmla="*/ 723900 w 723900"/>
              <a:gd name="connsiteY3" fmla="*/ 3400425 h 340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900" h="3400425">
                <a:moveTo>
                  <a:pt x="485775" y="0"/>
                </a:moveTo>
                <a:lnTo>
                  <a:pt x="0" y="9525"/>
                </a:lnTo>
                <a:lnTo>
                  <a:pt x="47625" y="3390900"/>
                </a:lnTo>
                <a:lnTo>
                  <a:pt x="723900" y="3400425"/>
                </a:lnTo>
              </a:path>
            </a:pathLst>
          </a:cu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1423294" y="3400577"/>
            <a:ext cx="68650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15" y="2845022"/>
            <a:ext cx="741898" cy="820972"/>
          </a:xfrm>
          <a:prstGeom prst="rect">
            <a:avLst/>
          </a:prstGeom>
        </p:spPr>
      </p:pic>
      <p:pic>
        <p:nvPicPr>
          <p:cNvPr id="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7019" y="2671566"/>
            <a:ext cx="1379098" cy="1379098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514294" y="3623770"/>
            <a:ext cx="688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Client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62951" y="3789054"/>
            <a:ext cx="14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Server</a:t>
            </a: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11.10.11.10/24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1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83396" y="1056579"/>
            <a:ext cx="1328473" cy="1328473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7779908" y="5570567"/>
            <a:ext cx="1309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Origin Server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1301778" y="3155800"/>
            <a:ext cx="1161924" cy="142581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1192536" y="2645893"/>
            <a:ext cx="1390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200.10.10.10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274927" y="1551776"/>
            <a:ext cx="7560840" cy="407725"/>
          </a:xfrm>
        </p:spPr>
        <p:txBody>
          <a:bodyPr>
            <a:noAutofit/>
          </a:bodyPr>
          <a:lstStyle/>
          <a:p>
            <a:pPr marL="457200" indent="-9525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Forward Proxy</a:t>
            </a:r>
            <a:endParaRPr lang="ko-KR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pic>
        <p:nvPicPr>
          <p:cNvPr id="2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20496" y="2860981"/>
            <a:ext cx="1336801" cy="1336801"/>
          </a:xfrm>
          <a:prstGeom prst="rect">
            <a:avLst/>
          </a:prstGeom>
          <a:noFill/>
        </p:spPr>
      </p:pic>
      <p:pic>
        <p:nvPicPr>
          <p:cNvPr id="2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9119" y="4447079"/>
            <a:ext cx="1224728" cy="1224728"/>
          </a:xfrm>
          <a:prstGeom prst="rect">
            <a:avLst/>
          </a:prstGeom>
          <a:noFill/>
        </p:spPr>
      </p:pic>
      <p:sp>
        <p:nvSpPr>
          <p:cNvPr id="3" name="구름 2"/>
          <p:cNvSpPr/>
          <p:nvPr/>
        </p:nvSpPr>
        <p:spPr>
          <a:xfrm>
            <a:off x="4573650" y="2896666"/>
            <a:ext cx="2304256" cy="100280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Internet</a:t>
            </a:r>
            <a:endParaRPr lang="ko-KR" altLang="en-US" b="1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4675" y="3831353"/>
            <a:ext cx="1524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200.10.10.10/24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1" name="오른쪽 화살표 30"/>
          <p:cNvSpPr/>
          <p:nvPr/>
        </p:nvSpPr>
        <p:spPr>
          <a:xfrm>
            <a:off x="3540277" y="3106396"/>
            <a:ext cx="1030140" cy="191985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520096" y="2605820"/>
            <a:ext cx="1390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11.10.11.10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4418" y="2578705"/>
            <a:ext cx="1390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11.10.11.10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오른쪽 화살표 44"/>
          <p:cNvSpPr/>
          <p:nvPr/>
        </p:nvSpPr>
        <p:spPr>
          <a:xfrm>
            <a:off x="6972281" y="3114646"/>
            <a:ext cx="928237" cy="183735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514292" y="5517232"/>
            <a:ext cx="7404008" cy="39731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안정성 보장 목적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클라이언트는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Server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통해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제공 서버에 접속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서비스 제공 서버는 클라이언트는 클라이언트의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알 수 없음  </a:t>
            </a:r>
          </a:p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8" name="제목 1"/>
          <p:cNvSpPr txBox="1">
            <a:spLocks/>
          </p:cNvSpPr>
          <p:nvPr/>
        </p:nvSpPr>
        <p:spPr bwMode="auto">
          <a:xfrm>
            <a:off x="357460" y="519588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기능</a:t>
            </a:r>
            <a:r>
              <a:rPr lang="en-US" altLang="ko-KR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ko-KR" altLang="en-US" sz="3200" b="0">
                <a:latin typeface="Times New Roman" panose="02020603050405020304" pitchFamily="18" charset="0"/>
                <a:cs typeface="Times New Roman" panose="02020603050405020304" pitchFamily="18" charset="0"/>
              </a:rPr>
              <a:t>보안적 측면</a:t>
            </a:r>
            <a:endParaRPr lang="ko-KR" alt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73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505012" y="1107131"/>
            <a:ext cx="2405374" cy="511256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7312252" y="2013349"/>
            <a:ext cx="723900" cy="3270247"/>
          </a:xfrm>
          <a:custGeom>
            <a:avLst/>
            <a:gdLst>
              <a:gd name="connsiteX0" fmla="*/ 485775 w 723900"/>
              <a:gd name="connsiteY0" fmla="*/ 0 h 3400425"/>
              <a:gd name="connsiteX1" fmla="*/ 0 w 723900"/>
              <a:gd name="connsiteY1" fmla="*/ 9525 h 3400425"/>
              <a:gd name="connsiteX2" fmla="*/ 47625 w 723900"/>
              <a:gd name="connsiteY2" fmla="*/ 3390900 h 3400425"/>
              <a:gd name="connsiteX3" fmla="*/ 723900 w 723900"/>
              <a:gd name="connsiteY3" fmla="*/ 3400425 h 340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900" h="3400425">
                <a:moveTo>
                  <a:pt x="485775" y="0"/>
                </a:moveTo>
                <a:lnTo>
                  <a:pt x="0" y="9525"/>
                </a:lnTo>
                <a:lnTo>
                  <a:pt x="47625" y="3390900"/>
                </a:lnTo>
                <a:lnTo>
                  <a:pt x="723900" y="3400425"/>
                </a:lnTo>
              </a:path>
            </a:pathLst>
          </a:cu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1259833" y="3617661"/>
            <a:ext cx="68650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33" y="3100799"/>
            <a:ext cx="741898" cy="820972"/>
          </a:xfrm>
          <a:prstGeom prst="rect">
            <a:avLst/>
          </a:prstGeom>
        </p:spPr>
      </p:pic>
      <p:pic>
        <p:nvPicPr>
          <p:cNvPr id="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4057" y="2933078"/>
            <a:ext cx="1379098" cy="1379098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544879" y="3953778"/>
            <a:ext cx="688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Client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04507" y="4233032"/>
            <a:ext cx="14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Server</a:t>
            </a: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11.10.11.10/24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1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19935" y="1273663"/>
            <a:ext cx="1328473" cy="1328473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6777451" y="5877272"/>
            <a:ext cx="2053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Intranet Origin Server 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1545114" y="3346788"/>
            <a:ext cx="928237" cy="183735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1340348" y="2868682"/>
            <a:ext cx="1390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 HTTP/1.1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11.10.11.10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287433" y="1429623"/>
            <a:ext cx="7560840" cy="407725"/>
          </a:xfrm>
        </p:spPr>
        <p:txBody>
          <a:bodyPr>
            <a:noAutofit/>
          </a:bodyPr>
          <a:lstStyle/>
          <a:p>
            <a:pPr marL="342900" indent="-161925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Proxy</a:t>
            </a:r>
            <a:endParaRPr lang="ko-KR" alt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pic>
        <p:nvPicPr>
          <p:cNvPr id="2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4302" y="3013485"/>
            <a:ext cx="1336801" cy="1336801"/>
          </a:xfrm>
          <a:prstGeom prst="rect">
            <a:avLst/>
          </a:prstGeom>
          <a:noFill/>
        </p:spPr>
      </p:pic>
      <p:pic>
        <p:nvPicPr>
          <p:cNvPr id="2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6073" y="4672627"/>
            <a:ext cx="1224728" cy="1224728"/>
          </a:xfrm>
          <a:prstGeom prst="rect">
            <a:avLst/>
          </a:prstGeom>
          <a:noFill/>
        </p:spPr>
      </p:pic>
      <p:sp>
        <p:nvSpPr>
          <p:cNvPr id="3" name="구름 2"/>
          <p:cNvSpPr/>
          <p:nvPr/>
        </p:nvSpPr>
        <p:spPr>
          <a:xfrm>
            <a:off x="2877056" y="3102419"/>
            <a:ext cx="2304256" cy="100280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Internet</a:t>
            </a:r>
            <a:endParaRPr lang="ko-KR" altLang="en-US" b="1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3165" y="4256407"/>
            <a:ext cx="1524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200.10.10.10/24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7435" y="5397573"/>
            <a:ext cx="6521617" cy="47582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내부 서버 안정성 보장 목적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클라이언트는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Server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호출을 통해 서비스 제공 서버에 접속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클라이언트는 서비스 제공 서버의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알 수 없음 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5601290" y="2001688"/>
            <a:ext cx="0" cy="3057666"/>
          </a:xfrm>
          <a:prstGeom prst="line">
            <a:avLst/>
          </a:prstGeom>
          <a:ln w="28575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제목 1"/>
          <p:cNvSpPr txBox="1">
            <a:spLocks/>
          </p:cNvSpPr>
          <p:nvPr/>
        </p:nvSpPr>
        <p:spPr bwMode="auto">
          <a:xfrm>
            <a:off x="475312" y="384434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기능</a:t>
            </a:r>
            <a:r>
              <a:rPr lang="en-US" altLang="ko-KR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ko-KR" altLang="en-US" sz="3200" b="0">
                <a:latin typeface="Times New Roman" panose="02020603050405020304" pitchFamily="18" charset="0"/>
                <a:cs typeface="Times New Roman" panose="02020603050405020304" pitchFamily="18" charset="0"/>
              </a:rPr>
              <a:t>보안적 측면</a:t>
            </a:r>
            <a:endParaRPr lang="ko-KR" alt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52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27" y="2086129"/>
            <a:ext cx="8297499" cy="4048125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3333" y="1377732"/>
            <a:ext cx="7560840" cy="407725"/>
          </a:xfrm>
        </p:spPr>
        <p:txBody>
          <a:bodyPr>
            <a:normAutofit/>
          </a:bodyPr>
          <a:lstStyle/>
          <a:p>
            <a:pPr marL="342900" indent="-161925">
              <a:buFont typeface="Arial" panose="020B0604020202020204" pitchFamily="34" charset="0"/>
              <a:buChar char="•"/>
            </a:pPr>
            <a:r>
              <a:rPr lang="en-US" altLang="ko-KR" sz="2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HTTP Proxy</a:t>
            </a:r>
            <a:r>
              <a:rPr lang="ko-KR" altLang="en-US" sz="20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없는 경우 작업 지연 발생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228186" y="1916833"/>
            <a:ext cx="2492477" cy="4217420"/>
          </a:xfrm>
          <a:prstGeom prst="rect">
            <a:avLst/>
          </a:prstGeom>
          <a:noFill/>
          <a:ln w="317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331642" y="5301208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서울 본사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1684" y="6265631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대전 지사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 bwMode="auto">
          <a:xfrm>
            <a:off x="437761" y="475517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기능</a:t>
            </a:r>
            <a:r>
              <a:rPr lang="en-US" altLang="ko-KR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ko-KR" altLang="en-US" sz="3200" b="0">
                <a:latin typeface="Times New Roman" panose="02020603050405020304" pitchFamily="18" charset="0"/>
                <a:cs typeface="Times New Roman" panose="02020603050405020304" pitchFamily="18" charset="0"/>
              </a:rPr>
              <a:t>성능적 측면</a:t>
            </a:r>
            <a:endParaRPr lang="ko-KR" alt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6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9" y="1955416"/>
            <a:ext cx="8982075" cy="4333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6749" y="5157192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서울 본사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8186" y="6304994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대전 지사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638400" y="1955416"/>
            <a:ext cx="4424822" cy="4333875"/>
          </a:xfrm>
          <a:prstGeom prst="rect">
            <a:avLst/>
          </a:prstGeom>
          <a:noFill/>
          <a:ln w="317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제목 2"/>
          <p:cNvSpPr>
            <a:spLocks noGrp="1"/>
          </p:cNvSpPr>
          <p:nvPr>
            <p:ph type="title"/>
          </p:nvPr>
        </p:nvSpPr>
        <p:spPr>
          <a:xfrm>
            <a:off x="238760" y="1332994"/>
            <a:ext cx="7560840" cy="407725"/>
          </a:xfrm>
        </p:spPr>
        <p:txBody>
          <a:bodyPr>
            <a:normAutofit/>
          </a:bodyPr>
          <a:lstStyle/>
          <a:p>
            <a:pPr marL="342900" indent="-257175">
              <a:buFont typeface="Arial" panose="020B0604020202020204" pitchFamily="34" charset="0"/>
              <a:buChar char="•"/>
            </a:pPr>
            <a:r>
              <a:rPr lang="en-US" altLang="ko-KR" sz="2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Proxy</a:t>
            </a:r>
            <a:r>
              <a:rPr lang="ko-KR" altLang="en-US" sz="20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있는 경우 작업 지연이 낮음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sp>
        <p:nvSpPr>
          <p:cNvPr id="12" name="제목 1"/>
          <p:cNvSpPr txBox="1">
            <a:spLocks/>
          </p:cNvSpPr>
          <p:nvPr/>
        </p:nvSpPr>
        <p:spPr bwMode="auto">
          <a:xfrm>
            <a:off x="417869" y="415827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기능</a:t>
            </a:r>
            <a:r>
              <a:rPr lang="en-US" altLang="ko-KR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ko-KR" altLang="en-US" sz="3200" b="0">
                <a:latin typeface="Times New Roman" panose="02020603050405020304" pitchFamily="18" charset="0"/>
                <a:cs typeface="Times New Roman" panose="02020603050405020304" pitchFamily="18" charset="0"/>
              </a:rPr>
              <a:t>성능적 측면</a:t>
            </a:r>
            <a:endParaRPr lang="ko-KR" alt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1845" y="2636912"/>
            <a:ext cx="150233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(Cache Server)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0173" y="614393"/>
            <a:ext cx="7560840" cy="407725"/>
          </a:xfrm>
        </p:spPr>
        <p:txBody>
          <a:bodyPr>
            <a:noAutofit/>
          </a:bodyPr>
          <a:lstStyle/>
          <a:p>
            <a:r>
              <a:rPr lang="en-US" altLang="ko-KR" sz="2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2) HTTP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메시지 구조 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0172" y="1353869"/>
            <a:ext cx="8397453" cy="515011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WWW 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상에서 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HTML 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문서를 주고 받는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응용 계층 프로토콜 </a:t>
            </a:r>
            <a:endParaRPr lang="en-US" altLang="ko-KR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TCP 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계열로 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80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번 포트 사용 </a:t>
            </a:r>
            <a:endParaRPr lang="en-US" altLang="ko-KR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웹에서 </a:t>
            </a:r>
            <a:r>
              <a:rPr lang="ko-KR" altLang="en-US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텍스트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그래픽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애니메이션을 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보거나 사운드 재생 기능 </a:t>
            </a:r>
            <a:endParaRPr lang="en-US" altLang="ko-KR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클라이언트와 서버 사이에 이뤄지는 요청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(request) / 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응답 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(response)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프로토콜</a:t>
            </a:r>
            <a:endParaRPr lang="en-US" altLang="ko-KR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현재 인터넷에서 사용되는 </a:t>
            </a: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버전은 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HTTP/1.0, HTTP/1.1, HTTP/2.0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임 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Clr>
                <a:schemeClr val="tx1"/>
              </a:buClr>
              <a:buNone/>
            </a:pP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- 1997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년 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월에 공개된 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HTTP/1.1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버전이 현재 가장 많이 사용 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800" u="sng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무상태</a:t>
            </a:r>
            <a:r>
              <a:rPr lang="en-US" altLang="ko-KR" sz="1800" u="sng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(stateless)</a:t>
            </a:r>
            <a:r>
              <a:rPr lang="ko-KR" altLang="en-US" sz="1800" u="sng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프로토콜 </a:t>
            </a:r>
            <a:endParaRPr lang="en-US" altLang="ko-KR" sz="1800" u="sng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o-KR" altLang="en-US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14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0817" y="435525"/>
            <a:ext cx="7560840" cy="407725"/>
          </a:xfrm>
        </p:spPr>
        <p:txBody>
          <a:bodyPr>
            <a:normAutofit fontScale="90000"/>
          </a:bodyPr>
          <a:lstStyle/>
          <a:p>
            <a:r>
              <a:rPr lang="en-US" altLang="ko-KR" sz="2400" b="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∙ </a:t>
            </a:r>
            <a:r>
              <a:rPr lang="en-US" altLang="ko-KR" sz="2400" b="0" dirty="0" smtClean="0">
                <a:latin typeface="Times New Roman" panose="02020603050405020304" pitchFamily="18" charset="0"/>
                <a:ea typeface="굴림" pitchFamily="50" charset="-127"/>
                <a:cs typeface="Times New Roman" pitchFamily="18" charset="0"/>
              </a:rPr>
              <a:t>Message Format</a:t>
            </a:r>
            <a:endParaRPr lang="ko-KR" altLang="en-US" sz="2400" b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1013" y="1551352"/>
            <a:ext cx="5964365" cy="4407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직사각형 1"/>
          <p:cNvSpPr>
            <a:spLocks noChangeArrowheads="1"/>
          </p:cNvSpPr>
          <p:nvPr/>
        </p:nvSpPr>
        <p:spPr bwMode="auto">
          <a:xfrm>
            <a:off x="732912" y="1002511"/>
            <a:ext cx="7002463" cy="78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Request : </a:t>
            </a:r>
            <a:r>
              <a:rPr lang="ko-KR" altLang="en-US" sz="1600" b="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요청</a:t>
            </a:r>
            <a:r>
              <a:rPr lang="ko-KR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( Client </a:t>
            </a:r>
            <a:r>
              <a:rPr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Server )</a:t>
            </a:r>
            <a:endParaRPr lang="en-US" altLang="ko-KR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1"/>
              </a:buClr>
            </a:pPr>
            <a:r>
              <a:rPr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Response : </a:t>
            </a:r>
            <a:r>
              <a:rPr lang="ko-KR" altLang="en-US" sz="1600" b="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응답</a:t>
            </a:r>
            <a:r>
              <a:rPr lang="ko-KR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( Server </a:t>
            </a:r>
            <a:r>
              <a:rPr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Client )</a:t>
            </a:r>
            <a:endParaRPr lang="en-US" altLang="ko-KR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954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내용 개체 틀 2"/>
          <p:cNvSpPr>
            <a:spLocks noGrp="1"/>
          </p:cNvSpPr>
          <p:nvPr>
            <p:ph idx="1"/>
          </p:nvPr>
        </p:nvSpPr>
        <p:spPr>
          <a:xfrm>
            <a:off x="248938" y="692696"/>
            <a:ext cx="8641655" cy="5235378"/>
          </a:xfrm>
        </p:spPr>
        <p:txBody>
          <a:bodyPr/>
          <a:lstStyle/>
          <a:p>
            <a:pPr lvl="1">
              <a:lnSpc>
                <a:spcPct val="150000"/>
              </a:lnSpc>
              <a:buClr>
                <a:srgbClr val="4F81BD"/>
              </a:buClr>
              <a:defRPr/>
            </a:pPr>
            <a:endParaRPr lang="en-US" altLang="ko-KR" sz="1349" dirty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buClr>
                <a:srgbClr val="4F81BD"/>
              </a:buClr>
              <a:buFont typeface="Wingdings" pitchFamily="2" charset="2"/>
              <a:buNone/>
              <a:defRPr/>
            </a:pPr>
            <a:endParaRPr lang="en-US" altLang="ko-KR" sz="1349" dirty="0"/>
          </a:p>
        </p:txBody>
      </p:sp>
      <p:pic>
        <p:nvPicPr>
          <p:cNvPr id="7987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1" y="1084800"/>
            <a:ext cx="4710112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501" y="1008600"/>
            <a:ext cx="4773612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TextBox 25"/>
          <p:cNvSpPr txBox="1">
            <a:spLocks noChangeArrowheads="1"/>
          </p:cNvSpPr>
          <p:nvPr/>
        </p:nvSpPr>
        <p:spPr bwMode="auto">
          <a:xfrm>
            <a:off x="844251" y="5394863"/>
            <a:ext cx="31226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130" tIns="44066" rIns="88130" bIns="44066" anchor="ctr"/>
          <a:lstStyle>
            <a:lvl1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1.0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이용하여 </a:t>
            </a:r>
            <a:r>
              <a:rPr lang="en-US" altLang="ko-KR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index.html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읽기</a:t>
            </a:r>
          </a:p>
        </p:txBody>
      </p:sp>
      <p:sp>
        <p:nvSpPr>
          <p:cNvPr id="79878" name="TextBox 26"/>
          <p:cNvSpPr txBox="1">
            <a:spLocks noChangeArrowheads="1"/>
          </p:cNvSpPr>
          <p:nvPr/>
        </p:nvSpPr>
        <p:spPr bwMode="auto">
          <a:xfrm>
            <a:off x="5194001" y="5394863"/>
            <a:ext cx="31226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130" tIns="44066" rIns="88130" bIns="44066" anchor="ctr"/>
          <a:lstStyle>
            <a:lvl1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1.1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을 이용하여 </a:t>
            </a:r>
            <a:r>
              <a:rPr lang="en-US" altLang="ko-KR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index.html </a:t>
            </a:r>
            <a:r>
              <a:rPr lang="ko-KR" altLang="en-US" sz="16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읽기</a:t>
            </a:r>
          </a:p>
        </p:txBody>
      </p:sp>
      <p:sp>
        <p:nvSpPr>
          <p:cNvPr id="79879" name="제목 5"/>
          <p:cNvSpPr txBox="1">
            <a:spLocks/>
          </p:cNvSpPr>
          <p:nvPr/>
        </p:nvSpPr>
        <p:spPr bwMode="auto">
          <a:xfrm>
            <a:off x="324378" y="452975"/>
            <a:ext cx="728662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marL="690563" indent="-296863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2pPr>
            <a:lvl3pPr marL="804863" indent="109538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3pPr>
            <a:lvl4pPr marL="919163" indent="452438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4pPr>
            <a:lvl5pPr marL="1033463" indent="79533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5pPr>
            <a:lvl6pPr marL="1490663" indent="795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6pPr>
            <a:lvl7pPr marL="1947863" indent="795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7pPr>
            <a:lvl8pPr marL="2405063" indent="795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8pPr>
            <a:lvl9pPr marL="2862263" indent="795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b="0" dirty="0" smtClean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∙ </a:t>
            </a:r>
            <a:r>
              <a:rPr lang="en-US" altLang="ko-KR" b="0" dirty="0" smtClean="0">
                <a:latin typeface="Times New Roman" panose="02020603050405020304" pitchFamily="18" charset="0"/>
                <a:ea typeface="함초롬돋움" panose="02030504000101010101" pitchFamily="18" charset="-127"/>
                <a:cs typeface="Times New Roman" panose="02020603050405020304" pitchFamily="18" charset="0"/>
              </a:rPr>
              <a:t>HTTP version</a:t>
            </a:r>
            <a:endParaRPr lang="ko-KR" altLang="en-US" b="0">
              <a:latin typeface="Times New Roman" panose="02020603050405020304" pitchFamily="18" charset="0"/>
              <a:ea typeface="함초롬돋움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8172400" y="6243978"/>
            <a:ext cx="836612" cy="354012"/>
          </a:xfrm>
        </p:spPr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044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화살표 연결선 16"/>
          <p:cNvCxnSpPr/>
          <p:nvPr/>
        </p:nvCxnSpPr>
        <p:spPr bwMode="auto">
          <a:xfrm>
            <a:off x="2028709" y="2506423"/>
            <a:ext cx="533092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직선 화살표 연결선 14"/>
          <p:cNvCxnSpPr/>
          <p:nvPr/>
        </p:nvCxnSpPr>
        <p:spPr bwMode="auto">
          <a:xfrm>
            <a:off x="2037594" y="1736402"/>
            <a:ext cx="533092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1018797" y="1400851"/>
          <a:ext cx="1240918" cy="2807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18"/>
              </a:tblGrid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요청 라인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요청 헤더</a:t>
                      </a:r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공백 라인 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메시지 본문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7757" y="1368823"/>
            <a:ext cx="6216716" cy="4055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왼쪽 대괄호 3"/>
          <p:cNvSpPr/>
          <p:nvPr/>
        </p:nvSpPr>
        <p:spPr bwMode="auto">
          <a:xfrm>
            <a:off x="2570686" y="1515021"/>
            <a:ext cx="106618" cy="365760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sp>
        <p:nvSpPr>
          <p:cNvPr id="5" name="왼쪽 대괄호 4"/>
          <p:cNvSpPr/>
          <p:nvPr/>
        </p:nvSpPr>
        <p:spPr bwMode="auto">
          <a:xfrm>
            <a:off x="2579571" y="2054037"/>
            <a:ext cx="88848" cy="2954955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57200" y="432976"/>
            <a:ext cx="7244862" cy="533400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9pPr>
          </a:lstStyle>
          <a:p>
            <a:pPr>
              <a:lnSpc>
                <a:spcPct val="100000"/>
              </a:lnSpc>
              <a:buFontTx/>
            </a:pPr>
            <a:r>
              <a:rPr lang="en-US" altLang="ko-KR" sz="2400" b="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굴림" pitchFamily="50" charset="-127"/>
                <a:cs typeface="Times New Roman" pitchFamily="18" charset="0"/>
              </a:rPr>
              <a:t>▪ HTTP Request Message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sp>
        <p:nvSpPr>
          <p:cNvPr id="9" name="왼쪽 대괄호 8"/>
          <p:cNvSpPr/>
          <p:nvPr/>
        </p:nvSpPr>
        <p:spPr>
          <a:xfrm>
            <a:off x="876440" y="1736402"/>
            <a:ext cx="142357" cy="928565"/>
          </a:xfrm>
          <a:prstGeom prst="leftBracket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0" y="174348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</a:p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endParaRPr lang="ko-KR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199" y="2672049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b="1" dirty="0" err="1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개행문자</a:t>
            </a:r>
            <a:endParaRPr lang="en-US" altLang="ko-KR" sz="1600" b="1" dirty="0" smtClean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CR+LF</a:t>
            </a:r>
            <a:endParaRPr lang="ko-KR" altLang="en-US" sz="1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왼쪽 대괄호 15"/>
          <p:cNvSpPr/>
          <p:nvPr/>
        </p:nvSpPr>
        <p:spPr>
          <a:xfrm>
            <a:off x="876440" y="3548126"/>
            <a:ext cx="135238" cy="558595"/>
          </a:xfrm>
          <a:prstGeom prst="leftBracket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0" y="3373687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</a:p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endParaRPr lang="ko-KR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1597" y="5329611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CR+LF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CR(Carriage Return) : 16</a:t>
            </a:r>
            <a:r>
              <a:rPr lang="ko-KR" altLang="en-US" sz="1600" b="1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진수</a:t>
            </a:r>
            <a:r>
              <a:rPr lang="ko-KR" altLang="en-US" sz="16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0x0d</a:t>
            </a:r>
          </a:p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LF(Line Feed) : 16</a:t>
            </a:r>
            <a:r>
              <a:rPr lang="ko-KR" altLang="en-US" sz="1600" b="1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진수</a:t>
            </a:r>
            <a:r>
              <a:rPr lang="ko-KR" altLang="en-US" sz="16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0x0a</a:t>
            </a:r>
            <a:endParaRPr lang="ko-KR" altLang="en-US" sz="1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23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화살표 연결선 16"/>
          <p:cNvCxnSpPr/>
          <p:nvPr/>
        </p:nvCxnSpPr>
        <p:spPr bwMode="auto">
          <a:xfrm>
            <a:off x="2119436" y="2466611"/>
            <a:ext cx="533092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직선 화살표 연결선 14"/>
          <p:cNvCxnSpPr/>
          <p:nvPr/>
        </p:nvCxnSpPr>
        <p:spPr bwMode="auto">
          <a:xfrm>
            <a:off x="2137911" y="1509553"/>
            <a:ext cx="533092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1109523" y="1361039"/>
          <a:ext cx="1240918" cy="2807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18"/>
              </a:tblGrid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상태 라인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응답헤더</a:t>
                      </a:r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공백 라인 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메시지 본문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왼쪽 대괄호 3"/>
          <p:cNvSpPr/>
          <p:nvPr/>
        </p:nvSpPr>
        <p:spPr bwMode="auto">
          <a:xfrm>
            <a:off x="2699779" y="1402473"/>
            <a:ext cx="96522" cy="206068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sp>
        <p:nvSpPr>
          <p:cNvPr id="5" name="왼쪽 대괄호 4"/>
          <p:cNvSpPr/>
          <p:nvPr/>
        </p:nvSpPr>
        <p:spPr bwMode="auto">
          <a:xfrm>
            <a:off x="2699073" y="1681715"/>
            <a:ext cx="116410" cy="2503772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sp>
        <p:nvSpPr>
          <p:cNvPr id="9" name="왼쪽 대괄호 8"/>
          <p:cNvSpPr/>
          <p:nvPr/>
        </p:nvSpPr>
        <p:spPr bwMode="auto">
          <a:xfrm>
            <a:off x="2699779" y="4249582"/>
            <a:ext cx="96522" cy="206068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sp>
        <p:nvSpPr>
          <p:cNvPr id="10" name="왼쪽 대괄호 9"/>
          <p:cNvSpPr/>
          <p:nvPr/>
        </p:nvSpPr>
        <p:spPr bwMode="auto">
          <a:xfrm>
            <a:off x="2699073" y="4528825"/>
            <a:ext cx="97228" cy="758099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cxnSp>
        <p:nvCxnSpPr>
          <p:cNvPr id="11" name="직선 화살표 연결선 10"/>
          <p:cNvCxnSpPr>
            <a:endCxn id="9" idx="1"/>
          </p:cNvCxnSpPr>
          <p:nvPr/>
        </p:nvCxnSpPr>
        <p:spPr bwMode="auto">
          <a:xfrm>
            <a:off x="2349635" y="3297884"/>
            <a:ext cx="350144" cy="105473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자유형 12"/>
          <p:cNvSpPr/>
          <p:nvPr/>
        </p:nvSpPr>
        <p:spPr bwMode="auto">
          <a:xfrm>
            <a:off x="1702856" y="4185486"/>
            <a:ext cx="968753" cy="800100"/>
          </a:xfrm>
          <a:custGeom>
            <a:avLst/>
            <a:gdLst>
              <a:gd name="connsiteX0" fmla="*/ 0 w 1049482"/>
              <a:gd name="connsiteY0" fmla="*/ 0 h 800100"/>
              <a:gd name="connsiteX1" fmla="*/ 0 w 1049482"/>
              <a:gd name="connsiteY1" fmla="*/ 800100 h 800100"/>
              <a:gd name="connsiteX2" fmla="*/ 1049482 w 1049482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9482" h="800100">
                <a:moveTo>
                  <a:pt x="0" y="0"/>
                </a:moveTo>
                <a:lnTo>
                  <a:pt x="0" y="800100"/>
                </a:lnTo>
                <a:lnTo>
                  <a:pt x="1049482" y="800100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pic>
        <p:nvPicPr>
          <p:cNvPr id="6758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6221" y="1369985"/>
            <a:ext cx="5952792" cy="4066827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sp>
        <p:nvSpPr>
          <p:cNvPr id="14" name="왼쪽 대괄호 13"/>
          <p:cNvSpPr/>
          <p:nvPr/>
        </p:nvSpPr>
        <p:spPr>
          <a:xfrm>
            <a:off x="992983" y="1606234"/>
            <a:ext cx="142357" cy="928565"/>
          </a:xfrm>
          <a:prstGeom prst="leftBracket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16543" y="161331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</a:p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endParaRPr lang="ko-KR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8742" y="2541881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b="1" dirty="0" err="1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개행문자</a:t>
            </a:r>
            <a:endParaRPr lang="en-US" altLang="ko-KR" sz="1600" b="1" dirty="0" smtClean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CR+LF</a:t>
            </a:r>
            <a:endParaRPr lang="ko-KR" altLang="en-US" sz="1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왼쪽 대괄호 19"/>
          <p:cNvSpPr/>
          <p:nvPr/>
        </p:nvSpPr>
        <p:spPr>
          <a:xfrm>
            <a:off x="992983" y="3417958"/>
            <a:ext cx="135238" cy="558595"/>
          </a:xfrm>
          <a:prstGeom prst="leftBracket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16543" y="3243519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</a:p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endParaRPr lang="ko-KR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440940" y="316287"/>
            <a:ext cx="7244862" cy="533400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9pPr>
          </a:lstStyle>
          <a:p>
            <a:pPr>
              <a:lnSpc>
                <a:spcPct val="100000"/>
              </a:lnSpc>
              <a:buFontTx/>
            </a:pPr>
            <a:r>
              <a:rPr lang="en-US" altLang="ko-KR" sz="2400" b="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굴림" pitchFamily="50" charset="-127"/>
                <a:cs typeface="Times New Roman" pitchFamily="18" charset="0"/>
              </a:rPr>
              <a:t>▪ HTTP Response Message</a:t>
            </a:r>
          </a:p>
        </p:txBody>
      </p:sp>
    </p:spTree>
    <p:extLst>
      <p:ext uri="{BB962C8B-B14F-4D97-AF65-F5344CB8AC3E}">
        <p14:creationId xmlns:p14="http://schemas.microsoft.com/office/powerpoint/2010/main" val="3090275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46" y="1358829"/>
            <a:ext cx="8619091" cy="498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10091" y="1640035"/>
            <a:ext cx="2900153" cy="299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전송방법</a:t>
            </a:r>
            <a:r>
              <a:rPr lang="en-US" altLang="ko-KR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요청된 </a:t>
            </a:r>
            <a:r>
              <a:rPr lang="en-US" altLang="ko-KR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URL/HTTP </a:t>
            </a: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버전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13803" y="2117711"/>
            <a:ext cx="1147763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타입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7485" y="2964586"/>
            <a:ext cx="2175596" cy="7151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서버가 클라이언트에 </a:t>
            </a:r>
            <a:endParaRPr lang="en-US" altLang="ko-KR" sz="1349" dirty="0" smtClean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defRPr/>
            </a:pPr>
            <a:r>
              <a:rPr lang="ko-KR" altLang="en-US" sz="1349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전송한  </a:t>
            </a: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인자 값에</a:t>
            </a:r>
            <a:endParaRPr lang="en-US" altLang="ko-KR" sz="1349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defRPr/>
            </a:pPr>
            <a:r>
              <a:rPr lang="en-US" altLang="ko-KR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추가 정보를 보낼 때 사용 </a:t>
            </a:r>
          </a:p>
        </p:txBody>
      </p:sp>
      <p:sp>
        <p:nvSpPr>
          <p:cNvPr id="8" name="오른쪽 중괄호 7"/>
          <p:cNvSpPr/>
          <p:nvPr/>
        </p:nvSpPr>
        <p:spPr>
          <a:xfrm>
            <a:off x="6365862" y="2712058"/>
            <a:ext cx="93662" cy="10620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sz="1349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33497" y="4366064"/>
            <a:ext cx="3963988" cy="300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URL</a:t>
            </a: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주소에 나타난 호스트 명을 자세하게 나타냄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0647" y="5945058"/>
            <a:ext cx="4598988" cy="300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브라우저나 기타 클라이언트의 </a:t>
            </a:r>
            <a:r>
              <a:rPr lang="ko-KR" altLang="en-US" sz="1349" dirty="0" err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소트프웨어</a:t>
            </a:r>
            <a:r>
              <a:rPr lang="ko-KR" altLang="en-US" sz="1349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정보를 보여줌 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305946" y="337110"/>
            <a:ext cx="7244862" cy="533400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9pPr>
          </a:lstStyle>
          <a:p>
            <a:pPr>
              <a:lnSpc>
                <a:spcPct val="100000"/>
              </a:lnSpc>
              <a:buFontTx/>
            </a:pPr>
            <a:r>
              <a:rPr lang="en-US" altLang="ko-KR" sz="3600" b="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굴림" pitchFamily="50" charset="-127"/>
                <a:cs typeface="Times New Roman" pitchFamily="18" charset="0"/>
              </a:rPr>
              <a:t>HTTP </a:t>
            </a:r>
            <a:r>
              <a:rPr lang="en-US" altLang="ko-KR" sz="3600" b="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굴림" pitchFamily="50" charset="-127"/>
                <a:cs typeface="Times New Roman" pitchFamily="18" charset="0"/>
              </a:rPr>
              <a:t>Request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06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3079" y="0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ko-KR" sz="3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 Method </a:t>
            </a:r>
            <a:r>
              <a:rPr lang="ko-KR" altLang="en-US" sz="3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종류</a:t>
            </a:r>
            <a:endParaRPr lang="ko-KR" altLang="en-US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89907" y="1951451"/>
            <a:ext cx="7886700" cy="43530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GET 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POST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HEAD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OPTIONS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PUT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DELETE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TRACE</a:t>
            </a:r>
            <a:endParaRPr lang="ko-KR" altLang="en-US" sz="20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0560" y="2189790"/>
            <a:ext cx="5719219" cy="3731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>
          <a:xfrm>
            <a:off x="2850560" y="2317022"/>
            <a:ext cx="404269" cy="3265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89907" y="1325563"/>
            <a:ext cx="4480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서버에 임무를 부여하는 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</a:t>
            </a:r>
            <a:r>
              <a:rPr lang="ko-KR" altLang="en-US" sz="20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메소드 </a:t>
            </a:r>
            <a:endParaRPr lang="ko-KR" altLang="en-US" sz="2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01C2-4349-4CC2-AE09-E7B1784DB02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27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45" y="233679"/>
            <a:ext cx="8642350" cy="5721350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ko-KR" sz="28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Request : Get </a:t>
            </a:r>
            <a:r>
              <a:rPr lang="ko-KR" altLang="en-US" sz="2800" b="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방식</a:t>
            </a:r>
            <a:endParaRPr lang="en-US" altLang="ko-KR" sz="28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lvl="2">
              <a:lnSpc>
                <a:spcPct val="200000"/>
              </a:lnSpc>
              <a:defRPr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데이터의 인수를 웹 브라우저의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URL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전송함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47675" lvl="2" indent="0">
              <a:lnSpc>
                <a:spcPct val="200000"/>
              </a:lnSpc>
              <a:buNone/>
              <a:defRPr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데이터가 주소 입력란에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표시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최소한의 보안도 유지되지 않는 취약한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2">
              <a:lnSpc>
                <a:spcPct val="200000"/>
              </a:lnSpc>
              <a:defRPr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 URI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식별된 리소스를 가져올 수 있도록 요구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47675" lvl="2" indent="0">
              <a:lnSpc>
                <a:spcPct val="200000"/>
              </a:lnSpc>
              <a:buNone/>
              <a:defRPr/>
            </a:pP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200000"/>
              </a:lnSpc>
              <a:defRPr/>
            </a:pP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200000"/>
              </a:lnSpc>
              <a:defRPr/>
            </a:pP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92" y="5060482"/>
            <a:ext cx="1080120" cy="1195243"/>
          </a:xfrm>
          <a:prstGeom prst="rect">
            <a:avLst/>
          </a:prstGeom>
        </p:spPr>
      </p:pic>
      <p:pic>
        <p:nvPicPr>
          <p:cNvPr id="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8978" y="4430525"/>
            <a:ext cx="1783434" cy="1783434"/>
          </a:xfrm>
          <a:prstGeom prst="rect">
            <a:avLst/>
          </a:prstGeom>
          <a:noFill/>
        </p:spPr>
      </p:pic>
      <p:sp>
        <p:nvSpPr>
          <p:cNvPr id="2" name="오른쪽 화살표 1"/>
          <p:cNvSpPr/>
          <p:nvPr/>
        </p:nvSpPr>
        <p:spPr>
          <a:xfrm>
            <a:off x="3235689" y="5274909"/>
            <a:ext cx="3033485" cy="480065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410030" y="5642277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25268" y="6276959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79589" y="6213959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>
          <a:xfrm>
            <a:off x="8068498" y="6404125"/>
            <a:ext cx="836612" cy="354012"/>
          </a:xfrm>
        </p:spPr>
        <p:txBody>
          <a:bodyPr/>
          <a:lstStyle/>
          <a:p>
            <a:pPr>
              <a:defRPr/>
            </a:pPr>
            <a:fld id="{96C77AD7-5822-4CC3-8665-76EF13F98FC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45" y="4144662"/>
            <a:ext cx="4527730" cy="8862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타원형 설명선 7"/>
          <p:cNvSpPr/>
          <p:nvPr/>
        </p:nvSpPr>
        <p:spPr>
          <a:xfrm>
            <a:off x="2396754" y="3117408"/>
            <a:ext cx="2013276" cy="94841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너가</a:t>
            </a:r>
            <a:r>
              <a:rPr lang="ko-KR" altLang="en-US" sz="14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가지고 있는 걸 갖고 싶어</a:t>
            </a:r>
            <a:endParaRPr lang="ko-KR" altLang="en-US" sz="14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27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223" y="399244"/>
            <a:ext cx="8642350" cy="572135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ko-KR" sz="2800" b="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HTTP </a:t>
            </a:r>
            <a:r>
              <a:rPr lang="en-US" altLang="ko-KR" sz="28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 : POST </a:t>
            </a:r>
            <a:r>
              <a:rPr lang="ko-KR" altLang="en-US" sz="2800" b="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방식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엔티티를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전송하기 위해 사용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defRPr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URL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요청 데이터를 기록하지 않고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헤더에 데이터를 전송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엔티티를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URL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전송하지 않으므로 다른 사용자가 링크로 해당 페이지를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볼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 없음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47675" lvl="2" indent="0">
              <a:lnSpc>
                <a:spcPct val="150000"/>
              </a:lnSpc>
              <a:buNone/>
              <a:defRPr/>
            </a:pP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47675" lvl="2" indent="0">
              <a:lnSpc>
                <a:spcPct val="150000"/>
              </a:lnSpc>
              <a:buNone/>
              <a:defRPr/>
            </a:pP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defRPr/>
            </a:pP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defRPr/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187" y="5028926"/>
            <a:ext cx="1080120" cy="1195243"/>
          </a:xfrm>
          <a:prstGeom prst="rect">
            <a:avLst/>
          </a:prstGeom>
        </p:spPr>
      </p:pic>
      <p:pic>
        <p:nvPicPr>
          <p:cNvPr id="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3236" y="4554422"/>
            <a:ext cx="1783434" cy="1783434"/>
          </a:xfrm>
          <a:prstGeom prst="rect">
            <a:avLst/>
          </a:prstGeom>
          <a:noFill/>
        </p:spPr>
      </p:pic>
      <p:sp>
        <p:nvSpPr>
          <p:cNvPr id="7" name="오른쪽 화살표 6"/>
          <p:cNvSpPr/>
          <p:nvPr/>
        </p:nvSpPr>
        <p:spPr>
          <a:xfrm>
            <a:off x="3323211" y="5299975"/>
            <a:ext cx="3033485" cy="653143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330258" y="5028926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타원형 설명선 8"/>
          <p:cNvSpPr/>
          <p:nvPr/>
        </p:nvSpPr>
        <p:spPr>
          <a:xfrm>
            <a:off x="3427874" y="3174947"/>
            <a:ext cx="2013276" cy="948413"/>
          </a:xfrm>
          <a:prstGeom prst="wedgeEllipseCallout">
            <a:avLst>
              <a:gd name="adj1" fmla="val -70259"/>
              <a:gd name="adj2" fmla="val 36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정보를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너에게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err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알려줄께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1794" y="6264477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1994" y="6334711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C77AD7-5822-4CC3-8665-76EF13F98FC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32" y="2949457"/>
            <a:ext cx="2580555" cy="192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7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65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: PUT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747613" y="1119066"/>
            <a:ext cx="8286750" cy="2523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POST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유사한 전송 구조를 가짐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중에 포함된 엔티티를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 URI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지정한 곳에 보존하도록 요구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인증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기능 없이 누구든지 파일을 업로그 가능하다는 보안 상의 문제가 있음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84" y="4306001"/>
            <a:ext cx="1080120" cy="1195243"/>
          </a:xfrm>
          <a:prstGeom prst="rect">
            <a:avLst/>
          </a:prstGeom>
        </p:spPr>
      </p:pic>
      <p:pic>
        <p:nvPicPr>
          <p:cNvPr id="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2533" y="3831497"/>
            <a:ext cx="1783434" cy="1783434"/>
          </a:xfrm>
          <a:prstGeom prst="rect">
            <a:avLst/>
          </a:prstGeom>
          <a:noFill/>
        </p:spPr>
      </p:pic>
      <p:sp>
        <p:nvSpPr>
          <p:cNvPr id="10" name="오른쪽 화살표 9"/>
          <p:cNvSpPr/>
          <p:nvPr/>
        </p:nvSpPr>
        <p:spPr>
          <a:xfrm>
            <a:off x="3102508" y="4577050"/>
            <a:ext cx="3033485" cy="653143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109555" y="4306001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타원형 설명선 11"/>
          <p:cNvSpPr/>
          <p:nvPr/>
        </p:nvSpPr>
        <p:spPr>
          <a:xfrm>
            <a:off x="1532981" y="3178186"/>
            <a:ext cx="2013276" cy="94841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파일을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err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줄께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61091" y="5541552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11291" y="5611786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모서리가 접힌 도형 1"/>
          <p:cNvSpPr/>
          <p:nvPr/>
        </p:nvSpPr>
        <p:spPr>
          <a:xfrm>
            <a:off x="3980069" y="3652393"/>
            <a:ext cx="857131" cy="653608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01C2-4349-4CC2-AE09-E7B1784DB02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87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483507" y="6282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: PUT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325563"/>
            <a:ext cx="8286750" cy="2523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홈페이지 변조에 많이 악용되고 있음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29" y="2087815"/>
            <a:ext cx="4586288" cy="157064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926486" y="3879480"/>
            <a:ext cx="8764361" cy="1490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- PUT </a:t>
            </a:r>
            <a:r>
              <a:rPr lang="ko-KR" altLang="en-US" sz="160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방식으로 전달되는 </a:t>
            </a:r>
            <a:r>
              <a:rPr lang="en-US" altLang="ko-KR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60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파일의 이름 또는 경로</a:t>
            </a:r>
            <a:r>
              <a:rPr lang="en-US" altLang="ko-KR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 </a:t>
            </a:r>
          </a:p>
          <a:p>
            <a:pPr>
              <a:lnSpc>
                <a:spcPct val="200000"/>
              </a:lnSpc>
            </a:pPr>
            <a:r>
              <a:rPr lang="ko-KR" altLang="en-US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클라이언트가 </a:t>
            </a:r>
            <a:r>
              <a:rPr lang="ko-KR" altLang="en-US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지정한 위치에 특정 파일을 가져다 </a:t>
            </a:r>
            <a:r>
              <a:rPr lang="ko-KR" altLang="en-US" sz="160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놓으려고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할 때 </a:t>
            </a:r>
            <a:r>
              <a:rPr lang="en-US" altLang="ko-KR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PUT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 사용</a:t>
            </a:r>
            <a:r>
              <a:rPr lang="en-US" altLang="ko-KR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 </a:t>
            </a:r>
          </a:p>
          <a:p>
            <a:pPr>
              <a:lnSpc>
                <a:spcPct val="200000"/>
              </a:lnSpc>
            </a:pP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- 1234567890 </a:t>
            </a:r>
            <a:r>
              <a:rPr lang="ko-KR" altLang="en-US" sz="160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이라는 내용이 입력된 </a:t>
            </a:r>
            <a:r>
              <a:rPr lang="en-US" altLang="ko-KR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file.txt </a:t>
            </a:r>
            <a:r>
              <a:rPr lang="ko-KR" altLang="en-US" sz="160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파일을 웹서버로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업로드</a:t>
            </a:r>
            <a:endParaRPr lang="ko-KR" altLang="en-US" sz="1600" i="0">
              <a:solidFill>
                <a:srgbClr val="222222"/>
              </a:solidFill>
              <a:effectLst/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01C2-4349-4CC2-AE09-E7B1784DB02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00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49987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: Head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347" y="1139767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GET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방식과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동일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 측 데이터를 검색하고 요청하는 데 사용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BODY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없고 응답코드와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HEAD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로만 응답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 smtClean="0"/>
              <a:t>   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서버의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응답 헤더를 봄으로써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Resource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수정 되었는지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URI</a:t>
            </a:r>
            <a:r>
              <a:rPr lang="en-US" altLang="ko-KR" sz="16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유효성과 리소스 갱신 시간을 확인하는 목적을 사용</a:t>
            </a:r>
            <a:endParaRPr lang="en-US" altLang="ko-KR" sz="1600" b="1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서버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정보확인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헬스체크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버전확인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최종 수정일자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 용도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414" y="5134794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0463" y="4660290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3120438" y="5405843"/>
            <a:ext cx="3033485" cy="653143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999114" y="5134794"/>
            <a:ext cx="899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1833436" y="4321905"/>
            <a:ext cx="2013276" cy="94841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너의 상태 </a:t>
            </a:r>
            <a:endParaRPr lang="en-US" altLang="ko-KR" sz="14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정보를 </a:t>
            </a:r>
            <a:endParaRPr lang="en-US" altLang="ko-KR" sz="14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알려줘</a:t>
            </a:r>
            <a:r>
              <a:rPr lang="en-US" altLang="ko-KR" sz="14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!</a:t>
            </a:r>
            <a:endParaRPr lang="ko-KR" altLang="en-US" sz="14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9021" y="6370345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074" y="6370345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01C2-4349-4CC2-AE09-E7B1784DB02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68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5597D96E-B875-0DD1-7608-75A65A571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34" y="1732502"/>
            <a:ext cx="3404587" cy="16984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D5950D8-784E-CC7B-1D9F-C74FA08A6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34" y="3666690"/>
            <a:ext cx="6038001" cy="28377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26DB221-7D6A-5E61-987E-A9161552F985}"/>
              </a:ext>
            </a:extLst>
          </p:cNvPr>
          <p:cNvSpPr txBox="1"/>
          <p:nvPr/>
        </p:nvSpPr>
        <p:spPr>
          <a:xfrm>
            <a:off x="4277261" y="976999"/>
            <a:ext cx="3150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#curl –I 192.168.10.129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5034" y="407829"/>
            <a:ext cx="2432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Method</a:t>
            </a:r>
            <a:endParaRPr lang="ko-KR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03689" y="1571417"/>
            <a:ext cx="39632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Server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- 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서버의 종류와 버전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X-Powered-by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</a:p>
          <a:p>
            <a:pPr marL="214313" indent="-214313">
              <a:lnSpc>
                <a:spcPct val="150000"/>
              </a:lnSpc>
              <a:buFontTx/>
              <a:buChar char="-"/>
            </a:pP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웹서버에서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사용하는 프로그램 엔진정보</a:t>
            </a:r>
            <a:endParaRPr lang="en-US" altLang="ko-KR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14313" indent="-214313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개발 기술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82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529D8C7-7D07-1F66-97DB-0EC1D974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46" y="808539"/>
            <a:ext cx="4773183" cy="5794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26DB221-7D6A-5E61-987E-A9161552F985}"/>
              </a:ext>
            </a:extLst>
          </p:cNvPr>
          <p:cNvSpPr txBox="1"/>
          <p:nvPr/>
        </p:nvSpPr>
        <p:spPr>
          <a:xfrm>
            <a:off x="3670573" y="345072"/>
            <a:ext cx="4722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–script http-methods 192.168.10.129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7788" y="630359"/>
            <a:ext cx="2146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ko-KR" altLang="en-US" sz="28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3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1026" name="Picture 2" descr="https://moocat.me/words/guides/how-to-use-telnet-to-send-a-get-and-head-http-request/tph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080" y="2548663"/>
            <a:ext cx="5895602" cy="413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873" y="737441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93922" y="262937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3003897" y="1008491"/>
            <a:ext cx="3033485" cy="366178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882573" y="737441"/>
            <a:ext cx="899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2480" y="1972992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94533" y="1972992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805080" y="2548663"/>
            <a:ext cx="561913" cy="2483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805079" y="3559855"/>
            <a:ext cx="5895603" cy="312719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 rot="10800000">
            <a:off x="3048450" y="1580657"/>
            <a:ext cx="3033485" cy="287782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014562" y="2731887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1446" y="1854837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52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65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: Delete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28650" y="1231372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지정된 자원을 서버에서 지울 수 있게 </a:t>
            </a: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함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원격지 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서버에 파일을 삭제하기 위해 사용되며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PUT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과는 반대 </a:t>
            </a:r>
            <a:r>
              <a:rPr lang="ko-KR" altLang="en-US" sz="18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메소드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301" y="2868046"/>
            <a:ext cx="4719184" cy="9630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209" y="4946420"/>
            <a:ext cx="1080120" cy="1195243"/>
          </a:xfrm>
          <a:prstGeom prst="rect">
            <a:avLst/>
          </a:prstGeom>
        </p:spPr>
      </p:pic>
      <p:pic>
        <p:nvPicPr>
          <p:cNvPr id="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72258" y="4471916"/>
            <a:ext cx="1783434" cy="1783434"/>
          </a:xfrm>
          <a:prstGeom prst="rect">
            <a:avLst/>
          </a:prstGeom>
          <a:noFill/>
        </p:spPr>
      </p:pic>
      <p:sp>
        <p:nvSpPr>
          <p:cNvPr id="7" name="오른쪽 화살표 6"/>
          <p:cNvSpPr/>
          <p:nvPr/>
        </p:nvSpPr>
        <p:spPr>
          <a:xfrm>
            <a:off x="3182233" y="5217469"/>
            <a:ext cx="3033485" cy="653143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060909" y="4946420"/>
            <a:ext cx="1156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타원형 설명선 9"/>
          <p:cNvSpPr/>
          <p:nvPr/>
        </p:nvSpPr>
        <p:spPr>
          <a:xfrm>
            <a:off x="1771861" y="3940038"/>
            <a:ext cx="2013276" cy="94841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 파일은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지워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40816" y="6181971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7274" y="6167457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01C2-4349-4CC2-AE09-E7B1784DB02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35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80" y="3702239"/>
            <a:ext cx="7124700" cy="15525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73" y="1727169"/>
            <a:ext cx="1080120" cy="1195243"/>
          </a:xfrm>
          <a:prstGeom prst="rect">
            <a:avLst/>
          </a:prstGeom>
        </p:spPr>
      </p:pic>
      <p:pic>
        <p:nvPicPr>
          <p:cNvPr id="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6322" y="1252665"/>
            <a:ext cx="1783434" cy="1783434"/>
          </a:xfrm>
          <a:prstGeom prst="rect">
            <a:avLst/>
          </a:prstGeom>
          <a:noFill/>
        </p:spPr>
      </p:pic>
      <p:sp>
        <p:nvSpPr>
          <p:cNvPr id="7" name="오른쪽 화살표 6"/>
          <p:cNvSpPr/>
          <p:nvPr/>
        </p:nvSpPr>
        <p:spPr>
          <a:xfrm>
            <a:off x="3036297" y="1998219"/>
            <a:ext cx="3033485" cy="287782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914973" y="1727169"/>
            <a:ext cx="1156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94880" y="2962720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41338" y="2948206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2" name="오른쪽 화살표 11"/>
          <p:cNvSpPr/>
          <p:nvPr/>
        </p:nvSpPr>
        <p:spPr>
          <a:xfrm rot="10800000">
            <a:off x="2983947" y="2516941"/>
            <a:ext cx="3033485" cy="287782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014562" y="2731887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092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153123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: Option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0297" y="1291318"/>
            <a:ext cx="8515350" cy="19746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자원에 대한 요구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응답 관계와 관련된 선택 사항 정보를 요청할 때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시스템에서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지원되는 </a:t>
            </a: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메소드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종류를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 할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 있음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웹서버에서</a:t>
            </a:r>
            <a:r>
              <a:rPr lang="ko-KR" altLang="en-US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지원하는 </a:t>
            </a:r>
            <a:r>
              <a:rPr lang="en-US" altLang="ko-KR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</a:t>
            </a:r>
            <a:r>
              <a:rPr lang="ko-KR" altLang="en-US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요청방식을 </a:t>
            </a:r>
            <a:r>
              <a:rPr lang="ko-KR" altLang="en-US" sz="160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확인하고자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할 때 </a:t>
            </a:r>
            <a:r>
              <a:rPr lang="ko-KR" altLang="en-US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59" y="4395731"/>
            <a:ext cx="1080120" cy="1195243"/>
          </a:xfrm>
          <a:prstGeom prst="rect">
            <a:avLst/>
          </a:prstGeom>
        </p:spPr>
      </p:pic>
      <p:pic>
        <p:nvPicPr>
          <p:cNvPr id="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6807" y="4209152"/>
            <a:ext cx="1783434" cy="1783434"/>
          </a:xfrm>
          <a:prstGeom prst="rect">
            <a:avLst/>
          </a:prstGeom>
          <a:noFill/>
        </p:spPr>
      </p:pic>
      <p:sp>
        <p:nvSpPr>
          <p:cNvPr id="10" name="오른쪽 화살표 9"/>
          <p:cNvSpPr/>
          <p:nvPr/>
        </p:nvSpPr>
        <p:spPr>
          <a:xfrm>
            <a:off x="2756783" y="4666780"/>
            <a:ext cx="3033485" cy="653143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498394" y="4466725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타원형 설명선 11"/>
          <p:cNvSpPr/>
          <p:nvPr/>
        </p:nvSpPr>
        <p:spPr>
          <a:xfrm>
            <a:off x="1346410" y="3389349"/>
            <a:ext cx="2103453" cy="94841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어떤 </a:t>
            </a:r>
            <a:r>
              <a:rPr lang="ko-KR" altLang="en-US" sz="1600" b="1" dirty="0" err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메소드를</a:t>
            </a:r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내가 사용할 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 있어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15366" y="5631282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47418" y="5969836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5" name="타원형 설명선 14"/>
          <p:cNvSpPr/>
          <p:nvPr/>
        </p:nvSpPr>
        <p:spPr>
          <a:xfrm>
            <a:off x="6146807" y="3045703"/>
            <a:ext cx="2368543" cy="94841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GET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 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HEAD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  사용할 수 있어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01C2-4349-4CC2-AE09-E7B1784DB02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36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70916C13-D8A3-6AB6-03F2-3948E44F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281" y="2875881"/>
            <a:ext cx="5787698" cy="3271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26DB221-7D6A-5E61-987E-A9161552F985}"/>
              </a:ext>
            </a:extLst>
          </p:cNvPr>
          <p:cNvSpPr txBox="1"/>
          <p:nvPr/>
        </p:nvSpPr>
        <p:spPr>
          <a:xfrm>
            <a:off x="2309574" y="6200969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#curl –v –X  OPTIONS 192.168.10.129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585955" y="4568318"/>
            <a:ext cx="3630706" cy="11497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910" y="1143738"/>
            <a:ext cx="1080120" cy="1195243"/>
          </a:xfrm>
          <a:prstGeom prst="rect">
            <a:avLst/>
          </a:prstGeom>
        </p:spPr>
      </p:pic>
      <p:pic>
        <p:nvPicPr>
          <p:cNvPr id="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34958" y="957159"/>
            <a:ext cx="1783434" cy="1783434"/>
          </a:xfrm>
          <a:prstGeom prst="rect">
            <a:avLst/>
          </a:prstGeom>
          <a:noFill/>
        </p:spPr>
      </p:pic>
      <p:sp>
        <p:nvSpPr>
          <p:cNvPr id="8" name="오른쪽 화살표 7"/>
          <p:cNvSpPr/>
          <p:nvPr/>
        </p:nvSpPr>
        <p:spPr>
          <a:xfrm>
            <a:off x="3053899" y="1449313"/>
            <a:ext cx="3033485" cy="331057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786545" y="1214732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03517" y="2379289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35569" y="2717843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2" name="오른쪽 화살표 11"/>
          <p:cNvSpPr/>
          <p:nvPr/>
        </p:nvSpPr>
        <p:spPr>
          <a:xfrm rot="10800000">
            <a:off x="3053899" y="1980091"/>
            <a:ext cx="3033485" cy="287782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066895" y="2254271"/>
            <a:ext cx="1005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78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74B71A94-4A1C-4D0D-1899-8898068A5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1" y="1771990"/>
            <a:ext cx="7931904" cy="3246324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20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CBF4F448-010D-E1F1-2C5A-E0B098C44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283" y="2130791"/>
            <a:ext cx="5173959" cy="44247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26DB221-7D6A-5E61-987E-A9161552F985}"/>
              </a:ext>
            </a:extLst>
          </p:cNvPr>
          <p:cNvSpPr txBox="1"/>
          <p:nvPr/>
        </p:nvSpPr>
        <p:spPr>
          <a:xfrm>
            <a:off x="849249" y="1124641"/>
            <a:ext cx="3877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#service apache2 start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#curl –v –X  OPTIONS 192.168.10.129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277" y="315532"/>
            <a:ext cx="3786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Option 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[Kali]</a:t>
            </a:r>
            <a:endParaRPr lang="ko-KR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37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93804" y="422518"/>
            <a:ext cx="7886700" cy="516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: Trace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93803" y="1098410"/>
            <a:ext cx="8286003" cy="1695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웹서버가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웹브라우저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보낸 내용을 받아 이를 다시 웹 브라우저로 되돌려 주는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것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클라이언트로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Loopback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을 발생시킴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</a:t>
            </a:r>
            <a:r>
              <a:rPr lang="ko-KR" altLang="en-US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서버로 </a:t>
            </a:r>
            <a:r>
              <a:rPr lang="ko-KR" altLang="en-US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가는 네트워크 경로를 </a:t>
            </a:r>
            <a:r>
              <a:rPr lang="ko-KR" altLang="en-US" sz="160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체크하는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메소드</a:t>
            </a:r>
            <a:endParaRPr lang="en-US" altLang="ko-KR" sz="1600" dirty="0" smtClean="0">
              <a:solidFill>
                <a:srgbClr val="222222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보낼 때 </a:t>
            </a: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“Max-Forwards”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라는 헤더 필드에 수치를 포함 </a:t>
            </a:r>
            <a:endParaRPr lang="en-US" altLang="ko-KR" sz="1600" dirty="0" smtClean="0">
              <a:solidFill>
                <a:srgbClr val="222222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-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서버를</a:t>
            </a: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통과할때마다 수치가 감소</a:t>
            </a: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0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된 곳을 끝으로 </a:t>
            </a:r>
            <a:r>
              <a:rPr lang="en-US" altLang="ko-KR" sz="1600" dirty="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200 OK response</a:t>
            </a:r>
            <a:r>
              <a:rPr lang="ko-KR" altLang="en-US" sz="1600" smtClean="0">
                <a:solidFill>
                  <a:srgbClr val="222222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되돌려줌</a:t>
            </a:r>
            <a:endParaRPr lang="en-US" altLang="ko-KR" sz="1600" dirty="0">
              <a:solidFill>
                <a:srgbClr val="222222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39" y="4103166"/>
            <a:ext cx="878011" cy="971593"/>
          </a:xfrm>
          <a:prstGeom prst="rect">
            <a:avLst/>
          </a:prstGeom>
        </p:spPr>
      </p:pic>
      <p:pic>
        <p:nvPicPr>
          <p:cNvPr id="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2083" y="3819082"/>
            <a:ext cx="1479327" cy="1479327"/>
          </a:xfrm>
          <a:prstGeom prst="rect">
            <a:avLst/>
          </a:prstGeom>
          <a:noFill/>
        </p:spPr>
      </p:pic>
      <p:sp>
        <p:nvSpPr>
          <p:cNvPr id="9" name="오른쪽 화살표 8"/>
          <p:cNvSpPr/>
          <p:nvPr/>
        </p:nvSpPr>
        <p:spPr>
          <a:xfrm>
            <a:off x="1516143" y="4326227"/>
            <a:ext cx="1255969" cy="290252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523421" y="3995170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670" y="5182516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4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6309" y="5243937"/>
            <a:ext cx="13383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Server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1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0322" y="3711893"/>
            <a:ext cx="1553824" cy="1553824"/>
          </a:xfrm>
          <a:prstGeom prst="rect">
            <a:avLst/>
          </a:prstGeom>
          <a:noFill/>
        </p:spPr>
      </p:pic>
      <p:pic>
        <p:nvPicPr>
          <p:cNvPr id="1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8954" y="3726364"/>
            <a:ext cx="1553824" cy="1553824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5148509" y="5243937"/>
            <a:ext cx="13383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Server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6699" y="5243937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1" name="오른쪽 화살표 30"/>
          <p:cNvSpPr/>
          <p:nvPr/>
        </p:nvSpPr>
        <p:spPr>
          <a:xfrm>
            <a:off x="3871820" y="4343866"/>
            <a:ext cx="1255969" cy="272613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오른쪽 화살표 31"/>
          <p:cNvSpPr/>
          <p:nvPr/>
        </p:nvSpPr>
        <p:spPr>
          <a:xfrm>
            <a:off x="6289728" y="4353679"/>
            <a:ext cx="1255969" cy="235348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893374" y="6459537"/>
            <a:ext cx="2057400" cy="365125"/>
          </a:xfrm>
        </p:spPr>
        <p:txBody>
          <a:bodyPr/>
          <a:lstStyle/>
          <a:p>
            <a:fld id="{6D7A01C2-4349-4CC2-AE09-E7B1784DB02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4" name="자유형 13"/>
          <p:cNvSpPr/>
          <p:nvPr/>
        </p:nvSpPr>
        <p:spPr>
          <a:xfrm>
            <a:off x="732552" y="5628828"/>
            <a:ext cx="2286000" cy="322729"/>
          </a:xfrm>
          <a:custGeom>
            <a:avLst/>
            <a:gdLst>
              <a:gd name="connsiteX0" fmla="*/ 0 w 2286000"/>
              <a:gd name="connsiteY0" fmla="*/ 143435 h 322729"/>
              <a:gd name="connsiteX1" fmla="*/ 0 w 2286000"/>
              <a:gd name="connsiteY1" fmla="*/ 322729 h 322729"/>
              <a:gd name="connsiteX2" fmla="*/ 2286000 w 2286000"/>
              <a:gd name="connsiteY2" fmla="*/ 295835 h 322729"/>
              <a:gd name="connsiteX3" fmla="*/ 2277035 w 2286000"/>
              <a:gd name="connsiteY3" fmla="*/ 0 h 322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322729">
                <a:moveTo>
                  <a:pt x="0" y="143435"/>
                </a:moveTo>
                <a:lnTo>
                  <a:pt x="0" y="322729"/>
                </a:lnTo>
                <a:lnTo>
                  <a:pt x="2286000" y="295835"/>
                </a:lnTo>
                <a:lnTo>
                  <a:pt x="2277035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 23"/>
          <p:cNvSpPr/>
          <p:nvPr/>
        </p:nvSpPr>
        <p:spPr>
          <a:xfrm>
            <a:off x="3375815" y="5572163"/>
            <a:ext cx="2286000" cy="322729"/>
          </a:xfrm>
          <a:custGeom>
            <a:avLst/>
            <a:gdLst>
              <a:gd name="connsiteX0" fmla="*/ 0 w 2286000"/>
              <a:gd name="connsiteY0" fmla="*/ 143435 h 322729"/>
              <a:gd name="connsiteX1" fmla="*/ 0 w 2286000"/>
              <a:gd name="connsiteY1" fmla="*/ 322729 h 322729"/>
              <a:gd name="connsiteX2" fmla="*/ 2286000 w 2286000"/>
              <a:gd name="connsiteY2" fmla="*/ 295835 h 322729"/>
              <a:gd name="connsiteX3" fmla="*/ 2277035 w 2286000"/>
              <a:gd name="connsiteY3" fmla="*/ 0 h 322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322729">
                <a:moveTo>
                  <a:pt x="0" y="143435"/>
                </a:moveTo>
                <a:lnTo>
                  <a:pt x="0" y="322729"/>
                </a:lnTo>
                <a:lnTo>
                  <a:pt x="2286000" y="295835"/>
                </a:lnTo>
                <a:lnTo>
                  <a:pt x="2277035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 24"/>
          <p:cNvSpPr/>
          <p:nvPr/>
        </p:nvSpPr>
        <p:spPr>
          <a:xfrm>
            <a:off x="5878482" y="5555323"/>
            <a:ext cx="2286000" cy="322729"/>
          </a:xfrm>
          <a:custGeom>
            <a:avLst/>
            <a:gdLst>
              <a:gd name="connsiteX0" fmla="*/ 0 w 2286000"/>
              <a:gd name="connsiteY0" fmla="*/ 143435 h 322729"/>
              <a:gd name="connsiteX1" fmla="*/ 0 w 2286000"/>
              <a:gd name="connsiteY1" fmla="*/ 322729 h 322729"/>
              <a:gd name="connsiteX2" fmla="*/ 2286000 w 2286000"/>
              <a:gd name="connsiteY2" fmla="*/ 295835 h 322729"/>
              <a:gd name="connsiteX3" fmla="*/ 2277035 w 2286000"/>
              <a:gd name="connsiteY3" fmla="*/ 0 h 322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322729">
                <a:moveTo>
                  <a:pt x="0" y="143435"/>
                </a:moveTo>
                <a:lnTo>
                  <a:pt x="0" y="322729"/>
                </a:lnTo>
                <a:lnTo>
                  <a:pt x="2286000" y="295835"/>
                </a:lnTo>
                <a:lnTo>
                  <a:pt x="2277035" y="0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002912" y="5941229"/>
            <a:ext cx="2868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Max-Forwards : 2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93335" y="5931748"/>
            <a:ext cx="2868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Max-Forwards : 1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57610" y="5851572"/>
            <a:ext cx="2868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Max-Forwards : 0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오른쪽 화살표 28"/>
          <p:cNvSpPr/>
          <p:nvPr/>
        </p:nvSpPr>
        <p:spPr>
          <a:xfrm rot="10800000">
            <a:off x="6289728" y="4665823"/>
            <a:ext cx="1255969" cy="235348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6644788" y="4858108"/>
            <a:ext cx="838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1637E5F5-92F4-ECDE-902E-560E197B8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989" y="3184634"/>
            <a:ext cx="4176715" cy="3384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26DB221-7D6A-5E61-987E-A9161552F985}"/>
              </a:ext>
            </a:extLst>
          </p:cNvPr>
          <p:cNvSpPr txBox="1"/>
          <p:nvPr/>
        </p:nvSpPr>
        <p:spPr>
          <a:xfrm>
            <a:off x="697888" y="3394217"/>
            <a:ext cx="3881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–v –X Trace 192.168.10.129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9135" y="333441"/>
            <a:ext cx="2587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Method </a:t>
            </a:r>
            <a:endParaRPr lang="ko-KR" altLang="en-US" sz="3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9135" y="1000046"/>
            <a:ext cx="80810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Trace method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는 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Client-Server 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간에 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loopback test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진행</a:t>
            </a: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- 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통신 진행 상 어느 지점에서 에러가 났는지 확인하기 </a:t>
            </a:r>
            <a:r>
              <a:rPr lang="ko-KR" altLang="en-US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위한 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용도 </a:t>
            </a:r>
            <a:endParaRPr lang="en-US" altLang="ko-KR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XST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- XSS 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공격을 우회하기 위해 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Trace method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이용한 공격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63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47813" y="484744"/>
            <a:ext cx="7886700" cy="516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Via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47813" y="1222607"/>
            <a:ext cx="835873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정방향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및 역방향 </a:t>
            </a:r>
            <a:r>
              <a:rPr lang="ko-KR" altLang="en-US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프록시에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의해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추가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요청헤더와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응답 헤더에 나타날 </a:t>
            </a:r>
            <a:r>
              <a:rPr lang="ko-KR" altLang="en-US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있음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Forward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메시지를 추적하거나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요청 루프 방지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요청과 응답 체인에 따라 송신자의 프로토콜 정보를 식별</a:t>
            </a:r>
          </a:p>
          <a:p>
            <a:pPr>
              <a:lnSpc>
                <a:spcPct val="200000"/>
              </a:lnSpc>
            </a:pP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3228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오른쪽 화살표 31"/>
          <p:cNvSpPr/>
          <p:nvPr/>
        </p:nvSpPr>
        <p:spPr>
          <a:xfrm>
            <a:off x="1813811" y="4589258"/>
            <a:ext cx="5734057" cy="393574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47813" y="484744"/>
            <a:ext cx="7886700" cy="516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: Connect </a:t>
            </a:r>
            <a:r>
              <a:rPr lang="ko-KR" altLang="en-US" sz="28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578384" y="1267259"/>
            <a:ext cx="7886700" cy="1695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Proxy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같은 중계 서버와 사용 시 사용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프록시에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터널 접속 확립을 요함으로써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TCP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통신을 </a:t>
            </a:r>
            <a:r>
              <a:rPr lang="ko-KR" altLang="en-US" sz="16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터널링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하기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위해 사용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SSL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또는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TLS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등의 프로토콜로 암호화 된 것을 터널링 시키기 위해 사용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형식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CONNECT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en-US" sz="1600" u="sng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프록시서버</a:t>
            </a:r>
            <a:r>
              <a:rPr lang="en-US" altLang="ko-KR" sz="1600" u="sng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</a:t>
            </a:r>
            <a:r>
              <a:rPr lang="ko-KR" altLang="en-US" sz="1600" u="sng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포트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en-US" altLang="ko-KR" sz="1600" u="sng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HTTP</a:t>
            </a:r>
            <a:r>
              <a:rPr lang="ko-KR" altLang="en-US" sz="1600" u="sng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버전 </a:t>
            </a:r>
            <a:endParaRPr lang="en-US" altLang="ko-KR" sz="1600" u="sng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55" y="3845103"/>
            <a:ext cx="1080120" cy="1195243"/>
          </a:xfrm>
          <a:prstGeom prst="rect">
            <a:avLst/>
          </a:prstGeom>
        </p:spPr>
      </p:pic>
      <p:sp>
        <p:nvSpPr>
          <p:cNvPr id="9" name="오른쪽 화살표 8"/>
          <p:cNvSpPr/>
          <p:nvPr/>
        </p:nvSpPr>
        <p:spPr>
          <a:xfrm>
            <a:off x="1832956" y="4004353"/>
            <a:ext cx="2278869" cy="615989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298826" y="3718423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0262" y="5080654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1825" y="5293771"/>
            <a:ext cx="1950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Proxy.test.com:8080</a:t>
            </a:r>
          </a:p>
          <a:p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 Server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1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32043" y="3769478"/>
            <a:ext cx="1553824" cy="1553824"/>
          </a:xfrm>
          <a:prstGeom prst="rect">
            <a:avLst/>
          </a:prstGeom>
          <a:noFill/>
        </p:spPr>
      </p:pic>
      <p:pic>
        <p:nvPicPr>
          <p:cNvPr id="1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00401" y="3816637"/>
            <a:ext cx="1553824" cy="1553824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7885275" y="5249931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5312" y="427261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터널링</a:t>
            </a:r>
            <a:endParaRPr lang="ko-KR" altLang="en-US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0320" y="5897306"/>
            <a:ext cx="437387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C0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CONNECT 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proxy.test.com:8080 HTTP /1.1</a:t>
            </a:r>
          </a:p>
          <a:p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Host : proxy.testc.om</a:t>
            </a:r>
            <a:endParaRPr lang="ko-KR" altLang="en-US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01C2-4349-4CC2-AE09-E7B1784DB02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10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447813" y="484744"/>
            <a:ext cx="7886700" cy="516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en-US" altLang="ko-KR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Referer</a:t>
            </a:r>
            <a:endParaRPr lang="ko-KR" altLang="en-US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578384" y="1267259"/>
            <a:ext cx="7886700" cy="1695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현재 사이트에 유입된 경로 </a:t>
            </a:r>
            <a:r>
              <a:rPr lang="ko-KR" altLang="en-US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표시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이번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페이지의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URI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정보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현재 표시하는 웹 페이지가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어떤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페이지에서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요청되었는지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알 수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있음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어떤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웹사이트나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서버에서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방문자가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왔는지를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파악 할 수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있는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기능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페이지를 요청한 이전 페이지가 무엇인지를 알려주는 </a:t>
            </a:r>
            <a:r>
              <a:rPr lang="ko-KR" altLang="en-US" sz="16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</a:t>
            </a:r>
            <a:endParaRPr lang="en-US" altLang="ko-KR" sz="1600" b="1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- </a:t>
            </a:r>
            <a:r>
              <a:rPr lang="ko-KR" altLang="en-US" sz="1600" b="1">
                <a:solidFill>
                  <a:srgbClr val="373E48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우리 사이트로의 유입이 어떤 검색서비스를 이용한 것인지 </a:t>
            </a:r>
            <a:r>
              <a:rPr lang="ko-KR" altLang="en-US" sz="1600" b="1" smtClean="0">
                <a:solidFill>
                  <a:srgbClr val="373E48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알고자</a:t>
            </a:r>
            <a:r>
              <a:rPr lang="ko-KR" altLang="en-US" sz="1600" smtClean="0">
                <a:solidFill>
                  <a:srgbClr val="373E48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할 때 사용 </a:t>
            </a:r>
            <a:endParaRPr lang="en-US" altLang="ko-KR" sz="1600" dirty="0" smtClean="0">
              <a:solidFill>
                <a:srgbClr val="373E48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A01C2-4349-4CC2-AE09-E7B1784DB021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2050" name="Picture 2" descr="http-refer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063768"/>
            <a:ext cx="4047360" cy="130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2286000" y="3105835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>
                <a:solidFill>
                  <a:srgbClr val="373E48"/>
                </a:solidFill>
                <a:latin typeface="RegularFont"/>
              </a:rPr>
              <a:t> 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543267" y="5517610"/>
            <a:ext cx="74425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 http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://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www.A.com/1.html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 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이라는 웹페이지에 있는 링크를 </a:t>
            </a:r>
            <a:r>
              <a:rPr lang="ko-KR" altLang="en-US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클릭하여</a:t>
            </a:r>
            <a:endParaRPr lang="en-US" altLang="ko-KR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http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://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www.B.com/2.html</a:t>
            </a:r>
            <a:r>
              <a:rPr lang="ko-KR" altLang="en-US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 으로 이동했을 때 </a:t>
            </a:r>
            <a:endParaRPr lang="en-US" altLang="ko-KR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referer</a:t>
            </a:r>
            <a:r>
              <a:rPr lang="ko-KR" altLang="en-US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는 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http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://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www.A.com/1.html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 </a:t>
            </a:r>
            <a:r>
              <a:rPr lang="ko-KR" altLang="en-US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가 됨 </a:t>
            </a:r>
            <a:endParaRPr lang="ko-KR" altLang="en-US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1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23" y="3343956"/>
            <a:ext cx="8260558" cy="208801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0533" y="900184"/>
            <a:ext cx="1553824" cy="1553824"/>
          </a:xfrm>
          <a:prstGeom prst="rect">
            <a:avLst/>
          </a:prstGeom>
          <a:noFill/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73630" y="900184"/>
            <a:ext cx="1553824" cy="155382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3585556" y="1392478"/>
            <a:ext cx="2494977" cy="283922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645443" y="1023146"/>
            <a:ext cx="243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/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index.php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/2019/~~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20700" y="247348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http://192.168.78.157/~~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889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화살표 연결선 16"/>
          <p:cNvCxnSpPr/>
          <p:nvPr/>
        </p:nvCxnSpPr>
        <p:spPr bwMode="auto">
          <a:xfrm>
            <a:off x="2119436" y="2466611"/>
            <a:ext cx="533092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직선 화살표 연결선 14"/>
          <p:cNvCxnSpPr/>
          <p:nvPr/>
        </p:nvCxnSpPr>
        <p:spPr bwMode="auto">
          <a:xfrm>
            <a:off x="2137911" y="1509553"/>
            <a:ext cx="533092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1109523" y="1361039"/>
          <a:ext cx="1240918" cy="2807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18"/>
              </a:tblGrid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상태 라인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응답헤더</a:t>
                      </a:r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공백 라인 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7019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함초롬바탕" pitchFamily="18" charset="-127"/>
                          <a:ea typeface="함초롬바탕" pitchFamily="18" charset="-127"/>
                          <a:cs typeface="함초롬바탕" pitchFamily="18" charset="-127"/>
                        </a:rPr>
                        <a:t>메시지 본문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함초롬바탕" pitchFamily="18" charset="-127"/>
                        <a:ea typeface="함초롬바탕" pitchFamily="18" charset="-127"/>
                        <a:cs typeface="함초롬바탕" pitchFamily="18" charset="-127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왼쪽 대괄호 3"/>
          <p:cNvSpPr/>
          <p:nvPr/>
        </p:nvSpPr>
        <p:spPr bwMode="auto">
          <a:xfrm>
            <a:off x="2699779" y="1402473"/>
            <a:ext cx="96522" cy="206068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sp>
        <p:nvSpPr>
          <p:cNvPr id="5" name="왼쪽 대괄호 4"/>
          <p:cNvSpPr/>
          <p:nvPr/>
        </p:nvSpPr>
        <p:spPr bwMode="auto">
          <a:xfrm>
            <a:off x="2699073" y="1681715"/>
            <a:ext cx="116410" cy="2503772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sp>
        <p:nvSpPr>
          <p:cNvPr id="9" name="왼쪽 대괄호 8"/>
          <p:cNvSpPr/>
          <p:nvPr/>
        </p:nvSpPr>
        <p:spPr bwMode="auto">
          <a:xfrm>
            <a:off x="2699779" y="4249582"/>
            <a:ext cx="96522" cy="206068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sp>
        <p:nvSpPr>
          <p:cNvPr id="10" name="왼쪽 대괄호 9"/>
          <p:cNvSpPr/>
          <p:nvPr/>
        </p:nvSpPr>
        <p:spPr bwMode="auto">
          <a:xfrm>
            <a:off x="2699073" y="4528825"/>
            <a:ext cx="97228" cy="758099"/>
          </a:xfrm>
          <a:prstGeom prst="leftBracke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cxnSp>
        <p:nvCxnSpPr>
          <p:cNvPr id="11" name="직선 화살표 연결선 10"/>
          <p:cNvCxnSpPr>
            <a:endCxn id="9" idx="1"/>
          </p:cNvCxnSpPr>
          <p:nvPr/>
        </p:nvCxnSpPr>
        <p:spPr bwMode="auto">
          <a:xfrm>
            <a:off x="2349635" y="3297884"/>
            <a:ext cx="350144" cy="105473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자유형 12"/>
          <p:cNvSpPr/>
          <p:nvPr/>
        </p:nvSpPr>
        <p:spPr bwMode="auto">
          <a:xfrm>
            <a:off x="1702856" y="4185486"/>
            <a:ext cx="968753" cy="800100"/>
          </a:xfrm>
          <a:custGeom>
            <a:avLst/>
            <a:gdLst>
              <a:gd name="connsiteX0" fmla="*/ 0 w 1049482"/>
              <a:gd name="connsiteY0" fmla="*/ 0 h 800100"/>
              <a:gd name="connsiteX1" fmla="*/ 0 w 1049482"/>
              <a:gd name="connsiteY1" fmla="*/ 800100 h 800100"/>
              <a:gd name="connsiteX2" fmla="*/ 1049482 w 1049482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9482" h="800100">
                <a:moveTo>
                  <a:pt x="0" y="0"/>
                </a:moveTo>
                <a:lnTo>
                  <a:pt x="0" y="800100"/>
                </a:lnTo>
                <a:lnTo>
                  <a:pt x="1049482" y="800100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690563" indent="-296863" algn="l" eaLnBrk="0" hangingPunct="0">
              <a:lnSpc>
                <a:spcPct val="7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itchFamily="2" charset="2"/>
              <a:buChar char="l"/>
            </a:pPr>
            <a:endParaRPr kumimoji="0" lang="ko-KR" altLang="en-US" sz="2400">
              <a:latin typeface="Arial Narrow" pitchFamily="34" charset="0"/>
            </a:endParaRPr>
          </a:p>
        </p:txBody>
      </p:sp>
      <p:pic>
        <p:nvPicPr>
          <p:cNvPr id="6758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6221" y="1369985"/>
            <a:ext cx="5952792" cy="4066827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38</a:t>
            </a:fld>
            <a:endParaRPr lang="ko-KR" altLang="en-US" dirty="0"/>
          </a:p>
        </p:txBody>
      </p:sp>
      <p:sp>
        <p:nvSpPr>
          <p:cNvPr id="14" name="왼쪽 대괄호 13"/>
          <p:cNvSpPr/>
          <p:nvPr/>
        </p:nvSpPr>
        <p:spPr>
          <a:xfrm>
            <a:off x="992983" y="1606234"/>
            <a:ext cx="142357" cy="928565"/>
          </a:xfrm>
          <a:prstGeom prst="leftBracket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16543" y="161331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</a:p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endParaRPr lang="ko-KR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8742" y="2541881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b="1" dirty="0" err="1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개행문자</a:t>
            </a:r>
            <a:endParaRPr lang="en-US" altLang="ko-KR" sz="1600" b="1" dirty="0" smtClean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CR+LF</a:t>
            </a:r>
            <a:endParaRPr lang="ko-KR" altLang="en-US" sz="1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왼쪽 대괄호 19"/>
          <p:cNvSpPr/>
          <p:nvPr/>
        </p:nvSpPr>
        <p:spPr>
          <a:xfrm>
            <a:off x="992983" y="3417958"/>
            <a:ext cx="135238" cy="558595"/>
          </a:xfrm>
          <a:prstGeom prst="leftBracket">
            <a:avLst/>
          </a:prstGeom>
          <a:ln>
            <a:solidFill>
              <a:schemeClr val="bg1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16543" y="3243519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</a:p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endParaRPr lang="ko-KR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440940" y="316287"/>
            <a:ext cx="7244862" cy="533400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2"/>
                </a:solidFill>
                <a:latin typeface="-윤고딕160" pitchFamily="18" charset="-127"/>
                <a:ea typeface="-윤고딕160" pitchFamily="18" charset="-127"/>
              </a:defRPr>
            </a:lvl9pPr>
          </a:lstStyle>
          <a:p>
            <a:pPr>
              <a:lnSpc>
                <a:spcPct val="100000"/>
              </a:lnSpc>
              <a:buFontTx/>
            </a:pPr>
            <a:r>
              <a:rPr lang="en-US" altLang="ko-KR" sz="2400" b="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굴림" pitchFamily="50" charset="-127"/>
                <a:cs typeface="Times New Roman" pitchFamily="18" charset="0"/>
              </a:rPr>
              <a:t>▪ HTTP Response Message</a:t>
            </a:r>
          </a:p>
        </p:txBody>
      </p:sp>
    </p:spTree>
    <p:extLst>
      <p:ext uri="{BB962C8B-B14F-4D97-AF65-F5344CB8AC3E}">
        <p14:creationId xmlns:p14="http://schemas.microsoft.com/office/powerpoint/2010/main" val="116391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HTTP </a:t>
            </a:r>
            <a:r>
              <a:rPr lang="en-US" altLang="ko-KR" dirty="0" smtClean="0"/>
              <a:t>Response</a:t>
            </a:r>
            <a:endParaRPr lang="en-US" altLang="ko-KR" dirty="0"/>
          </a:p>
        </p:txBody>
      </p:sp>
      <p:pic>
        <p:nvPicPr>
          <p:cNvPr id="19460" name="그림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64" y="1394052"/>
            <a:ext cx="8594217" cy="3602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39</a:t>
            </a:fld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38364" y="736240"/>
            <a:ext cx="7560840" cy="407725"/>
          </a:xfrm>
        </p:spPr>
        <p:txBody>
          <a:bodyPr>
            <a:normAutofit fontScale="90000"/>
          </a:bodyPr>
          <a:lstStyle/>
          <a:p>
            <a:r>
              <a:rPr lang="en-US" altLang="ko-KR" sz="2400" b="0" dirty="0" smtClean="0"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HTTP Response </a:t>
            </a:r>
            <a:r>
              <a:rPr lang="ko-KR" altLang="en-US" sz="2400" b="0" smtClean="0"/>
              <a:t>코드</a:t>
            </a:r>
            <a:endParaRPr lang="ko-KR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18922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345" y="578756"/>
            <a:ext cx="8641655" cy="87758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HTTP Response : 2XX </a:t>
            </a:r>
            <a:r>
              <a:rPr lang="ko-KR" altLang="en-US" sz="2400" b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성공</a:t>
            </a: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(Success) 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29" y="3447753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0465" y="3229742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2766231" y="3504207"/>
            <a:ext cx="3033485" cy="580154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641061" y="3186116"/>
            <a:ext cx="10743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6236" y="4683304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60232" y="5013176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573683" y="4121459"/>
            <a:ext cx="3209091" cy="559137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972528" y="4729470"/>
            <a:ext cx="2953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sz="16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정상으로 처리되면 </a:t>
            </a:r>
            <a:endParaRPr lang="en-US" altLang="ko-KR" sz="1600" b="1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sz="16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200 OK</a:t>
            </a:r>
            <a:r>
              <a:rPr lang="ko-KR" altLang="en-US" sz="16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보냄</a:t>
            </a:r>
            <a:endParaRPr lang="ko-KR" altLang="en-US" sz="16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3" name="타원형 설명선 12"/>
          <p:cNvSpPr/>
          <p:nvPr/>
        </p:nvSpPr>
        <p:spPr>
          <a:xfrm>
            <a:off x="6235606" y="2054183"/>
            <a:ext cx="2368543" cy="94841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정상 처리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37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595" y="366108"/>
            <a:ext cx="8641655" cy="1227601"/>
          </a:xfrm>
        </p:spPr>
        <p:txBody>
          <a:bodyPr>
            <a:normAutofit/>
          </a:bodyPr>
          <a:lstStyle/>
          <a:p>
            <a:pPr indent="-85725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HTTP Response : 204 No Content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859" y="2430753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70695" y="2212742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2866461" y="2487207"/>
            <a:ext cx="3033485" cy="580154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741291" y="2169116"/>
            <a:ext cx="10743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6466" y="3666304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0462" y="3996176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673913" y="3104459"/>
            <a:ext cx="3209091" cy="559137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형 설명선 12"/>
          <p:cNvSpPr/>
          <p:nvPr/>
        </p:nvSpPr>
        <p:spPr>
          <a:xfrm>
            <a:off x="5899946" y="915235"/>
            <a:ext cx="2991304" cy="1138461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정상 처리했지만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돌려줄 리소스가 없음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086" y="4255268"/>
            <a:ext cx="80361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받아서 처리하는데 성공했지만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Response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엔티티 바디를 포함하지 않음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브라우저에서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보낸 후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204 Response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수신했어도 표시되어 있는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화면은 변하지 않음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클라이언트에 대해 새로운 정보를 보낼 필요가 없는 경우 사용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서버에서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정상적인 변경 또는 삭제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처리가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이루어졌지만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새롭게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보일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정보가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없다는 것을 의미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847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03" y="836712"/>
            <a:ext cx="8641655" cy="792088"/>
          </a:xfrm>
        </p:spPr>
        <p:txBody>
          <a:bodyPr>
            <a:normAutofit fontScale="85000" lnSpcReduction="10000"/>
          </a:bodyPr>
          <a:lstStyle/>
          <a:p>
            <a:pPr marL="638175" indent="-276225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8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HTTP Response : 3XX Redirection</a:t>
            </a:r>
            <a:endParaRPr lang="en-US" altLang="ko-KR" sz="28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4184" y="1916832"/>
            <a:ext cx="7887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- 3XX Response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정상적으로 처리를 종료하기 위해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브라우저 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측에서 특별한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처리를 수행해야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함을 나타냄</a:t>
            </a:r>
            <a:endParaRPr lang="ko-KR" altLang="en-US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60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2" y="373416"/>
            <a:ext cx="8641655" cy="483544"/>
          </a:xfrm>
        </p:spPr>
        <p:txBody>
          <a:bodyPr>
            <a:noAutofit/>
          </a:bodyPr>
          <a:lstStyle/>
          <a:p>
            <a:pPr indent="-85725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301 Moved Permanently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23" y="2840346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7759" y="2622335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2883525" y="2896800"/>
            <a:ext cx="3033485" cy="580154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263719" y="4035589"/>
            <a:ext cx="2653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301 Move Permanently 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3530" y="4075897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7526" y="4405769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690977" y="3514052"/>
            <a:ext cx="3209091" cy="559137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형 설명선 12"/>
          <p:cNvSpPr/>
          <p:nvPr/>
        </p:nvSpPr>
        <p:spPr>
          <a:xfrm>
            <a:off x="5861325" y="1417932"/>
            <a:ext cx="3162915" cy="1138461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현재 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 최신의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경로가 아님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600" b="1" dirty="0" err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북마크를</a:t>
            </a:r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변경 권고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4941168"/>
            <a:ext cx="84645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된 리소스에는 새로운 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부여도어 있기 때문에 새로운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사용해야 한다는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것을 알림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북마크하고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있는경우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Location 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 필드에서 가리키고 있는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</a:t>
            </a:r>
            <a:r>
              <a:rPr lang="ko-KR" altLang="en-US" sz="1600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북마크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권고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68877" y="2515448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/test.txt/path=Human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064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564E-7102-41B1-A1FE-F6FA70536EBA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628800"/>
            <a:ext cx="7560840" cy="39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2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18" y="404406"/>
            <a:ext cx="8641655" cy="1160159"/>
          </a:xfrm>
        </p:spPr>
        <p:txBody>
          <a:bodyPr>
            <a:normAutofit/>
          </a:bodyPr>
          <a:lstStyle/>
          <a:p>
            <a:pPr indent="-85725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302 Found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47" y="3141769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4283" y="2923758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3070049" y="3198223"/>
            <a:ext cx="3033485" cy="580154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290054" y="4377320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64050" y="4707192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877501" y="3815475"/>
            <a:ext cx="3209091" cy="559137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형 설명선 12"/>
          <p:cNvSpPr/>
          <p:nvPr/>
        </p:nvSpPr>
        <p:spPr>
          <a:xfrm>
            <a:off x="5796136" y="1438512"/>
            <a:ext cx="3179856" cy="1260409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잠시 다른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장소로 이동 시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해당 페이지도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이동 시켜 중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5576" y="5373216"/>
            <a:ext cx="6279283" cy="7998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새로운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할당되어 있기 때문에  그  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URI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사용하도록 권고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301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비슷하지만 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302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</a:t>
            </a:r>
            <a:r>
              <a:rPr lang="en-US" altLang="ko-KR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일시적인 이동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933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897" y="1052736"/>
            <a:ext cx="8641655" cy="936667"/>
          </a:xfrm>
        </p:spPr>
        <p:txBody>
          <a:bodyPr>
            <a:normAutofit/>
          </a:bodyPr>
          <a:lstStyle/>
          <a:p>
            <a:pPr indent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4XX </a:t>
            </a:r>
            <a:r>
              <a:rPr lang="ko-KR" altLang="en-US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클라이언트 에러 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3608" y="1997415"/>
            <a:ext cx="4891083" cy="412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클라이언트의 원인으로 에러가 발생했음을 나타냄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001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545" y="601844"/>
            <a:ext cx="8641655" cy="936667"/>
          </a:xfrm>
        </p:spPr>
        <p:txBody>
          <a:bodyPr>
            <a:normAutofit/>
          </a:bodyPr>
          <a:lstStyle/>
          <a:p>
            <a:pPr indent="-85725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400 Bad Request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364" y="2998939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2200" y="2780928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2967966" y="3055393"/>
            <a:ext cx="3033485" cy="580154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87971" y="4234490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61967" y="4564362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775418" y="3672645"/>
            <a:ext cx="3209091" cy="559137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형 설명선 12"/>
          <p:cNvSpPr/>
          <p:nvPr/>
        </p:nvSpPr>
        <p:spPr>
          <a:xfrm>
            <a:off x="6516216" y="1700808"/>
            <a:ext cx="2232248" cy="102220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Request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뭐지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??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128" y="5003482"/>
            <a:ext cx="65341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구문이 잘못되었음 나타냄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오류가 발생 시</a:t>
            </a:r>
            <a:r>
              <a:rPr lang="ko-KR" altLang="en-US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내용을 재검토하고 재송신할 필요가 있음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523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68" y="511533"/>
            <a:ext cx="8641655" cy="936667"/>
          </a:xfrm>
        </p:spPr>
        <p:txBody>
          <a:bodyPr>
            <a:normAutofit/>
          </a:bodyPr>
          <a:lstStyle/>
          <a:p>
            <a:pPr indent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401 Unauthorized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701" y="2012525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01889" y="1712059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2950360" y="1772477"/>
            <a:ext cx="3859453" cy="270918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87308" y="3248076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686" y="3417353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811126" y="2057970"/>
            <a:ext cx="3642993" cy="310606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54606" y="5621624"/>
            <a:ext cx="5812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401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는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송신한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 인증 정보가 필요하다는 것을 나타냄 </a:t>
            </a:r>
            <a:endParaRPr lang="en-US" altLang="ko-KR" sz="16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48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056" y="2259892"/>
            <a:ext cx="2370599" cy="14697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83521" y="4260945"/>
            <a:ext cx="127776" cy="4571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25000" lnSpcReduction="20000"/>
          </a:bodyPr>
          <a:lstStyle/>
          <a:p>
            <a:endParaRPr lang="ko-KR" altLang="en-US" sz="3600" dirty="0" smtClean="0"/>
          </a:p>
        </p:txBody>
      </p:sp>
      <p:sp>
        <p:nvSpPr>
          <p:cNvPr id="15" name="오른쪽 화살표 14"/>
          <p:cNvSpPr/>
          <p:nvPr/>
        </p:nvSpPr>
        <p:spPr>
          <a:xfrm flipH="1">
            <a:off x="2926875" y="3664803"/>
            <a:ext cx="3209091" cy="316561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64" y="3861048"/>
            <a:ext cx="2612110" cy="15368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83191" y="205797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첫 번째</a:t>
            </a:r>
            <a:r>
              <a:rPr lang="ko-KR" altLang="en-US" sz="1600" dirty="0" smtClean="0"/>
              <a:t>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401 response</a:t>
            </a:r>
            <a:endParaRPr lang="ko-KR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88606" y="360829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두 </a:t>
            </a: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번째</a:t>
            </a:r>
            <a:r>
              <a:rPr lang="ko-KR" altLang="en-US" sz="1600" dirty="0" smtClean="0"/>
              <a:t> 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401 response</a:t>
            </a:r>
            <a:endParaRPr lang="ko-KR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52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" y="227151"/>
            <a:ext cx="8641655" cy="936667"/>
          </a:xfrm>
        </p:spPr>
        <p:txBody>
          <a:bodyPr>
            <a:normAutofit/>
          </a:bodyPr>
          <a:lstStyle/>
          <a:p>
            <a:pPr indent="9525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403 Forbidden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59" y="2192910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42594" y="2057190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2783141" y="2540614"/>
            <a:ext cx="3859453" cy="270918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09266" y="3428461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56391" y="3737782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682154" y="3071841"/>
            <a:ext cx="3888433" cy="316311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7584" y="4100932"/>
            <a:ext cx="75984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403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은 요청된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resource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의 접근 거부되었음을 의미함</a:t>
            </a:r>
            <a:endParaRPr lang="en-US" altLang="ko-KR" sz="16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-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파일 시스템의 권한이 부여되지 않은 경우 </a:t>
            </a:r>
            <a:endParaRPr lang="en-US" altLang="ko-KR" sz="16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-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액세스 권한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허가되지 않은 송신지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주소의 접근 등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제한이 될 경우 </a:t>
            </a:r>
            <a:endParaRPr lang="en-US" altLang="ko-KR" sz="16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서버 측은 거부의 이유를 분명히 할 필요가 있음 </a:t>
            </a:r>
            <a:endParaRPr lang="en-US" altLang="ko-KR" sz="16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이유를 명확하게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할 경우에는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body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 기재해서 클라이언트측에 표시</a:t>
            </a:r>
            <a:endParaRPr lang="en-US" altLang="ko-KR" sz="16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8007722" y="6279753"/>
            <a:ext cx="836612" cy="354012"/>
          </a:xfrm>
        </p:spPr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49</a:t>
            </a:fld>
            <a:endParaRPr lang="ko-KR" altLang="en-US" dirty="0"/>
          </a:p>
        </p:txBody>
      </p:sp>
      <p:sp>
        <p:nvSpPr>
          <p:cNvPr id="19" name="타원형 설명선 18"/>
          <p:cNvSpPr/>
          <p:nvPr/>
        </p:nvSpPr>
        <p:spPr>
          <a:xfrm>
            <a:off x="5713271" y="1000420"/>
            <a:ext cx="2712757" cy="1022203"/>
          </a:xfrm>
          <a:prstGeom prst="wedgeEllipseCallout">
            <a:avLst>
              <a:gd name="adj1" fmla="val 2692"/>
              <a:gd name="adj2" fmla="val 652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요청자원에 대한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접근권한이 없어요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~!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50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70" y="631553"/>
            <a:ext cx="8641655" cy="936667"/>
          </a:xfrm>
        </p:spPr>
        <p:txBody>
          <a:bodyPr>
            <a:normAutofit/>
          </a:bodyPr>
          <a:lstStyle/>
          <a:p>
            <a:pPr indent="9525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404 </a:t>
            </a:r>
            <a:r>
              <a:rPr lang="en-US" altLang="ko-KR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Found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547" y="3132672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01482" y="2996952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3042029" y="3480376"/>
            <a:ext cx="3859453" cy="270918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368154" y="4368223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15279" y="4677544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941042" y="4011603"/>
            <a:ext cx="3888433" cy="316311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497857" y="5348997"/>
            <a:ext cx="4474302" cy="416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한 </a:t>
            </a: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resource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가 서버 상에 없음을 나타냄</a:t>
            </a:r>
            <a:endParaRPr lang="en-US" altLang="ko-KR" sz="16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50</a:t>
            </a:fld>
            <a:endParaRPr lang="ko-KR" altLang="en-US" dirty="0"/>
          </a:p>
        </p:txBody>
      </p:sp>
      <p:sp>
        <p:nvSpPr>
          <p:cNvPr id="19" name="타원형 설명선 18"/>
          <p:cNvSpPr/>
          <p:nvPr/>
        </p:nvSpPr>
        <p:spPr>
          <a:xfrm>
            <a:off x="5972159" y="1940182"/>
            <a:ext cx="2712757" cy="1022203"/>
          </a:xfrm>
          <a:prstGeom prst="wedgeEllipseCallout">
            <a:avLst>
              <a:gd name="adj1" fmla="val 2692"/>
              <a:gd name="adj2" fmla="val 652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요청자원은</a:t>
            </a:r>
            <a:r>
              <a:rPr lang="en-US" altLang="ko-KR" sz="1600" b="1" dirty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서버에 없습니다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~!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039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897" y="1052736"/>
            <a:ext cx="8641655" cy="936667"/>
          </a:xfrm>
        </p:spPr>
        <p:txBody>
          <a:bodyPr>
            <a:normAutofit/>
          </a:bodyPr>
          <a:lstStyle/>
          <a:p>
            <a:pPr indent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5XX </a:t>
            </a:r>
            <a:r>
              <a:rPr lang="ko-KR" altLang="en-US" sz="2400" b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서버 </a:t>
            </a:r>
            <a:r>
              <a:rPr lang="ko-KR" altLang="en-US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에러 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3608" y="1997415"/>
            <a:ext cx="4294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서버의 원인으로 에러가 발생했음을 나타냄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33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70" y="451179"/>
            <a:ext cx="8641655" cy="936667"/>
          </a:xfrm>
        </p:spPr>
        <p:txBody>
          <a:bodyPr>
            <a:normAutofit/>
          </a:bodyPr>
          <a:lstStyle/>
          <a:p>
            <a:pPr indent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500 </a:t>
            </a:r>
            <a:r>
              <a:rPr lang="en-US" altLang="ko-KR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Server Error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836" y="2936625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10672" y="2718614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2906438" y="2993079"/>
            <a:ext cx="3033485" cy="580154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26443" y="4172176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00439" y="4502048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713890" y="3610331"/>
            <a:ext cx="3209091" cy="559137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형 설명선 12"/>
          <p:cNvSpPr/>
          <p:nvPr/>
        </p:nvSpPr>
        <p:spPr>
          <a:xfrm>
            <a:off x="6454688" y="1638494"/>
            <a:ext cx="2232248" cy="102220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r>
              <a:rPr lang="en-US" altLang="ko-KR" sz="1600" b="1" dirty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자원에 </a:t>
            </a:r>
            <a:endParaRPr lang="en-US" altLang="ko-KR" sz="1600" b="1" dirty="0" smtClean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ctr"/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오류가 발생</a:t>
            </a:r>
            <a:r>
              <a:rPr lang="en-US" altLang="ko-KR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!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600" y="4941168"/>
            <a:ext cx="61286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 </a:t>
            </a:r>
            <a:r>
              <a:rPr lang="ko-KR" altLang="en-US" sz="16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처리 도중에 오류가 발생했음을 </a:t>
            </a:r>
            <a:r>
              <a:rPr lang="ko-KR" altLang="en-US" sz="16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나타냄 </a:t>
            </a:r>
            <a:endParaRPr lang="en-US" altLang="ko-KR" sz="16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웹 애플리케이션에 에러가 발생한 경우나 일시적인 경우도 있음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978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6D84CC5-446E-4600-8499-4E54201B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70" y="601844"/>
            <a:ext cx="8641655" cy="936667"/>
          </a:xfrm>
        </p:spPr>
        <p:txBody>
          <a:bodyPr>
            <a:normAutofit/>
          </a:bodyPr>
          <a:lstStyle/>
          <a:p>
            <a:pPr indent="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US" altLang="ko-KR" sz="24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HTTP Response : 503 </a:t>
            </a:r>
            <a:r>
              <a:rPr lang="en-US" altLang="ko-KR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altLang="ko-KR" sz="24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Unavaliable</a:t>
            </a:r>
            <a:endParaRPr lang="en-US" altLang="ko-KR" sz="24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44" y="2836642"/>
            <a:ext cx="1080120" cy="1195243"/>
          </a:xfrm>
          <a:prstGeom prst="rect">
            <a:avLst/>
          </a:prstGeom>
        </p:spPr>
      </p:pic>
      <p:pic>
        <p:nvPicPr>
          <p:cNvPr id="5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17580" y="2618631"/>
            <a:ext cx="1783434" cy="1783434"/>
          </a:xfrm>
          <a:prstGeom prst="rect">
            <a:avLst/>
          </a:prstGeom>
          <a:noFill/>
        </p:spPr>
      </p:pic>
      <p:sp>
        <p:nvSpPr>
          <p:cNvPr id="6" name="오른쪽 화살표 5"/>
          <p:cNvSpPr/>
          <p:nvPr/>
        </p:nvSpPr>
        <p:spPr>
          <a:xfrm>
            <a:off x="2913346" y="2893096"/>
            <a:ext cx="3033485" cy="580154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33351" y="4072193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07347" y="4402065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 flipH="1">
            <a:off x="2720798" y="3510348"/>
            <a:ext cx="3209091" cy="559137"/>
          </a:xfrm>
          <a:prstGeom prst="rightArrow">
            <a:avLst>
              <a:gd name="adj1" fmla="val 54444"/>
              <a:gd name="adj2" fmla="val 63333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형 설명선 12"/>
          <p:cNvSpPr/>
          <p:nvPr/>
        </p:nvSpPr>
        <p:spPr>
          <a:xfrm>
            <a:off x="6461595" y="1538511"/>
            <a:ext cx="2493417" cy="1022203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r>
              <a:rPr lang="en-US" altLang="ko-KR" sz="1600" b="1" dirty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b="1" smtClean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과부하 발생</a:t>
            </a:r>
            <a:endParaRPr lang="ko-KR" altLang="en-US" sz="1600" b="1" dirty="0">
              <a:solidFill>
                <a:schemeClr val="tx1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57744" y="4855276"/>
            <a:ext cx="5551520" cy="416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일시적으로 서버가 과부하 상태이거나 점검 중임을 나타냄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>
                <a:solidFill>
                  <a:srgbClr val="FF0000"/>
                </a:solidFill>
              </a:rPr>
              <a:pPr>
                <a:defRPr/>
              </a:pPr>
              <a:t>53</a:t>
            </a:fld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84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0784" y="1916832"/>
            <a:ext cx="8396842" cy="280831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HTTP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프로토콜은 클라이언트의 상태정보를 유지않음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동일 클라이언트의 현재 요청과 이전 요청을 식별하지 못함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클라이언트의 상태 정보 유지가 필요한 경우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로그인 상태 정보 유지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장바구니 등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기술로는 쿠키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(cookie),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</a:t>
            </a:r>
            <a:r>
              <a:rPr lang="ko-KR" altLang="en-US" sz="1800" b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기술로 세션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(session)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있음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4" name="제목 1"/>
          <p:cNvSpPr txBox="1">
            <a:spLocks/>
          </p:cNvSpPr>
          <p:nvPr/>
        </p:nvSpPr>
        <p:spPr bwMode="auto">
          <a:xfrm>
            <a:off x="706153" y="1389102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kumimoji="0" lang="ko-KR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kumimoji="0"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</a:t>
            </a:r>
            <a:endParaRPr kumimoji="0"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54</a:t>
            </a:fld>
            <a:endParaRPr lang="ko-KR" altLang="en-US" dirty="0"/>
          </a:p>
        </p:txBody>
      </p:sp>
      <p:sp>
        <p:nvSpPr>
          <p:cNvPr id="16" name="제목 1"/>
          <p:cNvSpPr txBox="1">
            <a:spLocks/>
          </p:cNvSpPr>
          <p:nvPr/>
        </p:nvSpPr>
        <p:spPr bwMode="auto">
          <a:xfrm>
            <a:off x="611560" y="619685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 Cookie &amp; Session</a:t>
            </a:r>
            <a:endParaRPr kumimoji="0"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96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3819" y="684874"/>
            <a:ext cx="8523807" cy="5328592"/>
          </a:xfrm>
        </p:spPr>
        <p:txBody>
          <a:bodyPr>
            <a:noAutofit/>
          </a:bodyPr>
          <a:lstStyle/>
          <a:p>
            <a:pPr indent="-1762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쿠키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(cookie)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❶ 사용자 컴퓨터에 설치되는 작은 데이터 기록 정보 파일 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 해당 웹 사이트에 방문했던 이름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값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만료 날짜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경로 정보등이 담겨 있음 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일정시간 동안 데이터를 저장할 수 있어 로그인 상태를 유지하거나 사용자 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정보를 일정 시간동안 유지해야 할 때 주로 사용 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세션</a:t>
            </a:r>
            <a:r>
              <a:rPr lang="en-US" altLang="ko-KR" sz="18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(session)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❶ 서버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메모리에 저장되는 정보 </a:t>
            </a:r>
            <a:endParaRPr lang="en-US" altLang="ko-KR" sz="1800" b="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b="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서버에 저장되기 때문에 쿠키와 달리 사용자 정보가 노출되지 않음 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세션을 사용하더라도 클라이언트의 세션</a:t>
            </a:r>
            <a:r>
              <a:rPr lang="en-US" altLang="ko-KR" sz="18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1800" b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공격자가 가로채어 변조가 가능 </a:t>
            </a: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800" b="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324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1758797" y="1234376"/>
            <a:ext cx="1019990" cy="1019323"/>
            <a:chOff x="809159" y="4814047"/>
            <a:chExt cx="688975" cy="700827"/>
          </a:xfrm>
        </p:grpSpPr>
        <p:sp>
          <p:nvSpPr>
            <p:cNvPr id="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1" name="Freeform 182"/>
            <p:cNvSpPr>
              <a:spLocks/>
            </p:cNvSpPr>
            <p:nvPr/>
          </p:nvSpPr>
          <p:spPr bwMode="auto">
            <a:xfrm flipH="1">
              <a:off x="995757" y="5302335"/>
              <a:ext cx="151843" cy="212539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2" name="Freeform 183"/>
            <p:cNvSpPr>
              <a:spLocks/>
            </p:cNvSpPr>
            <p:nvPr/>
          </p:nvSpPr>
          <p:spPr bwMode="auto">
            <a:xfrm flipH="1">
              <a:off x="1010110" y="5292268"/>
              <a:ext cx="151843" cy="212539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grpSp>
          <p:nvGrpSpPr>
            <p:cNvPr id="4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600" b="0" kern="0">
                  <a:solidFill>
                    <a:sysClr val="windowText" lastClr="000000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5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600" b="0" kern="0">
                  <a:solidFill>
                    <a:sysClr val="windowText" lastClr="000000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</p:grpSp>
        <p:sp>
          <p:nvSpPr>
            <p:cNvPr id="4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pic>
        <p:nvPicPr>
          <p:cNvPr id="56" name="그림 5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18153" y="613881"/>
            <a:ext cx="1378127" cy="1776748"/>
          </a:xfrm>
          <a:prstGeom prst="rect">
            <a:avLst/>
          </a:prstGeom>
        </p:spPr>
      </p:pic>
      <p:cxnSp>
        <p:nvCxnSpPr>
          <p:cNvPr id="58" name="직선 화살표 연결선 57"/>
          <p:cNvCxnSpPr/>
          <p:nvPr/>
        </p:nvCxnSpPr>
        <p:spPr>
          <a:xfrm flipV="1">
            <a:off x="2771800" y="1124744"/>
            <a:ext cx="4473272" cy="1344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flipH="1">
            <a:off x="2782714" y="1719227"/>
            <a:ext cx="4462358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296359" y="690346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3WHS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484200" y="1366685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Cookie ID 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3" name="모서리가 접힌 도형 62"/>
          <p:cNvSpPr/>
          <p:nvPr/>
        </p:nvSpPr>
        <p:spPr>
          <a:xfrm>
            <a:off x="7643292" y="2558687"/>
            <a:ext cx="927847" cy="1021977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>
            <a:off x="2803879" y="2160545"/>
            <a:ext cx="4593025" cy="116593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/>
          <p:nvPr/>
        </p:nvCxnSpPr>
        <p:spPr>
          <a:xfrm>
            <a:off x="2782714" y="2298444"/>
            <a:ext cx="4706146" cy="2349429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>
            <a:off x="2690758" y="2539218"/>
            <a:ext cx="4798102" cy="3505876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접힌 도형 73"/>
          <p:cNvSpPr/>
          <p:nvPr/>
        </p:nvSpPr>
        <p:spPr>
          <a:xfrm>
            <a:off x="7678646" y="4248866"/>
            <a:ext cx="927847" cy="1021977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모서리가 접힌 도형 74"/>
          <p:cNvSpPr/>
          <p:nvPr/>
        </p:nvSpPr>
        <p:spPr>
          <a:xfrm>
            <a:off x="7643291" y="5566678"/>
            <a:ext cx="927847" cy="1021977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#3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제목 1"/>
          <p:cNvSpPr txBox="1">
            <a:spLocks/>
          </p:cNvSpPr>
          <p:nvPr/>
        </p:nvSpPr>
        <p:spPr bwMode="auto">
          <a:xfrm>
            <a:off x="458731" y="416811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endParaRPr kumimoji="0"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71230" y="6326412"/>
            <a:ext cx="2133600" cy="365125"/>
          </a:xfrm>
        </p:spPr>
        <p:txBody>
          <a:bodyPr/>
          <a:lstStyle/>
          <a:p>
            <a:pPr algn="l">
              <a:defRPr/>
            </a:pPr>
            <a:fld id="{BB7377F3-62C5-495C-BEF6-EAF92B8C310E}" type="slidenum">
              <a:rPr lang="ko-KR" altLang="en-US" sz="1000" smtClean="0"/>
              <a:pPr algn="l">
                <a:defRPr/>
              </a:pPr>
              <a:t>56</a:t>
            </a:fld>
            <a:endParaRPr lang="ko-KR" alt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5371592" y="3093011"/>
            <a:ext cx="1250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Cookie ID 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415337" y="4108985"/>
            <a:ext cx="1301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Cookie ID 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211960" y="4472697"/>
            <a:ext cx="1250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Cookie ID 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7" name="순서도: 수동 입력 56"/>
          <p:cNvSpPr/>
          <p:nvPr/>
        </p:nvSpPr>
        <p:spPr>
          <a:xfrm>
            <a:off x="503558" y="1521180"/>
            <a:ext cx="1008112" cy="659669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109582" y="2211033"/>
            <a:ext cx="20174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방문했던 </a:t>
            </a:r>
            <a:r>
              <a:rPr lang="ko-KR" altLang="en-US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이름</a:t>
            </a:r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</a:t>
            </a:r>
          </a:p>
          <a:p>
            <a:r>
              <a:rPr lang="ko-KR" altLang="en-US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값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만료 날짜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경로 </a:t>
            </a:r>
            <a:r>
              <a:rPr lang="ko-KR" altLang="en-US" sz="12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정보등 </a:t>
            </a:r>
            <a:endParaRPr lang="ko-KR" altLang="en-US" sz="1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19960" y="1292948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Cookie ID </a:t>
            </a:r>
            <a:endParaRPr lang="ko-KR" altLang="en-US" sz="1400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28509" y="1700410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Cookie</a:t>
            </a:r>
            <a:endParaRPr lang="ko-KR" altLang="en-US" sz="1600" b="1">
              <a:solidFill>
                <a:schemeClr val="bg1">
                  <a:lumMod val="95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145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496820" y="1247235"/>
            <a:ext cx="1019990" cy="1019323"/>
            <a:chOff x="809159" y="4814047"/>
            <a:chExt cx="688975" cy="700827"/>
          </a:xfrm>
        </p:grpSpPr>
        <p:sp>
          <p:nvSpPr>
            <p:cNvPr id="4" name="Freeform 174"/>
            <p:cNvSpPr>
              <a:spLocks/>
            </p:cNvSpPr>
            <p:nvPr/>
          </p:nvSpPr>
          <p:spPr bwMode="auto">
            <a:xfrm rot="355818">
              <a:off x="1336329" y="5283876"/>
              <a:ext cx="61330" cy="36915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" name="Freeform 175"/>
            <p:cNvSpPr>
              <a:spLocks/>
            </p:cNvSpPr>
            <p:nvPr/>
          </p:nvSpPr>
          <p:spPr bwMode="auto">
            <a:xfrm rot="355818" flipH="1">
              <a:off x="1385915" y="5317436"/>
              <a:ext cx="112219" cy="58169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6" name="Freeform 176"/>
            <p:cNvSpPr>
              <a:spLocks/>
            </p:cNvSpPr>
            <p:nvPr/>
          </p:nvSpPr>
          <p:spPr bwMode="auto">
            <a:xfrm rot="355818">
              <a:off x="1380695" y="5337571"/>
              <a:ext cx="110915" cy="4138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7" name="Freeform 177"/>
            <p:cNvSpPr>
              <a:spLocks/>
            </p:cNvSpPr>
            <p:nvPr/>
          </p:nvSpPr>
          <p:spPr bwMode="auto">
            <a:xfrm rot="355818" flipH="1">
              <a:off x="1408098" y="5314079"/>
              <a:ext cx="26098" cy="27966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8" name="Freeform 178"/>
            <p:cNvSpPr>
              <a:spLocks/>
            </p:cNvSpPr>
            <p:nvPr/>
          </p:nvSpPr>
          <p:spPr bwMode="auto">
            <a:xfrm rot="355818">
              <a:off x="1396354" y="5312961"/>
              <a:ext cx="35232" cy="5593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9" name="Oval 179"/>
            <p:cNvSpPr>
              <a:spLocks noChangeArrowheads="1"/>
            </p:cNvSpPr>
            <p:nvPr/>
          </p:nvSpPr>
          <p:spPr bwMode="auto">
            <a:xfrm rot="21219751">
              <a:off x="1412012" y="5310724"/>
              <a:ext cx="15659" cy="6712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0" name="Freeform 180"/>
            <p:cNvSpPr>
              <a:spLocks/>
            </p:cNvSpPr>
            <p:nvPr/>
          </p:nvSpPr>
          <p:spPr bwMode="auto">
            <a:xfrm rot="355818">
              <a:off x="1388524" y="5315198"/>
              <a:ext cx="30013" cy="23491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1" name="Freeform 182"/>
            <p:cNvSpPr>
              <a:spLocks/>
            </p:cNvSpPr>
            <p:nvPr/>
          </p:nvSpPr>
          <p:spPr bwMode="auto">
            <a:xfrm flipH="1">
              <a:off x="995757" y="5302335"/>
              <a:ext cx="151843" cy="212539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2" name="Freeform 183"/>
            <p:cNvSpPr>
              <a:spLocks/>
            </p:cNvSpPr>
            <p:nvPr/>
          </p:nvSpPr>
          <p:spPr bwMode="auto">
            <a:xfrm flipH="1">
              <a:off x="1010110" y="5292268"/>
              <a:ext cx="151843" cy="212539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3" name="Freeform 184"/>
            <p:cNvSpPr>
              <a:spLocks/>
            </p:cNvSpPr>
            <p:nvPr/>
          </p:nvSpPr>
          <p:spPr bwMode="auto">
            <a:xfrm flipH="1">
              <a:off x="1027074" y="5336452"/>
              <a:ext cx="283158" cy="5928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4" name="Freeform 185"/>
            <p:cNvSpPr>
              <a:spLocks/>
            </p:cNvSpPr>
            <p:nvPr/>
          </p:nvSpPr>
          <p:spPr bwMode="auto">
            <a:xfrm flipH="1">
              <a:off x="1098842" y="5352113"/>
              <a:ext cx="292292" cy="79424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5" name="Freeform 186"/>
            <p:cNvSpPr>
              <a:spLocks/>
            </p:cNvSpPr>
            <p:nvPr/>
          </p:nvSpPr>
          <p:spPr bwMode="auto">
            <a:xfrm flipH="1">
              <a:off x="1044037" y="5396859"/>
              <a:ext cx="74378" cy="34678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6" name="Freeform 187"/>
            <p:cNvSpPr>
              <a:spLocks/>
            </p:cNvSpPr>
            <p:nvPr/>
          </p:nvSpPr>
          <p:spPr bwMode="auto">
            <a:xfrm flipH="1">
              <a:off x="990537" y="5404690"/>
              <a:ext cx="88732" cy="503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7" name="Freeform 189"/>
            <p:cNvSpPr>
              <a:spLocks noChangeAspect="1"/>
            </p:cNvSpPr>
            <p:nvPr/>
          </p:nvSpPr>
          <p:spPr bwMode="auto">
            <a:xfrm>
              <a:off x="809159" y="5121673"/>
              <a:ext cx="118744" cy="249457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8" name="Freeform 190"/>
            <p:cNvSpPr>
              <a:spLocks noChangeAspect="1"/>
            </p:cNvSpPr>
            <p:nvPr/>
          </p:nvSpPr>
          <p:spPr bwMode="auto">
            <a:xfrm>
              <a:off x="811769" y="5080284"/>
              <a:ext cx="508902" cy="203593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19" name="Freeform 191"/>
            <p:cNvSpPr>
              <a:spLocks/>
            </p:cNvSpPr>
            <p:nvPr/>
          </p:nvSpPr>
          <p:spPr bwMode="auto">
            <a:xfrm>
              <a:off x="922684" y="5217876"/>
              <a:ext cx="392768" cy="151017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0" name="Freeform 192"/>
            <p:cNvSpPr>
              <a:spLocks/>
            </p:cNvSpPr>
            <p:nvPr/>
          </p:nvSpPr>
          <p:spPr bwMode="auto">
            <a:xfrm>
              <a:off x="938342" y="5308487"/>
              <a:ext cx="118743" cy="42508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1" name="Oval 193"/>
            <p:cNvSpPr>
              <a:spLocks noChangeArrowheads="1"/>
            </p:cNvSpPr>
            <p:nvPr/>
          </p:nvSpPr>
          <p:spPr bwMode="auto">
            <a:xfrm>
              <a:off x="1036208" y="5314079"/>
              <a:ext cx="13049" cy="1454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2" name="Line 194"/>
            <p:cNvSpPr>
              <a:spLocks noChangeShapeType="1"/>
            </p:cNvSpPr>
            <p:nvPr/>
          </p:nvSpPr>
          <p:spPr bwMode="auto">
            <a:xfrm flipH="1">
              <a:off x="1218890" y="5250317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3" name="Line 195"/>
            <p:cNvSpPr>
              <a:spLocks noChangeShapeType="1"/>
            </p:cNvSpPr>
            <p:nvPr/>
          </p:nvSpPr>
          <p:spPr bwMode="auto">
            <a:xfrm flipH="1">
              <a:off x="1209757" y="5251435"/>
              <a:ext cx="1304" cy="5705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4" name="Line 196"/>
            <p:cNvSpPr>
              <a:spLocks noChangeShapeType="1"/>
            </p:cNvSpPr>
            <p:nvPr/>
          </p:nvSpPr>
          <p:spPr bwMode="auto">
            <a:xfrm flipH="1">
              <a:off x="1229329" y="5249198"/>
              <a:ext cx="3915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5" name="Line 197"/>
            <p:cNvSpPr>
              <a:spLocks noChangeShapeType="1"/>
            </p:cNvSpPr>
            <p:nvPr/>
          </p:nvSpPr>
          <p:spPr bwMode="auto">
            <a:xfrm flipH="1">
              <a:off x="1238464" y="5248080"/>
              <a:ext cx="261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6" name="Line 198"/>
            <p:cNvSpPr>
              <a:spLocks noChangeShapeType="1"/>
            </p:cNvSpPr>
            <p:nvPr/>
          </p:nvSpPr>
          <p:spPr bwMode="auto">
            <a:xfrm flipH="1">
              <a:off x="1246293" y="5246961"/>
              <a:ext cx="5220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7" name="Line 199"/>
            <p:cNvSpPr>
              <a:spLocks noChangeShapeType="1"/>
            </p:cNvSpPr>
            <p:nvPr/>
          </p:nvSpPr>
          <p:spPr bwMode="auto">
            <a:xfrm flipH="1">
              <a:off x="1255427" y="5244724"/>
              <a:ext cx="5220" cy="5481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8" name="Line 200"/>
            <p:cNvSpPr>
              <a:spLocks noChangeShapeType="1"/>
            </p:cNvSpPr>
            <p:nvPr/>
          </p:nvSpPr>
          <p:spPr bwMode="auto">
            <a:xfrm flipH="1">
              <a:off x="1264561" y="5244724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9" name="Line 201"/>
            <p:cNvSpPr>
              <a:spLocks noChangeShapeType="1"/>
            </p:cNvSpPr>
            <p:nvPr/>
          </p:nvSpPr>
          <p:spPr bwMode="auto">
            <a:xfrm flipH="1">
              <a:off x="1272391" y="5240249"/>
              <a:ext cx="1304" cy="5593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0" name="Line 202"/>
            <p:cNvSpPr>
              <a:spLocks noChangeShapeType="1"/>
            </p:cNvSpPr>
            <p:nvPr/>
          </p:nvSpPr>
          <p:spPr bwMode="auto">
            <a:xfrm flipH="1">
              <a:off x="1280220" y="5240249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1" name="Line 203"/>
            <p:cNvSpPr>
              <a:spLocks noChangeShapeType="1"/>
            </p:cNvSpPr>
            <p:nvPr/>
          </p:nvSpPr>
          <p:spPr bwMode="auto">
            <a:xfrm flipH="1">
              <a:off x="1289354" y="5239131"/>
              <a:ext cx="1305" cy="5481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2" name="Line 204"/>
            <p:cNvSpPr>
              <a:spLocks noChangeShapeType="1"/>
            </p:cNvSpPr>
            <p:nvPr/>
          </p:nvSpPr>
          <p:spPr bwMode="auto">
            <a:xfrm flipH="1">
              <a:off x="1298488" y="5238012"/>
              <a:ext cx="1304" cy="5369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3" name="Freeform 205"/>
            <p:cNvSpPr>
              <a:spLocks/>
            </p:cNvSpPr>
            <p:nvPr/>
          </p:nvSpPr>
          <p:spPr bwMode="auto">
            <a:xfrm>
              <a:off x="1092318" y="5272690"/>
              <a:ext cx="65244" cy="43627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4" name="Line 206"/>
            <p:cNvSpPr>
              <a:spLocks noChangeShapeType="1"/>
            </p:cNvSpPr>
            <p:nvPr/>
          </p:nvSpPr>
          <p:spPr bwMode="auto">
            <a:xfrm flipH="1">
              <a:off x="1101451" y="5297300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5" name="Line 207"/>
            <p:cNvSpPr>
              <a:spLocks noChangeShapeType="1"/>
            </p:cNvSpPr>
            <p:nvPr/>
          </p:nvSpPr>
          <p:spPr bwMode="auto">
            <a:xfrm flipH="1">
              <a:off x="1152342" y="5287232"/>
              <a:ext cx="0" cy="13424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6" name="Line 208"/>
            <p:cNvSpPr>
              <a:spLocks noChangeShapeType="1"/>
            </p:cNvSpPr>
            <p:nvPr/>
          </p:nvSpPr>
          <p:spPr bwMode="auto">
            <a:xfrm flipH="1">
              <a:off x="1145817" y="5293944"/>
              <a:ext cx="0" cy="1006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7" name="Line 209"/>
            <p:cNvSpPr>
              <a:spLocks noChangeShapeType="1"/>
            </p:cNvSpPr>
            <p:nvPr/>
          </p:nvSpPr>
          <p:spPr bwMode="auto">
            <a:xfrm flipH="1">
              <a:off x="1109281" y="5302893"/>
              <a:ext cx="0" cy="8949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8" name="Line 210"/>
            <p:cNvSpPr>
              <a:spLocks noChangeShapeType="1"/>
            </p:cNvSpPr>
            <p:nvPr/>
          </p:nvSpPr>
          <p:spPr bwMode="auto">
            <a:xfrm flipV="1">
              <a:off x="1117110" y="5304012"/>
              <a:ext cx="20878" cy="4475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9" name="Freeform 211"/>
            <p:cNvSpPr>
              <a:spLocks/>
            </p:cNvSpPr>
            <p:nvPr/>
          </p:nvSpPr>
          <p:spPr bwMode="auto">
            <a:xfrm>
              <a:off x="957915" y="5282757"/>
              <a:ext cx="82208" cy="2572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0" name="Line 212"/>
            <p:cNvSpPr>
              <a:spLocks noChangeShapeType="1"/>
            </p:cNvSpPr>
            <p:nvPr/>
          </p:nvSpPr>
          <p:spPr bwMode="auto">
            <a:xfrm flipV="1">
              <a:off x="951391" y="5287232"/>
              <a:ext cx="92646" cy="15661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grpSp>
          <p:nvGrpSpPr>
            <p:cNvPr id="41" name="Group 150"/>
            <p:cNvGrpSpPr>
              <a:grpSpLocks/>
            </p:cNvGrpSpPr>
            <p:nvPr/>
          </p:nvGrpSpPr>
          <p:grpSpPr bwMode="auto">
            <a:xfrm>
              <a:off x="862659" y="4854318"/>
              <a:ext cx="270109" cy="260643"/>
              <a:chOff x="685" y="3115"/>
              <a:chExt cx="207" cy="233"/>
            </a:xfrm>
          </p:grpSpPr>
          <p:sp>
            <p:nvSpPr>
              <p:cNvPr id="5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600" b="0" kern="0">
                  <a:solidFill>
                    <a:sysClr val="windowText" lastClr="000000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5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600" b="0" kern="0">
                  <a:solidFill>
                    <a:sysClr val="windowText" lastClr="000000"/>
                  </a:solidFill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</p:grpSp>
        <p:sp>
          <p:nvSpPr>
            <p:cNvPr id="42" name="Oval 217"/>
            <p:cNvSpPr>
              <a:spLocks noChangeArrowheads="1"/>
            </p:cNvSpPr>
            <p:nvPr/>
          </p:nvSpPr>
          <p:spPr bwMode="auto">
            <a:xfrm>
              <a:off x="931817" y="5135097"/>
              <a:ext cx="245317" cy="66000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3" name="Oval 218"/>
            <p:cNvSpPr>
              <a:spLocks noChangeArrowheads="1"/>
            </p:cNvSpPr>
            <p:nvPr/>
          </p:nvSpPr>
          <p:spPr bwMode="auto">
            <a:xfrm>
              <a:off x="931817" y="5130622"/>
              <a:ext cx="245317" cy="64881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4" name="Freeform 219"/>
            <p:cNvSpPr>
              <a:spLocks/>
            </p:cNvSpPr>
            <p:nvPr/>
          </p:nvSpPr>
          <p:spPr bwMode="auto">
            <a:xfrm flipH="1">
              <a:off x="916159" y="4815165"/>
              <a:ext cx="358842" cy="360203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5" name="Freeform 220"/>
            <p:cNvSpPr>
              <a:spLocks/>
            </p:cNvSpPr>
            <p:nvPr/>
          </p:nvSpPr>
          <p:spPr bwMode="auto">
            <a:xfrm flipH="1">
              <a:off x="964440" y="5107131"/>
              <a:ext cx="294902" cy="682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6" name="Freeform 221"/>
            <p:cNvSpPr>
              <a:spLocks/>
            </p:cNvSpPr>
            <p:nvPr/>
          </p:nvSpPr>
          <p:spPr bwMode="auto">
            <a:xfrm flipH="1">
              <a:off x="905720" y="4856555"/>
              <a:ext cx="13049" cy="318812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7" name="Oval 222"/>
            <p:cNvSpPr>
              <a:spLocks noChangeArrowheads="1"/>
            </p:cNvSpPr>
            <p:nvPr/>
          </p:nvSpPr>
          <p:spPr bwMode="auto">
            <a:xfrm>
              <a:off x="1233244" y="5112724"/>
              <a:ext cx="10439" cy="19017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8" name="Oval 223"/>
            <p:cNvSpPr>
              <a:spLocks noChangeArrowheads="1"/>
            </p:cNvSpPr>
            <p:nvPr/>
          </p:nvSpPr>
          <p:spPr bwMode="auto">
            <a:xfrm>
              <a:off x="1213671" y="5117199"/>
              <a:ext cx="9135" cy="1566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9" name="Oval 224"/>
            <p:cNvSpPr>
              <a:spLocks noChangeArrowheads="1"/>
            </p:cNvSpPr>
            <p:nvPr/>
          </p:nvSpPr>
          <p:spPr bwMode="auto">
            <a:xfrm>
              <a:off x="1145817" y="5131741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0" name="Oval 225"/>
            <p:cNvSpPr>
              <a:spLocks noChangeArrowheads="1"/>
            </p:cNvSpPr>
            <p:nvPr/>
          </p:nvSpPr>
          <p:spPr bwMode="auto">
            <a:xfrm>
              <a:off x="1124939" y="5135097"/>
              <a:ext cx="10439" cy="1230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1" name="Oval 226"/>
            <p:cNvSpPr>
              <a:spLocks noChangeArrowheads="1"/>
            </p:cNvSpPr>
            <p:nvPr/>
          </p:nvSpPr>
          <p:spPr bwMode="auto">
            <a:xfrm>
              <a:off x="1101451" y="5138453"/>
              <a:ext cx="11744" cy="11186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2" name="Freeform 227"/>
            <p:cNvSpPr>
              <a:spLocks/>
            </p:cNvSpPr>
            <p:nvPr/>
          </p:nvSpPr>
          <p:spPr bwMode="auto">
            <a:xfrm flipH="1">
              <a:off x="950525" y="4841172"/>
              <a:ext cx="297512" cy="283017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53" name="Freeform 228"/>
            <p:cNvSpPr>
              <a:spLocks/>
            </p:cNvSpPr>
            <p:nvPr/>
          </p:nvSpPr>
          <p:spPr bwMode="auto">
            <a:xfrm flipH="1">
              <a:off x="905720" y="4814047"/>
              <a:ext cx="367975" cy="44746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600" b="0" kern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</p:grpSp>
      <p:pic>
        <p:nvPicPr>
          <p:cNvPr id="56" name="그림 5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6176" y="626740"/>
            <a:ext cx="1378127" cy="1776748"/>
          </a:xfrm>
          <a:prstGeom prst="rect">
            <a:avLst/>
          </a:prstGeom>
        </p:spPr>
      </p:pic>
      <p:cxnSp>
        <p:nvCxnSpPr>
          <p:cNvPr id="58" name="직선 화살표 연결선 57"/>
          <p:cNvCxnSpPr/>
          <p:nvPr/>
        </p:nvCxnSpPr>
        <p:spPr>
          <a:xfrm flipV="1">
            <a:off x="1509823" y="1137603"/>
            <a:ext cx="4473272" cy="13447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flipH="1">
            <a:off x="1520737" y="1732086"/>
            <a:ext cx="4462358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034382" y="70320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3WHS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222223" y="137954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Cookie ID </a:t>
            </a:r>
            <a:endParaRPr lang="ko-KR" altLang="en-US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3" name="모서리가 접힌 도형 62"/>
          <p:cNvSpPr/>
          <p:nvPr/>
        </p:nvSpPr>
        <p:spPr>
          <a:xfrm>
            <a:off x="6381315" y="2571546"/>
            <a:ext cx="927847" cy="1021977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#1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>
            <a:off x="1541902" y="2173404"/>
            <a:ext cx="4593025" cy="1165931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/>
          <p:nvPr/>
        </p:nvCxnSpPr>
        <p:spPr>
          <a:xfrm>
            <a:off x="1520737" y="2311303"/>
            <a:ext cx="4706146" cy="2349429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>
            <a:off x="1428781" y="2552077"/>
            <a:ext cx="4798102" cy="3505876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접힌 도형 73"/>
          <p:cNvSpPr/>
          <p:nvPr/>
        </p:nvSpPr>
        <p:spPr>
          <a:xfrm>
            <a:off x="6416669" y="4261725"/>
            <a:ext cx="927847" cy="1021977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#2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모서리가 접힌 도형 74"/>
          <p:cNvSpPr/>
          <p:nvPr/>
        </p:nvSpPr>
        <p:spPr>
          <a:xfrm>
            <a:off x="6381314" y="5579537"/>
            <a:ext cx="927847" cy="1021977"/>
          </a:xfrm>
          <a:prstGeom prst="foldedCorner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#3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제목 1"/>
          <p:cNvSpPr txBox="1">
            <a:spLocks/>
          </p:cNvSpPr>
          <p:nvPr/>
        </p:nvSpPr>
        <p:spPr bwMode="auto">
          <a:xfrm>
            <a:off x="404837" y="248678"/>
            <a:ext cx="7560840" cy="40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endParaRPr kumimoji="0"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810486" y="6404447"/>
            <a:ext cx="2133600" cy="365125"/>
          </a:xfrm>
        </p:spPr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z="1000" smtClean="0"/>
              <a:pPr>
                <a:defRPr/>
              </a:pPr>
              <a:t>57</a:t>
            </a:fld>
            <a:endParaRPr lang="ko-KR" alt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3558491" y="2937409"/>
            <a:ext cx="1250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Cookie ID 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563888" y="3892393"/>
            <a:ext cx="1301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Cookie ID 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749047" y="4398013"/>
            <a:ext cx="1250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Cookie ID 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8" name="순서도: 수동 입력 77"/>
          <p:cNvSpPr/>
          <p:nvPr/>
        </p:nvSpPr>
        <p:spPr>
          <a:xfrm>
            <a:off x="7486849" y="1477878"/>
            <a:ext cx="1008112" cy="659669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/>
          <p:cNvSpPr/>
          <p:nvPr/>
        </p:nvSpPr>
        <p:spPr>
          <a:xfrm>
            <a:off x="7092873" y="2167731"/>
            <a:ext cx="20174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방문했던 </a:t>
            </a:r>
            <a:r>
              <a:rPr lang="ko-KR" altLang="en-US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이름</a:t>
            </a:r>
            <a:r>
              <a:rPr lang="en-US" altLang="ko-KR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</a:t>
            </a:r>
          </a:p>
          <a:p>
            <a:r>
              <a:rPr lang="ko-KR" altLang="en-US" sz="12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값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만료 날짜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경로 </a:t>
            </a:r>
            <a:r>
              <a:rPr lang="ko-KR" altLang="en-US" sz="12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정보등 </a:t>
            </a:r>
            <a:endParaRPr lang="ko-KR" altLang="en-US" sz="12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303251" y="1249646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Cookie ID </a:t>
            </a:r>
            <a:endParaRPr lang="ko-KR" altLang="en-US" sz="1400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411800" y="1657108"/>
            <a:ext cx="978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Session</a:t>
            </a:r>
            <a:endParaRPr lang="ko-KR" altLang="en-US" sz="1600" b="1">
              <a:solidFill>
                <a:schemeClr val="bg1">
                  <a:lumMod val="95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476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0174" y="648498"/>
            <a:ext cx="7560840" cy="407725"/>
          </a:xfrm>
        </p:spPr>
        <p:txBody>
          <a:bodyPr>
            <a:noAutofit/>
          </a:bodyPr>
          <a:lstStyle/>
          <a:p>
            <a:r>
              <a:rPr lang="en-US" altLang="ko-KR" sz="32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Cookie</a:t>
            </a:r>
            <a:r>
              <a:rPr lang="ko-KR" altLang="en-US" sz="3200" b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위한 헤더 필더 </a:t>
            </a:r>
            <a:endParaRPr lang="ko-KR" altLang="en-US" sz="32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04157" y="1252008"/>
            <a:ext cx="8213719" cy="17281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altLang="ko-KR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Cookie</a:t>
            </a:r>
            <a:r>
              <a:rPr lang="ko-KR" altLang="en-US" b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는 유저 식별과 상태 관리에 사용되고 있는 기능 </a:t>
            </a:r>
            <a:endParaRPr lang="en-US" altLang="ko-KR" b="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b="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- Set-Cookie : </a:t>
            </a:r>
            <a:r>
              <a:rPr lang="ko-KR" altLang="en-US" b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상태 관리 개시를 위한 쿠키 정보 </a:t>
            </a:r>
            <a:endParaRPr lang="en-US" altLang="ko-KR" b="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b="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- Cookie : </a:t>
            </a:r>
            <a:r>
              <a:rPr lang="ko-KR" altLang="en-US" b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서버에서 수신한 쿠키 정보  </a:t>
            </a:r>
            <a:endParaRPr lang="en-US" altLang="ko-KR" b="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2224635" y="4456081"/>
            <a:ext cx="4660566" cy="393574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22" y="3716240"/>
            <a:ext cx="1080120" cy="1195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8650" y="4798888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 : Cookie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3929" y="4951791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10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7833" y="3379421"/>
            <a:ext cx="1827875" cy="182787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7244424" y="5249643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  <a:endParaRPr lang="ko-KR" altLang="en-US" sz="1600" b="1">
              <a:solidFill>
                <a:schemeClr val="bg1">
                  <a:lumMod val="50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7" name="오른쪽 화살표 16"/>
          <p:cNvSpPr/>
          <p:nvPr/>
        </p:nvSpPr>
        <p:spPr>
          <a:xfrm flipH="1">
            <a:off x="2211074" y="3794710"/>
            <a:ext cx="4674127" cy="393574"/>
          </a:xfrm>
          <a:prstGeom prst="rightArrow">
            <a:avLst>
              <a:gd name="adj1" fmla="val 54445"/>
              <a:gd name="adj2" fmla="val 5155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4683054" y="3574264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: Set-Cookie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289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6697" y="339179"/>
            <a:ext cx="7560840" cy="407725"/>
          </a:xfrm>
        </p:spPr>
        <p:txBody>
          <a:bodyPr>
            <a:noAutofit/>
          </a:bodyPr>
          <a:lstStyle/>
          <a:p>
            <a:r>
              <a:rPr lang="en-US" altLang="ko-KR" sz="36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Set-Cookie</a:t>
            </a:r>
            <a:endParaRPr lang="ko-KR" altLang="en-US" sz="3600" b="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1290" y="982118"/>
            <a:ext cx="8271767" cy="864096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2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Set-Cookie : status-enable; expire=Tue,05 Jul 2020 07:26:31 GMT;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Path=/; domain=.test.com;</a:t>
            </a:r>
            <a:r>
              <a:rPr lang="en-US" altLang="ko-KR" sz="2000" b="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b="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793125"/>
              </p:ext>
            </p:extLst>
          </p:nvPr>
        </p:nvGraphicFramePr>
        <p:xfrm>
          <a:off x="571290" y="2239083"/>
          <a:ext cx="8064896" cy="3528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3444"/>
                <a:gridCol w="5921452"/>
              </a:tblGrid>
              <a:tr h="5789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NAME=VALUE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쿠키에 부여된 이름과 값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</a:tr>
              <a:tr h="5789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Expires=DATE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쿠키 유효기간</a:t>
                      </a:r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지정되지 않은 경우 브라우저 </a:t>
                      </a:r>
                      <a:r>
                        <a:rPr lang="ko-KR" altLang="en-US" sz="160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닫을때까지</a:t>
                      </a:r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</a:tr>
              <a:tr h="5789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Path=PATH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쿠키 적용 대상이 도는 서버 상의 디렉터리 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</a:tr>
              <a:tr h="6336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Domain=</a:t>
                      </a:r>
                      <a:r>
                        <a:rPr lang="ko-KR" altLang="en-US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도메인명</a:t>
                      </a:r>
                      <a:endParaRPr lang="ko-KR" altLang="en-US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쿠키 적용 대상이 도는 </a:t>
                      </a:r>
                      <a:r>
                        <a:rPr lang="ko-KR" altLang="en-US" sz="160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도메인명</a:t>
                      </a:r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지정되지 않을 경우 쿠키를 생성한 서버의 도메인</a:t>
                      </a:r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)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</a:tr>
              <a:tr h="5789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HTTPS</a:t>
                      </a:r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로 통신하고 있는 경우에만 쿠키 송신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</a:tr>
              <a:tr h="5789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HttpOnly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쿠키를  </a:t>
                      </a:r>
                      <a:r>
                        <a:rPr lang="en-US" altLang="ko-KR" sz="1600" dirty="0" err="1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JAVAscript</a:t>
                      </a:r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에서</a:t>
                      </a:r>
                      <a:r>
                        <a:rPr lang="en-US" altLang="ko-KR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dirty="0" smtClean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액세스 하지 못하도록 제한 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837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71142"/>
              </p:ext>
            </p:extLst>
          </p:nvPr>
        </p:nvGraphicFramePr>
        <p:xfrm>
          <a:off x="852446" y="1470701"/>
          <a:ext cx="7965733" cy="4131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7291"/>
                <a:gridCol w="5898442"/>
              </a:tblGrid>
              <a:tr h="6885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b="0" kern="100" dirty="0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웹 애플리케이션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b="0" kern="100" dirty="0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세션 </a:t>
                      </a:r>
                      <a:r>
                        <a:rPr lang="en-US" sz="1800" b="0" kern="100" dirty="0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ID </a:t>
                      </a:r>
                      <a:r>
                        <a:rPr lang="ko-KR" sz="1800" b="0" kern="100">
                          <a:effectLst/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변수명</a:t>
                      </a:r>
                    </a:p>
                  </a:txBody>
                  <a:tcPr marL="68580" marR="68580" marT="0" marB="0" anchor="ctr"/>
                </a:tc>
              </a:tr>
              <a:tr h="688552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IIS</a:t>
                      </a:r>
                      <a:endParaRPr lang="ko-KR" sz="1800" b="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ASPSESSIONID</a:t>
                      </a:r>
                      <a:endParaRPr lang="ko-KR" sz="1800" b="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88552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TOMCAT</a:t>
                      </a:r>
                      <a:endParaRPr lang="ko-KR" sz="1800" b="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JSESESSIONID</a:t>
                      </a:r>
                      <a:endParaRPr lang="ko-KR" sz="1800" b="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88552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</a:t>
                      </a:r>
                      <a:endParaRPr lang="ko-KR" sz="1800" b="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PHPSESSIONID</a:t>
                      </a:r>
                      <a:endParaRPr lang="ko-KR" sz="1800" b="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88552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Cold Fusion</a:t>
                      </a:r>
                      <a:endParaRPr lang="ko-KR" sz="1800" b="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CFID, CFTOKEN </a:t>
                      </a:r>
                      <a:endParaRPr lang="ko-KR" sz="1800" b="0" kern="10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88552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기타 </a:t>
                      </a:r>
                      <a:endParaRPr lang="ko-KR" sz="1800" b="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JWSESSIONID, </a:t>
                      </a:r>
                      <a:r>
                        <a:rPr lang="en-US" sz="18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JServerSESSIONID</a:t>
                      </a: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SESSIONID, SID, </a:t>
                      </a:r>
                      <a:r>
                        <a:rPr lang="en-US" sz="1800" b="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Session_ID</a:t>
                      </a:r>
                      <a:endParaRPr lang="ko-KR" sz="1800" b="0" kern="100" dirty="0"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699423" y="651866"/>
            <a:ext cx="7560840" cy="407725"/>
          </a:xfrm>
        </p:spPr>
        <p:txBody>
          <a:bodyPr>
            <a:noAutofit/>
          </a:bodyPr>
          <a:lstStyle/>
          <a:p>
            <a:r>
              <a:rPr lang="ko-KR" altLang="en-US" sz="3200" b="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세션</a:t>
            </a:r>
            <a:r>
              <a:rPr lang="en-US" altLang="ko-KR" sz="3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(Session) ID</a:t>
            </a:r>
            <a:endParaRPr lang="ko-KR" alt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377F3-62C5-495C-BEF6-EAF92B8C310E}" type="slidenum">
              <a:rPr lang="ko-KR" altLang="en-US" smtClean="0"/>
              <a:pPr>
                <a:defRPr/>
              </a:pPr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504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6733"/>
            <a:ext cx="9144000" cy="33412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4" name="직선 화살표 연결선 13"/>
          <p:cNvCxnSpPr/>
          <p:nvPr/>
        </p:nvCxnSpPr>
        <p:spPr>
          <a:xfrm flipV="1">
            <a:off x="1166176" y="2564904"/>
            <a:ext cx="6286144" cy="4595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 flipV="1">
            <a:off x="1075767" y="2748010"/>
            <a:ext cx="6709080" cy="6259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3848858" y="2465622"/>
            <a:ext cx="1228165" cy="564777"/>
            <a:chOff x="2610322" y="5109168"/>
            <a:chExt cx="1495425" cy="742950"/>
          </a:xfrm>
        </p:grpSpPr>
        <p:sp>
          <p:nvSpPr>
            <p:cNvPr id="6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7241" y="1914960"/>
            <a:ext cx="1441206" cy="1520731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339392" y="2875731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192.168.10.20/24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en-US" altLang="ko-K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Metaspolitable</a:t>
            </a:r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2733" y="2805824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192.168.10.40/24</a:t>
            </a:r>
          </a:p>
          <a:p>
            <a:pPr algn="ctr"/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(Window10)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6" y="2351653"/>
            <a:ext cx="1094599" cy="98455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294" y="206576"/>
            <a:ext cx="3052465" cy="219663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2" name="직사각형 21"/>
          <p:cNvSpPr/>
          <p:nvPr/>
        </p:nvSpPr>
        <p:spPr>
          <a:xfrm>
            <a:off x="62753" y="5071005"/>
            <a:ext cx="4509247" cy="1786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1247254" y="2124726"/>
            <a:ext cx="804986" cy="1190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/>
          <p:nvPr/>
        </p:nvCxnSpPr>
        <p:spPr>
          <a:xfrm flipH="1">
            <a:off x="1485215" y="2243727"/>
            <a:ext cx="360184" cy="2827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2756324" y="394537"/>
            <a:ext cx="882938" cy="197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2257463" y="2134115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❶ 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8719" y="4505107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4634753" y="5056866"/>
            <a:ext cx="4509247" cy="17869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804248" y="6478736"/>
            <a:ext cx="2133600" cy="365125"/>
          </a:xfrm>
        </p:spPr>
        <p:txBody>
          <a:bodyPr/>
          <a:lstStyle/>
          <a:p>
            <a:fld id="{E6E3564E-7102-41B1-A1FE-F6FA70536EBA}" type="slidenum">
              <a:rPr lang="ko-KR" altLang="en-US" sz="1000" smtClean="0"/>
              <a:t>61</a:t>
            </a:fld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3969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직선 화살표 연결선 13"/>
          <p:cNvCxnSpPr/>
          <p:nvPr/>
        </p:nvCxnSpPr>
        <p:spPr>
          <a:xfrm flipH="1">
            <a:off x="1472051" y="1841961"/>
            <a:ext cx="5950753" cy="18983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9069"/>
            <a:ext cx="9144000" cy="3341267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 flipV="1">
            <a:off x="995085" y="2011629"/>
            <a:ext cx="6709080" cy="6259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3768176" y="1729241"/>
            <a:ext cx="1228165" cy="564777"/>
            <a:chOff x="2610322" y="5109168"/>
            <a:chExt cx="1495425" cy="742950"/>
          </a:xfrm>
        </p:grpSpPr>
        <p:sp>
          <p:nvSpPr>
            <p:cNvPr id="6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06559" y="1178579"/>
            <a:ext cx="1441206" cy="1520731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252003" y="2069443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192.168.10.20/24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en-US" altLang="ko-K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Metaspolitable</a:t>
            </a:r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72051" y="2069443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192.168.10.40/24</a:t>
            </a:r>
          </a:p>
          <a:p>
            <a:pPr algn="ctr"/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(Window10)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21" y="1569758"/>
            <a:ext cx="1094599" cy="984554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4688541" y="5943601"/>
            <a:ext cx="3630706" cy="259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1291" y="1457287"/>
            <a:ext cx="4610100" cy="219075"/>
          </a:xfrm>
          <a:prstGeom prst="rect">
            <a:avLst/>
          </a:prstGeom>
        </p:spPr>
      </p:pic>
      <p:cxnSp>
        <p:nvCxnSpPr>
          <p:cNvPr id="19" name="직선 화살표 연결선 18"/>
          <p:cNvCxnSpPr/>
          <p:nvPr/>
        </p:nvCxnSpPr>
        <p:spPr>
          <a:xfrm>
            <a:off x="5734591" y="1851452"/>
            <a:ext cx="737927" cy="4092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9739" y="1012613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❷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Response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60923" y="4406492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732240" y="6415211"/>
            <a:ext cx="2133600" cy="365125"/>
          </a:xfrm>
        </p:spPr>
        <p:txBody>
          <a:bodyPr/>
          <a:lstStyle/>
          <a:p>
            <a:fld id="{E6E3564E-7102-41B1-A1FE-F6FA70536EBA}" type="slidenum">
              <a:rPr lang="ko-KR" altLang="en-US" sz="1000" smtClean="0"/>
              <a:t>62</a:t>
            </a:fld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8065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화살표 연결선 10"/>
          <p:cNvCxnSpPr/>
          <p:nvPr/>
        </p:nvCxnSpPr>
        <p:spPr>
          <a:xfrm flipV="1">
            <a:off x="1075767" y="1488454"/>
            <a:ext cx="6531260" cy="1554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3446"/>
            <a:ext cx="9144000" cy="38645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3" name="직선 연결선 2"/>
          <p:cNvCxnSpPr/>
          <p:nvPr/>
        </p:nvCxnSpPr>
        <p:spPr>
          <a:xfrm flipV="1">
            <a:off x="1075767" y="1697980"/>
            <a:ext cx="7143374" cy="1044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3848858" y="1419779"/>
            <a:ext cx="1228165" cy="564777"/>
            <a:chOff x="2610322" y="5109168"/>
            <a:chExt cx="1495425" cy="742950"/>
          </a:xfrm>
        </p:grpSpPr>
        <p:sp>
          <p:nvSpPr>
            <p:cNvPr id="5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26187" y="1002362"/>
            <a:ext cx="1441206" cy="1520731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897945" y="2245410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192.168.10.20/24</a:t>
            </a:r>
          </a:p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en-US" altLang="ko-K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Metaspolitable</a:t>
            </a:r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246" y="2273082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192.168.10.40/24</a:t>
            </a:r>
          </a:p>
          <a:p>
            <a:pPr algn="ctr"/>
            <a:r>
              <a:rPr lang="en-US" altLang="ko-K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(Window10)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34" y="1319201"/>
            <a:ext cx="1094599" cy="984554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161363" y="4372828"/>
            <a:ext cx="1732649" cy="271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61363" y="5681675"/>
            <a:ext cx="3803028" cy="155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067" y="1079415"/>
            <a:ext cx="530542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4722" y="775079"/>
            <a:ext cx="1736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/</a:t>
            </a:r>
            <a:r>
              <a:rPr lang="en-US" altLang="ko-K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dewa</a:t>
            </a:r>
            <a:r>
              <a:rPr lang="en-US" altLang="ko-K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login.php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5767" y="382232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 </a:t>
            </a:r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Request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4979" y="3860311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>
          <a:xfrm>
            <a:off x="127922" y="6480858"/>
            <a:ext cx="2133600" cy="365125"/>
          </a:xfrm>
        </p:spPr>
        <p:txBody>
          <a:bodyPr/>
          <a:lstStyle/>
          <a:p>
            <a:pPr algn="l"/>
            <a:fld id="{E6E3564E-7102-41B1-A1FE-F6FA70536EBA}" type="slidenum">
              <a:rPr lang="ko-KR" altLang="en-US" sz="1000" smtClean="0"/>
              <a:pPr algn="l"/>
              <a:t>63</a:t>
            </a:fld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11155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7253</TotalTime>
  <Words>2989</Words>
  <Application>Microsoft Office PowerPoint</Application>
  <PresentationFormat>화면 슬라이드 쇼(4:3)</PresentationFormat>
  <Paragraphs>703</Paragraphs>
  <Slides>63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5" baseType="lpstr">
      <vt:lpstr>RegularFont</vt:lpstr>
      <vt:lpstr>굴림</vt:lpstr>
      <vt:lpstr>맑은 고딕</vt:lpstr>
      <vt:lpstr>함초롬돋움</vt:lpstr>
      <vt:lpstr>함초롬바탕</vt:lpstr>
      <vt:lpstr>Arial</vt:lpstr>
      <vt:lpstr>Arial Narrow</vt:lpstr>
      <vt:lpstr>Calibri</vt:lpstr>
      <vt:lpstr>Calibri Light</vt:lpstr>
      <vt:lpstr>Times New Roman</vt:lpstr>
      <vt:lpstr>Wingdings</vt:lpstr>
      <vt:lpstr>Office 테마</vt:lpstr>
      <vt:lpstr>Web 구조 이해 </vt:lpstr>
      <vt:lpstr>PowerPoint 프레젠테이션</vt:lpstr>
      <vt:lpstr>PowerPoint 프레젠테이션</vt:lpstr>
      <vt:lpstr>Proxy Server </vt:lpstr>
      <vt:lpstr> Multi-Layer Web Proxy</vt:lpstr>
      <vt:lpstr>PowerPoint 프레젠테이션</vt:lpstr>
      <vt:lpstr> Forward Proxy</vt:lpstr>
      <vt:lpstr>Reverse Proxy</vt:lpstr>
      <vt:lpstr> HTTP Proxy가 없는 경우 작업 지연 발생</vt:lpstr>
      <vt:lpstr>HTTP Proxy가 있는 경우 작업 지연이 낮음</vt:lpstr>
      <vt:lpstr>2) HTTP 메시지 구조 </vt:lpstr>
      <vt:lpstr>∙ Message Format</vt:lpstr>
      <vt:lpstr>PowerPoint 프레젠테이션</vt:lpstr>
      <vt:lpstr>PowerPoint 프레젠테이션</vt:lpstr>
      <vt:lpstr>PowerPoint 프레젠테이션</vt:lpstr>
      <vt:lpstr>PowerPoint 프레젠테이션</vt:lpstr>
      <vt:lpstr>Request Method 종류</vt:lpstr>
      <vt:lpstr>PowerPoint 프레젠테이션</vt:lpstr>
      <vt:lpstr>PowerPoint 프레젠테이션</vt:lpstr>
      <vt:lpstr>PowerPoint 프레젠테이션</vt:lpstr>
      <vt:lpstr>PowerPoint 프레젠테이션</vt:lpstr>
      <vt:lpstr>HTTP Request : Head 방식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HTTP Request : Option 방식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HTTP Response 코드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Cookie를 위한 헤더 필더 </vt:lpstr>
      <vt:lpstr>Set-Cookie</vt:lpstr>
      <vt:lpstr>세션(Session) ID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Sora Kwon</dc:creator>
  <cp:lastModifiedBy>Microsoft 계정</cp:lastModifiedBy>
  <cp:revision>462</cp:revision>
  <cp:lastPrinted>2020-07-19T23:44:49Z</cp:lastPrinted>
  <dcterms:created xsi:type="dcterms:W3CDTF">2016-06-18T01:38:17Z</dcterms:created>
  <dcterms:modified xsi:type="dcterms:W3CDTF">2023-04-26T23:49:11Z</dcterms:modified>
</cp:coreProperties>
</file>